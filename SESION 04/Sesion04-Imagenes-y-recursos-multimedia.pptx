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Hoy se usa Imageye por primera vez. Verificar durante la espera que la tengan instalada.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Hoy la estructura de la sesión 03 se llena de contenido real. Es la sesión donde el sitio empieza a verse bien.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Dinámica de apertura, 2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Recordar la metodología CINFO.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¿Qué recuerdan de rutas relativas de la sesión 02?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un sitio pesado con F12 › Red y mostrar cuánto ocupan las imágenes frente al resto.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 final tendrán la galería de Petly funcionando con imágenes optimizadas.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Aclarar que video y audio se ven en la sesión 07: hoy el foco es la imagen.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el logo de Petly ampliado al 800 % en PNG y en SVG. La diferencia es inmediata.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números son orientativos. Lo importante es el orden de magnitud: WebP siempre gana en fotos.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Aplicar el árbol en voz alta con tres imágenes del proyecto Petly.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Validar en vivo una imagen sin alt para que vean el error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prueba del teléfono es la forma más rápida de que entiendan el alt. Practicar con 3 imágenes de Petly.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Demostrar el salto de diseño quitando width/height en una página con conexión lenta simulada desde DevTools.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Dibujar la carpeta en la pizarra y recorrer cada ruta señalando dónde aterriza.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problema de la primera publicación. Anticiparlo ahorra muchísimas consultas.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Llevar una foto de cámara real y hacer los tres pasos en vivo con Squoosh. El antes y después impacta.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entrar en srcset ni densidad de píxeles: se aborda en la sesión de responsive.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Descargar durante el descanso las imágenes de Petly del Aula Virtual, por si alguien no las tiene.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Separador Instrumental: herramientas de optimización y práctica con la galería de Petly.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Importante el aviso sobre derechos de autor: el sílabo sanciona el plagio con desaprobación automática.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Hacerlo en vivo. Los valores del ejemplo son ilustrativos; usar los reales de la foto que lleves.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 frecuente: ¿repito el alt en el figcaption? No. Uno describe, el otro contextualiza.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Recorrer el aula. Registrar en ClassDojo. Revisar sobre todo los alt: es donde más fallan.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Pedir que abran su URL publicada en el celular: ahí se detectan los fallos de ruta al instante.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Separador Nivelador: nivelar la comprensión antes de la tarea.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Leer en voz alta. El punto de las rutas al publicar suele ser el que más dudas genera.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Iconify es el complemento que se usó en el taller de Figma: sirve tanto ahí como para descargar SVG sueltos.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Separador Funcional: la actividad donde demuestran lo aprendido.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captura del peso total es la evidencia de que optimizaron de verdad. Insistir en ese punto.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Separador Orientador: cierre y vínculo con lo profesional.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Recapitulación rápida, sin volver a explicar.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recordando la tarea y que el proyecto es acumulativo: no empiezan de cero cada sesión.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gif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image" Target="../media/image-1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image" Target="../media/image-20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image" Target="../media/image-23-2.gif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image" Target="../media/image-26-2.png"/><Relationship Id="rId3" Type="http://schemas.openxmlformats.org/officeDocument/2006/relationships/image" Target="../media/image-26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jpg"/><Relationship Id="rId2" Type="http://schemas.openxmlformats.org/officeDocument/2006/relationships/image" Target="../media/image-3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43400" y="0"/>
            <a:ext cx="7848295" cy="914400"/>
          </a:xfrm>
          <a:prstGeom prst="rect">
            <a:avLst/>
          </a:prstGeom>
          <a:solidFill>
            <a:srgbClr val="36C4CC"/>
          </a:solidFill>
          <a:ln/>
        </p:spPr>
      </p:sp>
      <p:sp>
        <p:nvSpPr>
          <p:cNvPr id="3" name="Shape 1"/>
          <p:cNvSpPr/>
          <p:nvPr/>
        </p:nvSpPr>
        <p:spPr>
          <a:xfrm>
            <a:off x="5074920" y="0"/>
            <a:ext cx="3931920" cy="914400"/>
          </a:xfrm>
          <a:prstGeom prst="rect">
            <a:avLst/>
          </a:prstGeom>
          <a:solidFill>
            <a:srgbClr val="72EF29"/>
          </a:solidFill>
          <a:ln/>
        </p:spPr>
      </p:sp>
      <p:sp>
        <p:nvSpPr>
          <p:cNvPr id="4" name="Shape 2"/>
          <p:cNvSpPr/>
          <p:nvPr/>
        </p:nvSpPr>
        <p:spPr>
          <a:xfrm rot="10800000">
            <a:off x="4617720" y="914400"/>
            <a:ext cx="960120" cy="457200"/>
          </a:xfrm>
          <a:prstGeom prst="triangle">
            <a:avLst/>
          </a:prstGeom>
          <a:solidFill>
            <a:srgbClr val="72EF29"/>
          </a:solidFill>
          <a:ln/>
        </p:spPr>
      </p:sp>
      <p:sp>
        <p:nvSpPr>
          <p:cNvPr id="5" name="Shape 3"/>
          <p:cNvSpPr/>
          <p:nvPr/>
        </p:nvSpPr>
        <p:spPr>
          <a:xfrm rot="10800000">
            <a:off x="8732520" y="914400"/>
            <a:ext cx="868680" cy="384048"/>
          </a:xfrm>
          <a:prstGeom prst="triangle">
            <a:avLst/>
          </a:prstGeom>
          <a:solidFill>
            <a:srgbClr val="36C4CC"/>
          </a:solidFill>
          <a:ln/>
        </p:spPr>
      </p:sp>
      <p:pic>
        <p:nvPicPr>
          <p:cNvPr id="6" name="Image 0" descr="/home/claude/assets/logo_cinf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19456"/>
            <a:ext cx="1737360" cy="542239"/>
          </a:xfrm>
          <a:prstGeom prst="rect">
            <a:avLst/>
          </a:prstGeom>
        </p:spPr>
      </p:pic>
      <p:pic>
        <p:nvPicPr>
          <p:cNvPr id="7" name="Image 1" descr="/home/claude/assets/logo_prote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440" y="301752"/>
            <a:ext cx="1737360" cy="455371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56032" y="6053328"/>
            <a:ext cx="50292" cy="50292"/>
          </a:xfrm>
          <a:prstGeom prst="ellipse">
            <a:avLst/>
          </a:prstGeom>
          <a:solidFill>
            <a:srgbClr val="36C4CC"/>
          </a:solidFill>
          <a:ln/>
        </p:spPr>
      </p:sp>
      <p:sp>
        <p:nvSpPr>
          <p:cNvPr id="9" name="Shape 5"/>
          <p:cNvSpPr/>
          <p:nvPr/>
        </p:nvSpPr>
        <p:spPr>
          <a:xfrm>
            <a:off x="470916" y="6053328"/>
            <a:ext cx="50292" cy="50292"/>
          </a:xfrm>
          <a:prstGeom prst="ellipse">
            <a:avLst/>
          </a:prstGeom>
          <a:solidFill>
            <a:srgbClr val="36C4CC"/>
          </a:solidFill>
          <a:ln/>
        </p:spPr>
      </p:sp>
      <p:sp>
        <p:nvSpPr>
          <p:cNvPr id="10" name="Shape 6"/>
          <p:cNvSpPr/>
          <p:nvPr/>
        </p:nvSpPr>
        <p:spPr>
          <a:xfrm>
            <a:off x="685800" y="6053328"/>
            <a:ext cx="50292" cy="50292"/>
          </a:xfrm>
          <a:prstGeom prst="ellipse">
            <a:avLst/>
          </a:prstGeom>
          <a:solidFill>
            <a:srgbClr val="36C4CC"/>
          </a:solidFill>
          <a:ln/>
        </p:spPr>
      </p:sp>
      <p:sp>
        <p:nvSpPr>
          <p:cNvPr id="11" name="Shape 7"/>
          <p:cNvSpPr/>
          <p:nvPr/>
        </p:nvSpPr>
        <p:spPr>
          <a:xfrm>
            <a:off x="900684" y="6053328"/>
            <a:ext cx="50292" cy="50292"/>
          </a:xfrm>
          <a:prstGeom prst="ellipse">
            <a:avLst/>
          </a:prstGeom>
          <a:solidFill>
            <a:srgbClr val="36C4CC"/>
          </a:solidFill>
          <a:ln/>
        </p:spPr>
      </p:sp>
      <p:sp>
        <p:nvSpPr>
          <p:cNvPr id="12" name="Shape 8"/>
          <p:cNvSpPr/>
          <p:nvPr/>
        </p:nvSpPr>
        <p:spPr>
          <a:xfrm>
            <a:off x="1115568" y="6053328"/>
            <a:ext cx="50292" cy="50292"/>
          </a:xfrm>
          <a:prstGeom prst="ellipse">
            <a:avLst/>
          </a:prstGeom>
          <a:solidFill>
            <a:srgbClr val="36C4CC"/>
          </a:solidFill>
          <a:ln/>
        </p:spPr>
      </p:sp>
      <p:sp>
        <p:nvSpPr>
          <p:cNvPr id="13" name="Shape 9"/>
          <p:cNvSpPr/>
          <p:nvPr/>
        </p:nvSpPr>
        <p:spPr>
          <a:xfrm>
            <a:off x="1330452" y="6053328"/>
            <a:ext cx="50292" cy="50292"/>
          </a:xfrm>
          <a:prstGeom prst="ellipse">
            <a:avLst/>
          </a:prstGeom>
          <a:solidFill>
            <a:srgbClr val="36C4CC"/>
          </a:solidFill>
          <a:ln/>
        </p:spPr>
      </p:sp>
      <p:sp>
        <p:nvSpPr>
          <p:cNvPr id="14" name="Shape 10"/>
          <p:cNvSpPr/>
          <p:nvPr/>
        </p:nvSpPr>
        <p:spPr>
          <a:xfrm>
            <a:off x="1545336" y="6053328"/>
            <a:ext cx="50292" cy="50292"/>
          </a:xfrm>
          <a:prstGeom prst="ellipse">
            <a:avLst/>
          </a:prstGeom>
          <a:solidFill>
            <a:srgbClr val="36C4CC"/>
          </a:solidFill>
          <a:ln/>
        </p:spPr>
      </p:sp>
      <p:sp>
        <p:nvSpPr>
          <p:cNvPr id="15" name="Shape 11"/>
          <p:cNvSpPr/>
          <p:nvPr/>
        </p:nvSpPr>
        <p:spPr>
          <a:xfrm>
            <a:off x="1760220" y="6053328"/>
            <a:ext cx="50292" cy="50292"/>
          </a:xfrm>
          <a:prstGeom prst="ellipse">
            <a:avLst/>
          </a:prstGeom>
          <a:solidFill>
            <a:srgbClr val="36C4CC"/>
          </a:solidFill>
          <a:ln/>
        </p:spPr>
      </p:sp>
      <p:sp>
        <p:nvSpPr>
          <p:cNvPr id="16" name="Shape 12"/>
          <p:cNvSpPr/>
          <p:nvPr/>
        </p:nvSpPr>
        <p:spPr>
          <a:xfrm>
            <a:off x="256032" y="6217920"/>
            <a:ext cx="50292" cy="50292"/>
          </a:xfrm>
          <a:prstGeom prst="ellipse">
            <a:avLst/>
          </a:prstGeom>
          <a:solidFill>
            <a:srgbClr val="36C4CC"/>
          </a:solidFill>
          <a:ln/>
        </p:spPr>
      </p:sp>
      <p:sp>
        <p:nvSpPr>
          <p:cNvPr id="17" name="Shape 13"/>
          <p:cNvSpPr/>
          <p:nvPr/>
        </p:nvSpPr>
        <p:spPr>
          <a:xfrm>
            <a:off x="470916" y="6217920"/>
            <a:ext cx="50292" cy="50292"/>
          </a:xfrm>
          <a:prstGeom prst="ellipse">
            <a:avLst/>
          </a:prstGeom>
          <a:solidFill>
            <a:srgbClr val="36C4CC"/>
          </a:solidFill>
          <a:ln/>
        </p:spPr>
      </p:sp>
      <p:sp>
        <p:nvSpPr>
          <p:cNvPr id="18" name="Shape 14"/>
          <p:cNvSpPr/>
          <p:nvPr/>
        </p:nvSpPr>
        <p:spPr>
          <a:xfrm>
            <a:off x="685800" y="6217920"/>
            <a:ext cx="50292" cy="50292"/>
          </a:xfrm>
          <a:prstGeom prst="ellipse">
            <a:avLst/>
          </a:prstGeom>
          <a:solidFill>
            <a:srgbClr val="36C4CC"/>
          </a:solidFill>
          <a:ln/>
        </p:spPr>
      </p:sp>
      <p:sp>
        <p:nvSpPr>
          <p:cNvPr id="19" name="Shape 15"/>
          <p:cNvSpPr/>
          <p:nvPr/>
        </p:nvSpPr>
        <p:spPr>
          <a:xfrm>
            <a:off x="900684" y="6217920"/>
            <a:ext cx="50292" cy="50292"/>
          </a:xfrm>
          <a:prstGeom prst="ellipse">
            <a:avLst/>
          </a:prstGeom>
          <a:solidFill>
            <a:srgbClr val="36C4CC"/>
          </a:solidFill>
          <a:ln/>
        </p:spPr>
      </p:sp>
      <p:sp>
        <p:nvSpPr>
          <p:cNvPr id="20" name="Shape 16"/>
          <p:cNvSpPr/>
          <p:nvPr/>
        </p:nvSpPr>
        <p:spPr>
          <a:xfrm>
            <a:off x="1115568" y="6217920"/>
            <a:ext cx="50292" cy="50292"/>
          </a:xfrm>
          <a:prstGeom prst="ellipse">
            <a:avLst/>
          </a:prstGeom>
          <a:solidFill>
            <a:srgbClr val="36C4CC"/>
          </a:solidFill>
          <a:ln/>
        </p:spPr>
      </p:sp>
      <p:sp>
        <p:nvSpPr>
          <p:cNvPr id="21" name="Shape 17"/>
          <p:cNvSpPr/>
          <p:nvPr/>
        </p:nvSpPr>
        <p:spPr>
          <a:xfrm>
            <a:off x="1330452" y="6217920"/>
            <a:ext cx="50292" cy="50292"/>
          </a:xfrm>
          <a:prstGeom prst="ellipse">
            <a:avLst/>
          </a:prstGeom>
          <a:solidFill>
            <a:srgbClr val="36C4CC"/>
          </a:solidFill>
          <a:ln/>
        </p:spPr>
      </p:sp>
      <p:sp>
        <p:nvSpPr>
          <p:cNvPr id="22" name="Shape 18"/>
          <p:cNvSpPr/>
          <p:nvPr/>
        </p:nvSpPr>
        <p:spPr>
          <a:xfrm>
            <a:off x="1545336" y="6217920"/>
            <a:ext cx="50292" cy="50292"/>
          </a:xfrm>
          <a:prstGeom prst="ellipse">
            <a:avLst/>
          </a:prstGeom>
          <a:solidFill>
            <a:srgbClr val="36C4CC"/>
          </a:solidFill>
          <a:ln/>
        </p:spPr>
      </p:sp>
      <p:sp>
        <p:nvSpPr>
          <p:cNvPr id="23" name="Shape 19"/>
          <p:cNvSpPr/>
          <p:nvPr/>
        </p:nvSpPr>
        <p:spPr>
          <a:xfrm>
            <a:off x="1760220" y="6217920"/>
            <a:ext cx="50292" cy="50292"/>
          </a:xfrm>
          <a:prstGeom prst="ellipse">
            <a:avLst/>
          </a:prstGeom>
          <a:solidFill>
            <a:srgbClr val="36C4CC"/>
          </a:solidFill>
          <a:ln/>
        </p:spPr>
      </p:sp>
      <p:sp>
        <p:nvSpPr>
          <p:cNvPr id="24" name="Shape 20"/>
          <p:cNvSpPr/>
          <p:nvPr/>
        </p:nvSpPr>
        <p:spPr>
          <a:xfrm>
            <a:off x="256032" y="6382512"/>
            <a:ext cx="50292" cy="50292"/>
          </a:xfrm>
          <a:prstGeom prst="ellipse">
            <a:avLst/>
          </a:prstGeom>
          <a:solidFill>
            <a:srgbClr val="36C4CC"/>
          </a:solidFill>
          <a:ln/>
        </p:spPr>
      </p:sp>
      <p:sp>
        <p:nvSpPr>
          <p:cNvPr id="25" name="Shape 21"/>
          <p:cNvSpPr/>
          <p:nvPr/>
        </p:nvSpPr>
        <p:spPr>
          <a:xfrm>
            <a:off x="470916" y="6382512"/>
            <a:ext cx="50292" cy="50292"/>
          </a:xfrm>
          <a:prstGeom prst="ellipse">
            <a:avLst/>
          </a:prstGeom>
          <a:solidFill>
            <a:srgbClr val="36C4CC"/>
          </a:solidFill>
          <a:ln/>
        </p:spPr>
      </p:sp>
      <p:sp>
        <p:nvSpPr>
          <p:cNvPr id="26" name="Shape 22"/>
          <p:cNvSpPr/>
          <p:nvPr/>
        </p:nvSpPr>
        <p:spPr>
          <a:xfrm>
            <a:off x="685800" y="6382512"/>
            <a:ext cx="50292" cy="50292"/>
          </a:xfrm>
          <a:prstGeom prst="ellipse">
            <a:avLst/>
          </a:prstGeom>
          <a:solidFill>
            <a:srgbClr val="36C4CC"/>
          </a:solidFill>
          <a:ln/>
        </p:spPr>
      </p:sp>
      <p:sp>
        <p:nvSpPr>
          <p:cNvPr id="27" name="Shape 23"/>
          <p:cNvSpPr/>
          <p:nvPr/>
        </p:nvSpPr>
        <p:spPr>
          <a:xfrm>
            <a:off x="900684" y="6382512"/>
            <a:ext cx="50292" cy="50292"/>
          </a:xfrm>
          <a:prstGeom prst="ellipse">
            <a:avLst/>
          </a:prstGeom>
          <a:solidFill>
            <a:srgbClr val="36C4CC"/>
          </a:solidFill>
          <a:ln/>
        </p:spPr>
      </p:sp>
      <p:sp>
        <p:nvSpPr>
          <p:cNvPr id="28" name="Shape 24"/>
          <p:cNvSpPr/>
          <p:nvPr/>
        </p:nvSpPr>
        <p:spPr>
          <a:xfrm>
            <a:off x="1115568" y="6382512"/>
            <a:ext cx="50292" cy="50292"/>
          </a:xfrm>
          <a:prstGeom prst="ellipse">
            <a:avLst/>
          </a:prstGeom>
          <a:solidFill>
            <a:srgbClr val="36C4CC"/>
          </a:solidFill>
          <a:ln/>
        </p:spPr>
      </p:sp>
      <p:sp>
        <p:nvSpPr>
          <p:cNvPr id="29" name="Shape 25"/>
          <p:cNvSpPr/>
          <p:nvPr/>
        </p:nvSpPr>
        <p:spPr>
          <a:xfrm>
            <a:off x="1330452" y="6382512"/>
            <a:ext cx="50292" cy="50292"/>
          </a:xfrm>
          <a:prstGeom prst="ellipse">
            <a:avLst/>
          </a:prstGeom>
          <a:solidFill>
            <a:srgbClr val="36C4CC"/>
          </a:solidFill>
          <a:ln/>
        </p:spPr>
      </p:sp>
      <p:sp>
        <p:nvSpPr>
          <p:cNvPr id="30" name="Shape 26"/>
          <p:cNvSpPr/>
          <p:nvPr/>
        </p:nvSpPr>
        <p:spPr>
          <a:xfrm>
            <a:off x="1545336" y="6382512"/>
            <a:ext cx="50292" cy="50292"/>
          </a:xfrm>
          <a:prstGeom prst="ellipse">
            <a:avLst/>
          </a:prstGeom>
          <a:solidFill>
            <a:srgbClr val="36C4CC"/>
          </a:solidFill>
          <a:ln/>
        </p:spPr>
      </p:sp>
      <p:sp>
        <p:nvSpPr>
          <p:cNvPr id="31" name="Shape 27"/>
          <p:cNvSpPr/>
          <p:nvPr/>
        </p:nvSpPr>
        <p:spPr>
          <a:xfrm>
            <a:off x="1760220" y="6382512"/>
            <a:ext cx="50292" cy="50292"/>
          </a:xfrm>
          <a:prstGeom prst="ellipse">
            <a:avLst/>
          </a:prstGeom>
          <a:solidFill>
            <a:srgbClr val="36C4CC"/>
          </a:solidFill>
          <a:ln/>
        </p:spPr>
      </p:sp>
      <p:sp>
        <p:nvSpPr>
          <p:cNvPr id="32" name="Shape 28"/>
          <p:cNvSpPr/>
          <p:nvPr/>
        </p:nvSpPr>
        <p:spPr>
          <a:xfrm>
            <a:off x="256032" y="6547104"/>
            <a:ext cx="50292" cy="50292"/>
          </a:xfrm>
          <a:prstGeom prst="ellipse">
            <a:avLst/>
          </a:prstGeom>
          <a:solidFill>
            <a:srgbClr val="36C4CC"/>
          </a:solidFill>
          <a:ln/>
        </p:spPr>
      </p:sp>
      <p:sp>
        <p:nvSpPr>
          <p:cNvPr id="33" name="Shape 29"/>
          <p:cNvSpPr/>
          <p:nvPr/>
        </p:nvSpPr>
        <p:spPr>
          <a:xfrm>
            <a:off x="470916" y="6547104"/>
            <a:ext cx="50292" cy="50292"/>
          </a:xfrm>
          <a:prstGeom prst="ellipse">
            <a:avLst/>
          </a:prstGeom>
          <a:solidFill>
            <a:srgbClr val="36C4CC"/>
          </a:solidFill>
          <a:ln/>
        </p:spPr>
      </p:sp>
      <p:sp>
        <p:nvSpPr>
          <p:cNvPr id="34" name="Shape 30"/>
          <p:cNvSpPr/>
          <p:nvPr/>
        </p:nvSpPr>
        <p:spPr>
          <a:xfrm>
            <a:off x="685800" y="6547104"/>
            <a:ext cx="50292" cy="50292"/>
          </a:xfrm>
          <a:prstGeom prst="ellipse">
            <a:avLst/>
          </a:prstGeom>
          <a:solidFill>
            <a:srgbClr val="36C4CC"/>
          </a:solidFill>
          <a:ln/>
        </p:spPr>
      </p:sp>
      <p:sp>
        <p:nvSpPr>
          <p:cNvPr id="35" name="Shape 31"/>
          <p:cNvSpPr/>
          <p:nvPr/>
        </p:nvSpPr>
        <p:spPr>
          <a:xfrm>
            <a:off x="900684" y="6547104"/>
            <a:ext cx="50292" cy="50292"/>
          </a:xfrm>
          <a:prstGeom prst="ellipse">
            <a:avLst/>
          </a:prstGeom>
          <a:solidFill>
            <a:srgbClr val="36C4CC"/>
          </a:solidFill>
          <a:ln/>
        </p:spPr>
      </p:sp>
      <p:sp>
        <p:nvSpPr>
          <p:cNvPr id="36" name="Shape 32"/>
          <p:cNvSpPr/>
          <p:nvPr/>
        </p:nvSpPr>
        <p:spPr>
          <a:xfrm>
            <a:off x="1115568" y="6547104"/>
            <a:ext cx="50292" cy="50292"/>
          </a:xfrm>
          <a:prstGeom prst="ellipse">
            <a:avLst/>
          </a:prstGeom>
          <a:solidFill>
            <a:srgbClr val="36C4CC"/>
          </a:solidFill>
          <a:ln/>
        </p:spPr>
      </p:sp>
      <p:sp>
        <p:nvSpPr>
          <p:cNvPr id="37" name="Shape 33"/>
          <p:cNvSpPr/>
          <p:nvPr/>
        </p:nvSpPr>
        <p:spPr>
          <a:xfrm>
            <a:off x="1330452" y="6547104"/>
            <a:ext cx="50292" cy="50292"/>
          </a:xfrm>
          <a:prstGeom prst="ellipse">
            <a:avLst/>
          </a:prstGeom>
          <a:solidFill>
            <a:srgbClr val="36C4CC"/>
          </a:solidFill>
          <a:ln/>
        </p:spPr>
      </p:sp>
      <p:sp>
        <p:nvSpPr>
          <p:cNvPr id="38" name="Shape 34"/>
          <p:cNvSpPr/>
          <p:nvPr/>
        </p:nvSpPr>
        <p:spPr>
          <a:xfrm>
            <a:off x="1545336" y="6547104"/>
            <a:ext cx="50292" cy="50292"/>
          </a:xfrm>
          <a:prstGeom prst="ellipse">
            <a:avLst/>
          </a:prstGeom>
          <a:solidFill>
            <a:srgbClr val="36C4CC"/>
          </a:solidFill>
          <a:ln/>
        </p:spPr>
      </p:sp>
      <p:sp>
        <p:nvSpPr>
          <p:cNvPr id="39" name="Shape 35"/>
          <p:cNvSpPr/>
          <p:nvPr/>
        </p:nvSpPr>
        <p:spPr>
          <a:xfrm>
            <a:off x="1760220" y="6547104"/>
            <a:ext cx="50292" cy="50292"/>
          </a:xfrm>
          <a:prstGeom prst="ellipse">
            <a:avLst/>
          </a:prstGeom>
          <a:solidFill>
            <a:srgbClr val="36C4CC"/>
          </a:solidFill>
          <a:ln/>
        </p:spPr>
      </p:sp>
      <p:pic>
        <p:nvPicPr>
          <p:cNvPr id="40" name="Image 2" descr="/home/claude/assets/loading.gif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0368" y="1783080"/>
            <a:ext cx="1737360" cy="1737360"/>
          </a:xfrm>
          <a:prstGeom prst="rect">
            <a:avLst/>
          </a:prstGeom>
        </p:spPr>
      </p:pic>
      <p:sp>
        <p:nvSpPr>
          <p:cNvPr id="41" name="Shape 36"/>
          <p:cNvSpPr/>
          <p:nvPr/>
        </p:nvSpPr>
        <p:spPr>
          <a:xfrm>
            <a:off x="3127248" y="3767328"/>
            <a:ext cx="5943600" cy="841248"/>
          </a:xfrm>
          <a:prstGeom prst="roundRect">
            <a:avLst>
              <a:gd name="adj" fmla="val 50000"/>
            </a:avLst>
          </a:prstGeom>
          <a:solidFill>
            <a:srgbClr val="72EF29"/>
          </a:solidFill>
          <a:ln/>
        </p:spPr>
      </p:sp>
      <p:sp>
        <p:nvSpPr>
          <p:cNvPr id="42" name="Shape 37"/>
          <p:cNvSpPr/>
          <p:nvPr/>
        </p:nvSpPr>
        <p:spPr>
          <a:xfrm>
            <a:off x="3127248" y="3639312"/>
            <a:ext cx="5943600" cy="841248"/>
          </a:xfrm>
          <a:prstGeom prst="roundRect">
            <a:avLst>
              <a:gd name="adj" fmla="val 50000"/>
            </a:avLst>
          </a:prstGeom>
          <a:solidFill>
            <a:srgbClr val="36C4CC"/>
          </a:solidFill>
          <a:ln/>
        </p:spPr>
      </p:sp>
      <p:sp>
        <p:nvSpPr>
          <p:cNvPr id="43" name="Text 38"/>
          <p:cNvSpPr txBox="1"/>
          <p:nvPr/>
        </p:nvSpPr>
        <p:spPr>
          <a:xfrm>
            <a:off x="3127248" y="3639312"/>
            <a:ext cx="5943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ESPERANDO A LOS COMPAÑEROS</a:t>
            </a:r>
            <a:endParaRPr lang="en-US" sz="2000" dirty="0"/>
          </a:p>
        </p:txBody>
      </p:sp>
      <p:sp>
        <p:nvSpPr>
          <p:cNvPr id="44" name="Text 39"/>
          <p:cNvSpPr txBox="1"/>
          <p:nvPr/>
        </p:nvSpPr>
        <p:spPr>
          <a:xfrm>
            <a:off x="2468880" y="4681728"/>
            <a:ext cx="7269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04 · comenzamos en unos minutos</a:t>
            </a:r>
            <a:endParaRPr lang="en-US" sz="1600" dirty="0"/>
          </a:p>
        </p:txBody>
      </p:sp>
      <p:sp>
        <p:nvSpPr>
          <p:cNvPr id="45" name="Text 40"/>
          <p:cNvSpPr txBox="1"/>
          <p:nvPr/>
        </p:nvSpPr>
        <p:spPr>
          <a:xfrm>
            <a:off x="2194560" y="5120640"/>
            <a:ext cx="7818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E7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lista tu carpeta de la sesión 03 y comprueba que las extensiones Imageye y Responsive Viewer estén instaladas.</a:t>
            </a:r>
            <a:endParaRPr lang="en-US" sz="1250" dirty="0"/>
          </a:p>
        </p:txBody>
      </p:sp>
      <p:sp>
        <p:nvSpPr>
          <p:cNvPr id="46" name="Shape 41"/>
          <p:cNvSpPr/>
          <p:nvPr/>
        </p:nvSpPr>
        <p:spPr>
          <a:xfrm>
            <a:off x="4727448" y="5870448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F0FCE8"/>
          </a:solidFill>
          <a:ln w="19050">
            <a:solidFill>
              <a:srgbClr val="72EF29"/>
            </a:solidFill>
            <a:prstDash val="solid"/>
          </a:ln>
        </p:spPr>
      </p:sp>
      <p:sp>
        <p:nvSpPr>
          <p:cNvPr id="47" name="Text 42"/>
          <p:cNvSpPr txBox="1"/>
          <p:nvPr/>
        </p:nvSpPr>
        <p:spPr>
          <a:xfrm>
            <a:off x="4727448" y="587044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50" kern="0" dirty="0">
                <a:solidFill>
                  <a:srgbClr val="4FB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DISEÑO WEB</a:t>
            </a:r>
            <a:endParaRPr lang="en-US" sz="1150" dirty="0"/>
          </a:p>
        </p:txBody>
      </p:sp>
      <p:sp>
        <p:nvSpPr>
          <p:cNvPr id="49" name="Text 43"/>
          <p:cNvSpPr txBox="1"/>
          <p:nvPr/>
        </p:nvSpPr>
        <p:spPr>
          <a:xfrm>
            <a:off x="11002975" y="618134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37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43400" y="0"/>
            <a:ext cx="7848295" cy="914400"/>
          </a:xfrm>
          <a:prstGeom prst="rect">
            <a:avLst/>
          </a:prstGeom>
          <a:solidFill>
            <a:srgbClr val="36C4CC"/>
          </a:solidFill>
          <a:ln/>
        </p:spPr>
      </p:sp>
      <p:sp>
        <p:nvSpPr>
          <p:cNvPr id="3" name="Shape 1"/>
          <p:cNvSpPr/>
          <p:nvPr/>
        </p:nvSpPr>
        <p:spPr>
          <a:xfrm>
            <a:off x="5074920" y="0"/>
            <a:ext cx="3931920" cy="914400"/>
          </a:xfrm>
          <a:prstGeom prst="rect">
            <a:avLst/>
          </a:prstGeom>
          <a:solidFill>
            <a:srgbClr val="72EF29"/>
          </a:solidFill>
          <a:ln/>
        </p:spPr>
      </p:sp>
      <p:sp>
        <p:nvSpPr>
          <p:cNvPr id="4" name="Shape 2"/>
          <p:cNvSpPr/>
          <p:nvPr/>
        </p:nvSpPr>
        <p:spPr>
          <a:xfrm rot="10800000">
            <a:off x="4617720" y="914400"/>
            <a:ext cx="960120" cy="457200"/>
          </a:xfrm>
          <a:prstGeom prst="triangle">
            <a:avLst/>
          </a:prstGeom>
          <a:solidFill>
            <a:srgbClr val="72EF29"/>
          </a:solidFill>
          <a:ln/>
        </p:spPr>
      </p:sp>
      <p:sp>
        <p:nvSpPr>
          <p:cNvPr id="5" name="Shape 3"/>
          <p:cNvSpPr/>
          <p:nvPr/>
        </p:nvSpPr>
        <p:spPr>
          <a:xfrm rot="10800000">
            <a:off x="8732520" y="914400"/>
            <a:ext cx="868680" cy="384048"/>
          </a:xfrm>
          <a:prstGeom prst="triangle">
            <a:avLst/>
          </a:prstGeom>
          <a:solidFill>
            <a:srgbClr val="36C4CC"/>
          </a:solidFill>
          <a:ln/>
        </p:spPr>
      </p:sp>
      <p:pic>
        <p:nvPicPr>
          <p:cNvPr id="6" name="Image 0" descr="/home/claude/assets/logo_cinf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19456"/>
            <a:ext cx="1737360" cy="542239"/>
          </a:xfrm>
          <a:prstGeom prst="rect">
            <a:avLst/>
          </a:prstGeom>
        </p:spPr>
      </p:pic>
      <p:pic>
        <p:nvPicPr>
          <p:cNvPr id="7" name="Image 1" descr="/home/claude/assets/logo_prote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440" y="301752"/>
            <a:ext cx="1737360" cy="455371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56032" y="6053328"/>
            <a:ext cx="50292" cy="50292"/>
          </a:xfrm>
          <a:prstGeom prst="ellipse">
            <a:avLst/>
          </a:prstGeom>
          <a:solidFill>
            <a:srgbClr val="36C4CC"/>
          </a:solidFill>
          <a:ln/>
        </p:spPr>
      </p:sp>
      <p:sp>
        <p:nvSpPr>
          <p:cNvPr id="9" name="Shape 5"/>
          <p:cNvSpPr/>
          <p:nvPr/>
        </p:nvSpPr>
        <p:spPr>
          <a:xfrm>
            <a:off x="470916" y="6053328"/>
            <a:ext cx="50292" cy="50292"/>
          </a:xfrm>
          <a:prstGeom prst="ellipse">
            <a:avLst/>
          </a:prstGeom>
          <a:solidFill>
            <a:srgbClr val="36C4CC"/>
          </a:solidFill>
          <a:ln/>
        </p:spPr>
      </p:sp>
      <p:sp>
        <p:nvSpPr>
          <p:cNvPr id="10" name="Shape 6"/>
          <p:cNvSpPr/>
          <p:nvPr/>
        </p:nvSpPr>
        <p:spPr>
          <a:xfrm>
            <a:off x="685800" y="6053328"/>
            <a:ext cx="50292" cy="50292"/>
          </a:xfrm>
          <a:prstGeom prst="ellipse">
            <a:avLst/>
          </a:prstGeom>
          <a:solidFill>
            <a:srgbClr val="36C4CC"/>
          </a:solidFill>
          <a:ln/>
        </p:spPr>
      </p:sp>
      <p:sp>
        <p:nvSpPr>
          <p:cNvPr id="11" name="Shape 7"/>
          <p:cNvSpPr/>
          <p:nvPr/>
        </p:nvSpPr>
        <p:spPr>
          <a:xfrm>
            <a:off x="900684" y="6053328"/>
            <a:ext cx="50292" cy="50292"/>
          </a:xfrm>
          <a:prstGeom prst="ellipse">
            <a:avLst/>
          </a:prstGeom>
          <a:solidFill>
            <a:srgbClr val="36C4CC"/>
          </a:solidFill>
          <a:ln/>
        </p:spPr>
      </p:sp>
      <p:sp>
        <p:nvSpPr>
          <p:cNvPr id="12" name="Shape 8"/>
          <p:cNvSpPr/>
          <p:nvPr/>
        </p:nvSpPr>
        <p:spPr>
          <a:xfrm>
            <a:off x="1115568" y="6053328"/>
            <a:ext cx="50292" cy="50292"/>
          </a:xfrm>
          <a:prstGeom prst="ellipse">
            <a:avLst/>
          </a:prstGeom>
          <a:solidFill>
            <a:srgbClr val="36C4CC"/>
          </a:solidFill>
          <a:ln/>
        </p:spPr>
      </p:sp>
      <p:sp>
        <p:nvSpPr>
          <p:cNvPr id="13" name="Shape 9"/>
          <p:cNvSpPr/>
          <p:nvPr/>
        </p:nvSpPr>
        <p:spPr>
          <a:xfrm>
            <a:off x="1330452" y="6053328"/>
            <a:ext cx="50292" cy="50292"/>
          </a:xfrm>
          <a:prstGeom prst="ellipse">
            <a:avLst/>
          </a:prstGeom>
          <a:solidFill>
            <a:srgbClr val="36C4CC"/>
          </a:solidFill>
          <a:ln/>
        </p:spPr>
      </p:sp>
      <p:sp>
        <p:nvSpPr>
          <p:cNvPr id="14" name="Shape 10"/>
          <p:cNvSpPr/>
          <p:nvPr/>
        </p:nvSpPr>
        <p:spPr>
          <a:xfrm>
            <a:off x="1545336" y="6053328"/>
            <a:ext cx="50292" cy="50292"/>
          </a:xfrm>
          <a:prstGeom prst="ellipse">
            <a:avLst/>
          </a:prstGeom>
          <a:solidFill>
            <a:srgbClr val="36C4CC"/>
          </a:solidFill>
          <a:ln/>
        </p:spPr>
      </p:sp>
      <p:sp>
        <p:nvSpPr>
          <p:cNvPr id="15" name="Shape 11"/>
          <p:cNvSpPr/>
          <p:nvPr/>
        </p:nvSpPr>
        <p:spPr>
          <a:xfrm>
            <a:off x="1760220" y="6053328"/>
            <a:ext cx="50292" cy="50292"/>
          </a:xfrm>
          <a:prstGeom prst="ellipse">
            <a:avLst/>
          </a:prstGeom>
          <a:solidFill>
            <a:srgbClr val="36C4CC"/>
          </a:solidFill>
          <a:ln/>
        </p:spPr>
      </p:sp>
      <p:sp>
        <p:nvSpPr>
          <p:cNvPr id="16" name="Shape 12"/>
          <p:cNvSpPr/>
          <p:nvPr/>
        </p:nvSpPr>
        <p:spPr>
          <a:xfrm>
            <a:off x="256032" y="6217920"/>
            <a:ext cx="50292" cy="50292"/>
          </a:xfrm>
          <a:prstGeom prst="ellipse">
            <a:avLst/>
          </a:prstGeom>
          <a:solidFill>
            <a:srgbClr val="36C4CC"/>
          </a:solidFill>
          <a:ln/>
        </p:spPr>
      </p:sp>
      <p:sp>
        <p:nvSpPr>
          <p:cNvPr id="17" name="Shape 13"/>
          <p:cNvSpPr/>
          <p:nvPr/>
        </p:nvSpPr>
        <p:spPr>
          <a:xfrm>
            <a:off x="470916" y="6217920"/>
            <a:ext cx="50292" cy="50292"/>
          </a:xfrm>
          <a:prstGeom prst="ellipse">
            <a:avLst/>
          </a:prstGeom>
          <a:solidFill>
            <a:srgbClr val="36C4CC"/>
          </a:solidFill>
          <a:ln/>
        </p:spPr>
      </p:sp>
      <p:sp>
        <p:nvSpPr>
          <p:cNvPr id="18" name="Shape 14"/>
          <p:cNvSpPr/>
          <p:nvPr/>
        </p:nvSpPr>
        <p:spPr>
          <a:xfrm>
            <a:off x="685800" y="6217920"/>
            <a:ext cx="50292" cy="50292"/>
          </a:xfrm>
          <a:prstGeom prst="ellipse">
            <a:avLst/>
          </a:prstGeom>
          <a:solidFill>
            <a:srgbClr val="36C4CC"/>
          </a:solidFill>
          <a:ln/>
        </p:spPr>
      </p:sp>
      <p:sp>
        <p:nvSpPr>
          <p:cNvPr id="19" name="Shape 15"/>
          <p:cNvSpPr/>
          <p:nvPr/>
        </p:nvSpPr>
        <p:spPr>
          <a:xfrm>
            <a:off x="900684" y="6217920"/>
            <a:ext cx="50292" cy="50292"/>
          </a:xfrm>
          <a:prstGeom prst="ellipse">
            <a:avLst/>
          </a:prstGeom>
          <a:solidFill>
            <a:srgbClr val="36C4CC"/>
          </a:solidFill>
          <a:ln/>
        </p:spPr>
      </p:sp>
      <p:sp>
        <p:nvSpPr>
          <p:cNvPr id="20" name="Shape 16"/>
          <p:cNvSpPr/>
          <p:nvPr/>
        </p:nvSpPr>
        <p:spPr>
          <a:xfrm>
            <a:off x="1115568" y="6217920"/>
            <a:ext cx="50292" cy="50292"/>
          </a:xfrm>
          <a:prstGeom prst="ellipse">
            <a:avLst/>
          </a:prstGeom>
          <a:solidFill>
            <a:srgbClr val="36C4CC"/>
          </a:solidFill>
          <a:ln/>
        </p:spPr>
      </p:sp>
      <p:sp>
        <p:nvSpPr>
          <p:cNvPr id="21" name="Shape 17"/>
          <p:cNvSpPr/>
          <p:nvPr/>
        </p:nvSpPr>
        <p:spPr>
          <a:xfrm>
            <a:off x="1330452" y="6217920"/>
            <a:ext cx="50292" cy="50292"/>
          </a:xfrm>
          <a:prstGeom prst="ellipse">
            <a:avLst/>
          </a:prstGeom>
          <a:solidFill>
            <a:srgbClr val="36C4CC"/>
          </a:solidFill>
          <a:ln/>
        </p:spPr>
      </p:sp>
      <p:sp>
        <p:nvSpPr>
          <p:cNvPr id="22" name="Shape 18"/>
          <p:cNvSpPr/>
          <p:nvPr/>
        </p:nvSpPr>
        <p:spPr>
          <a:xfrm>
            <a:off x="1545336" y="6217920"/>
            <a:ext cx="50292" cy="50292"/>
          </a:xfrm>
          <a:prstGeom prst="ellipse">
            <a:avLst/>
          </a:prstGeom>
          <a:solidFill>
            <a:srgbClr val="36C4CC"/>
          </a:solidFill>
          <a:ln/>
        </p:spPr>
      </p:sp>
      <p:sp>
        <p:nvSpPr>
          <p:cNvPr id="23" name="Shape 19"/>
          <p:cNvSpPr/>
          <p:nvPr/>
        </p:nvSpPr>
        <p:spPr>
          <a:xfrm>
            <a:off x="1760220" y="6217920"/>
            <a:ext cx="50292" cy="50292"/>
          </a:xfrm>
          <a:prstGeom prst="ellipse">
            <a:avLst/>
          </a:prstGeom>
          <a:solidFill>
            <a:srgbClr val="36C4CC"/>
          </a:solidFill>
          <a:ln/>
        </p:spPr>
      </p:sp>
      <p:sp>
        <p:nvSpPr>
          <p:cNvPr id="24" name="Shape 20"/>
          <p:cNvSpPr/>
          <p:nvPr/>
        </p:nvSpPr>
        <p:spPr>
          <a:xfrm>
            <a:off x="256032" y="6382512"/>
            <a:ext cx="50292" cy="50292"/>
          </a:xfrm>
          <a:prstGeom prst="ellipse">
            <a:avLst/>
          </a:prstGeom>
          <a:solidFill>
            <a:srgbClr val="36C4CC"/>
          </a:solidFill>
          <a:ln/>
        </p:spPr>
      </p:sp>
      <p:sp>
        <p:nvSpPr>
          <p:cNvPr id="25" name="Shape 21"/>
          <p:cNvSpPr/>
          <p:nvPr/>
        </p:nvSpPr>
        <p:spPr>
          <a:xfrm>
            <a:off x="470916" y="6382512"/>
            <a:ext cx="50292" cy="50292"/>
          </a:xfrm>
          <a:prstGeom prst="ellipse">
            <a:avLst/>
          </a:prstGeom>
          <a:solidFill>
            <a:srgbClr val="36C4CC"/>
          </a:solidFill>
          <a:ln/>
        </p:spPr>
      </p:sp>
      <p:sp>
        <p:nvSpPr>
          <p:cNvPr id="26" name="Shape 22"/>
          <p:cNvSpPr/>
          <p:nvPr/>
        </p:nvSpPr>
        <p:spPr>
          <a:xfrm>
            <a:off x="685800" y="6382512"/>
            <a:ext cx="50292" cy="50292"/>
          </a:xfrm>
          <a:prstGeom prst="ellipse">
            <a:avLst/>
          </a:prstGeom>
          <a:solidFill>
            <a:srgbClr val="36C4CC"/>
          </a:solidFill>
          <a:ln/>
        </p:spPr>
      </p:sp>
      <p:sp>
        <p:nvSpPr>
          <p:cNvPr id="27" name="Shape 23"/>
          <p:cNvSpPr/>
          <p:nvPr/>
        </p:nvSpPr>
        <p:spPr>
          <a:xfrm>
            <a:off x="900684" y="6382512"/>
            <a:ext cx="50292" cy="50292"/>
          </a:xfrm>
          <a:prstGeom prst="ellipse">
            <a:avLst/>
          </a:prstGeom>
          <a:solidFill>
            <a:srgbClr val="36C4CC"/>
          </a:solidFill>
          <a:ln/>
        </p:spPr>
      </p:sp>
      <p:sp>
        <p:nvSpPr>
          <p:cNvPr id="28" name="Shape 24"/>
          <p:cNvSpPr/>
          <p:nvPr/>
        </p:nvSpPr>
        <p:spPr>
          <a:xfrm>
            <a:off x="1115568" y="6382512"/>
            <a:ext cx="50292" cy="50292"/>
          </a:xfrm>
          <a:prstGeom prst="ellipse">
            <a:avLst/>
          </a:prstGeom>
          <a:solidFill>
            <a:srgbClr val="36C4CC"/>
          </a:solidFill>
          <a:ln/>
        </p:spPr>
      </p:sp>
      <p:sp>
        <p:nvSpPr>
          <p:cNvPr id="29" name="Shape 25"/>
          <p:cNvSpPr/>
          <p:nvPr/>
        </p:nvSpPr>
        <p:spPr>
          <a:xfrm>
            <a:off x="1330452" y="6382512"/>
            <a:ext cx="50292" cy="50292"/>
          </a:xfrm>
          <a:prstGeom prst="ellipse">
            <a:avLst/>
          </a:prstGeom>
          <a:solidFill>
            <a:srgbClr val="36C4CC"/>
          </a:solidFill>
          <a:ln/>
        </p:spPr>
      </p:sp>
      <p:sp>
        <p:nvSpPr>
          <p:cNvPr id="30" name="Shape 26"/>
          <p:cNvSpPr/>
          <p:nvPr/>
        </p:nvSpPr>
        <p:spPr>
          <a:xfrm>
            <a:off x="1545336" y="6382512"/>
            <a:ext cx="50292" cy="50292"/>
          </a:xfrm>
          <a:prstGeom prst="ellipse">
            <a:avLst/>
          </a:prstGeom>
          <a:solidFill>
            <a:srgbClr val="36C4CC"/>
          </a:solidFill>
          <a:ln/>
        </p:spPr>
      </p:sp>
      <p:sp>
        <p:nvSpPr>
          <p:cNvPr id="31" name="Shape 27"/>
          <p:cNvSpPr/>
          <p:nvPr/>
        </p:nvSpPr>
        <p:spPr>
          <a:xfrm>
            <a:off x="1760220" y="6382512"/>
            <a:ext cx="50292" cy="50292"/>
          </a:xfrm>
          <a:prstGeom prst="ellipse">
            <a:avLst/>
          </a:prstGeom>
          <a:solidFill>
            <a:srgbClr val="36C4CC"/>
          </a:solidFill>
          <a:ln/>
        </p:spPr>
      </p:sp>
      <p:sp>
        <p:nvSpPr>
          <p:cNvPr id="32" name="Shape 28"/>
          <p:cNvSpPr/>
          <p:nvPr/>
        </p:nvSpPr>
        <p:spPr>
          <a:xfrm>
            <a:off x="256032" y="6547104"/>
            <a:ext cx="50292" cy="50292"/>
          </a:xfrm>
          <a:prstGeom prst="ellipse">
            <a:avLst/>
          </a:prstGeom>
          <a:solidFill>
            <a:srgbClr val="36C4CC"/>
          </a:solidFill>
          <a:ln/>
        </p:spPr>
      </p:sp>
      <p:sp>
        <p:nvSpPr>
          <p:cNvPr id="33" name="Shape 29"/>
          <p:cNvSpPr/>
          <p:nvPr/>
        </p:nvSpPr>
        <p:spPr>
          <a:xfrm>
            <a:off x="470916" y="6547104"/>
            <a:ext cx="50292" cy="50292"/>
          </a:xfrm>
          <a:prstGeom prst="ellipse">
            <a:avLst/>
          </a:prstGeom>
          <a:solidFill>
            <a:srgbClr val="36C4CC"/>
          </a:solidFill>
          <a:ln/>
        </p:spPr>
      </p:sp>
      <p:sp>
        <p:nvSpPr>
          <p:cNvPr id="34" name="Shape 30"/>
          <p:cNvSpPr/>
          <p:nvPr/>
        </p:nvSpPr>
        <p:spPr>
          <a:xfrm>
            <a:off x="685800" y="6547104"/>
            <a:ext cx="50292" cy="50292"/>
          </a:xfrm>
          <a:prstGeom prst="ellipse">
            <a:avLst/>
          </a:prstGeom>
          <a:solidFill>
            <a:srgbClr val="36C4CC"/>
          </a:solidFill>
          <a:ln/>
        </p:spPr>
      </p:sp>
      <p:sp>
        <p:nvSpPr>
          <p:cNvPr id="35" name="Shape 31"/>
          <p:cNvSpPr/>
          <p:nvPr/>
        </p:nvSpPr>
        <p:spPr>
          <a:xfrm>
            <a:off x="900684" y="6547104"/>
            <a:ext cx="50292" cy="50292"/>
          </a:xfrm>
          <a:prstGeom prst="ellipse">
            <a:avLst/>
          </a:prstGeom>
          <a:solidFill>
            <a:srgbClr val="36C4CC"/>
          </a:solidFill>
          <a:ln/>
        </p:spPr>
      </p:sp>
      <p:sp>
        <p:nvSpPr>
          <p:cNvPr id="36" name="Shape 32"/>
          <p:cNvSpPr/>
          <p:nvPr/>
        </p:nvSpPr>
        <p:spPr>
          <a:xfrm>
            <a:off x="1115568" y="6547104"/>
            <a:ext cx="50292" cy="50292"/>
          </a:xfrm>
          <a:prstGeom prst="ellipse">
            <a:avLst/>
          </a:prstGeom>
          <a:solidFill>
            <a:srgbClr val="36C4CC"/>
          </a:solidFill>
          <a:ln/>
        </p:spPr>
      </p:sp>
      <p:sp>
        <p:nvSpPr>
          <p:cNvPr id="37" name="Shape 33"/>
          <p:cNvSpPr/>
          <p:nvPr/>
        </p:nvSpPr>
        <p:spPr>
          <a:xfrm>
            <a:off x="1330452" y="6547104"/>
            <a:ext cx="50292" cy="50292"/>
          </a:xfrm>
          <a:prstGeom prst="ellipse">
            <a:avLst/>
          </a:prstGeom>
          <a:solidFill>
            <a:srgbClr val="36C4CC"/>
          </a:solidFill>
          <a:ln/>
        </p:spPr>
      </p:sp>
      <p:sp>
        <p:nvSpPr>
          <p:cNvPr id="38" name="Shape 34"/>
          <p:cNvSpPr/>
          <p:nvPr/>
        </p:nvSpPr>
        <p:spPr>
          <a:xfrm>
            <a:off x="1545336" y="6547104"/>
            <a:ext cx="50292" cy="50292"/>
          </a:xfrm>
          <a:prstGeom prst="ellipse">
            <a:avLst/>
          </a:prstGeom>
          <a:solidFill>
            <a:srgbClr val="36C4CC"/>
          </a:solidFill>
          <a:ln/>
        </p:spPr>
      </p:sp>
      <p:sp>
        <p:nvSpPr>
          <p:cNvPr id="39" name="Shape 35"/>
          <p:cNvSpPr/>
          <p:nvPr/>
        </p:nvSpPr>
        <p:spPr>
          <a:xfrm>
            <a:off x="1760220" y="6547104"/>
            <a:ext cx="50292" cy="50292"/>
          </a:xfrm>
          <a:prstGeom prst="ellipse">
            <a:avLst/>
          </a:prstGeom>
          <a:solidFill>
            <a:srgbClr val="36C4CC"/>
          </a:solidFill>
          <a:ln/>
        </p:spPr>
      </p:sp>
      <p:sp>
        <p:nvSpPr>
          <p:cNvPr id="40" name="Text 36"/>
          <p:cNvSpPr txBox="1"/>
          <p:nvPr/>
        </p:nvSpPr>
        <p:spPr>
          <a:xfrm>
            <a:off x="685800" y="19659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20" kern="0" dirty="0">
                <a:solidFill>
                  <a:srgbClr val="1E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DISEÑO WEB</a:t>
            </a:r>
            <a:endParaRPr lang="en-US" sz="1300" dirty="0"/>
          </a:p>
        </p:txBody>
      </p:sp>
      <p:sp>
        <p:nvSpPr>
          <p:cNvPr id="41" name="Text 37"/>
          <p:cNvSpPr txBox="1"/>
          <p:nvPr/>
        </p:nvSpPr>
        <p:spPr>
          <a:xfrm>
            <a:off x="685800" y="2331720"/>
            <a:ext cx="7498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Imágenes, vínculos y</a:t>
            </a:r>
            <a:endParaRPr lang="en-US" sz="3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multimedia</a:t>
            </a:r>
            <a:endParaRPr lang="en-US" sz="3600" dirty="0"/>
          </a:p>
        </p:txBody>
      </p:sp>
      <p:sp>
        <p:nvSpPr>
          <p:cNvPr id="42" name="Shape 38"/>
          <p:cNvSpPr/>
          <p:nvPr/>
        </p:nvSpPr>
        <p:spPr>
          <a:xfrm>
            <a:off x="685800" y="3968496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72EF29"/>
          </a:solidFill>
          <a:ln/>
        </p:spPr>
      </p:sp>
      <p:sp>
        <p:nvSpPr>
          <p:cNvPr id="43" name="Shape 39"/>
          <p:cNvSpPr/>
          <p:nvPr/>
        </p:nvSpPr>
        <p:spPr>
          <a:xfrm>
            <a:off x="685800" y="3858768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36C4CC"/>
          </a:solidFill>
          <a:ln/>
        </p:spPr>
      </p:sp>
      <p:sp>
        <p:nvSpPr>
          <p:cNvPr id="44" name="Text 40"/>
          <p:cNvSpPr txBox="1"/>
          <p:nvPr/>
        </p:nvSpPr>
        <p:spPr>
          <a:xfrm>
            <a:off x="685800" y="385876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04</a:t>
            </a:r>
            <a:endParaRPr lang="en-US" sz="1350" dirty="0"/>
          </a:p>
        </p:txBody>
      </p:sp>
      <p:sp>
        <p:nvSpPr>
          <p:cNvPr id="45" name="Text 41"/>
          <p:cNvSpPr txBox="1"/>
          <p:nvPr/>
        </p:nvSpPr>
        <p:spPr>
          <a:xfrm>
            <a:off x="685800" y="452628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Formatos gráficos · optimización de imágenes · rutas relativas y absolutas</a:t>
            </a:r>
            <a:endParaRPr lang="en-US" sz="1300" dirty="0"/>
          </a:p>
        </p:txBody>
      </p:sp>
      <p:sp>
        <p:nvSpPr>
          <p:cNvPr id="46" name="Text 42"/>
          <p:cNvSpPr txBox="1"/>
          <p:nvPr/>
        </p:nvSpPr>
        <p:spPr>
          <a:xfrm>
            <a:off x="685800" y="51023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E7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</a:t>
            </a:r>
            <a:endParaRPr lang="en-US" sz="1050" dirty="0"/>
          </a:p>
        </p:txBody>
      </p:sp>
      <p:sp>
        <p:nvSpPr>
          <p:cNvPr id="47" name="Text 43"/>
          <p:cNvSpPr txBox="1"/>
          <p:nvPr/>
        </p:nvSpPr>
        <p:spPr>
          <a:xfrm>
            <a:off x="685800" y="534009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Ing. Dagner Anibal Chuman Lluen</a:t>
            </a:r>
            <a:endParaRPr lang="en-US" sz="1600" dirty="0"/>
          </a:p>
        </p:txBody>
      </p:sp>
      <p:pic>
        <p:nvPicPr>
          <p:cNvPr id="48" name="Image 2" descr="/home/claude/assets/petly/gato_perr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2286000"/>
            <a:ext cx="3246120" cy="1929384"/>
          </a:xfrm>
          <a:prstGeom prst="rect">
            <a:avLst/>
          </a:prstGeom>
        </p:spPr>
      </p:pic>
      <p:sp>
        <p:nvSpPr>
          <p:cNvPr id="50" name="Text 44"/>
          <p:cNvSpPr txBox="1"/>
          <p:nvPr/>
        </p:nvSpPr>
        <p:spPr>
          <a:xfrm>
            <a:off x="11002975" y="618134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37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pages/p_siente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002975" y="618134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37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pages/p_cinf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002975" y="618134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37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pages/p_agend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002975" y="618134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37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bands/band_C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1542364"/>
            <a:ext cx="7772400" cy="241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E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REPASO</a:t>
            </a:r>
            <a:endParaRPr lang="en-US" sz="115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784109"/>
            <a:ext cx="10424160" cy="580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dónde venimos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2267598"/>
            <a:ext cx="1042416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Tienes una estructura maquetada. Hoy le pones contenido visual real.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40080" y="2606040"/>
            <a:ext cx="5349240" cy="2014538"/>
          </a:xfrm>
          <a:prstGeom prst="roundRect">
            <a:avLst>
              <a:gd name="adj" fmla="val 4539"/>
            </a:avLst>
          </a:prstGeom>
          <a:solidFill>
            <a:srgbClr val="F7FDF4"/>
          </a:solidFill>
          <a:ln w="12700">
            <a:solidFill>
              <a:srgbClr val="DCEFD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60120" y="2767203"/>
            <a:ext cx="4754880" cy="306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E7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tienes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3129820"/>
            <a:ext cx="4800600" cy="1369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40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página maquetada con header, nav, main y footer.</a:t>
            </a:r>
            <a:endParaRPr lang="en-US" sz="1250" dirty="0"/>
          </a:p>
          <a:p>
            <a:pPr marL="203200" indent="-203200">
              <a:lnSpc>
                <a:spcPct val="1140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diseño de Petly estructurado en Figma con Auto Layout.</a:t>
            </a:r>
            <a:endParaRPr lang="en-US" sz="1250" dirty="0"/>
          </a:p>
          <a:p>
            <a:pPr marL="203200" indent="-203200">
              <a:lnSpc>
                <a:spcPct val="1140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Conocimiento básico de rutas relativas para enlaces.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17920" y="2606040"/>
            <a:ext cx="5349240" cy="2014538"/>
          </a:xfrm>
          <a:prstGeom prst="roundRect">
            <a:avLst>
              <a:gd name="adj" fmla="val 4539"/>
            </a:avLst>
          </a:prstGeom>
          <a:solidFill>
            <a:srgbClr val="F0FCE8"/>
          </a:solidFill>
          <a:ln w="12700">
            <a:solidFill>
              <a:srgbClr val="CFF2B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537960" y="2767203"/>
            <a:ext cx="4754880" cy="306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B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sumas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6537960" y="3129820"/>
            <a:ext cx="4800600" cy="1369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40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Elegir el formato gráfico correcto para cada caso.</a:t>
            </a:r>
            <a:endParaRPr lang="en-US" sz="1250" dirty="0"/>
          </a:p>
          <a:p>
            <a:pPr marL="203200" indent="-203200">
              <a:lnSpc>
                <a:spcPct val="1140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Insertar imágenes accesibles y optimizadas.</a:t>
            </a:r>
            <a:endParaRPr lang="en-US" sz="1250" dirty="0"/>
          </a:p>
          <a:p>
            <a:pPr marL="203200" indent="-203200">
              <a:lnSpc>
                <a:spcPct val="1140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Organizar y enlazar los recursos de tu proyecto sin romper rutas.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40080" y="4822031"/>
            <a:ext cx="10927080" cy="1208723"/>
          </a:xfrm>
          <a:prstGeom prst="roundRect">
            <a:avLst>
              <a:gd name="adj" fmla="val 7565"/>
            </a:avLst>
          </a:prstGeom>
          <a:solidFill>
            <a:srgbClr val="EAFAFB"/>
          </a:solidFill>
          <a:ln w="12700">
            <a:solidFill>
              <a:srgbClr val="BCE9E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60120" y="4983194"/>
            <a:ext cx="54864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dato que justifica toda la sesión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60120" y="5281346"/>
            <a:ext cx="10287000" cy="684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imágenes suelen ser el componente más pesado de una página web. Una sola foto sin optimizar puede pesar más que todo el HTML, el CSS y los tipos de letra juntos. Saber tratarlas es lo que separa un sitio rápido de uno que nadie espera a que cargue.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11002975" y="6441719"/>
            <a:ext cx="914400" cy="225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37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bands/band_C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1542364"/>
            <a:ext cx="7772400" cy="241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E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LOGROS DE APRENDIZAJE</a:t>
            </a:r>
            <a:endParaRPr lang="en-US" sz="115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784109"/>
            <a:ext cx="10424160" cy="580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vas a lograr hoy?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640080" y="2606040"/>
            <a:ext cx="10927080" cy="805815"/>
          </a:xfrm>
          <a:prstGeom prst="roundRect">
            <a:avLst>
              <a:gd name="adj" fmla="val 11348"/>
            </a:avLst>
          </a:prstGeom>
          <a:solidFill>
            <a:srgbClr val="F7FDF4"/>
          </a:solidFill>
          <a:ln w="12700">
            <a:solidFill>
              <a:srgbClr val="DCEFD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78408" y="2783319"/>
            <a:ext cx="512064" cy="451256"/>
          </a:xfrm>
          <a:prstGeom prst="ellipse">
            <a:avLst/>
          </a:prstGeom>
          <a:solidFill>
            <a:srgbClr val="72EF29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78408" y="2783319"/>
            <a:ext cx="512064" cy="451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691640" y="2686622"/>
            <a:ext cx="2194560" cy="322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4FB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Elegir</a:t>
            </a:r>
            <a:endParaRPr lang="en-US" sz="1550" dirty="0"/>
          </a:p>
        </p:txBody>
      </p:sp>
      <p:sp>
        <p:nvSpPr>
          <p:cNvPr id="9" name="Text 6"/>
          <p:cNvSpPr txBox="1"/>
          <p:nvPr/>
        </p:nvSpPr>
        <p:spPr>
          <a:xfrm>
            <a:off x="3931920" y="2606040"/>
            <a:ext cx="7406640" cy="805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Seleccionar el formato gráfico adecuado según el tipo de imagen y su uso.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40080" y="3500495"/>
            <a:ext cx="10927080" cy="805815"/>
          </a:xfrm>
          <a:prstGeom prst="roundRect">
            <a:avLst>
              <a:gd name="adj" fmla="val 11348"/>
            </a:avLst>
          </a:prstGeom>
          <a:solidFill>
            <a:srgbClr val="F7FDF4"/>
          </a:solidFill>
          <a:ln w="12700">
            <a:solidFill>
              <a:srgbClr val="DCEFD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78408" y="3677774"/>
            <a:ext cx="512064" cy="451256"/>
          </a:xfrm>
          <a:prstGeom prst="ellipse">
            <a:avLst/>
          </a:prstGeom>
          <a:solidFill>
            <a:srgbClr val="72EF29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978408" y="3677774"/>
            <a:ext cx="512064" cy="451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1691640" y="3581076"/>
            <a:ext cx="2194560" cy="322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4FB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Insertar</a:t>
            </a:r>
            <a:endParaRPr lang="en-US" sz="1550" dirty="0"/>
          </a:p>
        </p:txBody>
      </p:sp>
      <p:sp>
        <p:nvSpPr>
          <p:cNvPr id="14" name="Text 11"/>
          <p:cNvSpPr txBox="1"/>
          <p:nvPr/>
        </p:nvSpPr>
        <p:spPr>
          <a:xfrm>
            <a:off x="3931920" y="3500495"/>
            <a:ext cx="7406640" cy="805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&lt;img&gt; con rutas correctas y texto alternativo accesible.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40080" y="4394949"/>
            <a:ext cx="10927080" cy="805815"/>
          </a:xfrm>
          <a:prstGeom prst="roundRect">
            <a:avLst>
              <a:gd name="adj" fmla="val 11348"/>
            </a:avLst>
          </a:prstGeom>
          <a:solidFill>
            <a:srgbClr val="F7FDF4"/>
          </a:solidFill>
          <a:ln w="12700">
            <a:solidFill>
              <a:srgbClr val="DCEFD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978408" y="4572229"/>
            <a:ext cx="512064" cy="451256"/>
          </a:xfrm>
          <a:prstGeom prst="ellipse">
            <a:avLst/>
          </a:prstGeom>
          <a:solidFill>
            <a:srgbClr val="72EF29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978408" y="4572229"/>
            <a:ext cx="512064" cy="451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1691640" y="4475531"/>
            <a:ext cx="2194560" cy="322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4FB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Optimizar</a:t>
            </a:r>
            <a:endParaRPr lang="en-US" sz="1550" dirty="0"/>
          </a:p>
        </p:txBody>
      </p:sp>
      <p:sp>
        <p:nvSpPr>
          <p:cNvPr id="19" name="Text 16"/>
          <p:cNvSpPr txBox="1"/>
          <p:nvPr/>
        </p:nvSpPr>
        <p:spPr>
          <a:xfrm>
            <a:off x="3931920" y="4394949"/>
            <a:ext cx="7406640" cy="805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Reducir el peso de una imagen sin perder calidad perceptible.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40080" y="5289404"/>
            <a:ext cx="10927080" cy="805815"/>
          </a:xfrm>
          <a:prstGeom prst="roundRect">
            <a:avLst>
              <a:gd name="adj" fmla="val 11348"/>
            </a:avLst>
          </a:prstGeom>
          <a:solidFill>
            <a:srgbClr val="F7FDF4"/>
          </a:solidFill>
          <a:ln w="12700">
            <a:solidFill>
              <a:srgbClr val="DCEFD3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978408" y="5466683"/>
            <a:ext cx="512064" cy="451256"/>
          </a:xfrm>
          <a:prstGeom prst="ellipse">
            <a:avLst/>
          </a:prstGeom>
          <a:solidFill>
            <a:srgbClr val="72EF29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978408" y="5466683"/>
            <a:ext cx="512064" cy="451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1691640" y="5369985"/>
            <a:ext cx="2194560" cy="322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4FB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Organizar</a:t>
            </a:r>
            <a:endParaRPr lang="en-US" sz="1550" dirty="0"/>
          </a:p>
        </p:txBody>
      </p:sp>
      <p:sp>
        <p:nvSpPr>
          <p:cNvPr id="24" name="Text 21"/>
          <p:cNvSpPr txBox="1"/>
          <p:nvPr/>
        </p:nvSpPr>
        <p:spPr>
          <a:xfrm>
            <a:off x="3931920" y="5289404"/>
            <a:ext cx="7406640" cy="805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Estructurar las carpetas del proyecto para que nada se rompa al publicar.</a:t>
            </a:r>
            <a:endParaRPr lang="en-US" sz="1250" dirty="0"/>
          </a:p>
        </p:txBody>
      </p:sp>
      <p:sp>
        <p:nvSpPr>
          <p:cNvPr id="26" name="Text 22"/>
          <p:cNvSpPr txBox="1"/>
          <p:nvPr/>
        </p:nvSpPr>
        <p:spPr>
          <a:xfrm>
            <a:off x="11002975" y="6441719"/>
            <a:ext cx="914400" cy="225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37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bands/band_C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1542364"/>
            <a:ext cx="7772400" cy="241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E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5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784109"/>
            <a:ext cx="10424160" cy="580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reparten las 4 horas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640080" y="2606040"/>
            <a:ext cx="10927080" cy="531838"/>
          </a:xfrm>
          <a:prstGeom prst="roundRect">
            <a:avLst>
              <a:gd name="adj" fmla="val 17193"/>
            </a:avLst>
          </a:prstGeom>
          <a:solidFill>
            <a:srgbClr val="F7FDF4"/>
          </a:solidFill>
          <a:ln w="12700">
            <a:solidFill>
              <a:srgbClr val="DCEFD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60120" y="2670505"/>
            <a:ext cx="457200" cy="402908"/>
          </a:xfrm>
          <a:prstGeom prst="ellipse">
            <a:avLst/>
          </a:prstGeom>
          <a:solidFill>
            <a:srgbClr val="36C4CC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60120" y="2670505"/>
            <a:ext cx="457200" cy="402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664208" y="2606040"/>
            <a:ext cx="3291840" cy="531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Formatos gráficos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029200" y="2606040"/>
            <a:ext cx="5303520" cy="531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JPG, PNG, SVG, WebP: cuál usar y cuándo.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10332720" y="2606040"/>
            <a:ext cx="1051560" cy="531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36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min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40080" y="3202343"/>
            <a:ext cx="10927080" cy="531838"/>
          </a:xfrm>
          <a:prstGeom prst="roundRect">
            <a:avLst>
              <a:gd name="adj" fmla="val 17193"/>
            </a:avLst>
          </a:prstGeom>
          <a:solidFill>
            <a:srgbClr val="F7FDF4"/>
          </a:solidFill>
          <a:ln w="12700">
            <a:solidFill>
              <a:srgbClr val="DCEFD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60120" y="3266808"/>
            <a:ext cx="457200" cy="402908"/>
          </a:xfrm>
          <a:prstGeom prst="ellipse">
            <a:avLst/>
          </a:prstGeom>
          <a:solidFill>
            <a:srgbClr val="36C4CC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960120" y="3266808"/>
            <a:ext cx="457200" cy="402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664208" y="3202343"/>
            <a:ext cx="3291840" cy="531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etiqueta &lt;img&gt;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5029200" y="3202343"/>
            <a:ext cx="5303520" cy="531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src, alt, dimensiones y carga diferida.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10332720" y="3202343"/>
            <a:ext cx="1051560" cy="531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36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min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40080" y="3798646"/>
            <a:ext cx="10927080" cy="531838"/>
          </a:xfrm>
          <a:prstGeom prst="roundRect">
            <a:avLst>
              <a:gd name="adj" fmla="val 17193"/>
            </a:avLst>
          </a:prstGeom>
          <a:solidFill>
            <a:srgbClr val="F7FDF4"/>
          </a:solidFill>
          <a:ln w="12700">
            <a:solidFill>
              <a:srgbClr val="DCEFD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60120" y="3863111"/>
            <a:ext cx="457200" cy="402908"/>
          </a:xfrm>
          <a:prstGeom prst="ellipse">
            <a:avLst/>
          </a:prstGeom>
          <a:solidFill>
            <a:srgbClr val="36C4CC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960120" y="3863111"/>
            <a:ext cx="457200" cy="402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1664208" y="3798646"/>
            <a:ext cx="3291840" cy="531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Rutas para recursos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5029200" y="3798646"/>
            <a:ext cx="5303520" cy="531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Relativas, absolutas y la estructura de carpetas.</a:t>
            </a:r>
            <a:endParaRPr lang="en-US" sz="1150" dirty="0"/>
          </a:p>
        </p:txBody>
      </p:sp>
      <p:sp>
        <p:nvSpPr>
          <p:cNvPr id="22" name="Text 19"/>
          <p:cNvSpPr txBox="1"/>
          <p:nvPr/>
        </p:nvSpPr>
        <p:spPr>
          <a:xfrm>
            <a:off x="10332720" y="3798646"/>
            <a:ext cx="1051560" cy="531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36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640080" y="4394949"/>
            <a:ext cx="10927080" cy="531838"/>
          </a:xfrm>
          <a:prstGeom prst="roundRect">
            <a:avLst>
              <a:gd name="adj" fmla="val 17193"/>
            </a:avLst>
          </a:prstGeom>
          <a:solidFill>
            <a:srgbClr val="F7FDF4"/>
          </a:solidFill>
          <a:ln w="12700">
            <a:solidFill>
              <a:srgbClr val="DCEFD3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960120" y="4459415"/>
            <a:ext cx="457200" cy="402908"/>
          </a:xfrm>
          <a:prstGeom prst="ellipse">
            <a:avLst/>
          </a:prstGeom>
          <a:solidFill>
            <a:srgbClr val="36C4CC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960120" y="4459415"/>
            <a:ext cx="457200" cy="402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1664208" y="4394949"/>
            <a:ext cx="3291840" cy="531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Optimización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5029200" y="4394949"/>
            <a:ext cx="5303520" cy="531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Redimensionar, comprimir y convertir.</a:t>
            </a:r>
            <a:endParaRPr lang="en-US" sz="1150" dirty="0"/>
          </a:p>
        </p:txBody>
      </p:sp>
      <p:sp>
        <p:nvSpPr>
          <p:cNvPr id="28" name="Text 25"/>
          <p:cNvSpPr txBox="1"/>
          <p:nvPr/>
        </p:nvSpPr>
        <p:spPr>
          <a:xfrm>
            <a:off x="10332720" y="4394949"/>
            <a:ext cx="1051560" cy="531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36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min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640080" y="4991252"/>
            <a:ext cx="10927080" cy="531838"/>
          </a:xfrm>
          <a:prstGeom prst="roundRect">
            <a:avLst>
              <a:gd name="adj" fmla="val 17193"/>
            </a:avLst>
          </a:prstGeom>
          <a:solidFill>
            <a:srgbClr val="F2F4F3"/>
          </a:solidFill>
          <a:ln w="12700">
            <a:solidFill>
              <a:srgbClr val="DCEFD3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960120" y="5055718"/>
            <a:ext cx="457200" cy="402908"/>
          </a:xfrm>
          <a:prstGeom prst="ellipse">
            <a:avLst/>
          </a:prstGeom>
          <a:solidFill>
            <a:srgbClr val="6E7673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960120" y="5055718"/>
            <a:ext cx="457200" cy="402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1664208" y="4991252"/>
            <a:ext cx="3291840" cy="531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7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Descanso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5029200" y="4991252"/>
            <a:ext cx="5303520" cy="531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34" name="Text 31"/>
          <p:cNvSpPr txBox="1"/>
          <p:nvPr/>
        </p:nvSpPr>
        <p:spPr>
          <a:xfrm>
            <a:off x="10332720" y="4991252"/>
            <a:ext cx="1051560" cy="531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6E7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640080" y="5587556"/>
            <a:ext cx="10927080" cy="531838"/>
          </a:xfrm>
          <a:prstGeom prst="roundRect">
            <a:avLst>
              <a:gd name="adj" fmla="val 17193"/>
            </a:avLst>
          </a:prstGeom>
          <a:solidFill>
            <a:srgbClr val="F7FDF4"/>
          </a:solidFill>
          <a:ln w="12700">
            <a:solidFill>
              <a:srgbClr val="DCEFD3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960120" y="5652021"/>
            <a:ext cx="457200" cy="402908"/>
          </a:xfrm>
          <a:prstGeom prst="ellipse">
            <a:avLst/>
          </a:prstGeom>
          <a:solidFill>
            <a:srgbClr val="72EF29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960120" y="5652021"/>
            <a:ext cx="457200" cy="402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38" name="Text 35"/>
          <p:cNvSpPr txBox="1"/>
          <p:nvPr/>
        </p:nvSpPr>
        <p:spPr>
          <a:xfrm>
            <a:off x="1664208" y="5587556"/>
            <a:ext cx="3291840" cy="531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y práctica</a:t>
            </a:r>
            <a:endParaRPr lang="en-US" sz="1400" dirty="0"/>
          </a:p>
        </p:txBody>
      </p:sp>
      <p:sp>
        <p:nvSpPr>
          <p:cNvPr id="39" name="Text 36"/>
          <p:cNvSpPr txBox="1"/>
          <p:nvPr/>
        </p:nvSpPr>
        <p:spPr>
          <a:xfrm>
            <a:off x="5029200" y="5587556"/>
            <a:ext cx="5303520" cy="531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Imageye, Squoosh, figure, favicon y galería.</a:t>
            </a:r>
            <a:endParaRPr lang="en-US" sz="1150" dirty="0"/>
          </a:p>
        </p:txBody>
      </p:sp>
      <p:sp>
        <p:nvSpPr>
          <p:cNvPr id="40" name="Text 37"/>
          <p:cNvSpPr txBox="1"/>
          <p:nvPr/>
        </p:nvSpPr>
        <p:spPr>
          <a:xfrm>
            <a:off x="10332720" y="5587556"/>
            <a:ext cx="1051560" cy="531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72E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 min</a:t>
            </a:r>
            <a:endParaRPr lang="en-US" sz="1150" dirty="0"/>
          </a:p>
        </p:txBody>
      </p:sp>
      <p:sp>
        <p:nvSpPr>
          <p:cNvPr id="42" name="Text 38"/>
          <p:cNvSpPr txBox="1"/>
          <p:nvPr/>
        </p:nvSpPr>
        <p:spPr>
          <a:xfrm>
            <a:off x="11002975" y="6441719"/>
            <a:ext cx="914400" cy="225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37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bands/band_C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775704" y="1243584"/>
            <a:ext cx="5148072" cy="5248656"/>
          </a:xfrm>
          <a:prstGeom prst="roundRect">
            <a:avLst>
              <a:gd name="adj" fmla="val 3908"/>
            </a:avLst>
          </a:prstGeom>
          <a:solidFill>
            <a:srgbClr val="FFFFFF"/>
          </a:solidFill>
          <a:ln w="31750">
            <a:solidFill>
              <a:srgbClr val="36C4CC"/>
            </a:solidFill>
            <a:prstDash val="solid"/>
          </a:ln>
        </p:spPr>
      </p:sp>
      <p:pic>
        <p:nvPicPr>
          <p:cNvPr id="4" name="Image 1" descr="/home/claude/assets/foto_a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371600"/>
            <a:ext cx="4892040" cy="4992624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6519672" y="987552"/>
            <a:ext cx="804672" cy="804672"/>
          </a:xfrm>
          <a:prstGeom prst="roundRect">
            <a:avLst>
              <a:gd name="adj" fmla="val 51136"/>
            </a:avLst>
          </a:prstGeom>
          <a:solidFill>
            <a:srgbClr val="72EF29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-502920" y="1664208"/>
            <a:ext cx="5577840" cy="1024128"/>
          </a:xfrm>
          <a:prstGeom prst="roundRect">
            <a:avLst>
              <a:gd name="adj" fmla="val 50000"/>
            </a:avLst>
          </a:prstGeom>
          <a:solidFill>
            <a:srgbClr val="72EF29"/>
          </a:solidFill>
          <a:ln/>
        </p:spPr>
      </p:sp>
      <p:sp>
        <p:nvSpPr>
          <p:cNvPr id="7" name="Shape 3"/>
          <p:cNvSpPr/>
          <p:nvPr/>
        </p:nvSpPr>
        <p:spPr>
          <a:xfrm>
            <a:off x="-548640" y="1517904"/>
            <a:ext cx="5349240" cy="1024128"/>
          </a:xfrm>
          <a:prstGeom prst="roundRect">
            <a:avLst>
              <a:gd name="adj" fmla="val 50000"/>
            </a:avLst>
          </a:prstGeom>
          <a:solidFill>
            <a:srgbClr val="36C4CC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274320" y="1517904"/>
            <a:ext cx="42976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Formatos gráficos</a:t>
            </a:r>
            <a:endParaRPr lang="en-US" sz="2200" dirty="0"/>
          </a:p>
        </p:txBody>
      </p:sp>
      <p:sp>
        <p:nvSpPr>
          <p:cNvPr id="9" name="Text 5"/>
          <p:cNvSpPr txBox="1"/>
          <p:nvPr/>
        </p:nvSpPr>
        <p:spPr>
          <a:xfrm>
            <a:off x="274320" y="2798064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50" kern="0" dirty="0">
                <a:solidFill>
                  <a:srgbClr val="1E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01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331012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E7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este bloque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85800" y="3657600"/>
            <a:ext cx="5577840" cy="475488"/>
          </a:xfrm>
          <a:prstGeom prst="roundRect">
            <a:avLst>
              <a:gd name="adj" fmla="val 50000"/>
            </a:avLst>
          </a:prstGeom>
          <a:solidFill>
            <a:srgbClr val="F0FCE8"/>
          </a:solidFill>
          <a:ln/>
        </p:spPr>
      </p:sp>
      <p:sp>
        <p:nvSpPr>
          <p:cNvPr id="12" name="Shape 8"/>
          <p:cNvSpPr/>
          <p:nvPr/>
        </p:nvSpPr>
        <p:spPr>
          <a:xfrm>
            <a:off x="685800" y="3657600"/>
            <a:ext cx="658368" cy="475488"/>
          </a:xfrm>
          <a:prstGeom prst="roundRect">
            <a:avLst>
              <a:gd name="adj" fmla="val 50000"/>
            </a:avLst>
          </a:prstGeom>
          <a:solidFill>
            <a:srgbClr val="36C4CC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1481328" y="365760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bits y vectores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85800" y="4206240"/>
            <a:ext cx="5577840" cy="475488"/>
          </a:xfrm>
          <a:prstGeom prst="roundRect">
            <a:avLst>
              <a:gd name="adj" fmla="val 50000"/>
            </a:avLst>
          </a:prstGeom>
          <a:solidFill>
            <a:srgbClr val="F0FCE8"/>
          </a:solidFill>
          <a:ln/>
        </p:spPr>
      </p:sp>
      <p:sp>
        <p:nvSpPr>
          <p:cNvPr id="15" name="Shape 11"/>
          <p:cNvSpPr/>
          <p:nvPr/>
        </p:nvSpPr>
        <p:spPr>
          <a:xfrm>
            <a:off x="685800" y="4206240"/>
            <a:ext cx="658368" cy="475488"/>
          </a:xfrm>
          <a:prstGeom prst="roundRect">
            <a:avLst>
              <a:gd name="adj" fmla="val 50000"/>
            </a:avLst>
          </a:prstGeom>
          <a:solidFill>
            <a:srgbClr val="36C4CC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1481328" y="420624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JPG, PNG y GIF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85800" y="4754880"/>
            <a:ext cx="5577840" cy="475488"/>
          </a:xfrm>
          <a:prstGeom prst="roundRect">
            <a:avLst>
              <a:gd name="adj" fmla="val 50000"/>
            </a:avLst>
          </a:prstGeom>
          <a:solidFill>
            <a:srgbClr val="F0FCE8"/>
          </a:solidFill>
          <a:ln/>
        </p:spPr>
      </p:sp>
      <p:sp>
        <p:nvSpPr>
          <p:cNvPr id="18" name="Shape 14"/>
          <p:cNvSpPr/>
          <p:nvPr/>
        </p:nvSpPr>
        <p:spPr>
          <a:xfrm>
            <a:off x="685800" y="4754880"/>
            <a:ext cx="658368" cy="475488"/>
          </a:xfrm>
          <a:prstGeom prst="roundRect">
            <a:avLst>
              <a:gd name="adj" fmla="val 50000"/>
            </a:avLst>
          </a:prstGeom>
          <a:solidFill>
            <a:srgbClr val="36C4CC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1481328" y="475488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SVG: el formato que escala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685800" y="5303520"/>
            <a:ext cx="5577840" cy="475488"/>
          </a:xfrm>
          <a:prstGeom prst="roundRect">
            <a:avLst>
              <a:gd name="adj" fmla="val 50000"/>
            </a:avLst>
          </a:prstGeom>
          <a:solidFill>
            <a:srgbClr val="F0FCE8"/>
          </a:solidFill>
          <a:ln/>
        </p:spPr>
      </p:sp>
      <p:sp>
        <p:nvSpPr>
          <p:cNvPr id="21" name="Shape 17"/>
          <p:cNvSpPr/>
          <p:nvPr/>
        </p:nvSpPr>
        <p:spPr>
          <a:xfrm>
            <a:off x="685800" y="5303520"/>
            <a:ext cx="658368" cy="475488"/>
          </a:xfrm>
          <a:prstGeom prst="roundRect">
            <a:avLst>
              <a:gd name="adj" fmla="val 50000"/>
            </a:avLst>
          </a:prstGeom>
          <a:solidFill>
            <a:srgbClr val="36C4CC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1481328" y="530352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WebP y AVIF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685800" y="5852160"/>
            <a:ext cx="5577840" cy="475488"/>
          </a:xfrm>
          <a:prstGeom prst="roundRect">
            <a:avLst>
              <a:gd name="adj" fmla="val 50000"/>
            </a:avLst>
          </a:prstGeom>
          <a:solidFill>
            <a:srgbClr val="F0FCE8"/>
          </a:solidFill>
          <a:ln/>
        </p:spPr>
      </p:sp>
      <p:sp>
        <p:nvSpPr>
          <p:cNvPr id="24" name="Shape 20"/>
          <p:cNvSpPr/>
          <p:nvPr/>
        </p:nvSpPr>
        <p:spPr>
          <a:xfrm>
            <a:off x="685800" y="5852160"/>
            <a:ext cx="658368" cy="475488"/>
          </a:xfrm>
          <a:prstGeom prst="roundRect">
            <a:avLst>
              <a:gd name="adj" fmla="val 50000"/>
            </a:avLst>
          </a:prstGeom>
          <a:solidFill>
            <a:srgbClr val="36C4CC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1481328" y="585216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Cuál elegir en cada caso</a:t>
            </a:r>
            <a:endParaRPr lang="en-US" sz="1150" dirty="0"/>
          </a:p>
        </p:txBody>
      </p:sp>
      <p:sp>
        <p:nvSpPr>
          <p:cNvPr id="26" name="Text 22"/>
          <p:cNvSpPr txBox="1"/>
          <p:nvPr/>
        </p:nvSpPr>
        <p:spPr>
          <a:xfrm>
            <a:off x="11002975" y="618134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37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bands/band_C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1542364"/>
            <a:ext cx="7772400" cy="241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E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FORMATOS</a:t>
            </a:r>
            <a:endParaRPr lang="en-US" sz="115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784109"/>
            <a:ext cx="10424160" cy="580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familias de imagen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2267598"/>
            <a:ext cx="1042416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imagen que pongas en la web pertenece a una de estas dos categorías.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40080" y="2606040"/>
            <a:ext cx="5349240" cy="2457736"/>
          </a:xfrm>
          <a:prstGeom prst="roundRect">
            <a:avLst>
              <a:gd name="adj" fmla="val 3720"/>
            </a:avLst>
          </a:prstGeom>
          <a:solidFill>
            <a:srgbClr val="EAFAFB"/>
          </a:solidFill>
          <a:ln w="12700">
            <a:solidFill>
              <a:srgbClr val="BCE9E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60120" y="2767203"/>
            <a:ext cx="4754880" cy="3384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bits (raster)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3153994"/>
            <a:ext cx="4754880" cy="604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imagen es una cuadrícula de píxeles. Al ampliarla se ve pixelada porque no hay más información que inventar.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1051560" y="3855053"/>
            <a:ext cx="173736" cy="153105"/>
          </a:xfrm>
          <a:prstGeom prst="rect">
            <a:avLst/>
          </a:prstGeom>
          <a:solidFill>
            <a:srgbClr val="36C4CC"/>
          </a:solidFill>
          <a:ln/>
        </p:spPr>
      </p:sp>
      <p:sp>
        <p:nvSpPr>
          <p:cNvPr id="10" name="Shape 7"/>
          <p:cNvSpPr/>
          <p:nvPr/>
        </p:nvSpPr>
        <p:spPr>
          <a:xfrm>
            <a:off x="1234440" y="3855053"/>
            <a:ext cx="173736" cy="153105"/>
          </a:xfrm>
          <a:prstGeom prst="rect">
            <a:avLst/>
          </a:prstGeom>
          <a:solidFill>
            <a:srgbClr val="D9E7E6"/>
          </a:solidFill>
          <a:ln/>
        </p:spPr>
      </p:sp>
      <p:sp>
        <p:nvSpPr>
          <p:cNvPr id="11" name="Shape 8"/>
          <p:cNvSpPr/>
          <p:nvPr/>
        </p:nvSpPr>
        <p:spPr>
          <a:xfrm>
            <a:off x="1417320" y="3855053"/>
            <a:ext cx="173736" cy="153105"/>
          </a:xfrm>
          <a:prstGeom prst="rect">
            <a:avLst/>
          </a:prstGeom>
          <a:solidFill>
            <a:srgbClr val="D9E7E6"/>
          </a:solidFill>
          <a:ln/>
        </p:spPr>
      </p:sp>
      <p:sp>
        <p:nvSpPr>
          <p:cNvPr id="12" name="Shape 9"/>
          <p:cNvSpPr/>
          <p:nvPr/>
        </p:nvSpPr>
        <p:spPr>
          <a:xfrm>
            <a:off x="1600200" y="3855053"/>
            <a:ext cx="173736" cy="153105"/>
          </a:xfrm>
          <a:prstGeom prst="rect">
            <a:avLst/>
          </a:prstGeom>
          <a:solidFill>
            <a:srgbClr val="36C4CC"/>
          </a:solidFill>
          <a:ln/>
        </p:spPr>
      </p:sp>
      <p:sp>
        <p:nvSpPr>
          <p:cNvPr id="13" name="Shape 10"/>
          <p:cNvSpPr/>
          <p:nvPr/>
        </p:nvSpPr>
        <p:spPr>
          <a:xfrm>
            <a:off x="1783080" y="3855053"/>
            <a:ext cx="173736" cy="153105"/>
          </a:xfrm>
          <a:prstGeom prst="rect">
            <a:avLst/>
          </a:prstGeom>
          <a:solidFill>
            <a:srgbClr val="D9E7E6"/>
          </a:solidFill>
          <a:ln/>
        </p:spPr>
      </p:sp>
      <p:sp>
        <p:nvSpPr>
          <p:cNvPr id="14" name="Shape 11"/>
          <p:cNvSpPr/>
          <p:nvPr/>
        </p:nvSpPr>
        <p:spPr>
          <a:xfrm>
            <a:off x="1965960" y="3855053"/>
            <a:ext cx="173736" cy="153105"/>
          </a:xfrm>
          <a:prstGeom prst="rect">
            <a:avLst/>
          </a:prstGeom>
          <a:solidFill>
            <a:srgbClr val="D9E7E6"/>
          </a:solidFill>
          <a:ln/>
        </p:spPr>
      </p:sp>
      <p:sp>
        <p:nvSpPr>
          <p:cNvPr id="15" name="Shape 12"/>
          <p:cNvSpPr/>
          <p:nvPr/>
        </p:nvSpPr>
        <p:spPr>
          <a:xfrm>
            <a:off x="2148840" y="3855053"/>
            <a:ext cx="173736" cy="153105"/>
          </a:xfrm>
          <a:prstGeom prst="rect">
            <a:avLst/>
          </a:prstGeom>
          <a:solidFill>
            <a:srgbClr val="36C4CC"/>
          </a:solidFill>
          <a:ln/>
        </p:spPr>
      </p:sp>
      <p:sp>
        <p:nvSpPr>
          <p:cNvPr id="16" name="Shape 13"/>
          <p:cNvSpPr/>
          <p:nvPr/>
        </p:nvSpPr>
        <p:spPr>
          <a:xfrm>
            <a:off x="2331720" y="3855053"/>
            <a:ext cx="173736" cy="153105"/>
          </a:xfrm>
          <a:prstGeom prst="rect">
            <a:avLst/>
          </a:prstGeom>
          <a:solidFill>
            <a:srgbClr val="D9E7E6"/>
          </a:solidFill>
          <a:ln/>
        </p:spPr>
      </p:sp>
      <p:sp>
        <p:nvSpPr>
          <p:cNvPr id="17" name="Shape 14"/>
          <p:cNvSpPr/>
          <p:nvPr/>
        </p:nvSpPr>
        <p:spPr>
          <a:xfrm>
            <a:off x="2514600" y="3855053"/>
            <a:ext cx="173736" cy="153105"/>
          </a:xfrm>
          <a:prstGeom prst="rect">
            <a:avLst/>
          </a:prstGeom>
          <a:solidFill>
            <a:srgbClr val="D9E7E6"/>
          </a:solidFill>
          <a:ln/>
        </p:spPr>
      </p:sp>
      <p:sp>
        <p:nvSpPr>
          <p:cNvPr id="18" name="Shape 15"/>
          <p:cNvSpPr/>
          <p:nvPr/>
        </p:nvSpPr>
        <p:spPr>
          <a:xfrm>
            <a:off x="2697480" y="3855053"/>
            <a:ext cx="173736" cy="153105"/>
          </a:xfrm>
          <a:prstGeom prst="rect">
            <a:avLst/>
          </a:prstGeom>
          <a:solidFill>
            <a:srgbClr val="36C4CC"/>
          </a:solidFill>
          <a:ln/>
        </p:spPr>
      </p:sp>
      <p:sp>
        <p:nvSpPr>
          <p:cNvPr id="19" name="Shape 16"/>
          <p:cNvSpPr/>
          <p:nvPr/>
        </p:nvSpPr>
        <p:spPr>
          <a:xfrm>
            <a:off x="2880360" y="3855053"/>
            <a:ext cx="173736" cy="153105"/>
          </a:xfrm>
          <a:prstGeom prst="rect">
            <a:avLst/>
          </a:prstGeom>
          <a:solidFill>
            <a:srgbClr val="D9E7E6"/>
          </a:solidFill>
          <a:ln/>
        </p:spPr>
      </p:sp>
      <p:sp>
        <p:nvSpPr>
          <p:cNvPr id="20" name="Shape 17"/>
          <p:cNvSpPr/>
          <p:nvPr/>
        </p:nvSpPr>
        <p:spPr>
          <a:xfrm>
            <a:off x="3063240" y="3855053"/>
            <a:ext cx="173736" cy="153105"/>
          </a:xfrm>
          <a:prstGeom prst="rect">
            <a:avLst/>
          </a:prstGeom>
          <a:solidFill>
            <a:srgbClr val="D9E7E6"/>
          </a:solidFill>
          <a:ln/>
        </p:spPr>
      </p:sp>
      <p:sp>
        <p:nvSpPr>
          <p:cNvPr id="21" name="Shape 18"/>
          <p:cNvSpPr/>
          <p:nvPr/>
        </p:nvSpPr>
        <p:spPr>
          <a:xfrm>
            <a:off x="1051560" y="4016216"/>
            <a:ext cx="173736" cy="153105"/>
          </a:xfrm>
          <a:prstGeom prst="rect">
            <a:avLst/>
          </a:prstGeom>
          <a:solidFill>
            <a:srgbClr val="D9E7E6"/>
          </a:solidFill>
          <a:ln/>
        </p:spPr>
      </p:sp>
      <p:sp>
        <p:nvSpPr>
          <p:cNvPr id="22" name="Shape 19"/>
          <p:cNvSpPr/>
          <p:nvPr/>
        </p:nvSpPr>
        <p:spPr>
          <a:xfrm>
            <a:off x="1234440" y="4016216"/>
            <a:ext cx="173736" cy="153105"/>
          </a:xfrm>
          <a:prstGeom prst="rect">
            <a:avLst/>
          </a:prstGeom>
          <a:solidFill>
            <a:srgbClr val="D9E7E6"/>
          </a:solidFill>
          <a:ln/>
        </p:spPr>
      </p:sp>
      <p:sp>
        <p:nvSpPr>
          <p:cNvPr id="23" name="Shape 20"/>
          <p:cNvSpPr/>
          <p:nvPr/>
        </p:nvSpPr>
        <p:spPr>
          <a:xfrm>
            <a:off x="1417320" y="4016216"/>
            <a:ext cx="173736" cy="153105"/>
          </a:xfrm>
          <a:prstGeom prst="rect">
            <a:avLst/>
          </a:prstGeom>
          <a:solidFill>
            <a:srgbClr val="36C4CC"/>
          </a:solidFill>
          <a:ln/>
        </p:spPr>
      </p:sp>
      <p:sp>
        <p:nvSpPr>
          <p:cNvPr id="24" name="Shape 21"/>
          <p:cNvSpPr/>
          <p:nvPr/>
        </p:nvSpPr>
        <p:spPr>
          <a:xfrm>
            <a:off x="1600200" y="4016216"/>
            <a:ext cx="173736" cy="153105"/>
          </a:xfrm>
          <a:prstGeom prst="rect">
            <a:avLst/>
          </a:prstGeom>
          <a:solidFill>
            <a:srgbClr val="D9E7E6"/>
          </a:solidFill>
          <a:ln/>
        </p:spPr>
      </p:sp>
      <p:sp>
        <p:nvSpPr>
          <p:cNvPr id="25" name="Shape 22"/>
          <p:cNvSpPr/>
          <p:nvPr/>
        </p:nvSpPr>
        <p:spPr>
          <a:xfrm>
            <a:off x="1783080" y="4016216"/>
            <a:ext cx="173736" cy="153105"/>
          </a:xfrm>
          <a:prstGeom prst="rect">
            <a:avLst/>
          </a:prstGeom>
          <a:solidFill>
            <a:srgbClr val="D9E7E6"/>
          </a:solidFill>
          <a:ln/>
        </p:spPr>
      </p:sp>
      <p:sp>
        <p:nvSpPr>
          <p:cNvPr id="26" name="Shape 23"/>
          <p:cNvSpPr/>
          <p:nvPr/>
        </p:nvSpPr>
        <p:spPr>
          <a:xfrm>
            <a:off x="1965960" y="4016216"/>
            <a:ext cx="173736" cy="153105"/>
          </a:xfrm>
          <a:prstGeom prst="rect">
            <a:avLst/>
          </a:prstGeom>
          <a:solidFill>
            <a:srgbClr val="36C4CC"/>
          </a:solidFill>
          <a:ln/>
        </p:spPr>
      </p:sp>
      <p:sp>
        <p:nvSpPr>
          <p:cNvPr id="27" name="Shape 24"/>
          <p:cNvSpPr/>
          <p:nvPr/>
        </p:nvSpPr>
        <p:spPr>
          <a:xfrm>
            <a:off x="2148840" y="4016216"/>
            <a:ext cx="173736" cy="153105"/>
          </a:xfrm>
          <a:prstGeom prst="rect">
            <a:avLst/>
          </a:prstGeom>
          <a:solidFill>
            <a:srgbClr val="D9E7E6"/>
          </a:solidFill>
          <a:ln/>
        </p:spPr>
      </p:sp>
      <p:sp>
        <p:nvSpPr>
          <p:cNvPr id="28" name="Shape 25"/>
          <p:cNvSpPr/>
          <p:nvPr/>
        </p:nvSpPr>
        <p:spPr>
          <a:xfrm>
            <a:off x="2331720" y="4016216"/>
            <a:ext cx="173736" cy="153105"/>
          </a:xfrm>
          <a:prstGeom prst="rect">
            <a:avLst/>
          </a:prstGeom>
          <a:solidFill>
            <a:srgbClr val="D9E7E6"/>
          </a:solidFill>
          <a:ln/>
        </p:spPr>
      </p:sp>
      <p:sp>
        <p:nvSpPr>
          <p:cNvPr id="29" name="Shape 26"/>
          <p:cNvSpPr/>
          <p:nvPr/>
        </p:nvSpPr>
        <p:spPr>
          <a:xfrm>
            <a:off x="2514600" y="4016216"/>
            <a:ext cx="173736" cy="153105"/>
          </a:xfrm>
          <a:prstGeom prst="rect">
            <a:avLst/>
          </a:prstGeom>
          <a:solidFill>
            <a:srgbClr val="36C4CC"/>
          </a:solidFill>
          <a:ln/>
        </p:spPr>
      </p:sp>
      <p:sp>
        <p:nvSpPr>
          <p:cNvPr id="30" name="Shape 27"/>
          <p:cNvSpPr/>
          <p:nvPr/>
        </p:nvSpPr>
        <p:spPr>
          <a:xfrm>
            <a:off x="2697480" y="4016216"/>
            <a:ext cx="173736" cy="153105"/>
          </a:xfrm>
          <a:prstGeom prst="rect">
            <a:avLst/>
          </a:prstGeom>
          <a:solidFill>
            <a:srgbClr val="D9E7E6"/>
          </a:solidFill>
          <a:ln/>
        </p:spPr>
      </p:sp>
      <p:sp>
        <p:nvSpPr>
          <p:cNvPr id="31" name="Shape 28"/>
          <p:cNvSpPr/>
          <p:nvPr/>
        </p:nvSpPr>
        <p:spPr>
          <a:xfrm>
            <a:off x="2880360" y="4016216"/>
            <a:ext cx="173736" cy="153105"/>
          </a:xfrm>
          <a:prstGeom prst="rect">
            <a:avLst/>
          </a:prstGeom>
          <a:solidFill>
            <a:srgbClr val="D9E7E6"/>
          </a:solidFill>
          <a:ln/>
        </p:spPr>
      </p:sp>
      <p:sp>
        <p:nvSpPr>
          <p:cNvPr id="32" name="Shape 29"/>
          <p:cNvSpPr/>
          <p:nvPr/>
        </p:nvSpPr>
        <p:spPr>
          <a:xfrm>
            <a:off x="3063240" y="4016216"/>
            <a:ext cx="173736" cy="153105"/>
          </a:xfrm>
          <a:prstGeom prst="rect">
            <a:avLst/>
          </a:prstGeom>
          <a:solidFill>
            <a:srgbClr val="36C4CC"/>
          </a:solidFill>
          <a:ln/>
        </p:spPr>
      </p:sp>
      <p:sp>
        <p:nvSpPr>
          <p:cNvPr id="33" name="Shape 30"/>
          <p:cNvSpPr/>
          <p:nvPr/>
        </p:nvSpPr>
        <p:spPr>
          <a:xfrm>
            <a:off x="1051560" y="4177379"/>
            <a:ext cx="173736" cy="153105"/>
          </a:xfrm>
          <a:prstGeom prst="rect">
            <a:avLst/>
          </a:prstGeom>
          <a:solidFill>
            <a:srgbClr val="D9E7E6"/>
          </a:solidFill>
          <a:ln/>
        </p:spPr>
      </p:sp>
      <p:sp>
        <p:nvSpPr>
          <p:cNvPr id="34" name="Shape 31"/>
          <p:cNvSpPr/>
          <p:nvPr/>
        </p:nvSpPr>
        <p:spPr>
          <a:xfrm>
            <a:off x="1234440" y="4177379"/>
            <a:ext cx="173736" cy="153105"/>
          </a:xfrm>
          <a:prstGeom prst="rect">
            <a:avLst/>
          </a:prstGeom>
          <a:solidFill>
            <a:srgbClr val="36C4CC"/>
          </a:solidFill>
          <a:ln/>
        </p:spPr>
      </p:sp>
      <p:sp>
        <p:nvSpPr>
          <p:cNvPr id="35" name="Shape 32"/>
          <p:cNvSpPr/>
          <p:nvPr/>
        </p:nvSpPr>
        <p:spPr>
          <a:xfrm>
            <a:off x="1417320" y="4177379"/>
            <a:ext cx="173736" cy="153105"/>
          </a:xfrm>
          <a:prstGeom prst="rect">
            <a:avLst/>
          </a:prstGeom>
          <a:solidFill>
            <a:srgbClr val="D9E7E6"/>
          </a:solidFill>
          <a:ln/>
        </p:spPr>
      </p:sp>
      <p:sp>
        <p:nvSpPr>
          <p:cNvPr id="36" name="Shape 33"/>
          <p:cNvSpPr/>
          <p:nvPr/>
        </p:nvSpPr>
        <p:spPr>
          <a:xfrm>
            <a:off x="1600200" y="4177379"/>
            <a:ext cx="173736" cy="153105"/>
          </a:xfrm>
          <a:prstGeom prst="rect">
            <a:avLst/>
          </a:prstGeom>
          <a:solidFill>
            <a:srgbClr val="D9E7E6"/>
          </a:solidFill>
          <a:ln/>
        </p:spPr>
      </p:sp>
      <p:sp>
        <p:nvSpPr>
          <p:cNvPr id="37" name="Shape 34"/>
          <p:cNvSpPr/>
          <p:nvPr/>
        </p:nvSpPr>
        <p:spPr>
          <a:xfrm>
            <a:off x="1783080" y="4177379"/>
            <a:ext cx="173736" cy="153105"/>
          </a:xfrm>
          <a:prstGeom prst="rect">
            <a:avLst/>
          </a:prstGeom>
          <a:solidFill>
            <a:srgbClr val="36C4CC"/>
          </a:solidFill>
          <a:ln/>
        </p:spPr>
      </p:sp>
      <p:sp>
        <p:nvSpPr>
          <p:cNvPr id="38" name="Shape 35"/>
          <p:cNvSpPr/>
          <p:nvPr/>
        </p:nvSpPr>
        <p:spPr>
          <a:xfrm>
            <a:off x="1965960" y="4177379"/>
            <a:ext cx="173736" cy="153105"/>
          </a:xfrm>
          <a:prstGeom prst="rect">
            <a:avLst/>
          </a:prstGeom>
          <a:solidFill>
            <a:srgbClr val="D9E7E6"/>
          </a:solidFill>
          <a:ln/>
        </p:spPr>
      </p:sp>
      <p:sp>
        <p:nvSpPr>
          <p:cNvPr id="39" name="Shape 36"/>
          <p:cNvSpPr/>
          <p:nvPr/>
        </p:nvSpPr>
        <p:spPr>
          <a:xfrm>
            <a:off x="2148840" y="4177379"/>
            <a:ext cx="173736" cy="153105"/>
          </a:xfrm>
          <a:prstGeom prst="rect">
            <a:avLst/>
          </a:prstGeom>
          <a:solidFill>
            <a:srgbClr val="D9E7E6"/>
          </a:solidFill>
          <a:ln/>
        </p:spPr>
      </p:sp>
      <p:sp>
        <p:nvSpPr>
          <p:cNvPr id="40" name="Shape 37"/>
          <p:cNvSpPr/>
          <p:nvPr/>
        </p:nvSpPr>
        <p:spPr>
          <a:xfrm>
            <a:off x="2331720" y="4177379"/>
            <a:ext cx="173736" cy="153105"/>
          </a:xfrm>
          <a:prstGeom prst="rect">
            <a:avLst/>
          </a:prstGeom>
          <a:solidFill>
            <a:srgbClr val="36C4CC"/>
          </a:solidFill>
          <a:ln/>
        </p:spPr>
      </p:sp>
      <p:sp>
        <p:nvSpPr>
          <p:cNvPr id="41" name="Shape 38"/>
          <p:cNvSpPr/>
          <p:nvPr/>
        </p:nvSpPr>
        <p:spPr>
          <a:xfrm>
            <a:off x="2514600" y="4177379"/>
            <a:ext cx="173736" cy="153105"/>
          </a:xfrm>
          <a:prstGeom prst="rect">
            <a:avLst/>
          </a:prstGeom>
          <a:solidFill>
            <a:srgbClr val="D9E7E6"/>
          </a:solidFill>
          <a:ln/>
        </p:spPr>
      </p:sp>
      <p:sp>
        <p:nvSpPr>
          <p:cNvPr id="42" name="Shape 39"/>
          <p:cNvSpPr/>
          <p:nvPr/>
        </p:nvSpPr>
        <p:spPr>
          <a:xfrm>
            <a:off x="2697480" y="4177379"/>
            <a:ext cx="173736" cy="153105"/>
          </a:xfrm>
          <a:prstGeom prst="rect">
            <a:avLst/>
          </a:prstGeom>
          <a:solidFill>
            <a:srgbClr val="D9E7E6"/>
          </a:solidFill>
          <a:ln/>
        </p:spPr>
      </p:sp>
      <p:sp>
        <p:nvSpPr>
          <p:cNvPr id="43" name="Shape 40"/>
          <p:cNvSpPr/>
          <p:nvPr/>
        </p:nvSpPr>
        <p:spPr>
          <a:xfrm>
            <a:off x="2880360" y="4177379"/>
            <a:ext cx="173736" cy="153105"/>
          </a:xfrm>
          <a:prstGeom prst="rect">
            <a:avLst/>
          </a:prstGeom>
          <a:solidFill>
            <a:srgbClr val="36C4CC"/>
          </a:solidFill>
          <a:ln/>
        </p:spPr>
      </p:sp>
      <p:sp>
        <p:nvSpPr>
          <p:cNvPr id="44" name="Shape 41"/>
          <p:cNvSpPr/>
          <p:nvPr/>
        </p:nvSpPr>
        <p:spPr>
          <a:xfrm>
            <a:off x="3063240" y="4177379"/>
            <a:ext cx="173736" cy="153105"/>
          </a:xfrm>
          <a:prstGeom prst="rect">
            <a:avLst/>
          </a:prstGeom>
          <a:solidFill>
            <a:srgbClr val="D9E7E6"/>
          </a:solidFill>
          <a:ln/>
        </p:spPr>
      </p:sp>
      <p:sp>
        <p:nvSpPr>
          <p:cNvPr id="45" name="Shape 42"/>
          <p:cNvSpPr/>
          <p:nvPr/>
        </p:nvSpPr>
        <p:spPr>
          <a:xfrm>
            <a:off x="1051560" y="4338542"/>
            <a:ext cx="173736" cy="153105"/>
          </a:xfrm>
          <a:prstGeom prst="rect">
            <a:avLst/>
          </a:prstGeom>
          <a:solidFill>
            <a:srgbClr val="36C4CC"/>
          </a:solidFill>
          <a:ln/>
        </p:spPr>
      </p:sp>
      <p:sp>
        <p:nvSpPr>
          <p:cNvPr id="46" name="Shape 43"/>
          <p:cNvSpPr/>
          <p:nvPr/>
        </p:nvSpPr>
        <p:spPr>
          <a:xfrm>
            <a:off x="1234440" y="4338542"/>
            <a:ext cx="173736" cy="153105"/>
          </a:xfrm>
          <a:prstGeom prst="rect">
            <a:avLst/>
          </a:prstGeom>
          <a:solidFill>
            <a:srgbClr val="D9E7E6"/>
          </a:solidFill>
          <a:ln/>
        </p:spPr>
      </p:sp>
      <p:sp>
        <p:nvSpPr>
          <p:cNvPr id="47" name="Shape 44"/>
          <p:cNvSpPr/>
          <p:nvPr/>
        </p:nvSpPr>
        <p:spPr>
          <a:xfrm>
            <a:off x="1417320" y="4338542"/>
            <a:ext cx="173736" cy="153105"/>
          </a:xfrm>
          <a:prstGeom prst="rect">
            <a:avLst/>
          </a:prstGeom>
          <a:solidFill>
            <a:srgbClr val="D9E7E6"/>
          </a:solidFill>
          <a:ln/>
        </p:spPr>
      </p:sp>
      <p:sp>
        <p:nvSpPr>
          <p:cNvPr id="48" name="Shape 45"/>
          <p:cNvSpPr/>
          <p:nvPr/>
        </p:nvSpPr>
        <p:spPr>
          <a:xfrm>
            <a:off x="1600200" y="4338542"/>
            <a:ext cx="173736" cy="153105"/>
          </a:xfrm>
          <a:prstGeom prst="rect">
            <a:avLst/>
          </a:prstGeom>
          <a:solidFill>
            <a:srgbClr val="36C4CC"/>
          </a:solidFill>
          <a:ln/>
        </p:spPr>
      </p:sp>
      <p:sp>
        <p:nvSpPr>
          <p:cNvPr id="49" name="Shape 46"/>
          <p:cNvSpPr/>
          <p:nvPr/>
        </p:nvSpPr>
        <p:spPr>
          <a:xfrm>
            <a:off x="1783080" y="4338542"/>
            <a:ext cx="173736" cy="153105"/>
          </a:xfrm>
          <a:prstGeom prst="rect">
            <a:avLst/>
          </a:prstGeom>
          <a:solidFill>
            <a:srgbClr val="D9E7E6"/>
          </a:solidFill>
          <a:ln/>
        </p:spPr>
      </p:sp>
      <p:sp>
        <p:nvSpPr>
          <p:cNvPr id="50" name="Shape 47"/>
          <p:cNvSpPr/>
          <p:nvPr/>
        </p:nvSpPr>
        <p:spPr>
          <a:xfrm>
            <a:off x="1965960" y="4338542"/>
            <a:ext cx="173736" cy="153105"/>
          </a:xfrm>
          <a:prstGeom prst="rect">
            <a:avLst/>
          </a:prstGeom>
          <a:solidFill>
            <a:srgbClr val="D9E7E6"/>
          </a:solidFill>
          <a:ln/>
        </p:spPr>
      </p:sp>
      <p:sp>
        <p:nvSpPr>
          <p:cNvPr id="51" name="Shape 48"/>
          <p:cNvSpPr/>
          <p:nvPr/>
        </p:nvSpPr>
        <p:spPr>
          <a:xfrm>
            <a:off x="2148840" y="4338542"/>
            <a:ext cx="173736" cy="153105"/>
          </a:xfrm>
          <a:prstGeom prst="rect">
            <a:avLst/>
          </a:prstGeom>
          <a:solidFill>
            <a:srgbClr val="36C4CC"/>
          </a:solidFill>
          <a:ln/>
        </p:spPr>
      </p:sp>
      <p:sp>
        <p:nvSpPr>
          <p:cNvPr id="52" name="Shape 49"/>
          <p:cNvSpPr/>
          <p:nvPr/>
        </p:nvSpPr>
        <p:spPr>
          <a:xfrm>
            <a:off x="2331720" y="4338542"/>
            <a:ext cx="173736" cy="153105"/>
          </a:xfrm>
          <a:prstGeom prst="rect">
            <a:avLst/>
          </a:prstGeom>
          <a:solidFill>
            <a:srgbClr val="D9E7E6"/>
          </a:solidFill>
          <a:ln/>
        </p:spPr>
      </p:sp>
      <p:sp>
        <p:nvSpPr>
          <p:cNvPr id="53" name="Shape 50"/>
          <p:cNvSpPr/>
          <p:nvPr/>
        </p:nvSpPr>
        <p:spPr>
          <a:xfrm>
            <a:off x="2514600" y="4338542"/>
            <a:ext cx="173736" cy="153105"/>
          </a:xfrm>
          <a:prstGeom prst="rect">
            <a:avLst/>
          </a:prstGeom>
          <a:solidFill>
            <a:srgbClr val="D9E7E6"/>
          </a:solidFill>
          <a:ln/>
        </p:spPr>
      </p:sp>
      <p:sp>
        <p:nvSpPr>
          <p:cNvPr id="54" name="Shape 51"/>
          <p:cNvSpPr/>
          <p:nvPr/>
        </p:nvSpPr>
        <p:spPr>
          <a:xfrm>
            <a:off x="2697480" y="4338542"/>
            <a:ext cx="173736" cy="153105"/>
          </a:xfrm>
          <a:prstGeom prst="rect">
            <a:avLst/>
          </a:prstGeom>
          <a:solidFill>
            <a:srgbClr val="36C4CC"/>
          </a:solidFill>
          <a:ln/>
        </p:spPr>
      </p:sp>
      <p:sp>
        <p:nvSpPr>
          <p:cNvPr id="55" name="Shape 52"/>
          <p:cNvSpPr/>
          <p:nvPr/>
        </p:nvSpPr>
        <p:spPr>
          <a:xfrm>
            <a:off x="2880360" y="4338542"/>
            <a:ext cx="173736" cy="153105"/>
          </a:xfrm>
          <a:prstGeom prst="rect">
            <a:avLst/>
          </a:prstGeom>
          <a:solidFill>
            <a:srgbClr val="D9E7E6"/>
          </a:solidFill>
          <a:ln/>
        </p:spPr>
      </p:sp>
      <p:sp>
        <p:nvSpPr>
          <p:cNvPr id="56" name="Shape 53"/>
          <p:cNvSpPr/>
          <p:nvPr/>
        </p:nvSpPr>
        <p:spPr>
          <a:xfrm>
            <a:off x="3063240" y="4338542"/>
            <a:ext cx="173736" cy="153105"/>
          </a:xfrm>
          <a:prstGeom prst="rect">
            <a:avLst/>
          </a:prstGeom>
          <a:solidFill>
            <a:srgbClr val="D9E7E6"/>
          </a:solidFill>
          <a:ln/>
        </p:spPr>
      </p:sp>
      <p:sp>
        <p:nvSpPr>
          <p:cNvPr id="57" name="Shape 54"/>
          <p:cNvSpPr/>
          <p:nvPr/>
        </p:nvSpPr>
        <p:spPr>
          <a:xfrm>
            <a:off x="1051560" y="4499705"/>
            <a:ext cx="173736" cy="153105"/>
          </a:xfrm>
          <a:prstGeom prst="rect">
            <a:avLst/>
          </a:prstGeom>
          <a:solidFill>
            <a:srgbClr val="D9E7E6"/>
          </a:solidFill>
          <a:ln/>
        </p:spPr>
      </p:sp>
      <p:sp>
        <p:nvSpPr>
          <p:cNvPr id="58" name="Shape 55"/>
          <p:cNvSpPr/>
          <p:nvPr/>
        </p:nvSpPr>
        <p:spPr>
          <a:xfrm>
            <a:off x="1234440" y="4499705"/>
            <a:ext cx="173736" cy="153105"/>
          </a:xfrm>
          <a:prstGeom prst="rect">
            <a:avLst/>
          </a:prstGeom>
          <a:solidFill>
            <a:srgbClr val="D9E7E6"/>
          </a:solidFill>
          <a:ln/>
        </p:spPr>
      </p:sp>
      <p:sp>
        <p:nvSpPr>
          <p:cNvPr id="59" name="Shape 56"/>
          <p:cNvSpPr/>
          <p:nvPr/>
        </p:nvSpPr>
        <p:spPr>
          <a:xfrm>
            <a:off x="1417320" y="4499705"/>
            <a:ext cx="173736" cy="153105"/>
          </a:xfrm>
          <a:prstGeom prst="rect">
            <a:avLst/>
          </a:prstGeom>
          <a:solidFill>
            <a:srgbClr val="36C4CC"/>
          </a:solidFill>
          <a:ln/>
        </p:spPr>
      </p:sp>
      <p:sp>
        <p:nvSpPr>
          <p:cNvPr id="60" name="Shape 57"/>
          <p:cNvSpPr/>
          <p:nvPr/>
        </p:nvSpPr>
        <p:spPr>
          <a:xfrm>
            <a:off x="1600200" y="4499705"/>
            <a:ext cx="173736" cy="153105"/>
          </a:xfrm>
          <a:prstGeom prst="rect">
            <a:avLst/>
          </a:prstGeom>
          <a:solidFill>
            <a:srgbClr val="D9E7E6"/>
          </a:solidFill>
          <a:ln/>
        </p:spPr>
      </p:sp>
      <p:sp>
        <p:nvSpPr>
          <p:cNvPr id="61" name="Shape 58"/>
          <p:cNvSpPr/>
          <p:nvPr/>
        </p:nvSpPr>
        <p:spPr>
          <a:xfrm>
            <a:off x="1783080" y="4499705"/>
            <a:ext cx="173736" cy="153105"/>
          </a:xfrm>
          <a:prstGeom prst="rect">
            <a:avLst/>
          </a:prstGeom>
          <a:solidFill>
            <a:srgbClr val="D9E7E6"/>
          </a:solidFill>
          <a:ln/>
        </p:spPr>
      </p:sp>
      <p:sp>
        <p:nvSpPr>
          <p:cNvPr id="62" name="Shape 59"/>
          <p:cNvSpPr/>
          <p:nvPr/>
        </p:nvSpPr>
        <p:spPr>
          <a:xfrm>
            <a:off x="1965960" y="4499705"/>
            <a:ext cx="173736" cy="153105"/>
          </a:xfrm>
          <a:prstGeom prst="rect">
            <a:avLst/>
          </a:prstGeom>
          <a:solidFill>
            <a:srgbClr val="36C4CC"/>
          </a:solidFill>
          <a:ln/>
        </p:spPr>
      </p:sp>
      <p:sp>
        <p:nvSpPr>
          <p:cNvPr id="63" name="Shape 60"/>
          <p:cNvSpPr/>
          <p:nvPr/>
        </p:nvSpPr>
        <p:spPr>
          <a:xfrm>
            <a:off x="2148840" y="4499705"/>
            <a:ext cx="173736" cy="153105"/>
          </a:xfrm>
          <a:prstGeom prst="rect">
            <a:avLst/>
          </a:prstGeom>
          <a:solidFill>
            <a:srgbClr val="D9E7E6"/>
          </a:solidFill>
          <a:ln/>
        </p:spPr>
      </p:sp>
      <p:sp>
        <p:nvSpPr>
          <p:cNvPr id="64" name="Shape 61"/>
          <p:cNvSpPr/>
          <p:nvPr/>
        </p:nvSpPr>
        <p:spPr>
          <a:xfrm>
            <a:off x="2331720" y="4499705"/>
            <a:ext cx="173736" cy="153105"/>
          </a:xfrm>
          <a:prstGeom prst="rect">
            <a:avLst/>
          </a:prstGeom>
          <a:solidFill>
            <a:srgbClr val="D9E7E6"/>
          </a:solidFill>
          <a:ln/>
        </p:spPr>
      </p:sp>
      <p:sp>
        <p:nvSpPr>
          <p:cNvPr id="65" name="Shape 62"/>
          <p:cNvSpPr/>
          <p:nvPr/>
        </p:nvSpPr>
        <p:spPr>
          <a:xfrm>
            <a:off x="2514600" y="4499705"/>
            <a:ext cx="173736" cy="153105"/>
          </a:xfrm>
          <a:prstGeom prst="rect">
            <a:avLst/>
          </a:prstGeom>
          <a:solidFill>
            <a:srgbClr val="36C4CC"/>
          </a:solidFill>
          <a:ln/>
        </p:spPr>
      </p:sp>
      <p:sp>
        <p:nvSpPr>
          <p:cNvPr id="66" name="Shape 63"/>
          <p:cNvSpPr/>
          <p:nvPr/>
        </p:nvSpPr>
        <p:spPr>
          <a:xfrm>
            <a:off x="2697480" y="4499705"/>
            <a:ext cx="173736" cy="153105"/>
          </a:xfrm>
          <a:prstGeom prst="rect">
            <a:avLst/>
          </a:prstGeom>
          <a:solidFill>
            <a:srgbClr val="D9E7E6"/>
          </a:solidFill>
          <a:ln/>
        </p:spPr>
      </p:sp>
      <p:sp>
        <p:nvSpPr>
          <p:cNvPr id="67" name="Shape 64"/>
          <p:cNvSpPr/>
          <p:nvPr/>
        </p:nvSpPr>
        <p:spPr>
          <a:xfrm>
            <a:off x="2880360" y="4499705"/>
            <a:ext cx="173736" cy="153105"/>
          </a:xfrm>
          <a:prstGeom prst="rect">
            <a:avLst/>
          </a:prstGeom>
          <a:solidFill>
            <a:srgbClr val="D9E7E6"/>
          </a:solidFill>
          <a:ln/>
        </p:spPr>
      </p:sp>
      <p:sp>
        <p:nvSpPr>
          <p:cNvPr id="68" name="Shape 65"/>
          <p:cNvSpPr/>
          <p:nvPr/>
        </p:nvSpPr>
        <p:spPr>
          <a:xfrm>
            <a:off x="3063240" y="4499705"/>
            <a:ext cx="173736" cy="153105"/>
          </a:xfrm>
          <a:prstGeom prst="rect">
            <a:avLst/>
          </a:prstGeom>
          <a:solidFill>
            <a:srgbClr val="36C4CC"/>
          </a:solidFill>
          <a:ln/>
        </p:spPr>
      </p:sp>
      <p:sp>
        <p:nvSpPr>
          <p:cNvPr id="69" name="Text 66"/>
          <p:cNvSpPr txBox="1"/>
          <p:nvPr/>
        </p:nvSpPr>
        <p:spPr>
          <a:xfrm>
            <a:off x="960120" y="4741450"/>
            <a:ext cx="4754880" cy="241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9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JPG · PNG · GIF · WebP · AVIF</a:t>
            </a:r>
            <a:endParaRPr lang="en-US" sz="1100" dirty="0"/>
          </a:p>
        </p:txBody>
      </p:sp>
      <p:sp>
        <p:nvSpPr>
          <p:cNvPr id="70" name="Shape 67"/>
          <p:cNvSpPr/>
          <p:nvPr/>
        </p:nvSpPr>
        <p:spPr>
          <a:xfrm>
            <a:off x="6217920" y="2606040"/>
            <a:ext cx="5349240" cy="2457736"/>
          </a:xfrm>
          <a:prstGeom prst="roundRect">
            <a:avLst>
              <a:gd name="adj" fmla="val 3720"/>
            </a:avLst>
          </a:prstGeom>
          <a:solidFill>
            <a:srgbClr val="F0FCE8"/>
          </a:solidFill>
          <a:ln w="12700">
            <a:solidFill>
              <a:srgbClr val="CFF2B8"/>
            </a:solidFill>
            <a:prstDash val="solid"/>
          </a:ln>
        </p:spPr>
      </p:sp>
      <p:sp>
        <p:nvSpPr>
          <p:cNvPr id="71" name="Text 68"/>
          <p:cNvSpPr txBox="1"/>
          <p:nvPr/>
        </p:nvSpPr>
        <p:spPr>
          <a:xfrm>
            <a:off x="6537960" y="2767203"/>
            <a:ext cx="4754880" cy="3384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FB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Vectorial</a:t>
            </a:r>
            <a:endParaRPr lang="en-US" sz="1700" dirty="0"/>
          </a:p>
        </p:txBody>
      </p:sp>
      <p:sp>
        <p:nvSpPr>
          <p:cNvPr id="72" name="Text 69"/>
          <p:cNvSpPr txBox="1"/>
          <p:nvPr/>
        </p:nvSpPr>
        <p:spPr>
          <a:xfrm>
            <a:off x="6537960" y="3153994"/>
            <a:ext cx="4754880" cy="604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imagen se describe con fórmulas matemáticas. Se puede ampliar infinitamente sin perder nitidez.</a:t>
            </a:r>
            <a:endParaRPr lang="en-US" sz="1200" dirty="0"/>
          </a:p>
        </p:txBody>
      </p:sp>
      <p:sp>
        <p:nvSpPr>
          <p:cNvPr id="73" name="Shape 70"/>
          <p:cNvSpPr/>
          <p:nvPr/>
        </p:nvSpPr>
        <p:spPr>
          <a:xfrm>
            <a:off x="6720840" y="3855053"/>
            <a:ext cx="777240" cy="684943"/>
          </a:xfrm>
          <a:prstGeom prst="ellipse">
            <a:avLst/>
          </a:prstGeom>
          <a:solidFill>
            <a:srgbClr val="72EF29"/>
          </a:solidFill>
          <a:ln/>
        </p:spPr>
      </p:sp>
      <p:sp>
        <p:nvSpPr>
          <p:cNvPr id="74" name="Shape 71"/>
          <p:cNvSpPr/>
          <p:nvPr/>
        </p:nvSpPr>
        <p:spPr>
          <a:xfrm>
            <a:off x="7726680" y="3855053"/>
            <a:ext cx="777240" cy="684943"/>
          </a:xfrm>
          <a:prstGeom prst="ellipse">
            <a:avLst/>
          </a:prstGeom>
          <a:solidFill>
            <a:srgbClr val="72EF29"/>
          </a:solidFill>
          <a:ln/>
        </p:spPr>
      </p:sp>
      <p:sp>
        <p:nvSpPr>
          <p:cNvPr id="75" name="Shape 72"/>
          <p:cNvSpPr/>
          <p:nvPr/>
        </p:nvSpPr>
        <p:spPr>
          <a:xfrm>
            <a:off x="8732520" y="3855053"/>
            <a:ext cx="777240" cy="684943"/>
          </a:xfrm>
          <a:prstGeom prst="ellipse">
            <a:avLst/>
          </a:prstGeom>
          <a:solidFill>
            <a:srgbClr val="72EF29"/>
          </a:solidFill>
          <a:ln/>
        </p:spPr>
      </p:sp>
      <p:sp>
        <p:nvSpPr>
          <p:cNvPr id="76" name="Text 73"/>
          <p:cNvSpPr txBox="1"/>
          <p:nvPr/>
        </p:nvSpPr>
        <p:spPr>
          <a:xfrm>
            <a:off x="9692640" y="3935635"/>
            <a:ext cx="1600200" cy="523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4FB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nitidez a cualquier tamaño</a:t>
            </a:r>
            <a:endParaRPr lang="en-US" sz="950" dirty="0"/>
          </a:p>
        </p:txBody>
      </p:sp>
      <p:sp>
        <p:nvSpPr>
          <p:cNvPr id="77" name="Text 74"/>
          <p:cNvSpPr txBox="1"/>
          <p:nvPr/>
        </p:nvSpPr>
        <p:spPr>
          <a:xfrm>
            <a:off x="6537960" y="4741450"/>
            <a:ext cx="4754880" cy="241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B8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SVG</a:t>
            </a:r>
            <a:endParaRPr lang="en-US" sz="1100" dirty="0"/>
          </a:p>
        </p:txBody>
      </p:sp>
      <p:sp>
        <p:nvSpPr>
          <p:cNvPr id="78" name="Shape 75"/>
          <p:cNvSpPr/>
          <p:nvPr/>
        </p:nvSpPr>
        <p:spPr>
          <a:xfrm>
            <a:off x="640080" y="5265230"/>
            <a:ext cx="10927080" cy="765524"/>
          </a:xfrm>
          <a:prstGeom prst="roundRect">
            <a:avLst>
              <a:gd name="adj" fmla="val 11945"/>
            </a:avLst>
          </a:prstGeom>
          <a:solidFill>
            <a:srgbClr val="F7FDF4"/>
          </a:solidFill>
          <a:ln w="12700">
            <a:solidFill>
              <a:srgbClr val="DCEFD3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960120" y="5265230"/>
            <a:ext cx="10287000" cy="765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práctica: fotografías siempre en mapa de bits; logotipos, iconos e ilustraciones planas siempre en SVG.</a:t>
            </a:r>
            <a:endParaRPr lang="en-US" sz="1250" dirty="0"/>
          </a:p>
        </p:txBody>
      </p:sp>
      <p:sp>
        <p:nvSpPr>
          <p:cNvPr id="81" name="Text 77"/>
          <p:cNvSpPr txBox="1"/>
          <p:nvPr/>
        </p:nvSpPr>
        <p:spPr>
          <a:xfrm>
            <a:off x="11002975" y="6441719"/>
            <a:ext cx="914400" cy="225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37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bands/band_C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1542364"/>
            <a:ext cx="7772400" cy="241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E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FORMATOS</a:t>
            </a:r>
            <a:endParaRPr lang="en-US" sz="115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784109"/>
            <a:ext cx="10424160" cy="580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cinco formatos que vas a usar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640080" y="2646331"/>
            <a:ext cx="2075688" cy="2498027"/>
          </a:xfrm>
          <a:prstGeom prst="roundRect">
            <a:avLst>
              <a:gd name="adj" fmla="val 4405"/>
            </a:avLst>
          </a:prstGeom>
          <a:solidFill>
            <a:srgbClr val="F7FDF4"/>
          </a:solidFill>
          <a:ln w="12700">
            <a:solidFill>
              <a:srgbClr val="DCEFD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41248" y="2791377"/>
            <a:ext cx="1673352" cy="3384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6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JPG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841248" y="3162052"/>
            <a:ext cx="1673352" cy="241745"/>
          </a:xfrm>
          <a:prstGeom prst="roundRect">
            <a:avLst>
              <a:gd name="adj" fmla="val 56737"/>
            </a:avLst>
          </a:prstGeom>
          <a:solidFill>
            <a:srgbClr val="36C4CC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41248" y="3162052"/>
            <a:ext cx="1673352" cy="241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Fotografías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3500495"/>
            <a:ext cx="1673352" cy="1490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Comprime muy bien las fotos, pero pierde calidad en cada guardado. No admite fondo transparente.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825496" y="2646331"/>
            <a:ext cx="2075688" cy="2498027"/>
          </a:xfrm>
          <a:prstGeom prst="roundRect">
            <a:avLst>
              <a:gd name="adj" fmla="val 4405"/>
            </a:avLst>
          </a:prstGeom>
          <a:solidFill>
            <a:srgbClr val="F7FDF4"/>
          </a:solidFill>
          <a:ln w="12700">
            <a:solidFill>
              <a:srgbClr val="DCEFD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026664" y="2791377"/>
            <a:ext cx="1673352" cy="3384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2E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PNG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3026664" y="3162052"/>
            <a:ext cx="1673352" cy="241745"/>
          </a:xfrm>
          <a:prstGeom prst="roundRect">
            <a:avLst>
              <a:gd name="adj" fmla="val 56737"/>
            </a:avLst>
          </a:prstGeom>
          <a:solidFill>
            <a:srgbClr val="72EF29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026664" y="3162052"/>
            <a:ext cx="1673352" cy="241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Transparencia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3026664" y="3500495"/>
            <a:ext cx="1673352" cy="1490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 la calidad y admite fondo transparente. Pesa más que el JPG en fotografías.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010912" y="2646331"/>
            <a:ext cx="2075688" cy="2498027"/>
          </a:xfrm>
          <a:prstGeom prst="roundRect">
            <a:avLst>
              <a:gd name="adj" fmla="val 4405"/>
            </a:avLst>
          </a:prstGeom>
          <a:solidFill>
            <a:srgbClr val="F7FDF4"/>
          </a:solidFill>
          <a:ln w="12700">
            <a:solidFill>
              <a:srgbClr val="DCEFD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212080" y="2791377"/>
            <a:ext cx="1673352" cy="3384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FB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SVG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5212080" y="3162052"/>
            <a:ext cx="1673352" cy="241745"/>
          </a:xfrm>
          <a:prstGeom prst="roundRect">
            <a:avLst>
              <a:gd name="adj" fmla="val 56737"/>
            </a:avLst>
          </a:prstGeom>
          <a:solidFill>
            <a:srgbClr val="4FB817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5212080" y="3162052"/>
            <a:ext cx="1673352" cy="241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Logos e iconos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5212080" y="3500495"/>
            <a:ext cx="1673352" cy="1490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Vectorial: escala sin perder nitidez y pesa muy poco. Se puede colorear con CSS.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7196328" y="2646331"/>
            <a:ext cx="2075688" cy="2498027"/>
          </a:xfrm>
          <a:prstGeom prst="roundRect">
            <a:avLst>
              <a:gd name="adj" fmla="val 4405"/>
            </a:avLst>
          </a:prstGeom>
          <a:solidFill>
            <a:srgbClr val="F7FDF4"/>
          </a:solidFill>
          <a:ln w="12700">
            <a:solidFill>
              <a:srgbClr val="DCEFD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397496" y="2791377"/>
            <a:ext cx="1673352" cy="3384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AD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WebP</a:t>
            </a:r>
            <a:endParaRPr lang="en-US" sz="1700" dirty="0"/>
          </a:p>
        </p:txBody>
      </p:sp>
      <p:sp>
        <p:nvSpPr>
          <p:cNvPr id="22" name="Shape 19"/>
          <p:cNvSpPr/>
          <p:nvPr/>
        </p:nvSpPr>
        <p:spPr>
          <a:xfrm>
            <a:off x="7397496" y="3162052"/>
            <a:ext cx="1673352" cy="241745"/>
          </a:xfrm>
          <a:prstGeom prst="roundRect">
            <a:avLst>
              <a:gd name="adj" fmla="val 56737"/>
            </a:avLst>
          </a:prstGeom>
          <a:solidFill>
            <a:srgbClr val="5AD3DA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7397496" y="3162052"/>
            <a:ext cx="1673352" cy="241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general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7397496" y="3500495"/>
            <a:ext cx="1673352" cy="1490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moderno: pesa entre 25 % y 35 % menos que JPG con la misma calidad. Admite transparencia.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9381744" y="2646331"/>
            <a:ext cx="2075688" cy="2498027"/>
          </a:xfrm>
          <a:prstGeom prst="roundRect">
            <a:avLst>
              <a:gd name="adj" fmla="val 4405"/>
            </a:avLst>
          </a:prstGeom>
          <a:solidFill>
            <a:srgbClr val="F7FDF4"/>
          </a:solidFill>
          <a:ln w="12700">
            <a:solidFill>
              <a:srgbClr val="DCEFD3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582912" y="2791377"/>
            <a:ext cx="1673352" cy="3384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E7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GIF</a:t>
            </a:r>
            <a:endParaRPr lang="en-US" sz="1700" dirty="0"/>
          </a:p>
        </p:txBody>
      </p:sp>
      <p:sp>
        <p:nvSpPr>
          <p:cNvPr id="27" name="Shape 24"/>
          <p:cNvSpPr/>
          <p:nvPr/>
        </p:nvSpPr>
        <p:spPr>
          <a:xfrm>
            <a:off x="9582912" y="3162052"/>
            <a:ext cx="1673352" cy="241745"/>
          </a:xfrm>
          <a:prstGeom prst="roundRect">
            <a:avLst>
              <a:gd name="adj" fmla="val 56737"/>
            </a:avLst>
          </a:prstGeom>
          <a:solidFill>
            <a:srgbClr val="6E7673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9582912" y="3162052"/>
            <a:ext cx="1673352" cy="241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Animación simple</a:t>
            </a:r>
            <a:endParaRPr lang="en-US" sz="900" dirty="0"/>
          </a:p>
        </p:txBody>
      </p:sp>
      <p:sp>
        <p:nvSpPr>
          <p:cNvPr id="29" name="Text 26"/>
          <p:cNvSpPr txBox="1"/>
          <p:nvPr/>
        </p:nvSpPr>
        <p:spPr>
          <a:xfrm>
            <a:off x="9582912" y="3500495"/>
            <a:ext cx="1673352" cy="1490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256 colores. Hoy se usa poco: para animar conviene video o SVG.</a:t>
            </a:r>
            <a:endParaRPr lang="en-US" sz="1050" dirty="0"/>
          </a:p>
        </p:txBody>
      </p:sp>
      <p:sp>
        <p:nvSpPr>
          <p:cNvPr id="30" name="Text 27"/>
          <p:cNvSpPr txBox="1"/>
          <p:nvPr/>
        </p:nvSpPr>
        <p:spPr>
          <a:xfrm>
            <a:off x="640080" y="5305520"/>
            <a:ext cx="6400800" cy="241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FB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 DE PESO · misma fotografía de 1600 px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40080" y="5603672"/>
            <a:ext cx="3840480" cy="273977"/>
          </a:xfrm>
          <a:prstGeom prst="roundRect">
            <a:avLst>
              <a:gd name="adj" fmla="val 20025"/>
            </a:avLst>
          </a:prstGeom>
          <a:solidFill>
            <a:srgbClr val="EDF1EF"/>
          </a:solidFill>
          <a:ln/>
        </p:spPr>
      </p:sp>
      <p:sp>
        <p:nvSpPr>
          <p:cNvPr id="32" name="Shape 29"/>
          <p:cNvSpPr/>
          <p:nvPr/>
        </p:nvSpPr>
        <p:spPr>
          <a:xfrm>
            <a:off x="640080" y="5603672"/>
            <a:ext cx="3840480" cy="273977"/>
          </a:xfrm>
          <a:prstGeom prst="roundRect">
            <a:avLst>
              <a:gd name="adj" fmla="val 20025"/>
            </a:avLst>
          </a:prstGeom>
          <a:solidFill>
            <a:srgbClr val="36C4CC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749808" y="5603672"/>
            <a:ext cx="3621024" cy="273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PNG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4590288" y="5603672"/>
            <a:ext cx="1097280" cy="273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6C4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 850 KB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5669280" y="5603672"/>
            <a:ext cx="3840480" cy="273977"/>
          </a:xfrm>
          <a:prstGeom prst="roundRect">
            <a:avLst>
              <a:gd name="adj" fmla="val 20025"/>
            </a:avLst>
          </a:prstGeom>
          <a:solidFill>
            <a:srgbClr val="EDF1EF"/>
          </a:solidFill>
          <a:ln/>
        </p:spPr>
      </p:sp>
      <p:sp>
        <p:nvSpPr>
          <p:cNvPr id="36" name="Shape 33"/>
          <p:cNvSpPr/>
          <p:nvPr/>
        </p:nvSpPr>
        <p:spPr>
          <a:xfrm>
            <a:off x="5669280" y="5603672"/>
            <a:ext cx="1075334" cy="273977"/>
          </a:xfrm>
          <a:prstGeom prst="roundRect">
            <a:avLst>
              <a:gd name="adj" fmla="val 20025"/>
            </a:avLst>
          </a:prstGeom>
          <a:solidFill>
            <a:srgbClr val="72EF29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5779008" y="5603672"/>
            <a:ext cx="3621024" cy="273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JPG</a:t>
            </a:r>
            <a:endParaRPr lang="en-US" sz="1000" dirty="0"/>
          </a:p>
        </p:txBody>
      </p:sp>
      <p:sp>
        <p:nvSpPr>
          <p:cNvPr id="38" name="Text 35"/>
          <p:cNvSpPr txBox="1"/>
          <p:nvPr/>
        </p:nvSpPr>
        <p:spPr>
          <a:xfrm>
            <a:off x="9619488" y="5603672"/>
            <a:ext cx="1097280" cy="273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2EF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 240 KB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640080" y="5925998"/>
            <a:ext cx="3840480" cy="273977"/>
          </a:xfrm>
          <a:prstGeom prst="roundRect">
            <a:avLst>
              <a:gd name="adj" fmla="val 20025"/>
            </a:avLst>
          </a:prstGeom>
          <a:solidFill>
            <a:srgbClr val="EDF1EF"/>
          </a:solidFill>
          <a:ln/>
        </p:spPr>
      </p:sp>
      <p:sp>
        <p:nvSpPr>
          <p:cNvPr id="40" name="Shape 37"/>
          <p:cNvSpPr/>
          <p:nvPr/>
        </p:nvSpPr>
        <p:spPr>
          <a:xfrm>
            <a:off x="640080" y="5925998"/>
            <a:ext cx="729691" cy="273977"/>
          </a:xfrm>
          <a:prstGeom prst="roundRect">
            <a:avLst>
              <a:gd name="adj" fmla="val 20025"/>
            </a:avLst>
          </a:prstGeom>
          <a:solidFill>
            <a:srgbClr val="4FB817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749808" y="5925998"/>
            <a:ext cx="3621024" cy="273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WebP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4590288" y="5925998"/>
            <a:ext cx="1097280" cy="273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FB8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 160 KB</a:t>
            </a:r>
            <a:endParaRPr lang="en-US" sz="1050" dirty="0"/>
          </a:p>
        </p:txBody>
      </p:sp>
      <p:sp>
        <p:nvSpPr>
          <p:cNvPr id="43" name="Text 40"/>
          <p:cNvSpPr txBox="1"/>
          <p:nvPr/>
        </p:nvSpPr>
        <p:spPr>
          <a:xfrm>
            <a:off x="5669280" y="5925998"/>
            <a:ext cx="4754880" cy="273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E7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orientativos: dependen de la imagen concreta.</a:t>
            </a:r>
            <a:endParaRPr lang="en-US" sz="950" dirty="0"/>
          </a:p>
        </p:txBody>
      </p:sp>
      <p:sp>
        <p:nvSpPr>
          <p:cNvPr id="45" name="Text 41"/>
          <p:cNvSpPr txBox="1"/>
          <p:nvPr/>
        </p:nvSpPr>
        <p:spPr>
          <a:xfrm>
            <a:off x="11002975" y="6441719"/>
            <a:ext cx="914400" cy="225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37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bands/band_C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1542364"/>
            <a:ext cx="7772400" cy="241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E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FORMATOS</a:t>
            </a:r>
            <a:endParaRPr lang="en-US" sz="115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784109"/>
            <a:ext cx="10424160" cy="580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 elijo? Árbol de decisión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640080" y="2686622"/>
            <a:ext cx="10927080" cy="765524"/>
          </a:xfrm>
          <a:prstGeom prst="roundRect">
            <a:avLst>
              <a:gd name="adj" fmla="val 11945"/>
            </a:avLst>
          </a:prstGeom>
          <a:solidFill>
            <a:srgbClr val="F7FDF4"/>
          </a:solidFill>
          <a:ln w="12700">
            <a:solidFill>
              <a:srgbClr val="DCEFD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60120" y="2867930"/>
            <a:ext cx="457200" cy="402908"/>
          </a:xfrm>
          <a:prstGeom prst="ellipse">
            <a:avLst/>
          </a:prstGeom>
          <a:solidFill>
            <a:srgbClr val="36C4CC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60120" y="2867930"/>
            <a:ext cx="457200" cy="402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691640" y="2686622"/>
            <a:ext cx="4297680" cy="765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¿Es una fotografía?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126480" y="2863901"/>
            <a:ext cx="2651760" cy="402908"/>
          </a:xfrm>
          <a:prstGeom prst="roundRect">
            <a:avLst>
              <a:gd name="adj" fmla="val 56738"/>
            </a:avLst>
          </a:prstGeom>
          <a:solidFill>
            <a:srgbClr val="36C4C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126480" y="2863901"/>
            <a:ext cx="2651760" cy="402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 → WebP, y JPG como respaldo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8961120" y="2686622"/>
            <a:ext cx="2377440" cy="765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→ sigue bajando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40080" y="3516611"/>
            <a:ext cx="10927080" cy="765524"/>
          </a:xfrm>
          <a:prstGeom prst="roundRect">
            <a:avLst>
              <a:gd name="adj" fmla="val 11945"/>
            </a:avLst>
          </a:prstGeom>
          <a:solidFill>
            <a:srgbClr val="F7FDF4"/>
          </a:solidFill>
          <a:ln w="12700">
            <a:solidFill>
              <a:srgbClr val="DCEFD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60120" y="3697919"/>
            <a:ext cx="457200" cy="402908"/>
          </a:xfrm>
          <a:prstGeom prst="ellipse">
            <a:avLst/>
          </a:prstGeom>
          <a:solidFill>
            <a:srgbClr val="72EF29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960120" y="3697919"/>
            <a:ext cx="457200" cy="402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1691640" y="3516611"/>
            <a:ext cx="4297680" cy="765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¿Es un logotipo, icono o ilustración plana?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126480" y="3693890"/>
            <a:ext cx="2651760" cy="402908"/>
          </a:xfrm>
          <a:prstGeom prst="roundRect">
            <a:avLst>
              <a:gd name="adj" fmla="val 56738"/>
            </a:avLst>
          </a:prstGeom>
          <a:solidFill>
            <a:srgbClr val="72EF29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126480" y="3693890"/>
            <a:ext cx="2651760" cy="402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 → SVG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8961120" y="3516611"/>
            <a:ext cx="2377440" cy="765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→ sigue bajando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40080" y="4346600"/>
            <a:ext cx="10927080" cy="765524"/>
          </a:xfrm>
          <a:prstGeom prst="roundRect">
            <a:avLst>
              <a:gd name="adj" fmla="val 11945"/>
            </a:avLst>
          </a:prstGeom>
          <a:solidFill>
            <a:srgbClr val="F7FDF4"/>
          </a:solidFill>
          <a:ln w="12700">
            <a:solidFill>
              <a:srgbClr val="DCEFD3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60120" y="4527909"/>
            <a:ext cx="457200" cy="402908"/>
          </a:xfrm>
          <a:prstGeom prst="ellipse">
            <a:avLst/>
          </a:prstGeom>
          <a:solidFill>
            <a:srgbClr val="4FB817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960120" y="4527909"/>
            <a:ext cx="457200" cy="402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1691640" y="4346600"/>
            <a:ext cx="4297680" cy="765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¿Necesita fondo transparente?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126480" y="4523880"/>
            <a:ext cx="2651760" cy="402908"/>
          </a:xfrm>
          <a:prstGeom prst="roundRect">
            <a:avLst>
              <a:gd name="adj" fmla="val 56738"/>
            </a:avLst>
          </a:prstGeom>
          <a:solidFill>
            <a:srgbClr val="4FB817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126480" y="4523880"/>
            <a:ext cx="2651760" cy="402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 → PNG o WebP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8961120" y="4346600"/>
            <a:ext cx="2377440" cy="765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→ sigue bajando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640080" y="5176590"/>
            <a:ext cx="10927080" cy="765524"/>
          </a:xfrm>
          <a:prstGeom prst="roundRect">
            <a:avLst>
              <a:gd name="adj" fmla="val 11945"/>
            </a:avLst>
          </a:prstGeom>
          <a:solidFill>
            <a:srgbClr val="F7FDF4"/>
          </a:solidFill>
          <a:ln w="12700">
            <a:solidFill>
              <a:srgbClr val="DCEFD3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960120" y="5357898"/>
            <a:ext cx="457200" cy="402908"/>
          </a:xfrm>
          <a:prstGeom prst="ellipse">
            <a:avLst/>
          </a:prstGeom>
          <a:solidFill>
            <a:srgbClr val="5AD3DA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960120" y="5357898"/>
            <a:ext cx="457200" cy="402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1691640" y="5176590"/>
            <a:ext cx="4297680" cy="765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¿Es una animación muy corta y simple?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6126480" y="5353869"/>
            <a:ext cx="2651760" cy="402908"/>
          </a:xfrm>
          <a:prstGeom prst="roundRect">
            <a:avLst>
              <a:gd name="adj" fmla="val 56738"/>
            </a:avLst>
          </a:prstGeom>
          <a:solidFill>
            <a:srgbClr val="5AD3DA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6126480" y="5353869"/>
            <a:ext cx="2651760" cy="402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 → GIF o mejor video</a:t>
            </a:r>
            <a:endParaRPr lang="en-US" sz="1050" dirty="0"/>
          </a:p>
        </p:txBody>
      </p:sp>
      <p:sp>
        <p:nvSpPr>
          <p:cNvPr id="32" name="Text 29"/>
          <p:cNvSpPr txBox="1"/>
          <p:nvPr/>
        </p:nvSpPr>
        <p:spPr>
          <a:xfrm>
            <a:off x="8961120" y="5176590"/>
            <a:ext cx="2377440" cy="765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→ WebP por defecto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640080" y="5869591"/>
            <a:ext cx="10927080" cy="443198"/>
          </a:xfrm>
          <a:prstGeom prst="roundRect">
            <a:avLst>
              <a:gd name="adj" fmla="val 20632"/>
            </a:avLst>
          </a:prstGeom>
          <a:solidFill>
            <a:srgbClr val="F0FCE8"/>
          </a:solidFill>
          <a:ln w="12700">
            <a:solidFill>
              <a:srgbClr val="CFF2B8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960120" y="5869591"/>
            <a:ext cx="10287000" cy="4431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Petly: las fotos de mascotas van en WebP; el logotipo y los iconos de categorías, en SVG.</a:t>
            </a:r>
            <a:endParaRPr lang="en-US" sz="1150" dirty="0"/>
          </a:p>
        </p:txBody>
      </p:sp>
      <p:sp>
        <p:nvSpPr>
          <p:cNvPr id="36" name="Text 32"/>
          <p:cNvSpPr txBox="1"/>
          <p:nvPr/>
        </p:nvSpPr>
        <p:spPr>
          <a:xfrm>
            <a:off x="11002975" y="6441719"/>
            <a:ext cx="914400" cy="225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37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bands/band_C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775704" y="1243584"/>
            <a:ext cx="5148072" cy="5248656"/>
          </a:xfrm>
          <a:prstGeom prst="roundRect">
            <a:avLst>
              <a:gd name="adj" fmla="val 3908"/>
            </a:avLst>
          </a:prstGeom>
          <a:solidFill>
            <a:srgbClr val="FFFFFF"/>
          </a:solidFill>
          <a:ln w="31750">
            <a:solidFill>
              <a:srgbClr val="36C4CC"/>
            </a:solidFill>
            <a:prstDash val="solid"/>
          </a:ln>
        </p:spPr>
      </p:sp>
      <p:pic>
        <p:nvPicPr>
          <p:cNvPr id="4" name="Image 1" descr="/home/claude/assets/foto_b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371600"/>
            <a:ext cx="4892040" cy="4992624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6519672" y="987552"/>
            <a:ext cx="804672" cy="804672"/>
          </a:xfrm>
          <a:prstGeom prst="roundRect">
            <a:avLst>
              <a:gd name="adj" fmla="val 51136"/>
            </a:avLst>
          </a:prstGeom>
          <a:solidFill>
            <a:srgbClr val="72EF29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-502920" y="1664208"/>
            <a:ext cx="5577840" cy="1024128"/>
          </a:xfrm>
          <a:prstGeom prst="roundRect">
            <a:avLst>
              <a:gd name="adj" fmla="val 50000"/>
            </a:avLst>
          </a:prstGeom>
          <a:solidFill>
            <a:srgbClr val="72EF29"/>
          </a:solidFill>
          <a:ln/>
        </p:spPr>
      </p:sp>
      <p:sp>
        <p:nvSpPr>
          <p:cNvPr id="7" name="Shape 3"/>
          <p:cNvSpPr/>
          <p:nvPr/>
        </p:nvSpPr>
        <p:spPr>
          <a:xfrm>
            <a:off x="-548640" y="1517904"/>
            <a:ext cx="5349240" cy="1024128"/>
          </a:xfrm>
          <a:prstGeom prst="roundRect">
            <a:avLst>
              <a:gd name="adj" fmla="val 50000"/>
            </a:avLst>
          </a:prstGeom>
          <a:solidFill>
            <a:srgbClr val="36C4CC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274320" y="1517904"/>
            <a:ext cx="42976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etiqueta &lt;img&gt;</a:t>
            </a:r>
            <a:endParaRPr lang="en-US" sz="2200" dirty="0"/>
          </a:p>
        </p:txBody>
      </p:sp>
      <p:sp>
        <p:nvSpPr>
          <p:cNvPr id="9" name="Text 5"/>
          <p:cNvSpPr txBox="1"/>
          <p:nvPr/>
        </p:nvSpPr>
        <p:spPr>
          <a:xfrm>
            <a:off x="274320" y="2798064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50" kern="0" dirty="0">
                <a:solidFill>
                  <a:srgbClr val="1E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02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331012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E7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este bloque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85800" y="3657600"/>
            <a:ext cx="5577840" cy="475488"/>
          </a:xfrm>
          <a:prstGeom prst="roundRect">
            <a:avLst>
              <a:gd name="adj" fmla="val 50000"/>
            </a:avLst>
          </a:prstGeom>
          <a:solidFill>
            <a:srgbClr val="F0FCE8"/>
          </a:solidFill>
          <a:ln/>
        </p:spPr>
      </p:sp>
      <p:sp>
        <p:nvSpPr>
          <p:cNvPr id="12" name="Shape 8"/>
          <p:cNvSpPr/>
          <p:nvPr/>
        </p:nvSpPr>
        <p:spPr>
          <a:xfrm>
            <a:off x="685800" y="3657600"/>
            <a:ext cx="658368" cy="475488"/>
          </a:xfrm>
          <a:prstGeom prst="roundRect">
            <a:avLst>
              <a:gd name="adj" fmla="val 50000"/>
            </a:avLst>
          </a:prstGeom>
          <a:solidFill>
            <a:srgbClr val="36C4CC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1481328" y="365760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 y alt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85800" y="4206240"/>
            <a:ext cx="5577840" cy="475488"/>
          </a:xfrm>
          <a:prstGeom prst="roundRect">
            <a:avLst>
              <a:gd name="adj" fmla="val 50000"/>
            </a:avLst>
          </a:prstGeom>
          <a:solidFill>
            <a:srgbClr val="F0FCE8"/>
          </a:solidFill>
          <a:ln/>
        </p:spPr>
      </p:sp>
      <p:sp>
        <p:nvSpPr>
          <p:cNvPr id="15" name="Shape 11"/>
          <p:cNvSpPr/>
          <p:nvPr/>
        </p:nvSpPr>
        <p:spPr>
          <a:xfrm>
            <a:off x="685800" y="4206240"/>
            <a:ext cx="658368" cy="475488"/>
          </a:xfrm>
          <a:prstGeom prst="roundRect">
            <a:avLst>
              <a:gd name="adj" fmla="val 50000"/>
            </a:avLst>
          </a:prstGeom>
          <a:solidFill>
            <a:srgbClr val="36C4CC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1481328" y="420624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Escribir buen texto alternativo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85800" y="4754880"/>
            <a:ext cx="5577840" cy="475488"/>
          </a:xfrm>
          <a:prstGeom prst="roundRect">
            <a:avLst>
              <a:gd name="adj" fmla="val 50000"/>
            </a:avLst>
          </a:prstGeom>
          <a:solidFill>
            <a:srgbClr val="F0FCE8"/>
          </a:solidFill>
          <a:ln/>
        </p:spPr>
      </p:sp>
      <p:sp>
        <p:nvSpPr>
          <p:cNvPr id="18" name="Shape 14"/>
          <p:cNvSpPr/>
          <p:nvPr/>
        </p:nvSpPr>
        <p:spPr>
          <a:xfrm>
            <a:off x="685800" y="4754880"/>
            <a:ext cx="658368" cy="475488"/>
          </a:xfrm>
          <a:prstGeom prst="roundRect">
            <a:avLst>
              <a:gd name="adj" fmla="val 50000"/>
            </a:avLst>
          </a:prstGeom>
          <a:solidFill>
            <a:srgbClr val="36C4CC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1481328" y="475488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 y alto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685800" y="5303520"/>
            <a:ext cx="5577840" cy="475488"/>
          </a:xfrm>
          <a:prstGeom prst="roundRect">
            <a:avLst>
              <a:gd name="adj" fmla="val 50000"/>
            </a:avLst>
          </a:prstGeom>
          <a:solidFill>
            <a:srgbClr val="F0FCE8"/>
          </a:solidFill>
          <a:ln/>
        </p:spPr>
      </p:sp>
      <p:sp>
        <p:nvSpPr>
          <p:cNvPr id="21" name="Shape 17"/>
          <p:cNvSpPr/>
          <p:nvPr/>
        </p:nvSpPr>
        <p:spPr>
          <a:xfrm>
            <a:off x="685800" y="5303520"/>
            <a:ext cx="658368" cy="475488"/>
          </a:xfrm>
          <a:prstGeom prst="roundRect">
            <a:avLst>
              <a:gd name="adj" fmla="val 50000"/>
            </a:avLst>
          </a:prstGeom>
          <a:solidFill>
            <a:srgbClr val="36C4CC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1481328" y="530352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diferida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685800" y="5852160"/>
            <a:ext cx="5577840" cy="475488"/>
          </a:xfrm>
          <a:prstGeom prst="roundRect">
            <a:avLst>
              <a:gd name="adj" fmla="val 50000"/>
            </a:avLst>
          </a:prstGeom>
          <a:solidFill>
            <a:srgbClr val="F0FCE8"/>
          </a:solidFill>
          <a:ln/>
        </p:spPr>
      </p:sp>
      <p:sp>
        <p:nvSpPr>
          <p:cNvPr id="24" name="Shape 20"/>
          <p:cNvSpPr/>
          <p:nvPr/>
        </p:nvSpPr>
        <p:spPr>
          <a:xfrm>
            <a:off x="685800" y="5852160"/>
            <a:ext cx="658368" cy="475488"/>
          </a:xfrm>
          <a:prstGeom prst="roundRect">
            <a:avLst>
              <a:gd name="adj" fmla="val 50000"/>
            </a:avLst>
          </a:prstGeom>
          <a:solidFill>
            <a:srgbClr val="36C4CC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1481328" y="585216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frecuentes</a:t>
            </a:r>
            <a:endParaRPr lang="en-US" sz="1150" dirty="0"/>
          </a:p>
        </p:txBody>
      </p:sp>
      <p:sp>
        <p:nvSpPr>
          <p:cNvPr id="26" name="Text 22"/>
          <p:cNvSpPr txBox="1"/>
          <p:nvPr/>
        </p:nvSpPr>
        <p:spPr>
          <a:xfrm>
            <a:off x="11002975" y="618134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37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bands/band_C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1542364"/>
            <a:ext cx="7772400" cy="241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E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LA IMAGEN</a:t>
            </a:r>
            <a:endParaRPr lang="en-US" sz="115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784109"/>
            <a:ext cx="10424160" cy="580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Anatomía de &lt;img&gt;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2267598"/>
            <a:ext cx="1042416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una etiqueta vacía: no tiene contenido ni cierre.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1280160" y="2686622"/>
            <a:ext cx="9601200" cy="926687"/>
          </a:xfrm>
          <a:prstGeom prst="roundRect">
            <a:avLst>
              <a:gd name="adj" fmla="val 9867"/>
            </a:avLst>
          </a:prstGeom>
          <a:solidFill>
            <a:srgbClr val="2B2B2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417320" y="2686622"/>
            <a:ext cx="9326880" cy="9266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8F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&lt;img </a:t>
            </a:r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0C9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src="img/perro.webp" </a:t>
            </a:r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9CD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alt="Cachorro golden retriever sentado" </a:t>
            </a:r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C8A5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width="400" height="300"</a:t>
            </a:r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8F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3855053"/>
            <a:ext cx="2688336" cy="1732502"/>
          </a:xfrm>
          <a:prstGeom prst="roundRect">
            <a:avLst>
              <a:gd name="adj" fmla="val 5278"/>
            </a:avLst>
          </a:prstGeom>
          <a:solidFill>
            <a:srgbClr val="F7FDF4"/>
          </a:solidFill>
          <a:ln w="12700">
            <a:solidFill>
              <a:srgbClr val="DCEFD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41248" y="4040391"/>
            <a:ext cx="502920" cy="72523"/>
          </a:xfrm>
          <a:prstGeom prst="rect">
            <a:avLst/>
          </a:prstGeom>
          <a:solidFill>
            <a:srgbClr val="C1873B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41248" y="4177379"/>
            <a:ext cx="2286000" cy="322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187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841248" y="4523880"/>
            <a:ext cx="2286000" cy="684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ruta del archivo. Sin ella no se muestra nada.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841248" y="5224939"/>
            <a:ext cx="2286000" cy="257861"/>
          </a:xfrm>
          <a:prstGeom prst="roundRect">
            <a:avLst>
              <a:gd name="adj" fmla="val 56738"/>
            </a:avLst>
          </a:prstGeom>
          <a:solidFill>
            <a:srgbClr val="F0FCE8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41248" y="5224939"/>
            <a:ext cx="22860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18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Obligatorio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465576" y="3855053"/>
            <a:ext cx="2688336" cy="1732502"/>
          </a:xfrm>
          <a:prstGeom prst="roundRect">
            <a:avLst>
              <a:gd name="adj" fmla="val 5278"/>
            </a:avLst>
          </a:prstGeom>
          <a:solidFill>
            <a:srgbClr val="F7FDF4"/>
          </a:solidFill>
          <a:ln w="12700">
            <a:solidFill>
              <a:srgbClr val="DCEFD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666744" y="4040391"/>
            <a:ext cx="502920" cy="72523"/>
          </a:xfrm>
          <a:prstGeom prst="rect">
            <a:avLst/>
          </a:prstGeom>
          <a:solidFill>
            <a:srgbClr val="36C4C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3666744" y="4177379"/>
            <a:ext cx="2286000" cy="322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6C4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3666744" y="4523880"/>
            <a:ext cx="2286000" cy="684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 del contenido de la imagen.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3666744" y="5224939"/>
            <a:ext cx="2286000" cy="257861"/>
          </a:xfrm>
          <a:prstGeom prst="roundRect">
            <a:avLst>
              <a:gd name="adj" fmla="val 56738"/>
            </a:avLst>
          </a:prstGeom>
          <a:solidFill>
            <a:srgbClr val="F0FCE8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3666744" y="5224939"/>
            <a:ext cx="22860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6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Obligatorio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291072" y="3855053"/>
            <a:ext cx="2688336" cy="1732502"/>
          </a:xfrm>
          <a:prstGeom prst="roundRect">
            <a:avLst>
              <a:gd name="adj" fmla="val 5278"/>
            </a:avLst>
          </a:prstGeom>
          <a:solidFill>
            <a:srgbClr val="F7FDF4"/>
          </a:solidFill>
          <a:ln w="12700">
            <a:solidFill>
              <a:srgbClr val="DCEFD3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492240" y="4040391"/>
            <a:ext cx="502920" cy="72523"/>
          </a:xfrm>
          <a:prstGeom prst="rect">
            <a:avLst/>
          </a:prstGeom>
          <a:solidFill>
            <a:srgbClr val="7E5A94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6492240" y="4177379"/>
            <a:ext cx="2286000" cy="322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E5A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width / height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6492240" y="4523880"/>
            <a:ext cx="2286000" cy="684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dimensiones en píxeles.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6492240" y="5224939"/>
            <a:ext cx="2286000" cy="257861"/>
          </a:xfrm>
          <a:prstGeom prst="roundRect">
            <a:avLst>
              <a:gd name="adj" fmla="val 56738"/>
            </a:avLst>
          </a:prstGeom>
          <a:solidFill>
            <a:srgbClr val="F0FCE8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6492240" y="5224939"/>
            <a:ext cx="22860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E5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Muy recomendado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9116568" y="3855053"/>
            <a:ext cx="2688336" cy="1732502"/>
          </a:xfrm>
          <a:prstGeom prst="roundRect">
            <a:avLst>
              <a:gd name="adj" fmla="val 5278"/>
            </a:avLst>
          </a:prstGeom>
          <a:solidFill>
            <a:srgbClr val="F7FDF4"/>
          </a:solidFill>
          <a:ln w="12700">
            <a:solidFill>
              <a:srgbClr val="DCEFD3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9317736" y="4040391"/>
            <a:ext cx="502920" cy="72523"/>
          </a:xfrm>
          <a:prstGeom prst="rect">
            <a:avLst/>
          </a:prstGeom>
          <a:solidFill>
            <a:srgbClr val="72EF29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9317736" y="4177379"/>
            <a:ext cx="2286000" cy="322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2EF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loading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9317736" y="4523880"/>
            <a:ext cx="2286000" cy="684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 cuándo se descarga la imagen.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9317736" y="5224939"/>
            <a:ext cx="2286000" cy="257861"/>
          </a:xfrm>
          <a:prstGeom prst="roundRect">
            <a:avLst>
              <a:gd name="adj" fmla="val 56738"/>
            </a:avLst>
          </a:prstGeom>
          <a:solidFill>
            <a:srgbClr val="F0F2F1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9317736" y="5224939"/>
            <a:ext cx="22860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E7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Opcional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640080" y="5708428"/>
            <a:ext cx="10927080" cy="443198"/>
          </a:xfrm>
          <a:prstGeom prst="roundRect">
            <a:avLst>
              <a:gd name="adj" fmla="val 20632"/>
            </a:avLst>
          </a:prstGeom>
          <a:solidFill>
            <a:srgbClr val="FBF4F2"/>
          </a:solidFill>
          <a:ln w="12700">
            <a:solidFill>
              <a:srgbClr val="EBD9D3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960120" y="5708428"/>
            <a:ext cx="10287000" cy="4431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validador W3C marca error si falta el atributo alt. No es una recomendación: es parte del estándar.</a:t>
            </a:r>
            <a:endParaRPr lang="en-US" sz="1150" dirty="0"/>
          </a:p>
        </p:txBody>
      </p:sp>
      <p:sp>
        <p:nvSpPr>
          <p:cNvPr id="35" name="Text 31"/>
          <p:cNvSpPr txBox="1"/>
          <p:nvPr/>
        </p:nvSpPr>
        <p:spPr>
          <a:xfrm>
            <a:off x="11002975" y="6441719"/>
            <a:ext cx="914400" cy="225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37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bands/band_C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1542364"/>
            <a:ext cx="7772400" cy="241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E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LA IMAGEN</a:t>
            </a:r>
            <a:endParaRPr lang="en-US" sz="115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784109"/>
            <a:ext cx="10424160" cy="580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escribir un buen texto alternativo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2267598"/>
            <a:ext cx="1042416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alt describe lo que la imagen aporta, no lo que la imagen es.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40080" y="2606040"/>
            <a:ext cx="5349240" cy="1974247"/>
          </a:xfrm>
          <a:prstGeom prst="roundRect">
            <a:avLst>
              <a:gd name="adj" fmla="val 4632"/>
            </a:avLst>
          </a:prstGeom>
          <a:solidFill>
            <a:srgbClr val="FBF4F2"/>
          </a:solidFill>
          <a:ln w="12700">
            <a:solidFill>
              <a:srgbClr val="EBD9D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60120" y="2751087"/>
            <a:ext cx="4754880" cy="306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54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3105645"/>
            <a:ext cx="475488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546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alt="imagen"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960120" y="3331274"/>
            <a:ext cx="4754880" cy="241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7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aporta nada.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960120" y="3589134"/>
            <a:ext cx="475488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546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alt="foto1.jpg"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960120" y="3814763"/>
            <a:ext cx="4754880" cy="241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7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nombre del archivo.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960120" y="4072623"/>
            <a:ext cx="475488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546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alt="perro perro veterinaria perro"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960120" y="4298252"/>
            <a:ext cx="4754880" cy="241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7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Relleno para buscadores.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217920" y="2606040"/>
            <a:ext cx="5349240" cy="1974247"/>
          </a:xfrm>
          <a:prstGeom prst="roundRect">
            <a:avLst>
              <a:gd name="adj" fmla="val 4632"/>
            </a:avLst>
          </a:prstGeom>
          <a:solidFill>
            <a:srgbClr val="F0FCE8"/>
          </a:solidFill>
          <a:ln w="12700">
            <a:solidFill>
              <a:srgbClr val="CFF2B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537960" y="2751087"/>
            <a:ext cx="4754880" cy="306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B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6537960" y="3105645"/>
            <a:ext cx="475488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FB8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alt="Cachorro golden retriever sentado"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6537960" y="3331274"/>
            <a:ext cx="4754880" cy="241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7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lo que se ve.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537960" y="3589134"/>
            <a:ext cx="475488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FB8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alt="Petly"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6537960" y="3814763"/>
            <a:ext cx="4754880" cy="241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7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logo: el nombre, no la palabra logo.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6537960" y="4072623"/>
            <a:ext cx="475488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FB8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alt=""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6537960" y="4298252"/>
            <a:ext cx="4754880" cy="241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7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Decorativa: el lector la ignora.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40080" y="4781741"/>
            <a:ext cx="10927080" cy="1249013"/>
          </a:xfrm>
          <a:prstGeom prst="roundRect">
            <a:avLst>
              <a:gd name="adj" fmla="val 7321"/>
            </a:avLst>
          </a:prstGeom>
          <a:solidFill>
            <a:srgbClr val="EAFAFB"/>
          </a:solidFill>
          <a:ln w="12700">
            <a:solidFill>
              <a:srgbClr val="BCE9EC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60120" y="4926787"/>
            <a:ext cx="54864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prueba que nunca falla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960120" y="5216881"/>
            <a:ext cx="10287000" cy="7655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Imagina que lees la página por teléfono a alguien que no la ve. ¿Qué dirías al llegar a esa imagen? Eso es el alt. Si la imagen es puramente decorativa y no dirías nada, escribe alt="" vacío: así el lector de pantalla la salta en vez de leer el nombre del archivo.</a:t>
            </a:r>
            <a:endParaRPr lang="en-US" sz="1250" dirty="0"/>
          </a:p>
        </p:txBody>
      </p:sp>
      <p:sp>
        <p:nvSpPr>
          <p:cNvPr id="26" name="Text 22"/>
          <p:cNvSpPr txBox="1"/>
          <p:nvPr/>
        </p:nvSpPr>
        <p:spPr>
          <a:xfrm>
            <a:off x="11002975" y="6441719"/>
            <a:ext cx="914400" cy="225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37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bands/band_C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1542364"/>
            <a:ext cx="7772400" cy="241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E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LA IMAGEN</a:t>
            </a:r>
            <a:endParaRPr lang="en-US" sz="115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784109"/>
            <a:ext cx="10424160" cy="580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Dimensiones y carga diferida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640080" y="2606040"/>
            <a:ext cx="5349240" cy="2336864"/>
          </a:xfrm>
          <a:prstGeom prst="roundRect">
            <a:avLst>
              <a:gd name="adj" fmla="val 3913"/>
            </a:avLst>
          </a:prstGeom>
          <a:solidFill>
            <a:srgbClr val="F7FDF4"/>
          </a:solidFill>
          <a:ln w="12700">
            <a:solidFill>
              <a:srgbClr val="DCEFD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60120" y="2751087"/>
            <a:ext cx="4754880" cy="306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 y height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3105645"/>
            <a:ext cx="4754880" cy="604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Indícalos siempre con las dimensiones reales del archivo. El navegador reserva ese espacio antes de descargar la imagen.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3774472"/>
            <a:ext cx="4754880" cy="564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54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ellos, el contenido salta cuando la imagen termina de cargar. Es molesto y penaliza en buscadores.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960120" y="4338542"/>
            <a:ext cx="4800600" cy="483489"/>
          </a:xfrm>
          <a:prstGeom prst="roundRect">
            <a:avLst>
              <a:gd name="adj" fmla="val 17021"/>
            </a:avLst>
          </a:prstGeom>
          <a:solidFill>
            <a:srgbClr val="2B2B2B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188720" y="4483589"/>
            <a:ext cx="4343400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8F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&lt;img src="perro.webp" width="400" height="300" alt="…"&gt;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217920" y="2606040"/>
            <a:ext cx="5349240" cy="2336864"/>
          </a:xfrm>
          <a:prstGeom prst="roundRect">
            <a:avLst>
              <a:gd name="adj" fmla="val 3913"/>
            </a:avLst>
          </a:prstGeom>
          <a:solidFill>
            <a:srgbClr val="F7FDF4"/>
          </a:solidFill>
          <a:ln w="12700">
            <a:solidFill>
              <a:srgbClr val="DCEFD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537960" y="2751087"/>
            <a:ext cx="4754880" cy="306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B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loading="lazy"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6537960" y="3105645"/>
            <a:ext cx="4754880" cy="604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imagen solo se descarga cuando el usuario se acerca a ella al desplazarse. La página abre mucho más rápido.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6537960" y="3774472"/>
            <a:ext cx="4754880" cy="564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FB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Úsalo en todas las imágenes salvo en las que se ven nada más abrir la página.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537960" y="4338542"/>
            <a:ext cx="4800600" cy="483489"/>
          </a:xfrm>
          <a:prstGeom prst="roundRect">
            <a:avLst>
              <a:gd name="adj" fmla="val 17021"/>
            </a:avLst>
          </a:prstGeom>
          <a:solidFill>
            <a:srgbClr val="2B2B2B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766560" y="4483589"/>
            <a:ext cx="4343400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8F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&lt;img src="gato.webp" loading="lazy" alt="…"&gt;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40080" y="5144357"/>
            <a:ext cx="10927080" cy="886397"/>
          </a:xfrm>
          <a:prstGeom prst="roundRect">
            <a:avLst>
              <a:gd name="adj" fmla="val 10316"/>
            </a:avLst>
          </a:prstGeom>
          <a:solidFill>
            <a:srgbClr val="F0FCE8"/>
          </a:solidFill>
          <a:ln w="12700">
            <a:solidFill>
              <a:srgbClr val="CFF2B8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60120" y="5144357"/>
            <a:ext cx="10287000" cy="8863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dos juntas: dimensiones para que no salte el diseño, y carga diferida para que la página abra rápido. Son dos líneas de código con un impacto enorme en la experiencia.</a:t>
            </a:r>
            <a:endParaRPr lang="en-US" sz="1250" dirty="0"/>
          </a:p>
        </p:txBody>
      </p:sp>
      <p:sp>
        <p:nvSpPr>
          <p:cNvPr id="20" name="Text 16"/>
          <p:cNvSpPr txBox="1"/>
          <p:nvPr/>
        </p:nvSpPr>
        <p:spPr>
          <a:xfrm>
            <a:off x="11002975" y="6441719"/>
            <a:ext cx="914400" cy="225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37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bands/band_C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775704" y="1243584"/>
            <a:ext cx="5148072" cy="5248656"/>
          </a:xfrm>
          <a:prstGeom prst="roundRect">
            <a:avLst>
              <a:gd name="adj" fmla="val 3908"/>
            </a:avLst>
          </a:prstGeom>
          <a:solidFill>
            <a:srgbClr val="FFFFFF"/>
          </a:solidFill>
          <a:ln w="31750">
            <a:solidFill>
              <a:srgbClr val="36C4CC"/>
            </a:solidFill>
            <a:prstDash val="solid"/>
          </a:ln>
        </p:spPr>
      </p:sp>
      <p:pic>
        <p:nvPicPr>
          <p:cNvPr id="4" name="Image 1" descr="/home/claude/assets/foto_a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371600"/>
            <a:ext cx="4892040" cy="4992624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6519672" y="987552"/>
            <a:ext cx="804672" cy="804672"/>
          </a:xfrm>
          <a:prstGeom prst="roundRect">
            <a:avLst>
              <a:gd name="adj" fmla="val 51136"/>
            </a:avLst>
          </a:prstGeom>
          <a:solidFill>
            <a:srgbClr val="72EF29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-502920" y="1664208"/>
            <a:ext cx="5577840" cy="1024128"/>
          </a:xfrm>
          <a:prstGeom prst="roundRect">
            <a:avLst>
              <a:gd name="adj" fmla="val 50000"/>
            </a:avLst>
          </a:prstGeom>
          <a:solidFill>
            <a:srgbClr val="72EF29"/>
          </a:solidFill>
          <a:ln/>
        </p:spPr>
      </p:sp>
      <p:sp>
        <p:nvSpPr>
          <p:cNvPr id="7" name="Shape 3"/>
          <p:cNvSpPr/>
          <p:nvPr/>
        </p:nvSpPr>
        <p:spPr>
          <a:xfrm>
            <a:off x="-548640" y="1517904"/>
            <a:ext cx="5349240" cy="1024128"/>
          </a:xfrm>
          <a:prstGeom prst="roundRect">
            <a:avLst>
              <a:gd name="adj" fmla="val 50000"/>
            </a:avLst>
          </a:prstGeom>
          <a:solidFill>
            <a:srgbClr val="36C4CC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274320" y="1517904"/>
            <a:ext cx="42976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Rutas para recursos</a:t>
            </a:r>
            <a:endParaRPr lang="en-US" sz="2200" dirty="0"/>
          </a:p>
        </p:txBody>
      </p:sp>
      <p:sp>
        <p:nvSpPr>
          <p:cNvPr id="9" name="Text 5"/>
          <p:cNvSpPr txBox="1"/>
          <p:nvPr/>
        </p:nvSpPr>
        <p:spPr>
          <a:xfrm>
            <a:off x="274320" y="2798064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50" kern="0" dirty="0">
                <a:solidFill>
                  <a:srgbClr val="1E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03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331012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E7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este bloque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85800" y="3657600"/>
            <a:ext cx="5577840" cy="475488"/>
          </a:xfrm>
          <a:prstGeom prst="roundRect">
            <a:avLst>
              <a:gd name="adj" fmla="val 50000"/>
            </a:avLst>
          </a:prstGeom>
          <a:solidFill>
            <a:srgbClr val="F0FCE8"/>
          </a:solidFill>
          <a:ln/>
        </p:spPr>
      </p:sp>
      <p:sp>
        <p:nvSpPr>
          <p:cNvPr id="12" name="Shape 8"/>
          <p:cNvSpPr/>
          <p:nvPr/>
        </p:nvSpPr>
        <p:spPr>
          <a:xfrm>
            <a:off x="685800" y="3657600"/>
            <a:ext cx="658368" cy="475488"/>
          </a:xfrm>
          <a:prstGeom prst="roundRect">
            <a:avLst>
              <a:gd name="adj" fmla="val 50000"/>
            </a:avLst>
          </a:prstGeom>
          <a:solidFill>
            <a:srgbClr val="36C4CC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1481328" y="365760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Relativas y absolutas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85800" y="4206240"/>
            <a:ext cx="5577840" cy="475488"/>
          </a:xfrm>
          <a:prstGeom prst="roundRect">
            <a:avLst>
              <a:gd name="adj" fmla="val 50000"/>
            </a:avLst>
          </a:prstGeom>
          <a:solidFill>
            <a:srgbClr val="F0FCE8"/>
          </a:solidFill>
          <a:ln/>
        </p:spPr>
      </p:sp>
      <p:sp>
        <p:nvSpPr>
          <p:cNvPr id="15" name="Shape 11"/>
          <p:cNvSpPr/>
          <p:nvPr/>
        </p:nvSpPr>
        <p:spPr>
          <a:xfrm>
            <a:off x="685800" y="4206240"/>
            <a:ext cx="658368" cy="475488"/>
          </a:xfrm>
          <a:prstGeom prst="roundRect">
            <a:avLst>
              <a:gd name="adj" fmla="val 50000"/>
            </a:avLst>
          </a:prstGeom>
          <a:solidFill>
            <a:srgbClr val="36C4CC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1481328" y="420624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estructura del proyecto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85800" y="4754880"/>
            <a:ext cx="5577840" cy="475488"/>
          </a:xfrm>
          <a:prstGeom prst="roundRect">
            <a:avLst>
              <a:gd name="adj" fmla="val 50000"/>
            </a:avLst>
          </a:prstGeom>
          <a:solidFill>
            <a:srgbClr val="F0FCE8"/>
          </a:solidFill>
          <a:ln/>
        </p:spPr>
      </p:sp>
      <p:sp>
        <p:nvSpPr>
          <p:cNvPr id="18" name="Shape 14"/>
          <p:cNvSpPr/>
          <p:nvPr/>
        </p:nvSpPr>
        <p:spPr>
          <a:xfrm>
            <a:off x="685800" y="4754880"/>
            <a:ext cx="658368" cy="475488"/>
          </a:xfrm>
          <a:prstGeom prst="roundRect">
            <a:avLst>
              <a:gd name="adj" fmla="val 50000"/>
            </a:avLst>
          </a:prstGeom>
          <a:solidFill>
            <a:srgbClr val="36C4CC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1481328" y="475488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Subir y bajar niveles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685800" y="5303520"/>
            <a:ext cx="5577840" cy="475488"/>
          </a:xfrm>
          <a:prstGeom prst="roundRect">
            <a:avLst>
              <a:gd name="adj" fmla="val 50000"/>
            </a:avLst>
          </a:prstGeom>
          <a:solidFill>
            <a:srgbClr val="F0FCE8"/>
          </a:solidFill>
          <a:ln/>
        </p:spPr>
      </p:sp>
      <p:sp>
        <p:nvSpPr>
          <p:cNvPr id="21" name="Shape 17"/>
          <p:cNvSpPr/>
          <p:nvPr/>
        </p:nvSpPr>
        <p:spPr>
          <a:xfrm>
            <a:off x="685800" y="5303520"/>
            <a:ext cx="658368" cy="475488"/>
          </a:xfrm>
          <a:prstGeom prst="roundRect">
            <a:avLst>
              <a:gd name="adj" fmla="val 50000"/>
            </a:avLst>
          </a:prstGeom>
          <a:solidFill>
            <a:srgbClr val="36C4CC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1481328" y="530352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al publicar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685800" y="5852160"/>
            <a:ext cx="5577840" cy="475488"/>
          </a:xfrm>
          <a:prstGeom prst="roundRect">
            <a:avLst>
              <a:gd name="adj" fmla="val 50000"/>
            </a:avLst>
          </a:prstGeom>
          <a:solidFill>
            <a:srgbClr val="F0FCE8"/>
          </a:solidFill>
          <a:ln/>
        </p:spPr>
      </p:sp>
      <p:sp>
        <p:nvSpPr>
          <p:cNvPr id="24" name="Shape 20"/>
          <p:cNvSpPr/>
          <p:nvPr/>
        </p:nvSpPr>
        <p:spPr>
          <a:xfrm>
            <a:off x="685800" y="5852160"/>
            <a:ext cx="658368" cy="475488"/>
          </a:xfrm>
          <a:prstGeom prst="roundRect">
            <a:avLst>
              <a:gd name="adj" fmla="val 50000"/>
            </a:avLst>
          </a:prstGeom>
          <a:solidFill>
            <a:srgbClr val="36C4CC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1481328" y="585216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Buenas prácticas</a:t>
            </a:r>
            <a:endParaRPr lang="en-US" sz="1150" dirty="0"/>
          </a:p>
        </p:txBody>
      </p:sp>
      <p:sp>
        <p:nvSpPr>
          <p:cNvPr id="26" name="Text 22"/>
          <p:cNvSpPr txBox="1"/>
          <p:nvPr/>
        </p:nvSpPr>
        <p:spPr>
          <a:xfrm>
            <a:off x="11002975" y="618134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37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bands/band_C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1542364"/>
            <a:ext cx="7772400" cy="241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E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RUTAS</a:t>
            </a:r>
            <a:endParaRPr lang="en-US" sz="115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784109"/>
            <a:ext cx="10424160" cy="580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está el archivo que pides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2267598"/>
            <a:ext cx="1042416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src de una imagen funciona igual que el href de un enlace: es una dirección.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40080" y="2606040"/>
            <a:ext cx="5349240" cy="3424714"/>
          </a:xfrm>
          <a:prstGeom prst="roundRect">
            <a:avLst>
              <a:gd name="adj" fmla="val 2670"/>
            </a:avLst>
          </a:prstGeom>
          <a:solidFill>
            <a:srgbClr val="F7FDF4"/>
          </a:solidFill>
          <a:ln w="12700">
            <a:solidFill>
              <a:srgbClr val="DCEFD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60120" y="2767203"/>
            <a:ext cx="4754880" cy="28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del proyecto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1051560" y="3153994"/>
            <a:ext cx="429768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2EF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petly/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1435608" y="3436029"/>
            <a:ext cx="429768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index.html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1435608" y="3718065"/>
            <a:ext cx="429768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nosotros.html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1435608" y="4000100"/>
            <a:ext cx="429768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2EF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css/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819656" y="4282135"/>
            <a:ext cx="429768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estilos.css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1435608" y="4564170"/>
            <a:ext cx="429768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2EF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img/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819656" y="4846206"/>
            <a:ext cx="429768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logo.svg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1819656" y="5128241"/>
            <a:ext cx="429768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hero.webp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1819656" y="5410276"/>
            <a:ext cx="429768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2EF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mascotas/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2203704" y="5692311"/>
            <a:ext cx="429768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perro.webp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217920" y="2606040"/>
            <a:ext cx="5349240" cy="644652"/>
          </a:xfrm>
          <a:prstGeom prst="roundRect">
            <a:avLst>
              <a:gd name="adj" fmla="val 14184"/>
            </a:avLst>
          </a:prstGeom>
          <a:solidFill>
            <a:srgbClr val="F7FDF4"/>
          </a:solidFill>
          <a:ln w="12700">
            <a:solidFill>
              <a:srgbClr val="DCEFD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492240" y="2654389"/>
            <a:ext cx="4800600" cy="241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6C4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img/logo.svg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6492240" y="2896133"/>
            <a:ext cx="4800600" cy="3223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index.html: entra a la carpeta img.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217920" y="3315157"/>
            <a:ext cx="5349240" cy="644652"/>
          </a:xfrm>
          <a:prstGeom prst="roundRect">
            <a:avLst>
              <a:gd name="adj" fmla="val 14184"/>
            </a:avLst>
          </a:prstGeom>
          <a:solidFill>
            <a:srgbClr val="F7FDF4"/>
          </a:solidFill>
          <a:ln w="12700">
            <a:solidFill>
              <a:srgbClr val="DCEFD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492240" y="3363506"/>
            <a:ext cx="4800600" cy="241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2EF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img/mascotas/perro.webp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6492240" y="3605251"/>
            <a:ext cx="4800600" cy="3223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niveles hacia abajo.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217920" y="4024274"/>
            <a:ext cx="5349240" cy="644652"/>
          </a:xfrm>
          <a:prstGeom prst="roundRect">
            <a:avLst>
              <a:gd name="adj" fmla="val 14184"/>
            </a:avLst>
          </a:prstGeom>
          <a:solidFill>
            <a:srgbClr val="F7FDF4"/>
          </a:solidFill>
          <a:ln w="12700">
            <a:solidFill>
              <a:srgbClr val="DCEFD3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492240" y="4072623"/>
            <a:ext cx="4800600" cy="241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FB8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../index.html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6492240" y="4314368"/>
            <a:ext cx="4800600" cy="3223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Sube un nivel desde una subcarpeta.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6217920" y="4733392"/>
            <a:ext cx="5349240" cy="644652"/>
          </a:xfrm>
          <a:prstGeom prst="roundRect">
            <a:avLst>
              <a:gd name="adj" fmla="val 14184"/>
            </a:avLst>
          </a:prstGeom>
          <a:solidFill>
            <a:srgbClr val="F7FDF4"/>
          </a:solidFill>
          <a:ln w="12700">
            <a:solidFill>
              <a:srgbClr val="DCEFD3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492240" y="4781740"/>
            <a:ext cx="4800600" cy="241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187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/img/logo.svg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6492240" y="5023485"/>
            <a:ext cx="4800600" cy="3223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la raíz del sitio. Cuidado: no funciona al abrir el archivo localmente.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6217920" y="5442509"/>
            <a:ext cx="5349240" cy="644652"/>
          </a:xfrm>
          <a:prstGeom prst="roundRect">
            <a:avLst>
              <a:gd name="adj" fmla="val 14184"/>
            </a:avLst>
          </a:prstGeom>
          <a:solidFill>
            <a:srgbClr val="F7FDF4"/>
          </a:solidFill>
          <a:ln w="12700">
            <a:solidFill>
              <a:srgbClr val="DCEFD3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492240" y="5490858"/>
            <a:ext cx="4800600" cy="241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AD3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https://sitio.com/foto.jpg</a:t>
            </a:r>
            <a:endParaRPr lang="en-US" sz="1050" dirty="0"/>
          </a:p>
        </p:txBody>
      </p:sp>
      <p:sp>
        <p:nvSpPr>
          <p:cNvPr id="32" name="Text 29"/>
          <p:cNvSpPr txBox="1"/>
          <p:nvPr/>
        </p:nvSpPr>
        <p:spPr>
          <a:xfrm>
            <a:off x="6492240" y="5732602"/>
            <a:ext cx="4800600" cy="3223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Absoluta: recurso alojado en otro servidor.</a:t>
            </a:r>
            <a:endParaRPr lang="en-US" sz="1000" dirty="0"/>
          </a:p>
        </p:txBody>
      </p:sp>
      <p:sp>
        <p:nvSpPr>
          <p:cNvPr id="34" name="Text 30"/>
          <p:cNvSpPr txBox="1"/>
          <p:nvPr/>
        </p:nvSpPr>
        <p:spPr>
          <a:xfrm>
            <a:off x="11002975" y="6441719"/>
            <a:ext cx="914400" cy="225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37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bands/band_C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1542364"/>
            <a:ext cx="7772400" cy="241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E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RUTAS</a:t>
            </a:r>
            <a:endParaRPr lang="en-US" sz="115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784109"/>
            <a:ext cx="10424160" cy="580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cinco errores que rompen las imágenes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640080" y="2646331"/>
            <a:ext cx="10927080" cy="676885"/>
          </a:xfrm>
          <a:prstGeom prst="roundRect">
            <a:avLst>
              <a:gd name="adj" fmla="val 13509"/>
            </a:avLst>
          </a:prstGeom>
          <a:solidFill>
            <a:srgbClr val="FBF4F2"/>
          </a:solidFill>
          <a:ln w="12700">
            <a:solidFill>
              <a:srgbClr val="EBD9D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69264" y="2791377"/>
            <a:ext cx="438912" cy="386791"/>
          </a:xfrm>
          <a:prstGeom prst="ellipse">
            <a:avLst/>
          </a:prstGeom>
          <a:solidFill>
            <a:srgbClr val="B5462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69264" y="2791377"/>
            <a:ext cx="438912" cy="3867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627632" y="2646331"/>
            <a:ext cx="3200400" cy="676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54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Mayúsculas distintas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4937760" y="2646331"/>
            <a:ext cx="6400800" cy="676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Escribes Logo.png pero el archivo es logo.png. En tu computadora funciona; en el servidor no.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40080" y="3387681"/>
            <a:ext cx="10927080" cy="676885"/>
          </a:xfrm>
          <a:prstGeom prst="roundRect">
            <a:avLst>
              <a:gd name="adj" fmla="val 13509"/>
            </a:avLst>
          </a:prstGeom>
          <a:solidFill>
            <a:srgbClr val="FBF4F2"/>
          </a:solidFill>
          <a:ln w="12700">
            <a:solidFill>
              <a:srgbClr val="EBD9D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69264" y="3532727"/>
            <a:ext cx="438912" cy="386791"/>
          </a:xfrm>
          <a:prstGeom prst="ellipse">
            <a:avLst/>
          </a:prstGeom>
          <a:solidFill>
            <a:srgbClr val="B5462F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969264" y="3532727"/>
            <a:ext cx="438912" cy="3867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627632" y="3387681"/>
            <a:ext cx="3200400" cy="676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54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Espacios en el nombre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4937760" y="3387681"/>
            <a:ext cx="6400800" cy="676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foto.jpg da problemas. Usa mi-foto.jpg con guion.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40080" y="4129030"/>
            <a:ext cx="10927080" cy="676885"/>
          </a:xfrm>
          <a:prstGeom prst="roundRect">
            <a:avLst>
              <a:gd name="adj" fmla="val 13509"/>
            </a:avLst>
          </a:prstGeom>
          <a:solidFill>
            <a:srgbClr val="F7FDF4"/>
          </a:solidFill>
          <a:ln w="12700">
            <a:solidFill>
              <a:srgbClr val="DCEFD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969264" y="4274077"/>
            <a:ext cx="438912" cy="386791"/>
          </a:xfrm>
          <a:prstGeom prst="ellipse">
            <a:avLst/>
          </a:prstGeom>
          <a:solidFill>
            <a:srgbClr val="C1873B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969264" y="4274077"/>
            <a:ext cx="438912" cy="3867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1627632" y="4129030"/>
            <a:ext cx="3200400" cy="676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18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Tildes o eñes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4937760" y="4129030"/>
            <a:ext cx="6400800" cy="676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niño.png puede fallar al publicar. Escribe nino.png.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40080" y="4870380"/>
            <a:ext cx="10927080" cy="676885"/>
          </a:xfrm>
          <a:prstGeom prst="roundRect">
            <a:avLst>
              <a:gd name="adj" fmla="val 13509"/>
            </a:avLst>
          </a:prstGeom>
          <a:solidFill>
            <a:srgbClr val="FBF4F2"/>
          </a:solidFill>
          <a:ln w="12700">
            <a:solidFill>
              <a:srgbClr val="EBD9D3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969264" y="5015427"/>
            <a:ext cx="438912" cy="386791"/>
          </a:xfrm>
          <a:prstGeom prst="ellipse">
            <a:avLst/>
          </a:prstGeom>
          <a:solidFill>
            <a:srgbClr val="B5462F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969264" y="5015427"/>
            <a:ext cx="438912" cy="3867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1627632" y="4870380"/>
            <a:ext cx="3200400" cy="676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54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 absoluta del disco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4937760" y="4870380"/>
            <a:ext cx="6400800" cy="676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C:/Users/… solo existe en tu computadora. Nunca la uses.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640080" y="5611730"/>
            <a:ext cx="10927080" cy="676885"/>
          </a:xfrm>
          <a:prstGeom prst="roundRect">
            <a:avLst>
              <a:gd name="adj" fmla="val 13509"/>
            </a:avLst>
          </a:prstGeom>
          <a:solidFill>
            <a:srgbClr val="F7FDF4"/>
          </a:solidFill>
          <a:ln w="12700">
            <a:solidFill>
              <a:srgbClr val="DCEFD3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969264" y="5756777"/>
            <a:ext cx="438912" cy="386791"/>
          </a:xfrm>
          <a:prstGeom prst="ellipse">
            <a:avLst/>
          </a:prstGeom>
          <a:solidFill>
            <a:srgbClr val="C1873B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969264" y="5756777"/>
            <a:ext cx="438912" cy="3867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1627632" y="5611730"/>
            <a:ext cx="3200400" cy="676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18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Olvidar subir la carpeta img</a:t>
            </a:r>
            <a:endParaRPr lang="en-US" sz="1250" dirty="0"/>
          </a:p>
        </p:txBody>
      </p:sp>
      <p:sp>
        <p:nvSpPr>
          <p:cNvPr id="29" name="Text 26"/>
          <p:cNvSpPr txBox="1"/>
          <p:nvPr/>
        </p:nvSpPr>
        <p:spPr>
          <a:xfrm>
            <a:off x="4937760" y="5611730"/>
            <a:ext cx="6400800" cy="676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HTML está bien, pero las imágenes no viajaron al servidor.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40080" y="6393371"/>
            <a:ext cx="10927080" cy="0"/>
          </a:xfrm>
          <a:prstGeom prst="roundRect">
            <a:avLst>
              <a:gd name="adj" fmla="val Infinity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40080" y="6272498"/>
            <a:ext cx="10927080" cy="28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E7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servidores distinguen mayúsculas de minúsculas; Windows no. Por eso todo funciona en tu equipo y se rompe al publicar.</a:t>
            </a:r>
            <a:endParaRPr lang="en-US" sz="1150" dirty="0"/>
          </a:p>
        </p:txBody>
      </p:sp>
      <p:sp>
        <p:nvSpPr>
          <p:cNvPr id="33" name="Text 29"/>
          <p:cNvSpPr txBox="1"/>
          <p:nvPr/>
        </p:nvSpPr>
        <p:spPr>
          <a:xfrm>
            <a:off x="11002975" y="6441719"/>
            <a:ext cx="914400" cy="225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37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bands/band_C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775704" y="1243584"/>
            <a:ext cx="5148072" cy="5248656"/>
          </a:xfrm>
          <a:prstGeom prst="roundRect">
            <a:avLst>
              <a:gd name="adj" fmla="val 3908"/>
            </a:avLst>
          </a:prstGeom>
          <a:solidFill>
            <a:srgbClr val="FFFFFF"/>
          </a:solidFill>
          <a:ln w="31750">
            <a:solidFill>
              <a:srgbClr val="36C4CC"/>
            </a:solidFill>
            <a:prstDash val="solid"/>
          </a:ln>
        </p:spPr>
      </p:sp>
      <p:pic>
        <p:nvPicPr>
          <p:cNvPr id="4" name="Image 1" descr="/home/claude/assets/foto_b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371600"/>
            <a:ext cx="4892040" cy="4992624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6519672" y="987552"/>
            <a:ext cx="804672" cy="804672"/>
          </a:xfrm>
          <a:prstGeom prst="roundRect">
            <a:avLst>
              <a:gd name="adj" fmla="val 51136"/>
            </a:avLst>
          </a:prstGeom>
          <a:solidFill>
            <a:srgbClr val="72EF29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-502920" y="1664208"/>
            <a:ext cx="5577840" cy="1024128"/>
          </a:xfrm>
          <a:prstGeom prst="roundRect">
            <a:avLst>
              <a:gd name="adj" fmla="val 50000"/>
            </a:avLst>
          </a:prstGeom>
          <a:solidFill>
            <a:srgbClr val="72EF29"/>
          </a:solidFill>
          <a:ln/>
        </p:spPr>
      </p:sp>
      <p:sp>
        <p:nvSpPr>
          <p:cNvPr id="7" name="Shape 3"/>
          <p:cNvSpPr/>
          <p:nvPr/>
        </p:nvSpPr>
        <p:spPr>
          <a:xfrm>
            <a:off x="-548640" y="1517904"/>
            <a:ext cx="5349240" cy="1024128"/>
          </a:xfrm>
          <a:prstGeom prst="roundRect">
            <a:avLst>
              <a:gd name="adj" fmla="val 50000"/>
            </a:avLst>
          </a:prstGeom>
          <a:solidFill>
            <a:srgbClr val="36C4CC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274320" y="1517904"/>
            <a:ext cx="42976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Optimización de imágenes</a:t>
            </a:r>
            <a:endParaRPr lang="en-US" sz="2200" dirty="0"/>
          </a:p>
        </p:txBody>
      </p:sp>
      <p:sp>
        <p:nvSpPr>
          <p:cNvPr id="9" name="Text 5"/>
          <p:cNvSpPr txBox="1"/>
          <p:nvPr/>
        </p:nvSpPr>
        <p:spPr>
          <a:xfrm>
            <a:off x="274320" y="2798064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50" kern="0" dirty="0">
                <a:solidFill>
                  <a:srgbClr val="1E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04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331012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E7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este bloque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85800" y="3657600"/>
            <a:ext cx="5577840" cy="475488"/>
          </a:xfrm>
          <a:prstGeom prst="roundRect">
            <a:avLst>
              <a:gd name="adj" fmla="val 50000"/>
            </a:avLst>
          </a:prstGeom>
          <a:solidFill>
            <a:srgbClr val="F0FCE8"/>
          </a:solidFill>
          <a:ln/>
        </p:spPr>
      </p:sp>
      <p:sp>
        <p:nvSpPr>
          <p:cNvPr id="12" name="Shape 8"/>
          <p:cNvSpPr/>
          <p:nvPr/>
        </p:nvSpPr>
        <p:spPr>
          <a:xfrm>
            <a:off x="685800" y="3657600"/>
            <a:ext cx="658368" cy="475488"/>
          </a:xfrm>
          <a:prstGeom prst="roundRect">
            <a:avLst>
              <a:gd name="adj" fmla="val 50000"/>
            </a:avLst>
          </a:prstGeom>
          <a:solidFill>
            <a:srgbClr val="36C4CC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1481328" y="365760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importa el peso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85800" y="4206240"/>
            <a:ext cx="5577840" cy="475488"/>
          </a:xfrm>
          <a:prstGeom prst="roundRect">
            <a:avLst>
              <a:gd name="adj" fmla="val 50000"/>
            </a:avLst>
          </a:prstGeom>
          <a:solidFill>
            <a:srgbClr val="F0FCE8"/>
          </a:solidFill>
          <a:ln/>
        </p:spPr>
      </p:sp>
      <p:sp>
        <p:nvSpPr>
          <p:cNvPr id="15" name="Shape 11"/>
          <p:cNvSpPr/>
          <p:nvPr/>
        </p:nvSpPr>
        <p:spPr>
          <a:xfrm>
            <a:off x="685800" y="4206240"/>
            <a:ext cx="658368" cy="475488"/>
          </a:xfrm>
          <a:prstGeom prst="roundRect">
            <a:avLst>
              <a:gd name="adj" fmla="val 50000"/>
            </a:avLst>
          </a:prstGeom>
          <a:solidFill>
            <a:srgbClr val="36C4CC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1481328" y="420624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Redimensionar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85800" y="4754880"/>
            <a:ext cx="5577840" cy="475488"/>
          </a:xfrm>
          <a:prstGeom prst="roundRect">
            <a:avLst>
              <a:gd name="adj" fmla="val 50000"/>
            </a:avLst>
          </a:prstGeom>
          <a:solidFill>
            <a:srgbClr val="F0FCE8"/>
          </a:solidFill>
          <a:ln/>
        </p:spPr>
      </p:sp>
      <p:sp>
        <p:nvSpPr>
          <p:cNvPr id="18" name="Shape 14"/>
          <p:cNvSpPr/>
          <p:nvPr/>
        </p:nvSpPr>
        <p:spPr>
          <a:xfrm>
            <a:off x="685800" y="4754880"/>
            <a:ext cx="658368" cy="475488"/>
          </a:xfrm>
          <a:prstGeom prst="roundRect">
            <a:avLst>
              <a:gd name="adj" fmla="val 50000"/>
            </a:avLst>
          </a:prstGeom>
          <a:solidFill>
            <a:srgbClr val="36C4CC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1481328" y="475488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Comprimir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685800" y="5303520"/>
            <a:ext cx="5577840" cy="475488"/>
          </a:xfrm>
          <a:prstGeom prst="roundRect">
            <a:avLst>
              <a:gd name="adj" fmla="val 50000"/>
            </a:avLst>
          </a:prstGeom>
          <a:solidFill>
            <a:srgbClr val="F0FCE8"/>
          </a:solidFill>
          <a:ln/>
        </p:spPr>
      </p:sp>
      <p:sp>
        <p:nvSpPr>
          <p:cNvPr id="21" name="Shape 17"/>
          <p:cNvSpPr/>
          <p:nvPr/>
        </p:nvSpPr>
        <p:spPr>
          <a:xfrm>
            <a:off x="685800" y="5303520"/>
            <a:ext cx="658368" cy="475488"/>
          </a:xfrm>
          <a:prstGeom prst="roundRect">
            <a:avLst>
              <a:gd name="adj" fmla="val 50000"/>
            </a:avLst>
          </a:prstGeom>
          <a:solidFill>
            <a:srgbClr val="36C4CC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1481328" y="530352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Convertir de formato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685800" y="5852160"/>
            <a:ext cx="5577840" cy="475488"/>
          </a:xfrm>
          <a:prstGeom prst="roundRect">
            <a:avLst>
              <a:gd name="adj" fmla="val 50000"/>
            </a:avLst>
          </a:prstGeom>
          <a:solidFill>
            <a:srgbClr val="F0FCE8"/>
          </a:solidFill>
          <a:ln/>
        </p:spPr>
      </p:sp>
      <p:sp>
        <p:nvSpPr>
          <p:cNvPr id="24" name="Shape 20"/>
          <p:cNvSpPr/>
          <p:nvPr/>
        </p:nvSpPr>
        <p:spPr>
          <a:xfrm>
            <a:off x="685800" y="5852160"/>
            <a:ext cx="658368" cy="475488"/>
          </a:xfrm>
          <a:prstGeom prst="roundRect">
            <a:avLst>
              <a:gd name="adj" fmla="val 50000"/>
            </a:avLst>
          </a:prstGeom>
          <a:solidFill>
            <a:srgbClr val="36C4CC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1481328" y="585216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gratuitas</a:t>
            </a:r>
            <a:endParaRPr lang="en-US" sz="1150" dirty="0"/>
          </a:p>
        </p:txBody>
      </p:sp>
      <p:sp>
        <p:nvSpPr>
          <p:cNvPr id="26" name="Text 22"/>
          <p:cNvSpPr txBox="1"/>
          <p:nvPr/>
        </p:nvSpPr>
        <p:spPr>
          <a:xfrm>
            <a:off x="11002975" y="618134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37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bands/band_C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1542364"/>
            <a:ext cx="7772400" cy="241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E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OPTIMIZACIÓN</a:t>
            </a:r>
            <a:endParaRPr lang="en-US" sz="115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784109"/>
            <a:ext cx="10424160" cy="580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tres pasos, siempre en este orden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640080" y="2646331"/>
            <a:ext cx="3520440" cy="2417445"/>
          </a:xfrm>
          <a:prstGeom prst="roundRect">
            <a:avLst>
              <a:gd name="adj" fmla="val 3783"/>
            </a:avLst>
          </a:prstGeom>
          <a:solidFill>
            <a:srgbClr val="F7FDF4"/>
          </a:solidFill>
          <a:ln w="12700">
            <a:solidFill>
              <a:srgbClr val="DCEFD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034540" y="2847785"/>
            <a:ext cx="731520" cy="644652"/>
          </a:xfrm>
          <a:prstGeom prst="ellipse">
            <a:avLst/>
          </a:prstGeom>
          <a:solidFill>
            <a:srgbClr val="36C4CC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2034540" y="2847785"/>
            <a:ext cx="731520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613309"/>
            <a:ext cx="3063240" cy="3384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36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Redimensionar</a:t>
            </a:r>
            <a:endParaRPr lang="en-US" sz="1550" dirty="0"/>
          </a:p>
        </p:txBody>
      </p:sp>
      <p:sp>
        <p:nvSpPr>
          <p:cNvPr id="9" name="Text 6"/>
          <p:cNvSpPr txBox="1"/>
          <p:nvPr/>
        </p:nvSpPr>
        <p:spPr>
          <a:xfrm>
            <a:off x="896112" y="4000100"/>
            <a:ext cx="3008376" cy="7655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 los píxeles reales al tamaño en que se verá. Una foto de 4000 px mostrada a 400 px desperdicia el 99 % de los datos.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1097280" y="4660868"/>
            <a:ext cx="2606040" cy="290093"/>
          </a:xfrm>
          <a:prstGeom prst="roundRect">
            <a:avLst>
              <a:gd name="adj" fmla="val 56738"/>
            </a:avLst>
          </a:prstGeom>
          <a:solidFill>
            <a:srgbClr val="F0FCE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097280" y="4660868"/>
            <a:ext cx="2606040" cy="290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6C4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4000 → 800 px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343400" y="2646331"/>
            <a:ext cx="3520440" cy="2417445"/>
          </a:xfrm>
          <a:prstGeom prst="roundRect">
            <a:avLst>
              <a:gd name="adj" fmla="val 3783"/>
            </a:avLst>
          </a:prstGeom>
          <a:solidFill>
            <a:srgbClr val="F7FDF4"/>
          </a:solidFill>
          <a:ln w="12700">
            <a:solidFill>
              <a:srgbClr val="DCEFD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737860" y="2847785"/>
            <a:ext cx="731520" cy="644652"/>
          </a:xfrm>
          <a:prstGeom prst="ellipse">
            <a:avLst/>
          </a:prstGeom>
          <a:solidFill>
            <a:srgbClr val="72EF29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737860" y="2847785"/>
            <a:ext cx="731520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9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0" y="3613309"/>
            <a:ext cx="3063240" cy="3384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72E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Comprimir</a:t>
            </a:r>
            <a:endParaRPr lang="en-US" sz="1550" dirty="0"/>
          </a:p>
        </p:txBody>
      </p:sp>
      <p:sp>
        <p:nvSpPr>
          <p:cNvPr id="16" name="Text 13"/>
          <p:cNvSpPr txBox="1"/>
          <p:nvPr/>
        </p:nvSpPr>
        <p:spPr>
          <a:xfrm>
            <a:off x="4599432" y="4000100"/>
            <a:ext cx="3008376" cy="7655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la información redundante. Entre el 70 % y el 80 % de calidad la diferencia no se percibe.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800600" y="4660868"/>
            <a:ext cx="2606040" cy="290093"/>
          </a:xfrm>
          <a:prstGeom prst="roundRect">
            <a:avLst>
              <a:gd name="adj" fmla="val 56738"/>
            </a:avLst>
          </a:prstGeom>
          <a:solidFill>
            <a:srgbClr val="F0FCE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800600" y="4660868"/>
            <a:ext cx="2606040" cy="290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2EF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calidad 75 %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8046720" y="2646331"/>
            <a:ext cx="3520440" cy="2417445"/>
          </a:xfrm>
          <a:prstGeom prst="roundRect">
            <a:avLst>
              <a:gd name="adj" fmla="val 3783"/>
            </a:avLst>
          </a:prstGeom>
          <a:solidFill>
            <a:srgbClr val="F7FDF4"/>
          </a:solidFill>
          <a:ln w="12700">
            <a:solidFill>
              <a:srgbClr val="DCEFD3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441180" y="2847785"/>
            <a:ext cx="731520" cy="644652"/>
          </a:xfrm>
          <a:prstGeom prst="ellipse">
            <a:avLst/>
          </a:prstGeom>
          <a:solidFill>
            <a:srgbClr val="4FB817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9441180" y="2847785"/>
            <a:ext cx="731520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900" dirty="0"/>
          </a:p>
        </p:txBody>
      </p:sp>
      <p:sp>
        <p:nvSpPr>
          <p:cNvPr id="22" name="Text 19"/>
          <p:cNvSpPr txBox="1"/>
          <p:nvPr/>
        </p:nvSpPr>
        <p:spPr>
          <a:xfrm>
            <a:off x="8275320" y="3613309"/>
            <a:ext cx="3063240" cy="3384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4FB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Convertir</a:t>
            </a:r>
            <a:endParaRPr lang="en-US" sz="1550" dirty="0"/>
          </a:p>
        </p:txBody>
      </p:sp>
      <p:sp>
        <p:nvSpPr>
          <p:cNvPr id="23" name="Text 20"/>
          <p:cNvSpPr txBox="1"/>
          <p:nvPr/>
        </p:nvSpPr>
        <p:spPr>
          <a:xfrm>
            <a:off x="8302752" y="4000100"/>
            <a:ext cx="3008376" cy="7655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 a WebP: mismo resultado visual con bastante menos peso.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8503920" y="4660868"/>
            <a:ext cx="2606040" cy="290093"/>
          </a:xfrm>
          <a:prstGeom prst="roundRect">
            <a:avLst>
              <a:gd name="adj" fmla="val 56738"/>
            </a:avLst>
          </a:prstGeom>
          <a:solidFill>
            <a:srgbClr val="F0FCE8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8503920" y="4660868"/>
            <a:ext cx="2606040" cy="290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B8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JPG → WebP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640080" y="5265230"/>
            <a:ext cx="10927080" cy="765524"/>
          </a:xfrm>
          <a:prstGeom prst="roundRect">
            <a:avLst>
              <a:gd name="adj" fmla="val 11945"/>
            </a:avLst>
          </a:prstGeom>
          <a:solidFill>
            <a:srgbClr val="F0FCE8"/>
          </a:solidFill>
          <a:ln w="12700">
            <a:solidFill>
              <a:srgbClr val="CFF2B8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60120" y="5265230"/>
            <a:ext cx="10287000" cy="765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foto de cámara de 5 MB puede quedar en 120 KB siguiendo estos tres pasos, sin que el usuario note diferencia alguna en pantalla.</a:t>
            </a:r>
            <a:endParaRPr lang="en-US" sz="1250" dirty="0"/>
          </a:p>
        </p:txBody>
      </p:sp>
      <p:sp>
        <p:nvSpPr>
          <p:cNvPr id="29" name="Text 25"/>
          <p:cNvSpPr txBox="1"/>
          <p:nvPr/>
        </p:nvSpPr>
        <p:spPr>
          <a:xfrm>
            <a:off x="11002975" y="6441719"/>
            <a:ext cx="914400" cy="225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37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bands/band_C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1542364"/>
            <a:ext cx="7772400" cy="241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E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OPTIMIZACIÓN</a:t>
            </a:r>
            <a:endParaRPr lang="en-US" sz="115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784109"/>
            <a:ext cx="10424160" cy="580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tamaño necesita cada imagen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2267598"/>
            <a:ext cx="1042416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base: el ancho del archivo debe ser aproximadamente el ancho en que se mostrará.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40080" y="2726912"/>
            <a:ext cx="10927080" cy="765524"/>
          </a:xfrm>
          <a:prstGeom prst="roundRect">
            <a:avLst>
              <a:gd name="adj" fmla="val 11945"/>
            </a:avLst>
          </a:prstGeom>
          <a:solidFill>
            <a:srgbClr val="F7FDF4"/>
          </a:solidFill>
          <a:ln w="12700">
            <a:solidFill>
              <a:srgbClr val="DCEFD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60120" y="2726912"/>
            <a:ext cx="2377440" cy="765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Icono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429000" y="2944482"/>
            <a:ext cx="1920240" cy="338442"/>
          </a:xfrm>
          <a:prstGeom prst="roundRect">
            <a:avLst>
              <a:gd name="adj" fmla="val 56738"/>
            </a:avLst>
          </a:prstGeom>
          <a:solidFill>
            <a:srgbClr val="36C4CC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3429000" y="2944482"/>
            <a:ext cx="1920240" cy="3384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48 – 96 px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5623560" y="2726912"/>
            <a:ext cx="1371600" cy="765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242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SVG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7132320" y="2726912"/>
            <a:ext cx="4206240" cy="765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Iconos de categorías en Petly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40080" y="3556902"/>
            <a:ext cx="10927080" cy="765524"/>
          </a:xfrm>
          <a:prstGeom prst="roundRect">
            <a:avLst>
              <a:gd name="adj" fmla="val 11945"/>
            </a:avLst>
          </a:prstGeom>
          <a:solidFill>
            <a:srgbClr val="F7FDF4"/>
          </a:solidFill>
          <a:ln w="12700">
            <a:solidFill>
              <a:srgbClr val="DCEFD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60120" y="3556902"/>
            <a:ext cx="2377440" cy="765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2E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Miniatura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3429000" y="3774472"/>
            <a:ext cx="1920240" cy="338442"/>
          </a:xfrm>
          <a:prstGeom prst="roundRect">
            <a:avLst>
              <a:gd name="adj" fmla="val 56738"/>
            </a:avLst>
          </a:prstGeom>
          <a:solidFill>
            <a:srgbClr val="72EF29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3429000" y="3774472"/>
            <a:ext cx="1920240" cy="3384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300 – 400 px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5623560" y="3556902"/>
            <a:ext cx="1371600" cy="765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242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WebP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7132320" y="3556902"/>
            <a:ext cx="4206240" cy="765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Tarjetas y listados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40080" y="4386891"/>
            <a:ext cx="10927080" cy="765524"/>
          </a:xfrm>
          <a:prstGeom prst="roundRect">
            <a:avLst>
              <a:gd name="adj" fmla="val 11945"/>
            </a:avLst>
          </a:prstGeom>
          <a:solidFill>
            <a:srgbClr val="F7FDF4"/>
          </a:solidFill>
          <a:ln w="12700">
            <a:solidFill>
              <a:srgbClr val="DCEFD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60120" y="4386891"/>
            <a:ext cx="2377440" cy="765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B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 de bloque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3429000" y="4604461"/>
            <a:ext cx="1920240" cy="338442"/>
          </a:xfrm>
          <a:prstGeom prst="roundRect">
            <a:avLst>
              <a:gd name="adj" fmla="val 56738"/>
            </a:avLst>
          </a:prstGeom>
          <a:solidFill>
            <a:srgbClr val="4FB817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3429000" y="4604461"/>
            <a:ext cx="1920240" cy="3384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800 – 1000 px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5623560" y="4386891"/>
            <a:ext cx="1371600" cy="765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242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WebP</a:t>
            </a:r>
            <a:endParaRPr lang="en-US" sz="1150" dirty="0"/>
          </a:p>
        </p:txBody>
      </p:sp>
      <p:sp>
        <p:nvSpPr>
          <p:cNvPr id="23" name="Text 20"/>
          <p:cNvSpPr txBox="1"/>
          <p:nvPr/>
        </p:nvSpPr>
        <p:spPr>
          <a:xfrm>
            <a:off x="7132320" y="4386891"/>
            <a:ext cx="4206240" cy="765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Fotos dentro del contenido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40080" y="5216881"/>
            <a:ext cx="10927080" cy="765524"/>
          </a:xfrm>
          <a:prstGeom prst="roundRect">
            <a:avLst>
              <a:gd name="adj" fmla="val 11945"/>
            </a:avLst>
          </a:prstGeom>
          <a:solidFill>
            <a:srgbClr val="F7FDF4"/>
          </a:solidFill>
          <a:ln w="12700">
            <a:solidFill>
              <a:srgbClr val="DCEFD3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960120" y="5216881"/>
            <a:ext cx="2377440" cy="765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D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Banner principal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3429000" y="5434451"/>
            <a:ext cx="1920240" cy="338442"/>
          </a:xfrm>
          <a:prstGeom prst="roundRect">
            <a:avLst>
              <a:gd name="adj" fmla="val 56738"/>
            </a:avLst>
          </a:prstGeom>
          <a:solidFill>
            <a:srgbClr val="5AD3DA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3429000" y="5434451"/>
            <a:ext cx="1920240" cy="3384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1600 – 1920 px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5623560" y="5216881"/>
            <a:ext cx="1371600" cy="765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242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WebP</a:t>
            </a:r>
            <a:endParaRPr lang="en-US" sz="1150" dirty="0"/>
          </a:p>
        </p:txBody>
      </p:sp>
      <p:sp>
        <p:nvSpPr>
          <p:cNvPr id="29" name="Text 26"/>
          <p:cNvSpPr txBox="1"/>
          <p:nvPr/>
        </p:nvSpPr>
        <p:spPr>
          <a:xfrm>
            <a:off x="7132320" y="5216881"/>
            <a:ext cx="4206240" cy="765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imagen grande de portada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640080" y="5950172"/>
            <a:ext cx="10927080" cy="402908"/>
          </a:xfrm>
          <a:prstGeom prst="roundRect">
            <a:avLst>
              <a:gd name="adj" fmla="val 22695"/>
            </a:avLst>
          </a:prstGeom>
          <a:solidFill>
            <a:srgbClr val="EAFAFB"/>
          </a:solidFill>
          <a:ln w="12700">
            <a:solidFill>
              <a:srgbClr val="BCE9EC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960120" y="5950172"/>
            <a:ext cx="10287000" cy="402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tu pantalla es de alta densidad, exporta al doble y muéstrala a la mitad. Eso se afina en la sesión 12.</a:t>
            </a:r>
            <a:endParaRPr lang="en-US" sz="1100" dirty="0"/>
          </a:p>
        </p:txBody>
      </p:sp>
      <p:sp>
        <p:nvSpPr>
          <p:cNvPr id="33" name="Text 29"/>
          <p:cNvSpPr txBox="1"/>
          <p:nvPr/>
        </p:nvSpPr>
        <p:spPr>
          <a:xfrm>
            <a:off x="11002975" y="6441719"/>
            <a:ext cx="914400" cy="225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37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bands/band_C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56032" y="6053328"/>
            <a:ext cx="50292" cy="50292"/>
          </a:xfrm>
          <a:prstGeom prst="ellipse">
            <a:avLst/>
          </a:prstGeom>
          <a:solidFill>
            <a:srgbClr val="36C4CC"/>
          </a:solidFill>
          <a:ln/>
        </p:spPr>
      </p:sp>
      <p:sp>
        <p:nvSpPr>
          <p:cNvPr id="4" name="Shape 1"/>
          <p:cNvSpPr/>
          <p:nvPr/>
        </p:nvSpPr>
        <p:spPr>
          <a:xfrm>
            <a:off x="470916" y="6053328"/>
            <a:ext cx="50292" cy="50292"/>
          </a:xfrm>
          <a:prstGeom prst="ellipse">
            <a:avLst/>
          </a:prstGeom>
          <a:solidFill>
            <a:srgbClr val="36C4CC"/>
          </a:solidFill>
          <a:ln/>
        </p:spPr>
      </p:sp>
      <p:sp>
        <p:nvSpPr>
          <p:cNvPr id="5" name="Shape 2"/>
          <p:cNvSpPr/>
          <p:nvPr/>
        </p:nvSpPr>
        <p:spPr>
          <a:xfrm>
            <a:off x="685800" y="6053328"/>
            <a:ext cx="50292" cy="50292"/>
          </a:xfrm>
          <a:prstGeom prst="ellipse">
            <a:avLst/>
          </a:prstGeom>
          <a:solidFill>
            <a:srgbClr val="36C4CC"/>
          </a:solidFill>
          <a:ln/>
        </p:spPr>
      </p:sp>
      <p:sp>
        <p:nvSpPr>
          <p:cNvPr id="6" name="Shape 3"/>
          <p:cNvSpPr/>
          <p:nvPr/>
        </p:nvSpPr>
        <p:spPr>
          <a:xfrm>
            <a:off x="900684" y="6053328"/>
            <a:ext cx="50292" cy="50292"/>
          </a:xfrm>
          <a:prstGeom prst="ellipse">
            <a:avLst/>
          </a:prstGeom>
          <a:solidFill>
            <a:srgbClr val="36C4CC"/>
          </a:solidFill>
          <a:ln/>
        </p:spPr>
      </p:sp>
      <p:sp>
        <p:nvSpPr>
          <p:cNvPr id="7" name="Shape 4"/>
          <p:cNvSpPr/>
          <p:nvPr/>
        </p:nvSpPr>
        <p:spPr>
          <a:xfrm>
            <a:off x="1115568" y="6053328"/>
            <a:ext cx="50292" cy="50292"/>
          </a:xfrm>
          <a:prstGeom prst="ellipse">
            <a:avLst/>
          </a:prstGeom>
          <a:solidFill>
            <a:srgbClr val="36C4CC"/>
          </a:solidFill>
          <a:ln/>
        </p:spPr>
      </p:sp>
      <p:sp>
        <p:nvSpPr>
          <p:cNvPr id="8" name="Shape 5"/>
          <p:cNvSpPr/>
          <p:nvPr/>
        </p:nvSpPr>
        <p:spPr>
          <a:xfrm>
            <a:off x="1330452" y="6053328"/>
            <a:ext cx="50292" cy="50292"/>
          </a:xfrm>
          <a:prstGeom prst="ellipse">
            <a:avLst/>
          </a:prstGeom>
          <a:solidFill>
            <a:srgbClr val="36C4CC"/>
          </a:solidFill>
          <a:ln/>
        </p:spPr>
      </p:sp>
      <p:sp>
        <p:nvSpPr>
          <p:cNvPr id="9" name="Shape 6"/>
          <p:cNvSpPr/>
          <p:nvPr/>
        </p:nvSpPr>
        <p:spPr>
          <a:xfrm>
            <a:off x="1545336" y="6053328"/>
            <a:ext cx="50292" cy="50292"/>
          </a:xfrm>
          <a:prstGeom prst="ellipse">
            <a:avLst/>
          </a:prstGeom>
          <a:solidFill>
            <a:srgbClr val="36C4CC"/>
          </a:solidFill>
          <a:ln/>
        </p:spPr>
      </p:sp>
      <p:sp>
        <p:nvSpPr>
          <p:cNvPr id="10" name="Shape 7"/>
          <p:cNvSpPr/>
          <p:nvPr/>
        </p:nvSpPr>
        <p:spPr>
          <a:xfrm>
            <a:off x="1760220" y="6053328"/>
            <a:ext cx="50292" cy="50292"/>
          </a:xfrm>
          <a:prstGeom prst="ellipse">
            <a:avLst/>
          </a:prstGeom>
          <a:solidFill>
            <a:srgbClr val="36C4CC"/>
          </a:solidFill>
          <a:ln/>
        </p:spPr>
      </p:sp>
      <p:sp>
        <p:nvSpPr>
          <p:cNvPr id="11" name="Shape 8"/>
          <p:cNvSpPr/>
          <p:nvPr/>
        </p:nvSpPr>
        <p:spPr>
          <a:xfrm>
            <a:off x="256032" y="6217920"/>
            <a:ext cx="50292" cy="50292"/>
          </a:xfrm>
          <a:prstGeom prst="ellipse">
            <a:avLst/>
          </a:prstGeom>
          <a:solidFill>
            <a:srgbClr val="36C4CC"/>
          </a:solidFill>
          <a:ln/>
        </p:spPr>
      </p:sp>
      <p:sp>
        <p:nvSpPr>
          <p:cNvPr id="12" name="Shape 9"/>
          <p:cNvSpPr/>
          <p:nvPr/>
        </p:nvSpPr>
        <p:spPr>
          <a:xfrm>
            <a:off x="470916" y="6217920"/>
            <a:ext cx="50292" cy="50292"/>
          </a:xfrm>
          <a:prstGeom prst="ellipse">
            <a:avLst/>
          </a:prstGeom>
          <a:solidFill>
            <a:srgbClr val="36C4CC"/>
          </a:solidFill>
          <a:ln/>
        </p:spPr>
      </p:sp>
      <p:sp>
        <p:nvSpPr>
          <p:cNvPr id="13" name="Shape 10"/>
          <p:cNvSpPr/>
          <p:nvPr/>
        </p:nvSpPr>
        <p:spPr>
          <a:xfrm>
            <a:off x="685800" y="6217920"/>
            <a:ext cx="50292" cy="50292"/>
          </a:xfrm>
          <a:prstGeom prst="ellipse">
            <a:avLst/>
          </a:prstGeom>
          <a:solidFill>
            <a:srgbClr val="36C4CC"/>
          </a:solidFill>
          <a:ln/>
        </p:spPr>
      </p:sp>
      <p:sp>
        <p:nvSpPr>
          <p:cNvPr id="14" name="Shape 11"/>
          <p:cNvSpPr/>
          <p:nvPr/>
        </p:nvSpPr>
        <p:spPr>
          <a:xfrm>
            <a:off x="900684" y="6217920"/>
            <a:ext cx="50292" cy="50292"/>
          </a:xfrm>
          <a:prstGeom prst="ellipse">
            <a:avLst/>
          </a:prstGeom>
          <a:solidFill>
            <a:srgbClr val="36C4CC"/>
          </a:solidFill>
          <a:ln/>
        </p:spPr>
      </p:sp>
      <p:sp>
        <p:nvSpPr>
          <p:cNvPr id="15" name="Shape 12"/>
          <p:cNvSpPr/>
          <p:nvPr/>
        </p:nvSpPr>
        <p:spPr>
          <a:xfrm>
            <a:off x="1115568" y="6217920"/>
            <a:ext cx="50292" cy="50292"/>
          </a:xfrm>
          <a:prstGeom prst="ellipse">
            <a:avLst/>
          </a:prstGeom>
          <a:solidFill>
            <a:srgbClr val="36C4CC"/>
          </a:solidFill>
          <a:ln/>
        </p:spPr>
      </p:sp>
      <p:sp>
        <p:nvSpPr>
          <p:cNvPr id="16" name="Shape 13"/>
          <p:cNvSpPr/>
          <p:nvPr/>
        </p:nvSpPr>
        <p:spPr>
          <a:xfrm>
            <a:off x="1330452" y="6217920"/>
            <a:ext cx="50292" cy="50292"/>
          </a:xfrm>
          <a:prstGeom prst="ellipse">
            <a:avLst/>
          </a:prstGeom>
          <a:solidFill>
            <a:srgbClr val="36C4CC"/>
          </a:solidFill>
          <a:ln/>
        </p:spPr>
      </p:sp>
      <p:sp>
        <p:nvSpPr>
          <p:cNvPr id="17" name="Shape 14"/>
          <p:cNvSpPr/>
          <p:nvPr/>
        </p:nvSpPr>
        <p:spPr>
          <a:xfrm>
            <a:off x="1545336" y="6217920"/>
            <a:ext cx="50292" cy="50292"/>
          </a:xfrm>
          <a:prstGeom prst="ellipse">
            <a:avLst/>
          </a:prstGeom>
          <a:solidFill>
            <a:srgbClr val="36C4CC"/>
          </a:solidFill>
          <a:ln/>
        </p:spPr>
      </p:sp>
      <p:sp>
        <p:nvSpPr>
          <p:cNvPr id="18" name="Shape 15"/>
          <p:cNvSpPr/>
          <p:nvPr/>
        </p:nvSpPr>
        <p:spPr>
          <a:xfrm>
            <a:off x="1760220" y="6217920"/>
            <a:ext cx="50292" cy="50292"/>
          </a:xfrm>
          <a:prstGeom prst="ellipse">
            <a:avLst/>
          </a:prstGeom>
          <a:solidFill>
            <a:srgbClr val="36C4CC"/>
          </a:solidFill>
          <a:ln/>
        </p:spPr>
      </p:sp>
      <p:sp>
        <p:nvSpPr>
          <p:cNvPr id="19" name="Shape 16"/>
          <p:cNvSpPr/>
          <p:nvPr/>
        </p:nvSpPr>
        <p:spPr>
          <a:xfrm>
            <a:off x="256032" y="6382512"/>
            <a:ext cx="50292" cy="50292"/>
          </a:xfrm>
          <a:prstGeom prst="ellipse">
            <a:avLst/>
          </a:prstGeom>
          <a:solidFill>
            <a:srgbClr val="36C4CC"/>
          </a:solidFill>
          <a:ln/>
        </p:spPr>
      </p:sp>
      <p:sp>
        <p:nvSpPr>
          <p:cNvPr id="20" name="Shape 17"/>
          <p:cNvSpPr/>
          <p:nvPr/>
        </p:nvSpPr>
        <p:spPr>
          <a:xfrm>
            <a:off x="470916" y="6382512"/>
            <a:ext cx="50292" cy="50292"/>
          </a:xfrm>
          <a:prstGeom prst="ellipse">
            <a:avLst/>
          </a:prstGeom>
          <a:solidFill>
            <a:srgbClr val="36C4CC"/>
          </a:solidFill>
          <a:ln/>
        </p:spPr>
      </p:sp>
      <p:sp>
        <p:nvSpPr>
          <p:cNvPr id="21" name="Shape 18"/>
          <p:cNvSpPr/>
          <p:nvPr/>
        </p:nvSpPr>
        <p:spPr>
          <a:xfrm>
            <a:off x="685800" y="6382512"/>
            <a:ext cx="50292" cy="50292"/>
          </a:xfrm>
          <a:prstGeom prst="ellipse">
            <a:avLst/>
          </a:prstGeom>
          <a:solidFill>
            <a:srgbClr val="36C4CC"/>
          </a:solidFill>
          <a:ln/>
        </p:spPr>
      </p:sp>
      <p:sp>
        <p:nvSpPr>
          <p:cNvPr id="22" name="Shape 19"/>
          <p:cNvSpPr/>
          <p:nvPr/>
        </p:nvSpPr>
        <p:spPr>
          <a:xfrm>
            <a:off x="900684" y="6382512"/>
            <a:ext cx="50292" cy="50292"/>
          </a:xfrm>
          <a:prstGeom prst="ellipse">
            <a:avLst/>
          </a:prstGeom>
          <a:solidFill>
            <a:srgbClr val="36C4CC"/>
          </a:solidFill>
          <a:ln/>
        </p:spPr>
      </p:sp>
      <p:sp>
        <p:nvSpPr>
          <p:cNvPr id="23" name="Shape 20"/>
          <p:cNvSpPr/>
          <p:nvPr/>
        </p:nvSpPr>
        <p:spPr>
          <a:xfrm>
            <a:off x="1115568" y="6382512"/>
            <a:ext cx="50292" cy="50292"/>
          </a:xfrm>
          <a:prstGeom prst="ellipse">
            <a:avLst/>
          </a:prstGeom>
          <a:solidFill>
            <a:srgbClr val="36C4CC"/>
          </a:solidFill>
          <a:ln/>
        </p:spPr>
      </p:sp>
      <p:sp>
        <p:nvSpPr>
          <p:cNvPr id="24" name="Shape 21"/>
          <p:cNvSpPr/>
          <p:nvPr/>
        </p:nvSpPr>
        <p:spPr>
          <a:xfrm>
            <a:off x="1330452" y="6382512"/>
            <a:ext cx="50292" cy="50292"/>
          </a:xfrm>
          <a:prstGeom prst="ellipse">
            <a:avLst/>
          </a:prstGeom>
          <a:solidFill>
            <a:srgbClr val="36C4CC"/>
          </a:solidFill>
          <a:ln/>
        </p:spPr>
      </p:sp>
      <p:sp>
        <p:nvSpPr>
          <p:cNvPr id="25" name="Shape 22"/>
          <p:cNvSpPr/>
          <p:nvPr/>
        </p:nvSpPr>
        <p:spPr>
          <a:xfrm>
            <a:off x="1545336" y="6382512"/>
            <a:ext cx="50292" cy="50292"/>
          </a:xfrm>
          <a:prstGeom prst="ellipse">
            <a:avLst/>
          </a:prstGeom>
          <a:solidFill>
            <a:srgbClr val="36C4CC"/>
          </a:solidFill>
          <a:ln/>
        </p:spPr>
      </p:sp>
      <p:sp>
        <p:nvSpPr>
          <p:cNvPr id="26" name="Shape 23"/>
          <p:cNvSpPr/>
          <p:nvPr/>
        </p:nvSpPr>
        <p:spPr>
          <a:xfrm>
            <a:off x="1760220" y="6382512"/>
            <a:ext cx="50292" cy="50292"/>
          </a:xfrm>
          <a:prstGeom prst="ellipse">
            <a:avLst/>
          </a:prstGeom>
          <a:solidFill>
            <a:srgbClr val="36C4CC"/>
          </a:solidFill>
          <a:ln/>
        </p:spPr>
      </p:sp>
      <p:sp>
        <p:nvSpPr>
          <p:cNvPr id="27" name="Shape 24"/>
          <p:cNvSpPr/>
          <p:nvPr/>
        </p:nvSpPr>
        <p:spPr>
          <a:xfrm>
            <a:off x="256032" y="6547104"/>
            <a:ext cx="50292" cy="50292"/>
          </a:xfrm>
          <a:prstGeom prst="ellipse">
            <a:avLst/>
          </a:prstGeom>
          <a:solidFill>
            <a:srgbClr val="36C4CC"/>
          </a:solidFill>
          <a:ln/>
        </p:spPr>
      </p:sp>
      <p:sp>
        <p:nvSpPr>
          <p:cNvPr id="28" name="Shape 25"/>
          <p:cNvSpPr/>
          <p:nvPr/>
        </p:nvSpPr>
        <p:spPr>
          <a:xfrm>
            <a:off x="470916" y="6547104"/>
            <a:ext cx="50292" cy="50292"/>
          </a:xfrm>
          <a:prstGeom prst="ellipse">
            <a:avLst/>
          </a:prstGeom>
          <a:solidFill>
            <a:srgbClr val="36C4CC"/>
          </a:solidFill>
          <a:ln/>
        </p:spPr>
      </p:sp>
      <p:sp>
        <p:nvSpPr>
          <p:cNvPr id="29" name="Shape 26"/>
          <p:cNvSpPr/>
          <p:nvPr/>
        </p:nvSpPr>
        <p:spPr>
          <a:xfrm>
            <a:off x="685800" y="6547104"/>
            <a:ext cx="50292" cy="50292"/>
          </a:xfrm>
          <a:prstGeom prst="ellipse">
            <a:avLst/>
          </a:prstGeom>
          <a:solidFill>
            <a:srgbClr val="36C4CC"/>
          </a:solidFill>
          <a:ln/>
        </p:spPr>
      </p:sp>
      <p:sp>
        <p:nvSpPr>
          <p:cNvPr id="30" name="Shape 27"/>
          <p:cNvSpPr/>
          <p:nvPr/>
        </p:nvSpPr>
        <p:spPr>
          <a:xfrm>
            <a:off x="900684" y="6547104"/>
            <a:ext cx="50292" cy="50292"/>
          </a:xfrm>
          <a:prstGeom prst="ellipse">
            <a:avLst/>
          </a:prstGeom>
          <a:solidFill>
            <a:srgbClr val="36C4CC"/>
          </a:solidFill>
          <a:ln/>
        </p:spPr>
      </p:sp>
      <p:sp>
        <p:nvSpPr>
          <p:cNvPr id="31" name="Shape 28"/>
          <p:cNvSpPr/>
          <p:nvPr/>
        </p:nvSpPr>
        <p:spPr>
          <a:xfrm>
            <a:off x="1115568" y="6547104"/>
            <a:ext cx="50292" cy="50292"/>
          </a:xfrm>
          <a:prstGeom prst="ellipse">
            <a:avLst/>
          </a:prstGeom>
          <a:solidFill>
            <a:srgbClr val="36C4CC"/>
          </a:solidFill>
          <a:ln/>
        </p:spPr>
      </p:sp>
      <p:sp>
        <p:nvSpPr>
          <p:cNvPr id="32" name="Shape 29"/>
          <p:cNvSpPr/>
          <p:nvPr/>
        </p:nvSpPr>
        <p:spPr>
          <a:xfrm>
            <a:off x="1330452" y="6547104"/>
            <a:ext cx="50292" cy="50292"/>
          </a:xfrm>
          <a:prstGeom prst="ellipse">
            <a:avLst/>
          </a:prstGeom>
          <a:solidFill>
            <a:srgbClr val="36C4CC"/>
          </a:solidFill>
          <a:ln/>
        </p:spPr>
      </p:sp>
      <p:sp>
        <p:nvSpPr>
          <p:cNvPr id="33" name="Shape 30"/>
          <p:cNvSpPr/>
          <p:nvPr/>
        </p:nvSpPr>
        <p:spPr>
          <a:xfrm>
            <a:off x="1545336" y="6547104"/>
            <a:ext cx="50292" cy="50292"/>
          </a:xfrm>
          <a:prstGeom prst="ellipse">
            <a:avLst/>
          </a:prstGeom>
          <a:solidFill>
            <a:srgbClr val="36C4CC"/>
          </a:solidFill>
          <a:ln/>
        </p:spPr>
      </p:sp>
      <p:sp>
        <p:nvSpPr>
          <p:cNvPr id="34" name="Shape 31"/>
          <p:cNvSpPr/>
          <p:nvPr/>
        </p:nvSpPr>
        <p:spPr>
          <a:xfrm>
            <a:off x="1760220" y="6547104"/>
            <a:ext cx="50292" cy="50292"/>
          </a:xfrm>
          <a:prstGeom prst="ellipse">
            <a:avLst/>
          </a:prstGeom>
          <a:solidFill>
            <a:srgbClr val="36C4CC"/>
          </a:solidFill>
          <a:ln/>
        </p:spPr>
      </p:sp>
      <p:sp>
        <p:nvSpPr>
          <p:cNvPr id="35" name="Shape 32"/>
          <p:cNvSpPr/>
          <p:nvPr/>
        </p:nvSpPr>
        <p:spPr>
          <a:xfrm>
            <a:off x="3127248" y="2788920"/>
            <a:ext cx="5943600" cy="960120"/>
          </a:xfrm>
          <a:prstGeom prst="roundRect">
            <a:avLst>
              <a:gd name="adj" fmla="val 49524"/>
            </a:avLst>
          </a:prstGeom>
          <a:solidFill>
            <a:srgbClr val="72EF29"/>
          </a:solidFill>
          <a:ln/>
        </p:spPr>
      </p:sp>
      <p:sp>
        <p:nvSpPr>
          <p:cNvPr id="36" name="Shape 33"/>
          <p:cNvSpPr/>
          <p:nvPr/>
        </p:nvSpPr>
        <p:spPr>
          <a:xfrm>
            <a:off x="3127248" y="2651760"/>
            <a:ext cx="5943600" cy="960120"/>
          </a:xfrm>
          <a:prstGeom prst="roundRect">
            <a:avLst>
              <a:gd name="adj" fmla="val 49524"/>
            </a:avLst>
          </a:prstGeom>
          <a:solidFill>
            <a:srgbClr val="36C4CC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3127248" y="2651760"/>
            <a:ext cx="5943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DESCANSO · 15 MINUTOS</a:t>
            </a:r>
            <a:endParaRPr lang="en-US" sz="2200" dirty="0"/>
          </a:p>
        </p:txBody>
      </p:sp>
      <p:pic>
        <p:nvPicPr>
          <p:cNvPr id="38" name="Image 1" descr="/home/claude/assets/loading.gif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0408" y="3977640"/>
            <a:ext cx="1097280" cy="1097280"/>
          </a:xfrm>
          <a:prstGeom prst="rect">
            <a:avLst/>
          </a:prstGeom>
        </p:spPr>
      </p:pic>
      <p:sp>
        <p:nvSpPr>
          <p:cNvPr id="39" name="Text 35"/>
          <p:cNvSpPr txBox="1"/>
          <p:nvPr/>
        </p:nvSpPr>
        <p:spPr>
          <a:xfrm>
            <a:off x="2743200" y="5303520"/>
            <a:ext cx="6720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E7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volver optimizamos imágenes reales. Ten abierta tu carpeta del proyecto.</a:t>
            </a:r>
            <a:endParaRPr lang="en-US" sz="1300" dirty="0"/>
          </a:p>
        </p:txBody>
      </p:sp>
      <p:sp>
        <p:nvSpPr>
          <p:cNvPr id="41" name="Text 36"/>
          <p:cNvSpPr txBox="1"/>
          <p:nvPr/>
        </p:nvSpPr>
        <p:spPr>
          <a:xfrm>
            <a:off x="11002975" y="618134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37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pages/cinfo_I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002975" y="618134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37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bands/band_I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1542364"/>
            <a:ext cx="7772400" cy="241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4FB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HERRAMIENTAS</a:t>
            </a:r>
            <a:endParaRPr lang="en-US" sz="115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784109"/>
            <a:ext cx="10424160" cy="580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herramientas gratuitas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2267598"/>
            <a:ext cx="1042416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tres funcionan en el navegador, sin instalar nada.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40080" y="2646331"/>
            <a:ext cx="3520440" cy="2900934"/>
          </a:xfrm>
          <a:prstGeom prst="roundRect">
            <a:avLst>
              <a:gd name="adj" fmla="val 3152"/>
            </a:avLst>
          </a:prstGeom>
          <a:solidFill>
            <a:srgbClr val="F7FDF4"/>
          </a:solidFill>
          <a:ln w="12700">
            <a:solidFill>
              <a:srgbClr val="DCEFD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025396" y="2863901"/>
            <a:ext cx="749808" cy="660768"/>
          </a:xfrm>
          <a:prstGeom prst="ellipse">
            <a:avLst/>
          </a:prstGeom>
          <a:solidFill>
            <a:srgbClr val="36C4CC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2025396" y="2863901"/>
            <a:ext cx="749808" cy="660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3653600"/>
            <a:ext cx="3063240" cy="362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6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Imageye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4032333"/>
            <a:ext cx="306324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76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Extensión de navegador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896112" y="4354659"/>
            <a:ext cx="3008376" cy="805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y descarga todas las imágenes de cualquier página. Úsala para reunir referencias y estudiar cómo otros preparan sus recursos.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1188720" y="5144357"/>
            <a:ext cx="2423160" cy="290093"/>
          </a:xfrm>
          <a:prstGeom prst="roundRect">
            <a:avLst>
              <a:gd name="adj" fmla="val 56738"/>
            </a:avLst>
          </a:prstGeom>
          <a:solidFill>
            <a:srgbClr val="F0FCE8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188720" y="5144357"/>
            <a:ext cx="2423160" cy="290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6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instalada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343400" y="2646331"/>
            <a:ext cx="3520440" cy="2900934"/>
          </a:xfrm>
          <a:prstGeom prst="roundRect">
            <a:avLst>
              <a:gd name="adj" fmla="val 3152"/>
            </a:avLst>
          </a:prstGeom>
          <a:solidFill>
            <a:srgbClr val="F7FDF4"/>
          </a:solidFill>
          <a:ln w="12700">
            <a:solidFill>
              <a:srgbClr val="DCEFD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728716" y="2863901"/>
            <a:ext cx="749808" cy="660768"/>
          </a:xfrm>
          <a:prstGeom prst="ellipse">
            <a:avLst/>
          </a:prstGeom>
          <a:solidFill>
            <a:srgbClr val="72EF29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728716" y="2863901"/>
            <a:ext cx="749808" cy="660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9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0" y="3653600"/>
            <a:ext cx="3063240" cy="362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2E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Squoosh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0" y="4032333"/>
            <a:ext cx="306324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76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squoosh.app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4599432" y="4354659"/>
            <a:ext cx="3008376" cy="805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Redimensiona, comprime y convierte a WebP con vista previa comparada lado a lado. Es la más completa.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892040" y="5144357"/>
            <a:ext cx="2423160" cy="290093"/>
          </a:xfrm>
          <a:prstGeom prst="roundRect">
            <a:avLst>
              <a:gd name="adj" fmla="val 56738"/>
            </a:avLst>
          </a:prstGeom>
          <a:solidFill>
            <a:srgbClr val="F0FCE8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4892040" y="5144357"/>
            <a:ext cx="2423160" cy="290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2E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Recomendada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8046720" y="2646331"/>
            <a:ext cx="3520440" cy="2900934"/>
          </a:xfrm>
          <a:prstGeom prst="roundRect">
            <a:avLst>
              <a:gd name="adj" fmla="val 3152"/>
            </a:avLst>
          </a:prstGeom>
          <a:solidFill>
            <a:srgbClr val="F7FDF4"/>
          </a:solidFill>
          <a:ln w="12700">
            <a:solidFill>
              <a:srgbClr val="DCEFD3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432036" y="2863901"/>
            <a:ext cx="749808" cy="660768"/>
          </a:xfrm>
          <a:prstGeom prst="ellipse">
            <a:avLst/>
          </a:prstGeom>
          <a:solidFill>
            <a:srgbClr val="4FB817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9432036" y="2863901"/>
            <a:ext cx="749808" cy="660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900" dirty="0"/>
          </a:p>
        </p:txBody>
      </p:sp>
      <p:sp>
        <p:nvSpPr>
          <p:cNvPr id="25" name="Text 22"/>
          <p:cNvSpPr txBox="1"/>
          <p:nvPr/>
        </p:nvSpPr>
        <p:spPr>
          <a:xfrm>
            <a:off x="8275320" y="3653600"/>
            <a:ext cx="3063240" cy="362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FB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TinyPNG</a:t>
            </a:r>
            <a:endParaRPr lang="en-US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8275320" y="4032333"/>
            <a:ext cx="306324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76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tinypng.com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8302752" y="4354659"/>
            <a:ext cx="3008376" cy="805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Comprime PNG y JPG arrastrando el archivo. Más rápida, con menos control.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8595360" y="5144357"/>
            <a:ext cx="2423160" cy="290093"/>
          </a:xfrm>
          <a:prstGeom prst="roundRect">
            <a:avLst>
              <a:gd name="adj" fmla="val 56738"/>
            </a:avLst>
          </a:prstGeom>
          <a:solidFill>
            <a:srgbClr val="F0FCE8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8595360" y="5144357"/>
            <a:ext cx="2423160" cy="290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FB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Alternativa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640080" y="5748719"/>
            <a:ext cx="10927080" cy="402908"/>
          </a:xfrm>
          <a:prstGeom prst="roundRect">
            <a:avLst>
              <a:gd name="adj" fmla="val 22695"/>
            </a:avLst>
          </a:prstGeom>
          <a:solidFill>
            <a:srgbClr val="FBF4F2"/>
          </a:solidFill>
          <a:ln w="12700">
            <a:solidFill>
              <a:srgbClr val="EBD9D3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960120" y="5748719"/>
            <a:ext cx="10287000" cy="402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Imageye para aprender y para tus prácticas, no para tomar imágenes ajenas y publicarlas: eso tiene dueño y licencia.</a:t>
            </a:r>
            <a:endParaRPr lang="en-US" sz="1100" dirty="0"/>
          </a:p>
        </p:txBody>
      </p:sp>
      <p:sp>
        <p:nvSpPr>
          <p:cNvPr id="33" name="Text 29"/>
          <p:cNvSpPr txBox="1"/>
          <p:nvPr/>
        </p:nvSpPr>
        <p:spPr>
          <a:xfrm>
            <a:off x="11002975" y="6441719"/>
            <a:ext cx="914400" cy="225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37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bands/band_I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1542364"/>
            <a:ext cx="7772400" cy="241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4FB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HERRAMIENTAS</a:t>
            </a:r>
            <a:endParaRPr lang="en-US" sz="115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784109"/>
            <a:ext cx="10424160" cy="580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Optimizar paso a paso con Squoosh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2267598"/>
            <a:ext cx="1042416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Vamos a hacerlo juntos con una foto del proyecto Petly.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58368" y="2686622"/>
            <a:ext cx="365760" cy="322326"/>
          </a:xfrm>
          <a:prstGeom prst="ellipse">
            <a:avLst/>
          </a:prstGeom>
          <a:solidFill>
            <a:srgbClr val="72EF29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58368" y="2686622"/>
            <a:ext cx="365760" cy="322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143000" y="2686622"/>
            <a:ext cx="5120640" cy="419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a squoosh.app y arrastra la imagen al navegador.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58368" y="3153994"/>
            <a:ext cx="365760" cy="322326"/>
          </a:xfrm>
          <a:prstGeom prst="ellipse">
            <a:avLst/>
          </a:prstGeom>
          <a:solidFill>
            <a:srgbClr val="36C4C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58368" y="3153994"/>
            <a:ext cx="365760" cy="322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1143000" y="3153994"/>
            <a:ext cx="5120640" cy="419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 derecha elige el formato de salida: WebP.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58368" y="3621367"/>
            <a:ext cx="365760" cy="322326"/>
          </a:xfrm>
          <a:prstGeom prst="ellipse">
            <a:avLst/>
          </a:prstGeom>
          <a:solidFill>
            <a:srgbClr val="72EF29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58368" y="3621367"/>
            <a:ext cx="365760" cy="322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143000" y="3621367"/>
            <a:ext cx="5120640" cy="419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Resize y escribe el ancho que necesitas, por ejemplo 800.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58368" y="4088740"/>
            <a:ext cx="365760" cy="322326"/>
          </a:xfrm>
          <a:prstGeom prst="ellipse">
            <a:avLst/>
          </a:prstGeom>
          <a:solidFill>
            <a:srgbClr val="36C4C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58368" y="4088740"/>
            <a:ext cx="365760" cy="322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143000" y="4088740"/>
            <a:ext cx="5120640" cy="419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 Quality a 75 y compara con el deslizador central.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58368" y="4556112"/>
            <a:ext cx="365760" cy="322326"/>
          </a:xfrm>
          <a:prstGeom prst="ellipse">
            <a:avLst/>
          </a:prstGeom>
          <a:solidFill>
            <a:srgbClr val="72EF29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58368" y="4556112"/>
            <a:ext cx="365760" cy="322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1143000" y="4556112"/>
            <a:ext cx="5120640" cy="419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Comprueba el peso resultante abajo a la derecha.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658368" y="5023485"/>
            <a:ext cx="365760" cy="322326"/>
          </a:xfrm>
          <a:prstGeom prst="ellipse">
            <a:avLst/>
          </a:prstGeom>
          <a:solidFill>
            <a:srgbClr val="36C4CC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658368" y="5023485"/>
            <a:ext cx="365760" cy="322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143000" y="5023485"/>
            <a:ext cx="5120640" cy="419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Pulsa Descargar y guarda el archivo en tu carpeta img.</a:t>
            </a:r>
            <a:endParaRPr lang="en-US" sz="1150" dirty="0"/>
          </a:p>
        </p:txBody>
      </p:sp>
      <p:pic>
        <p:nvPicPr>
          <p:cNvPr id="24" name="Image 1" descr="/home/claude/assets/petly/perro_circul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686622"/>
            <a:ext cx="1692212" cy="1692212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8915400" y="3331274"/>
            <a:ext cx="457200" cy="402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2E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pic>
        <p:nvPicPr>
          <p:cNvPr id="26" name="Image 2" descr="/home/claude/assets/petly/perro_circul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0" y="2686622"/>
            <a:ext cx="1692212" cy="1692212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6858000" y="4459415"/>
            <a:ext cx="1920240" cy="241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7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· 2.4 MB</a:t>
            </a:r>
            <a:endParaRPr lang="en-US" sz="1000" dirty="0"/>
          </a:p>
        </p:txBody>
      </p:sp>
      <p:sp>
        <p:nvSpPr>
          <p:cNvPr id="28" name="Text 23"/>
          <p:cNvSpPr txBox="1"/>
          <p:nvPr/>
        </p:nvSpPr>
        <p:spPr>
          <a:xfrm>
            <a:off x="9509760" y="4459415"/>
            <a:ext cx="1920240" cy="241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B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WebP · 98 KB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6858000" y="4862322"/>
            <a:ext cx="4709160" cy="1289304"/>
          </a:xfrm>
          <a:prstGeom prst="roundRect">
            <a:avLst>
              <a:gd name="adj" fmla="val 7092"/>
            </a:avLst>
          </a:prstGeom>
          <a:solidFill>
            <a:srgbClr val="F0FCE8"/>
          </a:solidFill>
          <a:ln w="12700">
            <a:solidFill>
              <a:srgbClr val="CFF2B8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7132320" y="5007369"/>
            <a:ext cx="420624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B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vista son idénticas</a:t>
            </a:r>
            <a:endParaRPr lang="en-US" sz="1300" dirty="0"/>
          </a:p>
        </p:txBody>
      </p:sp>
      <p:sp>
        <p:nvSpPr>
          <p:cNvPr id="31" name="Text 26"/>
          <p:cNvSpPr txBox="1"/>
          <p:nvPr/>
        </p:nvSpPr>
        <p:spPr>
          <a:xfrm>
            <a:off x="7132320" y="5297462"/>
            <a:ext cx="4206240" cy="7252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Esa es exactamente la idea: el usuario ve lo mismo, pero la página carga en una fracción del tiempo.</a:t>
            </a:r>
            <a:endParaRPr lang="en-US" sz="1100" dirty="0"/>
          </a:p>
        </p:txBody>
      </p:sp>
      <p:sp>
        <p:nvSpPr>
          <p:cNvPr id="33" name="Text 27"/>
          <p:cNvSpPr txBox="1"/>
          <p:nvPr/>
        </p:nvSpPr>
        <p:spPr>
          <a:xfrm>
            <a:off x="11002975" y="6441719"/>
            <a:ext cx="914400" cy="225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37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bands/band_I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1542364"/>
            <a:ext cx="7772400" cy="241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4FB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HERRAMIENTAS</a:t>
            </a:r>
            <a:endParaRPr lang="en-US" sz="115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784109"/>
            <a:ext cx="10424160" cy="580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&lt;figure&gt; y &lt;figcaption&gt;: imagen con pie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2267598"/>
            <a:ext cx="1042416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la imagen necesita una leyenda visible, esta es la estructura correcta.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40080" y="2686622"/>
            <a:ext cx="5760720" cy="1933956"/>
          </a:xfrm>
          <a:prstGeom prst="roundRect">
            <a:avLst>
              <a:gd name="adj" fmla="val 4255"/>
            </a:avLst>
          </a:prstGeom>
          <a:solidFill>
            <a:srgbClr val="2B2B2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68680" y="2831668"/>
            <a:ext cx="5303520" cy="1643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F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&lt;figure&gt;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F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&lt;img src="img/perro.webp"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alt="Cachorro en consulta"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width="400" height="300"&gt;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F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&lt;figcaption&gt;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Revisión veterinaria mensual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F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&lt;/figcaption&gt;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F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&lt;/figure&gt;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949440" y="2686622"/>
            <a:ext cx="4617720" cy="1933956"/>
          </a:xfrm>
          <a:prstGeom prst="roundRect">
            <a:avLst>
              <a:gd name="adj" fmla="val 4728"/>
            </a:avLst>
          </a:prstGeom>
          <a:solidFill>
            <a:srgbClr val="FFFFFF"/>
          </a:solidFill>
          <a:ln w="19050">
            <a:solidFill>
              <a:srgbClr val="DCEFD3"/>
            </a:solidFill>
            <a:prstDash val="solid"/>
          </a:ln>
        </p:spPr>
      </p:sp>
      <p:pic>
        <p:nvPicPr>
          <p:cNvPr id="9" name="Image 1" descr="/home/claude/assets/petly/perro_circul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2783319"/>
            <a:ext cx="1249013" cy="1249013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132320" y="4137089"/>
            <a:ext cx="4251960" cy="322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E7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veterinaria mensual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40080" y="4822031"/>
            <a:ext cx="10927080" cy="443198"/>
          </a:xfrm>
          <a:prstGeom prst="roundRect">
            <a:avLst>
              <a:gd name="adj" fmla="val 20632"/>
            </a:avLst>
          </a:prstGeom>
          <a:solidFill>
            <a:srgbClr val="F7FDF4"/>
          </a:solidFill>
          <a:ln w="12700">
            <a:solidFill>
              <a:srgbClr val="DCEFD3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914400" y="4822031"/>
            <a:ext cx="1828800" cy="4431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6C4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&lt;figure&gt;</a:t>
            </a:r>
            <a:endParaRPr lang="en-US" sz="1150" dirty="0"/>
          </a:p>
        </p:txBody>
      </p:sp>
      <p:sp>
        <p:nvSpPr>
          <p:cNvPr id="13" name="Text 9"/>
          <p:cNvSpPr txBox="1"/>
          <p:nvPr/>
        </p:nvSpPr>
        <p:spPr>
          <a:xfrm>
            <a:off x="2834640" y="4822031"/>
            <a:ext cx="8503920" cy="4431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 la imagen con su leyenda como una unidad.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5329695"/>
            <a:ext cx="10927080" cy="443198"/>
          </a:xfrm>
          <a:prstGeom prst="roundRect">
            <a:avLst>
              <a:gd name="adj" fmla="val 20632"/>
            </a:avLst>
          </a:prstGeom>
          <a:solidFill>
            <a:srgbClr val="F7FDF4"/>
          </a:solidFill>
          <a:ln w="12700">
            <a:solidFill>
              <a:srgbClr val="DCEFD3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914400" y="5329695"/>
            <a:ext cx="1828800" cy="4431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2EF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&lt;figcaption&gt;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2834640" y="5329695"/>
            <a:ext cx="8503920" cy="4431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leyenda visible. Va dentro de figure, al principio o al final.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40080" y="5837358"/>
            <a:ext cx="10927080" cy="443198"/>
          </a:xfrm>
          <a:prstGeom prst="roundRect">
            <a:avLst>
              <a:gd name="adj" fmla="val 20632"/>
            </a:avLst>
          </a:prstGeom>
          <a:solidFill>
            <a:srgbClr val="F7FDF4"/>
          </a:solidFill>
          <a:ln w="12700">
            <a:solidFill>
              <a:srgbClr val="DCEFD3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914400" y="5837358"/>
            <a:ext cx="1828800" cy="4431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B8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 y figcaption</a:t>
            </a:r>
            <a:endParaRPr lang="en-US" sz="1150" dirty="0"/>
          </a:p>
        </p:txBody>
      </p:sp>
      <p:sp>
        <p:nvSpPr>
          <p:cNvPr id="19" name="Text 15"/>
          <p:cNvSpPr txBox="1"/>
          <p:nvPr/>
        </p:nvSpPr>
        <p:spPr>
          <a:xfrm>
            <a:off x="2834640" y="5837358"/>
            <a:ext cx="8503920" cy="4431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son lo mismo: el alt describe la imagen; el figcaption añade contexto que el lector sí ve.</a:t>
            </a:r>
            <a:endParaRPr lang="en-US" sz="1150" dirty="0"/>
          </a:p>
        </p:txBody>
      </p:sp>
      <p:sp>
        <p:nvSpPr>
          <p:cNvPr id="21" name="Text 16"/>
          <p:cNvSpPr txBox="1"/>
          <p:nvPr/>
        </p:nvSpPr>
        <p:spPr>
          <a:xfrm>
            <a:off x="11002975" y="6441719"/>
            <a:ext cx="914400" cy="225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37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bands/band_I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1542364"/>
            <a:ext cx="7772400" cy="241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4FB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PRÁCTICA</a:t>
            </a:r>
            <a:endParaRPr lang="en-US" sz="115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784109"/>
            <a:ext cx="10424160" cy="580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Ahora tú: la galería de Petly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2267598"/>
            <a:ext cx="1042416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Añade una sección de galería a tu página. Tienes 25 minutos.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40080" y="2646331"/>
            <a:ext cx="3520440" cy="1571339"/>
          </a:xfrm>
          <a:prstGeom prst="roundRect">
            <a:avLst>
              <a:gd name="adj" fmla="val 5819"/>
            </a:avLst>
          </a:prstGeom>
          <a:solidFill>
            <a:srgbClr val="F7FDF4"/>
          </a:solidFill>
          <a:ln w="12700">
            <a:solidFill>
              <a:srgbClr val="DCEFD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86968" y="2863901"/>
            <a:ext cx="420624" cy="370675"/>
          </a:xfrm>
          <a:prstGeom prst="ellipse">
            <a:avLst/>
          </a:prstGeom>
          <a:solidFill>
            <a:srgbClr val="36C4CC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86968" y="2863901"/>
            <a:ext cx="420624" cy="370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444752" y="2871959"/>
            <a:ext cx="2514600" cy="3384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6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 las imágenes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3387681"/>
            <a:ext cx="2971800" cy="7252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 en el Aula Virtual: logo, hero, mascotas e iconos.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343400" y="2646331"/>
            <a:ext cx="3520440" cy="1571339"/>
          </a:xfrm>
          <a:prstGeom prst="roundRect">
            <a:avLst>
              <a:gd name="adj" fmla="val 5819"/>
            </a:avLst>
          </a:prstGeom>
          <a:solidFill>
            <a:srgbClr val="F7FDF4"/>
          </a:solidFill>
          <a:ln w="12700">
            <a:solidFill>
              <a:srgbClr val="DCEFD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90288" y="2863901"/>
            <a:ext cx="420624" cy="370675"/>
          </a:xfrm>
          <a:prstGeom prst="ellipse">
            <a:avLst/>
          </a:prstGeom>
          <a:solidFill>
            <a:srgbClr val="72EF29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4590288" y="2863901"/>
            <a:ext cx="420624" cy="370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5148072" y="2871959"/>
            <a:ext cx="2514600" cy="3384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2E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 cada una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4617720" y="3387681"/>
            <a:ext cx="2971800" cy="7252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Pásalas por Squoosh: redimensiona, comprime y convierte a WebP.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046720" y="2646331"/>
            <a:ext cx="3520440" cy="1571339"/>
          </a:xfrm>
          <a:prstGeom prst="roundRect">
            <a:avLst>
              <a:gd name="adj" fmla="val 5819"/>
            </a:avLst>
          </a:prstGeom>
          <a:solidFill>
            <a:srgbClr val="F7FDF4"/>
          </a:solidFill>
          <a:ln w="12700">
            <a:solidFill>
              <a:srgbClr val="DCEFD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293608" y="2863901"/>
            <a:ext cx="420624" cy="370675"/>
          </a:xfrm>
          <a:prstGeom prst="ellipse">
            <a:avLst/>
          </a:prstGeom>
          <a:solidFill>
            <a:srgbClr val="4FB817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293608" y="2863901"/>
            <a:ext cx="420624" cy="370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8851392" y="2871959"/>
            <a:ext cx="2514600" cy="3384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FB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 la carpeta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8321040" y="3387681"/>
            <a:ext cx="2971800" cy="7252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img y, dentro, la subcarpeta mascotas.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40080" y="4394949"/>
            <a:ext cx="3520440" cy="1571339"/>
          </a:xfrm>
          <a:prstGeom prst="roundRect">
            <a:avLst>
              <a:gd name="adj" fmla="val 5819"/>
            </a:avLst>
          </a:prstGeom>
          <a:solidFill>
            <a:srgbClr val="F7FDF4"/>
          </a:solidFill>
          <a:ln w="12700">
            <a:solidFill>
              <a:srgbClr val="DCEFD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86968" y="4612519"/>
            <a:ext cx="420624" cy="370675"/>
          </a:xfrm>
          <a:prstGeom prst="ellipse">
            <a:avLst/>
          </a:prstGeom>
          <a:solidFill>
            <a:srgbClr val="5AD3DA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886968" y="4612519"/>
            <a:ext cx="420624" cy="370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1444752" y="4620578"/>
            <a:ext cx="2514600" cy="3384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AD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la sección</a:t>
            </a:r>
            <a:endParaRPr lang="en-US" sz="1350" dirty="0"/>
          </a:p>
        </p:txBody>
      </p:sp>
      <p:sp>
        <p:nvSpPr>
          <p:cNvPr id="25" name="Text 22"/>
          <p:cNvSpPr txBox="1"/>
          <p:nvPr/>
        </p:nvSpPr>
        <p:spPr>
          <a:xfrm>
            <a:off x="914400" y="5136299"/>
            <a:ext cx="2971800" cy="7252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&lt;section&gt; con su &lt;h2&gt; y cuatro &lt;figure&gt; dentro.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343400" y="4394949"/>
            <a:ext cx="3520440" cy="1571339"/>
          </a:xfrm>
          <a:prstGeom prst="roundRect">
            <a:avLst>
              <a:gd name="adj" fmla="val 5819"/>
            </a:avLst>
          </a:prstGeom>
          <a:solidFill>
            <a:srgbClr val="F7FDF4"/>
          </a:solidFill>
          <a:ln w="12700">
            <a:solidFill>
              <a:srgbClr val="DCEFD3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590288" y="4612519"/>
            <a:ext cx="420624" cy="370675"/>
          </a:xfrm>
          <a:prstGeom prst="ellipse">
            <a:avLst/>
          </a:prstGeom>
          <a:solidFill>
            <a:srgbClr val="63ED12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4590288" y="4612519"/>
            <a:ext cx="420624" cy="370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5148072" y="4620578"/>
            <a:ext cx="2514600" cy="3384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3E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Escribe buenos alt</a:t>
            </a:r>
            <a:endParaRPr lang="en-US" sz="1350" dirty="0"/>
          </a:p>
        </p:txBody>
      </p:sp>
      <p:sp>
        <p:nvSpPr>
          <p:cNvPr id="30" name="Text 27"/>
          <p:cNvSpPr txBox="1"/>
          <p:nvPr/>
        </p:nvSpPr>
        <p:spPr>
          <a:xfrm>
            <a:off x="4617720" y="5136299"/>
            <a:ext cx="2971800" cy="7252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 la prueba del teléfono en cada imagen.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8046720" y="4394949"/>
            <a:ext cx="3520440" cy="1571339"/>
          </a:xfrm>
          <a:prstGeom prst="roundRect">
            <a:avLst>
              <a:gd name="adj" fmla="val 5819"/>
            </a:avLst>
          </a:prstGeom>
          <a:solidFill>
            <a:srgbClr val="F7FDF4"/>
          </a:solidFill>
          <a:ln w="12700">
            <a:solidFill>
              <a:srgbClr val="DCEFD3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8293608" y="4612519"/>
            <a:ext cx="420624" cy="370675"/>
          </a:xfrm>
          <a:prstGeom prst="ellipse">
            <a:avLst/>
          </a:prstGeom>
          <a:solidFill>
            <a:srgbClr val="7E5A94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8293608" y="4612519"/>
            <a:ext cx="420624" cy="370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8851392" y="4620578"/>
            <a:ext cx="2514600" cy="3384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E5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 y publica</a:t>
            </a:r>
            <a:endParaRPr lang="en-US" sz="1350" dirty="0"/>
          </a:p>
        </p:txBody>
      </p:sp>
      <p:sp>
        <p:nvSpPr>
          <p:cNvPr id="35" name="Text 32"/>
          <p:cNvSpPr txBox="1"/>
          <p:nvPr/>
        </p:nvSpPr>
        <p:spPr>
          <a:xfrm>
            <a:off x="8321040" y="5136299"/>
            <a:ext cx="2971800" cy="7252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errores en W3C, y sube a Netlify.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40080" y="6111335"/>
            <a:ext cx="10927080" cy="0"/>
          </a:xfrm>
          <a:prstGeom prst="roundRect">
            <a:avLst>
              <a:gd name="adj" fmla="val Infinity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640080" y="5990463"/>
            <a:ext cx="10927080" cy="28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4FB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Meta: que ninguna imagen supere los 200 KB y que la galería completa cargue en menos de dos segundos.</a:t>
            </a:r>
            <a:endParaRPr lang="en-US" sz="1150" dirty="0"/>
          </a:p>
        </p:txBody>
      </p:sp>
      <p:sp>
        <p:nvSpPr>
          <p:cNvPr id="39" name="Text 35"/>
          <p:cNvSpPr txBox="1"/>
          <p:nvPr/>
        </p:nvSpPr>
        <p:spPr>
          <a:xfrm>
            <a:off x="11002975" y="6441719"/>
            <a:ext cx="914400" cy="225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37</a:t>
            </a:r>
            <a:endParaRPr lang="en-US" sz="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bands/band_I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1542364"/>
            <a:ext cx="7772400" cy="241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4FB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PRÁCTICA</a:t>
            </a:r>
            <a:endParaRPr lang="en-US" sz="115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784109"/>
            <a:ext cx="10424160" cy="580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 antes de entregar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640080" y="2686622"/>
            <a:ext cx="2688336" cy="2498027"/>
          </a:xfrm>
          <a:prstGeom prst="roundRect">
            <a:avLst>
              <a:gd name="adj" fmla="val 3660"/>
            </a:avLst>
          </a:prstGeom>
          <a:solidFill>
            <a:srgbClr val="F7FDF4"/>
          </a:solidFill>
          <a:ln w="12700">
            <a:solidFill>
              <a:srgbClr val="DCEFD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641348" y="2908221"/>
            <a:ext cx="685800" cy="604361"/>
          </a:xfrm>
          <a:prstGeom prst="ellipse">
            <a:avLst/>
          </a:prstGeom>
          <a:solidFill>
            <a:srgbClr val="36C4CC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641348" y="2908221"/>
            <a:ext cx="685800" cy="604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41248" y="3653600"/>
            <a:ext cx="2286000" cy="3384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6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total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859536" y="4040391"/>
            <a:ext cx="2249424" cy="805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F12 › Red, recarga y mira el peso total de la página.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914400" y="4822031"/>
            <a:ext cx="2139696" cy="290093"/>
          </a:xfrm>
          <a:prstGeom prst="roundRect">
            <a:avLst>
              <a:gd name="adj" fmla="val 56738"/>
            </a:avLst>
          </a:prstGeom>
          <a:solidFill>
            <a:srgbClr val="F0FCE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914400" y="4822031"/>
            <a:ext cx="2139696" cy="290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6C4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1 MB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465576" y="2686622"/>
            <a:ext cx="2688336" cy="2498027"/>
          </a:xfrm>
          <a:prstGeom prst="roundRect">
            <a:avLst>
              <a:gd name="adj" fmla="val 3660"/>
            </a:avLst>
          </a:prstGeom>
          <a:solidFill>
            <a:srgbClr val="F7FDF4"/>
          </a:solidFill>
          <a:ln w="12700">
            <a:solidFill>
              <a:srgbClr val="DCEFD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466844" y="2908221"/>
            <a:ext cx="685800" cy="604361"/>
          </a:xfrm>
          <a:prstGeom prst="ellipse">
            <a:avLst/>
          </a:prstGeom>
          <a:solidFill>
            <a:srgbClr val="72EF29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466844" y="2908221"/>
            <a:ext cx="685800" cy="604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3666744" y="3653600"/>
            <a:ext cx="2286000" cy="3384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72E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alt</a:t>
            </a:r>
            <a:endParaRPr lang="en-US" sz="1350" dirty="0"/>
          </a:p>
        </p:txBody>
      </p:sp>
      <p:sp>
        <p:nvSpPr>
          <p:cNvPr id="16" name="Text 13"/>
          <p:cNvSpPr txBox="1"/>
          <p:nvPr/>
        </p:nvSpPr>
        <p:spPr>
          <a:xfrm>
            <a:off x="3685032" y="4040391"/>
            <a:ext cx="2249424" cy="805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 imagen sin atributo alt. El validador los detecta.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739896" y="4822031"/>
            <a:ext cx="2139696" cy="290093"/>
          </a:xfrm>
          <a:prstGeom prst="roundRect">
            <a:avLst>
              <a:gd name="adj" fmla="val 56738"/>
            </a:avLst>
          </a:prstGeom>
          <a:solidFill>
            <a:srgbClr val="F0FCE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3739896" y="4822031"/>
            <a:ext cx="2139696" cy="290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2EF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errores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6291072" y="2686622"/>
            <a:ext cx="2688336" cy="2498027"/>
          </a:xfrm>
          <a:prstGeom prst="roundRect">
            <a:avLst>
              <a:gd name="adj" fmla="val 3660"/>
            </a:avLst>
          </a:prstGeom>
          <a:solidFill>
            <a:srgbClr val="F7FDF4"/>
          </a:solidFill>
          <a:ln w="12700">
            <a:solidFill>
              <a:srgbClr val="DCEFD3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292340" y="2908221"/>
            <a:ext cx="685800" cy="604361"/>
          </a:xfrm>
          <a:prstGeom prst="ellipse">
            <a:avLst/>
          </a:prstGeom>
          <a:solidFill>
            <a:srgbClr val="4FB817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292340" y="2908221"/>
            <a:ext cx="685800" cy="604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6492240" y="3653600"/>
            <a:ext cx="2286000" cy="3384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4FB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Rutas en minúscula</a:t>
            </a:r>
            <a:endParaRPr lang="en-US" sz="1350" dirty="0"/>
          </a:p>
        </p:txBody>
      </p:sp>
      <p:sp>
        <p:nvSpPr>
          <p:cNvPr id="23" name="Text 20"/>
          <p:cNvSpPr txBox="1"/>
          <p:nvPr/>
        </p:nvSpPr>
        <p:spPr>
          <a:xfrm>
            <a:off x="6510528" y="4040391"/>
            <a:ext cx="2249424" cy="805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espacios, sin tildes, sin mayúsculas mezcladas.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6565392" y="4822031"/>
            <a:ext cx="2139696" cy="290093"/>
          </a:xfrm>
          <a:prstGeom prst="roundRect">
            <a:avLst>
              <a:gd name="adj" fmla="val 56738"/>
            </a:avLst>
          </a:prstGeom>
          <a:solidFill>
            <a:srgbClr val="F0FCE8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6565392" y="4822031"/>
            <a:ext cx="2139696" cy="290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FB8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img/perro.webp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9116568" y="2686622"/>
            <a:ext cx="2688336" cy="2498027"/>
          </a:xfrm>
          <a:prstGeom prst="roundRect">
            <a:avLst>
              <a:gd name="adj" fmla="val 3660"/>
            </a:avLst>
          </a:prstGeom>
          <a:solidFill>
            <a:srgbClr val="F7FDF4"/>
          </a:solidFill>
          <a:ln w="12700">
            <a:solidFill>
              <a:srgbClr val="DCEFD3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0117836" y="2908221"/>
            <a:ext cx="685800" cy="604361"/>
          </a:xfrm>
          <a:prstGeom prst="ellipse">
            <a:avLst/>
          </a:prstGeom>
          <a:solidFill>
            <a:srgbClr val="5AD3DA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10117836" y="2908221"/>
            <a:ext cx="685800" cy="604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9317736" y="3653600"/>
            <a:ext cx="2286000" cy="3384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AD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publicada</a:t>
            </a:r>
            <a:endParaRPr lang="en-US" sz="1350" dirty="0"/>
          </a:p>
        </p:txBody>
      </p:sp>
      <p:sp>
        <p:nvSpPr>
          <p:cNvPr id="30" name="Text 27"/>
          <p:cNvSpPr txBox="1"/>
          <p:nvPr/>
        </p:nvSpPr>
        <p:spPr>
          <a:xfrm>
            <a:off x="9336024" y="4040391"/>
            <a:ext cx="2249424" cy="805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tu URL de Netlify: si una imagen no carga, es la ruta.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9390888" y="4822031"/>
            <a:ext cx="2139696" cy="290093"/>
          </a:xfrm>
          <a:prstGeom prst="roundRect">
            <a:avLst>
              <a:gd name="adj" fmla="val 56738"/>
            </a:avLst>
          </a:prstGeom>
          <a:solidFill>
            <a:srgbClr val="F0FCE8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9390888" y="4822031"/>
            <a:ext cx="2139696" cy="290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AD3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Todo visible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640080" y="5345811"/>
            <a:ext cx="10927080" cy="805815"/>
          </a:xfrm>
          <a:prstGeom prst="roundRect">
            <a:avLst>
              <a:gd name="adj" fmla="val 11348"/>
            </a:avLst>
          </a:prstGeom>
          <a:solidFill>
            <a:srgbClr val="FBF4F2"/>
          </a:solidFill>
          <a:ln w="12700">
            <a:solidFill>
              <a:srgbClr val="EBD9D3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960120" y="5345811"/>
            <a:ext cx="10287000" cy="805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error más común de esta sesión: la página se ve perfecta en tu computadora y al publicarla faltan imágenes. Casi siempre es una mayúscula o un espacio en el nombre del archivo.</a:t>
            </a:r>
            <a:endParaRPr lang="en-US" sz="1200" dirty="0"/>
          </a:p>
        </p:txBody>
      </p:sp>
      <p:sp>
        <p:nvSpPr>
          <p:cNvPr id="36" name="Text 32"/>
          <p:cNvSpPr txBox="1"/>
          <p:nvPr/>
        </p:nvSpPr>
        <p:spPr>
          <a:xfrm>
            <a:off x="11002975" y="6441719"/>
            <a:ext cx="914400" cy="225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37</a:t>
            </a:r>
            <a:endParaRPr lang="en-US" sz="9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pages/cinfo_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002975" y="618134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37</a:t>
            </a:r>
            <a:endParaRPr lang="en-US" sz="9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bands/band_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1542364"/>
            <a:ext cx="7772400" cy="241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E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NIVELADOR</a:t>
            </a:r>
            <a:endParaRPr lang="en-US" sz="115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784109"/>
            <a:ext cx="10424160" cy="580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Autoevaluación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2267598"/>
            <a:ext cx="1042416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mentalmente cada punto. Si dudas en alguno, pregunta ahora.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40080" y="2686622"/>
            <a:ext cx="10927080" cy="402908"/>
          </a:xfrm>
          <a:prstGeom prst="roundRect">
            <a:avLst>
              <a:gd name="adj" fmla="val 22695"/>
            </a:avLst>
          </a:prstGeom>
          <a:solidFill>
            <a:srgbClr val="F7FDF4"/>
          </a:solidFill>
          <a:ln w="12700">
            <a:solidFill>
              <a:srgbClr val="DCEFD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14400" y="2759145"/>
            <a:ext cx="292608" cy="257861"/>
          </a:xfrm>
          <a:prstGeom prst="roundRect">
            <a:avLst>
              <a:gd name="adj" fmla="val 21277"/>
            </a:avLst>
          </a:prstGeom>
          <a:solidFill>
            <a:srgbClr val="FFFFFF"/>
          </a:solidFill>
          <a:ln w="19050">
            <a:solidFill>
              <a:srgbClr val="36C4C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371600" y="2686622"/>
            <a:ext cx="9966960" cy="402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Distingo una imagen de mapa de bits de una vectorial.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0080" y="3137878"/>
            <a:ext cx="10927080" cy="402908"/>
          </a:xfrm>
          <a:prstGeom prst="roundRect">
            <a:avLst>
              <a:gd name="adj" fmla="val 22695"/>
            </a:avLst>
          </a:prstGeom>
          <a:solidFill>
            <a:srgbClr val="F7FDF4"/>
          </a:solidFill>
          <a:ln w="12700">
            <a:solidFill>
              <a:srgbClr val="DCEFD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14400" y="3210401"/>
            <a:ext cx="292608" cy="257861"/>
          </a:xfrm>
          <a:prstGeom prst="roundRect">
            <a:avLst>
              <a:gd name="adj" fmla="val 21277"/>
            </a:avLst>
          </a:prstGeom>
          <a:solidFill>
            <a:srgbClr val="FFFFFF"/>
          </a:solidFill>
          <a:ln w="19050">
            <a:solidFill>
              <a:srgbClr val="36C4C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371600" y="3137878"/>
            <a:ext cx="9966960" cy="402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 cuándo usar JPG, PNG, SVG y WebP.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40080" y="3589134"/>
            <a:ext cx="10927080" cy="402908"/>
          </a:xfrm>
          <a:prstGeom prst="roundRect">
            <a:avLst>
              <a:gd name="adj" fmla="val 22695"/>
            </a:avLst>
          </a:prstGeom>
          <a:solidFill>
            <a:srgbClr val="F7FDF4"/>
          </a:solidFill>
          <a:ln w="12700">
            <a:solidFill>
              <a:srgbClr val="DCEFD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14400" y="3661658"/>
            <a:ext cx="292608" cy="257861"/>
          </a:xfrm>
          <a:prstGeom prst="roundRect">
            <a:avLst>
              <a:gd name="adj" fmla="val 21277"/>
            </a:avLst>
          </a:prstGeom>
          <a:solidFill>
            <a:srgbClr val="FFFFFF"/>
          </a:solidFill>
          <a:ln w="19050">
            <a:solidFill>
              <a:srgbClr val="36C4C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371600" y="3589134"/>
            <a:ext cx="9966960" cy="402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Puedo escribir un alt útil y sé cuándo dejarlo vacío.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40080" y="4040391"/>
            <a:ext cx="10927080" cy="402908"/>
          </a:xfrm>
          <a:prstGeom prst="roundRect">
            <a:avLst>
              <a:gd name="adj" fmla="val 22695"/>
            </a:avLst>
          </a:prstGeom>
          <a:solidFill>
            <a:srgbClr val="F7FDF4"/>
          </a:solidFill>
          <a:ln w="12700">
            <a:solidFill>
              <a:srgbClr val="DCEFD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914400" y="4112914"/>
            <a:ext cx="292608" cy="257861"/>
          </a:xfrm>
          <a:prstGeom prst="roundRect">
            <a:avLst>
              <a:gd name="adj" fmla="val 21277"/>
            </a:avLst>
          </a:prstGeom>
          <a:solidFill>
            <a:srgbClr val="FFFFFF"/>
          </a:solidFill>
          <a:ln w="19050">
            <a:solidFill>
              <a:srgbClr val="36C4CC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371600" y="4040391"/>
            <a:ext cx="9966960" cy="402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Entiendo por qué conviene indicar width y height.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40080" y="4491647"/>
            <a:ext cx="10927080" cy="402908"/>
          </a:xfrm>
          <a:prstGeom prst="roundRect">
            <a:avLst>
              <a:gd name="adj" fmla="val 22695"/>
            </a:avLst>
          </a:prstGeom>
          <a:solidFill>
            <a:srgbClr val="F7FDF4"/>
          </a:solidFill>
          <a:ln w="12700">
            <a:solidFill>
              <a:srgbClr val="DCEFD3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14400" y="4564170"/>
            <a:ext cx="292608" cy="257861"/>
          </a:xfrm>
          <a:prstGeom prst="roundRect">
            <a:avLst>
              <a:gd name="adj" fmla="val 21277"/>
            </a:avLst>
          </a:prstGeom>
          <a:solidFill>
            <a:srgbClr val="FFFFFF"/>
          </a:solidFill>
          <a:ln w="19050">
            <a:solidFill>
              <a:srgbClr val="36C4C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371600" y="4491647"/>
            <a:ext cx="9966960" cy="402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 qué hace loading="lazy" y cuándo no usarlo.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40080" y="4942904"/>
            <a:ext cx="10927080" cy="402908"/>
          </a:xfrm>
          <a:prstGeom prst="roundRect">
            <a:avLst>
              <a:gd name="adj" fmla="val 22695"/>
            </a:avLst>
          </a:prstGeom>
          <a:solidFill>
            <a:srgbClr val="F7FDF4"/>
          </a:solidFill>
          <a:ln w="12700">
            <a:solidFill>
              <a:srgbClr val="DCEFD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14400" y="5015427"/>
            <a:ext cx="292608" cy="257861"/>
          </a:xfrm>
          <a:prstGeom prst="roundRect">
            <a:avLst>
              <a:gd name="adj" fmla="val 21277"/>
            </a:avLst>
          </a:prstGeom>
          <a:solidFill>
            <a:srgbClr val="FFFFFF"/>
          </a:solidFill>
          <a:ln w="19050">
            <a:solidFill>
              <a:srgbClr val="36C4CC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371600" y="4942904"/>
            <a:ext cx="9966960" cy="402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Puedo escribir la ruta de una imagen que está en una subcarpeta.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40080" y="5394160"/>
            <a:ext cx="10927080" cy="402908"/>
          </a:xfrm>
          <a:prstGeom prst="roundRect">
            <a:avLst>
              <a:gd name="adj" fmla="val 22695"/>
            </a:avLst>
          </a:prstGeom>
          <a:solidFill>
            <a:srgbClr val="F7FDF4"/>
          </a:solidFill>
          <a:ln w="12700">
            <a:solidFill>
              <a:srgbClr val="DCEFD3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14400" y="5466683"/>
            <a:ext cx="292608" cy="257861"/>
          </a:xfrm>
          <a:prstGeom prst="roundRect">
            <a:avLst>
              <a:gd name="adj" fmla="val 21277"/>
            </a:avLst>
          </a:prstGeom>
          <a:solidFill>
            <a:srgbClr val="FFFFFF"/>
          </a:solidFill>
          <a:ln w="19050">
            <a:solidFill>
              <a:srgbClr val="36C4CC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371600" y="5394160"/>
            <a:ext cx="9966960" cy="402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 optimizar una foto siguiendo los tres pasos en orden.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640080" y="5845416"/>
            <a:ext cx="10927080" cy="402908"/>
          </a:xfrm>
          <a:prstGeom prst="roundRect">
            <a:avLst>
              <a:gd name="adj" fmla="val 22695"/>
            </a:avLst>
          </a:prstGeom>
          <a:solidFill>
            <a:srgbClr val="F7FDF4"/>
          </a:solidFill>
          <a:ln w="12700">
            <a:solidFill>
              <a:srgbClr val="DCEFD3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914400" y="5917940"/>
            <a:ext cx="292608" cy="257861"/>
          </a:xfrm>
          <a:prstGeom prst="roundRect">
            <a:avLst>
              <a:gd name="adj" fmla="val 21277"/>
            </a:avLst>
          </a:prstGeom>
          <a:solidFill>
            <a:srgbClr val="FFFFFF"/>
          </a:solidFill>
          <a:ln w="19050">
            <a:solidFill>
              <a:srgbClr val="36C4CC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1371600" y="5845416"/>
            <a:ext cx="9966960" cy="402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Reconozco por qué una imagen puede no cargar al publicar el sitio.</a:t>
            </a:r>
            <a:endParaRPr lang="en-US" sz="1200" dirty="0"/>
          </a:p>
        </p:txBody>
      </p:sp>
      <p:sp>
        <p:nvSpPr>
          <p:cNvPr id="31" name="Text 27"/>
          <p:cNvSpPr txBox="1"/>
          <p:nvPr/>
        </p:nvSpPr>
        <p:spPr>
          <a:xfrm>
            <a:off x="11002975" y="6441719"/>
            <a:ext cx="914400" cy="225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37</a:t>
            </a:r>
            <a:endParaRPr lang="en-US" sz="9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bands/band_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1542364"/>
            <a:ext cx="7772400" cy="241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E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NIVELADOR</a:t>
            </a:r>
            <a:endParaRPr lang="en-US" sz="115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784109"/>
            <a:ext cx="10424160" cy="580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 de consultas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2267598"/>
            <a:ext cx="1042416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parte quedó menos clara?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40080" y="2726912"/>
            <a:ext cx="2688336" cy="1893665"/>
          </a:xfrm>
          <a:prstGeom prst="roundRect">
            <a:avLst>
              <a:gd name="adj" fmla="val 4829"/>
            </a:avLst>
          </a:prstGeom>
          <a:solidFill>
            <a:srgbClr val="F0FCE8"/>
          </a:solidFill>
          <a:ln w="12700">
            <a:solidFill>
              <a:srgbClr val="CFF2B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41248" y="2928366"/>
            <a:ext cx="2286000" cy="402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4FB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¿Cuál?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427971"/>
            <a:ext cx="2231136" cy="104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formato uso para el logotipo de mi sitio?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465576" y="2726912"/>
            <a:ext cx="2688336" cy="1893665"/>
          </a:xfrm>
          <a:prstGeom prst="roundRect">
            <a:avLst>
              <a:gd name="adj" fmla="val 4829"/>
            </a:avLst>
          </a:prstGeom>
          <a:solidFill>
            <a:srgbClr val="EAFAFB"/>
          </a:solidFill>
          <a:ln w="12700">
            <a:solidFill>
              <a:srgbClr val="BCE9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666744" y="2928366"/>
            <a:ext cx="2286000" cy="402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E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¿Cómo?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3694176" y="3427971"/>
            <a:ext cx="2231136" cy="104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escribo el alt de una imagen decorativa?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291072" y="2726912"/>
            <a:ext cx="2688336" cy="1893665"/>
          </a:xfrm>
          <a:prstGeom prst="roundRect">
            <a:avLst>
              <a:gd name="adj" fmla="val 4829"/>
            </a:avLst>
          </a:prstGeom>
          <a:solidFill>
            <a:srgbClr val="F0FCE8"/>
          </a:solidFill>
          <a:ln w="12700">
            <a:solidFill>
              <a:srgbClr val="CFF2B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92240" y="2928366"/>
            <a:ext cx="2286000" cy="402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4FB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qué?</a:t>
            </a:r>
            <a:endParaRPr lang="en-US" sz="1900" dirty="0"/>
          </a:p>
        </p:txBody>
      </p:sp>
      <p:sp>
        <p:nvSpPr>
          <p:cNvPr id="14" name="Text 11"/>
          <p:cNvSpPr txBox="1"/>
          <p:nvPr/>
        </p:nvSpPr>
        <p:spPr>
          <a:xfrm>
            <a:off x="6519672" y="3427971"/>
            <a:ext cx="2231136" cy="104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mi imagen se ve en local y no al publicar?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9116568" y="2726912"/>
            <a:ext cx="2688336" cy="1893665"/>
          </a:xfrm>
          <a:prstGeom prst="roundRect">
            <a:avLst>
              <a:gd name="adj" fmla="val 4829"/>
            </a:avLst>
          </a:prstGeom>
          <a:solidFill>
            <a:srgbClr val="EAFAFB"/>
          </a:solidFill>
          <a:ln w="12700">
            <a:solidFill>
              <a:srgbClr val="BCE9E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317736" y="2928366"/>
            <a:ext cx="2286000" cy="402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E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¿Cuánto?</a:t>
            </a:r>
            <a:endParaRPr lang="en-US" sz="1900" dirty="0"/>
          </a:p>
        </p:txBody>
      </p:sp>
      <p:sp>
        <p:nvSpPr>
          <p:cNvPr id="17" name="Text 14"/>
          <p:cNvSpPr txBox="1"/>
          <p:nvPr/>
        </p:nvSpPr>
        <p:spPr>
          <a:xfrm>
            <a:off x="9345168" y="3427971"/>
            <a:ext cx="2231136" cy="104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¿Cuánto debería pesar una imagen aceptable?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40080" y="4862322"/>
            <a:ext cx="10927080" cy="1168432"/>
          </a:xfrm>
          <a:prstGeom prst="roundRect">
            <a:avLst>
              <a:gd name="adj" fmla="val 7826"/>
            </a:avLst>
          </a:prstGeom>
          <a:solidFill>
            <a:srgbClr val="F7FDF4"/>
          </a:solidFill>
          <a:ln w="12700">
            <a:solidFill>
              <a:srgbClr val="DCEFD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60120" y="5023485"/>
            <a:ext cx="5943600" cy="28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4FB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Bancos de imágenes libres para tus proyectos</a:t>
            </a:r>
            <a:endParaRPr lang="en-US" sz="1450" dirty="0"/>
          </a:p>
        </p:txBody>
      </p:sp>
      <p:sp>
        <p:nvSpPr>
          <p:cNvPr id="20" name="Text 17"/>
          <p:cNvSpPr txBox="1"/>
          <p:nvPr/>
        </p:nvSpPr>
        <p:spPr>
          <a:xfrm>
            <a:off x="960120" y="5329695"/>
            <a:ext cx="10287000" cy="604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unsplash.com  ·  pexels.com  ·  pixabay.com  ·  Para iconos vectoriales: iconify.design y flaticon.com. Revisa siempre la licencia antes de publicar.</a:t>
            </a:r>
            <a:endParaRPr lang="en-US" sz="1250" dirty="0"/>
          </a:p>
        </p:txBody>
      </p:sp>
      <p:sp>
        <p:nvSpPr>
          <p:cNvPr id="22" name="Text 18"/>
          <p:cNvSpPr txBox="1"/>
          <p:nvPr/>
        </p:nvSpPr>
        <p:spPr>
          <a:xfrm>
            <a:off x="11002975" y="6441719"/>
            <a:ext cx="914400" cy="225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/ 37</a:t>
            </a:r>
            <a:endParaRPr lang="en-US" sz="9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pages/cinfo_F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002975" y="618134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/ 37</a:t>
            </a:r>
            <a:endParaRPr lang="en-US" sz="9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bands/band_F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1542364"/>
            <a:ext cx="7772400" cy="241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4FB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</a:t>
            </a:r>
            <a:endParaRPr lang="en-US" sz="115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784109"/>
            <a:ext cx="10424160" cy="580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 de la sesión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2267598"/>
            <a:ext cx="1042416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parte del 40 % de participación en clases [P].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40080" y="2606040"/>
            <a:ext cx="5349240" cy="3424714"/>
          </a:xfrm>
          <a:prstGeom prst="roundRect">
            <a:avLst>
              <a:gd name="adj" fmla="val 2670"/>
            </a:avLst>
          </a:prstGeom>
          <a:solidFill>
            <a:srgbClr val="F0FCE8"/>
          </a:solidFill>
          <a:ln w="12700">
            <a:solidFill>
              <a:srgbClr val="CFF2B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60120" y="2767203"/>
            <a:ext cx="4754880" cy="322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FB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Consigna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3170111"/>
            <a:ext cx="4800600" cy="2699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4000"/>
              </a:lnSpc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Añade a tu página una galería con al menos seis imágenes, cada una dentro de su &lt;figure&gt; con &lt;figcaption&gt;.</a:t>
            </a:r>
            <a:endParaRPr lang="en-US" sz="1150" dirty="0"/>
          </a:p>
          <a:p>
            <a:pPr marL="203200" indent="-203200">
              <a:lnSpc>
                <a:spcPct val="114000"/>
              </a:lnSpc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optimizadas: ninguna debe superar los 200 KB.</a:t>
            </a:r>
            <a:endParaRPr lang="en-US" sz="1150" dirty="0"/>
          </a:p>
          <a:p>
            <a:pPr marL="203200" indent="-203200">
              <a:lnSpc>
                <a:spcPct val="114000"/>
              </a:lnSpc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con alt descriptivo y con width, height y loading.</a:t>
            </a:r>
            <a:endParaRPr lang="en-US" sz="1150" dirty="0"/>
          </a:p>
          <a:p>
            <a:pPr marL="203200" indent="-203200">
              <a:lnSpc>
                <a:spcPct val="114000"/>
              </a:lnSpc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Incluye al menos un SVG (logotipo o icono) y un favicon.</a:t>
            </a:r>
            <a:endParaRPr lang="en-US" sz="1150" dirty="0"/>
          </a:p>
          <a:p>
            <a:pPr marL="203200" indent="-203200">
              <a:lnSpc>
                <a:spcPct val="114000"/>
              </a:lnSpc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 sin errores, publica en Netlify y comprueba que todas las imágenes carguen.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17920" y="2606040"/>
            <a:ext cx="5349240" cy="3424714"/>
          </a:xfrm>
          <a:prstGeom prst="roundRect">
            <a:avLst>
              <a:gd name="adj" fmla="val 2670"/>
            </a:avLst>
          </a:prstGeom>
          <a:solidFill>
            <a:srgbClr val="F7FDF4"/>
          </a:solidFill>
          <a:ln w="12700">
            <a:solidFill>
              <a:srgbClr val="DCEFD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537960" y="2767203"/>
            <a:ext cx="4754880" cy="322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Indicaciones de entrega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6592824" y="3194285"/>
            <a:ext cx="384048" cy="338442"/>
          </a:xfrm>
          <a:prstGeom prst="ellipse">
            <a:avLst/>
          </a:prstGeom>
          <a:solidFill>
            <a:srgbClr val="36C4CC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592824" y="3194285"/>
            <a:ext cx="384048" cy="3384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7132320" y="3186227"/>
            <a:ext cx="4206240" cy="499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Subir la URL publicada al Aula Virtual.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592824" y="3838937"/>
            <a:ext cx="384048" cy="338442"/>
          </a:xfrm>
          <a:prstGeom prst="ellipse">
            <a:avLst/>
          </a:prstGeom>
          <a:solidFill>
            <a:srgbClr val="36C4CC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592824" y="3838937"/>
            <a:ext cx="384048" cy="3384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7132320" y="3830879"/>
            <a:ext cx="4206240" cy="499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Adjuntar una captura de F12 › Red mostrando el peso total.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592824" y="4483589"/>
            <a:ext cx="384048" cy="338442"/>
          </a:xfrm>
          <a:prstGeom prst="ellipse">
            <a:avLst/>
          </a:prstGeom>
          <a:solidFill>
            <a:srgbClr val="36C4C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592824" y="4483589"/>
            <a:ext cx="384048" cy="3384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7132320" y="4475531"/>
            <a:ext cx="4206240" cy="499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envío es obligatorio dentro del plazo establecido.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592824" y="5128241"/>
            <a:ext cx="384048" cy="338442"/>
          </a:xfrm>
          <a:prstGeom prst="ellipse">
            <a:avLst/>
          </a:prstGeom>
          <a:solidFill>
            <a:srgbClr val="36C4CC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592824" y="5128241"/>
            <a:ext cx="384048" cy="3384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7132320" y="5120183"/>
            <a:ext cx="4206240" cy="499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registra en ClassDojo como participación en clase.</a:t>
            </a:r>
            <a:endParaRPr lang="en-US" sz="1200" dirty="0"/>
          </a:p>
        </p:txBody>
      </p:sp>
      <p:pic>
        <p:nvPicPr>
          <p:cNvPr id="23" name="Image 1" descr="/home/claude/assets/qr_for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5426393"/>
            <a:ext cx="644652" cy="644652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9875520" y="5587556"/>
            <a:ext cx="1417320" cy="322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</a:t>
            </a:r>
            <a:endParaRPr lang="en-US" sz="1050" dirty="0"/>
          </a:p>
        </p:txBody>
      </p:sp>
      <p:sp>
        <p:nvSpPr>
          <p:cNvPr id="26" name="Text 21"/>
          <p:cNvSpPr txBox="1"/>
          <p:nvPr/>
        </p:nvSpPr>
        <p:spPr>
          <a:xfrm>
            <a:off x="11002975" y="6441719"/>
            <a:ext cx="914400" cy="225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/ 37</a:t>
            </a:r>
            <a:endParaRPr lang="en-US" sz="9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pages/cinfo_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002975" y="618134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/ 37</a:t>
            </a:r>
            <a:endParaRPr lang="en-US" sz="9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bands/band_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1542364"/>
            <a:ext cx="7772400" cy="241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E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</a:t>
            </a:r>
            <a:endParaRPr lang="en-US" sz="115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784109"/>
            <a:ext cx="10424160" cy="580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clave de la sesión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786384" y="2686622"/>
            <a:ext cx="347472" cy="306210"/>
          </a:xfrm>
          <a:prstGeom prst="ellipse">
            <a:avLst/>
          </a:prstGeom>
          <a:solidFill>
            <a:srgbClr val="72EF29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86384" y="2686622"/>
            <a:ext cx="347472" cy="306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353312" y="2646331"/>
            <a:ext cx="10012680" cy="402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imágenes son lo más pesado de una página: tratarlas bien es lo que la hace rápida.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86384" y="3121762"/>
            <a:ext cx="347472" cy="306210"/>
          </a:xfrm>
          <a:prstGeom prst="ellipse">
            <a:avLst/>
          </a:prstGeom>
          <a:solidFill>
            <a:srgbClr val="72EF29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86384" y="3121762"/>
            <a:ext cx="347472" cy="306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1353312" y="3081471"/>
            <a:ext cx="10012680" cy="402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bits para fotografías; vectorial (SVG) para logotipos, iconos e ilustraciones.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86384" y="3556902"/>
            <a:ext cx="347472" cy="306210"/>
          </a:xfrm>
          <a:prstGeom prst="ellipse">
            <a:avLst/>
          </a:prstGeom>
          <a:solidFill>
            <a:srgbClr val="72EF29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86384" y="3556902"/>
            <a:ext cx="347472" cy="306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1353312" y="3516611"/>
            <a:ext cx="10012680" cy="402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WebP pesa entre un 25 % y un 35 % menos que JPG con la misma calidad visible.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786384" y="3992042"/>
            <a:ext cx="347472" cy="306210"/>
          </a:xfrm>
          <a:prstGeom prst="ellipse">
            <a:avLst/>
          </a:prstGeom>
          <a:solidFill>
            <a:srgbClr val="72EF29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86384" y="3992042"/>
            <a:ext cx="347472" cy="306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1353312" y="3951751"/>
            <a:ext cx="10012680" cy="402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alt describe lo que la imagen aporta. Si es decorativa, se deja vacío.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786384" y="4427182"/>
            <a:ext cx="347472" cy="306210"/>
          </a:xfrm>
          <a:prstGeom prst="ellipse">
            <a:avLst/>
          </a:prstGeom>
          <a:solidFill>
            <a:srgbClr val="72EF29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86384" y="4427182"/>
            <a:ext cx="347472" cy="306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1353312" y="4386891"/>
            <a:ext cx="10012680" cy="402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 y height evitan que el contenido salte; loading="lazy" acelera la apertura.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786384" y="4862322"/>
            <a:ext cx="347472" cy="306210"/>
          </a:xfrm>
          <a:prstGeom prst="ellipse">
            <a:avLst/>
          </a:prstGeom>
          <a:solidFill>
            <a:srgbClr val="72EF29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86384" y="4862322"/>
            <a:ext cx="347472" cy="306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1353312" y="4822031"/>
            <a:ext cx="10012680" cy="402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Optimizar es redimensionar, comprimir y convertir, siempre en ese orden.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786384" y="5297462"/>
            <a:ext cx="347472" cy="306210"/>
          </a:xfrm>
          <a:prstGeom prst="ellipse">
            <a:avLst/>
          </a:prstGeom>
          <a:solidFill>
            <a:srgbClr val="72EF29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786384" y="5297462"/>
            <a:ext cx="347472" cy="306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1353312" y="5257171"/>
            <a:ext cx="10012680" cy="402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rutas se rompen por mayúsculas, espacios y tildes en los nombres de archivo.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786384" y="5732602"/>
            <a:ext cx="347472" cy="306210"/>
          </a:xfrm>
          <a:prstGeom prst="ellipse">
            <a:avLst/>
          </a:prstGeom>
          <a:solidFill>
            <a:srgbClr val="72EF29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786384" y="5732602"/>
            <a:ext cx="347472" cy="306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1353312" y="5692311"/>
            <a:ext cx="10012680" cy="402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&lt;figure&gt; con &lt;figcaption&gt; agrupa la imagen con su leyenda como una unidad.</a:t>
            </a:r>
            <a:endParaRPr lang="en-US" sz="1250" dirty="0"/>
          </a:p>
        </p:txBody>
      </p:sp>
      <p:sp>
        <p:nvSpPr>
          <p:cNvPr id="30" name="Text 26"/>
          <p:cNvSpPr txBox="1"/>
          <p:nvPr/>
        </p:nvSpPr>
        <p:spPr>
          <a:xfrm>
            <a:off x="11002975" y="6441719"/>
            <a:ext cx="914400" cy="225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/ 37</a:t>
            </a:r>
            <a:endParaRPr lang="en-US" sz="9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bands/band_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1542364"/>
            <a:ext cx="7772400" cy="241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E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ORIENTADOR</a:t>
            </a:r>
            <a:endParaRPr lang="en-US" sz="115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784109"/>
            <a:ext cx="10424160" cy="580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Hacia dónde vamos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2267598"/>
            <a:ext cx="1042416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sitio ya tiene estructura y contenido visual. Lo que viene.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1051560" y="3895344"/>
            <a:ext cx="10104120" cy="0"/>
          </a:xfrm>
          <a:prstGeom prst="line">
            <a:avLst/>
          </a:prstGeom>
          <a:noFill/>
          <a:ln w="31750">
            <a:solidFill>
              <a:srgbClr val="DCEFD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58368" y="2968657"/>
            <a:ext cx="2139696" cy="225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20" kern="0" dirty="0">
                <a:solidFill>
                  <a:srgbClr val="6E7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03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3210401"/>
            <a:ext cx="2139696" cy="362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AD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Maquetación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1627632" y="3806704"/>
            <a:ext cx="201168" cy="177279"/>
          </a:xfrm>
          <a:prstGeom prst="ellipse">
            <a:avLst/>
          </a:prstGeom>
          <a:solidFill>
            <a:srgbClr val="5AD3DA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58368" y="4177379"/>
            <a:ext cx="2139696" cy="1128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6E7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con etiquetas semánticas.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2935224" y="2968657"/>
            <a:ext cx="2139696" cy="225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20" kern="0" dirty="0">
                <a:solidFill>
                  <a:srgbClr val="6E7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04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2935224" y="3210401"/>
            <a:ext cx="2139696" cy="362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2E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Imágenes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3867912" y="3774472"/>
            <a:ext cx="274320" cy="241745"/>
          </a:xfrm>
          <a:prstGeom prst="ellipse">
            <a:avLst/>
          </a:prstGeom>
          <a:solidFill>
            <a:srgbClr val="72EF29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935224" y="4177379"/>
            <a:ext cx="2139696" cy="1128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6E7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Formatos, optimización y rutas.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5212080" y="2968657"/>
            <a:ext cx="2139696" cy="225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20" kern="0" dirty="0">
                <a:solidFill>
                  <a:srgbClr val="6E7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05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5212080" y="3210401"/>
            <a:ext cx="2139696" cy="362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6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6181344" y="3806704"/>
            <a:ext cx="201168" cy="177279"/>
          </a:xfrm>
          <a:prstGeom prst="ellipse">
            <a:avLst/>
          </a:prstGeom>
          <a:solidFill>
            <a:srgbClr val="36C4CC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212080" y="4177379"/>
            <a:ext cx="2139696" cy="1128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6E7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organizados y accesibles.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7488936" y="2968657"/>
            <a:ext cx="2139696" cy="225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20" kern="0" dirty="0">
                <a:solidFill>
                  <a:srgbClr val="6E7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06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7488936" y="3210401"/>
            <a:ext cx="2139696" cy="362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FB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Formularios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8458200" y="3806704"/>
            <a:ext cx="201168" cy="177279"/>
          </a:xfrm>
          <a:prstGeom prst="ellipse">
            <a:avLst/>
          </a:prstGeom>
          <a:solidFill>
            <a:srgbClr val="4FB817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488936" y="4177379"/>
            <a:ext cx="2139696" cy="1128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6E7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Campos, validación y el Taller TA1.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9765792" y="2968657"/>
            <a:ext cx="2139696" cy="225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20" kern="0" dirty="0">
                <a:solidFill>
                  <a:srgbClr val="6E7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07</a:t>
            </a:r>
            <a:endParaRPr lang="en-US" sz="950" dirty="0"/>
          </a:p>
        </p:txBody>
      </p:sp>
      <p:sp>
        <p:nvSpPr>
          <p:cNvPr id="24" name="Text 21"/>
          <p:cNvSpPr txBox="1"/>
          <p:nvPr/>
        </p:nvSpPr>
        <p:spPr>
          <a:xfrm>
            <a:off x="9765792" y="3210401"/>
            <a:ext cx="2139696" cy="362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3E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Multimedia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10735056" y="3806704"/>
            <a:ext cx="201168" cy="177279"/>
          </a:xfrm>
          <a:prstGeom prst="ellipse">
            <a:avLst/>
          </a:prstGeom>
          <a:solidFill>
            <a:srgbClr val="63ED12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765792" y="4177379"/>
            <a:ext cx="2139696" cy="1128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6E7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y audio incrustados.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640080" y="5345811"/>
            <a:ext cx="10927080" cy="684943"/>
          </a:xfrm>
          <a:prstGeom prst="roundRect">
            <a:avLst>
              <a:gd name="adj" fmla="val 13350"/>
            </a:avLst>
          </a:prstGeom>
          <a:solidFill>
            <a:srgbClr val="F0FCE8"/>
          </a:solidFill>
          <a:ln w="12700">
            <a:solidFill>
              <a:srgbClr val="CFF2B8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60120" y="5345811"/>
            <a:ext cx="10287000" cy="6849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sesión 05 organizamos datos en tablas accesibles. Trae tu página de hoy: seguiremos ampliando el mismo proyecto.</a:t>
            </a:r>
            <a:endParaRPr lang="en-US" sz="1250" dirty="0"/>
          </a:p>
        </p:txBody>
      </p:sp>
      <p:sp>
        <p:nvSpPr>
          <p:cNvPr id="29" name="Text 26"/>
          <p:cNvSpPr txBox="1"/>
          <p:nvPr/>
        </p:nvSpPr>
        <p:spPr>
          <a:xfrm>
            <a:off x="640080" y="6232208"/>
            <a:ext cx="5486400" cy="241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Ing. Dagner Anibal Chuman Lluen</a:t>
            </a:r>
            <a:endParaRPr lang="en-US" sz="1100" dirty="0"/>
          </a:p>
        </p:txBody>
      </p:sp>
      <p:sp>
        <p:nvSpPr>
          <p:cNvPr id="31" name="Text 27"/>
          <p:cNvSpPr txBox="1"/>
          <p:nvPr/>
        </p:nvSpPr>
        <p:spPr>
          <a:xfrm>
            <a:off x="11002975" y="6441719"/>
            <a:ext cx="914400" cy="225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/ 37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2026-09-16T04:28:31Z</dcterms:created>
  <dcterms:modified xsi:type="dcterms:W3CDTF">2026-09-16T04:28:31Z</dcterms:modified>
</cp:coreProperties>
</file>