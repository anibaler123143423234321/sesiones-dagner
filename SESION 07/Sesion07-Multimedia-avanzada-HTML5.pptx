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1f60f525-79d3-e292-69a6-a7f6ce6c4c4e}">
          <p14:sldIdLst>
            <p14:sldId id="256"/>
            <p14:sldId id="257"/>
            <p14:sldId id="258"/>
            <p14:sldId id="259"/>
          </p14:sldIdLst>
        </p14:section>
        <p14:section name="Conceptual" id="{dd015e44-36ca-799f-30f4-8a6401648012}">
          <p14:sldIdLst>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Instrumental" id="{d7d16cc3-fb9b-3882-f1b7-75697854c421}">
          <p14:sldIdLst>
            <p14:sldId id="289"/>
            <p14:sldId id="290"/>
            <p14:sldId id="291"/>
            <p14:sldId id="292"/>
            <p14:sldId id="293"/>
            <p14:sldId id="294"/>
            <p14:sldId id="295"/>
          </p14:sldIdLst>
        </p14:section>
        <p14:section name="Nivelador" id="{a0319d8c-7196-c680-20d2-ce6c61d13568}">
          <p14:sldIdLst>
            <p14:sldId id="296"/>
            <p14:sldId id="297"/>
            <p14:sldId id="298"/>
          </p14:sldIdLst>
        </p14:section>
        <p14:section name="Funcional" id="{977f3edb-6dc2-4c40-2654-67aee00377fd}">
          <p14:sldIdLst>
            <p14:sldId id="299"/>
            <p14:sldId id="300"/>
          </p14:sldIdLst>
        </p14:section>
        <p14:section name="Orientador" id="{a0740b2a-536f-e2c9-35df-1a4f8716201d}">
          <p14:sldIdLst>
            <p14:sldId id="301"/>
            <p14:sldId id="302"/>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arranque: ¿qué formatos de video conocen? ¿Qué pasa cuando un video no carga en una página?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minutos. Repaso de la sesión 06. Objetivo: terminar con el formulario funcionando en contactame.html antes de pasar a multimedia.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contactame.html con Live Server. Tras escribirlo: enviar vacío para ver la validación, luego completo para ver los pares name=valor en la barra de direcciones.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sobre-mi.html en VS Code con Live Server. Seguir los seis pasos en orden. Mostrar en DevTools › Network cómo cambia la descarga al pasar de preload="auto" a "metadata".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minutos. Proyectar el archivo de Figma y corregir en vivo siguiendo el documento de correcciones. La sesión 08 lee estas medidas para escribir header.css.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jp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jp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jp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jp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jp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jp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jpg"/><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jpg"/><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portada-top.png">    </p:cNvPr>
          <p:cNvPicPr>
            <a:picLocks noChangeAspect="1"/>
          </p:cNvPicPr>
          <p:nvPr/>
        </p:nvPicPr>
        <p:blipFill>
          <a:blip r:embed="rId1"/>
          <a:stretch>
            <a:fillRect/>
          </a:stretch>
        </p:blipFill>
        <p:spPr>
          <a:xfrm>
            <a:off x="0" y="0"/>
            <a:ext cx="12191695" cy="1463040"/>
          </a:xfrm>
          <a:prstGeom prst="rect">
            <a:avLst/>
          </a:prstGeom>
        </p:spPr>
      </p:pic>
      <p:pic>
        <p:nvPicPr>
          <p:cNvPr id="3" name="Image 1" descr="/home/claude/trabajo/plantilla/assets/puntos.png">    </p:cNvPr>
          <p:cNvPicPr>
            <a:picLocks noChangeAspect="1"/>
          </p:cNvPicPr>
          <p:nvPr/>
        </p:nvPicPr>
        <p:blipFill>
          <a:blip r:embed="rId2"/>
          <a:stretch>
            <a:fillRect/>
          </a:stretch>
        </p:blipFill>
        <p:spPr>
          <a:xfrm>
            <a:off x="137160" y="5897880"/>
            <a:ext cx="1828800" cy="82296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MAGEN">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CEPTUAL">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band-conceptual.jpg">    </p:cNvPr>
          <p:cNvPicPr>
            <a:picLocks noChangeAspect="1"/>
          </p:cNvPicPr>
          <p:nvPr/>
        </p:nvPicPr>
        <p:blipFill>
          <a:blip r:embed="rId1"/>
          <a:stretch>
            <a:fillRect/>
          </a:stretch>
        </p:blipFill>
        <p:spPr>
          <a:xfrm>
            <a:off x="0" y="0"/>
            <a:ext cx="12191695" cy="1188720"/>
          </a:xfrm>
          <a:prstGeom prst="rect">
            <a:avLst/>
          </a:prstGeom>
        </p:spPr>
      </p:pic>
      <p:sp>
        <p:nvSpPr>
          <p:cNvPr id="3" name="Text 0"/>
          <p:cNvSpPr/>
          <p:nvPr>
            <p:ph idx="101" type="title" hasCustomPrompt="1"/>
          </p:nvPr>
        </p:nvSpPr>
        <p:spPr>
          <a:xfrm>
            <a:off x="640080" y="1810512"/>
            <a:ext cx="10927080" cy="512064"/>
          </a:xfrm>
          <a:prstGeom prst="rect">
            <a:avLst/>
          </a:prstGeom>
          <a:noFill/>
          <a:ln/>
        </p:spPr>
        <p:txBody>
          <a:bodyPr wrap="square" rtlCol="0"/>
          <a:lstStyle>
            <a:lvl1pPr algn="l" indent="0" marL="0">
              <a:buNone/>
              <a:defRPr lang="en-US" sz="2800" b="1" dirty="0">
                <a:solidFill>
                  <a:srgbClr val="2A2A2A"/>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CEPTUAL_LIBRE">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band-conceptual.jpg">    </p:cNvPr>
          <p:cNvPicPr>
            <a:picLocks noChangeAspect="1"/>
          </p:cNvPicPr>
          <p:nvPr/>
        </p:nvPicPr>
        <p:blipFill>
          <a:blip r:embed="rId1"/>
          <a:stretch>
            <a:fillRect/>
          </a:stretch>
        </p:blipFill>
        <p:spPr>
          <a:xfrm>
            <a:off x="0" y="0"/>
            <a:ext cx="12191695" cy="118872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NSTRUMENTAL">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band-instrumental.jpg">    </p:cNvPr>
          <p:cNvPicPr>
            <a:picLocks noChangeAspect="1"/>
          </p:cNvPicPr>
          <p:nvPr/>
        </p:nvPicPr>
        <p:blipFill>
          <a:blip r:embed="rId1"/>
          <a:stretch>
            <a:fillRect/>
          </a:stretch>
        </p:blipFill>
        <p:spPr>
          <a:xfrm>
            <a:off x="0" y="0"/>
            <a:ext cx="12191695" cy="1188720"/>
          </a:xfrm>
          <a:prstGeom prst="rect">
            <a:avLst/>
          </a:prstGeom>
        </p:spPr>
      </p:pic>
      <p:sp>
        <p:nvSpPr>
          <p:cNvPr id="3" name="Text 0"/>
          <p:cNvSpPr/>
          <p:nvPr>
            <p:ph idx="101" type="title" hasCustomPrompt="1"/>
          </p:nvPr>
        </p:nvSpPr>
        <p:spPr>
          <a:xfrm>
            <a:off x="640080" y="1810512"/>
            <a:ext cx="10927080" cy="512064"/>
          </a:xfrm>
          <a:prstGeom prst="rect">
            <a:avLst/>
          </a:prstGeom>
          <a:noFill/>
          <a:ln/>
        </p:spPr>
        <p:txBody>
          <a:bodyPr wrap="square" rtlCol="0"/>
          <a:lstStyle>
            <a:lvl1pPr algn="l" indent="0" marL="0">
              <a:buNone/>
              <a:defRPr lang="en-US" sz="2800" b="1" dirty="0">
                <a:solidFill>
                  <a:srgbClr val="2A2A2A"/>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NSTRUMENTAL_LIBRE">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band-instrumental.jpg">    </p:cNvPr>
          <p:cNvPicPr>
            <a:picLocks noChangeAspect="1"/>
          </p:cNvPicPr>
          <p:nvPr/>
        </p:nvPicPr>
        <p:blipFill>
          <a:blip r:embed="rId1"/>
          <a:stretch>
            <a:fillRect/>
          </a:stretch>
        </p:blipFill>
        <p:spPr>
          <a:xfrm>
            <a:off x="0" y="0"/>
            <a:ext cx="12191695" cy="118872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NIVELADOR">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band-nivelador.jpg">    </p:cNvPr>
          <p:cNvPicPr>
            <a:picLocks noChangeAspect="1"/>
          </p:cNvPicPr>
          <p:nvPr/>
        </p:nvPicPr>
        <p:blipFill>
          <a:blip r:embed="rId1"/>
          <a:stretch>
            <a:fillRect/>
          </a:stretch>
        </p:blipFill>
        <p:spPr>
          <a:xfrm>
            <a:off x="0" y="0"/>
            <a:ext cx="12191695" cy="1188720"/>
          </a:xfrm>
          <a:prstGeom prst="rect">
            <a:avLst/>
          </a:prstGeom>
        </p:spPr>
      </p:pic>
      <p:sp>
        <p:nvSpPr>
          <p:cNvPr id="3" name="Text 0"/>
          <p:cNvSpPr/>
          <p:nvPr>
            <p:ph idx="101" type="title" hasCustomPrompt="1"/>
          </p:nvPr>
        </p:nvSpPr>
        <p:spPr>
          <a:xfrm>
            <a:off x="640080" y="1810512"/>
            <a:ext cx="10927080" cy="512064"/>
          </a:xfrm>
          <a:prstGeom prst="rect">
            <a:avLst/>
          </a:prstGeom>
          <a:noFill/>
          <a:ln/>
        </p:spPr>
        <p:txBody>
          <a:bodyPr wrap="square" rtlCol="0"/>
          <a:lstStyle>
            <a:lvl1pPr algn="l" indent="0" marL="0">
              <a:buNone/>
              <a:defRPr lang="en-US" sz="2800" b="1" dirty="0">
                <a:solidFill>
                  <a:srgbClr val="2A2A2A"/>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NIVELADOR_LIBRE">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band-nivelador.jpg">    </p:cNvPr>
          <p:cNvPicPr>
            <a:picLocks noChangeAspect="1"/>
          </p:cNvPicPr>
          <p:nvPr/>
        </p:nvPicPr>
        <p:blipFill>
          <a:blip r:embed="rId1"/>
          <a:stretch>
            <a:fillRect/>
          </a:stretch>
        </p:blipFill>
        <p:spPr>
          <a:xfrm>
            <a:off x="0" y="0"/>
            <a:ext cx="12191695" cy="118872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UNCIONAL">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band-funcional.jpg">    </p:cNvPr>
          <p:cNvPicPr>
            <a:picLocks noChangeAspect="1"/>
          </p:cNvPicPr>
          <p:nvPr/>
        </p:nvPicPr>
        <p:blipFill>
          <a:blip r:embed="rId1"/>
          <a:stretch>
            <a:fillRect/>
          </a:stretch>
        </p:blipFill>
        <p:spPr>
          <a:xfrm>
            <a:off x="0" y="0"/>
            <a:ext cx="12191695" cy="1188720"/>
          </a:xfrm>
          <a:prstGeom prst="rect">
            <a:avLst/>
          </a:prstGeom>
        </p:spPr>
      </p:pic>
      <p:sp>
        <p:nvSpPr>
          <p:cNvPr id="3" name="Text 0"/>
          <p:cNvSpPr/>
          <p:nvPr>
            <p:ph idx="101" type="title" hasCustomPrompt="1"/>
          </p:nvPr>
        </p:nvSpPr>
        <p:spPr>
          <a:xfrm>
            <a:off x="640080" y="1810512"/>
            <a:ext cx="10927080" cy="512064"/>
          </a:xfrm>
          <a:prstGeom prst="rect">
            <a:avLst/>
          </a:prstGeom>
          <a:noFill/>
          <a:ln/>
        </p:spPr>
        <p:txBody>
          <a:bodyPr wrap="square" rtlCol="0"/>
          <a:lstStyle>
            <a:lvl1pPr algn="l" indent="0" marL="0">
              <a:buNone/>
              <a:defRPr lang="en-US" sz="2800" b="1" dirty="0">
                <a:solidFill>
                  <a:srgbClr val="2A2A2A"/>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FUNCIONAL_LIBRE">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band-funcional.jpg">    </p:cNvPr>
          <p:cNvPicPr>
            <a:picLocks noChangeAspect="1"/>
          </p:cNvPicPr>
          <p:nvPr/>
        </p:nvPicPr>
        <p:blipFill>
          <a:blip r:embed="rId1"/>
          <a:stretch>
            <a:fillRect/>
          </a:stretch>
        </p:blipFill>
        <p:spPr>
          <a:xfrm>
            <a:off x="0" y="0"/>
            <a:ext cx="12191695" cy="118872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RIENTADOR">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band-orientador.jpg">    </p:cNvPr>
          <p:cNvPicPr>
            <a:picLocks noChangeAspect="1"/>
          </p:cNvPicPr>
          <p:nvPr/>
        </p:nvPicPr>
        <p:blipFill>
          <a:blip r:embed="rId1"/>
          <a:stretch>
            <a:fillRect/>
          </a:stretch>
        </p:blipFill>
        <p:spPr>
          <a:xfrm>
            <a:off x="0" y="0"/>
            <a:ext cx="12191695" cy="1188720"/>
          </a:xfrm>
          <a:prstGeom prst="rect">
            <a:avLst/>
          </a:prstGeom>
        </p:spPr>
      </p:pic>
      <p:sp>
        <p:nvSpPr>
          <p:cNvPr id="3" name="Text 0"/>
          <p:cNvSpPr/>
          <p:nvPr>
            <p:ph idx="101" type="title" hasCustomPrompt="1"/>
          </p:nvPr>
        </p:nvSpPr>
        <p:spPr>
          <a:xfrm>
            <a:off x="640080" y="1810512"/>
            <a:ext cx="10927080" cy="512064"/>
          </a:xfrm>
          <a:prstGeom prst="rect">
            <a:avLst/>
          </a:prstGeom>
          <a:noFill/>
          <a:ln/>
        </p:spPr>
        <p:txBody>
          <a:bodyPr wrap="square" rtlCol="0"/>
          <a:lstStyle>
            <a:lvl1pPr algn="l" indent="0" marL="0">
              <a:buNone/>
              <a:defRPr lang="en-US" sz="2800" b="1" dirty="0">
                <a:solidFill>
                  <a:srgbClr val="2A2A2A"/>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ORIENTADOR_LIBRE">
    <p:bg>
      <p:bgPr>
        <a:solidFill>
          <a:srgbClr val="FFFFFF"/>
        </a:solidFill>
      </p:bgPr>
    </p:bg>
    <p:spTree>
      <p:nvGrpSpPr>
        <p:cNvPr id="1" name=""/>
        <p:cNvGrpSpPr/>
        <p:nvPr/>
      </p:nvGrpSpPr>
      <p:grpSpPr>
        <a:xfrm>
          <a:off x="0" y="0"/>
          <a:ext cx="0" cy="0"/>
          <a:chOff x="0" y="0"/>
          <a:chExt cx="0" cy="0"/>
        </a:xfrm>
      </p:grpSpPr>
      <p:pic>
        <p:nvPicPr>
          <p:cNvPr id="2" name="Image 0" descr="/home/claude/trabajo/plantilla/assets/band-orientador.jpg">    </p:cNvPr>
          <p:cNvPicPr>
            <a:picLocks noChangeAspect="1"/>
          </p:cNvPicPr>
          <p:nvPr/>
        </p:nvPicPr>
        <p:blipFill>
          <a:blip r:embed="rId1"/>
          <a:stretch>
            <a:fillRect/>
          </a:stretch>
        </p:blipFill>
        <p:spPr>
          <a:xfrm>
            <a:off x="0" y="0"/>
            <a:ext cx="12191695" cy="118872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5.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3.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ndicador de espera">    </p:cNvPr>
          <p:cNvPicPr>
            <a:picLocks noChangeAspect="1"/>
          </p:cNvPicPr>
          <p:nvPr/>
        </p:nvPicPr>
        <p:blipFill>
          <a:blip r:embed="rId1"/>
          <a:stretch>
            <a:fillRect/>
          </a:stretch>
        </p:blipFill>
        <p:spPr>
          <a:xfrm>
            <a:off x="5230368" y="1737360"/>
            <a:ext cx="1737360" cy="1737360"/>
          </a:xfrm>
          <a:prstGeom prst="rect">
            <a:avLst/>
          </a:prstGeom>
        </p:spPr>
      </p:pic>
      <p:sp>
        <p:nvSpPr>
          <p:cNvPr id="3" name="Shape 0"/>
          <p:cNvSpPr/>
          <p:nvPr/>
        </p:nvSpPr>
        <p:spPr>
          <a:xfrm>
            <a:off x="3127248" y="3767328"/>
            <a:ext cx="5943600" cy="841248"/>
          </a:xfrm>
          <a:prstGeom prst="roundRect">
            <a:avLst>
              <a:gd name="adj" fmla="val 50000"/>
            </a:avLst>
          </a:prstGeom>
          <a:solidFill>
            <a:srgbClr val="72EF29"/>
          </a:solidFill>
          <a:ln w="12700">
            <a:solidFill>
              <a:srgbClr val="72EF29"/>
            </a:solidFill>
            <a:prstDash val="solid"/>
          </a:ln>
        </p:spPr>
      </p:sp>
      <p:sp>
        <p:nvSpPr>
          <p:cNvPr id="4" name="Shape 1"/>
          <p:cNvSpPr/>
          <p:nvPr/>
        </p:nvSpPr>
        <p:spPr>
          <a:xfrm>
            <a:off x="3127248" y="3639312"/>
            <a:ext cx="5943600" cy="841248"/>
          </a:xfrm>
          <a:prstGeom prst="roundRect">
            <a:avLst>
              <a:gd name="adj" fmla="val 50000"/>
            </a:avLst>
          </a:prstGeom>
          <a:solidFill>
            <a:srgbClr val="36C4CC"/>
          </a:solidFill>
          <a:ln w="12700">
            <a:solidFill>
              <a:srgbClr val="36C4CC"/>
            </a:solidFill>
            <a:prstDash val="solid"/>
          </a:ln>
        </p:spPr>
      </p:sp>
      <p:sp>
        <p:nvSpPr>
          <p:cNvPr id="5" name="Text 2"/>
          <p:cNvSpPr txBox="1"/>
          <p:nvPr/>
        </p:nvSpPr>
        <p:spPr>
          <a:xfrm>
            <a:off x="3127248" y="3639312"/>
            <a:ext cx="5943600" cy="84124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ESPERANDO A LOS COMPAÑEROS</a:t>
            </a:r>
            <a:endParaRPr lang="en-US" sz="2000" dirty="0"/>
          </a:p>
        </p:txBody>
      </p:sp>
      <p:sp>
        <p:nvSpPr>
          <p:cNvPr id="6" name="Text 3"/>
          <p:cNvSpPr txBox="1"/>
          <p:nvPr/>
        </p:nvSpPr>
        <p:spPr>
          <a:xfrm>
            <a:off x="1371600" y="4700016"/>
            <a:ext cx="9445752" cy="365760"/>
          </a:xfrm>
          <a:prstGeom prst="rect">
            <a:avLst/>
          </a:prstGeom>
          <a:noFill/>
          <a:ln/>
        </p:spPr>
        <p:txBody>
          <a:bodyPr wrap="square" lIns="0" tIns="0" rIns="0" bIns="0" rtlCol="0" anchor="ctr"/>
          <a:lstStyle/>
          <a:p>
            <a:pPr algn="ctr" indent="0" marL="0">
              <a:buNone/>
            </a:pPr>
            <a:r>
              <a:rPr lang="en-US" sz="1600" dirty="0">
                <a:solidFill>
                  <a:srgbClr val="2A2A2A"/>
                </a:solidFill>
                <a:latin typeface="Calibri" pitchFamily="34" charset="0"/>
                <a:ea typeface="Calibri" pitchFamily="34" charset="-122"/>
                <a:cs typeface="Calibri" pitchFamily="34" charset="-120"/>
              </a:rPr>
              <a:t>Sesión 07 · comenzamos en unos minutos</a:t>
            </a:r>
            <a:endParaRPr lang="en-US" sz="1600" dirty="0"/>
          </a:p>
        </p:txBody>
      </p:sp>
      <p:sp>
        <p:nvSpPr>
          <p:cNvPr id="7" name="Text 4"/>
          <p:cNvSpPr txBox="1"/>
          <p:nvPr/>
        </p:nvSpPr>
        <p:spPr>
          <a:xfrm>
            <a:off x="1371600" y="5120640"/>
            <a:ext cx="9445752" cy="310896"/>
          </a:xfrm>
          <a:prstGeom prst="rect">
            <a:avLst/>
          </a:prstGeom>
          <a:noFill/>
          <a:ln/>
        </p:spPr>
        <p:txBody>
          <a:bodyPr wrap="square" lIns="0" tIns="0" rIns="0" bIns="0" rtlCol="0" anchor="ctr"/>
          <a:lstStyle/>
          <a:p>
            <a:pPr algn="ctr" indent="0" marL="0">
              <a:buNone/>
            </a:pPr>
            <a:r>
              <a:rPr lang="en-US" sz="1150" dirty="0">
                <a:solidFill>
                  <a:srgbClr val="6E7673"/>
                </a:solidFill>
                <a:latin typeface="Calibri" pitchFamily="34" charset="0"/>
                <a:ea typeface="Calibri" pitchFamily="34" charset="-122"/>
                <a:cs typeface="Calibri" pitchFamily="34" charset="-120"/>
              </a:rPr>
              <a:t>Abre tu carpeta mi-portafolio en Visual Studio Code y tu archivo de Figma. Hoy repasamos formularios y dejamos listos el video y el audio.</a:t>
            </a:r>
            <a:endParaRPr lang="en-US" sz="1150" dirty="0"/>
          </a:p>
        </p:txBody>
      </p:sp>
      <p:sp>
        <p:nvSpPr>
          <p:cNvPr id="8" name="Shape 5"/>
          <p:cNvSpPr/>
          <p:nvPr/>
        </p:nvSpPr>
        <p:spPr>
          <a:xfrm>
            <a:off x="4718304" y="5861304"/>
            <a:ext cx="2761488" cy="466344"/>
          </a:xfrm>
          <a:prstGeom prst="roundRect">
            <a:avLst>
              <a:gd name="adj" fmla="val 50000"/>
            </a:avLst>
          </a:prstGeom>
          <a:solidFill>
            <a:srgbClr val="F0FCE8"/>
          </a:solidFill>
          <a:ln w="19050">
            <a:solidFill>
              <a:srgbClr val="72EF29"/>
            </a:solidFill>
            <a:prstDash val="solid"/>
          </a:ln>
        </p:spPr>
      </p:sp>
      <p:sp>
        <p:nvSpPr>
          <p:cNvPr id="9" name="Text 6"/>
          <p:cNvSpPr txBox="1"/>
          <p:nvPr/>
        </p:nvSpPr>
        <p:spPr>
          <a:xfrm>
            <a:off x="4718304" y="5861304"/>
            <a:ext cx="2761488" cy="466344"/>
          </a:xfrm>
          <a:prstGeom prst="rect">
            <a:avLst/>
          </a:prstGeom>
          <a:noFill/>
          <a:ln/>
        </p:spPr>
        <p:txBody>
          <a:bodyPr wrap="square" lIns="0" tIns="0" rIns="0" bIns="0" rtlCol="0" anchor="ctr"/>
          <a:lstStyle/>
          <a:p>
            <a:pPr algn="ctr" indent="0" marL="0">
              <a:buNone/>
            </a:pPr>
            <a:r>
              <a:rPr lang="en-US" sz="1000" b="1" spc="300" kern="0" dirty="0">
                <a:solidFill>
                  <a:srgbClr val="4FB817"/>
                </a:solidFill>
                <a:latin typeface="Calibri" pitchFamily="34" charset="0"/>
                <a:ea typeface="Calibri" pitchFamily="34" charset="-122"/>
                <a:cs typeface="Calibri" pitchFamily="34" charset="-120"/>
              </a:rPr>
              <a:t>CURSO DE DISEÑO WEB</a:t>
            </a:r>
            <a:endParaRPr lang="en-US" sz="1000" dirty="0"/>
          </a:p>
        </p:txBody>
      </p:sp>
      <p:sp>
        <p:nvSpPr>
          <p:cNvPr id="10" name="Text 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01 / 48</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2048256"/>
            <a:ext cx="5486400" cy="256032"/>
          </a:xfrm>
          <a:prstGeom prst="rect">
            <a:avLst/>
          </a:prstGeom>
          <a:noFill/>
          <a:ln/>
        </p:spPr>
        <p:txBody>
          <a:bodyPr wrap="square" lIns="0" tIns="0" rIns="0" bIns="0" rtlCol="0" anchor="ctr"/>
          <a:lstStyle/>
          <a:p>
            <a:pPr indent="0" marL="0">
              <a:buNone/>
            </a:pPr>
            <a:r>
              <a:rPr lang="en-US" sz="1100" b="1" spc="300" kern="0" dirty="0">
                <a:solidFill>
                  <a:srgbClr val="1E9AA3"/>
                </a:solidFill>
                <a:latin typeface="Calibri" pitchFamily="34" charset="0"/>
                <a:ea typeface="Calibri" pitchFamily="34" charset="-122"/>
                <a:cs typeface="Calibri" pitchFamily="34" charset="-120"/>
              </a:rPr>
              <a:t>CURSO DE DISEÑO WEB</a:t>
            </a:r>
            <a:endParaRPr lang="en-US" sz="1100" dirty="0"/>
          </a:p>
        </p:txBody>
      </p:sp>
      <p:sp>
        <p:nvSpPr>
          <p:cNvPr id="3" name="Text 1"/>
          <p:cNvSpPr txBox="1"/>
          <p:nvPr/>
        </p:nvSpPr>
        <p:spPr>
          <a:xfrm>
            <a:off x="685800" y="2432304"/>
            <a:ext cx="7223760" cy="914400"/>
          </a:xfrm>
          <a:prstGeom prst="rect">
            <a:avLst/>
          </a:prstGeom>
          <a:noFill/>
          <a:ln/>
        </p:spPr>
        <p:txBody>
          <a:bodyPr wrap="square" lIns="0" tIns="0" rIns="0" bIns="0" rtlCol="0" anchor="ctr"/>
          <a:lstStyle/>
          <a:p>
            <a:pPr indent="0" marL="0">
              <a:buNone/>
            </a:pPr>
            <a:r>
              <a:rPr lang="en-US" sz="3800" b="1" dirty="0">
                <a:solidFill>
                  <a:srgbClr val="2A2A2A"/>
                </a:solidFill>
                <a:latin typeface="Calibri" pitchFamily="34" charset="0"/>
                <a:ea typeface="Calibri" pitchFamily="34" charset="-122"/>
                <a:cs typeface="Calibri" pitchFamily="34" charset="-120"/>
              </a:rPr>
              <a:t>Multimedia avanzada en HTML5</a:t>
            </a:r>
            <a:endParaRPr lang="en-US" sz="3800" dirty="0"/>
          </a:p>
        </p:txBody>
      </p:sp>
      <p:sp>
        <p:nvSpPr>
          <p:cNvPr id="4" name="Shape 2"/>
          <p:cNvSpPr/>
          <p:nvPr/>
        </p:nvSpPr>
        <p:spPr>
          <a:xfrm>
            <a:off x="685800" y="3675888"/>
            <a:ext cx="2148840" cy="457200"/>
          </a:xfrm>
          <a:prstGeom prst="roundRect">
            <a:avLst>
              <a:gd name="adj" fmla="val 50000"/>
            </a:avLst>
          </a:prstGeom>
          <a:solidFill>
            <a:srgbClr val="72EF29"/>
          </a:solidFill>
          <a:ln w="12700">
            <a:solidFill>
              <a:srgbClr val="72EF29"/>
            </a:solidFill>
            <a:prstDash val="solid"/>
          </a:ln>
        </p:spPr>
      </p:sp>
      <p:sp>
        <p:nvSpPr>
          <p:cNvPr id="5" name="Shape 3"/>
          <p:cNvSpPr/>
          <p:nvPr/>
        </p:nvSpPr>
        <p:spPr>
          <a:xfrm>
            <a:off x="685800" y="3566160"/>
            <a:ext cx="2148840" cy="457200"/>
          </a:xfrm>
          <a:prstGeom prst="roundRect">
            <a:avLst>
              <a:gd name="adj" fmla="val 50000"/>
            </a:avLst>
          </a:prstGeom>
          <a:solidFill>
            <a:srgbClr val="36C4CC"/>
          </a:solidFill>
          <a:ln w="12700">
            <a:solidFill>
              <a:srgbClr val="36C4CC"/>
            </a:solidFill>
            <a:prstDash val="solid"/>
          </a:ln>
        </p:spPr>
      </p:sp>
      <p:sp>
        <p:nvSpPr>
          <p:cNvPr id="6" name="Text 4"/>
          <p:cNvSpPr txBox="1"/>
          <p:nvPr/>
        </p:nvSpPr>
        <p:spPr>
          <a:xfrm>
            <a:off x="685800" y="3566160"/>
            <a:ext cx="21488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SESIÓN 07</a:t>
            </a:r>
            <a:endParaRPr lang="en-US" sz="1300" dirty="0"/>
          </a:p>
        </p:txBody>
      </p:sp>
      <p:sp>
        <p:nvSpPr>
          <p:cNvPr id="7" name="Text 5"/>
          <p:cNvSpPr txBox="1"/>
          <p:nvPr/>
        </p:nvSpPr>
        <p:spPr>
          <a:xfrm>
            <a:off x="685800" y="4261104"/>
            <a:ext cx="722376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Repaso de formularios · video · audio · subtítulos · controles propios</a:t>
            </a:r>
            <a:endParaRPr lang="en-US" sz="1250" dirty="0"/>
          </a:p>
        </p:txBody>
      </p:sp>
      <p:sp>
        <p:nvSpPr>
          <p:cNvPr id="8" name="Text 6"/>
          <p:cNvSpPr txBox="1"/>
          <p:nvPr/>
        </p:nvSpPr>
        <p:spPr>
          <a:xfrm>
            <a:off x="685800" y="4809744"/>
            <a:ext cx="2743200" cy="237744"/>
          </a:xfrm>
          <a:prstGeom prst="rect">
            <a:avLst/>
          </a:prstGeom>
          <a:noFill/>
          <a:ln/>
        </p:spPr>
        <p:txBody>
          <a:bodyPr wrap="square" lIns="0" tIns="0" rIns="0" bIns="0" rtlCol="0" anchor="ctr"/>
          <a:lstStyle/>
          <a:p>
            <a:pPr indent="0" marL="0">
              <a:buNone/>
            </a:pPr>
            <a:r>
              <a:rPr lang="en-US" sz="1000" b="1" spc="200" kern="0" dirty="0">
                <a:solidFill>
                  <a:srgbClr val="6E7673"/>
                </a:solidFill>
                <a:latin typeface="Calibri" pitchFamily="34" charset="0"/>
                <a:ea typeface="Calibri" pitchFamily="34" charset="-122"/>
                <a:cs typeface="Calibri" pitchFamily="34" charset="-120"/>
              </a:rPr>
              <a:t>Docente</a:t>
            </a:r>
            <a:endParaRPr lang="en-US" sz="1000" dirty="0"/>
          </a:p>
        </p:txBody>
      </p:sp>
      <p:sp>
        <p:nvSpPr>
          <p:cNvPr id="9" name="Text 7"/>
          <p:cNvSpPr txBox="1"/>
          <p:nvPr/>
        </p:nvSpPr>
        <p:spPr>
          <a:xfrm>
            <a:off x="685800" y="5084064"/>
            <a:ext cx="5486400" cy="329184"/>
          </a:xfrm>
          <a:prstGeom prst="rect">
            <a:avLst/>
          </a:prstGeom>
          <a:noFill/>
          <a:ln/>
        </p:spPr>
        <p:txBody>
          <a:bodyPr wrap="square" lIns="0" tIns="0" rIns="0" bIns="0" rtlCol="0" anchor="ctr"/>
          <a:lstStyle/>
          <a:p>
            <a:pPr indent="0" marL="0">
              <a:buNone/>
            </a:pPr>
            <a:r>
              <a:rPr lang="en-US" sz="1500" b="1" dirty="0">
                <a:solidFill>
                  <a:srgbClr val="2A2A2A"/>
                </a:solidFill>
                <a:latin typeface="Calibri" pitchFamily="34" charset="0"/>
                <a:ea typeface="Calibri" pitchFamily="34" charset="-122"/>
                <a:cs typeface="Calibri" pitchFamily="34" charset="-120"/>
              </a:rPr>
              <a:t>Ing. Dagner Anibal Chuman Lluen</a:t>
            </a:r>
            <a:endParaRPr lang="en-US" sz="1500" dirty="0"/>
          </a:p>
        </p:txBody>
      </p:sp>
      <p:sp>
        <p:nvSpPr>
          <p:cNvPr id="10" name="Shape 8"/>
          <p:cNvSpPr/>
          <p:nvPr/>
        </p:nvSpPr>
        <p:spPr>
          <a:xfrm>
            <a:off x="8366760" y="2240280"/>
            <a:ext cx="3200400" cy="2057400"/>
          </a:xfrm>
          <a:prstGeom prst="roundRect">
            <a:avLst>
              <a:gd name="adj" fmla="val 6222"/>
            </a:avLst>
          </a:prstGeom>
          <a:solidFill>
            <a:srgbClr val="2B2B2B"/>
          </a:solidFill>
          <a:ln w="12700">
            <a:solidFill>
              <a:srgbClr val="2B2B2B"/>
            </a:solidFill>
            <a:prstDash val="solid"/>
          </a:ln>
        </p:spPr>
      </p:sp>
      <p:sp>
        <p:nvSpPr>
          <p:cNvPr id="11" name="Shape 9"/>
          <p:cNvSpPr/>
          <p:nvPr/>
        </p:nvSpPr>
        <p:spPr>
          <a:xfrm>
            <a:off x="9601200" y="2697480"/>
            <a:ext cx="731520" cy="731520"/>
          </a:xfrm>
          <a:prstGeom prst="ellipse">
            <a:avLst/>
          </a:prstGeom>
          <a:solidFill>
            <a:srgbClr val="36C4CC"/>
          </a:solidFill>
          <a:ln w="12700">
            <a:solidFill>
              <a:srgbClr val="36C4CC"/>
            </a:solidFill>
            <a:prstDash val="solid"/>
          </a:ln>
        </p:spPr>
      </p:sp>
      <p:sp>
        <p:nvSpPr>
          <p:cNvPr id="12" name="Shape 10"/>
          <p:cNvSpPr/>
          <p:nvPr/>
        </p:nvSpPr>
        <p:spPr>
          <a:xfrm rot="5400000">
            <a:off x="9857232" y="2926080"/>
            <a:ext cx="274320" cy="274320"/>
          </a:xfrm>
          <a:prstGeom prst="triangle">
            <a:avLst/>
          </a:prstGeom>
          <a:solidFill>
            <a:srgbClr val="FFFFFF"/>
          </a:solidFill>
          <a:ln w="12700">
            <a:solidFill>
              <a:srgbClr val="FFFFFF"/>
            </a:solidFill>
            <a:prstDash val="solid"/>
          </a:ln>
        </p:spPr>
      </p:sp>
      <p:sp>
        <p:nvSpPr>
          <p:cNvPr id="13" name="Shape 11"/>
          <p:cNvSpPr/>
          <p:nvPr/>
        </p:nvSpPr>
        <p:spPr>
          <a:xfrm>
            <a:off x="8641080" y="3822192"/>
            <a:ext cx="2651760" cy="64008"/>
          </a:xfrm>
          <a:prstGeom prst="roundRect">
            <a:avLst>
              <a:gd name="adj" fmla="val 50000"/>
            </a:avLst>
          </a:prstGeom>
          <a:solidFill>
            <a:srgbClr val="5A5F5C"/>
          </a:solidFill>
          <a:ln w="12700">
            <a:solidFill>
              <a:srgbClr val="5A5F5C"/>
            </a:solidFill>
            <a:prstDash val="solid"/>
          </a:ln>
        </p:spPr>
      </p:sp>
      <p:sp>
        <p:nvSpPr>
          <p:cNvPr id="14" name="Shape 12"/>
          <p:cNvSpPr/>
          <p:nvPr/>
        </p:nvSpPr>
        <p:spPr>
          <a:xfrm>
            <a:off x="8641080" y="3822192"/>
            <a:ext cx="1051560" cy="64008"/>
          </a:xfrm>
          <a:prstGeom prst="roundRect">
            <a:avLst>
              <a:gd name="adj" fmla="val 50000"/>
            </a:avLst>
          </a:prstGeom>
          <a:solidFill>
            <a:srgbClr val="72EF29"/>
          </a:solidFill>
          <a:ln w="12700">
            <a:solidFill>
              <a:srgbClr val="72EF29"/>
            </a:solidFill>
            <a:prstDash val="solid"/>
          </a:ln>
        </p:spPr>
      </p:sp>
      <p:sp>
        <p:nvSpPr>
          <p:cNvPr id="15" name="Shape 13"/>
          <p:cNvSpPr/>
          <p:nvPr/>
        </p:nvSpPr>
        <p:spPr>
          <a:xfrm>
            <a:off x="9619488" y="3771900"/>
            <a:ext cx="164592" cy="164592"/>
          </a:xfrm>
          <a:prstGeom prst="ellipse">
            <a:avLst/>
          </a:prstGeom>
          <a:solidFill>
            <a:srgbClr val="72EF29"/>
          </a:solidFill>
          <a:ln w="12700">
            <a:solidFill>
              <a:srgbClr val="FFFFFF"/>
            </a:solidFill>
            <a:prstDash val="solid"/>
          </a:ln>
        </p:spPr>
      </p:sp>
      <p:sp>
        <p:nvSpPr>
          <p:cNvPr id="16" name="Text 14"/>
          <p:cNvSpPr txBox="1"/>
          <p:nvPr/>
        </p:nvSpPr>
        <p:spPr>
          <a:xfrm>
            <a:off x="8641080" y="3950208"/>
            <a:ext cx="2651760" cy="219456"/>
          </a:xfrm>
          <a:prstGeom prst="rect">
            <a:avLst/>
          </a:prstGeom>
          <a:noFill/>
          <a:ln/>
        </p:spPr>
        <p:txBody>
          <a:bodyPr wrap="square" lIns="0" tIns="0" rIns="0" bIns="0" rtlCol="0" anchor="ctr"/>
          <a:lstStyle/>
          <a:p>
            <a:pPr indent="0" marL="0">
              <a:buNone/>
            </a:pPr>
            <a:r>
              <a:rPr lang="en-US" sz="950" dirty="0">
                <a:solidFill>
                  <a:srgbClr val="9AA39E"/>
                </a:solidFill>
                <a:latin typeface="Consolas" pitchFamily="34" charset="0"/>
                <a:ea typeface="Consolas" pitchFamily="34" charset="-122"/>
                <a:cs typeface="Consolas" pitchFamily="34" charset="-120"/>
              </a:rPr>
              <a:t>0:04 / 0:11</a:t>
            </a:r>
            <a:endParaRPr lang="en-US" sz="950" dirty="0"/>
          </a:p>
        </p:txBody>
      </p:sp>
      <p:sp>
        <p:nvSpPr>
          <p:cNvPr id="17" name="Text 15"/>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02 / 48</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ómo te sientes hoy?">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03 / 48</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Qué es CINFO? Conceptual, Instrumental, Nivelador, Funcional y Orientador">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04 / 48</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onceptual: conocimientos previos y definiciones clave">    </p:cNvPr>
          <p:cNvPicPr>
            <a:picLocks noChangeAspect="1"/>
          </p:cNvPicPr>
          <p:nvPr/>
        </p:nvPicPr>
        <p:blipFill>
          <a:blip r:embed="rId1"/>
          <a:stretch>
            <a:fillRect/>
          </a:stretch>
        </p:blipFill>
        <p:spPr>
          <a:xfrm>
            <a:off x="0" y="0"/>
            <a:ext cx="12191695" cy="6858000"/>
          </a:xfrm>
          <a:prstGeom prst="rect">
            <a:avLst/>
          </a:prstGeom>
        </p:spPr>
      </p:pic>
      <p:sp>
        <p:nvSpPr>
          <p:cNvPr id="4"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05 / 48</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REPASO</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De dónde venimos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Tu portafolio ya muestra un video y un audio, y tu diseño está empezado en Figma.</a:t>
            </a:r>
            <a:endParaRPr lang="en-US" sz="1250" dirty="0"/>
          </a:p>
        </p:txBody>
      </p:sp>
      <p:sp>
        <p:nvSpPr>
          <p:cNvPr id="5" name="Shape 3"/>
          <p:cNvSpPr/>
          <p:nvPr/>
        </p:nvSpPr>
        <p:spPr>
          <a:xfrm>
            <a:off x="640080" y="2615184"/>
            <a:ext cx="5349240" cy="1920240"/>
          </a:xfrm>
          <a:prstGeom prst="roundRect">
            <a:avLst>
              <a:gd name="adj" fmla="val 4762"/>
            </a:avLst>
          </a:prstGeom>
          <a:solidFill>
            <a:srgbClr val="F7FDF4"/>
          </a:solidFill>
          <a:ln w="12700">
            <a:solidFill>
              <a:srgbClr val="D9F2CC"/>
            </a:solidFill>
            <a:prstDash val="solid"/>
          </a:ln>
        </p:spPr>
      </p:sp>
      <p:sp>
        <p:nvSpPr>
          <p:cNvPr id="6" name="Text 4"/>
          <p:cNvSpPr txBox="1"/>
          <p:nvPr/>
        </p:nvSpPr>
        <p:spPr>
          <a:xfrm>
            <a:off x="950976" y="2816352"/>
            <a:ext cx="4727448" cy="310896"/>
          </a:xfrm>
          <a:prstGeom prst="rect">
            <a:avLst/>
          </a:prstGeom>
          <a:noFill/>
          <a:ln/>
        </p:spPr>
        <p:txBody>
          <a:bodyPr wrap="square" lIns="0" tIns="0" rIns="0" bIns="0" rtlCol="0" anchor="ctr"/>
          <a:lstStyle/>
          <a:p>
            <a:pPr algn="l" indent="0" marL="0">
              <a:buNone/>
            </a:pPr>
            <a:r>
              <a:rPr lang="en-US" sz="1400" b="1" dirty="0">
                <a:solidFill>
                  <a:srgbClr val="6E7673"/>
                </a:solidFill>
                <a:latin typeface="Calibri" pitchFamily="34" charset="0"/>
                <a:ea typeface="Calibri" pitchFamily="34" charset="-122"/>
                <a:cs typeface="Calibri" pitchFamily="34" charset="-120"/>
              </a:rPr>
              <a:t>Ya tienes</a:t>
            </a:r>
            <a:endParaRPr lang="en-US" sz="1400" dirty="0"/>
          </a:p>
        </p:txBody>
      </p:sp>
      <p:sp>
        <p:nvSpPr>
          <p:cNvPr id="7" name="Text 5"/>
          <p:cNvSpPr txBox="1"/>
          <p:nvPr/>
        </p:nvSpPr>
        <p:spPr>
          <a:xfrm>
            <a:off x="950976" y="3182112"/>
            <a:ext cx="4727448" cy="1232611"/>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424242"/>
                </a:solidFill>
                <a:latin typeface="Calibri" pitchFamily="34" charset="0"/>
                <a:ea typeface="Calibri" pitchFamily="34" charset="-122"/>
                <a:cs typeface="Calibri" pitchFamily="34" charset="-120"/>
              </a:rPr>
              <a:t>Cuatro páginas con header, nav, main y footer.</a:t>
            </a:r>
            <a:endParaRPr lang="en-US" sz="1200" dirty="0"/>
          </a:p>
          <a:p>
            <a:pPr marL="177800" indent="-177800">
              <a:spcAft>
                <a:spcPts val="900"/>
              </a:spcAft>
              <a:buSzPct val="100000"/>
              <a:buChar char="•"/>
            </a:pPr>
            <a:r>
              <a:rPr lang="en-US" sz="1200" dirty="0">
                <a:solidFill>
                  <a:srgbClr val="424242"/>
                </a:solidFill>
                <a:latin typeface="Calibri" pitchFamily="34" charset="0"/>
                <a:ea typeface="Calibri" pitchFamily="34" charset="-122"/>
                <a:cs typeface="Calibri" pitchFamily="34" charset="-120"/>
              </a:rPr>
              <a:t>En Sobre mí, un video, un audio y un iframe de YouTube.</a:t>
            </a:r>
            <a:endParaRPr lang="en-US" sz="1200" dirty="0"/>
          </a:p>
          <a:p>
            <a:pPr marL="177800" indent="-177800">
              <a:spcAft>
                <a:spcPts val="900"/>
              </a:spcAft>
              <a:buSzPct val="100000"/>
              <a:buChar char="•"/>
            </a:pPr>
            <a:r>
              <a:rPr lang="en-US" sz="1200" dirty="0">
                <a:solidFill>
                  <a:srgbClr val="424242"/>
                </a:solidFill>
                <a:latin typeface="Calibri" pitchFamily="34" charset="0"/>
                <a:ea typeface="Calibri" pitchFamily="34" charset="-122"/>
                <a:cs typeface="Calibri" pitchFamily="34" charset="-120"/>
              </a:rPr>
              <a:t>En Figma, el marco principal y la cabecera (Pasos 1 al 6).</a:t>
            </a:r>
            <a:endParaRPr lang="en-US" sz="1200" dirty="0"/>
          </a:p>
        </p:txBody>
      </p:sp>
      <p:sp>
        <p:nvSpPr>
          <p:cNvPr id="8" name="Shape 6"/>
          <p:cNvSpPr/>
          <p:nvPr/>
        </p:nvSpPr>
        <p:spPr>
          <a:xfrm>
            <a:off x="6217920" y="2615184"/>
            <a:ext cx="5349240" cy="1920240"/>
          </a:xfrm>
          <a:prstGeom prst="roundRect">
            <a:avLst>
              <a:gd name="adj" fmla="val 4762"/>
            </a:avLst>
          </a:prstGeom>
          <a:solidFill>
            <a:srgbClr val="F0FCE8"/>
          </a:solidFill>
          <a:ln w="12700">
            <a:solidFill>
              <a:srgbClr val="D9F2CC"/>
            </a:solidFill>
            <a:prstDash val="solid"/>
          </a:ln>
        </p:spPr>
      </p:sp>
      <p:sp>
        <p:nvSpPr>
          <p:cNvPr id="9" name="Text 7"/>
          <p:cNvSpPr txBox="1"/>
          <p:nvPr/>
        </p:nvSpPr>
        <p:spPr>
          <a:xfrm>
            <a:off x="6528816" y="2816352"/>
            <a:ext cx="4727448" cy="310896"/>
          </a:xfrm>
          <a:prstGeom prst="rect">
            <a:avLst/>
          </a:prstGeom>
          <a:noFill/>
          <a:ln/>
        </p:spPr>
        <p:txBody>
          <a:bodyPr wrap="square" lIns="0" tIns="0" rIns="0" bIns="0" rtlCol="0" anchor="ctr"/>
          <a:lstStyle/>
          <a:p>
            <a:pPr algn="l" indent="0" marL="0">
              <a:buNone/>
            </a:pPr>
            <a:r>
              <a:rPr lang="en-US" sz="1400" b="1" dirty="0">
                <a:solidFill>
                  <a:srgbClr val="4FB817"/>
                </a:solidFill>
                <a:latin typeface="Calibri" pitchFamily="34" charset="0"/>
                <a:ea typeface="Calibri" pitchFamily="34" charset="-122"/>
                <a:cs typeface="Calibri" pitchFamily="34" charset="-120"/>
              </a:rPr>
              <a:t>Hoy sumas</a:t>
            </a:r>
            <a:endParaRPr lang="en-US" sz="1400" dirty="0"/>
          </a:p>
        </p:txBody>
      </p:sp>
      <p:sp>
        <p:nvSpPr>
          <p:cNvPr id="10" name="Text 8"/>
          <p:cNvSpPr txBox="1"/>
          <p:nvPr/>
        </p:nvSpPr>
        <p:spPr>
          <a:xfrm>
            <a:off x="6528816" y="3182112"/>
            <a:ext cx="4727448" cy="1232611"/>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424242"/>
                </a:solidFill>
                <a:latin typeface="Calibri" pitchFamily="34" charset="0"/>
                <a:ea typeface="Calibri" pitchFamily="34" charset="-122"/>
                <a:cs typeface="Calibri" pitchFamily="34" charset="-120"/>
              </a:rPr>
              <a:t>Un formulario de contacto con validación (repaso de la sesión 06).</a:t>
            </a:r>
            <a:endParaRPr lang="en-US" sz="1200" dirty="0"/>
          </a:p>
          <a:p>
            <a:pPr marL="177800" indent="-177800">
              <a:spcAft>
                <a:spcPts val="900"/>
              </a:spcAft>
              <a:buSzPct val="100000"/>
              <a:buChar char="•"/>
            </a:pPr>
            <a:r>
              <a:rPr lang="en-US" sz="1200" dirty="0">
                <a:solidFill>
                  <a:srgbClr val="424242"/>
                </a:solidFill>
                <a:latin typeface="Calibri" pitchFamily="34" charset="0"/>
                <a:ea typeface="Calibri" pitchFamily="34" charset="-122"/>
                <a:cs typeface="Calibri" pitchFamily="34" charset="-120"/>
              </a:rPr>
              <a:t>Video y audio con varias fuentes, póster y subtítulos.</a:t>
            </a:r>
            <a:endParaRPr lang="en-US" sz="1200" dirty="0"/>
          </a:p>
          <a:p>
            <a:pPr marL="177800" indent="-177800">
              <a:spcAft>
                <a:spcPts val="900"/>
              </a:spcAft>
              <a:buSzPct val="100000"/>
              <a:buChar char="•"/>
            </a:pPr>
            <a:r>
              <a:rPr lang="en-US" sz="1200" dirty="0">
                <a:solidFill>
                  <a:srgbClr val="424242"/>
                </a:solidFill>
                <a:latin typeface="Calibri" pitchFamily="34" charset="0"/>
                <a:ea typeface="Calibri" pitchFamily="34" charset="-122"/>
                <a:cs typeface="Calibri" pitchFamily="34" charset="-120"/>
              </a:rPr>
              <a:t>Controles propios hechos con botones.</a:t>
            </a:r>
            <a:endParaRPr lang="en-US" sz="1200" dirty="0"/>
          </a:p>
        </p:txBody>
      </p:sp>
      <p:sp>
        <p:nvSpPr>
          <p:cNvPr id="11" name="Shape 9"/>
          <p:cNvSpPr/>
          <p:nvPr/>
        </p:nvSpPr>
        <p:spPr>
          <a:xfrm>
            <a:off x="640080" y="4736592"/>
            <a:ext cx="10927080" cy="1298448"/>
          </a:xfrm>
          <a:prstGeom prst="roundRect">
            <a:avLst>
              <a:gd name="adj" fmla="val 7042"/>
            </a:avLst>
          </a:prstGeom>
          <a:solidFill>
            <a:srgbClr val="EAFAFB"/>
          </a:solidFill>
          <a:ln w="12700">
            <a:solidFill>
              <a:srgbClr val="BFEAEE"/>
            </a:solidFill>
            <a:prstDash val="solid"/>
          </a:ln>
        </p:spPr>
      </p:sp>
      <p:sp>
        <p:nvSpPr>
          <p:cNvPr id="12" name="Text 10"/>
          <p:cNvSpPr txBox="1"/>
          <p:nvPr/>
        </p:nvSpPr>
        <p:spPr>
          <a:xfrm>
            <a:off x="950976" y="4937760"/>
            <a:ext cx="10305288" cy="310896"/>
          </a:xfrm>
          <a:prstGeom prst="rect">
            <a:avLst/>
          </a:prstGeom>
          <a:noFill/>
          <a:ln/>
        </p:spPr>
        <p:txBody>
          <a:bodyPr wrap="square" lIns="0" tIns="0" rIns="0" bIns="0" rtlCol="0" anchor="ctr"/>
          <a:lstStyle/>
          <a:p>
            <a:pPr algn="l" indent="0" marL="0">
              <a:buNone/>
            </a:pPr>
            <a:r>
              <a:rPr lang="en-US" sz="1400" b="1" dirty="0">
                <a:solidFill>
                  <a:srgbClr val="1E9AA3"/>
                </a:solidFill>
                <a:latin typeface="Calibri" pitchFamily="34" charset="0"/>
                <a:ea typeface="Calibri" pitchFamily="34" charset="-122"/>
                <a:cs typeface="Calibri" pitchFamily="34" charset="-120"/>
              </a:rPr>
              <a:t>Lo que une las dos partes de hoy</a:t>
            </a:r>
            <a:endParaRPr lang="en-US" sz="1400" dirty="0"/>
          </a:p>
        </p:txBody>
      </p:sp>
      <p:sp>
        <p:nvSpPr>
          <p:cNvPr id="13" name="Text 11"/>
          <p:cNvSpPr txBox="1"/>
          <p:nvPr/>
        </p:nvSpPr>
        <p:spPr>
          <a:xfrm>
            <a:off x="950976" y="5303520"/>
            <a:ext cx="10305288" cy="610819"/>
          </a:xfrm>
          <a:prstGeom prst="rect">
            <a:avLst/>
          </a:prstGeom>
          <a:noFill/>
          <a:ln/>
        </p:spPr>
        <p:txBody>
          <a:bodyPr wrap="square" lIns="0" tIns="0" rIns="0" bIns="0" rtlCol="0" anchor="t"/>
          <a:lstStyle/>
          <a:p>
            <a:pPr algn="l" indent="0" marL="0">
              <a:lnSpc>
                <a:spcPct val="125000"/>
              </a:lnSpc>
              <a:buNone/>
            </a:pPr>
            <a:r>
              <a:rPr lang="en-US" sz="1250" dirty="0">
                <a:solidFill>
                  <a:srgbClr val="424242"/>
                </a:solidFill>
                <a:latin typeface="Calibri" pitchFamily="34" charset="0"/>
                <a:ea typeface="Calibri" pitchFamily="34" charset="-122"/>
                <a:cs typeface="Calibri" pitchFamily="34" charset="-120"/>
              </a:rPr>
              <a:t>Los botones, las etiquetas y los controles deslizantes de un formulario son las mismas piezas con las que se construyen los controles de un video. Por eso empezamos repasando formularios.</a:t>
            </a:r>
            <a:endParaRPr lang="en-US" sz="1250" dirty="0"/>
          </a:p>
        </p:txBody>
      </p:sp>
      <p:sp>
        <p:nvSpPr>
          <p:cNvPr id="14" name="Text 12"/>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06 / 48</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LOGROS DE APRENDIZAJE</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¿Qué vas a lograr hoy?</a:t>
            </a:r>
            <a:endParaRPr lang="en-US" sz="2800" dirty="0"/>
          </a:p>
        </p:txBody>
      </p:sp>
      <p:sp>
        <p:nvSpPr>
          <p:cNvPr id="4" name="Shape 2"/>
          <p:cNvSpPr/>
          <p:nvPr/>
        </p:nvSpPr>
        <p:spPr>
          <a:xfrm>
            <a:off x="640080" y="2615184"/>
            <a:ext cx="10927080" cy="621792"/>
          </a:xfrm>
          <a:prstGeom prst="roundRect">
            <a:avLst>
              <a:gd name="adj" fmla="val 14706"/>
            </a:avLst>
          </a:prstGeom>
          <a:solidFill>
            <a:srgbClr val="F7FDF4"/>
          </a:solidFill>
          <a:ln w="12700">
            <a:solidFill>
              <a:srgbClr val="D9F2CC"/>
            </a:solidFill>
            <a:prstDash val="solid"/>
          </a:ln>
        </p:spPr>
      </p:sp>
      <p:sp>
        <p:nvSpPr>
          <p:cNvPr id="5" name="Shape 3"/>
          <p:cNvSpPr/>
          <p:nvPr/>
        </p:nvSpPr>
        <p:spPr>
          <a:xfrm>
            <a:off x="978408" y="2670048"/>
            <a:ext cx="512064" cy="512064"/>
          </a:xfrm>
          <a:prstGeom prst="ellipse">
            <a:avLst/>
          </a:prstGeom>
          <a:solidFill>
            <a:srgbClr val="72EF29"/>
          </a:solidFill>
          <a:ln w="12700">
            <a:solidFill>
              <a:srgbClr val="72EF29"/>
            </a:solidFill>
            <a:prstDash val="solid"/>
          </a:ln>
        </p:spPr>
      </p:sp>
      <p:sp>
        <p:nvSpPr>
          <p:cNvPr id="6" name="Text 4"/>
          <p:cNvSpPr txBox="1"/>
          <p:nvPr/>
        </p:nvSpPr>
        <p:spPr>
          <a:xfrm>
            <a:off x="978408" y="2670048"/>
            <a:ext cx="512064" cy="512064"/>
          </a:xfrm>
          <a:prstGeom prst="rect">
            <a:avLst/>
          </a:prstGeom>
          <a:noFill/>
          <a:ln/>
        </p:spPr>
        <p:txBody>
          <a:bodyPr wrap="square" lIns="0" tIns="0" rIns="0" bIns="0" rtlCol="0" anchor="ctr"/>
          <a:lstStyle/>
          <a:p>
            <a:pPr algn="ctr" indent="0" marL="0">
              <a:buNone/>
            </a:pPr>
            <a:r>
              <a:rPr lang="en-US" sz="1300" b="1" dirty="0">
                <a:solidFill>
                  <a:srgbClr val="2A2A2A"/>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691640" y="2615184"/>
            <a:ext cx="2286000" cy="621792"/>
          </a:xfrm>
          <a:prstGeom prst="rect">
            <a:avLst/>
          </a:prstGeom>
          <a:noFill/>
          <a:ln/>
        </p:spPr>
        <p:txBody>
          <a:bodyPr wrap="square" lIns="0" tIns="0" rIns="0" bIns="0" rtlCol="0" anchor="ctr"/>
          <a:lstStyle/>
          <a:p>
            <a:pPr indent="0" marL="0">
              <a:buNone/>
            </a:pPr>
            <a:r>
              <a:rPr lang="en-US" sz="1350" b="1" dirty="0">
                <a:solidFill>
                  <a:srgbClr val="4FB817"/>
                </a:solidFill>
                <a:latin typeface="Calibri" pitchFamily="34" charset="0"/>
                <a:ea typeface="Calibri" pitchFamily="34" charset="-122"/>
                <a:cs typeface="Calibri" pitchFamily="34" charset="-120"/>
              </a:rPr>
              <a:t>Repasar</a:t>
            </a:r>
            <a:endParaRPr lang="en-US" sz="1350" dirty="0"/>
          </a:p>
        </p:txBody>
      </p:sp>
      <p:sp>
        <p:nvSpPr>
          <p:cNvPr id="8" name="Text 6"/>
          <p:cNvSpPr txBox="1"/>
          <p:nvPr/>
        </p:nvSpPr>
        <p:spPr>
          <a:xfrm>
            <a:off x="4114800" y="2615184"/>
            <a:ext cx="7178040" cy="62179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Construir un formulario con sus campos, sus etiquetas y validación nativa.</a:t>
            </a:r>
            <a:endParaRPr lang="en-US" sz="1200" dirty="0"/>
          </a:p>
        </p:txBody>
      </p:sp>
      <p:sp>
        <p:nvSpPr>
          <p:cNvPr id="9" name="Shape 7"/>
          <p:cNvSpPr/>
          <p:nvPr/>
        </p:nvSpPr>
        <p:spPr>
          <a:xfrm>
            <a:off x="640080" y="3319272"/>
            <a:ext cx="10927080" cy="621792"/>
          </a:xfrm>
          <a:prstGeom prst="roundRect">
            <a:avLst>
              <a:gd name="adj" fmla="val 14706"/>
            </a:avLst>
          </a:prstGeom>
          <a:solidFill>
            <a:srgbClr val="F7FDF4"/>
          </a:solidFill>
          <a:ln w="12700">
            <a:solidFill>
              <a:srgbClr val="D9F2CC"/>
            </a:solidFill>
            <a:prstDash val="solid"/>
          </a:ln>
        </p:spPr>
      </p:sp>
      <p:sp>
        <p:nvSpPr>
          <p:cNvPr id="10" name="Shape 8"/>
          <p:cNvSpPr/>
          <p:nvPr/>
        </p:nvSpPr>
        <p:spPr>
          <a:xfrm>
            <a:off x="978408" y="3374136"/>
            <a:ext cx="512064" cy="512064"/>
          </a:xfrm>
          <a:prstGeom prst="ellipse">
            <a:avLst/>
          </a:prstGeom>
          <a:solidFill>
            <a:srgbClr val="72EF29"/>
          </a:solidFill>
          <a:ln w="12700">
            <a:solidFill>
              <a:srgbClr val="72EF29"/>
            </a:solidFill>
            <a:prstDash val="solid"/>
          </a:ln>
        </p:spPr>
      </p:sp>
      <p:sp>
        <p:nvSpPr>
          <p:cNvPr id="11" name="Text 9"/>
          <p:cNvSpPr txBox="1"/>
          <p:nvPr/>
        </p:nvSpPr>
        <p:spPr>
          <a:xfrm>
            <a:off x="978408" y="3374136"/>
            <a:ext cx="512064" cy="512064"/>
          </a:xfrm>
          <a:prstGeom prst="rect">
            <a:avLst/>
          </a:prstGeom>
          <a:noFill/>
          <a:ln/>
        </p:spPr>
        <p:txBody>
          <a:bodyPr wrap="square" lIns="0" tIns="0" rIns="0" bIns="0" rtlCol="0" anchor="ctr"/>
          <a:lstStyle/>
          <a:p>
            <a:pPr algn="ctr" indent="0" marL="0">
              <a:buNone/>
            </a:pPr>
            <a:r>
              <a:rPr lang="en-US" sz="1300" b="1" dirty="0">
                <a:solidFill>
                  <a:srgbClr val="2A2A2A"/>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1691640" y="3319272"/>
            <a:ext cx="2286000" cy="621792"/>
          </a:xfrm>
          <a:prstGeom prst="rect">
            <a:avLst/>
          </a:prstGeom>
          <a:noFill/>
          <a:ln/>
        </p:spPr>
        <p:txBody>
          <a:bodyPr wrap="square" lIns="0" tIns="0" rIns="0" bIns="0" rtlCol="0" anchor="ctr"/>
          <a:lstStyle/>
          <a:p>
            <a:pPr indent="0" marL="0">
              <a:buNone/>
            </a:pPr>
            <a:r>
              <a:rPr lang="en-US" sz="1350" b="1" dirty="0">
                <a:solidFill>
                  <a:srgbClr val="4FB817"/>
                </a:solidFill>
                <a:latin typeface="Calibri" pitchFamily="34" charset="0"/>
                <a:ea typeface="Calibri" pitchFamily="34" charset="-122"/>
                <a:cs typeface="Calibri" pitchFamily="34" charset="-120"/>
              </a:rPr>
              <a:t>Elegir</a:t>
            </a:r>
            <a:endParaRPr lang="en-US" sz="1350" dirty="0"/>
          </a:p>
        </p:txBody>
      </p:sp>
      <p:sp>
        <p:nvSpPr>
          <p:cNvPr id="13" name="Text 11"/>
          <p:cNvSpPr txBox="1"/>
          <p:nvPr/>
        </p:nvSpPr>
        <p:spPr>
          <a:xfrm>
            <a:off x="4114800" y="3319272"/>
            <a:ext cx="7178040" cy="62179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Decidir el formato adecuado de video y de audio, y ofrecer varias fuentes.</a:t>
            </a:r>
            <a:endParaRPr lang="en-US" sz="1200" dirty="0"/>
          </a:p>
        </p:txBody>
      </p:sp>
      <p:sp>
        <p:nvSpPr>
          <p:cNvPr id="14" name="Shape 12"/>
          <p:cNvSpPr/>
          <p:nvPr/>
        </p:nvSpPr>
        <p:spPr>
          <a:xfrm>
            <a:off x="640080" y="4023360"/>
            <a:ext cx="10927080" cy="621792"/>
          </a:xfrm>
          <a:prstGeom prst="roundRect">
            <a:avLst>
              <a:gd name="adj" fmla="val 14706"/>
            </a:avLst>
          </a:prstGeom>
          <a:solidFill>
            <a:srgbClr val="F7FDF4"/>
          </a:solidFill>
          <a:ln w="12700">
            <a:solidFill>
              <a:srgbClr val="D9F2CC"/>
            </a:solidFill>
            <a:prstDash val="solid"/>
          </a:ln>
        </p:spPr>
      </p:sp>
      <p:sp>
        <p:nvSpPr>
          <p:cNvPr id="15" name="Shape 13"/>
          <p:cNvSpPr/>
          <p:nvPr/>
        </p:nvSpPr>
        <p:spPr>
          <a:xfrm>
            <a:off x="978408" y="4078224"/>
            <a:ext cx="512064" cy="512064"/>
          </a:xfrm>
          <a:prstGeom prst="ellipse">
            <a:avLst/>
          </a:prstGeom>
          <a:solidFill>
            <a:srgbClr val="72EF29"/>
          </a:solidFill>
          <a:ln w="12700">
            <a:solidFill>
              <a:srgbClr val="72EF29"/>
            </a:solidFill>
            <a:prstDash val="solid"/>
          </a:ln>
        </p:spPr>
      </p:sp>
      <p:sp>
        <p:nvSpPr>
          <p:cNvPr id="16" name="Text 14"/>
          <p:cNvSpPr txBox="1"/>
          <p:nvPr/>
        </p:nvSpPr>
        <p:spPr>
          <a:xfrm>
            <a:off x="978408" y="4078224"/>
            <a:ext cx="512064" cy="512064"/>
          </a:xfrm>
          <a:prstGeom prst="rect">
            <a:avLst/>
          </a:prstGeom>
          <a:noFill/>
          <a:ln/>
        </p:spPr>
        <p:txBody>
          <a:bodyPr wrap="square" lIns="0" tIns="0" rIns="0" bIns="0" rtlCol="0" anchor="ctr"/>
          <a:lstStyle/>
          <a:p>
            <a:pPr algn="ctr" indent="0" marL="0">
              <a:buNone/>
            </a:pPr>
            <a:r>
              <a:rPr lang="en-US" sz="1300" b="1" dirty="0">
                <a:solidFill>
                  <a:srgbClr val="2A2A2A"/>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691640" y="4023360"/>
            <a:ext cx="2286000" cy="621792"/>
          </a:xfrm>
          <a:prstGeom prst="rect">
            <a:avLst/>
          </a:prstGeom>
          <a:noFill/>
          <a:ln/>
        </p:spPr>
        <p:txBody>
          <a:bodyPr wrap="square" lIns="0" tIns="0" rIns="0" bIns="0" rtlCol="0" anchor="ctr"/>
          <a:lstStyle/>
          <a:p>
            <a:pPr indent="0" marL="0">
              <a:buNone/>
            </a:pPr>
            <a:r>
              <a:rPr lang="en-US" sz="1350" b="1" dirty="0">
                <a:solidFill>
                  <a:srgbClr val="4FB817"/>
                </a:solidFill>
                <a:latin typeface="Calibri" pitchFamily="34" charset="0"/>
                <a:ea typeface="Calibri" pitchFamily="34" charset="-122"/>
                <a:cs typeface="Calibri" pitchFamily="34" charset="-120"/>
              </a:rPr>
              <a:t>Configurar</a:t>
            </a:r>
            <a:endParaRPr lang="en-US" sz="1350" dirty="0"/>
          </a:p>
        </p:txBody>
      </p:sp>
      <p:sp>
        <p:nvSpPr>
          <p:cNvPr id="18" name="Text 16"/>
          <p:cNvSpPr txBox="1"/>
          <p:nvPr/>
        </p:nvSpPr>
        <p:spPr>
          <a:xfrm>
            <a:off x="4114800" y="4023360"/>
            <a:ext cx="7178040" cy="62179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Usar poster, preload y los atributos de reproducción; comprimir antes de publicar.</a:t>
            </a:r>
            <a:endParaRPr lang="en-US" sz="1200" dirty="0"/>
          </a:p>
        </p:txBody>
      </p:sp>
      <p:sp>
        <p:nvSpPr>
          <p:cNvPr id="19" name="Shape 17"/>
          <p:cNvSpPr/>
          <p:nvPr/>
        </p:nvSpPr>
        <p:spPr>
          <a:xfrm>
            <a:off x="640080" y="4727448"/>
            <a:ext cx="10927080" cy="621792"/>
          </a:xfrm>
          <a:prstGeom prst="roundRect">
            <a:avLst>
              <a:gd name="adj" fmla="val 14706"/>
            </a:avLst>
          </a:prstGeom>
          <a:solidFill>
            <a:srgbClr val="F7FDF4"/>
          </a:solidFill>
          <a:ln w="12700">
            <a:solidFill>
              <a:srgbClr val="D9F2CC"/>
            </a:solidFill>
            <a:prstDash val="solid"/>
          </a:ln>
        </p:spPr>
      </p:sp>
      <p:sp>
        <p:nvSpPr>
          <p:cNvPr id="20" name="Shape 18"/>
          <p:cNvSpPr/>
          <p:nvPr/>
        </p:nvSpPr>
        <p:spPr>
          <a:xfrm>
            <a:off x="978408" y="4782312"/>
            <a:ext cx="512064" cy="512064"/>
          </a:xfrm>
          <a:prstGeom prst="ellipse">
            <a:avLst/>
          </a:prstGeom>
          <a:solidFill>
            <a:srgbClr val="72EF29"/>
          </a:solidFill>
          <a:ln w="12700">
            <a:solidFill>
              <a:srgbClr val="72EF29"/>
            </a:solidFill>
            <a:prstDash val="solid"/>
          </a:ln>
        </p:spPr>
      </p:sp>
      <p:sp>
        <p:nvSpPr>
          <p:cNvPr id="21" name="Text 19"/>
          <p:cNvSpPr txBox="1"/>
          <p:nvPr/>
        </p:nvSpPr>
        <p:spPr>
          <a:xfrm>
            <a:off x="978408" y="4782312"/>
            <a:ext cx="512064" cy="512064"/>
          </a:xfrm>
          <a:prstGeom prst="rect">
            <a:avLst/>
          </a:prstGeom>
          <a:noFill/>
          <a:ln/>
        </p:spPr>
        <p:txBody>
          <a:bodyPr wrap="square" lIns="0" tIns="0" rIns="0" bIns="0" rtlCol="0" anchor="ctr"/>
          <a:lstStyle/>
          <a:p>
            <a:pPr algn="ctr" indent="0" marL="0">
              <a:buNone/>
            </a:pPr>
            <a:r>
              <a:rPr lang="en-US" sz="1300" b="1" dirty="0">
                <a:solidFill>
                  <a:srgbClr val="2A2A2A"/>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691640" y="4727448"/>
            <a:ext cx="2286000" cy="621792"/>
          </a:xfrm>
          <a:prstGeom prst="rect">
            <a:avLst/>
          </a:prstGeom>
          <a:noFill/>
          <a:ln/>
        </p:spPr>
        <p:txBody>
          <a:bodyPr wrap="square" lIns="0" tIns="0" rIns="0" bIns="0" rtlCol="0" anchor="ctr"/>
          <a:lstStyle/>
          <a:p>
            <a:pPr indent="0" marL="0">
              <a:buNone/>
            </a:pPr>
            <a:r>
              <a:rPr lang="en-US" sz="1350" b="1" dirty="0">
                <a:solidFill>
                  <a:srgbClr val="4FB817"/>
                </a:solidFill>
                <a:latin typeface="Calibri" pitchFamily="34" charset="0"/>
                <a:ea typeface="Calibri" pitchFamily="34" charset="-122"/>
                <a:cs typeface="Calibri" pitchFamily="34" charset="-120"/>
              </a:rPr>
              <a:t>Hacer accesible</a:t>
            </a:r>
            <a:endParaRPr lang="en-US" sz="1350" dirty="0"/>
          </a:p>
        </p:txBody>
      </p:sp>
      <p:sp>
        <p:nvSpPr>
          <p:cNvPr id="23" name="Text 21"/>
          <p:cNvSpPr txBox="1"/>
          <p:nvPr/>
        </p:nvSpPr>
        <p:spPr>
          <a:xfrm>
            <a:off x="4114800" y="4727448"/>
            <a:ext cx="7178040" cy="62179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Añadir subtítulos con track y una transcripción para el audio.</a:t>
            </a:r>
            <a:endParaRPr lang="en-US" sz="1200" dirty="0"/>
          </a:p>
        </p:txBody>
      </p:sp>
      <p:sp>
        <p:nvSpPr>
          <p:cNvPr id="24" name="Shape 22"/>
          <p:cNvSpPr/>
          <p:nvPr/>
        </p:nvSpPr>
        <p:spPr>
          <a:xfrm>
            <a:off x="640080" y="5431536"/>
            <a:ext cx="10927080" cy="621792"/>
          </a:xfrm>
          <a:prstGeom prst="roundRect">
            <a:avLst>
              <a:gd name="adj" fmla="val 14706"/>
            </a:avLst>
          </a:prstGeom>
          <a:solidFill>
            <a:srgbClr val="F7FDF4"/>
          </a:solidFill>
          <a:ln w="12700">
            <a:solidFill>
              <a:srgbClr val="D9F2CC"/>
            </a:solidFill>
            <a:prstDash val="solid"/>
          </a:ln>
        </p:spPr>
      </p:sp>
      <p:sp>
        <p:nvSpPr>
          <p:cNvPr id="25" name="Shape 23"/>
          <p:cNvSpPr/>
          <p:nvPr/>
        </p:nvSpPr>
        <p:spPr>
          <a:xfrm>
            <a:off x="978408" y="5486400"/>
            <a:ext cx="512064" cy="512064"/>
          </a:xfrm>
          <a:prstGeom prst="ellipse">
            <a:avLst/>
          </a:prstGeom>
          <a:solidFill>
            <a:srgbClr val="72EF29"/>
          </a:solidFill>
          <a:ln w="12700">
            <a:solidFill>
              <a:srgbClr val="72EF29"/>
            </a:solidFill>
            <a:prstDash val="solid"/>
          </a:ln>
        </p:spPr>
      </p:sp>
      <p:sp>
        <p:nvSpPr>
          <p:cNvPr id="26" name="Text 24"/>
          <p:cNvSpPr txBox="1"/>
          <p:nvPr/>
        </p:nvSpPr>
        <p:spPr>
          <a:xfrm>
            <a:off x="978408" y="5486400"/>
            <a:ext cx="512064" cy="512064"/>
          </a:xfrm>
          <a:prstGeom prst="rect">
            <a:avLst/>
          </a:prstGeom>
          <a:noFill/>
          <a:ln/>
        </p:spPr>
        <p:txBody>
          <a:bodyPr wrap="square" lIns="0" tIns="0" rIns="0" bIns="0" rtlCol="0" anchor="ctr"/>
          <a:lstStyle/>
          <a:p>
            <a:pPr algn="ctr" indent="0" marL="0">
              <a:buNone/>
            </a:pPr>
            <a:r>
              <a:rPr lang="en-US" sz="1300" b="1" dirty="0">
                <a:solidFill>
                  <a:srgbClr val="2A2A2A"/>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1691640" y="5431536"/>
            <a:ext cx="2286000" cy="621792"/>
          </a:xfrm>
          <a:prstGeom prst="rect">
            <a:avLst/>
          </a:prstGeom>
          <a:noFill/>
          <a:ln/>
        </p:spPr>
        <p:txBody>
          <a:bodyPr wrap="square" lIns="0" tIns="0" rIns="0" bIns="0" rtlCol="0" anchor="ctr"/>
          <a:lstStyle/>
          <a:p>
            <a:pPr indent="0" marL="0">
              <a:buNone/>
            </a:pPr>
            <a:r>
              <a:rPr lang="en-US" sz="1350" b="1" dirty="0">
                <a:solidFill>
                  <a:srgbClr val="4FB817"/>
                </a:solidFill>
                <a:latin typeface="Calibri" pitchFamily="34" charset="0"/>
                <a:ea typeface="Calibri" pitchFamily="34" charset="-122"/>
                <a:cs typeface="Calibri" pitchFamily="34" charset="-120"/>
              </a:rPr>
              <a:t>Personalizar</a:t>
            </a:r>
            <a:endParaRPr lang="en-US" sz="1350" dirty="0"/>
          </a:p>
        </p:txBody>
      </p:sp>
      <p:sp>
        <p:nvSpPr>
          <p:cNvPr id="28" name="Text 26"/>
          <p:cNvSpPr txBox="1"/>
          <p:nvPr/>
        </p:nvSpPr>
        <p:spPr>
          <a:xfrm>
            <a:off x="4114800" y="5431536"/>
            <a:ext cx="7178040" cy="62179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Reemplazar los controles del navegador por botones propios.</a:t>
            </a:r>
            <a:endParaRPr lang="en-US" sz="1200" dirty="0"/>
          </a:p>
        </p:txBody>
      </p:sp>
      <p:sp>
        <p:nvSpPr>
          <p:cNvPr id="29" name="Text 2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07 / 48</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AGENDA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Cómo se reparten las 4 horas</a:t>
            </a:r>
            <a:endParaRPr lang="en-US" sz="2800" dirty="0"/>
          </a:p>
        </p:txBody>
      </p:sp>
      <p:sp>
        <p:nvSpPr>
          <p:cNvPr id="4" name="Shape 2"/>
          <p:cNvSpPr/>
          <p:nvPr/>
        </p:nvSpPr>
        <p:spPr>
          <a:xfrm>
            <a:off x="640080" y="2615184"/>
            <a:ext cx="10927080" cy="457200"/>
          </a:xfrm>
          <a:prstGeom prst="roundRect">
            <a:avLst>
              <a:gd name="adj" fmla="val 20000"/>
            </a:avLst>
          </a:prstGeom>
          <a:solidFill>
            <a:srgbClr val="F7FDF4"/>
          </a:solidFill>
          <a:ln w="12700">
            <a:solidFill>
              <a:srgbClr val="D9F2CC"/>
            </a:solidFill>
            <a:prstDash val="solid"/>
          </a:ln>
        </p:spPr>
      </p:sp>
      <p:sp>
        <p:nvSpPr>
          <p:cNvPr id="5" name="Shape 3"/>
          <p:cNvSpPr/>
          <p:nvPr/>
        </p:nvSpPr>
        <p:spPr>
          <a:xfrm>
            <a:off x="960120" y="2651760"/>
            <a:ext cx="384048" cy="384048"/>
          </a:xfrm>
          <a:prstGeom prst="ellipse">
            <a:avLst/>
          </a:prstGeom>
          <a:solidFill>
            <a:srgbClr val="36C4CC"/>
          </a:solidFill>
          <a:ln w="12700">
            <a:solidFill>
              <a:srgbClr val="36C4CC"/>
            </a:solidFill>
            <a:prstDash val="solid"/>
          </a:ln>
        </p:spPr>
      </p:sp>
      <p:sp>
        <p:nvSpPr>
          <p:cNvPr id="6" name="Text 4"/>
          <p:cNvSpPr txBox="1"/>
          <p:nvPr/>
        </p:nvSpPr>
        <p:spPr>
          <a:xfrm>
            <a:off x="960120" y="26517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7" name="Text 5"/>
          <p:cNvSpPr txBox="1"/>
          <p:nvPr/>
        </p:nvSpPr>
        <p:spPr>
          <a:xfrm>
            <a:off x="1664208" y="2615184"/>
            <a:ext cx="3383280" cy="457200"/>
          </a:xfrm>
          <a:prstGeom prst="rect">
            <a:avLst/>
          </a:prstGeom>
          <a:noFill/>
          <a:ln/>
        </p:spPr>
        <p:txBody>
          <a:bodyPr wrap="square" lIns="0" tIns="0" rIns="0" bIns="0" rtlCol="0" anchor="ctr"/>
          <a:lstStyle/>
          <a:p>
            <a:pPr indent="0" marL="0">
              <a:buNone/>
            </a:pPr>
            <a:r>
              <a:rPr lang="en-US" sz="1300" b="1" dirty="0">
                <a:solidFill>
                  <a:srgbClr val="2A2A2A"/>
                </a:solidFill>
                <a:latin typeface="Calibri" pitchFamily="34" charset="0"/>
                <a:ea typeface="Calibri" pitchFamily="34" charset="-122"/>
                <a:cs typeface="Calibri" pitchFamily="34" charset="-120"/>
              </a:rPr>
              <a:t>Repaso: formularios HTML5</a:t>
            </a:r>
            <a:endParaRPr lang="en-US" sz="1300" dirty="0"/>
          </a:p>
        </p:txBody>
      </p:sp>
      <p:sp>
        <p:nvSpPr>
          <p:cNvPr id="8" name="Text 6"/>
          <p:cNvSpPr txBox="1"/>
          <p:nvPr/>
        </p:nvSpPr>
        <p:spPr>
          <a:xfrm>
            <a:off x="5202936" y="2615184"/>
            <a:ext cx="5120640" cy="457200"/>
          </a:xfrm>
          <a:prstGeom prst="rect">
            <a:avLst/>
          </a:prstGeom>
          <a:noFill/>
          <a:ln/>
        </p:spPr>
        <p:txBody>
          <a:bodyPr wrap="square" lIns="0" tIns="0" rIns="0" bIns="0" rtlCol="0" anchor="ctr"/>
          <a:lstStyle/>
          <a:p>
            <a:pPr indent="0" marL="0">
              <a:buNone/>
            </a:pPr>
            <a:r>
              <a:rPr lang="en-US" sz="1100" dirty="0">
                <a:solidFill>
                  <a:srgbClr val="6E7673"/>
                </a:solidFill>
                <a:latin typeface="Calibri" pitchFamily="34" charset="0"/>
                <a:ea typeface="Calibri" pitchFamily="34" charset="-122"/>
                <a:cs typeface="Calibri" pitchFamily="34" charset="-120"/>
              </a:rPr>
              <a:t>Campos, etiquetas, validación y el formulario de contacto.</a:t>
            </a:r>
            <a:endParaRPr lang="en-US" sz="1100" dirty="0"/>
          </a:p>
        </p:txBody>
      </p:sp>
      <p:sp>
        <p:nvSpPr>
          <p:cNvPr id="9" name="Text 7"/>
          <p:cNvSpPr txBox="1"/>
          <p:nvPr/>
        </p:nvSpPr>
        <p:spPr>
          <a:xfrm>
            <a:off x="10195560" y="2615184"/>
            <a:ext cx="1188720" cy="457200"/>
          </a:xfrm>
          <a:prstGeom prst="rect">
            <a:avLst/>
          </a:prstGeom>
          <a:noFill/>
          <a:ln/>
        </p:spPr>
        <p:txBody>
          <a:bodyPr wrap="square" lIns="0" tIns="0" rIns="0" bIns="0" rtlCol="0" anchor="ctr"/>
          <a:lstStyle/>
          <a:p>
            <a:pPr algn="r" indent="0" marL="0">
              <a:buNone/>
            </a:pPr>
            <a:r>
              <a:rPr lang="en-US" sz="1100" b="1" dirty="0">
                <a:solidFill>
                  <a:srgbClr val="36C4CC"/>
                </a:solidFill>
                <a:latin typeface="Calibri" pitchFamily="34" charset="0"/>
                <a:ea typeface="Calibri" pitchFamily="34" charset="-122"/>
                <a:cs typeface="Calibri" pitchFamily="34" charset="-120"/>
              </a:rPr>
              <a:t>40 min</a:t>
            </a:r>
            <a:endParaRPr lang="en-US" sz="1100" dirty="0"/>
          </a:p>
        </p:txBody>
      </p:sp>
      <p:sp>
        <p:nvSpPr>
          <p:cNvPr id="10" name="Shape 8"/>
          <p:cNvSpPr/>
          <p:nvPr/>
        </p:nvSpPr>
        <p:spPr>
          <a:xfrm>
            <a:off x="640080" y="3129077"/>
            <a:ext cx="10927080" cy="457200"/>
          </a:xfrm>
          <a:prstGeom prst="roundRect">
            <a:avLst>
              <a:gd name="adj" fmla="val 20000"/>
            </a:avLst>
          </a:prstGeom>
          <a:solidFill>
            <a:srgbClr val="F7FDF4"/>
          </a:solidFill>
          <a:ln w="12700">
            <a:solidFill>
              <a:srgbClr val="D9F2CC"/>
            </a:solidFill>
            <a:prstDash val="solid"/>
          </a:ln>
        </p:spPr>
      </p:sp>
      <p:sp>
        <p:nvSpPr>
          <p:cNvPr id="11" name="Shape 9"/>
          <p:cNvSpPr/>
          <p:nvPr/>
        </p:nvSpPr>
        <p:spPr>
          <a:xfrm>
            <a:off x="960120" y="3165653"/>
            <a:ext cx="384048" cy="384048"/>
          </a:xfrm>
          <a:prstGeom prst="ellipse">
            <a:avLst/>
          </a:prstGeom>
          <a:solidFill>
            <a:srgbClr val="36C4CC"/>
          </a:solidFill>
          <a:ln w="12700">
            <a:solidFill>
              <a:srgbClr val="36C4CC"/>
            </a:solidFill>
            <a:prstDash val="solid"/>
          </a:ln>
        </p:spPr>
      </p:sp>
      <p:sp>
        <p:nvSpPr>
          <p:cNvPr id="12" name="Text 10"/>
          <p:cNvSpPr txBox="1"/>
          <p:nvPr/>
        </p:nvSpPr>
        <p:spPr>
          <a:xfrm>
            <a:off x="960120" y="3165653"/>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3" name="Text 11"/>
          <p:cNvSpPr txBox="1"/>
          <p:nvPr/>
        </p:nvSpPr>
        <p:spPr>
          <a:xfrm>
            <a:off x="1664208" y="3129077"/>
            <a:ext cx="3383280" cy="457200"/>
          </a:xfrm>
          <a:prstGeom prst="rect">
            <a:avLst/>
          </a:prstGeom>
          <a:noFill/>
          <a:ln/>
        </p:spPr>
        <p:txBody>
          <a:bodyPr wrap="square" lIns="0" tIns="0" rIns="0" bIns="0" rtlCol="0" anchor="ctr"/>
          <a:lstStyle/>
          <a:p>
            <a:pPr indent="0" marL="0">
              <a:buNone/>
            </a:pPr>
            <a:r>
              <a:rPr lang="en-US" sz="1300" b="1" dirty="0">
                <a:solidFill>
                  <a:srgbClr val="2A2A2A"/>
                </a:solidFill>
                <a:latin typeface="Calibri" pitchFamily="34" charset="0"/>
                <a:ea typeface="Calibri" pitchFamily="34" charset="-122"/>
                <a:cs typeface="Calibri" pitchFamily="34" charset="-120"/>
              </a:rPr>
              <a:t>Formatos y fuentes</a:t>
            </a:r>
            <a:endParaRPr lang="en-US" sz="1300" dirty="0"/>
          </a:p>
        </p:txBody>
      </p:sp>
      <p:sp>
        <p:nvSpPr>
          <p:cNvPr id="14" name="Text 12"/>
          <p:cNvSpPr txBox="1"/>
          <p:nvPr/>
        </p:nvSpPr>
        <p:spPr>
          <a:xfrm>
            <a:off x="5202936" y="3129077"/>
            <a:ext cx="5120640" cy="457200"/>
          </a:xfrm>
          <a:prstGeom prst="rect">
            <a:avLst/>
          </a:prstGeom>
          <a:noFill/>
          <a:ln/>
        </p:spPr>
        <p:txBody>
          <a:bodyPr wrap="square" lIns="0" tIns="0" rIns="0" bIns="0" rtlCol="0" anchor="ctr"/>
          <a:lstStyle/>
          <a:p>
            <a:pPr indent="0" marL="0">
              <a:buNone/>
            </a:pPr>
            <a:r>
              <a:rPr lang="en-US" sz="1100" dirty="0">
                <a:solidFill>
                  <a:srgbClr val="6E7673"/>
                </a:solidFill>
                <a:latin typeface="Calibri" pitchFamily="34" charset="0"/>
                <a:ea typeface="Calibri" pitchFamily="34" charset="-122"/>
                <a:cs typeface="Calibri" pitchFamily="34" charset="-120"/>
              </a:rPr>
              <a:t>Contenedores, códecs y la etiqueta source.</a:t>
            </a:r>
            <a:endParaRPr lang="en-US" sz="1100" dirty="0"/>
          </a:p>
        </p:txBody>
      </p:sp>
      <p:sp>
        <p:nvSpPr>
          <p:cNvPr id="15" name="Text 13"/>
          <p:cNvSpPr txBox="1"/>
          <p:nvPr/>
        </p:nvSpPr>
        <p:spPr>
          <a:xfrm>
            <a:off x="10195560" y="3129077"/>
            <a:ext cx="1188720" cy="457200"/>
          </a:xfrm>
          <a:prstGeom prst="rect">
            <a:avLst/>
          </a:prstGeom>
          <a:noFill/>
          <a:ln/>
        </p:spPr>
        <p:txBody>
          <a:bodyPr wrap="square" lIns="0" tIns="0" rIns="0" bIns="0" rtlCol="0" anchor="ctr"/>
          <a:lstStyle/>
          <a:p>
            <a:pPr algn="r" indent="0" marL="0">
              <a:buNone/>
            </a:pPr>
            <a:r>
              <a:rPr lang="en-US" sz="1100" b="1" dirty="0">
                <a:solidFill>
                  <a:srgbClr val="36C4CC"/>
                </a:solidFill>
                <a:latin typeface="Calibri" pitchFamily="34" charset="0"/>
                <a:ea typeface="Calibri" pitchFamily="34" charset="-122"/>
                <a:cs typeface="Calibri" pitchFamily="34" charset="-120"/>
              </a:rPr>
              <a:t>25 min</a:t>
            </a:r>
            <a:endParaRPr lang="en-US" sz="1100" dirty="0"/>
          </a:p>
        </p:txBody>
      </p:sp>
      <p:sp>
        <p:nvSpPr>
          <p:cNvPr id="16" name="Shape 14"/>
          <p:cNvSpPr/>
          <p:nvPr/>
        </p:nvSpPr>
        <p:spPr>
          <a:xfrm>
            <a:off x="640080" y="3642970"/>
            <a:ext cx="10927080" cy="457200"/>
          </a:xfrm>
          <a:prstGeom prst="roundRect">
            <a:avLst>
              <a:gd name="adj" fmla="val 20000"/>
            </a:avLst>
          </a:prstGeom>
          <a:solidFill>
            <a:srgbClr val="F7FDF4"/>
          </a:solidFill>
          <a:ln w="12700">
            <a:solidFill>
              <a:srgbClr val="D9F2CC"/>
            </a:solidFill>
            <a:prstDash val="solid"/>
          </a:ln>
        </p:spPr>
      </p:sp>
      <p:sp>
        <p:nvSpPr>
          <p:cNvPr id="17" name="Shape 15"/>
          <p:cNvSpPr/>
          <p:nvPr/>
        </p:nvSpPr>
        <p:spPr>
          <a:xfrm>
            <a:off x="960120" y="3679546"/>
            <a:ext cx="384048" cy="384048"/>
          </a:xfrm>
          <a:prstGeom prst="ellipse">
            <a:avLst/>
          </a:prstGeom>
          <a:solidFill>
            <a:srgbClr val="36C4CC"/>
          </a:solidFill>
          <a:ln w="12700">
            <a:solidFill>
              <a:srgbClr val="36C4CC"/>
            </a:solidFill>
            <a:prstDash val="solid"/>
          </a:ln>
        </p:spPr>
      </p:sp>
      <p:sp>
        <p:nvSpPr>
          <p:cNvPr id="18" name="Text 16"/>
          <p:cNvSpPr txBox="1"/>
          <p:nvPr/>
        </p:nvSpPr>
        <p:spPr>
          <a:xfrm>
            <a:off x="960120" y="367954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19" name="Text 17"/>
          <p:cNvSpPr txBox="1"/>
          <p:nvPr/>
        </p:nvSpPr>
        <p:spPr>
          <a:xfrm>
            <a:off x="1664208" y="3642970"/>
            <a:ext cx="3383280" cy="457200"/>
          </a:xfrm>
          <a:prstGeom prst="rect">
            <a:avLst/>
          </a:prstGeom>
          <a:noFill/>
          <a:ln/>
        </p:spPr>
        <p:txBody>
          <a:bodyPr wrap="square" lIns="0" tIns="0" rIns="0" bIns="0" rtlCol="0" anchor="ctr"/>
          <a:lstStyle/>
          <a:p>
            <a:pPr indent="0" marL="0">
              <a:buNone/>
            </a:pPr>
            <a:r>
              <a:rPr lang="en-US" sz="1300" b="1" dirty="0">
                <a:solidFill>
                  <a:srgbClr val="2A2A2A"/>
                </a:solidFill>
                <a:latin typeface="Calibri" pitchFamily="34" charset="0"/>
                <a:ea typeface="Calibri" pitchFamily="34" charset="-122"/>
                <a:cs typeface="Calibri" pitchFamily="34" charset="-120"/>
              </a:rPr>
              <a:t>Atributos y rendimiento</a:t>
            </a:r>
            <a:endParaRPr lang="en-US" sz="1300" dirty="0"/>
          </a:p>
        </p:txBody>
      </p:sp>
      <p:sp>
        <p:nvSpPr>
          <p:cNvPr id="20" name="Text 18"/>
          <p:cNvSpPr txBox="1"/>
          <p:nvPr/>
        </p:nvSpPr>
        <p:spPr>
          <a:xfrm>
            <a:off x="5202936" y="3642970"/>
            <a:ext cx="5120640" cy="457200"/>
          </a:xfrm>
          <a:prstGeom prst="rect">
            <a:avLst/>
          </a:prstGeom>
          <a:noFill/>
          <a:ln/>
        </p:spPr>
        <p:txBody>
          <a:bodyPr wrap="square" lIns="0" tIns="0" rIns="0" bIns="0" rtlCol="0" anchor="ctr"/>
          <a:lstStyle/>
          <a:p>
            <a:pPr indent="0" marL="0">
              <a:buNone/>
            </a:pPr>
            <a:r>
              <a:rPr lang="en-US" sz="1100" dirty="0">
                <a:solidFill>
                  <a:srgbClr val="6E7673"/>
                </a:solidFill>
                <a:latin typeface="Calibri" pitchFamily="34" charset="0"/>
                <a:ea typeface="Calibri" pitchFamily="34" charset="-122"/>
                <a:cs typeface="Calibri" pitchFamily="34" charset="-120"/>
              </a:rPr>
              <a:t>poster, preload, autoplay, peso del archivo y rutas.</a:t>
            </a:r>
            <a:endParaRPr lang="en-US" sz="1100" dirty="0"/>
          </a:p>
        </p:txBody>
      </p:sp>
      <p:sp>
        <p:nvSpPr>
          <p:cNvPr id="21" name="Text 19"/>
          <p:cNvSpPr txBox="1"/>
          <p:nvPr/>
        </p:nvSpPr>
        <p:spPr>
          <a:xfrm>
            <a:off x="10195560" y="3642970"/>
            <a:ext cx="1188720" cy="457200"/>
          </a:xfrm>
          <a:prstGeom prst="rect">
            <a:avLst/>
          </a:prstGeom>
          <a:noFill/>
          <a:ln/>
        </p:spPr>
        <p:txBody>
          <a:bodyPr wrap="square" lIns="0" tIns="0" rIns="0" bIns="0" rtlCol="0" anchor="ctr"/>
          <a:lstStyle/>
          <a:p>
            <a:pPr algn="r" indent="0" marL="0">
              <a:buNone/>
            </a:pPr>
            <a:r>
              <a:rPr lang="en-US" sz="1100" b="1" dirty="0">
                <a:solidFill>
                  <a:srgbClr val="36C4CC"/>
                </a:solidFill>
                <a:latin typeface="Calibri" pitchFamily="34" charset="0"/>
                <a:ea typeface="Calibri" pitchFamily="34" charset="-122"/>
                <a:cs typeface="Calibri" pitchFamily="34" charset="-120"/>
              </a:rPr>
              <a:t>40 min</a:t>
            </a:r>
            <a:endParaRPr lang="en-US" sz="1100" dirty="0"/>
          </a:p>
        </p:txBody>
      </p:sp>
      <p:sp>
        <p:nvSpPr>
          <p:cNvPr id="22" name="Shape 20"/>
          <p:cNvSpPr/>
          <p:nvPr/>
        </p:nvSpPr>
        <p:spPr>
          <a:xfrm>
            <a:off x="640080" y="4156862"/>
            <a:ext cx="10927080" cy="457200"/>
          </a:xfrm>
          <a:prstGeom prst="roundRect">
            <a:avLst>
              <a:gd name="adj" fmla="val 20000"/>
            </a:avLst>
          </a:prstGeom>
          <a:solidFill>
            <a:srgbClr val="F7FDF4"/>
          </a:solidFill>
          <a:ln w="12700">
            <a:solidFill>
              <a:srgbClr val="D9F2CC"/>
            </a:solidFill>
            <a:prstDash val="solid"/>
          </a:ln>
        </p:spPr>
      </p:sp>
      <p:sp>
        <p:nvSpPr>
          <p:cNvPr id="23" name="Shape 21"/>
          <p:cNvSpPr/>
          <p:nvPr/>
        </p:nvSpPr>
        <p:spPr>
          <a:xfrm>
            <a:off x="960120" y="4193438"/>
            <a:ext cx="384048" cy="384048"/>
          </a:xfrm>
          <a:prstGeom prst="ellipse">
            <a:avLst/>
          </a:prstGeom>
          <a:solidFill>
            <a:srgbClr val="36C4CC"/>
          </a:solidFill>
          <a:ln w="12700">
            <a:solidFill>
              <a:srgbClr val="36C4CC"/>
            </a:solidFill>
            <a:prstDash val="solid"/>
          </a:ln>
        </p:spPr>
      </p:sp>
      <p:sp>
        <p:nvSpPr>
          <p:cNvPr id="24" name="Text 22"/>
          <p:cNvSpPr txBox="1"/>
          <p:nvPr/>
        </p:nvSpPr>
        <p:spPr>
          <a:xfrm>
            <a:off x="960120" y="4193438"/>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25" name="Text 23"/>
          <p:cNvSpPr txBox="1"/>
          <p:nvPr/>
        </p:nvSpPr>
        <p:spPr>
          <a:xfrm>
            <a:off x="1664208" y="4156862"/>
            <a:ext cx="3383280" cy="457200"/>
          </a:xfrm>
          <a:prstGeom prst="rect">
            <a:avLst/>
          </a:prstGeom>
          <a:noFill/>
          <a:ln/>
        </p:spPr>
        <p:txBody>
          <a:bodyPr wrap="square" lIns="0" tIns="0" rIns="0" bIns="0" rtlCol="0" anchor="ctr"/>
          <a:lstStyle/>
          <a:p>
            <a:pPr indent="0" marL="0">
              <a:buNone/>
            </a:pPr>
            <a:r>
              <a:rPr lang="en-US" sz="1300" b="1" dirty="0">
                <a:solidFill>
                  <a:srgbClr val="2A2A2A"/>
                </a:solidFill>
                <a:latin typeface="Calibri" pitchFamily="34" charset="0"/>
                <a:ea typeface="Calibri" pitchFamily="34" charset="-122"/>
                <a:cs typeface="Calibri" pitchFamily="34" charset="-120"/>
              </a:rPr>
              <a:t>Accesibilidad</a:t>
            </a:r>
            <a:endParaRPr lang="en-US" sz="1300" dirty="0"/>
          </a:p>
        </p:txBody>
      </p:sp>
      <p:sp>
        <p:nvSpPr>
          <p:cNvPr id="26" name="Text 24"/>
          <p:cNvSpPr txBox="1"/>
          <p:nvPr/>
        </p:nvSpPr>
        <p:spPr>
          <a:xfrm>
            <a:off x="5202936" y="4156862"/>
            <a:ext cx="5120640" cy="457200"/>
          </a:xfrm>
          <a:prstGeom prst="rect">
            <a:avLst/>
          </a:prstGeom>
          <a:noFill/>
          <a:ln/>
        </p:spPr>
        <p:txBody>
          <a:bodyPr wrap="square" lIns="0" tIns="0" rIns="0" bIns="0" rtlCol="0" anchor="ctr"/>
          <a:lstStyle/>
          <a:p>
            <a:pPr indent="0" marL="0">
              <a:buNone/>
            </a:pPr>
            <a:r>
              <a:rPr lang="en-US" sz="1100" dirty="0">
                <a:solidFill>
                  <a:srgbClr val="6E7673"/>
                </a:solidFill>
                <a:latin typeface="Calibri" pitchFamily="34" charset="0"/>
                <a:ea typeface="Calibri" pitchFamily="34" charset="-122"/>
                <a:cs typeface="Calibri" pitchFamily="34" charset="-120"/>
              </a:rPr>
              <a:t>Subtítulos con track y transcripción.</a:t>
            </a:r>
            <a:endParaRPr lang="en-US" sz="1100" dirty="0"/>
          </a:p>
        </p:txBody>
      </p:sp>
      <p:sp>
        <p:nvSpPr>
          <p:cNvPr id="27" name="Text 25"/>
          <p:cNvSpPr txBox="1"/>
          <p:nvPr/>
        </p:nvSpPr>
        <p:spPr>
          <a:xfrm>
            <a:off x="10195560" y="4156862"/>
            <a:ext cx="1188720" cy="457200"/>
          </a:xfrm>
          <a:prstGeom prst="rect">
            <a:avLst/>
          </a:prstGeom>
          <a:noFill/>
          <a:ln/>
        </p:spPr>
        <p:txBody>
          <a:bodyPr wrap="square" lIns="0" tIns="0" rIns="0" bIns="0" rtlCol="0" anchor="ctr"/>
          <a:lstStyle/>
          <a:p>
            <a:pPr algn="r" indent="0" marL="0">
              <a:buNone/>
            </a:pPr>
            <a:r>
              <a:rPr lang="en-US" sz="1100" b="1" dirty="0">
                <a:solidFill>
                  <a:srgbClr val="36C4CC"/>
                </a:solidFill>
                <a:latin typeface="Calibri" pitchFamily="34" charset="0"/>
                <a:ea typeface="Calibri" pitchFamily="34" charset="-122"/>
                <a:cs typeface="Calibri" pitchFamily="34" charset="-120"/>
              </a:rPr>
              <a:t>25 min</a:t>
            </a:r>
            <a:endParaRPr lang="en-US" sz="1100" dirty="0"/>
          </a:p>
        </p:txBody>
      </p:sp>
      <p:sp>
        <p:nvSpPr>
          <p:cNvPr id="28" name="Shape 26"/>
          <p:cNvSpPr/>
          <p:nvPr/>
        </p:nvSpPr>
        <p:spPr>
          <a:xfrm>
            <a:off x="640080" y="4670755"/>
            <a:ext cx="10927080" cy="457200"/>
          </a:xfrm>
          <a:prstGeom prst="roundRect">
            <a:avLst>
              <a:gd name="adj" fmla="val 20000"/>
            </a:avLst>
          </a:prstGeom>
          <a:solidFill>
            <a:srgbClr val="F2F4F3"/>
          </a:solidFill>
          <a:ln w="12700">
            <a:solidFill>
              <a:srgbClr val="E1E5E3"/>
            </a:solidFill>
            <a:prstDash val="solid"/>
          </a:ln>
        </p:spPr>
      </p:sp>
      <p:sp>
        <p:nvSpPr>
          <p:cNvPr id="29" name="Shape 27"/>
          <p:cNvSpPr/>
          <p:nvPr/>
        </p:nvSpPr>
        <p:spPr>
          <a:xfrm>
            <a:off x="960120" y="4707331"/>
            <a:ext cx="384048" cy="384048"/>
          </a:xfrm>
          <a:prstGeom prst="ellipse">
            <a:avLst/>
          </a:prstGeom>
          <a:solidFill>
            <a:srgbClr val="6E7673"/>
          </a:solidFill>
          <a:ln w="12700">
            <a:solidFill>
              <a:srgbClr val="6E7673"/>
            </a:solidFill>
            <a:prstDash val="solid"/>
          </a:ln>
        </p:spPr>
      </p:sp>
      <p:sp>
        <p:nvSpPr>
          <p:cNvPr id="30" name="Text 28"/>
          <p:cNvSpPr txBox="1"/>
          <p:nvPr/>
        </p:nvSpPr>
        <p:spPr>
          <a:xfrm>
            <a:off x="960120" y="4707331"/>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1" name="Text 29"/>
          <p:cNvSpPr txBox="1"/>
          <p:nvPr/>
        </p:nvSpPr>
        <p:spPr>
          <a:xfrm>
            <a:off x="1664208" y="4670755"/>
            <a:ext cx="3383280" cy="457200"/>
          </a:xfrm>
          <a:prstGeom prst="rect">
            <a:avLst/>
          </a:prstGeom>
          <a:noFill/>
          <a:ln/>
        </p:spPr>
        <p:txBody>
          <a:bodyPr wrap="square" lIns="0" tIns="0" rIns="0" bIns="0" rtlCol="0" anchor="ctr"/>
          <a:lstStyle/>
          <a:p>
            <a:pPr indent="0" marL="0">
              <a:buNone/>
            </a:pPr>
            <a:r>
              <a:rPr lang="en-US" sz="1300" b="1" dirty="0">
                <a:solidFill>
                  <a:srgbClr val="6E7673"/>
                </a:solidFill>
                <a:latin typeface="Calibri" pitchFamily="34" charset="0"/>
                <a:ea typeface="Calibri" pitchFamily="34" charset="-122"/>
                <a:cs typeface="Calibri" pitchFamily="34" charset="-120"/>
              </a:rPr>
              <a:t>Descanso</a:t>
            </a:r>
            <a:endParaRPr lang="en-US" sz="1300" dirty="0"/>
          </a:p>
        </p:txBody>
      </p:sp>
      <p:sp>
        <p:nvSpPr>
          <p:cNvPr id="32" name="Text 30"/>
          <p:cNvSpPr txBox="1"/>
          <p:nvPr/>
        </p:nvSpPr>
        <p:spPr>
          <a:xfrm>
            <a:off x="10195560" y="4670755"/>
            <a:ext cx="1188720" cy="457200"/>
          </a:xfrm>
          <a:prstGeom prst="rect">
            <a:avLst/>
          </a:prstGeom>
          <a:noFill/>
          <a:ln/>
        </p:spPr>
        <p:txBody>
          <a:bodyPr wrap="square" lIns="0" tIns="0" rIns="0" bIns="0" rtlCol="0" anchor="ctr"/>
          <a:lstStyle/>
          <a:p>
            <a:pPr algn="r" indent="0" marL="0">
              <a:buNone/>
            </a:pPr>
            <a:r>
              <a:rPr lang="en-US" sz="1100" b="1" dirty="0">
                <a:solidFill>
                  <a:srgbClr val="6E7673"/>
                </a:solidFill>
                <a:latin typeface="Calibri" pitchFamily="34" charset="0"/>
                <a:ea typeface="Calibri" pitchFamily="34" charset="-122"/>
                <a:cs typeface="Calibri" pitchFamily="34" charset="-120"/>
              </a:rPr>
              <a:t>15 min</a:t>
            </a:r>
            <a:endParaRPr lang="en-US" sz="1100" dirty="0"/>
          </a:p>
        </p:txBody>
      </p:sp>
      <p:sp>
        <p:nvSpPr>
          <p:cNvPr id="33" name="Shape 31"/>
          <p:cNvSpPr/>
          <p:nvPr/>
        </p:nvSpPr>
        <p:spPr>
          <a:xfrm>
            <a:off x="640080" y="5184648"/>
            <a:ext cx="10927080" cy="457200"/>
          </a:xfrm>
          <a:prstGeom prst="roundRect">
            <a:avLst>
              <a:gd name="adj" fmla="val 20000"/>
            </a:avLst>
          </a:prstGeom>
          <a:solidFill>
            <a:srgbClr val="F7FDF4"/>
          </a:solidFill>
          <a:ln w="12700">
            <a:solidFill>
              <a:srgbClr val="D9F2CC"/>
            </a:solidFill>
            <a:prstDash val="solid"/>
          </a:ln>
        </p:spPr>
      </p:sp>
      <p:sp>
        <p:nvSpPr>
          <p:cNvPr id="34" name="Shape 32"/>
          <p:cNvSpPr/>
          <p:nvPr/>
        </p:nvSpPr>
        <p:spPr>
          <a:xfrm>
            <a:off x="960120" y="5221224"/>
            <a:ext cx="384048" cy="384048"/>
          </a:xfrm>
          <a:prstGeom prst="ellipse">
            <a:avLst/>
          </a:prstGeom>
          <a:solidFill>
            <a:srgbClr val="72EF29"/>
          </a:solidFill>
          <a:ln w="12700">
            <a:solidFill>
              <a:srgbClr val="72EF29"/>
            </a:solidFill>
            <a:prstDash val="solid"/>
          </a:ln>
        </p:spPr>
      </p:sp>
      <p:sp>
        <p:nvSpPr>
          <p:cNvPr id="35" name="Text 33"/>
          <p:cNvSpPr txBox="1"/>
          <p:nvPr/>
        </p:nvSpPr>
        <p:spPr>
          <a:xfrm>
            <a:off x="960120" y="5221224"/>
            <a:ext cx="384048" cy="384048"/>
          </a:xfrm>
          <a:prstGeom prst="rect">
            <a:avLst/>
          </a:prstGeom>
          <a:noFill/>
          <a:ln/>
        </p:spPr>
        <p:txBody>
          <a:bodyPr wrap="square" lIns="0" tIns="0" rIns="0" bIns="0" rtlCol="0" anchor="ctr"/>
          <a:lstStyle/>
          <a:p>
            <a:pPr algn="ctr" indent="0" marL="0">
              <a:buNone/>
            </a:pPr>
            <a:r>
              <a:rPr lang="en-US" sz="1100" b="1" dirty="0">
                <a:solidFill>
                  <a:srgbClr val="2A2A2A"/>
                </a:solidFill>
                <a:latin typeface="Calibri" pitchFamily="34" charset="0"/>
                <a:ea typeface="Calibri" pitchFamily="34" charset="-122"/>
                <a:cs typeface="Calibri" pitchFamily="34" charset="-120"/>
              </a:rPr>
              <a:t>05</a:t>
            </a:r>
            <a:endParaRPr lang="en-US" sz="1100" dirty="0"/>
          </a:p>
        </p:txBody>
      </p:sp>
      <p:sp>
        <p:nvSpPr>
          <p:cNvPr id="36" name="Text 34"/>
          <p:cNvSpPr txBox="1"/>
          <p:nvPr/>
        </p:nvSpPr>
        <p:spPr>
          <a:xfrm>
            <a:off x="1664208" y="5184648"/>
            <a:ext cx="3383280" cy="457200"/>
          </a:xfrm>
          <a:prstGeom prst="rect">
            <a:avLst/>
          </a:prstGeom>
          <a:noFill/>
          <a:ln/>
        </p:spPr>
        <p:txBody>
          <a:bodyPr wrap="square" lIns="0" tIns="0" rIns="0" bIns="0" rtlCol="0" anchor="ctr"/>
          <a:lstStyle/>
          <a:p>
            <a:pPr indent="0" marL="0">
              <a:buNone/>
            </a:pPr>
            <a:r>
              <a:rPr lang="en-US" sz="1300" b="1" dirty="0">
                <a:solidFill>
                  <a:srgbClr val="2A2A2A"/>
                </a:solidFill>
                <a:latin typeface="Calibri" pitchFamily="34" charset="0"/>
                <a:ea typeface="Calibri" pitchFamily="34" charset="-122"/>
                <a:cs typeface="Calibri" pitchFamily="34" charset="-120"/>
              </a:rPr>
              <a:t>Controles propios y práctica</a:t>
            </a:r>
            <a:endParaRPr lang="en-US" sz="1300" dirty="0"/>
          </a:p>
        </p:txBody>
      </p:sp>
      <p:sp>
        <p:nvSpPr>
          <p:cNvPr id="37" name="Text 35"/>
          <p:cNvSpPr txBox="1"/>
          <p:nvPr/>
        </p:nvSpPr>
        <p:spPr>
          <a:xfrm>
            <a:off x="5202936" y="5184648"/>
            <a:ext cx="5120640" cy="457200"/>
          </a:xfrm>
          <a:prstGeom prst="rect">
            <a:avLst/>
          </a:prstGeom>
          <a:noFill/>
          <a:ln/>
        </p:spPr>
        <p:txBody>
          <a:bodyPr wrap="square" lIns="0" tIns="0" rIns="0" bIns="0" rtlCol="0" anchor="ctr"/>
          <a:lstStyle/>
          <a:p>
            <a:pPr indent="0" marL="0">
              <a:buNone/>
            </a:pPr>
            <a:r>
              <a:rPr lang="en-US" sz="1100" dirty="0">
                <a:solidFill>
                  <a:srgbClr val="6E7673"/>
                </a:solidFill>
                <a:latin typeface="Calibri" pitchFamily="34" charset="0"/>
                <a:ea typeface="Calibri" pitchFamily="34" charset="-122"/>
                <a:cs typeface="Calibri" pitchFamily="34" charset="-120"/>
              </a:rPr>
              <a:t>Botones, barra de avance y tu página Sobre mí.</a:t>
            </a:r>
            <a:endParaRPr lang="en-US" sz="1100" dirty="0"/>
          </a:p>
        </p:txBody>
      </p:sp>
      <p:sp>
        <p:nvSpPr>
          <p:cNvPr id="38" name="Text 36"/>
          <p:cNvSpPr txBox="1"/>
          <p:nvPr/>
        </p:nvSpPr>
        <p:spPr>
          <a:xfrm>
            <a:off x="10195560" y="5184648"/>
            <a:ext cx="1188720" cy="457200"/>
          </a:xfrm>
          <a:prstGeom prst="rect">
            <a:avLst/>
          </a:prstGeom>
          <a:noFill/>
          <a:ln/>
        </p:spPr>
        <p:txBody>
          <a:bodyPr wrap="square" lIns="0" tIns="0" rIns="0" bIns="0" rtlCol="0" anchor="ctr"/>
          <a:lstStyle/>
          <a:p>
            <a:pPr algn="r" indent="0" marL="0">
              <a:buNone/>
            </a:pPr>
            <a:r>
              <a:rPr lang="en-US" sz="1100" b="1" dirty="0">
                <a:solidFill>
                  <a:srgbClr val="4FB817"/>
                </a:solidFill>
                <a:latin typeface="Calibri" pitchFamily="34" charset="0"/>
                <a:ea typeface="Calibri" pitchFamily="34" charset="-122"/>
                <a:cs typeface="Calibri" pitchFamily="34" charset="-120"/>
              </a:rPr>
              <a:t>55 min</a:t>
            </a:r>
            <a:endParaRPr lang="en-US" sz="1100" dirty="0"/>
          </a:p>
        </p:txBody>
      </p:sp>
      <p:sp>
        <p:nvSpPr>
          <p:cNvPr id="39" name="Shape 37"/>
          <p:cNvSpPr/>
          <p:nvPr/>
        </p:nvSpPr>
        <p:spPr>
          <a:xfrm>
            <a:off x="640080" y="5698541"/>
            <a:ext cx="10927080" cy="457200"/>
          </a:xfrm>
          <a:prstGeom prst="roundRect">
            <a:avLst>
              <a:gd name="adj" fmla="val 20000"/>
            </a:avLst>
          </a:prstGeom>
          <a:solidFill>
            <a:srgbClr val="F7FDF4"/>
          </a:solidFill>
          <a:ln w="12700">
            <a:solidFill>
              <a:srgbClr val="D9F2CC"/>
            </a:solidFill>
            <a:prstDash val="solid"/>
          </a:ln>
        </p:spPr>
      </p:sp>
      <p:sp>
        <p:nvSpPr>
          <p:cNvPr id="40" name="Shape 38"/>
          <p:cNvSpPr/>
          <p:nvPr/>
        </p:nvSpPr>
        <p:spPr>
          <a:xfrm>
            <a:off x="960120" y="5735117"/>
            <a:ext cx="384048" cy="384048"/>
          </a:xfrm>
          <a:prstGeom prst="ellipse">
            <a:avLst/>
          </a:prstGeom>
          <a:solidFill>
            <a:srgbClr val="72EF29"/>
          </a:solidFill>
          <a:ln w="12700">
            <a:solidFill>
              <a:srgbClr val="72EF29"/>
            </a:solidFill>
            <a:prstDash val="solid"/>
          </a:ln>
        </p:spPr>
      </p:sp>
      <p:sp>
        <p:nvSpPr>
          <p:cNvPr id="41" name="Text 39"/>
          <p:cNvSpPr txBox="1"/>
          <p:nvPr/>
        </p:nvSpPr>
        <p:spPr>
          <a:xfrm>
            <a:off x="960120" y="5735117"/>
            <a:ext cx="384048" cy="384048"/>
          </a:xfrm>
          <a:prstGeom prst="rect">
            <a:avLst/>
          </a:prstGeom>
          <a:noFill/>
          <a:ln/>
        </p:spPr>
        <p:txBody>
          <a:bodyPr wrap="square" lIns="0" tIns="0" rIns="0" bIns="0" rtlCol="0" anchor="ctr"/>
          <a:lstStyle/>
          <a:p>
            <a:pPr algn="ctr" indent="0" marL="0">
              <a:buNone/>
            </a:pPr>
            <a:r>
              <a:rPr lang="en-US" sz="1100" b="1" dirty="0">
                <a:solidFill>
                  <a:srgbClr val="2A2A2A"/>
                </a:solidFill>
                <a:latin typeface="Calibri" pitchFamily="34" charset="0"/>
                <a:ea typeface="Calibri" pitchFamily="34" charset="-122"/>
                <a:cs typeface="Calibri" pitchFamily="34" charset="-120"/>
              </a:rPr>
              <a:t>06</a:t>
            </a:r>
            <a:endParaRPr lang="en-US" sz="1100" dirty="0"/>
          </a:p>
        </p:txBody>
      </p:sp>
      <p:sp>
        <p:nvSpPr>
          <p:cNvPr id="42" name="Text 40"/>
          <p:cNvSpPr txBox="1"/>
          <p:nvPr/>
        </p:nvSpPr>
        <p:spPr>
          <a:xfrm>
            <a:off x="1664208" y="5698541"/>
            <a:ext cx="3383280" cy="457200"/>
          </a:xfrm>
          <a:prstGeom prst="rect">
            <a:avLst/>
          </a:prstGeom>
          <a:noFill/>
          <a:ln/>
        </p:spPr>
        <p:txBody>
          <a:bodyPr wrap="square" lIns="0" tIns="0" rIns="0" bIns="0" rtlCol="0" anchor="ctr"/>
          <a:lstStyle/>
          <a:p>
            <a:pPr indent="0" marL="0">
              <a:buNone/>
            </a:pPr>
            <a:r>
              <a:rPr lang="en-US" sz="1300" b="1" dirty="0">
                <a:solidFill>
                  <a:srgbClr val="2A2A2A"/>
                </a:solidFill>
                <a:latin typeface="Calibri" pitchFamily="34" charset="0"/>
                <a:ea typeface="Calibri" pitchFamily="34" charset="-122"/>
                <a:cs typeface="Calibri" pitchFamily="34" charset="-120"/>
              </a:rPr>
              <a:t>De vuelta a Figma</a:t>
            </a:r>
            <a:endParaRPr lang="en-US" sz="1300" dirty="0"/>
          </a:p>
        </p:txBody>
      </p:sp>
      <p:sp>
        <p:nvSpPr>
          <p:cNvPr id="43" name="Text 41"/>
          <p:cNvSpPr txBox="1"/>
          <p:nvPr/>
        </p:nvSpPr>
        <p:spPr>
          <a:xfrm>
            <a:off x="5202936" y="5698541"/>
            <a:ext cx="5120640" cy="457200"/>
          </a:xfrm>
          <a:prstGeom prst="rect">
            <a:avLst/>
          </a:prstGeom>
          <a:noFill/>
          <a:ln/>
        </p:spPr>
        <p:txBody>
          <a:bodyPr wrap="square" lIns="0" tIns="0" rIns="0" bIns="0" rtlCol="0" anchor="ctr"/>
          <a:lstStyle/>
          <a:p>
            <a:pPr indent="0" marL="0">
              <a:buNone/>
            </a:pPr>
            <a:r>
              <a:rPr lang="en-US" sz="1100" dirty="0">
                <a:solidFill>
                  <a:srgbClr val="6E7673"/>
                </a:solidFill>
                <a:latin typeface="Calibri" pitchFamily="34" charset="0"/>
                <a:ea typeface="Calibri" pitchFamily="34" charset="-122"/>
                <a:cs typeface="Calibri" pitchFamily="34" charset="-120"/>
              </a:rPr>
              <a:t>Corrige los Pasos 2 al 6 y deja listo el Hero.</a:t>
            </a:r>
            <a:endParaRPr lang="en-US" sz="1100" dirty="0"/>
          </a:p>
        </p:txBody>
      </p:sp>
      <p:sp>
        <p:nvSpPr>
          <p:cNvPr id="44" name="Text 42"/>
          <p:cNvSpPr txBox="1"/>
          <p:nvPr/>
        </p:nvSpPr>
        <p:spPr>
          <a:xfrm>
            <a:off x="10195560" y="5698541"/>
            <a:ext cx="1188720" cy="457200"/>
          </a:xfrm>
          <a:prstGeom prst="rect">
            <a:avLst/>
          </a:prstGeom>
          <a:noFill/>
          <a:ln/>
        </p:spPr>
        <p:txBody>
          <a:bodyPr wrap="square" lIns="0" tIns="0" rIns="0" bIns="0" rtlCol="0" anchor="ctr"/>
          <a:lstStyle/>
          <a:p>
            <a:pPr algn="r" indent="0" marL="0">
              <a:buNone/>
            </a:pPr>
            <a:r>
              <a:rPr lang="en-US" sz="1100" b="1" dirty="0">
                <a:solidFill>
                  <a:srgbClr val="4FB817"/>
                </a:solidFill>
                <a:latin typeface="Calibri" pitchFamily="34" charset="0"/>
                <a:ea typeface="Calibri" pitchFamily="34" charset="-122"/>
                <a:cs typeface="Calibri" pitchFamily="34" charset="-120"/>
              </a:rPr>
              <a:t>15 min</a:t>
            </a:r>
            <a:endParaRPr lang="en-US" sz="1100" dirty="0"/>
          </a:p>
        </p:txBody>
      </p:sp>
      <p:sp>
        <p:nvSpPr>
          <p:cNvPr id="45" name="Text 43"/>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08 / 48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1664208"/>
            <a:ext cx="5623560" cy="1024128"/>
          </a:xfrm>
          <a:prstGeom prst="roundRect">
            <a:avLst>
              <a:gd name="adj" fmla="val 50000"/>
            </a:avLst>
          </a:prstGeom>
          <a:solidFill>
            <a:srgbClr val="72EF29"/>
          </a:solidFill>
          <a:ln w="12700">
            <a:solidFill>
              <a:srgbClr val="72EF29"/>
            </a:solidFill>
            <a:prstDash val="solid"/>
          </a:ln>
        </p:spPr>
      </p:sp>
      <p:sp>
        <p:nvSpPr>
          <p:cNvPr id="3" name="Shape 1"/>
          <p:cNvSpPr/>
          <p:nvPr/>
        </p:nvSpPr>
        <p:spPr>
          <a:xfrm>
            <a:off x="-548640" y="1517904"/>
            <a:ext cx="5349240" cy="1024128"/>
          </a:xfrm>
          <a:prstGeom prst="roundRect">
            <a:avLst>
              <a:gd name="adj" fmla="val 50000"/>
            </a:avLst>
          </a:prstGeom>
          <a:solidFill>
            <a:srgbClr val="36C4CC"/>
          </a:solidFill>
          <a:ln w="12700">
            <a:solidFill>
              <a:srgbClr val="36C4CC"/>
            </a:solidFill>
            <a:prstDash val="solid"/>
          </a:ln>
        </p:spPr>
      </p:sp>
      <p:sp>
        <p:nvSpPr>
          <p:cNvPr id="4" name="Text 2"/>
          <p:cNvSpPr txBox="1"/>
          <p:nvPr/>
        </p:nvSpPr>
        <p:spPr>
          <a:xfrm>
            <a:off x="274320" y="1517904"/>
            <a:ext cx="4297680" cy="10241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Repaso: formularios HTML5</a:t>
            </a:r>
            <a:endParaRPr lang="en-US" sz="2000" dirty="0"/>
          </a:p>
        </p:txBody>
      </p:sp>
      <p:sp>
        <p:nvSpPr>
          <p:cNvPr id="5" name="Text 3"/>
          <p:cNvSpPr txBox="1"/>
          <p:nvPr/>
        </p:nvSpPr>
        <p:spPr>
          <a:xfrm>
            <a:off x="274320" y="2834640"/>
            <a:ext cx="4297680" cy="256032"/>
          </a:xfrm>
          <a:prstGeom prst="rect">
            <a:avLst/>
          </a:prstGeom>
          <a:noFill/>
          <a:ln/>
        </p:spPr>
        <p:txBody>
          <a:bodyPr wrap="square" lIns="0" tIns="0" rIns="0" bIns="0" rtlCol="0" anchor="ctr"/>
          <a:lstStyle/>
          <a:p>
            <a:pPr algn="ctr" indent="0" marL="0">
              <a:buNone/>
            </a:pPr>
            <a:r>
              <a:rPr lang="en-US" sz="1100" b="1" spc="400" kern="0" dirty="0">
                <a:solidFill>
                  <a:srgbClr val="1E9AA3"/>
                </a:solidFill>
                <a:latin typeface="Calibri" pitchFamily="34" charset="0"/>
                <a:ea typeface="Calibri" pitchFamily="34" charset="-122"/>
                <a:cs typeface="Calibri" pitchFamily="34" charset="-120"/>
              </a:rPr>
              <a:t>BLOQUE 01</a:t>
            </a:r>
            <a:endParaRPr lang="en-US" sz="1100" dirty="0"/>
          </a:p>
        </p:txBody>
      </p:sp>
      <p:sp>
        <p:nvSpPr>
          <p:cNvPr id="6" name="Text 4"/>
          <p:cNvSpPr txBox="1"/>
          <p:nvPr/>
        </p:nvSpPr>
        <p:spPr>
          <a:xfrm>
            <a:off x="685800" y="3346704"/>
            <a:ext cx="3657600" cy="237744"/>
          </a:xfrm>
          <a:prstGeom prst="rect">
            <a:avLst/>
          </a:prstGeom>
          <a:noFill/>
          <a:ln/>
        </p:spPr>
        <p:txBody>
          <a:bodyPr wrap="square" lIns="0" tIns="0" rIns="0" bIns="0" rtlCol="0" anchor="ctr"/>
          <a:lstStyle/>
          <a:p>
            <a:pPr indent="0" marL="0">
              <a:buNone/>
            </a:pPr>
            <a:r>
              <a:rPr lang="en-US" sz="1050" b="1" spc="150" kern="0" dirty="0">
                <a:solidFill>
                  <a:srgbClr val="6E7673"/>
                </a:solidFill>
                <a:latin typeface="Calibri" pitchFamily="34" charset="0"/>
                <a:ea typeface="Calibri" pitchFamily="34" charset="-122"/>
                <a:cs typeface="Calibri" pitchFamily="34" charset="-120"/>
              </a:rPr>
              <a:t>En este bloque</a:t>
            </a:r>
            <a:endParaRPr lang="en-US" sz="1050" dirty="0"/>
          </a:p>
        </p:txBody>
      </p:sp>
      <p:sp>
        <p:nvSpPr>
          <p:cNvPr id="7" name="Shape 5"/>
          <p:cNvSpPr/>
          <p:nvPr/>
        </p:nvSpPr>
        <p:spPr>
          <a:xfrm>
            <a:off x="685800" y="3657600"/>
            <a:ext cx="5577840" cy="475488"/>
          </a:xfrm>
          <a:prstGeom prst="roundRect">
            <a:avLst>
              <a:gd name="adj" fmla="val 50000"/>
            </a:avLst>
          </a:prstGeom>
          <a:solidFill>
            <a:srgbClr val="F0FCE8"/>
          </a:solidFill>
          <a:ln w="12700">
            <a:solidFill>
              <a:srgbClr val="F0FCE8"/>
            </a:solidFill>
            <a:prstDash val="solid"/>
          </a:ln>
        </p:spPr>
      </p:sp>
      <p:sp>
        <p:nvSpPr>
          <p:cNvPr id="8" name="Shape 6"/>
          <p:cNvSpPr/>
          <p:nvPr/>
        </p:nvSpPr>
        <p:spPr>
          <a:xfrm>
            <a:off x="685800" y="3657600"/>
            <a:ext cx="667512" cy="475488"/>
          </a:xfrm>
          <a:prstGeom prst="roundRect">
            <a:avLst>
              <a:gd name="adj" fmla="val 50000"/>
            </a:avLst>
          </a:prstGeom>
          <a:solidFill>
            <a:srgbClr val="36C4CC"/>
          </a:solidFill>
          <a:ln w="12700">
            <a:solidFill>
              <a:srgbClr val="36C4CC"/>
            </a:solidFill>
            <a:prstDash val="solid"/>
          </a:ln>
        </p:spPr>
      </p:sp>
      <p:sp>
        <p:nvSpPr>
          <p:cNvPr id="9" name="Text 7"/>
          <p:cNvSpPr txBox="1"/>
          <p:nvPr/>
        </p:nvSpPr>
        <p:spPr>
          <a:xfrm>
            <a:off x="1481328" y="365760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Anatomía de un formulario</a:t>
            </a:r>
            <a:endParaRPr lang="en-US" sz="1200" dirty="0"/>
          </a:p>
        </p:txBody>
      </p:sp>
      <p:sp>
        <p:nvSpPr>
          <p:cNvPr id="10" name="Shape 8"/>
          <p:cNvSpPr/>
          <p:nvPr/>
        </p:nvSpPr>
        <p:spPr>
          <a:xfrm>
            <a:off x="685800" y="4206240"/>
            <a:ext cx="5577840" cy="475488"/>
          </a:xfrm>
          <a:prstGeom prst="roundRect">
            <a:avLst>
              <a:gd name="adj" fmla="val 50000"/>
            </a:avLst>
          </a:prstGeom>
          <a:solidFill>
            <a:srgbClr val="F0FCE8"/>
          </a:solidFill>
          <a:ln w="12700">
            <a:solidFill>
              <a:srgbClr val="F0FCE8"/>
            </a:solidFill>
            <a:prstDash val="solid"/>
          </a:ln>
        </p:spPr>
      </p:sp>
      <p:sp>
        <p:nvSpPr>
          <p:cNvPr id="11" name="Shape 9"/>
          <p:cNvSpPr/>
          <p:nvPr/>
        </p:nvSpPr>
        <p:spPr>
          <a:xfrm>
            <a:off x="685800" y="4206240"/>
            <a:ext cx="667512" cy="475488"/>
          </a:xfrm>
          <a:prstGeom prst="roundRect">
            <a:avLst>
              <a:gd name="adj" fmla="val 50000"/>
            </a:avLst>
          </a:prstGeom>
          <a:solidFill>
            <a:srgbClr val="36C4CC"/>
          </a:solidFill>
          <a:ln w="12700">
            <a:solidFill>
              <a:srgbClr val="36C4CC"/>
            </a:solidFill>
            <a:prstDash val="solid"/>
          </a:ln>
        </p:spPr>
      </p:sp>
      <p:sp>
        <p:nvSpPr>
          <p:cNvPr id="12" name="Text 10"/>
          <p:cNvSpPr txBox="1"/>
          <p:nvPr/>
        </p:nvSpPr>
        <p:spPr>
          <a:xfrm>
            <a:off x="1481328" y="420624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label: la etiqueta de cada campo</a:t>
            </a:r>
            <a:endParaRPr lang="en-US" sz="1200" dirty="0"/>
          </a:p>
        </p:txBody>
      </p:sp>
      <p:sp>
        <p:nvSpPr>
          <p:cNvPr id="13" name="Shape 11"/>
          <p:cNvSpPr/>
          <p:nvPr/>
        </p:nvSpPr>
        <p:spPr>
          <a:xfrm>
            <a:off x="685800" y="4754880"/>
            <a:ext cx="5577840" cy="475488"/>
          </a:xfrm>
          <a:prstGeom prst="roundRect">
            <a:avLst>
              <a:gd name="adj" fmla="val 50000"/>
            </a:avLst>
          </a:prstGeom>
          <a:solidFill>
            <a:srgbClr val="F0FCE8"/>
          </a:solidFill>
          <a:ln w="12700">
            <a:solidFill>
              <a:srgbClr val="F0FCE8"/>
            </a:solidFill>
            <a:prstDash val="solid"/>
          </a:ln>
        </p:spPr>
      </p:sp>
      <p:sp>
        <p:nvSpPr>
          <p:cNvPr id="14" name="Shape 12"/>
          <p:cNvSpPr/>
          <p:nvPr/>
        </p:nvSpPr>
        <p:spPr>
          <a:xfrm>
            <a:off x="685800" y="4754880"/>
            <a:ext cx="667512" cy="475488"/>
          </a:xfrm>
          <a:prstGeom prst="roundRect">
            <a:avLst>
              <a:gd name="adj" fmla="val 50000"/>
            </a:avLst>
          </a:prstGeom>
          <a:solidFill>
            <a:srgbClr val="36C4CC"/>
          </a:solidFill>
          <a:ln w="12700">
            <a:solidFill>
              <a:srgbClr val="36C4CC"/>
            </a:solidFill>
            <a:prstDash val="solid"/>
          </a:ln>
        </p:spPr>
      </p:sp>
      <p:sp>
        <p:nvSpPr>
          <p:cNvPr id="15" name="Text 13"/>
          <p:cNvSpPr txBox="1"/>
          <p:nvPr/>
        </p:nvSpPr>
        <p:spPr>
          <a:xfrm>
            <a:off x="1481328" y="475488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Tipos de campo</a:t>
            </a:r>
            <a:endParaRPr lang="en-US" sz="1200" dirty="0"/>
          </a:p>
        </p:txBody>
      </p:sp>
      <p:sp>
        <p:nvSpPr>
          <p:cNvPr id="16" name="Shape 14"/>
          <p:cNvSpPr/>
          <p:nvPr/>
        </p:nvSpPr>
        <p:spPr>
          <a:xfrm>
            <a:off x="685800" y="5303520"/>
            <a:ext cx="5577840" cy="475488"/>
          </a:xfrm>
          <a:prstGeom prst="roundRect">
            <a:avLst>
              <a:gd name="adj" fmla="val 50000"/>
            </a:avLst>
          </a:prstGeom>
          <a:solidFill>
            <a:srgbClr val="F0FCE8"/>
          </a:solidFill>
          <a:ln w="12700">
            <a:solidFill>
              <a:srgbClr val="F0FCE8"/>
            </a:solidFill>
            <a:prstDash val="solid"/>
          </a:ln>
        </p:spPr>
      </p:sp>
      <p:sp>
        <p:nvSpPr>
          <p:cNvPr id="17" name="Shape 15"/>
          <p:cNvSpPr/>
          <p:nvPr/>
        </p:nvSpPr>
        <p:spPr>
          <a:xfrm>
            <a:off x="685800" y="5303520"/>
            <a:ext cx="667512" cy="475488"/>
          </a:xfrm>
          <a:prstGeom prst="roundRect">
            <a:avLst>
              <a:gd name="adj" fmla="val 50000"/>
            </a:avLst>
          </a:prstGeom>
          <a:solidFill>
            <a:srgbClr val="36C4CC"/>
          </a:solidFill>
          <a:ln w="12700">
            <a:solidFill>
              <a:srgbClr val="36C4CC"/>
            </a:solidFill>
            <a:prstDash val="solid"/>
          </a:ln>
        </p:spPr>
      </p:sp>
      <p:sp>
        <p:nvSpPr>
          <p:cNvPr id="18" name="Text 16"/>
          <p:cNvSpPr txBox="1"/>
          <p:nvPr/>
        </p:nvSpPr>
        <p:spPr>
          <a:xfrm>
            <a:off x="1481328" y="530352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Validación nativa</a:t>
            </a:r>
            <a:endParaRPr lang="en-US" sz="1200" dirty="0"/>
          </a:p>
        </p:txBody>
      </p:sp>
      <p:sp>
        <p:nvSpPr>
          <p:cNvPr id="19" name="Shape 17"/>
          <p:cNvSpPr/>
          <p:nvPr/>
        </p:nvSpPr>
        <p:spPr>
          <a:xfrm>
            <a:off x="685800" y="5852160"/>
            <a:ext cx="5577840" cy="475488"/>
          </a:xfrm>
          <a:prstGeom prst="roundRect">
            <a:avLst>
              <a:gd name="adj" fmla="val 50000"/>
            </a:avLst>
          </a:prstGeom>
          <a:solidFill>
            <a:srgbClr val="F0FCE8"/>
          </a:solidFill>
          <a:ln w="12700">
            <a:solidFill>
              <a:srgbClr val="F0FCE8"/>
            </a:solidFill>
            <a:prstDash val="solid"/>
          </a:ln>
        </p:spPr>
      </p:sp>
      <p:sp>
        <p:nvSpPr>
          <p:cNvPr id="20" name="Shape 18"/>
          <p:cNvSpPr/>
          <p:nvPr/>
        </p:nvSpPr>
        <p:spPr>
          <a:xfrm>
            <a:off x="685800" y="5852160"/>
            <a:ext cx="667512" cy="475488"/>
          </a:xfrm>
          <a:prstGeom prst="roundRect">
            <a:avLst>
              <a:gd name="adj" fmla="val 50000"/>
            </a:avLst>
          </a:prstGeom>
          <a:solidFill>
            <a:srgbClr val="36C4CC"/>
          </a:solidFill>
          <a:ln w="12700">
            <a:solidFill>
              <a:srgbClr val="36C4CC"/>
            </a:solidFill>
            <a:prstDash val="solid"/>
          </a:ln>
        </p:spPr>
      </p:sp>
      <p:sp>
        <p:nvSpPr>
          <p:cNvPr id="21" name="Text 19"/>
          <p:cNvSpPr txBox="1"/>
          <p:nvPr/>
        </p:nvSpPr>
        <p:spPr>
          <a:xfrm>
            <a:off x="1481328" y="585216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Controles avanzados</a:t>
            </a:r>
            <a:endParaRPr lang="en-US" sz="1200" dirty="0"/>
          </a:p>
        </p:txBody>
      </p:sp>
      <p:sp>
        <p:nvSpPr>
          <p:cNvPr id="22" name="Shape 20"/>
          <p:cNvSpPr/>
          <p:nvPr/>
        </p:nvSpPr>
        <p:spPr>
          <a:xfrm>
            <a:off x="6766560" y="1234440"/>
            <a:ext cx="5166360" cy="5257800"/>
          </a:xfrm>
          <a:prstGeom prst="roundRect">
            <a:avLst>
              <a:gd name="adj" fmla="val 3894"/>
            </a:avLst>
          </a:prstGeom>
          <a:solidFill>
            <a:srgbClr val="FFFFFF"/>
          </a:solidFill>
          <a:ln w="28575">
            <a:solidFill>
              <a:srgbClr val="36C4CC"/>
            </a:solidFill>
            <a:prstDash val="solid"/>
          </a:ln>
        </p:spPr>
      </p:sp>
      <p:pic>
        <p:nvPicPr>
          <p:cNvPr id="23" name="Image 0" descr="Persona programando frente a un monitor">    </p:cNvPr>
          <p:cNvPicPr>
            <a:picLocks noChangeAspect="1"/>
          </p:cNvPicPr>
          <p:nvPr/>
        </p:nvPicPr>
        <p:blipFill>
          <a:blip r:embed="rId1"/>
          <a:srcRect l="0" r="0" t="0" b="0"/>
          <a:stretch/>
        </p:blipFill>
        <p:spPr>
          <a:xfrm>
            <a:off x="6903720" y="1362456"/>
            <a:ext cx="4892040" cy="5001768"/>
          </a:xfrm>
          <a:prstGeom prst="rect">
            <a:avLst/>
          </a:prstGeom>
        </p:spPr>
      </p:pic>
      <p:sp>
        <p:nvSpPr>
          <p:cNvPr id="24" name="Shape 21"/>
          <p:cNvSpPr/>
          <p:nvPr/>
        </p:nvSpPr>
        <p:spPr>
          <a:xfrm>
            <a:off x="6528816" y="978408"/>
            <a:ext cx="804672" cy="804672"/>
          </a:xfrm>
          <a:prstGeom prst="ellipse">
            <a:avLst/>
          </a:prstGeom>
          <a:solidFill>
            <a:srgbClr val="72EF29"/>
          </a:solidFill>
          <a:ln w="38100">
            <a:solidFill>
              <a:srgbClr val="FFFFFF"/>
            </a:solidFill>
            <a:prstDash val="solid"/>
          </a:ln>
        </p:spPr>
      </p:sp>
      <p:sp>
        <p:nvSpPr>
          <p:cNvPr id="26" name="Text 22"/>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09 / 48</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01 · REPASO</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Anatomía de un formulario</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Una etiqueta form, campos con nombre y un botón que envía.</a:t>
            </a:r>
            <a:endParaRPr lang="en-US" sz="1250" dirty="0"/>
          </a:p>
        </p:txBody>
      </p:sp>
      <p:sp>
        <p:nvSpPr>
          <p:cNvPr id="5" name="Shape 3"/>
          <p:cNvSpPr/>
          <p:nvPr/>
        </p:nvSpPr>
        <p:spPr>
          <a:xfrm>
            <a:off x="640080" y="2615184"/>
            <a:ext cx="6035040" cy="2148840"/>
          </a:xfrm>
          <a:prstGeom prst="roundRect">
            <a:avLst>
              <a:gd name="adj" fmla="val 4255"/>
            </a:avLst>
          </a:prstGeom>
          <a:solidFill>
            <a:srgbClr val="2B2B2B"/>
          </a:solidFill>
          <a:ln w="12700">
            <a:solidFill>
              <a:srgbClr val="2B2B2B"/>
            </a:solidFill>
            <a:prstDash val="solid"/>
          </a:ln>
        </p:spPr>
      </p:sp>
      <p:sp>
        <p:nvSpPr>
          <p:cNvPr id="6" name="Text 4"/>
          <p:cNvSpPr txBox="1"/>
          <p:nvPr/>
        </p:nvSpPr>
        <p:spPr>
          <a:xfrm>
            <a:off x="868680" y="2779776"/>
            <a:ext cx="5577840" cy="1819656"/>
          </a:xfrm>
          <a:prstGeom prst="rect">
            <a:avLst/>
          </a:prstGeom>
          <a:noFill/>
          <a:ln/>
        </p:spPr>
        <p:txBody>
          <a:bodyPr wrap="square" lIns="0" tIns="0" rIns="0" bIns="0" rtlCol="0" anchor="ctr"/>
          <a:lstStyle/>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&lt;form action="contactame.html" method="get"&gt;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&lt;p&gt;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&lt;label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for="nombre"</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&gt;Nombre completo&lt;/label&gt;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&lt;input type="text"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id="nombre"</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name="nombre"</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&lt;/p&gt;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&lt;button type="submit"&gt;Enviar mensaje&lt;/button&gt;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&lt;/form&gt;</a:t>
            </a:r>
            <a:endParaRPr lang="en-US" sz="1100" dirty="0"/>
          </a:p>
        </p:txBody>
      </p:sp>
      <p:sp>
        <p:nvSpPr>
          <p:cNvPr id="7" name="Shape 5"/>
          <p:cNvSpPr/>
          <p:nvPr/>
        </p:nvSpPr>
        <p:spPr>
          <a:xfrm>
            <a:off x="6903720" y="2615184"/>
            <a:ext cx="4663440" cy="466344"/>
          </a:xfrm>
          <a:prstGeom prst="roundRect">
            <a:avLst>
              <a:gd name="adj" fmla="val 19608"/>
            </a:avLst>
          </a:prstGeom>
          <a:solidFill>
            <a:srgbClr val="F7FDF4"/>
          </a:solidFill>
          <a:ln w="12700">
            <a:solidFill>
              <a:srgbClr val="D9F2CC"/>
            </a:solidFill>
            <a:prstDash val="solid"/>
          </a:ln>
        </p:spPr>
      </p:sp>
      <p:sp>
        <p:nvSpPr>
          <p:cNvPr id="8" name="Text 6"/>
          <p:cNvSpPr txBox="1"/>
          <p:nvPr/>
        </p:nvSpPr>
        <p:spPr>
          <a:xfrm>
            <a:off x="7178040" y="2615184"/>
            <a:ext cx="1097280" cy="466344"/>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action</a:t>
            </a:r>
            <a:endParaRPr lang="en-US" sz="1150" dirty="0"/>
          </a:p>
        </p:txBody>
      </p:sp>
      <p:sp>
        <p:nvSpPr>
          <p:cNvPr id="9" name="Text 7"/>
          <p:cNvSpPr txBox="1"/>
          <p:nvPr/>
        </p:nvSpPr>
        <p:spPr>
          <a:xfrm>
            <a:off x="8275320" y="2615184"/>
            <a:ext cx="3017520" cy="46634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La página que recibe los datos.</a:t>
            </a:r>
            <a:endParaRPr lang="en-US" sz="1050" dirty="0"/>
          </a:p>
        </p:txBody>
      </p:sp>
      <p:sp>
        <p:nvSpPr>
          <p:cNvPr id="10" name="Shape 8"/>
          <p:cNvSpPr/>
          <p:nvPr/>
        </p:nvSpPr>
        <p:spPr>
          <a:xfrm>
            <a:off x="6903720" y="3175711"/>
            <a:ext cx="4663440" cy="466344"/>
          </a:xfrm>
          <a:prstGeom prst="roundRect">
            <a:avLst>
              <a:gd name="adj" fmla="val 19608"/>
            </a:avLst>
          </a:prstGeom>
          <a:solidFill>
            <a:srgbClr val="FFFFFF"/>
          </a:solidFill>
          <a:ln w="12700">
            <a:solidFill>
              <a:srgbClr val="D9F2CC"/>
            </a:solidFill>
            <a:prstDash val="solid"/>
          </a:ln>
        </p:spPr>
      </p:sp>
      <p:sp>
        <p:nvSpPr>
          <p:cNvPr id="11" name="Text 9"/>
          <p:cNvSpPr txBox="1"/>
          <p:nvPr/>
        </p:nvSpPr>
        <p:spPr>
          <a:xfrm>
            <a:off x="7178040" y="3175711"/>
            <a:ext cx="1097280" cy="466344"/>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method</a:t>
            </a:r>
            <a:endParaRPr lang="en-US" sz="1150" dirty="0"/>
          </a:p>
        </p:txBody>
      </p:sp>
      <p:sp>
        <p:nvSpPr>
          <p:cNvPr id="12" name="Text 10"/>
          <p:cNvSpPr txBox="1"/>
          <p:nvPr/>
        </p:nvSpPr>
        <p:spPr>
          <a:xfrm>
            <a:off x="8275320" y="3175711"/>
            <a:ext cx="3017520" cy="46634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get los muestra en la dirección; post los envía ocultos.</a:t>
            </a:r>
            <a:endParaRPr lang="en-US" sz="1050" dirty="0"/>
          </a:p>
        </p:txBody>
      </p:sp>
      <p:sp>
        <p:nvSpPr>
          <p:cNvPr id="13" name="Shape 11"/>
          <p:cNvSpPr/>
          <p:nvPr/>
        </p:nvSpPr>
        <p:spPr>
          <a:xfrm>
            <a:off x="6903720" y="3736238"/>
            <a:ext cx="4663440" cy="466344"/>
          </a:xfrm>
          <a:prstGeom prst="roundRect">
            <a:avLst>
              <a:gd name="adj" fmla="val 19608"/>
            </a:avLst>
          </a:prstGeom>
          <a:solidFill>
            <a:srgbClr val="F7FDF4"/>
          </a:solidFill>
          <a:ln w="12700">
            <a:solidFill>
              <a:srgbClr val="D9F2CC"/>
            </a:solidFill>
            <a:prstDash val="solid"/>
          </a:ln>
        </p:spPr>
      </p:sp>
      <p:sp>
        <p:nvSpPr>
          <p:cNvPr id="14" name="Text 12"/>
          <p:cNvSpPr txBox="1"/>
          <p:nvPr/>
        </p:nvSpPr>
        <p:spPr>
          <a:xfrm>
            <a:off x="7178040" y="3736238"/>
            <a:ext cx="1097280" cy="466344"/>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name</a:t>
            </a:r>
            <a:endParaRPr lang="en-US" sz="1150" dirty="0"/>
          </a:p>
        </p:txBody>
      </p:sp>
      <p:sp>
        <p:nvSpPr>
          <p:cNvPr id="15" name="Text 13"/>
          <p:cNvSpPr txBox="1"/>
          <p:nvPr/>
        </p:nvSpPr>
        <p:spPr>
          <a:xfrm>
            <a:off x="8275320" y="3736238"/>
            <a:ext cx="3017520" cy="46634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El nombre con que viaja cada dato. Sin name, el campo no se envía.</a:t>
            </a:r>
            <a:endParaRPr lang="en-US" sz="1050" dirty="0"/>
          </a:p>
        </p:txBody>
      </p:sp>
      <p:sp>
        <p:nvSpPr>
          <p:cNvPr id="16" name="Shape 14"/>
          <p:cNvSpPr/>
          <p:nvPr/>
        </p:nvSpPr>
        <p:spPr>
          <a:xfrm>
            <a:off x="6903720" y="4296766"/>
            <a:ext cx="4663440" cy="466344"/>
          </a:xfrm>
          <a:prstGeom prst="roundRect">
            <a:avLst>
              <a:gd name="adj" fmla="val 19608"/>
            </a:avLst>
          </a:prstGeom>
          <a:solidFill>
            <a:srgbClr val="FFFFFF"/>
          </a:solidFill>
          <a:ln w="12700">
            <a:solidFill>
              <a:srgbClr val="D9F2CC"/>
            </a:solidFill>
            <a:prstDash val="solid"/>
          </a:ln>
        </p:spPr>
      </p:sp>
      <p:sp>
        <p:nvSpPr>
          <p:cNvPr id="17" name="Text 15"/>
          <p:cNvSpPr txBox="1"/>
          <p:nvPr/>
        </p:nvSpPr>
        <p:spPr>
          <a:xfrm>
            <a:off x="7178040" y="4296766"/>
            <a:ext cx="1097280" cy="466344"/>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for + id</a:t>
            </a:r>
            <a:endParaRPr lang="en-US" sz="1150" dirty="0"/>
          </a:p>
        </p:txBody>
      </p:sp>
      <p:sp>
        <p:nvSpPr>
          <p:cNvPr id="18" name="Text 16"/>
          <p:cNvSpPr txBox="1"/>
          <p:nvPr/>
        </p:nvSpPr>
        <p:spPr>
          <a:xfrm>
            <a:off x="8275320" y="4296766"/>
            <a:ext cx="3017520" cy="46634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Unen la etiqueta con su campo: el mismo valor en los dos.</a:t>
            </a:r>
            <a:endParaRPr lang="en-US" sz="1050" dirty="0"/>
          </a:p>
        </p:txBody>
      </p:sp>
      <p:sp>
        <p:nvSpPr>
          <p:cNvPr id="19" name="Shape 17"/>
          <p:cNvSpPr/>
          <p:nvPr/>
        </p:nvSpPr>
        <p:spPr>
          <a:xfrm>
            <a:off x="640080" y="4956048"/>
            <a:ext cx="10927080" cy="1078992"/>
          </a:xfrm>
          <a:prstGeom prst="roundRect">
            <a:avLst>
              <a:gd name="adj" fmla="val 8475"/>
            </a:avLst>
          </a:prstGeom>
          <a:solidFill>
            <a:srgbClr val="EAFAFB"/>
          </a:solidFill>
          <a:ln w="12700">
            <a:solidFill>
              <a:srgbClr val="BFEAEE"/>
            </a:solidFill>
            <a:prstDash val="solid"/>
          </a:ln>
        </p:spPr>
      </p:sp>
      <p:sp>
        <p:nvSpPr>
          <p:cNvPr id="20" name="Text 18"/>
          <p:cNvSpPr txBox="1"/>
          <p:nvPr/>
        </p:nvSpPr>
        <p:spPr>
          <a:xfrm>
            <a:off x="950976" y="5093208"/>
            <a:ext cx="10305288" cy="310896"/>
          </a:xfrm>
          <a:prstGeom prst="rect">
            <a:avLst/>
          </a:prstGeom>
          <a:noFill/>
          <a:ln/>
        </p:spPr>
        <p:txBody>
          <a:bodyPr wrap="square" lIns="0" tIns="0" rIns="0" bIns="0" rtlCol="0" anchor="ctr"/>
          <a:lstStyle/>
          <a:p>
            <a:pPr algn="l" indent="0" marL="0">
              <a:buNone/>
            </a:pPr>
            <a:r>
              <a:rPr lang="en-US" sz="1400" b="1" dirty="0">
                <a:solidFill>
                  <a:srgbClr val="1E9AA3"/>
                </a:solidFill>
                <a:latin typeface="Calibri" pitchFamily="34" charset="0"/>
                <a:ea typeface="Calibri" pitchFamily="34" charset="-122"/>
                <a:cs typeface="Calibri" pitchFamily="34" charset="-120"/>
              </a:rPr>
              <a:t>Pruébalo</a:t>
            </a:r>
            <a:endParaRPr lang="en-US" sz="1400" dirty="0"/>
          </a:p>
        </p:txBody>
      </p:sp>
      <p:sp>
        <p:nvSpPr>
          <p:cNvPr id="21" name="Text 19"/>
          <p:cNvSpPr txBox="1"/>
          <p:nvPr/>
        </p:nvSpPr>
        <p:spPr>
          <a:xfrm>
            <a:off x="950976" y="5458968"/>
            <a:ext cx="10305288" cy="493776"/>
          </a:xfrm>
          <a:prstGeom prst="rect">
            <a:avLst/>
          </a:prstGeom>
          <a:noFill/>
          <a:ln/>
        </p:spPr>
        <p:txBody>
          <a:bodyPr wrap="square" lIns="0" tIns="0" rIns="0" bIns="0" rtlCol="0" anchor="t"/>
          <a:lstStyle/>
          <a:p>
            <a:pPr algn="l" indent="0" marL="0">
              <a:lnSpc>
                <a:spcPct val="125000"/>
              </a:lnSpc>
              <a:buNone/>
            </a:pPr>
            <a:r>
              <a:rPr lang="en-US" sz="1200" dirty="0">
                <a:solidFill>
                  <a:srgbClr val="424242"/>
                </a:solidFill>
                <a:latin typeface="Calibri" pitchFamily="34" charset="0"/>
                <a:ea typeface="Calibri" pitchFamily="34" charset="-122"/>
                <a:cs typeface="Calibri" pitchFamily="34" charset="-120"/>
              </a:rPr>
              <a:t>Escribe Ana y pulsa Enviar: la dirección cambia a contactame.html?nombre=Ana. Cada dato viaja como name=valor. Si haces clic en el texto «Nombre completo», el cursor salta al campo: eso lo consigue label.</a:t>
            </a:r>
            <a:endParaRPr lang="en-US" sz="1200" dirty="0"/>
          </a:p>
        </p:txBody>
      </p:sp>
      <p:sp>
        <p:nvSpPr>
          <p:cNvPr id="22" name="Text 2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10 / 48</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01 · REPASO</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Tipos de campo</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El atributo type cambia el teclado del celular, la forma del campo y lo que el navegador valida.</a:t>
            </a:r>
            <a:endParaRPr lang="en-US" sz="1250" dirty="0"/>
          </a:p>
        </p:txBody>
      </p:sp>
      <p:sp>
        <p:nvSpPr>
          <p:cNvPr id="5" name="Shape 3"/>
          <p:cNvSpPr/>
          <p:nvPr/>
        </p:nvSpPr>
        <p:spPr>
          <a:xfrm>
            <a:off x="640080" y="2615184"/>
            <a:ext cx="10927080" cy="484632"/>
          </a:xfrm>
          <a:prstGeom prst="roundRect">
            <a:avLst>
              <a:gd name="adj" fmla="val 18868"/>
            </a:avLst>
          </a:prstGeom>
          <a:solidFill>
            <a:srgbClr val="F7FDF4"/>
          </a:solidFill>
          <a:ln w="12700">
            <a:solidFill>
              <a:srgbClr val="D9F2CC"/>
            </a:solidFill>
            <a:prstDash val="solid"/>
          </a:ln>
        </p:spPr>
      </p:sp>
      <p:sp>
        <p:nvSpPr>
          <p:cNvPr id="6" name="Text 4"/>
          <p:cNvSpPr txBox="1"/>
          <p:nvPr/>
        </p:nvSpPr>
        <p:spPr>
          <a:xfrm>
            <a:off x="914400" y="2615184"/>
            <a:ext cx="1920240" cy="484632"/>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text</a:t>
            </a:r>
            <a:endParaRPr lang="en-US" sz="1250" dirty="0"/>
          </a:p>
        </p:txBody>
      </p:sp>
      <p:sp>
        <p:nvSpPr>
          <p:cNvPr id="7" name="Text 5"/>
          <p:cNvSpPr txBox="1"/>
          <p:nvPr/>
        </p:nvSpPr>
        <p:spPr>
          <a:xfrm>
            <a:off x="2834640" y="2615184"/>
            <a:ext cx="4398264"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Texto libre de una línea.</a:t>
            </a:r>
            <a:endParaRPr lang="en-US" sz="1200" dirty="0"/>
          </a:p>
        </p:txBody>
      </p:sp>
      <p:sp>
        <p:nvSpPr>
          <p:cNvPr id="8" name="Text 6"/>
          <p:cNvSpPr txBox="1"/>
          <p:nvPr/>
        </p:nvSpPr>
        <p:spPr>
          <a:xfrm>
            <a:off x="7232904" y="261518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9" name="Text 7"/>
          <p:cNvSpPr txBox="1"/>
          <p:nvPr/>
        </p:nvSpPr>
        <p:spPr>
          <a:xfrm>
            <a:off x="7598664" y="2615184"/>
            <a:ext cx="3739896" cy="484632"/>
          </a:xfrm>
          <a:prstGeom prst="rect">
            <a:avLst/>
          </a:prstGeom>
          <a:noFill/>
          <a:ln/>
        </p:spPr>
        <p:txBody>
          <a:bodyPr wrap="square" lIns="0" tIns="0" rIns="0" bIns="0" rtlCol="0" anchor="ctr"/>
          <a:lstStyle/>
          <a:p>
            <a:pPr indent="0" marL="0">
              <a:buNone/>
            </a:pPr>
            <a:r>
              <a:rPr lang="en-US" sz="1200" dirty="0">
                <a:solidFill>
                  <a:srgbClr val="4FB817"/>
                </a:solidFill>
                <a:latin typeface="Calibri" pitchFamily="34" charset="0"/>
                <a:ea typeface="Calibri" pitchFamily="34" charset="-122"/>
                <a:cs typeface="Calibri" pitchFamily="34" charset="-120"/>
              </a:rPr>
              <a:t>Nombre</a:t>
            </a:r>
            <a:endParaRPr lang="en-US" sz="1200" dirty="0"/>
          </a:p>
        </p:txBody>
      </p:sp>
      <p:sp>
        <p:nvSpPr>
          <p:cNvPr id="10" name="Shape 8"/>
          <p:cNvSpPr/>
          <p:nvPr/>
        </p:nvSpPr>
        <p:spPr>
          <a:xfrm>
            <a:off x="640080" y="3163824"/>
            <a:ext cx="10927080" cy="484632"/>
          </a:xfrm>
          <a:prstGeom prst="roundRect">
            <a:avLst>
              <a:gd name="adj" fmla="val 18868"/>
            </a:avLst>
          </a:prstGeom>
          <a:solidFill>
            <a:srgbClr val="FFFFFF"/>
          </a:solidFill>
          <a:ln w="12700">
            <a:solidFill>
              <a:srgbClr val="D9F2CC"/>
            </a:solidFill>
            <a:prstDash val="solid"/>
          </a:ln>
        </p:spPr>
      </p:sp>
      <p:sp>
        <p:nvSpPr>
          <p:cNvPr id="11" name="Text 9"/>
          <p:cNvSpPr txBox="1"/>
          <p:nvPr/>
        </p:nvSpPr>
        <p:spPr>
          <a:xfrm>
            <a:off x="914400" y="3163824"/>
            <a:ext cx="1920240" cy="484632"/>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email</a:t>
            </a:r>
            <a:endParaRPr lang="en-US" sz="1250" dirty="0"/>
          </a:p>
        </p:txBody>
      </p:sp>
      <p:sp>
        <p:nvSpPr>
          <p:cNvPr id="12" name="Text 10"/>
          <p:cNvSpPr txBox="1"/>
          <p:nvPr/>
        </p:nvSpPr>
        <p:spPr>
          <a:xfrm>
            <a:off x="2834640" y="3163824"/>
            <a:ext cx="4398264"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Exige la forma texto@texto y muestra la @ en el teclado del celular.</a:t>
            </a:r>
            <a:endParaRPr lang="en-US" sz="1200" dirty="0"/>
          </a:p>
        </p:txBody>
      </p:sp>
      <p:sp>
        <p:nvSpPr>
          <p:cNvPr id="13" name="Text 11"/>
          <p:cNvSpPr txBox="1"/>
          <p:nvPr/>
        </p:nvSpPr>
        <p:spPr>
          <a:xfrm>
            <a:off x="7232904" y="316382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14" name="Text 12"/>
          <p:cNvSpPr txBox="1"/>
          <p:nvPr/>
        </p:nvSpPr>
        <p:spPr>
          <a:xfrm>
            <a:off x="7598664" y="3163824"/>
            <a:ext cx="3739896" cy="484632"/>
          </a:xfrm>
          <a:prstGeom prst="rect">
            <a:avLst/>
          </a:prstGeom>
          <a:noFill/>
          <a:ln/>
        </p:spPr>
        <p:txBody>
          <a:bodyPr wrap="square" lIns="0" tIns="0" rIns="0" bIns="0" rtlCol="0" anchor="ctr"/>
          <a:lstStyle/>
          <a:p>
            <a:pPr indent="0" marL="0">
              <a:buNone/>
            </a:pPr>
            <a:r>
              <a:rPr lang="en-US" sz="1200" dirty="0">
                <a:solidFill>
                  <a:srgbClr val="4FB817"/>
                </a:solidFill>
                <a:latin typeface="Calibri" pitchFamily="34" charset="0"/>
                <a:ea typeface="Calibri" pitchFamily="34" charset="-122"/>
                <a:cs typeface="Calibri" pitchFamily="34" charset="-120"/>
              </a:rPr>
              <a:t>Correo</a:t>
            </a:r>
            <a:endParaRPr lang="en-US" sz="1200" dirty="0"/>
          </a:p>
        </p:txBody>
      </p:sp>
      <p:sp>
        <p:nvSpPr>
          <p:cNvPr id="15" name="Shape 13"/>
          <p:cNvSpPr/>
          <p:nvPr/>
        </p:nvSpPr>
        <p:spPr>
          <a:xfrm>
            <a:off x="640080" y="3712464"/>
            <a:ext cx="10927080" cy="484632"/>
          </a:xfrm>
          <a:prstGeom prst="roundRect">
            <a:avLst>
              <a:gd name="adj" fmla="val 18868"/>
            </a:avLst>
          </a:prstGeom>
          <a:solidFill>
            <a:srgbClr val="F7FDF4"/>
          </a:solidFill>
          <a:ln w="12700">
            <a:solidFill>
              <a:srgbClr val="D9F2CC"/>
            </a:solidFill>
            <a:prstDash val="solid"/>
          </a:ln>
        </p:spPr>
      </p:sp>
      <p:sp>
        <p:nvSpPr>
          <p:cNvPr id="16" name="Text 14"/>
          <p:cNvSpPr txBox="1"/>
          <p:nvPr/>
        </p:nvSpPr>
        <p:spPr>
          <a:xfrm>
            <a:off x="914400" y="3712464"/>
            <a:ext cx="1920240" cy="484632"/>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tel</a:t>
            </a:r>
            <a:endParaRPr lang="en-US" sz="1250" dirty="0"/>
          </a:p>
        </p:txBody>
      </p:sp>
      <p:sp>
        <p:nvSpPr>
          <p:cNvPr id="17" name="Text 15"/>
          <p:cNvSpPr txBox="1"/>
          <p:nvPr/>
        </p:nvSpPr>
        <p:spPr>
          <a:xfrm>
            <a:off x="2834640" y="3712464"/>
            <a:ext cx="4398264"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Abre el teclado numérico. No valida por sí solo.</a:t>
            </a:r>
            <a:endParaRPr lang="en-US" sz="1200" dirty="0"/>
          </a:p>
        </p:txBody>
      </p:sp>
      <p:sp>
        <p:nvSpPr>
          <p:cNvPr id="18" name="Text 16"/>
          <p:cNvSpPr txBox="1"/>
          <p:nvPr/>
        </p:nvSpPr>
        <p:spPr>
          <a:xfrm>
            <a:off x="7232904" y="371246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19" name="Text 17"/>
          <p:cNvSpPr txBox="1"/>
          <p:nvPr/>
        </p:nvSpPr>
        <p:spPr>
          <a:xfrm>
            <a:off x="7598664" y="3712464"/>
            <a:ext cx="3739896" cy="484632"/>
          </a:xfrm>
          <a:prstGeom prst="rect">
            <a:avLst/>
          </a:prstGeom>
          <a:noFill/>
          <a:ln/>
        </p:spPr>
        <p:txBody>
          <a:bodyPr wrap="square" lIns="0" tIns="0" rIns="0" bIns="0" rtlCol="0" anchor="ctr"/>
          <a:lstStyle/>
          <a:p>
            <a:pPr indent="0" marL="0">
              <a:buNone/>
            </a:pPr>
            <a:r>
              <a:rPr lang="en-US" sz="1200" dirty="0">
                <a:solidFill>
                  <a:srgbClr val="4FB817"/>
                </a:solidFill>
                <a:latin typeface="Calibri" pitchFamily="34" charset="0"/>
                <a:ea typeface="Calibri" pitchFamily="34" charset="-122"/>
                <a:cs typeface="Calibri" pitchFamily="34" charset="-120"/>
              </a:rPr>
              <a:t>Teléfono</a:t>
            </a:r>
            <a:endParaRPr lang="en-US" sz="1200" dirty="0"/>
          </a:p>
        </p:txBody>
      </p:sp>
      <p:sp>
        <p:nvSpPr>
          <p:cNvPr id="20" name="Shape 18"/>
          <p:cNvSpPr/>
          <p:nvPr/>
        </p:nvSpPr>
        <p:spPr>
          <a:xfrm>
            <a:off x="640080" y="4261104"/>
            <a:ext cx="10927080" cy="484632"/>
          </a:xfrm>
          <a:prstGeom prst="roundRect">
            <a:avLst>
              <a:gd name="adj" fmla="val 18868"/>
            </a:avLst>
          </a:prstGeom>
          <a:solidFill>
            <a:srgbClr val="FFFFFF"/>
          </a:solidFill>
          <a:ln w="12700">
            <a:solidFill>
              <a:srgbClr val="D9F2CC"/>
            </a:solidFill>
            <a:prstDash val="solid"/>
          </a:ln>
        </p:spPr>
      </p:sp>
      <p:sp>
        <p:nvSpPr>
          <p:cNvPr id="21" name="Text 19"/>
          <p:cNvSpPr txBox="1"/>
          <p:nvPr/>
        </p:nvSpPr>
        <p:spPr>
          <a:xfrm>
            <a:off x="914400" y="4261104"/>
            <a:ext cx="1920240" cy="484632"/>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number · range</a:t>
            </a:r>
            <a:endParaRPr lang="en-US" sz="1250" dirty="0"/>
          </a:p>
        </p:txBody>
      </p:sp>
      <p:sp>
        <p:nvSpPr>
          <p:cNvPr id="22" name="Text 20"/>
          <p:cNvSpPr txBox="1"/>
          <p:nvPr/>
        </p:nvSpPr>
        <p:spPr>
          <a:xfrm>
            <a:off x="2834640" y="4261104"/>
            <a:ext cx="4398264"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Números: con flechas o con un control deslizante.</a:t>
            </a:r>
            <a:endParaRPr lang="en-US" sz="1200" dirty="0"/>
          </a:p>
        </p:txBody>
      </p:sp>
      <p:sp>
        <p:nvSpPr>
          <p:cNvPr id="23" name="Text 21"/>
          <p:cNvSpPr txBox="1"/>
          <p:nvPr/>
        </p:nvSpPr>
        <p:spPr>
          <a:xfrm>
            <a:off x="7232904" y="426110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7598664" y="4261104"/>
            <a:ext cx="3739896" cy="484632"/>
          </a:xfrm>
          <a:prstGeom prst="rect">
            <a:avLst/>
          </a:prstGeom>
          <a:noFill/>
          <a:ln/>
        </p:spPr>
        <p:txBody>
          <a:bodyPr wrap="square" lIns="0" tIns="0" rIns="0" bIns="0" rtlCol="0" anchor="ctr"/>
          <a:lstStyle/>
          <a:p>
            <a:pPr indent="0" marL="0">
              <a:buNone/>
            </a:pPr>
            <a:r>
              <a:rPr lang="en-US" sz="1200" dirty="0">
                <a:solidFill>
                  <a:srgbClr val="4FB817"/>
                </a:solidFill>
                <a:latin typeface="Calibri" pitchFamily="34" charset="0"/>
                <a:ea typeface="Calibri" pitchFamily="34" charset="-122"/>
                <a:cs typeface="Calibri" pitchFamily="34" charset="-120"/>
              </a:rPr>
              <a:t>Edad, volumen</a:t>
            </a:r>
            <a:endParaRPr lang="en-US" sz="1200" dirty="0"/>
          </a:p>
        </p:txBody>
      </p:sp>
      <p:sp>
        <p:nvSpPr>
          <p:cNvPr id="25" name="Shape 23"/>
          <p:cNvSpPr/>
          <p:nvPr/>
        </p:nvSpPr>
        <p:spPr>
          <a:xfrm>
            <a:off x="640080" y="4809744"/>
            <a:ext cx="10927080" cy="484632"/>
          </a:xfrm>
          <a:prstGeom prst="roundRect">
            <a:avLst>
              <a:gd name="adj" fmla="val 18868"/>
            </a:avLst>
          </a:prstGeom>
          <a:solidFill>
            <a:srgbClr val="F7FDF4"/>
          </a:solidFill>
          <a:ln w="12700">
            <a:solidFill>
              <a:srgbClr val="D9F2CC"/>
            </a:solidFill>
            <a:prstDash val="solid"/>
          </a:ln>
        </p:spPr>
      </p:sp>
      <p:sp>
        <p:nvSpPr>
          <p:cNvPr id="26" name="Text 24"/>
          <p:cNvSpPr txBox="1"/>
          <p:nvPr/>
        </p:nvSpPr>
        <p:spPr>
          <a:xfrm>
            <a:off x="914400" y="4809744"/>
            <a:ext cx="1920240" cy="484632"/>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date</a:t>
            </a:r>
            <a:endParaRPr lang="en-US" sz="1250" dirty="0"/>
          </a:p>
        </p:txBody>
      </p:sp>
      <p:sp>
        <p:nvSpPr>
          <p:cNvPr id="27" name="Text 25"/>
          <p:cNvSpPr txBox="1"/>
          <p:nvPr/>
        </p:nvSpPr>
        <p:spPr>
          <a:xfrm>
            <a:off x="2834640" y="4809744"/>
            <a:ext cx="4398264"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Abre un calendario.</a:t>
            </a:r>
            <a:endParaRPr lang="en-US" sz="1200" dirty="0"/>
          </a:p>
        </p:txBody>
      </p:sp>
      <p:sp>
        <p:nvSpPr>
          <p:cNvPr id="28" name="Text 26"/>
          <p:cNvSpPr txBox="1"/>
          <p:nvPr/>
        </p:nvSpPr>
        <p:spPr>
          <a:xfrm>
            <a:off x="7232904" y="480974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29" name="Text 27"/>
          <p:cNvSpPr txBox="1"/>
          <p:nvPr/>
        </p:nvSpPr>
        <p:spPr>
          <a:xfrm>
            <a:off x="7598664" y="4809744"/>
            <a:ext cx="3739896" cy="484632"/>
          </a:xfrm>
          <a:prstGeom prst="rect">
            <a:avLst/>
          </a:prstGeom>
          <a:noFill/>
          <a:ln/>
        </p:spPr>
        <p:txBody>
          <a:bodyPr wrap="square" lIns="0" tIns="0" rIns="0" bIns="0" rtlCol="0" anchor="ctr"/>
          <a:lstStyle/>
          <a:p>
            <a:pPr indent="0" marL="0">
              <a:buNone/>
            </a:pPr>
            <a:r>
              <a:rPr lang="en-US" sz="1200" dirty="0">
                <a:solidFill>
                  <a:srgbClr val="4FB817"/>
                </a:solidFill>
                <a:latin typeface="Calibri" pitchFamily="34" charset="0"/>
                <a:ea typeface="Calibri" pitchFamily="34" charset="-122"/>
                <a:cs typeface="Calibri" pitchFamily="34" charset="-120"/>
              </a:rPr>
              <a:t>Fecha de nacimiento</a:t>
            </a:r>
            <a:endParaRPr lang="en-US" sz="1200" dirty="0"/>
          </a:p>
        </p:txBody>
      </p:sp>
      <p:sp>
        <p:nvSpPr>
          <p:cNvPr id="30" name="Shape 28"/>
          <p:cNvSpPr/>
          <p:nvPr/>
        </p:nvSpPr>
        <p:spPr>
          <a:xfrm>
            <a:off x="640080" y="5358384"/>
            <a:ext cx="10927080" cy="484632"/>
          </a:xfrm>
          <a:prstGeom prst="roundRect">
            <a:avLst>
              <a:gd name="adj" fmla="val 18868"/>
            </a:avLst>
          </a:prstGeom>
          <a:solidFill>
            <a:srgbClr val="FFFFFF"/>
          </a:solidFill>
          <a:ln w="12700">
            <a:solidFill>
              <a:srgbClr val="D9F2CC"/>
            </a:solidFill>
            <a:prstDash val="solid"/>
          </a:ln>
        </p:spPr>
      </p:sp>
      <p:sp>
        <p:nvSpPr>
          <p:cNvPr id="31" name="Text 29"/>
          <p:cNvSpPr txBox="1"/>
          <p:nvPr/>
        </p:nvSpPr>
        <p:spPr>
          <a:xfrm>
            <a:off x="914400" y="5358384"/>
            <a:ext cx="1920240" cy="484632"/>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checkbox · radio</a:t>
            </a:r>
            <a:endParaRPr lang="en-US" sz="1250" dirty="0"/>
          </a:p>
        </p:txBody>
      </p:sp>
      <p:sp>
        <p:nvSpPr>
          <p:cNvPr id="32" name="Text 30"/>
          <p:cNvSpPr txBox="1"/>
          <p:nvPr/>
        </p:nvSpPr>
        <p:spPr>
          <a:xfrm>
            <a:off x="2834640" y="5358384"/>
            <a:ext cx="4398264"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Varias opciones a la vez, o solo una.</a:t>
            </a:r>
            <a:endParaRPr lang="en-US" sz="1200" dirty="0"/>
          </a:p>
        </p:txBody>
      </p:sp>
      <p:sp>
        <p:nvSpPr>
          <p:cNvPr id="33" name="Text 31"/>
          <p:cNvSpPr txBox="1"/>
          <p:nvPr/>
        </p:nvSpPr>
        <p:spPr>
          <a:xfrm>
            <a:off x="7232904" y="535838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34" name="Text 32"/>
          <p:cNvSpPr txBox="1"/>
          <p:nvPr/>
        </p:nvSpPr>
        <p:spPr>
          <a:xfrm>
            <a:off x="7598664" y="5358384"/>
            <a:ext cx="3739896" cy="484632"/>
          </a:xfrm>
          <a:prstGeom prst="rect">
            <a:avLst/>
          </a:prstGeom>
          <a:noFill/>
          <a:ln/>
        </p:spPr>
        <p:txBody>
          <a:bodyPr wrap="square" lIns="0" tIns="0" rIns="0" bIns="0" rtlCol="0" anchor="ctr"/>
          <a:lstStyle/>
          <a:p>
            <a:pPr indent="0" marL="0">
              <a:buNone/>
            </a:pPr>
            <a:r>
              <a:rPr lang="en-US" sz="1200" dirty="0">
                <a:solidFill>
                  <a:srgbClr val="4FB817"/>
                </a:solidFill>
                <a:latin typeface="Calibri" pitchFamily="34" charset="0"/>
                <a:ea typeface="Calibri" pitchFamily="34" charset="-122"/>
                <a:cs typeface="Calibri" pitchFamily="34" charset="-120"/>
              </a:rPr>
              <a:t>Acepto, turno</a:t>
            </a:r>
            <a:endParaRPr lang="en-US" sz="1200" dirty="0"/>
          </a:p>
        </p:txBody>
      </p:sp>
      <p:sp>
        <p:nvSpPr>
          <p:cNvPr id="35" name="Text 33"/>
          <p:cNvSpPr txBox="1"/>
          <p:nvPr/>
        </p:nvSpPr>
        <p:spPr>
          <a:xfrm>
            <a:off x="640080" y="5961888"/>
            <a:ext cx="10927080" cy="256032"/>
          </a:xfrm>
          <a:prstGeom prst="rect">
            <a:avLst/>
          </a:prstGeom>
          <a:noFill/>
          <a:ln/>
        </p:spPr>
        <p:txBody>
          <a:bodyPr wrap="square" lIns="0" tIns="0" rIns="0" bIns="0" rtlCol="0" anchor="ctr"/>
          <a:lstStyle/>
          <a:p>
            <a:pPr algn="ctr" indent="0" marL="0">
              <a:buNone/>
            </a:pPr>
            <a:r>
              <a:rPr lang="en-US" sz="1150" i="1" dirty="0">
                <a:solidFill>
                  <a:srgbClr val="4FB817"/>
                </a:solidFill>
                <a:latin typeface="Calibri" pitchFamily="34" charset="0"/>
                <a:ea typeface="Calibri" pitchFamily="34" charset="-122"/>
                <a:cs typeface="Calibri" pitchFamily="34" charset="-120"/>
              </a:rPr>
              <a:t>Recuerda range: es el control deslizante que hoy usaremos como barra de avance del video.</a:t>
            </a:r>
            <a:endParaRPr lang="en-US" sz="1150" dirty="0"/>
          </a:p>
        </p:txBody>
      </p:sp>
      <p:sp>
        <p:nvSpPr>
          <p:cNvPr id="36" name="Text 3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11 / 48</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01 · REPASO</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Validación nativa: el navegador revisa por ti</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Sin una línea de JavaScript. Si algo falla, el formulario no se envía y aparece un aviso.</a:t>
            </a:r>
            <a:endParaRPr lang="en-US" sz="1250" dirty="0"/>
          </a:p>
        </p:txBody>
      </p:sp>
      <p:sp>
        <p:nvSpPr>
          <p:cNvPr id="5" name="Shape 3"/>
          <p:cNvSpPr/>
          <p:nvPr/>
        </p:nvSpPr>
        <p:spPr>
          <a:xfrm>
            <a:off x="640080" y="2615184"/>
            <a:ext cx="6035040" cy="2514600"/>
          </a:xfrm>
          <a:prstGeom prst="roundRect">
            <a:avLst>
              <a:gd name="adj" fmla="val 3636"/>
            </a:avLst>
          </a:prstGeom>
          <a:solidFill>
            <a:srgbClr val="2B2B2B"/>
          </a:solidFill>
          <a:ln w="12700">
            <a:solidFill>
              <a:srgbClr val="2B2B2B"/>
            </a:solidFill>
            <a:prstDash val="solid"/>
          </a:ln>
        </p:spPr>
      </p:sp>
      <p:sp>
        <p:nvSpPr>
          <p:cNvPr id="6" name="Text 4"/>
          <p:cNvSpPr txBox="1"/>
          <p:nvPr/>
        </p:nvSpPr>
        <p:spPr>
          <a:xfrm>
            <a:off x="868680" y="2779776"/>
            <a:ext cx="5577840" cy="2185416"/>
          </a:xfrm>
          <a:prstGeom prst="rect">
            <a:avLst/>
          </a:prstGeom>
          <a:noFill/>
          <a:ln/>
        </p:spPr>
        <p:txBody>
          <a:bodyPr wrap="square" lIns="0" tIns="0" rIns="0" bIns="0" rtlCol="0" anchor="t"/>
          <a:lstStyle/>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&lt;input type="email" id="correo" name="correo"</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placeholder=</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"nombre@correo.com"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required</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&lt;input type="tel" id="telefono" name="telefono"</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pattern="[0-9]{9}"</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title="Nueve dígitos, sin espacios"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&lt;textarea id="mensaje" name="mensaje"</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minlength="10" maxlength="500"</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required</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&gt;&lt;/textarea&gt;</a:t>
            </a:r>
            <a:endParaRPr lang="en-US" sz="1100" dirty="0"/>
          </a:p>
        </p:txBody>
      </p:sp>
      <p:sp>
        <p:nvSpPr>
          <p:cNvPr id="7" name="Shape 5"/>
          <p:cNvSpPr/>
          <p:nvPr/>
        </p:nvSpPr>
        <p:spPr>
          <a:xfrm>
            <a:off x="6903720" y="2615184"/>
            <a:ext cx="4663440" cy="557784"/>
          </a:xfrm>
          <a:prstGeom prst="roundRect">
            <a:avLst>
              <a:gd name="adj" fmla="val 16393"/>
            </a:avLst>
          </a:prstGeom>
          <a:solidFill>
            <a:srgbClr val="F7FDF4"/>
          </a:solidFill>
          <a:ln w="12700">
            <a:solidFill>
              <a:srgbClr val="D9F2CC"/>
            </a:solidFill>
            <a:prstDash val="solid"/>
          </a:ln>
        </p:spPr>
      </p:sp>
      <p:sp>
        <p:nvSpPr>
          <p:cNvPr id="8" name="Text 6"/>
          <p:cNvSpPr txBox="1"/>
          <p:nvPr/>
        </p:nvSpPr>
        <p:spPr>
          <a:xfrm>
            <a:off x="7178040" y="2615184"/>
            <a:ext cx="1874520" cy="557784"/>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required</a:t>
            </a:r>
            <a:endParaRPr lang="en-US" sz="1100" dirty="0"/>
          </a:p>
        </p:txBody>
      </p:sp>
      <p:sp>
        <p:nvSpPr>
          <p:cNvPr id="9" name="Text 7"/>
          <p:cNvSpPr txBox="1"/>
          <p:nvPr/>
        </p:nvSpPr>
        <p:spPr>
          <a:xfrm>
            <a:off x="9052560" y="2615184"/>
            <a:ext cx="224028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Campo obligatorio: no se envía vacío.</a:t>
            </a:r>
            <a:endParaRPr lang="en-US" sz="1050" dirty="0"/>
          </a:p>
        </p:txBody>
      </p:sp>
      <p:sp>
        <p:nvSpPr>
          <p:cNvPr id="10" name="Shape 8"/>
          <p:cNvSpPr/>
          <p:nvPr/>
        </p:nvSpPr>
        <p:spPr>
          <a:xfrm>
            <a:off x="6903720" y="3267151"/>
            <a:ext cx="4663440" cy="557784"/>
          </a:xfrm>
          <a:prstGeom prst="roundRect">
            <a:avLst>
              <a:gd name="adj" fmla="val 16393"/>
            </a:avLst>
          </a:prstGeom>
          <a:solidFill>
            <a:srgbClr val="FFFFFF"/>
          </a:solidFill>
          <a:ln w="12700">
            <a:solidFill>
              <a:srgbClr val="D9F2CC"/>
            </a:solidFill>
            <a:prstDash val="solid"/>
          </a:ln>
        </p:spPr>
      </p:sp>
      <p:sp>
        <p:nvSpPr>
          <p:cNvPr id="11" name="Text 9"/>
          <p:cNvSpPr txBox="1"/>
          <p:nvPr/>
        </p:nvSpPr>
        <p:spPr>
          <a:xfrm>
            <a:off x="7178040" y="3267151"/>
            <a:ext cx="1874520" cy="557784"/>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minlength · maxlength</a:t>
            </a:r>
            <a:endParaRPr lang="en-US" sz="1100" dirty="0"/>
          </a:p>
        </p:txBody>
      </p:sp>
      <p:sp>
        <p:nvSpPr>
          <p:cNvPr id="12" name="Text 10"/>
          <p:cNvSpPr txBox="1"/>
          <p:nvPr/>
        </p:nvSpPr>
        <p:spPr>
          <a:xfrm>
            <a:off x="9052560" y="3267151"/>
            <a:ext cx="224028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Cantidad mínima y máxima de caracteres.</a:t>
            </a:r>
            <a:endParaRPr lang="en-US" sz="1050" dirty="0"/>
          </a:p>
        </p:txBody>
      </p:sp>
      <p:sp>
        <p:nvSpPr>
          <p:cNvPr id="13" name="Shape 11"/>
          <p:cNvSpPr/>
          <p:nvPr/>
        </p:nvSpPr>
        <p:spPr>
          <a:xfrm>
            <a:off x="6903720" y="3919118"/>
            <a:ext cx="4663440" cy="557784"/>
          </a:xfrm>
          <a:prstGeom prst="roundRect">
            <a:avLst>
              <a:gd name="adj" fmla="val 16393"/>
            </a:avLst>
          </a:prstGeom>
          <a:solidFill>
            <a:srgbClr val="F7FDF4"/>
          </a:solidFill>
          <a:ln w="12700">
            <a:solidFill>
              <a:srgbClr val="D9F2CC"/>
            </a:solidFill>
            <a:prstDash val="solid"/>
          </a:ln>
        </p:spPr>
      </p:sp>
      <p:sp>
        <p:nvSpPr>
          <p:cNvPr id="14" name="Text 12"/>
          <p:cNvSpPr txBox="1"/>
          <p:nvPr/>
        </p:nvSpPr>
        <p:spPr>
          <a:xfrm>
            <a:off x="7178040" y="3919118"/>
            <a:ext cx="1874520" cy="557784"/>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pattern</a:t>
            </a:r>
            <a:endParaRPr lang="en-US" sz="1100" dirty="0"/>
          </a:p>
        </p:txBody>
      </p:sp>
      <p:sp>
        <p:nvSpPr>
          <p:cNvPr id="15" name="Text 13"/>
          <p:cNvSpPr txBox="1"/>
          <p:nvPr/>
        </p:nvSpPr>
        <p:spPr>
          <a:xfrm>
            <a:off x="9052560" y="3919118"/>
            <a:ext cx="224028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Una regla propia. title explica qué se espera.</a:t>
            </a:r>
            <a:endParaRPr lang="en-US" sz="1050" dirty="0"/>
          </a:p>
        </p:txBody>
      </p:sp>
      <p:sp>
        <p:nvSpPr>
          <p:cNvPr id="16" name="Shape 14"/>
          <p:cNvSpPr/>
          <p:nvPr/>
        </p:nvSpPr>
        <p:spPr>
          <a:xfrm>
            <a:off x="6903720" y="4571086"/>
            <a:ext cx="4663440" cy="557784"/>
          </a:xfrm>
          <a:prstGeom prst="roundRect">
            <a:avLst>
              <a:gd name="adj" fmla="val 16393"/>
            </a:avLst>
          </a:prstGeom>
          <a:solidFill>
            <a:srgbClr val="FFFFFF"/>
          </a:solidFill>
          <a:ln w="12700">
            <a:solidFill>
              <a:srgbClr val="D9F2CC"/>
            </a:solidFill>
            <a:prstDash val="solid"/>
          </a:ln>
        </p:spPr>
      </p:sp>
      <p:sp>
        <p:nvSpPr>
          <p:cNvPr id="17" name="Text 15"/>
          <p:cNvSpPr txBox="1"/>
          <p:nvPr/>
        </p:nvSpPr>
        <p:spPr>
          <a:xfrm>
            <a:off x="7178040" y="4571086"/>
            <a:ext cx="1874520" cy="557784"/>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placeholder</a:t>
            </a:r>
            <a:endParaRPr lang="en-US" sz="1100" dirty="0"/>
          </a:p>
        </p:txBody>
      </p:sp>
      <p:sp>
        <p:nvSpPr>
          <p:cNvPr id="18" name="Text 16"/>
          <p:cNvSpPr txBox="1"/>
          <p:nvPr/>
        </p:nvSpPr>
        <p:spPr>
          <a:xfrm>
            <a:off x="9052560" y="4571086"/>
            <a:ext cx="224028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Un ejemplo dentro del campo. No reemplaza a label.</a:t>
            </a:r>
            <a:endParaRPr lang="en-US" sz="1050" dirty="0"/>
          </a:p>
        </p:txBody>
      </p:sp>
      <p:sp>
        <p:nvSpPr>
          <p:cNvPr id="19" name="Shape 17"/>
          <p:cNvSpPr/>
          <p:nvPr/>
        </p:nvSpPr>
        <p:spPr>
          <a:xfrm>
            <a:off x="640080" y="5340096"/>
            <a:ext cx="10927080" cy="658368"/>
          </a:xfrm>
          <a:prstGeom prst="roundRect">
            <a:avLst>
              <a:gd name="adj" fmla="val 13889"/>
            </a:avLst>
          </a:prstGeom>
          <a:solidFill>
            <a:srgbClr val="FBF4F2"/>
          </a:solidFill>
          <a:ln w="12700">
            <a:solidFill>
              <a:srgbClr val="F0D8D2"/>
            </a:solidFill>
            <a:prstDash val="solid"/>
          </a:ln>
        </p:spPr>
      </p:sp>
      <p:sp>
        <p:nvSpPr>
          <p:cNvPr id="20" name="Text 18"/>
          <p:cNvSpPr txBox="1"/>
          <p:nvPr/>
        </p:nvSpPr>
        <p:spPr>
          <a:xfrm>
            <a:off x="950976" y="5340096"/>
            <a:ext cx="10305288" cy="658368"/>
          </a:xfrm>
          <a:prstGeom prst="rect">
            <a:avLst/>
          </a:prstGeom>
          <a:noFill/>
          <a:ln/>
        </p:spPr>
        <p:txBody>
          <a:bodyPr wrap="square" lIns="0" tIns="0" rIns="0" bIns="0" rtlCol="0" anchor="ctr"/>
          <a:lstStyle/>
          <a:p>
            <a:pPr indent="0" marL="0">
              <a:lnSpc>
                <a:spcPct val="120000"/>
              </a:lnSpc>
              <a:buNone/>
            </a:pPr>
            <a:r>
              <a:rPr lang="en-US" sz="1200" b="1" dirty="0">
                <a:solidFill>
                  <a:srgbClr val="B5462F"/>
                </a:solidFill>
                <a:latin typeface="Calibri" pitchFamily="34" charset="0"/>
                <a:ea typeface="Calibri" pitchFamily="34" charset="-122"/>
                <a:cs typeface="Calibri" pitchFamily="34" charset="-120"/>
              </a:rPr>
              <a:t>Ojo:  </a:t>
            </a:r>
            <a:pPr indent="0" marL="0">
              <a:lnSpc>
                <a:spcPct val="120000"/>
              </a:lnSpc>
              <a:buNone/>
            </a:pPr>
            <a:r>
              <a:rPr lang="en-US" sz="1200" dirty="0">
                <a:solidFill>
                  <a:srgbClr val="424242"/>
                </a:solidFill>
                <a:latin typeface="Calibri" pitchFamily="34" charset="0"/>
                <a:ea typeface="Calibri" pitchFamily="34" charset="-122"/>
                <a:cs typeface="Calibri" pitchFamily="34" charset="-120"/>
              </a:rPr>
              <a:t>type="email" acepta ana@correo. Solo comprueba la forma del texto, no que el correo exista.</a:t>
            </a:r>
            <a:endParaRPr lang="en-US" sz="1200" dirty="0"/>
          </a:p>
        </p:txBody>
      </p:sp>
      <p:sp>
        <p:nvSpPr>
          <p:cNvPr id="21" name="Text 19"/>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12 / 48</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01 · REPASO</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Controles avanzados: más allá de input</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Agrupar campos, elegir de una lista y escribir varias líneas.</a:t>
            </a:r>
            <a:endParaRPr lang="en-US" sz="1250" dirty="0"/>
          </a:p>
        </p:txBody>
      </p:sp>
      <p:sp>
        <p:nvSpPr>
          <p:cNvPr id="5" name="Shape 3"/>
          <p:cNvSpPr/>
          <p:nvPr/>
        </p:nvSpPr>
        <p:spPr>
          <a:xfrm>
            <a:off x="640080" y="2615184"/>
            <a:ext cx="6035040" cy="2331720"/>
          </a:xfrm>
          <a:prstGeom prst="roundRect">
            <a:avLst>
              <a:gd name="adj" fmla="val 3922"/>
            </a:avLst>
          </a:prstGeom>
          <a:solidFill>
            <a:srgbClr val="2B2B2B"/>
          </a:solidFill>
          <a:ln w="12700">
            <a:solidFill>
              <a:srgbClr val="2B2B2B"/>
            </a:solidFill>
            <a:prstDash val="solid"/>
          </a:ln>
        </p:spPr>
      </p:sp>
      <p:sp>
        <p:nvSpPr>
          <p:cNvPr id="6" name="Text 4"/>
          <p:cNvSpPr txBox="1"/>
          <p:nvPr/>
        </p:nvSpPr>
        <p:spPr>
          <a:xfrm>
            <a:off x="868680" y="2779776"/>
            <a:ext cx="5577840" cy="2002536"/>
          </a:xfrm>
          <a:prstGeom prst="rect">
            <a:avLst/>
          </a:prstGeom>
          <a:noFill/>
          <a:ln/>
        </p:spPr>
        <p:txBody>
          <a:bodyPr wrap="square" lIns="0" tIns="0" rIns="0" bIns="0" rtlCol="0" anchor="ctr"/>
          <a:lstStyle/>
          <a:p>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&lt;fieldset&gt;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&lt;legend&gt;</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Tu mensaje</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&lt;/legend&gt;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&lt;select</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id="motivo" name="motivo" required&gt;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&lt;option value=""&gt;Elige una opción&lt;/option&gt;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&lt;option value="proyecto"&gt;Proponer un proyecto&lt;/option&gt;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&lt;/select&gt;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&lt;textarea</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id="mensaje" name="mensaje" rows="5"&gt;</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&lt;/textarea&gt;</a:t>
            </a:r>
            <a:endParaRPr lang="en-US" sz="1100" dirty="0"/>
          </a:p>
          <a:p>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&lt;/fieldset&gt;</a:t>
            </a:r>
            <a:endParaRPr lang="en-US" sz="1100" dirty="0"/>
          </a:p>
        </p:txBody>
      </p:sp>
      <p:sp>
        <p:nvSpPr>
          <p:cNvPr id="7" name="Shape 5"/>
          <p:cNvSpPr/>
          <p:nvPr/>
        </p:nvSpPr>
        <p:spPr>
          <a:xfrm>
            <a:off x="6903720" y="2615184"/>
            <a:ext cx="4663440" cy="512064"/>
          </a:xfrm>
          <a:prstGeom prst="roundRect">
            <a:avLst>
              <a:gd name="adj" fmla="val 17857"/>
            </a:avLst>
          </a:prstGeom>
          <a:solidFill>
            <a:srgbClr val="F7FDF4"/>
          </a:solidFill>
          <a:ln w="12700">
            <a:solidFill>
              <a:srgbClr val="D9F2CC"/>
            </a:solidFill>
            <a:prstDash val="solid"/>
          </a:ln>
        </p:spPr>
      </p:sp>
      <p:sp>
        <p:nvSpPr>
          <p:cNvPr id="8" name="Text 6"/>
          <p:cNvSpPr txBox="1"/>
          <p:nvPr/>
        </p:nvSpPr>
        <p:spPr>
          <a:xfrm>
            <a:off x="7178040" y="2615184"/>
            <a:ext cx="1600200" cy="512064"/>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fieldset + legend</a:t>
            </a:r>
            <a:endParaRPr lang="en-US" sz="1100" dirty="0"/>
          </a:p>
        </p:txBody>
      </p:sp>
      <p:sp>
        <p:nvSpPr>
          <p:cNvPr id="9" name="Text 7"/>
          <p:cNvSpPr txBox="1"/>
          <p:nvPr/>
        </p:nvSpPr>
        <p:spPr>
          <a:xfrm>
            <a:off x="8778240" y="2615184"/>
            <a:ext cx="251460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Agrupan campos relacionados y les ponen un título.</a:t>
            </a:r>
            <a:endParaRPr lang="en-US" sz="1050" dirty="0"/>
          </a:p>
        </p:txBody>
      </p:sp>
      <p:sp>
        <p:nvSpPr>
          <p:cNvPr id="10" name="Shape 8"/>
          <p:cNvSpPr/>
          <p:nvPr/>
        </p:nvSpPr>
        <p:spPr>
          <a:xfrm>
            <a:off x="6903720" y="3221431"/>
            <a:ext cx="4663440" cy="512064"/>
          </a:xfrm>
          <a:prstGeom prst="roundRect">
            <a:avLst>
              <a:gd name="adj" fmla="val 17857"/>
            </a:avLst>
          </a:prstGeom>
          <a:solidFill>
            <a:srgbClr val="FFFFFF"/>
          </a:solidFill>
          <a:ln w="12700">
            <a:solidFill>
              <a:srgbClr val="D9F2CC"/>
            </a:solidFill>
            <a:prstDash val="solid"/>
          </a:ln>
        </p:spPr>
      </p:sp>
      <p:sp>
        <p:nvSpPr>
          <p:cNvPr id="11" name="Text 9"/>
          <p:cNvSpPr txBox="1"/>
          <p:nvPr/>
        </p:nvSpPr>
        <p:spPr>
          <a:xfrm>
            <a:off x="7178040" y="3221431"/>
            <a:ext cx="1600200" cy="512064"/>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select + option</a:t>
            </a:r>
            <a:endParaRPr lang="en-US" sz="1100" dirty="0"/>
          </a:p>
        </p:txBody>
      </p:sp>
      <p:sp>
        <p:nvSpPr>
          <p:cNvPr id="12" name="Text 10"/>
          <p:cNvSpPr txBox="1"/>
          <p:nvPr/>
        </p:nvSpPr>
        <p:spPr>
          <a:xfrm>
            <a:off x="8778240" y="3221431"/>
            <a:ext cx="251460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Lista desplegable. La primera opción vacía obliga a elegir.</a:t>
            </a:r>
            <a:endParaRPr lang="en-US" sz="1050" dirty="0"/>
          </a:p>
        </p:txBody>
      </p:sp>
      <p:sp>
        <p:nvSpPr>
          <p:cNvPr id="13" name="Shape 11"/>
          <p:cNvSpPr/>
          <p:nvPr/>
        </p:nvSpPr>
        <p:spPr>
          <a:xfrm>
            <a:off x="6903720" y="3827678"/>
            <a:ext cx="4663440" cy="512064"/>
          </a:xfrm>
          <a:prstGeom prst="roundRect">
            <a:avLst>
              <a:gd name="adj" fmla="val 17857"/>
            </a:avLst>
          </a:prstGeom>
          <a:solidFill>
            <a:srgbClr val="F7FDF4"/>
          </a:solidFill>
          <a:ln w="12700">
            <a:solidFill>
              <a:srgbClr val="D9F2CC"/>
            </a:solidFill>
            <a:prstDash val="solid"/>
          </a:ln>
        </p:spPr>
      </p:sp>
      <p:sp>
        <p:nvSpPr>
          <p:cNvPr id="14" name="Text 12"/>
          <p:cNvSpPr txBox="1"/>
          <p:nvPr/>
        </p:nvSpPr>
        <p:spPr>
          <a:xfrm>
            <a:off x="7178040" y="3827678"/>
            <a:ext cx="1600200" cy="512064"/>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textarea</a:t>
            </a:r>
            <a:endParaRPr lang="en-US" sz="1100" dirty="0"/>
          </a:p>
        </p:txBody>
      </p:sp>
      <p:sp>
        <p:nvSpPr>
          <p:cNvPr id="15" name="Text 13"/>
          <p:cNvSpPr txBox="1"/>
          <p:nvPr/>
        </p:nvSpPr>
        <p:spPr>
          <a:xfrm>
            <a:off x="8778240" y="3827678"/>
            <a:ext cx="251460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Texto de varias líneas. Lleva etiqueta de cierre.</a:t>
            </a:r>
            <a:endParaRPr lang="en-US" sz="1050" dirty="0"/>
          </a:p>
        </p:txBody>
      </p:sp>
      <p:sp>
        <p:nvSpPr>
          <p:cNvPr id="16" name="Shape 14"/>
          <p:cNvSpPr/>
          <p:nvPr/>
        </p:nvSpPr>
        <p:spPr>
          <a:xfrm>
            <a:off x="6903720" y="4433926"/>
            <a:ext cx="4663440" cy="512064"/>
          </a:xfrm>
          <a:prstGeom prst="roundRect">
            <a:avLst>
              <a:gd name="adj" fmla="val 17857"/>
            </a:avLst>
          </a:prstGeom>
          <a:solidFill>
            <a:srgbClr val="FFFFFF"/>
          </a:solidFill>
          <a:ln w="12700">
            <a:solidFill>
              <a:srgbClr val="D9F2CC"/>
            </a:solidFill>
            <a:prstDash val="solid"/>
          </a:ln>
        </p:spPr>
      </p:sp>
      <p:sp>
        <p:nvSpPr>
          <p:cNvPr id="17" name="Text 15"/>
          <p:cNvSpPr txBox="1"/>
          <p:nvPr/>
        </p:nvSpPr>
        <p:spPr>
          <a:xfrm>
            <a:off x="7178040" y="4433926"/>
            <a:ext cx="1600200" cy="512064"/>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button</a:t>
            </a:r>
            <a:endParaRPr lang="en-US" sz="1100" dirty="0"/>
          </a:p>
        </p:txBody>
      </p:sp>
      <p:sp>
        <p:nvSpPr>
          <p:cNvPr id="18" name="Text 16"/>
          <p:cNvSpPr txBox="1"/>
          <p:nvPr/>
        </p:nvSpPr>
        <p:spPr>
          <a:xfrm>
            <a:off x="8778240" y="4433926"/>
            <a:ext cx="251460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submit envía, reset limpia y button no hace nada por sí solo.</a:t>
            </a:r>
            <a:endParaRPr lang="en-US" sz="1050" dirty="0"/>
          </a:p>
        </p:txBody>
      </p:sp>
      <p:sp>
        <p:nvSpPr>
          <p:cNvPr id="19" name="Shape 17"/>
          <p:cNvSpPr/>
          <p:nvPr/>
        </p:nvSpPr>
        <p:spPr>
          <a:xfrm>
            <a:off x="640080" y="5175504"/>
            <a:ext cx="10927080" cy="713232"/>
          </a:xfrm>
          <a:prstGeom prst="roundRect">
            <a:avLst>
              <a:gd name="adj" fmla="val 12821"/>
            </a:avLst>
          </a:prstGeom>
          <a:solidFill>
            <a:srgbClr val="EAFAFB"/>
          </a:solidFill>
          <a:ln w="12700">
            <a:solidFill>
              <a:srgbClr val="BFEAEE"/>
            </a:solidFill>
            <a:prstDash val="solid"/>
          </a:ln>
        </p:spPr>
      </p:sp>
      <p:sp>
        <p:nvSpPr>
          <p:cNvPr id="20" name="Text 18"/>
          <p:cNvSpPr txBox="1"/>
          <p:nvPr/>
        </p:nvSpPr>
        <p:spPr>
          <a:xfrm>
            <a:off x="950976" y="5175504"/>
            <a:ext cx="10305288" cy="713232"/>
          </a:xfrm>
          <a:prstGeom prst="rect">
            <a:avLst/>
          </a:prstGeom>
          <a:noFill/>
          <a:ln/>
        </p:spPr>
        <p:txBody>
          <a:bodyPr wrap="square" lIns="0" tIns="0" rIns="0" bIns="0" rtlCol="0" anchor="ctr"/>
          <a:lstStyle/>
          <a:p>
            <a:pPr indent="0" marL="0">
              <a:lnSpc>
                <a:spcPct val="120000"/>
              </a:lnSpc>
              <a:buNone/>
            </a:pPr>
            <a:r>
              <a:rPr lang="en-US" sz="1200" b="1" dirty="0">
                <a:solidFill>
                  <a:srgbClr val="1E9AA3"/>
                </a:solidFill>
                <a:latin typeface="Calibri" pitchFamily="34" charset="0"/>
                <a:ea typeface="Calibri" pitchFamily="34" charset="-122"/>
                <a:cs typeface="Calibri" pitchFamily="34" charset="-120"/>
              </a:rPr>
              <a:t>Guarda este dato:  </a:t>
            </a:r>
            <a:pPr indent="0" marL="0">
              <a:lnSpc>
                <a:spcPct val="120000"/>
              </a:lnSpc>
              <a:buNone/>
            </a:pPr>
            <a:r>
              <a:rPr lang="en-US" sz="1200" dirty="0">
                <a:solidFill>
                  <a:srgbClr val="424242"/>
                </a:solidFill>
                <a:latin typeface="Calibri" pitchFamily="34" charset="0"/>
                <a:ea typeface="Calibri" pitchFamily="34" charset="-122"/>
                <a:cs typeface="Calibri" pitchFamily="34" charset="-120"/>
              </a:rPr>
              <a:t>los botones con type="button" son los que usaremos después del descanso para controlar el video.</a:t>
            </a:r>
            <a:endParaRPr lang="en-US" sz="1200" dirty="0"/>
          </a:p>
        </p:txBody>
      </p:sp>
      <p:sp>
        <p:nvSpPr>
          <p:cNvPr id="21" name="Text 19"/>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13 / 48</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01 · REPASO</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Construimos juntos: el formulario de contacto</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En contactame.html, debajo de la lista de canales. Escríbelo conmigo, línea por línea.</a:t>
            </a:r>
            <a:endParaRPr lang="en-US" sz="1250" dirty="0"/>
          </a:p>
        </p:txBody>
      </p:sp>
      <p:sp>
        <p:nvSpPr>
          <p:cNvPr id="6" name="Shape 3"/>
          <p:cNvSpPr/>
          <p:nvPr/>
        </p:nvSpPr>
        <p:spPr>
          <a:xfrm>
            <a:off x="640080" y="2615184"/>
            <a:ext cx="6400800" cy="3703320"/>
          </a:xfrm>
          <a:prstGeom prst="roundRect">
            <a:avLst>
              <a:gd name="adj" fmla="val 2469"/>
            </a:avLst>
          </a:prstGeom>
          <a:solidFill>
            <a:srgbClr val="2B2B2B"/>
          </a:solidFill>
          <a:ln w="12700">
            <a:solidFill>
              <a:srgbClr val="2B2B2B"/>
            </a:solidFill>
            <a:prstDash val="solid"/>
          </a:ln>
        </p:spPr>
      </p:sp>
      <p:sp>
        <p:nvSpPr>
          <p:cNvPr id="7" name="Text 4"/>
          <p:cNvSpPr txBox="1"/>
          <p:nvPr/>
        </p:nvSpPr>
        <p:spPr>
          <a:xfrm>
            <a:off x="868680" y="2779776"/>
            <a:ext cx="5943600" cy="3374136"/>
          </a:xfrm>
          <a:prstGeom prst="rect">
            <a:avLst/>
          </a:prstGeom>
          <a:noFill/>
          <a:ln/>
        </p:spPr>
        <p:txBody>
          <a:bodyPr wrap="square" lIns="0" tIns="0" rIns="0" bIns="0" rtlCol="0" anchor="t"/>
          <a:lstStyle/>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&lt;form action="contactame.html" method="get"&gt;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&lt;fieldset&gt;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&lt;legend&gt;Tus datos&lt;/legend&gt;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&lt;p&gt;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&lt;label for="nombre"&gt;Nombre completo&lt;/label&gt;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&lt;input type="text" id="nombre" name="nombre" required /&gt;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&lt;/p&gt;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000" dirty="0">
                <a:solidFill>
                  <a:srgbClr val="9AA39E"/>
                </a:solidFill>
                <a:latin typeface="Consolas" pitchFamily="34" charset="0"/>
                <a:ea typeface="Consolas" pitchFamily="34" charset="-122"/>
                <a:cs typeface="Consolas" pitchFamily="34" charset="-120"/>
              </a:rPr>
              <a:t>&lt;!-- correo y teléfono, igual --&gt;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&lt;/fieldset&gt;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&lt;fieldset&gt;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&lt;legend&gt;Tu mensaje&lt;/legend&gt;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000" dirty="0">
                <a:solidFill>
                  <a:srgbClr val="9AA39E"/>
                </a:solidFill>
                <a:latin typeface="Consolas" pitchFamily="34" charset="0"/>
                <a:ea typeface="Consolas" pitchFamily="34" charset="-122"/>
                <a:cs typeface="Consolas" pitchFamily="34" charset="-120"/>
              </a:rPr>
              <a:t>&lt;!-- select, textarea y checkbox --&gt;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&lt;/fieldset&gt;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&lt;p&gt;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&lt;button type="submit"&gt;Enviar mensaje&lt;/button&gt;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&lt;button type="reset"&gt;Limpiar&lt;/button&gt;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  &lt;/p&gt;</a:t>
            </a:r>
            <a:endParaRPr lang="en-US" sz="1000" dirty="0"/>
          </a:p>
          <a:p>
            <a:pPr indent="0" marL="0">
              <a:lnSpc>
                <a:spcPct val="125000"/>
              </a:lnSpc>
              <a:buNone/>
            </a:pPr>
            <a:r>
              <a:rPr lang="en-US" sz="1000" dirty="0">
                <a:solidFill>
                  <a:srgbClr val="8FD3A8"/>
                </a:solidFill>
                <a:latin typeface="Consolas" pitchFamily="34" charset="0"/>
                <a:ea typeface="Consolas" pitchFamily="34" charset="-122"/>
                <a:cs typeface="Consolas" pitchFamily="34" charset="-120"/>
              </a:rPr>
              <a:t>&lt;/form&gt;</a:t>
            </a:r>
            <a:endParaRPr lang="en-US" sz="1000" dirty="0"/>
          </a:p>
        </p:txBody>
      </p:sp>
      <p:sp>
        <p:nvSpPr>
          <p:cNvPr id="8" name="Shape 5"/>
          <p:cNvSpPr/>
          <p:nvPr/>
        </p:nvSpPr>
        <p:spPr>
          <a:xfrm>
            <a:off x="7223760" y="2615184"/>
            <a:ext cx="4343400" cy="557784"/>
          </a:xfrm>
          <a:prstGeom prst="roundRect">
            <a:avLst>
              <a:gd name="adj" fmla="val 16393"/>
            </a:avLst>
          </a:prstGeom>
          <a:solidFill>
            <a:srgbClr val="F7FDF4"/>
          </a:solidFill>
          <a:ln w="12700">
            <a:solidFill>
              <a:srgbClr val="D9F2CC"/>
            </a:solidFill>
            <a:prstDash val="solid"/>
          </a:ln>
        </p:spPr>
      </p:sp>
      <p:sp>
        <p:nvSpPr>
          <p:cNvPr id="9" name="Shape 6"/>
          <p:cNvSpPr/>
          <p:nvPr/>
        </p:nvSpPr>
        <p:spPr>
          <a:xfrm>
            <a:off x="7388352" y="2729484"/>
            <a:ext cx="329184" cy="329184"/>
          </a:xfrm>
          <a:prstGeom prst="ellipse">
            <a:avLst/>
          </a:prstGeom>
          <a:solidFill>
            <a:srgbClr val="72EF29"/>
          </a:solidFill>
          <a:ln w="12700">
            <a:solidFill>
              <a:srgbClr val="72EF29"/>
            </a:solidFill>
            <a:prstDash val="solid"/>
          </a:ln>
        </p:spPr>
      </p:sp>
      <p:sp>
        <p:nvSpPr>
          <p:cNvPr id="10" name="Text 7"/>
          <p:cNvSpPr txBox="1"/>
          <p:nvPr/>
        </p:nvSpPr>
        <p:spPr>
          <a:xfrm>
            <a:off x="7388352" y="2729484"/>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1</a:t>
            </a:r>
            <a:endParaRPr lang="en-US" sz="1050" dirty="0"/>
          </a:p>
        </p:txBody>
      </p:sp>
      <p:sp>
        <p:nvSpPr>
          <p:cNvPr id="11" name="Text 8"/>
          <p:cNvSpPr txBox="1"/>
          <p:nvPr/>
        </p:nvSpPr>
        <p:spPr>
          <a:xfrm>
            <a:off x="7882128" y="2615184"/>
            <a:ext cx="960120" cy="55778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Sección</a:t>
            </a:r>
            <a:endParaRPr lang="en-US" sz="1250" dirty="0"/>
          </a:p>
        </p:txBody>
      </p:sp>
      <p:sp>
        <p:nvSpPr>
          <p:cNvPr id="12" name="Text 9"/>
          <p:cNvSpPr txBox="1"/>
          <p:nvPr/>
        </p:nvSpPr>
        <p:spPr>
          <a:xfrm>
            <a:off x="8842248" y="2615184"/>
            <a:ext cx="256032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Un section con el h2 «Escríbeme».</a:t>
            </a:r>
            <a:endParaRPr lang="en-US" sz="1050" dirty="0"/>
          </a:p>
        </p:txBody>
      </p:sp>
      <p:sp>
        <p:nvSpPr>
          <p:cNvPr id="13" name="Shape 10"/>
          <p:cNvSpPr/>
          <p:nvPr/>
        </p:nvSpPr>
        <p:spPr>
          <a:xfrm>
            <a:off x="7223760" y="3244291"/>
            <a:ext cx="4343400" cy="557784"/>
          </a:xfrm>
          <a:prstGeom prst="roundRect">
            <a:avLst>
              <a:gd name="adj" fmla="val 16393"/>
            </a:avLst>
          </a:prstGeom>
          <a:solidFill>
            <a:srgbClr val="F7FDF4"/>
          </a:solidFill>
          <a:ln w="12700">
            <a:solidFill>
              <a:srgbClr val="D9F2CC"/>
            </a:solidFill>
            <a:prstDash val="solid"/>
          </a:ln>
        </p:spPr>
      </p:sp>
      <p:sp>
        <p:nvSpPr>
          <p:cNvPr id="14" name="Shape 11"/>
          <p:cNvSpPr/>
          <p:nvPr/>
        </p:nvSpPr>
        <p:spPr>
          <a:xfrm>
            <a:off x="7388352" y="3358591"/>
            <a:ext cx="329184" cy="329184"/>
          </a:xfrm>
          <a:prstGeom prst="ellipse">
            <a:avLst/>
          </a:prstGeom>
          <a:solidFill>
            <a:srgbClr val="72EF29"/>
          </a:solidFill>
          <a:ln w="12700">
            <a:solidFill>
              <a:srgbClr val="72EF29"/>
            </a:solidFill>
            <a:prstDash val="solid"/>
          </a:ln>
        </p:spPr>
      </p:sp>
      <p:sp>
        <p:nvSpPr>
          <p:cNvPr id="15" name="Text 12"/>
          <p:cNvSpPr txBox="1"/>
          <p:nvPr/>
        </p:nvSpPr>
        <p:spPr>
          <a:xfrm>
            <a:off x="7388352" y="3358591"/>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2</a:t>
            </a:r>
            <a:endParaRPr lang="en-US" sz="1050" dirty="0"/>
          </a:p>
        </p:txBody>
      </p:sp>
      <p:sp>
        <p:nvSpPr>
          <p:cNvPr id="16" name="Text 13"/>
          <p:cNvSpPr txBox="1"/>
          <p:nvPr/>
        </p:nvSpPr>
        <p:spPr>
          <a:xfrm>
            <a:off x="7882128" y="3244291"/>
            <a:ext cx="960120" cy="55778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form</a:t>
            </a:r>
            <a:endParaRPr lang="en-US" sz="1250" dirty="0"/>
          </a:p>
        </p:txBody>
      </p:sp>
      <p:sp>
        <p:nvSpPr>
          <p:cNvPr id="17" name="Text 14"/>
          <p:cNvSpPr txBox="1"/>
          <p:nvPr/>
        </p:nvSpPr>
        <p:spPr>
          <a:xfrm>
            <a:off x="8842248" y="3244291"/>
            <a:ext cx="256032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Con action y method="get".</a:t>
            </a:r>
            <a:endParaRPr lang="en-US" sz="1050" dirty="0"/>
          </a:p>
        </p:txBody>
      </p:sp>
      <p:sp>
        <p:nvSpPr>
          <p:cNvPr id="18" name="Shape 15"/>
          <p:cNvSpPr/>
          <p:nvPr/>
        </p:nvSpPr>
        <p:spPr>
          <a:xfrm>
            <a:off x="7223760" y="3873398"/>
            <a:ext cx="4343400" cy="557784"/>
          </a:xfrm>
          <a:prstGeom prst="roundRect">
            <a:avLst>
              <a:gd name="adj" fmla="val 16393"/>
            </a:avLst>
          </a:prstGeom>
          <a:solidFill>
            <a:srgbClr val="F7FDF4"/>
          </a:solidFill>
          <a:ln w="12700">
            <a:solidFill>
              <a:srgbClr val="D9F2CC"/>
            </a:solidFill>
            <a:prstDash val="solid"/>
          </a:ln>
        </p:spPr>
      </p:sp>
      <p:sp>
        <p:nvSpPr>
          <p:cNvPr id="19" name="Shape 16"/>
          <p:cNvSpPr/>
          <p:nvPr/>
        </p:nvSpPr>
        <p:spPr>
          <a:xfrm>
            <a:off x="7388352" y="3987698"/>
            <a:ext cx="329184" cy="329184"/>
          </a:xfrm>
          <a:prstGeom prst="ellipse">
            <a:avLst/>
          </a:prstGeom>
          <a:solidFill>
            <a:srgbClr val="72EF29"/>
          </a:solidFill>
          <a:ln w="12700">
            <a:solidFill>
              <a:srgbClr val="72EF29"/>
            </a:solidFill>
            <a:prstDash val="solid"/>
          </a:ln>
        </p:spPr>
      </p:sp>
      <p:sp>
        <p:nvSpPr>
          <p:cNvPr id="20" name="Text 17"/>
          <p:cNvSpPr txBox="1"/>
          <p:nvPr/>
        </p:nvSpPr>
        <p:spPr>
          <a:xfrm>
            <a:off x="7388352" y="3987698"/>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3</a:t>
            </a:r>
            <a:endParaRPr lang="en-US" sz="1050" dirty="0"/>
          </a:p>
        </p:txBody>
      </p:sp>
      <p:sp>
        <p:nvSpPr>
          <p:cNvPr id="21" name="Text 18"/>
          <p:cNvSpPr txBox="1"/>
          <p:nvPr/>
        </p:nvSpPr>
        <p:spPr>
          <a:xfrm>
            <a:off x="7882128" y="3873398"/>
            <a:ext cx="960120" cy="55778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Datos</a:t>
            </a:r>
            <a:endParaRPr lang="en-US" sz="1250" dirty="0"/>
          </a:p>
        </p:txBody>
      </p:sp>
      <p:sp>
        <p:nvSpPr>
          <p:cNvPr id="22" name="Text 19"/>
          <p:cNvSpPr txBox="1"/>
          <p:nvPr/>
        </p:nvSpPr>
        <p:spPr>
          <a:xfrm>
            <a:off x="8842248" y="3873398"/>
            <a:ext cx="256032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Nombre, correo y teléfono en un fieldset.</a:t>
            </a:r>
            <a:endParaRPr lang="en-US" sz="1050" dirty="0"/>
          </a:p>
        </p:txBody>
      </p:sp>
      <p:sp>
        <p:nvSpPr>
          <p:cNvPr id="23" name="Shape 20"/>
          <p:cNvSpPr/>
          <p:nvPr/>
        </p:nvSpPr>
        <p:spPr>
          <a:xfrm>
            <a:off x="7223760" y="4502506"/>
            <a:ext cx="4343400" cy="557784"/>
          </a:xfrm>
          <a:prstGeom prst="roundRect">
            <a:avLst>
              <a:gd name="adj" fmla="val 16393"/>
            </a:avLst>
          </a:prstGeom>
          <a:solidFill>
            <a:srgbClr val="F7FDF4"/>
          </a:solidFill>
          <a:ln w="12700">
            <a:solidFill>
              <a:srgbClr val="D9F2CC"/>
            </a:solidFill>
            <a:prstDash val="solid"/>
          </a:ln>
        </p:spPr>
      </p:sp>
      <p:sp>
        <p:nvSpPr>
          <p:cNvPr id="24" name="Shape 21"/>
          <p:cNvSpPr/>
          <p:nvPr/>
        </p:nvSpPr>
        <p:spPr>
          <a:xfrm>
            <a:off x="7388352" y="4616806"/>
            <a:ext cx="329184" cy="329184"/>
          </a:xfrm>
          <a:prstGeom prst="ellipse">
            <a:avLst/>
          </a:prstGeom>
          <a:solidFill>
            <a:srgbClr val="72EF29"/>
          </a:solidFill>
          <a:ln w="12700">
            <a:solidFill>
              <a:srgbClr val="72EF29"/>
            </a:solidFill>
            <a:prstDash val="solid"/>
          </a:ln>
        </p:spPr>
      </p:sp>
      <p:sp>
        <p:nvSpPr>
          <p:cNvPr id="25" name="Text 22"/>
          <p:cNvSpPr txBox="1"/>
          <p:nvPr/>
        </p:nvSpPr>
        <p:spPr>
          <a:xfrm>
            <a:off x="7388352" y="4616806"/>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4</a:t>
            </a:r>
            <a:endParaRPr lang="en-US" sz="1050" dirty="0"/>
          </a:p>
        </p:txBody>
      </p:sp>
      <p:sp>
        <p:nvSpPr>
          <p:cNvPr id="26" name="Text 23"/>
          <p:cNvSpPr txBox="1"/>
          <p:nvPr/>
        </p:nvSpPr>
        <p:spPr>
          <a:xfrm>
            <a:off x="7882128" y="4502506"/>
            <a:ext cx="960120" cy="55778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Mensaje</a:t>
            </a:r>
            <a:endParaRPr lang="en-US" sz="1250" dirty="0"/>
          </a:p>
        </p:txBody>
      </p:sp>
      <p:sp>
        <p:nvSpPr>
          <p:cNvPr id="27" name="Text 24"/>
          <p:cNvSpPr txBox="1"/>
          <p:nvPr/>
        </p:nvSpPr>
        <p:spPr>
          <a:xfrm>
            <a:off x="8842248" y="4502506"/>
            <a:ext cx="256032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select, textarea y la casilla de acepto.</a:t>
            </a:r>
            <a:endParaRPr lang="en-US" sz="1050" dirty="0"/>
          </a:p>
        </p:txBody>
      </p:sp>
      <p:sp>
        <p:nvSpPr>
          <p:cNvPr id="28" name="Shape 25"/>
          <p:cNvSpPr/>
          <p:nvPr/>
        </p:nvSpPr>
        <p:spPr>
          <a:xfrm>
            <a:off x="7223760" y="5131613"/>
            <a:ext cx="4343400" cy="557784"/>
          </a:xfrm>
          <a:prstGeom prst="roundRect">
            <a:avLst>
              <a:gd name="adj" fmla="val 16393"/>
            </a:avLst>
          </a:prstGeom>
          <a:solidFill>
            <a:srgbClr val="F7FDF4"/>
          </a:solidFill>
          <a:ln w="12700">
            <a:solidFill>
              <a:srgbClr val="D9F2CC"/>
            </a:solidFill>
            <a:prstDash val="solid"/>
          </a:ln>
        </p:spPr>
      </p:sp>
      <p:sp>
        <p:nvSpPr>
          <p:cNvPr id="29" name="Shape 26"/>
          <p:cNvSpPr/>
          <p:nvPr/>
        </p:nvSpPr>
        <p:spPr>
          <a:xfrm>
            <a:off x="7388352" y="5245913"/>
            <a:ext cx="329184" cy="329184"/>
          </a:xfrm>
          <a:prstGeom prst="ellipse">
            <a:avLst/>
          </a:prstGeom>
          <a:solidFill>
            <a:srgbClr val="72EF29"/>
          </a:solidFill>
          <a:ln w="12700">
            <a:solidFill>
              <a:srgbClr val="72EF29"/>
            </a:solidFill>
            <a:prstDash val="solid"/>
          </a:ln>
        </p:spPr>
      </p:sp>
      <p:sp>
        <p:nvSpPr>
          <p:cNvPr id="30" name="Text 27"/>
          <p:cNvSpPr txBox="1"/>
          <p:nvPr/>
        </p:nvSpPr>
        <p:spPr>
          <a:xfrm>
            <a:off x="7388352" y="5245913"/>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5</a:t>
            </a:r>
            <a:endParaRPr lang="en-US" sz="1050" dirty="0"/>
          </a:p>
        </p:txBody>
      </p:sp>
      <p:sp>
        <p:nvSpPr>
          <p:cNvPr id="31" name="Text 28"/>
          <p:cNvSpPr txBox="1"/>
          <p:nvPr/>
        </p:nvSpPr>
        <p:spPr>
          <a:xfrm>
            <a:off x="7882128" y="5131613"/>
            <a:ext cx="960120" cy="55778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Botones</a:t>
            </a:r>
            <a:endParaRPr lang="en-US" sz="1250" dirty="0"/>
          </a:p>
        </p:txBody>
      </p:sp>
      <p:sp>
        <p:nvSpPr>
          <p:cNvPr id="32" name="Text 29"/>
          <p:cNvSpPr txBox="1"/>
          <p:nvPr/>
        </p:nvSpPr>
        <p:spPr>
          <a:xfrm>
            <a:off x="8842248" y="5131613"/>
            <a:ext cx="256032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Uno de submit y uno de reset.</a:t>
            </a:r>
            <a:endParaRPr lang="en-US" sz="1050" dirty="0"/>
          </a:p>
        </p:txBody>
      </p:sp>
      <p:sp>
        <p:nvSpPr>
          <p:cNvPr id="33" name="Shape 30"/>
          <p:cNvSpPr/>
          <p:nvPr/>
        </p:nvSpPr>
        <p:spPr>
          <a:xfrm>
            <a:off x="7223760" y="5760720"/>
            <a:ext cx="4343400" cy="557784"/>
          </a:xfrm>
          <a:prstGeom prst="roundRect">
            <a:avLst>
              <a:gd name="adj" fmla="val 16393"/>
            </a:avLst>
          </a:prstGeom>
          <a:solidFill>
            <a:srgbClr val="F7FDF4"/>
          </a:solidFill>
          <a:ln w="12700">
            <a:solidFill>
              <a:srgbClr val="D9F2CC"/>
            </a:solidFill>
            <a:prstDash val="solid"/>
          </a:ln>
        </p:spPr>
      </p:sp>
      <p:sp>
        <p:nvSpPr>
          <p:cNvPr id="34" name="Shape 31"/>
          <p:cNvSpPr/>
          <p:nvPr/>
        </p:nvSpPr>
        <p:spPr>
          <a:xfrm>
            <a:off x="7388352" y="5875020"/>
            <a:ext cx="329184" cy="329184"/>
          </a:xfrm>
          <a:prstGeom prst="ellipse">
            <a:avLst/>
          </a:prstGeom>
          <a:solidFill>
            <a:srgbClr val="72EF29"/>
          </a:solidFill>
          <a:ln w="12700">
            <a:solidFill>
              <a:srgbClr val="72EF29"/>
            </a:solidFill>
            <a:prstDash val="solid"/>
          </a:ln>
        </p:spPr>
      </p:sp>
      <p:sp>
        <p:nvSpPr>
          <p:cNvPr id="35" name="Text 32"/>
          <p:cNvSpPr txBox="1"/>
          <p:nvPr/>
        </p:nvSpPr>
        <p:spPr>
          <a:xfrm>
            <a:off x="7388352" y="5875020"/>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6</a:t>
            </a:r>
            <a:endParaRPr lang="en-US" sz="1050" dirty="0"/>
          </a:p>
        </p:txBody>
      </p:sp>
      <p:sp>
        <p:nvSpPr>
          <p:cNvPr id="36" name="Text 33"/>
          <p:cNvSpPr txBox="1"/>
          <p:nvPr/>
        </p:nvSpPr>
        <p:spPr>
          <a:xfrm>
            <a:off x="7882128" y="5760720"/>
            <a:ext cx="960120" cy="55778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Prueba</a:t>
            </a:r>
            <a:endParaRPr lang="en-US" sz="1250" dirty="0"/>
          </a:p>
        </p:txBody>
      </p:sp>
      <p:sp>
        <p:nvSpPr>
          <p:cNvPr id="37" name="Text 34"/>
          <p:cNvSpPr txBox="1"/>
          <p:nvPr/>
        </p:nvSpPr>
        <p:spPr>
          <a:xfrm>
            <a:off x="8842248" y="5760720"/>
            <a:ext cx="256032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Envía vacío, luego completo, y mira la dirección.</a:t>
            </a:r>
            <a:endParaRPr lang="en-US" sz="1050" dirty="0"/>
          </a:p>
        </p:txBody>
      </p:sp>
      <p:sp>
        <p:nvSpPr>
          <p:cNvPr id="38" name="Text 35"/>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14 / 48</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664208"/>
            <a:ext cx="5623560" cy="1024128"/>
          </a:xfrm>
          <a:prstGeom prst="roundRect">
            <a:avLst>
              <a:gd name="adj" fmla="val 50000"/>
            </a:avLst>
          </a:prstGeom>
          <a:solidFill>
            <a:srgbClr val="72EF29"/>
          </a:solidFill>
          <a:ln w="12700">
            <a:solidFill>
              <a:srgbClr val="72EF29"/>
            </a:solidFill>
            <a:prstDash val="solid"/>
          </a:ln>
        </p:spPr>
      </p:sp>
      <p:sp>
        <p:nvSpPr>
          <p:cNvPr id="3" name="Shape 1"/>
          <p:cNvSpPr/>
          <p:nvPr/>
        </p:nvSpPr>
        <p:spPr>
          <a:xfrm>
            <a:off x="-548640" y="1517904"/>
            <a:ext cx="5349240" cy="1024128"/>
          </a:xfrm>
          <a:prstGeom prst="roundRect">
            <a:avLst>
              <a:gd name="adj" fmla="val 50000"/>
            </a:avLst>
          </a:prstGeom>
          <a:solidFill>
            <a:srgbClr val="36C4CC"/>
          </a:solidFill>
          <a:ln w="12700">
            <a:solidFill>
              <a:srgbClr val="36C4CC"/>
            </a:solidFill>
            <a:prstDash val="solid"/>
          </a:ln>
        </p:spPr>
      </p:sp>
      <p:sp>
        <p:nvSpPr>
          <p:cNvPr id="4" name="Text 2"/>
          <p:cNvSpPr txBox="1"/>
          <p:nvPr/>
        </p:nvSpPr>
        <p:spPr>
          <a:xfrm>
            <a:off x="274320" y="1517904"/>
            <a:ext cx="4297680" cy="10241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Formatos y fuentes</a:t>
            </a:r>
            <a:endParaRPr lang="en-US" sz="2000" dirty="0"/>
          </a:p>
        </p:txBody>
      </p:sp>
      <p:sp>
        <p:nvSpPr>
          <p:cNvPr id="5" name="Text 3"/>
          <p:cNvSpPr txBox="1"/>
          <p:nvPr/>
        </p:nvSpPr>
        <p:spPr>
          <a:xfrm>
            <a:off x="274320" y="2834640"/>
            <a:ext cx="4297680" cy="256032"/>
          </a:xfrm>
          <a:prstGeom prst="rect">
            <a:avLst/>
          </a:prstGeom>
          <a:noFill/>
          <a:ln/>
        </p:spPr>
        <p:txBody>
          <a:bodyPr wrap="square" lIns="0" tIns="0" rIns="0" bIns="0" rtlCol="0" anchor="ctr"/>
          <a:lstStyle/>
          <a:p>
            <a:pPr algn="ctr" indent="0" marL="0">
              <a:buNone/>
            </a:pPr>
            <a:r>
              <a:rPr lang="en-US" sz="1100" b="1" spc="400" kern="0" dirty="0">
                <a:solidFill>
                  <a:srgbClr val="1E9AA3"/>
                </a:solidFill>
                <a:latin typeface="Calibri" pitchFamily="34" charset="0"/>
                <a:ea typeface="Calibri" pitchFamily="34" charset="-122"/>
                <a:cs typeface="Calibri" pitchFamily="34" charset="-120"/>
              </a:rPr>
              <a:t>BLOQUE 02</a:t>
            </a:r>
            <a:endParaRPr lang="en-US" sz="1100" dirty="0"/>
          </a:p>
        </p:txBody>
      </p:sp>
      <p:sp>
        <p:nvSpPr>
          <p:cNvPr id="6" name="Text 4"/>
          <p:cNvSpPr txBox="1"/>
          <p:nvPr/>
        </p:nvSpPr>
        <p:spPr>
          <a:xfrm>
            <a:off x="685800" y="3346704"/>
            <a:ext cx="3657600" cy="237744"/>
          </a:xfrm>
          <a:prstGeom prst="rect">
            <a:avLst/>
          </a:prstGeom>
          <a:noFill/>
          <a:ln/>
        </p:spPr>
        <p:txBody>
          <a:bodyPr wrap="square" lIns="0" tIns="0" rIns="0" bIns="0" rtlCol="0" anchor="ctr"/>
          <a:lstStyle/>
          <a:p>
            <a:pPr indent="0" marL="0">
              <a:buNone/>
            </a:pPr>
            <a:r>
              <a:rPr lang="en-US" sz="1050" b="1" spc="150" kern="0" dirty="0">
                <a:solidFill>
                  <a:srgbClr val="6E7673"/>
                </a:solidFill>
                <a:latin typeface="Calibri" pitchFamily="34" charset="0"/>
                <a:ea typeface="Calibri" pitchFamily="34" charset="-122"/>
                <a:cs typeface="Calibri" pitchFamily="34" charset="-120"/>
              </a:rPr>
              <a:t>En este bloque</a:t>
            </a:r>
            <a:endParaRPr lang="en-US" sz="1050" dirty="0"/>
          </a:p>
        </p:txBody>
      </p:sp>
      <p:sp>
        <p:nvSpPr>
          <p:cNvPr id="7" name="Shape 5"/>
          <p:cNvSpPr/>
          <p:nvPr/>
        </p:nvSpPr>
        <p:spPr>
          <a:xfrm>
            <a:off x="685800" y="3657600"/>
            <a:ext cx="5577840" cy="475488"/>
          </a:xfrm>
          <a:prstGeom prst="roundRect">
            <a:avLst>
              <a:gd name="adj" fmla="val 50000"/>
            </a:avLst>
          </a:prstGeom>
          <a:solidFill>
            <a:srgbClr val="F0FCE8"/>
          </a:solidFill>
          <a:ln w="12700">
            <a:solidFill>
              <a:srgbClr val="F0FCE8"/>
            </a:solidFill>
            <a:prstDash val="solid"/>
          </a:ln>
        </p:spPr>
      </p:sp>
      <p:sp>
        <p:nvSpPr>
          <p:cNvPr id="8" name="Shape 6"/>
          <p:cNvSpPr/>
          <p:nvPr/>
        </p:nvSpPr>
        <p:spPr>
          <a:xfrm>
            <a:off x="685800" y="3657600"/>
            <a:ext cx="667512" cy="475488"/>
          </a:xfrm>
          <a:prstGeom prst="roundRect">
            <a:avLst>
              <a:gd name="adj" fmla="val 50000"/>
            </a:avLst>
          </a:prstGeom>
          <a:solidFill>
            <a:srgbClr val="36C4CC"/>
          </a:solidFill>
          <a:ln w="12700">
            <a:solidFill>
              <a:srgbClr val="36C4CC"/>
            </a:solidFill>
            <a:prstDash val="solid"/>
          </a:ln>
        </p:spPr>
      </p:sp>
      <p:sp>
        <p:nvSpPr>
          <p:cNvPr id="9" name="Text 7"/>
          <p:cNvSpPr txBox="1"/>
          <p:nvPr/>
        </p:nvSpPr>
        <p:spPr>
          <a:xfrm>
            <a:off x="1481328" y="365760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Contenedor y códec</a:t>
            </a:r>
            <a:endParaRPr lang="en-US" sz="1200" dirty="0"/>
          </a:p>
        </p:txBody>
      </p:sp>
      <p:sp>
        <p:nvSpPr>
          <p:cNvPr id="10" name="Shape 8"/>
          <p:cNvSpPr/>
          <p:nvPr/>
        </p:nvSpPr>
        <p:spPr>
          <a:xfrm>
            <a:off x="685800" y="4206240"/>
            <a:ext cx="5577840" cy="475488"/>
          </a:xfrm>
          <a:prstGeom prst="roundRect">
            <a:avLst>
              <a:gd name="adj" fmla="val 50000"/>
            </a:avLst>
          </a:prstGeom>
          <a:solidFill>
            <a:srgbClr val="F0FCE8"/>
          </a:solidFill>
          <a:ln w="12700">
            <a:solidFill>
              <a:srgbClr val="F0FCE8"/>
            </a:solidFill>
            <a:prstDash val="solid"/>
          </a:ln>
        </p:spPr>
      </p:sp>
      <p:sp>
        <p:nvSpPr>
          <p:cNvPr id="11" name="Shape 9"/>
          <p:cNvSpPr/>
          <p:nvPr/>
        </p:nvSpPr>
        <p:spPr>
          <a:xfrm>
            <a:off x="685800" y="4206240"/>
            <a:ext cx="667512" cy="475488"/>
          </a:xfrm>
          <a:prstGeom prst="roundRect">
            <a:avLst>
              <a:gd name="adj" fmla="val 50000"/>
            </a:avLst>
          </a:prstGeom>
          <a:solidFill>
            <a:srgbClr val="36C4CC"/>
          </a:solidFill>
          <a:ln w="12700">
            <a:solidFill>
              <a:srgbClr val="36C4CC"/>
            </a:solidFill>
            <a:prstDash val="solid"/>
          </a:ln>
        </p:spPr>
      </p:sp>
      <p:sp>
        <p:nvSpPr>
          <p:cNvPr id="12" name="Text 10"/>
          <p:cNvSpPr txBox="1"/>
          <p:nvPr/>
        </p:nvSpPr>
        <p:spPr>
          <a:xfrm>
            <a:off x="1481328" y="420624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Formatos de video y de audio</a:t>
            </a:r>
            <a:endParaRPr lang="en-US" sz="1200" dirty="0"/>
          </a:p>
        </p:txBody>
      </p:sp>
      <p:sp>
        <p:nvSpPr>
          <p:cNvPr id="13" name="Shape 11"/>
          <p:cNvSpPr/>
          <p:nvPr/>
        </p:nvSpPr>
        <p:spPr>
          <a:xfrm>
            <a:off x="685800" y="4754880"/>
            <a:ext cx="5577840" cy="475488"/>
          </a:xfrm>
          <a:prstGeom prst="roundRect">
            <a:avLst>
              <a:gd name="adj" fmla="val 50000"/>
            </a:avLst>
          </a:prstGeom>
          <a:solidFill>
            <a:srgbClr val="F0FCE8"/>
          </a:solidFill>
          <a:ln w="12700">
            <a:solidFill>
              <a:srgbClr val="F0FCE8"/>
            </a:solidFill>
            <a:prstDash val="solid"/>
          </a:ln>
        </p:spPr>
      </p:sp>
      <p:sp>
        <p:nvSpPr>
          <p:cNvPr id="14" name="Shape 12"/>
          <p:cNvSpPr/>
          <p:nvPr/>
        </p:nvSpPr>
        <p:spPr>
          <a:xfrm>
            <a:off x="685800" y="4754880"/>
            <a:ext cx="667512" cy="475488"/>
          </a:xfrm>
          <a:prstGeom prst="roundRect">
            <a:avLst>
              <a:gd name="adj" fmla="val 50000"/>
            </a:avLst>
          </a:prstGeom>
          <a:solidFill>
            <a:srgbClr val="36C4CC"/>
          </a:solidFill>
          <a:ln w="12700">
            <a:solidFill>
              <a:srgbClr val="36C4CC"/>
            </a:solidFill>
            <a:prstDash val="solid"/>
          </a:ln>
        </p:spPr>
      </p:sp>
      <p:sp>
        <p:nvSpPr>
          <p:cNvPr id="15" name="Text 13"/>
          <p:cNvSpPr txBox="1"/>
          <p:nvPr/>
        </p:nvSpPr>
        <p:spPr>
          <a:xfrm>
            <a:off x="1481328" y="475488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La etiqueta source</a:t>
            </a:r>
            <a:endParaRPr lang="en-US" sz="1200" dirty="0"/>
          </a:p>
        </p:txBody>
      </p:sp>
      <p:sp>
        <p:nvSpPr>
          <p:cNvPr id="16" name="Shape 14"/>
          <p:cNvSpPr/>
          <p:nvPr/>
        </p:nvSpPr>
        <p:spPr>
          <a:xfrm>
            <a:off x="685800" y="5303520"/>
            <a:ext cx="5577840" cy="475488"/>
          </a:xfrm>
          <a:prstGeom prst="roundRect">
            <a:avLst>
              <a:gd name="adj" fmla="val 50000"/>
            </a:avLst>
          </a:prstGeom>
          <a:solidFill>
            <a:srgbClr val="F0FCE8"/>
          </a:solidFill>
          <a:ln w="12700">
            <a:solidFill>
              <a:srgbClr val="F0FCE8"/>
            </a:solidFill>
            <a:prstDash val="solid"/>
          </a:ln>
        </p:spPr>
      </p:sp>
      <p:sp>
        <p:nvSpPr>
          <p:cNvPr id="17" name="Shape 15"/>
          <p:cNvSpPr/>
          <p:nvPr/>
        </p:nvSpPr>
        <p:spPr>
          <a:xfrm>
            <a:off x="685800" y="5303520"/>
            <a:ext cx="667512" cy="475488"/>
          </a:xfrm>
          <a:prstGeom prst="roundRect">
            <a:avLst>
              <a:gd name="adj" fmla="val 50000"/>
            </a:avLst>
          </a:prstGeom>
          <a:solidFill>
            <a:srgbClr val="36C4CC"/>
          </a:solidFill>
          <a:ln w="12700">
            <a:solidFill>
              <a:srgbClr val="36C4CC"/>
            </a:solidFill>
            <a:prstDash val="solid"/>
          </a:ln>
        </p:spPr>
      </p:sp>
      <p:sp>
        <p:nvSpPr>
          <p:cNvPr id="18" name="Text 16"/>
          <p:cNvSpPr txBox="1"/>
          <p:nvPr/>
        </p:nvSpPr>
        <p:spPr>
          <a:xfrm>
            <a:off x="1481328" y="530352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El audio funciona igual</a:t>
            </a:r>
            <a:endParaRPr lang="en-US" sz="1200" dirty="0"/>
          </a:p>
        </p:txBody>
      </p:sp>
      <p:sp>
        <p:nvSpPr>
          <p:cNvPr id="19" name="Shape 17"/>
          <p:cNvSpPr/>
          <p:nvPr/>
        </p:nvSpPr>
        <p:spPr>
          <a:xfrm>
            <a:off x="685800" y="5852160"/>
            <a:ext cx="5577840" cy="475488"/>
          </a:xfrm>
          <a:prstGeom prst="roundRect">
            <a:avLst>
              <a:gd name="adj" fmla="val 50000"/>
            </a:avLst>
          </a:prstGeom>
          <a:solidFill>
            <a:srgbClr val="F0FCE8"/>
          </a:solidFill>
          <a:ln w="12700">
            <a:solidFill>
              <a:srgbClr val="F0FCE8"/>
            </a:solidFill>
            <a:prstDash val="solid"/>
          </a:ln>
        </p:spPr>
      </p:sp>
      <p:sp>
        <p:nvSpPr>
          <p:cNvPr id="20" name="Shape 18"/>
          <p:cNvSpPr/>
          <p:nvPr/>
        </p:nvSpPr>
        <p:spPr>
          <a:xfrm>
            <a:off x="685800" y="5852160"/>
            <a:ext cx="667512" cy="475488"/>
          </a:xfrm>
          <a:prstGeom prst="roundRect">
            <a:avLst>
              <a:gd name="adj" fmla="val 50000"/>
            </a:avLst>
          </a:prstGeom>
          <a:solidFill>
            <a:srgbClr val="36C4CC"/>
          </a:solidFill>
          <a:ln w="12700">
            <a:solidFill>
              <a:srgbClr val="36C4CC"/>
            </a:solidFill>
            <a:prstDash val="solid"/>
          </a:ln>
        </p:spPr>
      </p:sp>
      <p:sp>
        <p:nvSpPr>
          <p:cNvPr id="21" name="Text 19"/>
          <p:cNvSpPr txBox="1"/>
          <p:nvPr/>
        </p:nvSpPr>
        <p:spPr>
          <a:xfrm>
            <a:off x="1481328" y="585216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El texto alternativo</a:t>
            </a:r>
            <a:endParaRPr lang="en-US" sz="1200" dirty="0"/>
          </a:p>
        </p:txBody>
      </p:sp>
      <p:sp>
        <p:nvSpPr>
          <p:cNvPr id="22" name="Shape 20"/>
          <p:cNvSpPr/>
          <p:nvPr/>
        </p:nvSpPr>
        <p:spPr>
          <a:xfrm>
            <a:off x="6766560" y="1234440"/>
            <a:ext cx="5166360" cy="5257800"/>
          </a:xfrm>
          <a:prstGeom prst="roundRect">
            <a:avLst>
              <a:gd name="adj" fmla="val 3894"/>
            </a:avLst>
          </a:prstGeom>
          <a:solidFill>
            <a:srgbClr val="FFFFFF"/>
          </a:solidFill>
          <a:ln w="28575">
            <a:solidFill>
              <a:srgbClr val="36C4CC"/>
            </a:solidFill>
            <a:prstDash val="solid"/>
          </a:ln>
        </p:spPr>
      </p:sp>
      <p:pic>
        <p:nvPicPr>
          <p:cNvPr id="23" name="Image 0" descr="Persona programando frente a un monitor">    </p:cNvPr>
          <p:cNvPicPr>
            <a:picLocks noChangeAspect="1"/>
          </p:cNvPicPr>
          <p:nvPr/>
        </p:nvPicPr>
        <p:blipFill>
          <a:blip r:embed="rId1"/>
          <a:srcRect l="0" r="0" t="0" b="0"/>
          <a:stretch/>
        </p:blipFill>
        <p:spPr>
          <a:xfrm>
            <a:off x="6903720" y="1362456"/>
            <a:ext cx="4892040" cy="5001768"/>
          </a:xfrm>
          <a:prstGeom prst="rect">
            <a:avLst/>
          </a:prstGeom>
        </p:spPr>
      </p:pic>
      <p:sp>
        <p:nvSpPr>
          <p:cNvPr id="24" name="Shape 21"/>
          <p:cNvSpPr/>
          <p:nvPr/>
        </p:nvSpPr>
        <p:spPr>
          <a:xfrm>
            <a:off x="6528816" y="978408"/>
            <a:ext cx="804672" cy="804672"/>
          </a:xfrm>
          <a:prstGeom prst="ellipse">
            <a:avLst/>
          </a:prstGeom>
          <a:solidFill>
            <a:srgbClr val="72EF29"/>
          </a:solidFill>
          <a:ln w="38100">
            <a:solidFill>
              <a:srgbClr val="FFFFFF"/>
            </a:solidFill>
            <a:prstDash val="solid"/>
          </a:ln>
        </p:spPr>
      </p:sp>
      <p:sp>
        <p:nvSpPr>
          <p:cNvPr id="25" name="Text 22"/>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15 / 48</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02 · FORMATOS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Un archivo de video son dos cosas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La extensión no lo dice todo: importa lo que lleva dentro.</a:t>
            </a:r>
            <a:endParaRPr lang="en-US" sz="1250" dirty="0"/>
          </a:p>
        </p:txBody>
      </p:sp>
      <p:sp>
        <p:nvSpPr>
          <p:cNvPr id="5" name="Shape 3"/>
          <p:cNvSpPr/>
          <p:nvPr/>
        </p:nvSpPr>
        <p:spPr>
          <a:xfrm>
            <a:off x="640080" y="2615184"/>
            <a:ext cx="5349240" cy="1783080"/>
          </a:xfrm>
          <a:prstGeom prst="roundRect">
            <a:avLst>
              <a:gd name="adj" fmla="val 5128"/>
            </a:avLst>
          </a:prstGeom>
          <a:solidFill>
            <a:srgbClr val="F0FCE8"/>
          </a:solidFill>
          <a:ln w="12700">
            <a:solidFill>
              <a:srgbClr val="D9F2CC"/>
            </a:solidFill>
            <a:prstDash val="solid"/>
          </a:ln>
        </p:spPr>
      </p:sp>
      <p:sp>
        <p:nvSpPr>
          <p:cNvPr id="6" name="Text 4"/>
          <p:cNvSpPr txBox="1"/>
          <p:nvPr/>
        </p:nvSpPr>
        <p:spPr>
          <a:xfrm>
            <a:off x="950976" y="2816352"/>
            <a:ext cx="4727448" cy="310896"/>
          </a:xfrm>
          <a:prstGeom prst="rect">
            <a:avLst/>
          </a:prstGeom>
          <a:noFill/>
          <a:ln/>
        </p:spPr>
        <p:txBody>
          <a:bodyPr wrap="square" lIns="0" tIns="0" rIns="0" bIns="0" rtlCol="0" anchor="ctr"/>
          <a:lstStyle/>
          <a:p>
            <a:pPr algn="l" indent="0" marL="0">
              <a:buNone/>
            </a:pPr>
            <a:r>
              <a:rPr lang="en-US" sz="1400" b="1" dirty="0">
                <a:solidFill>
                  <a:srgbClr val="4FB817"/>
                </a:solidFill>
                <a:latin typeface="Calibri" pitchFamily="34" charset="0"/>
                <a:ea typeface="Calibri" pitchFamily="34" charset="-122"/>
                <a:cs typeface="Calibri" pitchFamily="34" charset="-120"/>
              </a:rPr>
              <a:t>Contenedor</a:t>
            </a:r>
            <a:endParaRPr lang="en-US" sz="1400" dirty="0"/>
          </a:p>
        </p:txBody>
      </p:sp>
      <p:sp>
        <p:nvSpPr>
          <p:cNvPr id="7" name="Text 5"/>
          <p:cNvSpPr txBox="1"/>
          <p:nvPr/>
        </p:nvSpPr>
        <p:spPr>
          <a:xfrm>
            <a:off x="950976" y="3182112"/>
            <a:ext cx="4727448" cy="1095451"/>
          </a:xfrm>
          <a:prstGeom prst="rect">
            <a:avLst/>
          </a:prstGeom>
          <a:noFill/>
          <a:ln/>
        </p:spPr>
        <p:txBody>
          <a:bodyPr wrap="square" lIns="0" tIns="0" rIns="0" bIns="0" rtlCol="0" anchor="t"/>
          <a:lstStyle/>
          <a:p>
            <a:pPr algn="l" indent="0" marL="0">
              <a:lnSpc>
                <a:spcPct val="125000"/>
              </a:lnSpc>
              <a:buNone/>
            </a:pPr>
            <a:r>
              <a:rPr lang="en-US" sz="1200" dirty="0">
                <a:solidFill>
                  <a:srgbClr val="424242"/>
                </a:solidFill>
                <a:latin typeface="Calibri" pitchFamily="34" charset="0"/>
                <a:ea typeface="Calibri" pitchFamily="34" charset="-122"/>
                <a:cs typeface="Calibri" pitchFamily="34" charset="-120"/>
              </a:rPr>
              <a:t>La caja. Es la extensión del archivo y guarda juntos el video, el audio y los subtítulos.</a:t>
            </a:r>
            <a:endParaRPr lang="en-US" sz="1200" dirty="0"/>
          </a:p>
        </p:txBody>
      </p:sp>
      <p:sp>
        <p:nvSpPr>
          <p:cNvPr id="8" name="Text 6"/>
          <p:cNvSpPr txBox="1"/>
          <p:nvPr/>
        </p:nvSpPr>
        <p:spPr>
          <a:xfrm>
            <a:off x="950976" y="3922776"/>
            <a:ext cx="4727448" cy="274320"/>
          </a:xfrm>
          <a:prstGeom prst="rect">
            <a:avLst/>
          </a:prstGeom>
          <a:noFill/>
          <a:ln/>
        </p:spPr>
        <p:txBody>
          <a:bodyPr wrap="square" lIns="0" tIns="0" rIns="0" bIns="0" rtlCol="0" anchor="b"/>
          <a:lstStyle/>
          <a:p>
            <a:pPr indent="0" marL="0">
              <a:buNone/>
            </a:pPr>
            <a:r>
              <a:rPr lang="en-US" sz="1150" i="1" dirty="0">
                <a:solidFill>
                  <a:srgbClr val="4FB817"/>
                </a:solidFill>
                <a:latin typeface="Calibri" pitchFamily="34" charset="0"/>
                <a:ea typeface="Calibri" pitchFamily="34" charset="-122"/>
                <a:cs typeface="Calibri" pitchFamily="34" charset="-120"/>
              </a:rPr>
              <a:t>.mp4 · .webm · .ogg</a:t>
            </a:r>
            <a:endParaRPr lang="en-US" sz="1150" dirty="0"/>
          </a:p>
        </p:txBody>
      </p:sp>
      <p:sp>
        <p:nvSpPr>
          <p:cNvPr id="9" name="Shape 7"/>
          <p:cNvSpPr/>
          <p:nvPr/>
        </p:nvSpPr>
        <p:spPr>
          <a:xfrm>
            <a:off x="6217920" y="2615184"/>
            <a:ext cx="5349240" cy="1783080"/>
          </a:xfrm>
          <a:prstGeom prst="roundRect">
            <a:avLst>
              <a:gd name="adj" fmla="val 5128"/>
            </a:avLst>
          </a:prstGeom>
          <a:solidFill>
            <a:srgbClr val="F7FDF4"/>
          </a:solidFill>
          <a:ln w="12700">
            <a:solidFill>
              <a:srgbClr val="D9F2CC"/>
            </a:solidFill>
            <a:prstDash val="solid"/>
          </a:ln>
        </p:spPr>
      </p:sp>
      <p:sp>
        <p:nvSpPr>
          <p:cNvPr id="10" name="Text 8"/>
          <p:cNvSpPr txBox="1"/>
          <p:nvPr/>
        </p:nvSpPr>
        <p:spPr>
          <a:xfrm>
            <a:off x="6528816" y="2816352"/>
            <a:ext cx="4727448" cy="310896"/>
          </a:xfrm>
          <a:prstGeom prst="rect">
            <a:avLst/>
          </a:prstGeom>
          <a:noFill/>
          <a:ln/>
        </p:spPr>
        <p:txBody>
          <a:bodyPr wrap="square" lIns="0" tIns="0" rIns="0" bIns="0" rtlCol="0" anchor="ctr"/>
          <a:lstStyle/>
          <a:p>
            <a:pPr algn="l" indent="0" marL="0">
              <a:buNone/>
            </a:pPr>
            <a:r>
              <a:rPr lang="en-US" sz="1400" b="1" dirty="0">
                <a:solidFill>
                  <a:srgbClr val="4FB817"/>
                </a:solidFill>
                <a:latin typeface="Calibri" pitchFamily="34" charset="0"/>
                <a:ea typeface="Calibri" pitchFamily="34" charset="-122"/>
                <a:cs typeface="Calibri" pitchFamily="34" charset="-120"/>
              </a:rPr>
              <a:t>Códec</a:t>
            </a:r>
            <a:endParaRPr lang="en-US" sz="1400" dirty="0"/>
          </a:p>
        </p:txBody>
      </p:sp>
      <p:sp>
        <p:nvSpPr>
          <p:cNvPr id="11" name="Text 9"/>
          <p:cNvSpPr txBox="1"/>
          <p:nvPr/>
        </p:nvSpPr>
        <p:spPr>
          <a:xfrm>
            <a:off x="6528816" y="3182112"/>
            <a:ext cx="4727448" cy="1095451"/>
          </a:xfrm>
          <a:prstGeom prst="rect">
            <a:avLst/>
          </a:prstGeom>
          <a:noFill/>
          <a:ln/>
        </p:spPr>
        <p:txBody>
          <a:bodyPr wrap="square" lIns="0" tIns="0" rIns="0" bIns="0" rtlCol="0" anchor="t"/>
          <a:lstStyle/>
          <a:p>
            <a:pPr algn="l" indent="0" marL="0">
              <a:lnSpc>
                <a:spcPct val="125000"/>
              </a:lnSpc>
              <a:buNone/>
            </a:pPr>
            <a:r>
              <a:rPr lang="en-US" sz="1200" dirty="0">
                <a:solidFill>
                  <a:srgbClr val="424242"/>
                </a:solidFill>
                <a:latin typeface="Calibri" pitchFamily="34" charset="0"/>
                <a:ea typeface="Calibri" pitchFamily="34" charset="-122"/>
                <a:cs typeface="Calibri" pitchFamily="34" charset="-120"/>
              </a:rPr>
              <a:t>El método con que se comprime lo que va dentro de la caja. Hay uno para la imagen y otro para el sonido.</a:t>
            </a:r>
            <a:endParaRPr lang="en-US" sz="1200" dirty="0"/>
          </a:p>
        </p:txBody>
      </p:sp>
      <p:sp>
        <p:nvSpPr>
          <p:cNvPr id="12" name="Text 10"/>
          <p:cNvSpPr txBox="1"/>
          <p:nvPr/>
        </p:nvSpPr>
        <p:spPr>
          <a:xfrm>
            <a:off x="6528816" y="3922776"/>
            <a:ext cx="4727448" cy="274320"/>
          </a:xfrm>
          <a:prstGeom prst="rect">
            <a:avLst/>
          </a:prstGeom>
          <a:noFill/>
          <a:ln/>
        </p:spPr>
        <p:txBody>
          <a:bodyPr wrap="square" lIns="0" tIns="0" rIns="0" bIns="0" rtlCol="0" anchor="b"/>
          <a:lstStyle/>
          <a:p>
            <a:pPr indent="0" marL="0">
              <a:buNone/>
            </a:pPr>
            <a:r>
              <a:rPr lang="en-US" sz="1150" i="1" dirty="0">
                <a:solidFill>
                  <a:srgbClr val="4FB817"/>
                </a:solidFill>
                <a:latin typeface="Calibri" pitchFamily="34" charset="0"/>
                <a:ea typeface="Calibri" pitchFamily="34" charset="-122"/>
                <a:cs typeface="Calibri" pitchFamily="34" charset="-120"/>
              </a:rPr>
              <a:t>H.264 · VP9 · AAC · Opus</a:t>
            </a:r>
            <a:endParaRPr lang="en-US" sz="1150" dirty="0"/>
          </a:p>
        </p:txBody>
      </p:sp>
      <p:sp>
        <p:nvSpPr>
          <p:cNvPr id="13" name="Shape 11"/>
          <p:cNvSpPr/>
          <p:nvPr/>
        </p:nvSpPr>
        <p:spPr>
          <a:xfrm>
            <a:off x="640080" y="4599432"/>
            <a:ext cx="10927080" cy="1435608"/>
          </a:xfrm>
          <a:prstGeom prst="roundRect">
            <a:avLst>
              <a:gd name="adj" fmla="val 6369"/>
            </a:avLst>
          </a:prstGeom>
          <a:solidFill>
            <a:srgbClr val="EAFAFB"/>
          </a:solidFill>
          <a:ln w="12700">
            <a:solidFill>
              <a:srgbClr val="BFEAEE"/>
            </a:solidFill>
            <a:prstDash val="solid"/>
          </a:ln>
        </p:spPr>
      </p:sp>
      <p:sp>
        <p:nvSpPr>
          <p:cNvPr id="14" name="Text 12"/>
          <p:cNvSpPr txBox="1"/>
          <p:nvPr/>
        </p:nvSpPr>
        <p:spPr>
          <a:xfrm>
            <a:off x="950976" y="4800600"/>
            <a:ext cx="10305288" cy="310896"/>
          </a:xfrm>
          <a:prstGeom prst="rect">
            <a:avLst/>
          </a:prstGeom>
          <a:noFill/>
          <a:ln/>
        </p:spPr>
        <p:txBody>
          <a:bodyPr wrap="square" lIns="0" tIns="0" rIns="0" bIns="0" rtlCol="0" anchor="ctr"/>
          <a:lstStyle/>
          <a:p>
            <a:pPr algn="l" indent="0" marL="0">
              <a:buNone/>
            </a:pPr>
            <a:r>
              <a:rPr lang="en-US" sz="1400" b="1" dirty="0">
                <a:solidFill>
                  <a:srgbClr val="1E9AA3"/>
                </a:solidFill>
                <a:latin typeface="Calibri" pitchFamily="34" charset="0"/>
                <a:ea typeface="Calibri" pitchFamily="34" charset="-122"/>
                <a:cs typeface="Calibri" pitchFamily="34" charset="-120"/>
              </a:rPr>
              <a:t>Por qué te importa</a:t>
            </a:r>
            <a:endParaRPr lang="en-US" sz="1400" dirty="0"/>
          </a:p>
        </p:txBody>
      </p:sp>
      <p:sp>
        <p:nvSpPr>
          <p:cNvPr id="15" name="Text 13"/>
          <p:cNvSpPr txBox="1"/>
          <p:nvPr/>
        </p:nvSpPr>
        <p:spPr>
          <a:xfrm>
            <a:off x="950976" y="5166360"/>
            <a:ext cx="10305288" cy="747979"/>
          </a:xfrm>
          <a:prstGeom prst="rect">
            <a:avLst/>
          </a:prstGeom>
          <a:noFill/>
          <a:ln/>
        </p:spPr>
        <p:txBody>
          <a:bodyPr wrap="square" lIns="0" tIns="0" rIns="0" bIns="0" rtlCol="0" anchor="t"/>
          <a:lstStyle/>
          <a:p>
            <a:pPr algn="l" indent="0" marL="0">
              <a:lnSpc>
                <a:spcPct val="125000"/>
              </a:lnSpc>
              <a:buNone/>
            </a:pPr>
            <a:r>
              <a:rPr lang="en-US" sz="1250" dirty="0">
                <a:solidFill>
                  <a:srgbClr val="424242"/>
                </a:solidFill>
                <a:latin typeface="Calibri" pitchFamily="34" charset="0"/>
                <a:ea typeface="Calibri" pitchFamily="34" charset="-122"/>
                <a:cs typeface="Calibri" pitchFamily="34" charset="-120"/>
              </a:rPr>
              <a:t>El navegador tiene que entender las dos cosas. Por eso un .mp4 puede fallar: si por dentro usa un códec que ese navegador no conoce (por ejemplo, un video H.265 grabado con el celular), se oye sin imagen o no se reproduce.</a:t>
            </a:r>
            <a:endParaRPr lang="en-US" sz="1250" dirty="0"/>
          </a:p>
        </p:txBody>
      </p:sp>
      <p:sp>
        <p:nvSpPr>
          <p:cNvPr id="16" name="Text 1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16 / 48</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02 · FORMATOS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Qué formatos usar en la web</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Dos de video y dos de audio cubren todos los navegadores actuales.</a:t>
            </a:r>
            <a:endParaRPr lang="en-US" sz="1250" dirty="0"/>
          </a:p>
        </p:txBody>
      </p:sp>
      <p:sp>
        <p:nvSpPr>
          <p:cNvPr id="5" name="Shape 3"/>
          <p:cNvSpPr/>
          <p:nvPr/>
        </p:nvSpPr>
        <p:spPr>
          <a:xfrm>
            <a:off x="640080" y="2615184"/>
            <a:ext cx="10927080" cy="484632"/>
          </a:xfrm>
          <a:prstGeom prst="roundRect">
            <a:avLst>
              <a:gd name="adj" fmla="val 18868"/>
            </a:avLst>
          </a:prstGeom>
          <a:solidFill>
            <a:srgbClr val="F7FDF4"/>
          </a:solidFill>
          <a:ln w="12700">
            <a:solidFill>
              <a:srgbClr val="D9F2CC"/>
            </a:solidFill>
            <a:prstDash val="solid"/>
          </a:ln>
        </p:spPr>
      </p:sp>
      <p:sp>
        <p:nvSpPr>
          <p:cNvPr id="6" name="Text 4"/>
          <p:cNvSpPr txBox="1"/>
          <p:nvPr/>
        </p:nvSpPr>
        <p:spPr>
          <a:xfrm>
            <a:off x="914400" y="2615184"/>
            <a:ext cx="1554480" cy="484632"/>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.mp4</a:t>
            </a:r>
            <a:endParaRPr lang="en-US" sz="1250" dirty="0"/>
          </a:p>
        </p:txBody>
      </p:sp>
      <p:sp>
        <p:nvSpPr>
          <p:cNvPr id="7" name="Text 5"/>
          <p:cNvSpPr txBox="1"/>
          <p:nvPr/>
        </p:nvSpPr>
        <p:spPr>
          <a:xfrm>
            <a:off x="2468880" y="2615184"/>
            <a:ext cx="4588459"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Video H.264 con audio AAC. Lo reproducen todos los navegadores.</a:t>
            </a:r>
            <a:endParaRPr lang="en-US" sz="1200" dirty="0"/>
          </a:p>
        </p:txBody>
      </p:sp>
      <p:sp>
        <p:nvSpPr>
          <p:cNvPr id="8" name="Text 6"/>
          <p:cNvSpPr txBox="1"/>
          <p:nvPr/>
        </p:nvSpPr>
        <p:spPr>
          <a:xfrm>
            <a:off x="7057339" y="261518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9" name="Text 7"/>
          <p:cNvSpPr txBox="1"/>
          <p:nvPr/>
        </p:nvSpPr>
        <p:spPr>
          <a:xfrm>
            <a:off x="7423099" y="2615184"/>
            <a:ext cx="3915461" cy="484632"/>
          </a:xfrm>
          <a:prstGeom prst="rect">
            <a:avLst/>
          </a:prstGeom>
          <a:noFill/>
          <a:ln/>
        </p:spPr>
        <p:txBody>
          <a:bodyPr wrap="square" lIns="0" tIns="0" rIns="0" bIns="0" rtlCol="0" anchor="ctr"/>
          <a:lstStyle/>
          <a:p>
            <a:pPr indent="0" marL="0">
              <a:buNone/>
            </a:pPr>
            <a:r>
              <a:rPr lang="en-US" sz="1200" dirty="0">
                <a:solidFill>
                  <a:srgbClr val="4FB817"/>
                </a:solidFill>
                <a:latin typeface="Calibri" pitchFamily="34" charset="0"/>
                <a:ea typeface="Calibri" pitchFamily="34" charset="-122"/>
                <a:cs typeface="Calibri" pitchFamily="34" charset="-120"/>
              </a:rPr>
              <a:t>Tu formato base</a:t>
            </a:r>
            <a:endParaRPr lang="en-US" sz="1200" dirty="0"/>
          </a:p>
        </p:txBody>
      </p:sp>
      <p:sp>
        <p:nvSpPr>
          <p:cNvPr id="10" name="Shape 8"/>
          <p:cNvSpPr/>
          <p:nvPr/>
        </p:nvSpPr>
        <p:spPr>
          <a:xfrm>
            <a:off x="640080" y="3163824"/>
            <a:ext cx="10927080" cy="484632"/>
          </a:xfrm>
          <a:prstGeom prst="roundRect">
            <a:avLst>
              <a:gd name="adj" fmla="val 18868"/>
            </a:avLst>
          </a:prstGeom>
          <a:solidFill>
            <a:srgbClr val="FFFFFF"/>
          </a:solidFill>
          <a:ln w="12700">
            <a:solidFill>
              <a:srgbClr val="D9F2CC"/>
            </a:solidFill>
            <a:prstDash val="solid"/>
          </a:ln>
        </p:spPr>
      </p:sp>
      <p:sp>
        <p:nvSpPr>
          <p:cNvPr id="11" name="Text 9"/>
          <p:cNvSpPr txBox="1"/>
          <p:nvPr/>
        </p:nvSpPr>
        <p:spPr>
          <a:xfrm>
            <a:off x="914400" y="3163824"/>
            <a:ext cx="1554480" cy="484632"/>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.webm</a:t>
            </a:r>
            <a:endParaRPr lang="en-US" sz="1250" dirty="0"/>
          </a:p>
        </p:txBody>
      </p:sp>
      <p:sp>
        <p:nvSpPr>
          <p:cNvPr id="12" name="Text 10"/>
          <p:cNvSpPr txBox="1"/>
          <p:nvPr/>
        </p:nvSpPr>
        <p:spPr>
          <a:xfrm>
            <a:off x="2468880" y="3163824"/>
            <a:ext cx="4588459"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Video VP9 con audio Opus. Libre y con buena compresión.</a:t>
            </a:r>
            <a:endParaRPr lang="en-US" sz="1200" dirty="0"/>
          </a:p>
        </p:txBody>
      </p:sp>
      <p:sp>
        <p:nvSpPr>
          <p:cNvPr id="13" name="Text 11"/>
          <p:cNvSpPr txBox="1"/>
          <p:nvPr/>
        </p:nvSpPr>
        <p:spPr>
          <a:xfrm>
            <a:off x="7057339" y="316382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14" name="Text 12"/>
          <p:cNvSpPr txBox="1"/>
          <p:nvPr/>
        </p:nvSpPr>
        <p:spPr>
          <a:xfrm>
            <a:off x="7423099" y="3163824"/>
            <a:ext cx="3915461" cy="484632"/>
          </a:xfrm>
          <a:prstGeom prst="rect">
            <a:avLst/>
          </a:prstGeom>
          <a:noFill/>
          <a:ln/>
        </p:spPr>
        <p:txBody>
          <a:bodyPr wrap="square" lIns="0" tIns="0" rIns="0" bIns="0" rtlCol="0" anchor="ctr"/>
          <a:lstStyle/>
          <a:p>
            <a:pPr indent="0" marL="0">
              <a:buNone/>
            </a:pPr>
            <a:r>
              <a:rPr lang="en-US" sz="1200" dirty="0">
                <a:solidFill>
                  <a:srgbClr val="4FB817"/>
                </a:solidFill>
                <a:latin typeface="Calibri" pitchFamily="34" charset="0"/>
                <a:ea typeface="Calibri" pitchFamily="34" charset="-122"/>
                <a:cs typeface="Calibri" pitchFamily="34" charset="-120"/>
              </a:rPr>
              <a:t>Segunda fuente</a:t>
            </a:r>
            <a:endParaRPr lang="en-US" sz="1200" dirty="0"/>
          </a:p>
        </p:txBody>
      </p:sp>
      <p:sp>
        <p:nvSpPr>
          <p:cNvPr id="15" name="Shape 13"/>
          <p:cNvSpPr/>
          <p:nvPr/>
        </p:nvSpPr>
        <p:spPr>
          <a:xfrm>
            <a:off x="640080" y="3712464"/>
            <a:ext cx="10927080" cy="484632"/>
          </a:xfrm>
          <a:prstGeom prst="roundRect">
            <a:avLst>
              <a:gd name="adj" fmla="val 18868"/>
            </a:avLst>
          </a:prstGeom>
          <a:solidFill>
            <a:srgbClr val="F7FDF4"/>
          </a:solidFill>
          <a:ln w="12700">
            <a:solidFill>
              <a:srgbClr val="D9F2CC"/>
            </a:solidFill>
            <a:prstDash val="solid"/>
          </a:ln>
        </p:spPr>
      </p:sp>
      <p:sp>
        <p:nvSpPr>
          <p:cNvPr id="16" name="Text 14"/>
          <p:cNvSpPr txBox="1"/>
          <p:nvPr/>
        </p:nvSpPr>
        <p:spPr>
          <a:xfrm>
            <a:off x="914400" y="3712464"/>
            <a:ext cx="1554480" cy="484632"/>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.mp3</a:t>
            </a:r>
            <a:endParaRPr lang="en-US" sz="1250" dirty="0"/>
          </a:p>
        </p:txBody>
      </p:sp>
      <p:sp>
        <p:nvSpPr>
          <p:cNvPr id="17" name="Text 15"/>
          <p:cNvSpPr txBox="1"/>
          <p:nvPr/>
        </p:nvSpPr>
        <p:spPr>
          <a:xfrm>
            <a:off x="2468880" y="3712464"/>
            <a:ext cx="4588459"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Audio. Lo reproducen todos los navegadores.</a:t>
            </a:r>
            <a:endParaRPr lang="en-US" sz="1200" dirty="0"/>
          </a:p>
        </p:txBody>
      </p:sp>
      <p:sp>
        <p:nvSpPr>
          <p:cNvPr id="18" name="Text 16"/>
          <p:cNvSpPr txBox="1"/>
          <p:nvPr/>
        </p:nvSpPr>
        <p:spPr>
          <a:xfrm>
            <a:off x="7057339" y="371246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19" name="Text 17"/>
          <p:cNvSpPr txBox="1"/>
          <p:nvPr/>
        </p:nvSpPr>
        <p:spPr>
          <a:xfrm>
            <a:off x="7423099" y="3712464"/>
            <a:ext cx="3915461" cy="484632"/>
          </a:xfrm>
          <a:prstGeom prst="rect">
            <a:avLst/>
          </a:prstGeom>
          <a:noFill/>
          <a:ln/>
        </p:spPr>
        <p:txBody>
          <a:bodyPr wrap="square" lIns="0" tIns="0" rIns="0" bIns="0" rtlCol="0" anchor="ctr"/>
          <a:lstStyle/>
          <a:p>
            <a:pPr indent="0" marL="0">
              <a:buNone/>
            </a:pPr>
            <a:r>
              <a:rPr lang="en-US" sz="1200" dirty="0">
                <a:solidFill>
                  <a:srgbClr val="4FB817"/>
                </a:solidFill>
                <a:latin typeface="Calibri" pitchFamily="34" charset="0"/>
                <a:ea typeface="Calibri" pitchFamily="34" charset="-122"/>
                <a:cs typeface="Calibri" pitchFamily="34" charset="-120"/>
              </a:rPr>
              <a:t>Tu formato base</a:t>
            </a:r>
            <a:endParaRPr lang="en-US" sz="1200" dirty="0"/>
          </a:p>
        </p:txBody>
      </p:sp>
      <p:sp>
        <p:nvSpPr>
          <p:cNvPr id="20" name="Shape 18"/>
          <p:cNvSpPr/>
          <p:nvPr/>
        </p:nvSpPr>
        <p:spPr>
          <a:xfrm>
            <a:off x="640080" y="4261104"/>
            <a:ext cx="10927080" cy="484632"/>
          </a:xfrm>
          <a:prstGeom prst="roundRect">
            <a:avLst>
              <a:gd name="adj" fmla="val 18868"/>
            </a:avLst>
          </a:prstGeom>
          <a:solidFill>
            <a:srgbClr val="FFFFFF"/>
          </a:solidFill>
          <a:ln w="12700">
            <a:solidFill>
              <a:srgbClr val="D9F2CC"/>
            </a:solidFill>
            <a:prstDash val="solid"/>
          </a:ln>
        </p:spPr>
      </p:sp>
      <p:sp>
        <p:nvSpPr>
          <p:cNvPr id="21" name="Text 19"/>
          <p:cNvSpPr txBox="1"/>
          <p:nvPr/>
        </p:nvSpPr>
        <p:spPr>
          <a:xfrm>
            <a:off x="914400" y="4261104"/>
            <a:ext cx="1554480" cy="484632"/>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.ogg</a:t>
            </a:r>
            <a:endParaRPr lang="en-US" sz="1250" dirty="0"/>
          </a:p>
        </p:txBody>
      </p:sp>
      <p:sp>
        <p:nvSpPr>
          <p:cNvPr id="22" name="Text 20"/>
          <p:cNvSpPr txBox="1"/>
          <p:nvPr/>
        </p:nvSpPr>
        <p:spPr>
          <a:xfrm>
            <a:off x="2468880" y="4261104"/>
            <a:ext cx="4588459"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Audio Vorbis u Opus. Libre.</a:t>
            </a:r>
            <a:endParaRPr lang="en-US" sz="1200" dirty="0"/>
          </a:p>
        </p:txBody>
      </p:sp>
      <p:sp>
        <p:nvSpPr>
          <p:cNvPr id="23" name="Text 21"/>
          <p:cNvSpPr txBox="1"/>
          <p:nvPr/>
        </p:nvSpPr>
        <p:spPr>
          <a:xfrm>
            <a:off x="7057339" y="426110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7423099" y="4261104"/>
            <a:ext cx="3915461" cy="484632"/>
          </a:xfrm>
          <a:prstGeom prst="rect">
            <a:avLst/>
          </a:prstGeom>
          <a:noFill/>
          <a:ln/>
        </p:spPr>
        <p:txBody>
          <a:bodyPr wrap="square" lIns="0" tIns="0" rIns="0" bIns="0" rtlCol="0" anchor="ctr"/>
          <a:lstStyle/>
          <a:p>
            <a:pPr indent="0" marL="0">
              <a:buNone/>
            </a:pPr>
            <a:r>
              <a:rPr lang="en-US" sz="1200" dirty="0">
                <a:solidFill>
                  <a:srgbClr val="4FB817"/>
                </a:solidFill>
                <a:latin typeface="Calibri" pitchFamily="34" charset="0"/>
                <a:ea typeface="Calibri" pitchFamily="34" charset="-122"/>
                <a:cs typeface="Calibri" pitchFamily="34" charset="-120"/>
              </a:rPr>
              <a:t>Segunda fuente</a:t>
            </a:r>
            <a:endParaRPr lang="en-US" sz="1200" dirty="0"/>
          </a:p>
        </p:txBody>
      </p:sp>
      <p:sp>
        <p:nvSpPr>
          <p:cNvPr id="25" name="Shape 23"/>
          <p:cNvSpPr/>
          <p:nvPr/>
        </p:nvSpPr>
        <p:spPr>
          <a:xfrm>
            <a:off x="640080" y="4809744"/>
            <a:ext cx="10927080" cy="484632"/>
          </a:xfrm>
          <a:prstGeom prst="roundRect">
            <a:avLst>
              <a:gd name="adj" fmla="val 18868"/>
            </a:avLst>
          </a:prstGeom>
          <a:solidFill>
            <a:srgbClr val="F7FDF4"/>
          </a:solidFill>
          <a:ln w="12700">
            <a:solidFill>
              <a:srgbClr val="D9F2CC"/>
            </a:solidFill>
            <a:prstDash val="solid"/>
          </a:ln>
        </p:spPr>
      </p:sp>
      <p:sp>
        <p:nvSpPr>
          <p:cNvPr id="26" name="Text 24"/>
          <p:cNvSpPr txBox="1"/>
          <p:nvPr/>
        </p:nvSpPr>
        <p:spPr>
          <a:xfrm>
            <a:off x="914400" y="4809744"/>
            <a:ext cx="1554480" cy="484632"/>
          </a:xfrm>
          <a:prstGeom prst="rect">
            <a:avLst/>
          </a:prstGeom>
          <a:noFill/>
          <a:ln/>
        </p:spPr>
        <p:txBody>
          <a:bodyPr wrap="square" lIns="0" tIns="0" rIns="0" bIns="0" rtlCol="0" anchor="ctr"/>
          <a:lstStyle/>
          <a:p>
            <a:pPr indent="0" marL="0">
              <a:buNone/>
            </a:pPr>
            <a:r>
              <a:rPr lang="en-US" sz="1250" b="1" dirty="0">
                <a:solidFill>
                  <a:srgbClr val="B5462F"/>
                </a:solidFill>
                <a:latin typeface="Consolas" pitchFamily="34" charset="0"/>
                <a:ea typeface="Consolas" pitchFamily="34" charset="-122"/>
                <a:cs typeface="Consolas" pitchFamily="34" charset="-120"/>
              </a:rPr>
              <a:t>.wav</a:t>
            </a:r>
            <a:endParaRPr lang="en-US" sz="1250" dirty="0"/>
          </a:p>
        </p:txBody>
      </p:sp>
      <p:sp>
        <p:nvSpPr>
          <p:cNvPr id="27" name="Text 25"/>
          <p:cNvSpPr txBox="1"/>
          <p:nvPr/>
        </p:nvSpPr>
        <p:spPr>
          <a:xfrm>
            <a:off x="2468880" y="4809744"/>
            <a:ext cx="4588459"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Audio sin comprimir: un minuto pesa unos 10 MB.</a:t>
            </a:r>
            <a:endParaRPr lang="en-US" sz="1200" dirty="0"/>
          </a:p>
        </p:txBody>
      </p:sp>
      <p:sp>
        <p:nvSpPr>
          <p:cNvPr id="28" name="Text 26"/>
          <p:cNvSpPr txBox="1"/>
          <p:nvPr/>
        </p:nvSpPr>
        <p:spPr>
          <a:xfrm>
            <a:off x="7057339" y="480974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29" name="Text 27"/>
          <p:cNvSpPr txBox="1"/>
          <p:nvPr/>
        </p:nvSpPr>
        <p:spPr>
          <a:xfrm>
            <a:off x="7423099" y="4809744"/>
            <a:ext cx="3915461" cy="484632"/>
          </a:xfrm>
          <a:prstGeom prst="rect">
            <a:avLst/>
          </a:prstGeom>
          <a:noFill/>
          <a:ln/>
        </p:spPr>
        <p:txBody>
          <a:bodyPr wrap="square" lIns="0" tIns="0" rIns="0" bIns="0" rtlCol="0" anchor="ctr"/>
          <a:lstStyle/>
          <a:p>
            <a:pPr indent="0" marL="0">
              <a:buNone/>
            </a:pPr>
            <a:r>
              <a:rPr lang="en-US" sz="1200" dirty="0">
                <a:solidFill>
                  <a:srgbClr val="B5462F"/>
                </a:solidFill>
                <a:latin typeface="Calibri" pitchFamily="34" charset="0"/>
                <a:ea typeface="Calibri" pitchFamily="34" charset="-122"/>
                <a:cs typeface="Calibri" pitchFamily="34" charset="-120"/>
              </a:rPr>
              <a:t>Evítalo en la web</a:t>
            </a:r>
            <a:endParaRPr lang="en-US" sz="1200" dirty="0"/>
          </a:p>
        </p:txBody>
      </p:sp>
      <p:sp>
        <p:nvSpPr>
          <p:cNvPr id="30" name="Shape 28"/>
          <p:cNvSpPr/>
          <p:nvPr/>
        </p:nvSpPr>
        <p:spPr>
          <a:xfrm>
            <a:off x="640080" y="5358384"/>
            <a:ext cx="10927080" cy="484632"/>
          </a:xfrm>
          <a:prstGeom prst="roundRect">
            <a:avLst>
              <a:gd name="adj" fmla="val 18868"/>
            </a:avLst>
          </a:prstGeom>
          <a:solidFill>
            <a:srgbClr val="FFFFFF"/>
          </a:solidFill>
          <a:ln w="12700">
            <a:solidFill>
              <a:srgbClr val="D9F2CC"/>
            </a:solidFill>
            <a:prstDash val="solid"/>
          </a:ln>
        </p:spPr>
      </p:sp>
      <p:sp>
        <p:nvSpPr>
          <p:cNvPr id="31" name="Text 29"/>
          <p:cNvSpPr txBox="1"/>
          <p:nvPr/>
        </p:nvSpPr>
        <p:spPr>
          <a:xfrm>
            <a:off x="914400" y="5358384"/>
            <a:ext cx="1554480" cy="484632"/>
          </a:xfrm>
          <a:prstGeom prst="rect">
            <a:avLst/>
          </a:prstGeom>
          <a:noFill/>
          <a:ln/>
        </p:spPr>
        <p:txBody>
          <a:bodyPr wrap="square" lIns="0" tIns="0" rIns="0" bIns="0" rtlCol="0" anchor="ctr"/>
          <a:lstStyle/>
          <a:p>
            <a:pPr indent="0" marL="0">
              <a:buNone/>
            </a:pPr>
            <a:r>
              <a:rPr lang="en-US" sz="1250" b="1" dirty="0">
                <a:solidFill>
                  <a:srgbClr val="B5462F"/>
                </a:solidFill>
                <a:latin typeface="Consolas" pitchFamily="34" charset="0"/>
                <a:ea typeface="Consolas" pitchFamily="34" charset="-122"/>
                <a:cs typeface="Consolas" pitchFamily="34" charset="-120"/>
              </a:rPr>
              <a:t>.mov · .avi</a:t>
            </a:r>
            <a:endParaRPr lang="en-US" sz="1250" dirty="0"/>
          </a:p>
        </p:txBody>
      </p:sp>
      <p:sp>
        <p:nvSpPr>
          <p:cNvPr id="32" name="Text 30"/>
          <p:cNvSpPr txBox="1"/>
          <p:nvPr/>
        </p:nvSpPr>
        <p:spPr>
          <a:xfrm>
            <a:off x="2468880" y="5358384"/>
            <a:ext cx="4588459" cy="48463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Formatos de cámara y de edición.</a:t>
            </a:r>
            <a:endParaRPr lang="en-US" sz="1200" dirty="0"/>
          </a:p>
        </p:txBody>
      </p:sp>
      <p:sp>
        <p:nvSpPr>
          <p:cNvPr id="33" name="Text 31"/>
          <p:cNvSpPr txBox="1"/>
          <p:nvPr/>
        </p:nvSpPr>
        <p:spPr>
          <a:xfrm>
            <a:off x="7057339" y="5358384"/>
            <a:ext cx="320040" cy="484632"/>
          </a:xfrm>
          <a:prstGeom prst="rect">
            <a:avLst/>
          </a:prstGeom>
          <a:noFill/>
          <a:ln/>
        </p:spPr>
        <p:txBody>
          <a:bodyPr wrap="square" lIns="0" tIns="0" rIns="0" bIns="0" rtlCol="0" anchor="ctr"/>
          <a:lstStyle/>
          <a:p>
            <a:pPr algn="ctr" indent="0" marL="0">
              <a:buNone/>
            </a:pPr>
            <a:r>
              <a:rPr lang="en-US" sz="1200" dirty="0">
                <a:solidFill>
                  <a:srgbClr val="AEB5B3"/>
                </a:solidFill>
                <a:latin typeface="Calibri" pitchFamily="34" charset="0"/>
                <a:ea typeface="Calibri" pitchFamily="34" charset="-122"/>
                <a:cs typeface="Calibri" pitchFamily="34" charset="-120"/>
              </a:rPr>
              <a:t>→</a:t>
            </a:r>
            <a:endParaRPr lang="en-US" sz="1200" dirty="0"/>
          </a:p>
        </p:txBody>
      </p:sp>
      <p:sp>
        <p:nvSpPr>
          <p:cNvPr id="34" name="Text 32"/>
          <p:cNvSpPr txBox="1"/>
          <p:nvPr/>
        </p:nvSpPr>
        <p:spPr>
          <a:xfrm>
            <a:off x="7423099" y="5358384"/>
            <a:ext cx="3915461" cy="484632"/>
          </a:xfrm>
          <a:prstGeom prst="rect">
            <a:avLst/>
          </a:prstGeom>
          <a:noFill/>
          <a:ln/>
        </p:spPr>
        <p:txBody>
          <a:bodyPr wrap="square" lIns="0" tIns="0" rIns="0" bIns="0" rtlCol="0" anchor="ctr"/>
          <a:lstStyle/>
          <a:p>
            <a:pPr indent="0" marL="0">
              <a:buNone/>
            </a:pPr>
            <a:r>
              <a:rPr lang="en-US" sz="1200" dirty="0">
                <a:solidFill>
                  <a:srgbClr val="B5462F"/>
                </a:solidFill>
                <a:latin typeface="Calibri" pitchFamily="34" charset="0"/>
                <a:ea typeface="Calibri" pitchFamily="34" charset="-122"/>
                <a:cs typeface="Calibri" pitchFamily="34" charset="-120"/>
              </a:rPr>
              <a:t>Convierte antes de subir</a:t>
            </a:r>
            <a:endParaRPr lang="en-US" sz="1200" dirty="0"/>
          </a:p>
        </p:txBody>
      </p:sp>
      <p:sp>
        <p:nvSpPr>
          <p:cNvPr id="35" name="Text 33"/>
          <p:cNvSpPr txBox="1"/>
          <p:nvPr/>
        </p:nvSpPr>
        <p:spPr>
          <a:xfrm>
            <a:off x="640080" y="5961888"/>
            <a:ext cx="10927080" cy="256032"/>
          </a:xfrm>
          <a:prstGeom prst="rect">
            <a:avLst/>
          </a:prstGeom>
          <a:noFill/>
          <a:ln/>
        </p:spPr>
        <p:txBody>
          <a:bodyPr wrap="square" lIns="0" tIns="0" rIns="0" bIns="0" rtlCol="0" anchor="ctr"/>
          <a:lstStyle/>
          <a:p>
            <a:pPr algn="ctr" indent="0" marL="0">
              <a:buNone/>
            </a:pPr>
            <a:r>
              <a:rPr lang="en-US" sz="1150" i="1" dirty="0">
                <a:solidFill>
                  <a:srgbClr val="4FB817"/>
                </a:solidFill>
                <a:latin typeface="Calibri" pitchFamily="34" charset="0"/>
                <a:ea typeface="Calibri" pitchFamily="34" charset="-122"/>
                <a:cs typeface="Calibri" pitchFamily="34" charset="-120"/>
              </a:rPr>
              <a:t>Regla práctica: MP4 y MP3 siempre; WebM y OGG como segunda fuente.</a:t>
            </a:r>
            <a:endParaRPr lang="en-US" sz="1150" dirty="0"/>
          </a:p>
        </p:txBody>
      </p:sp>
      <p:sp>
        <p:nvSpPr>
          <p:cNvPr id="36" name="Text 3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17 / 48</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02 · FORMATOS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&lt;source&gt;: varias fuentes para un mismo video</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El navegador recorre la lista y usa la primera que sabe reproducir.</a:t>
            </a:r>
            <a:endParaRPr lang="en-US" sz="1250" dirty="0"/>
          </a:p>
        </p:txBody>
      </p:sp>
      <p:sp>
        <p:nvSpPr>
          <p:cNvPr id="5" name="Shape 3"/>
          <p:cNvSpPr/>
          <p:nvPr/>
        </p:nvSpPr>
        <p:spPr>
          <a:xfrm>
            <a:off x="640080" y="2615184"/>
            <a:ext cx="5943600" cy="2331720"/>
          </a:xfrm>
          <a:prstGeom prst="roundRect">
            <a:avLst>
              <a:gd name="adj" fmla="val 3922"/>
            </a:avLst>
          </a:prstGeom>
          <a:solidFill>
            <a:srgbClr val="2B2B2B"/>
          </a:solidFill>
          <a:ln w="12700">
            <a:solidFill>
              <a:srgbClr val="2B2B2B"/>
            </a:solidFill>
            <a:prstDash val="solid"/>
          </a:ln>
        </p:spPr>
      </p:sp>
      <p:sp>
        <p:nvSpPr>
          <p:cNvPr id="6" name="Text 4"/>
          <p:cNvSpPr txBox="1"/>
          <p:nvPr/>
        </p:nvSpPr>
        <p:spPr>
          <a:xfrm>
            <a:off x="868680" y="2779776"/>
            <a:ext cx="5486400" cy="2002536"/>
          </a:xfrm>
          <a:prstGeom prst="rect">
            <a:avLst/>
          </a:prstGeom>
          <a:noFill/>
          <a:ln/>
        </p:spPr>
        <p:txBody>
          <a:bodyPr wrap="square" lIns="0" tIns="0" rIns="0" bIns="0" rtlCol="0" anchor="t"/>
          <a:lstStyle/>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&lt;video controls width="315" height="560"&gt;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&lt;source</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src="assets/media/video/presentacion.webm"</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type="video/webm"</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&lt;source</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src="assets/media/video/presentacion.mp4"</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type="video/mp4"</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&lt;p&gt;Tu navegador no puede reproducir este video.&lt;/p&gt;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&lt;/video&gt;</a:t>
            </a:r>
            <a:endParaRPr lang="en-US" sz="1100" dirty="0"/>
          </a:p>
        </p:txBody>
      </p:sp>
      <p:sp>
        <p:nvSpPr>
          <p:cNvPr id="7" name="Shape 5"/>
          <p:cNvSpPr/>
          <p:nvPr/>
        </p:nvSpPr>
        <p:spPr>
          <a:xfrm>
            <a:off x="6812280" y="2615184"/>
            <a:ext cx="4754880" cy="713232"/>
          </a:xfrm>
          <a:prstGeom prst="roundRect">
            <a:avLst>
              <a:gd name="adj" fmla="val 12821"/>
            </a:avLst>
          </a:prstGeom>
          <a:solidFill>
            <a:srgbClr val="F7FDF4"/>
          </a:solidFill>
          <a:ln w="12700">
            <a:solidFill>
              <a:srgbClr val="D9F2CC"/>
            </a:solidFill>
            <a:prstDash val="solid"/>
          </a:ln>
        </p:spPr>
      </p:sp>
      <p:sp>
        <p:nvSpPr>
          <p:cNvPr id="8" name="Text 6"/>
          <p:cNvSpPr txBox="1"/>
          <p:nvPr/>
        </p:nvSpPr>
        <p:spPr>
          <a:xfrm>
            <a:off x="7086600" y="2615184"/>
            <a:ext cx="1417320" cy="713232"/>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De arriba abajo</a:t>
            </a:r>
            <a:endParaRPr lang="en-US" sz="1250" dirty="0"/>
          </a:p>
        </p:txBody>
      </p:sp>
      <p:sp>
        <p:nvSpPr>
          <p:cNvPr id="9" name="Text 7"/>
          <p:cNvSpPr txBox="1"/>
          <p:nvPr/>
        </p:nvSpPr>
        <p:spPr>
          <a:xfrm>
            <a:off x="8503920" y="2615184"/>
            <a:ext cx="2788920" cy="713232"/>
          </a:xfrm>
          <a:prstGeom prst="rect">
            <a:avLst/>
          </a:prstGeom>
          <a:noFill/>
          <a:ln/>
        </p:spPr>
        <p:txBody>
          <a:bodyPr wrap="square" lIns="0" tIns="0" rIns="0" bIns="0" rtlCol="0" anchor="ctr"/>
          <a:lstStyle/>
          <a:p>
            <a:pPr indent="0" marL="0">
              <a:buNone/>
            </a:pPr>
            <a:r>
              <a:rPr lang="en-US" sz="1150" dirty="0">
                <a:solidFill>
                  <a:srgbClr val="424242"/>
                </a:solidFill>
                <a:latin typeface="Calibri" pitchFamily="34" charset="0"/>
                <a:ea typeface="Calibri" pitchFamily="34" charset="-122"/>
                <a:cs typeface="Calibri" pitchFamily="34" charset="-120"/>
              </a:rPr>
              <a:t>Usa la primera fuente compatible e ignora las demás.</a:t>
            </a:r>
            <a:endParaRPr lang="en-US" sz="1150" dirty="0"/>
          </a:p>
        </p:txBody>
      </p:sp>
      <p:sp>
        <p:nvSpPr>
          <p:cNvPr id="10" name="Shape 8"/>
          <p:cNvSpPr/>
          <p:nvPr/>
        </p:nvSpPr>
        <p:spPr>
          <a:xfrm>
            <a:off x="6812280" y="3424428"/>
            <a:ext cx="4754880" cy="713232"/>
          </a:xfrm>
          <a:prstGeom prst="roundRect">
            <a:avLst>
              <a:gd name="adj" fmla="val 12821"/>
            </a:avLst>
          </a:prstGeom>
          <a:solidFill>
            <a:srgbClr val="FFFFFF"/>
          </a:solidFill>
          <a:ln w="12700">
            <a:solidFill>
              <a:srgbClr val="D9F2CC"/>
            </a:solidFill>
            <a:prstDash val="solid"/>
          </a:ln>
        </p:spPr>
      </p:sp>
      <p:sp>
        <p:nvSpPr>
          <p:cNvPr id="11" name="Text 9"/>
          <p:cNvSpPr txBox="1"/>
          <p:nvPr/>
        </p:nvSpPr>
        <p:spPr>
          <a:xfrm>
            <a:off x="7086600" y="3424428"/>
            <a:ext cx="1417320" cy="713232"/>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type</a:t>
            </a:r>
            <a:endParaRPr lang="en-US" sz="1250" dirty="0"/>
          </a:p>
        </p:txBody>
      </p:sp>
      <p:sp>
        <p:nvSpPr>
          <p:cNvPr id="12" name="Text 10"/>
          <p:cNvSpPr txBox="1"/>
          <p:nvPr/>
        </p:nvSpPr>
        <p:spPr>
          <a:xfrm>
            <a:off x="8503920" y="3424428"/>
            <a:ext cx="2788920" cy="713232"/>
          </a:xfrm>
          <a:prstGeom prst="rect">
            <a:avLst/>
          </a:prstGeom>
          <a:noFill/>
          <a:ln/>
        </p:spPr>
        <p:txBody>
          <a:bodyPr wrap="square" lIns="0" tIns="0" rIns="0" bIns="0" rtlCol="0" anchor="ctr"/>
          <a:lstStyle/>
          <a:p>
            <a:pPr indent="0" marL="0">
              <a:buNone/>
            </a:pPr>
            <a:r>
              <a:rPr lang="en-US" sz="1150" dirty="0">
                <a:solidFill>
                  <a:srgbClr val="424242"/>
                </a:solidFill>
                <a:latin typeface="Calibri" pitchFamily="34" charset="0"/>
                <a:ea typeface="Calibri" pitchFamily="34" charset="-122"/>
                <a:cs typeface="Calibri" pitchFamily="34" charset="-120"/>
              </a:rPr>
              <a:t>Le permite decidir sin descargar el archivo.</a:t>
            </a:r>
            <a:endParaRPr lang="en-US" sz="1150" dirty="0"/>
          </a:p>
        </p:txBody>
      </p:sp>
      <p:sp>
        <p:nvSpPr>
          <p:cNvPr id="13" name="Shape 11"/>
          <p:cNvSpPr/>
          <p:nvPr/>
        </p:nvSpPr>
        <p:spPr>
          <a:xfrm>
            <a:off x="6812280" y="4233672"/>
            <a:ext cx="4754880" cy="713232"/>
          </a:xfrm>
          <a:prstGeom prst="roundRect">
            <a:avLst>
              <a:gd name="adj" fmla="val 12821"/>
            </a:avLst>
          </a:prstGeom>
          <a:solidFill>
            <a:srgbClr val="F7FDF4"/>
          </a:solidFill>
          <a:ln w="12700">
            <a:solidFill>
              <a:srgbClr val="D9F2CC"/>
            </a:solidFill>
            <a:prstDash val="solid"/>
          </a:ln>
        </p:spPr>
      </p:sp>
      <p:sp>
        <p:nvSpPr>
          <p:cNvPr id="14" name="Text 12"/>
          <p:cNvSpPr txBox="1"/>
          <p:nvPr/>
        </p:nvSpPr>
        <p:spPr>
          <a:xfrm>
            <a:off x="7086600" y="4233672"/>
            <a:ext cx="1417320" cy="713232"/>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El texto final</a:t>
            </a:r>
            <a:endParaRPr lang="en-US" sz="1250" dirty="0"/>
          </a:p>
        </p:txBody>
      </p:sp>
      <p:sp>
        <p:nvSpPr>
          <p:cNvPr id="15" name="Text 13"/>
          <p:cNvSpPr txBox="1"/>
          <p:nvPr/>
        </p:nvSpPr>
        <p:spPr>
          <a:xfrm>
            <a:off x="8503920" y="4233672"/>
            <a:ext cx="2788920" cy="713232"/>
          </a:xfrm>
          <a:prstGeom prst="rect">
            <a:avLst/>
          </a:prstGeom>
          <a:noFill/>
          <a:ln/>
        </p:spPr>
        <p:txBody>
          <a:bodyPr wrap="square" lIns="0" tIns="0" rIns="0" bIns="0" rtlCol="0" anchor="ctr"/>
          <a:lstStyle/>
          <a:p>
            <a:pPr indent="0" marL="0">
              <a:buNone/>
            </a:pPr>
            <a:r>
              <a:rPr lang="en-US" sz="1150" dirty="0">
                <a:solidFill>
                  <a:srgbClr val="424242"/>
                </a:solidFill>
                <a:latin typeface="Calibri" pitchFamily="34" charset="0"/>
                <a:ea typeface="Calibri" pitchFamily="34" charset="-122"/>
                <a:cs typeface="Calibri" pitchFamily="34" charset="-120"/>
              </a:rPr>
              <a:t>Solo aparece en navegadores que no conocen &lt;video&gt;.</a:t>
            </a:r>
            <a:endParaRPr lang="en-US" sz="1150" dirty="0"/>
          </a:p>
        </p:txBody>
      </p:sp>
      <p:sp>
        <p:nvSpPr>
          <p:cNvPr id="16" name="Shape 14"/>
          <p:cNvSpPr/>
          <p:nvPr/>
        </p:nvSpPr>
        <p:spPr>
          <a:xfrm>
            <a:off x="640080" y="5175504"/>
            <a:ext cx="10927080" cy="566928"/>
          </a:xfrm>
          <a:prstGeom prst="roundRect">
            <a:avLst>
              <a:gd name="adj" fmla="val 16129"/>
            </a:avLst>
          </a:prstGeom>
          <a:solidFill>
            <a:srgbClr val="FBF4F2"/>
          </a:solidFill>
          <a:ln w="12700">
            <a:solidFill>
              <a:srgbClr val="F0D8D2"/>
            </a:solidFill>
            <a:prstDash val="solid"/>
          </a:ln>
        </p:spPr>
      </p:sp>
      <p:sp>
        <p:nvSpPr>
          <p:cNvPr id="17" name="Text 15"/>
          <p:cNvSpPr txBox="1"/>
          <p:nvPr/>
        </p:nvSpPr>
        <p:spPr>
          <a:xfrm>
            <a:off x="950976" y="5175504"/>
            <a:ext cx="10305288" cy="566928"/>
          </a:xfrm>
          <a:prstGeom prst="rect">
            <a:avLst/>
          </a:prstGeom>
          <a:noFill/>
          <a:ln/>
        </p:spPr>
        <p:txBody>
          <a:bodyPr wrap="square" lIns="0" tIns="0" rIns="0" bIns="0" rtlCol="0" anchor="ctr"/>
          <a:lstStyle/>
          <a:p>
            <a:pPr indent="0" marL="0">
              <a:lnSpc>
                <a:spcPct val="120000"/>
              </a:lnSpc>
              <a:buNone/>
            </a:pPr>
            <a:r>
              <a:rPr lang="en-US" sz="1200" b="1" dirty="0">
                <a:solidFill>
                  <a:srgbClr val="B5462F"/>
                </a:solidFill>
                <a:latin typeface="Calibri" pitchFamily="34" charset="0"/>
                <a:ea typeface="Calibri" pitchFamily="34" charset="-122"/>
                <a:cs typeface="Calibri" pitchFamily="34" charset="-120"/>
              </a:rPr>
              <a:t>Cuidado:  </a:t>
            </a:r>
            <a:pPr indent="0" marL="0">
              <a:lnSpc>
                <a:spcPct val="120000"/>
              </a:lnSpc>
              <a:buNone/>
            </a:pPr>
            <a:r>
              <a:rPr lang="en-US" sz="1200" dirty="0">
                <a:solidFill>
                  <a:srgbClr val="424242"/>
                </a:solidFill>
                <a:latin typeface="Calibri" pitchFamily="34" charset="0"/>
                <a:ea typeface="Calibri" pitchFamily="34" charset="-122"/>
                <a:cs typeface="Calibri" pitchFamily="34" charset="-120"/>
              </a:rPr>
              <a:t>si usas &lt;source&gt;, la etiqueta &lt;video&gt; ya no lleva el atributo src.</a:t>
            </a:r>
            <a:endParaRPr lang="en-US" sz="1200" dirty="0"/>
          </a:p>
        </p:txBody>
      </p:sp>
      <p:sp>
        <p:nvSpPr>
          <p:cNvPr id="18" name="Text 16"/>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18 / 48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02 · FORMATOS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&lt;audio&gt;: la misma idea, sin imagen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Mismos atributos y mismas fuentes. Solo cambia lo que se ve.</a:t>
            </a:r>
            <a:endParaRPr lang="en-US" sz="1250" dirty="0"/>
          </a:p>
        </p:txBody>
      </p:sp>
      <p:sp>
        <p:nvSpPr>
          <p:cNvPr id="5" name="Shape 3"/>
          <p:cNvSpPr/>
          <p:nvPr/>
        </p:nvSpPr>
        <p:spPr>
          <a:xfrm>
            <a:off x="640080" y="2615184"/>
            <a:ext cx="5943600" cy="2240280"/>
          </a:xfrm>
          <a:prstGeom prst="roundRect">
            <a:avLst>
              <a:gd name="adj" fmla="val 4082"/>
            </a:avLst>
          </a:prstGeom>
          <a:solidFill>
            <a:srgbClr val="2B2B2B"/>
          </a:solidFill>
          <a:ln w="12700">
            <a:solidFill>
              <a:srgbClr val="2B2B2B"/>
            </a:solidFill>
            <a:prstDash val="solid"/>
          </a:ln>
        </p:spPr>
      </p:sp>
      <p:sp>
        <p:nvSpPr>
          <p:cNvPr id="6" name="Text 4"/>
          <p:cNvSpPr txBox="1"/>
          <p:nvPr/>
        </p:nvSpPr>
        <p:spPr>
          <a:xfrm>
            <a:off x="868680" y="2779776"/>
            <a:ext cx="5486400" cy="1911096"/>
          </a:xfrm>
          <a:prstGeom prst="rect">
            <a:avLst/>
          </a:prstGeom>
          <a:noFill/>
          <a:ln/>
        </p:spPr>
        <p:txBody>
          <a:bodyPr wrap="square" lIns="0" tIns="0" rIns="0" bIns="0" rtlCol="0" anchor="t"/>
          <a:lstStyle/>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&lt;audio controls&gt;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&lt;source</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src="assets/media/audio/presentacion.ogg"</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type="audio/ogg"</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&lt;source</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src="assets/media/audio/presentacion.mp3"</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type="audio/mpeg"</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&lt;p&gt;Tu navegador no puede reproducir este audio.&lt;/p&gt;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&lt;/audio&gt;</a:t>
            </a:r>
            <a:endParaRPr lang="en-US" sz="1100" dirty="0"/>
          </a:p>
        </p:txBody>
      </p:sp>
      <p:sp>
        <p:nvSpPr>
          <p:cNvPr id="7" name="Shape 5"/>
          <p:cNvSpPr/>
          <p:nvPr/>
        </p:nvSpPr>
        <p:spPr>
          <a:xfrm>
            <a:off x="6812280" y="2615184"/>
            <a:ext cx="4754880" cy="681228"/>
          </a:xfrm>
          <a:prstGeom prst="roundRect">
            <a:avLst>
              <a:gd name="adj" fmla="val 13423"/>
            </a:avLst>
          </a:prstGeom>
          <a:solidFill>
            <a:srgbClr val="F7FDF4"/>
          </a:solidFill>
          <a:ln w="12700">
            <a:solidFill>
              <a:srgbClr val="D9F2CC"/>
            </a:solidFill>
            <a:prstDash val="solid"/>
          </a:ln>
        </p:spPr>
      </p:sp>
      <p:sp>
        <p:nvSpPr>
          <p:cNvPr id="8" name="Text 6"/>
          <p:cNvSpPr txBox="1"/>
          <p:nvPr/>
        </p:nvSpPr>
        <p:spPr>
          <a:xfrm>
            <a:off x="7086600" y="2615184"/>
            <a:ext cx="1280160" cy="681228"/>
          </a:xfrm>
          <a:prstGeom prst="rect">
            <a:avLst/>
          </a:prstGeom>
          <a:noFill/>
          <a:ln/>
        </p:spPr>
        <p:txBody>
          <a:bodyPr wrap="square" lIns="0" tIns="0" rIns="0" bIns="0" rtlCol="0" anchor="ctr"/>
          <a:lstStyle/>
          <a:p>
            <a:pPr indent="0" marL="0">
              <a:buNone/>
            </a:pPr>
            <a:r>
              <a:rPr lang="en-US" sz="1200" b="1" dirty="0">
                <a:solidFill>
                  <a:srgbClr val="4FB817"/>
                </a:solidFill>
                <a:latin typeface="Consolas" pitchFamily="34" charset="0"/>
                <a:ea typeface="Consolas" pitchFamily="34" charset="-122"/>
                <a:cs typeface="Consolas" pitchFamily="34" charset="-120"/>
              </a:rPr>
              <a:t>audio/mpeg</a:t>
            </a:r>
            <a:endParaRPr lang="en-US" sz="1200" dirty="0"/>
          </a:p>
        </p:txBody>
      </p:sp>
      <p:sp>
        <p:nvSpPr>
          <p:cNvPr id="9" name="Text 7"/>
          <p:cNvSpPr txBox="1"/>
          <p:nvPr/>
        </p:nvSpPr>
        <p:spPr>
          <a:xfrm>
            <a:off x="8366760" y="2615184"/>
            <a:ext cx="2926080" cy="681228"/>
          </a:xfrm>
          <a:prstGeom prst="rect">
            <a:avLst/>
          </a:prstGeom>
          <a:noFill/>
          <a:ln/>
        </p:spPr>
        <p:txBody>
          <a:bodyPr wrap="square" lIns="0" tIns="0" rIns="0" bIns="0" rtlCol="0" anchor="ctr"/>
          <a:lstStyle/>
          <a:p>
            <a:pPr indent="0" marL="0">
              <a:buNone/>
            </a:pPr>
            <a:r>
              <a:rPr lang="en-US" sz="1150" dirty="0">
                <a:solidFill>
                  <a:srgbClr val="424242"/>
                </a:solidFill>
                <a:latin typeface="Calibri" pitchFamily="34" charset="0"/>
                <a:ea typeface="Calibri" pitchFamily="34" charset="-122"/>
                <a:cs typeface="Calibri" pitchFamily="34" charset="-120"/>
              </a:rPr>
              <a:t>Es el type del MP3. Escribir audio/mp3 es un error frecuente.</a:t>
            </a:r>
            <a:endParaRPr lang="en-US" sz="1150" dirty="0"/>
          </a:p>
        </p:txBody>
      </p:sp>
      <p:sp>
        <p:nvSpPr>
          <p:cNvPr id="10" name="Shape 8"/>
          <p:cNvSpPr/>
          <p:nvPr/>
        </p:nvSpPr>
        <p:spPr>
          <a:xfrm>
            <a:off x="6812280" y="3394253"/>
            <a:ext cx="4754880" cy="681228"/>
          </a:xfrm>
          <a:prstGeom prst="roundRect">
            <a:avLst>
              <a:gd name="adj" fmla="val 13423"/>
            </a:avLst>
          </a:prstGeom>
          <a:solidFill>
            <a:srgbClr val="FFFFFF"/>
          </a:solidFill>
          <a:ln w="12700">
            <a:solidFill>
              <a:srgbClr val="D9F2CC"/>
            </a:solidFill>
            <a:prstDash val="solid"/>
          </a:ln>
        </p:spPr>
      </p:sp>
      <p:sp>
        <p:nvSpPr>
          <p:cNvPr id="11" name="Text 9"/>
          <p:cNvSpPr txBox="1"/>
          <p:nvPr/>
        </p:nvSpPr>
        <p:spPr>
          <a:xfrm>
            <a:off x="7086600" y="3394253"/>
            <a:ext cx="1280160" cy="681228"/>
          </a:xfrm>
          <a:prstGeom prst="rect">
            <a:avLst/>
          </a:prstGeom>
          <a:noFill/>
          <a:ln/>
        </p:spPr>
        <p:txBody>
          <a:bodyPr wrap="square" lIns="0" tIns="0" rIns="0" bIns="0" rtlCol="0" anchor="ctr"/>
          <a:lstStyle/>
          <a:p>
            <a:pPr indent="0" marL="0">
              <a:buNone/>
            </a:pPr>
            <a:r>
              <a:rPr lang="en-US" sz="1200" b="1" dirty="0">
                <a:solidFill>
                  <a:srgbClr val="4FB817"/>
                </a:solidFill>
                <a:latin typeface="Consolas" pitchFamily="34" charset="0"/>
                <a:ea typeface="Consolas" pitchFamily="34" charset="-122"/>
                <a:cs typeface="Consolas" pitchFamily="34" charset="-120"/>
              </a:rPr>
              <a:t>controls</a:t>
            </a:r>
            <a:endParaRPr lang="en-US" sz="1200" dirty="0"/>
          </a:p>
        </p:txBody>
      </p:sp>
      <p:sp>
        <p:nvSpPr>
          <p:cNvPr id="12" name="Text 10"/>
          <p:cNvSpPr txBox="1"/>
          <p:nvPr/>
        </p:nvSpPr>
        <p:spPr>
          <a:xfrm>
            <a:off x="8366760" y="3394253"/>
            <a:ext cx="2926080" cy="681228"/>
          </a:xfrm>
          <a:prstGeom prst="rect">
            <a:avLst/>
          </a:prstGeom>
          <a:noFill/>
          <a:ln/>
        </p:spPr>
        <p:txBody>
          <a:bodyPr wrap="square" lIns="0" tIns="0" rIns="0" bIns="0" rtlCol="0" anchor="ctr"/>
          <a:lstStyle/>
          <a:p>
            <a:pPr indent="0" marL="0">
              <a:buNone/>
            </a:pPr>
            <a:r>
              <a:rPr lang="en-US" sz="1150" dirty="0">
                <a:solidFill>
                  <a:srgbClr val="424242"/>
                </a:solidFill>
                <a:latin typeface="Calibri" pitchFamily="34" charset="0"/>
                <a:ea typeface="Calibri" pitchFamily="34" charset="-122"/>
                <a:cs typeface="Calibri" pitchFamily="34" charset="-120"/>
              </a:rPr>
              <a:t>Sin él, el audio no se ve: no ocupa espacio en la página.</a:t>
            </a:r>
            <a:endParaRPr lang="en-US" sz="1150" dirty="0"/>
          </a:p>
        </p:txBody>
      </p:sp>
      <p:sp>
        <p:nvSpPr>
          <p:cNvPr id="13" name="Shape 11"/>
          <p:cNvSpPr/>
          <p:nvPr/>
        </p:nvSpPr>
        <p:spPr>
          <a:xfrm>
            <a:off x="6812280" y="4173322"/>
            <a:ext cx="4754880" cy="681228"/>
          </a:xfrm>
          <a:prstGeom prst="roundRect">
            <a:avLst>
              <a:gd name="adj" fmla="val 13423"/>
            </a:avLst>
          </a:prstGeom>
          <a:solidFill>
            <a:srgbClr val="F7FDF4"/>
          </a:solidFill>
          <a:ln w="12700">
            <a:solidFill>
              <a:srgbClr val="D9F2CC"/>
            </a:solidFill>
            <a:prstDash val="solid"/>
          </a:ln>
        </p:spPr>
      </p:sp>
      <p:sp>
        <p:nvSpPr>
          <p:cNvPr id="14" name="Text 12"/>
          <p:cNvSpPr txBox="1"/>
          <p:nvPr/>
        </p:nvSpPr>
        <p:spPr>
          <a:xfrm>
            <a:off x="7086600" y="4173322"/>
            <a:ext cx="1280160" cy="681228"/>
          </a:xfrm>
          <a:prstGeom prst="rect">
            <a:avLst/>
          </a:prstGeom>
          <a:noFill/>
          <a:ln/>
        </p:spPr>
        <p:txBody>
          <a:bodyPr wrap="square" lIns="0" tIns="0" rIns="0" bIns="0" rtlCol="0" anchor="ctr"/>
          <a:lstStyle/>
          <a:p>
            <a:pPr indent="0" marL="0">
              <a:buNone/>
            </a:pPr>
            <a:r>
              <a:rPr lang="en-US" sz="1200" b="1" dirty="0">
                <a:solidFill>
                  <a:srgbClr val="4FB817"/>
                </a:solidFill>
                <a:latin typeface="Calibri" pitchFamily="34" charset="0"/>
                <a:ea typeface="Calibri" pitchFamily="34" charset="-122"/>
                <a:cs typeface="Calibri" pitchFamily="34" charset="-120"/>
              </a:rPr>
              <a:t>Texto final</a:t>
            </a:r>
            <a:endParaRPr lang="en-US" sz="1200" dirty="0"/>
          </a:p>
        </p:txBody>
      </p:sp>
      <p:sp>
        <p:nvSpPr>
          <p:cNvPr id="15" name="Text 13"/>
          <p:cNvSpPr txBox="1"/>
          <p:nvPr/>
        </p:nvSpPr>
        <p:spPr>
          <a:xfrm>
            <a:off x="8366760" y="4173322"/>
            <a:ext cx="2926080" cy="681228"/>
          </a:xfrm>
          <a:prstGeom prst="rect">
            <a:avLst/>
          </a:prstGeom>
          <a:noFill/>
          <a:ln/>
        </p:spPr>
        <p:txBody>
          <a:bodyPr wrap="square" lIns="0" tIns="0" rIns="0" bIns="0" rtlCol="0" anchor="ctr"/>
          <a:lstStyle/>
          <a:p>
            <a:pPr indent="0" marL="0">
              <a:buNone/>
            </a:pPr>
            <a:r>
              <a:rPr lang="en-US" sz="1150" dirty="0">
                <a:solidFill>
                  <a:srgbClr val="424242"/>
                </a:solidFill>
                <a:latin typeface="Calibri" pitchFamily="34" charset="0"/>
                <a:ea typeface="Calibri" pitchFamily="34" charset="-122"/>
                <a:cs typeface="Calibri" pitchFamily="34" charset="-120"/>
              </a:rPr>
              <a:t>Buen lugar para un enlace de descarga del archivo.</a:t>
            </a:r>
            <a:endParaRPr lang="en-US" sz="1150" dirty="0"/>
          </a:p>
        </p:txBody>
      </p:sp>
      <p:sp>
        <p:nvSpPr>
          <p:cNvPr id="16" name="Shape 14"/>
          <p:cNvSpPr/>
          <p:nvPr/>
        </p:nvSpPr>
        <p:spPr>
          <a:xfrm>
            <a:off x="640080" y="5010912"/>
            <a:ext cx="10927080" cy="1042416"/>
          </a:xfrm>
          <a:prstGeom prst="roundRect">
            <a:avLst>
              <a:gd name="adj" fmla="val 8772"/>
            </a:avLst>
          </a:prstGeom>
          <a:solidFill>
            <a:srgbClr val="EAFAFB"/>
          </a:solidFill>
          <a:ln w="12700">
            <a:solidFill>
              <a:srgbClr val="BFEAEE"/>
            </a:solidFill>
            <a:prstDash val="solid"/>
          </a:ln>
        </p:spPr>
      </p:sp>
      <p:sp>
        <p:nvSpPr>
          <p:cNvPr id="17" name="Text 15"/>
          <p:cNvSpPr txBox="1"/>
          <p:nvPr/>
        </p:nvSpPr>
        <p:spPr>
          <a:xfrm>
            <a:off x="950976" y="5138928"/>
            <a:ext cx="10305288" cy="310896"/>
          </a:xfrm>
          <a:prstGeom prst="rect">
            <a:avLst/>
          </a:prstGeom>
          <a:noFill/>
          <a:ln/>
        </p:spPr>
        <p:txBody>
          <a:bodyPr wrap="square" lIns="0" tIns="0" rIns="0" bIns="0" rtlCol="0" anchor="ctr"/>
          <a:lstStyle/>
          <a:p>
            <a:pPr algn="l" indent="0" marL="0">
              <a:buNone/>
            </a:pPr>
            <a:r>
              <a:rPr lang="en-US" sz="1400" b="1" dirty="0">
                <a:solidFill>
                  <a:srgbClr val="1E9AA3"/>
                </a:solidFill>
                <a:latin typeface="Calibri" pitchFamily="34" charset="0"/>
                <a:ea typeface="Calibri" pitchFamily="34" charset="-122"/>
                <a:cs typeface="Calibri" pitchFamily="34" charset="-120"/>
              </a:rPr>
              <a:t>En tu portafolio</a:t>
            </a:r>
            <a:endParaRPr lang="en-US" sz="1400" dirty="0"/>
          </a:p>
        </p:txBody>
      </p:sp>
      <p:sp>
        <p:nvSpPr>
          <p:cNvPr id="18" name="Text 16"/>
          <p:cNvSpPr txBox="1"/>
          <p:nvPr/>
        </p:nvSpPr>
        <p:spPr>
          <a:xfrm>
            <a:off x="950976" y="5504688"/>
            <a:ext cx="10305288" cy="471830"/>
          </a:xfrm>
          <a:prstGeom prst="rect">
            <a:avLst/>
          </a:prstGeom>
          <a:noFill/>
          <a:ln/>
        </p:spPr>
        <p:txBody>
          <a:bodyPr wrap="square" lIns="0" tIns="0" rIns="0" bIns="0" rtlCol="0" anchor="t"/>
          <a:lstStyle/>
          <a:p>
            <a:pPr algn="l" indent="0" marL="0">
              <a:lnSpc>
                <a:spcPct val="125000"/>
              </a:lnSpc>
              <a:buNone/>
            </a:pPr>
            <a:r>
              <a:rPr lang="en-US" sz="1200" dirty="0">
                <a:solidFill>
                  <a:srgbClr val="424242"/>
                </a:solidFill>
                <a:latin typeface="Calibri" pitchFamily="34" charset="0"/>
                <a:ea typeface="Calibri" pitchFamily="34" charset="-122"/>
                <a:cs typeface="Calibri" pitchFamily="34" charset="-120"/>
              </a:rPr>
              <a:t>Tu sobre-mi.html ya tiene un &lt;audio&gt;, pero la carpeta assets/media/audio está vacía: el reproductor aparece y no suena. Todo archivo que el HTML menciona debe existir en esa ruta.</a:t>
            </a:r>
            <a:endParaRPr lang="en-US" sz="1200" dirty="0"/>
          </a:p>
        </p:txBody>
      </p:sp>
      <p:sp>
        <p:nvSpPr>
          <p:cNvPr id="19" name="Text 1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19 / 48</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1664208"/>
            <a:ext cx="5623560" cy="1024128"/>
          </a:xfrm>
          <a:prstGeom prst="roundRect">
            <a:avLst>
              <a:gd name="adj" fmla="val 50000"/>
            </a:avLst>
          </a:prstGeom>
          <a:solidFill>
            <a:srgbClr val="72EF29"/>
          </a:solidFill>
          <a:ln w="12700">
            <a:solidFill>
              <a:srgbClr val="72EF29"/>
            </a:solidFill>
            <a:prstDash val="solid"/>
          </a:ln>
        </p:spPr>
      </p:sp>
      <p:sp>
        <p:nvSpPr>
          <p:cNvPr id="3" name="Shape 1"/>
          <p:cNvSpPr/>
          <p:nvPr/>
        </p:nvSpPr>
        <p:spPr>
          <a:xfrm>
            <a:off x="-548640" y="1517904"/>
            <a:ext cx="5349240" cy="1024128"/>
          </a:xfrm>
          <a:prstGeom prst="roundRect">
            <a:avLst>
              <a:gd name="adj" fmla="val 50000"/>
            </a:avLst>
          </a:prstGeom>
          <a:solidFill>
            <a:srgbClr val="36C4CC"/>
          </a:solidFill>
          <a:ln w="12700">
            <a:solidFill>
              <a:srgbClr val="36C4CC"/>
            </a:solidFill>
            <a:prstDash val="solid"/>
          </a:ln>
        </p:spPr>
      </p:sp>
      <p:sp>
        <p:nvSpPr>
          <p:cNvPr id="4" name="Text 2"/>
          <p:cNvSpPr txBox="1"/>
          <p:nvPr/>
        </p:nvSpPr>
        <p:spPr>
          <a:xfrm>
            <a:off x="274320" y="1517904"/>
            <a:ext cx="4297680" cy="10241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Atributos y rendimiento</a:t>
            </a:r>
            <a:endParaRPr lang="en-US" sz="2000" dirty="0"/>
          </a:p>
        </p:txBody>
      </p:sp>
      <p:sp>
        <p:nvSpPr>
          <p:cNvPr id="5" name="Text 3"/>
          <p:cNvSpPr txBox="1"/>
          <p:nvPr/>
        </p:nvSpPr>
        <p:spPr>
          <a:xfrm>
            <a:off x="274320" y="2834640"/>
            <a:ext cx="4297680" cy="256032"/>
          </a:xfrm>
          <a:prstGeom prst="rect">
            <a:avLst/>
          </a:prstGeom>
          <a:noFill/>
          <a:ln/>
        </p:spPr>
        <p:txBody>
          <a:bodyPr wrap="square" lIns="0" tIns="0" rIns="0" bIns="0" rtlCol="0" anchor="ctr"/>
          <a:lstStyle/>
          <a:p>
            <a:pPr algn="ctr" indent="0" marL="0">
              <a:buNone/>
            </a:pPr>
            <a:r>
              <a:rPr lang="en-US" sz="1100" b="1" spc="400" kern="0" dirty="0">
                <a:solidFill>
                  <a:srgbClr val="1E9AA3"/>
                </a:solidFill>
                <a:latin typeface="Calibri" pitchFamily="34" charset="0"/>
                <a:ea typeface="Calibri" pitchFamily="34" charset="-122"/>
                <a:cs typeface="Calibri" pitchFamily="34" charset="-120"/>
              </a:rPr>
              <a:t>BLOQUE 03</a:t>
            </a:r>
            <a:endParaRPr lang="en-US" sz="1100" dirty="0"/>
          </a:p>
        </p:txBody>
      </p:sp>
      <p:sp>
        <p:nvSpPr>
          <p:cNvPr id="6" name="Text 4"/>
          <p:cNvSpPr txBox="1"/>
          <p:nvPr/>
        </p:nvSpPr>
        <p:spPr>
          <a:xfrm>
            <a:off x="685800" y="3346704"/>
            <a:ext cx="3657600" cy="237744"/>
          </a:xfrm>
          <a:prstGeom prst="rect">
            <a:avLst/>
          </a:prstGeom>
          <a:noFill/>
          <a:ln/>
        </p:spPr>
        <p:txBody>
          <a:bodyPr wrap="square" lIns="0" tIns="0" rIns="0" bIns="0" rtlCol="0" anchor="ctr"/>
          <a:lstStyle/>
          <a:p>
            <a:pPr indent="0" marL="0">
              <a:buNone/>
            </a:pPr>
            <a:r>
              <a:rPr lang="en-US" sz="1050" b="1" spc="150" kern="0" dirty="0">
                <a:solidFill>
                  <a:srgbClr val="6E7673"/>
                </a:solidFill>
                <a:latin typeface="Calibri" pitchFamily="34" charset="0"/>
                <a:ea typeface="Calibri" pitchFamily="34" charset="-122"/>
                <a:cs typeface="Calibri" pitchFamily="34" charset="-120"/>
              </a:rPr>
              <a:t>En este bloque</a:t>
            </a:r>
            <a:endParaRPr lang="en-US" sz="1050" dirty="0"/>
          </a:p>
        </p:txBody>
      </p:sp>
      <p:sp>
        <p:nvSpPr>
          <p:cNvPr id="7" name="Shape 5"/>
          <p:cNvSpPr/>
          <p:nvPr/>
        </p:nvSpPr>
        <p:spPr>
          <a:xfrm>
            <a:off x="685800" y="3657600"/>
            <a:ext cx="5577840" cy="475488"/>
          </a:xfrm>
          <a:prstGeom prst="roundRect">
            <a:avLst>
              <a:gd name="adj" fmla="val 50000"/>
            </a:avLst>
          </a:prstGeom>
          <a:solidFill>
            <a:srgbClr val="F0FCE8"/>
          </a:solidFill>
          <a:ln w="12700">
            <a:solidFill>
              <a:srgbClr val="F0FCE8"/>
            </a:solidFill>
            <a:prstDash val="solid"/>
          </a:ln>
        </p:spPr>
      </p:sp>
      <p:sp>
        <p:nvSpPr>
          <p:cNvPr id="8" name="Shape 6"/>
          <p:cNvSpPr/>
          <p:nvPr/>
        </p:nvSpPr>
        <p:spPr>
          <a:xfrm>
            <a:off x="685800" y="3657600"/>
            <a:ext cx="667512" cy="475488"/>
          </a:xfrm>
          <a:prstGeom prst="roundRect">
            <a:avLst>
              <a:gd name="adj" fmla="val 50000"/>
            </a:avLst>
          </a:prstGeom>
          <a:solidFill>
            <a:srgbClr val="36C4CC"/>
          </a:solidFill>
          <a:ln w="12700">
            <a:solidFill>
              <a:srgbClr val="36C4CC"/>
            </a:solidFill>
            <a:prstDash val="solid"/>
          </a:ln>
        </p:spPr>
      </p:sp>
      <p:sp>
        <p:nvSpPr>
          <p:cNvPr id="9" name="Text 7"/>
          <p:cNvSpPr txBox="1"/>
          <p:nvPr/>
        </p:nvSpPr>
        <p:spPr>
          <a:xfrm>
            <a:off x="1481328" y="365760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Atributos de reproducción</a:t>
            </a:r>
            <a:endParaRPr lang="en-US" sz="1200" dirty="0"/>
          </a:p>
        </p:txBody>
      </p:sp>
      <p:sp>
        <p:nvSpPr>
          <p:cNvPr id="10" name="Shape 8"/>
          <p:cNvSpPr/>
          <p:nvPr/>
        </p:nvSpPr>
        <p:spPr>
          <a:xfrm>
            <a:off x="685800" y="4206240"/>
            <a:ext cx="5577840" cy="475488"/>
          </a:xfrm>
          <a:prstGeom prst="roundRect">
            <a:avLst>
              <a:gd name="adj" fmla="val 50000"/>
            </a:avLst>
          </a:prstGeom>
          <a:solidFill>
            <a:srgbClr val="F0FCE8"/>
          </a:solidFill>
          <a:ln w="12700">
            <a:solidFill>
              <a:srgbClr val="F0FCE8"/>
            </a:solidFill>
            <a:prstDash val="solid"/>
          </a:ln>
        </p:spPr>
      </p:sp>
      <p:sp>
        <p:nvSpPr>
          <p:cNvPr id="11" name="Shape 9"/>
          <p:cNvSpPr/>
          <p:nvPr/>
        </p:nvSpPr>
        <p:spPr>
          <a:xfrm>
            <a:off x="685800" y="4206240"/>
            <a:ext cx="667512" cy="475488"/>
          </a:xfrm>
          <a:prstGeom prst="roundRect">
            <a:avLst>
              <a:gd name="adj" fmla="val 50000"/>
            </a:avLst>
          </a:prstGeom>
          <a:solidFill>
            <a:srgbClr val="36C4CC"/>
          </a:solidFill>
          <a:ln w="12700">
            <a:solidFill>
              <a:srgbClr val="36C4CC"/>
            </a:solidFill>
            <a:prstDash val="solid"/>
          </a:ln>
        </p:spPr>
      </p:sp>
      <p:sp>
        <p:nvSpPr>
          <p:cNvPr id="12" name="Text 10"/>
          <p:cNvSpPr txBox="1"/>
          <p:nvPr/>
        </p:nvSpPr>
        <p:spPr>
          <a:xfrm>
            <a:off x="1481328" y="420624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autoplay y sus reglas</a:t>
            </a:r>
            <a:endParaRPr lang="en-US" sz="1200" dirty="0"/>
          </a:p>
        </p:txBody>
      </p:sp>
      <p:sp>
        <p:nvSpPr>
          <p:cNvPr id="13" name="Shape 11"/>
          <p:cNvSpPr/>
          <p:nvPr/>
        </p:nvSpPr>
        <p:spPr>
          <a:xfrm>
            <a:off x="685800" y="4754880"/>
            <a:ext cx="5577840" cy="475488"/>
          </a:xfrm>
          <a:prstGeom prst="roundRect">
            <a:avLst>
              <a:gd name="adj" fmla="val 50000"/>
            </a:avLst>
          </a:prstGeom>
          <a:solidFill>
            <a:srgbClr val="F0FCE8"/>
          </a:solidFill>
          <a:ln w="12700">
            <a:solidFill>
              <a:srgbClr val="F0FCE8"/>
            </a:solidFill>
            <a:prstDash val="solid"/>
          </a:ln>
        </p:spPr>
      </p:sp>
      <p:sp>
        <p:nvSpPr>
          <p:cNvPr id="14" name="Shape 12"/>
          <p:cNvSpPr/>
          <p:nvPr/>
        </p:nvSpPr>
        <p:spPr>
          <a:xfrm>
            <a:off x="685800" y="4754880"/>
            <a:ext cx="667512" cy="475488"/>
          </a:xfrm>
          <a:prstGeom prst="roundRect">
            <a:avLst>
              <a:gd name="adj" fmla="val 50000"/>
            </a:avLst>
          </a:prstGeom>
          <a:solidFill>
            <a:srgbClr val="36C4CC"/>
          </a:solidFill>
          <a:ln w="12700">
            <a:solidFill>
              <a:srgbClr val="36C4CC"/>
            </a:solidFill>
            <a:prstDash val="solid"/>
          </a:ln>
        </p:spPr>
      </p:sp>
      <p:sp>
        <p:nvSpPr>
          <p:cNvPr id="15" name="Text 13"/>
          <p:cNvSpPr txBox="1"/>
          <p:nvPr/>
        </p:nvSpPr>
        <p:spPr>
          <a:xfrm>
            <a:off x="1481328" y="475488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poster, preload y proporción</a:t>
            </a:r>
            <a:endParaRPr lang="en-US" sz="1200" dirty="0"/>
          </a:p>
        </p:txBody>
      </p:sp>
      <p:sp>
        <p:nvSpPr>
          <p:cNvPr id="16" name="Shape 14"/>
          <p:cNvSpPr/>
          <p:nvPr/>
        </p:nvSpPr>
        <p:spPr>
          <a:xfrm>
            <a:off x="685800" y="5303520"/>
            <a:ext cx="5577840" cy="475488"/>
          </a:xfrm>
          <a:prstGeom prst="roundRect">
            <a:avLst>
              <a:gd name="adj" fmla="val 50000"/>
            </a:avLst>
          </a:prstGeom>
          <a:solidFill>
            <a:srgbClr val="F0FCE8"/>
          </a:solidFill>
          <a:ln w="12700">
            <a:solidFill>
              <a:srgbClr val="F0FCE8"/>
            </a:solidFill>
            <a:prstDash val="solid"/>
          </a:ln>
        </p:spPr>
      </p:sp>
      <p:sp>
        <p:nvSpPr>
          <p:cNvPr id="17" name="Shape 15"/>
          <p:cNvSpPr/>
          <p:nvPr/>
        </p:nvSpPr>
        <p:spPr>
          <a:xfrm>
            <a:off x="685800" y="5303520"/>
            <a:ext cx="667512" cy="475488"/>
          </a:xfrm>
          <a:prstGeom prst="roundRect">
            <a:avLst>
              <a:gd name="adj" fmla="val 50000"/>
            </a:avLst>
          </a:prstGeom>
          <a:solidFill>
            <a:srgbClr val="36C4CC"/>
          </a:solidFill>
          <a:ln w="12700">
            <a:solidFill>
              <a:srgbClr val="36C4CC"/>
            </a:solidFill>
            <a:prstDash val="solid"/>
          </a:ln>
        </p:spPr>
      </p:sp>
      <p:sp>
        <p:nvSpPr>
          <p:cNvPr id="18" name="Text 16"/>
          <p:cNvSpPr txBox="1"/>
          <p:nvPr/>
        </p:nvSpPr>
        <p:spPr>
          <a:xfrm>
            <a:off x="1481328" y="530352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El peso de tu video</a:t>
            </a:r>
            <a:endParaRPr lang="en-US" sz="1200" dirty="0"/>
          </a:p>
        </p:txBody>
      </p:sp>
      <p:sp>
        <p:nvSpPr>
          <p:cNvPr id="19" name="Shape 17"/>
          <p:cNvSpPr/>
          <p:nvPr/>
        </p:nvSpPr>
        <p:spPr>
          <a:xfrm>
            <a:off x="685800" y="5852160"/>
            <a:ext cx="5577840" cy="475488"/>
          </a:xfrm>
          <a:prstGeom prst="roundRect">
            <a:avLst>
              <a:gd name="adj" fmla="val 50000"/>
            </a:avLst>
          </a:prstGeom>
          <a:solidFill>
            <a:srgbClr val="F0FCE8"/>
          </a:solidFill>
          <a:ln w="12700">
            <a:solidFill>
              <a:srgbClr val="F0FCE8"/>
            </a:solidFill>
            <a:prstDash val="solid"/>
          </a:ln>
        </p:spPr>
      </p:sp>
      <p:sp>
        <p:nvSpPr>
          <p:cNvPr id="20" name="Shape 18"/>
          <p:cNvSpPr/>
          <p:nvPr/>
        </p:nvSpPr>
        <p:spPr>
          <a:xfrm>
            <a:off x="685800" y="5852160"/>
            <a:ext cx="667512" cy="475488"/>
          </a:xfrm>
          <a:prstGeom prst="roundRect">
            <a:avLst>
              <a:gd name="adj" fmla="val 50000"/>
            </a:avLst>
          </a:prstGeom>
          <a:solidFill>
            <a:srgbClr val="36C4CC"/>
          </a:solidFill>
          <a:ln w="12700">
            <a:solidFill>
              <a:srgbClr val="36C4CC"/>
            </a:solidFill>
            <a:prstDash val="solid"/>
          </a:ln>
        </p:spPr>
      </p:sp>
      <p:sp>
        <p:nvSpPr>
          <p:cNvPr id="21" name="Text 19"/>
          <p:cNvSpPr txBox="1"/>
          <p:nvPr/>
        </p:nvSpPr>
        <p:spPr>
          <a:xfrm>
            <a:off x="1481328" y="585216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El iframe y las rutas</a:t>
            </a:r>
            <a:endParaRPr lang="en-US" sz="1200" dirty="0"/>
          </a:p>
        </p:txBody>
      </p:sp>
      <p:sp>
        <p:nvSpPr>
          <p:cNvPr id="22" name="Shape 20"/>
          <p:cNvSpPr/>
          <p:nvPr/>
        </p:nvSpPr>
        <p:spPr>
          <a:xfrm>
            <a:off x="6766560" y="1234440"/>
            <a:ext cx="5166360" cy="5257800"/>
          </a:xfrm>
          <a:prstGeom prst="roundRect">
            <a:avLst>
              <a:gd name="adj" fmla="val 3894"/>
            </a:avLst>
          </a:prstGeom>
          <a:solidFill>
            <a:srgbClr val="FFFFFF"/>
          </a:solidFill>
          <a:ln w="28575">
            <a:solidFill>
              <a:srgbClr val="36C4CC"/>
            </a:solidFill>
            <a:prstDash val="solid"/>
          </a:ln>
        </p:spPr>
      </p:sp>
      <p:pic>
        <p:nvPicPr>
          <p:cNvPr id="23" name="Image 0" descr="Persona programando frente a un monitor">    </p:cNvPr>
          <p:cNvPicPr>
            <a:picLocks noChangeAspect="1"/>
          </p:cNvPicPr>
          <p:nvPr/>
        </p:nvPicPr>
        <p:blipFill>
          <a:blip r:embed="rId1"/>
          <a:srcRect l="0" r="0" t="0" b="0"/>
          <a:stretch/>
        </p:blipFill>
        <p:spPr>
          <a:xfrm>
            <a:off x="6903720" y="1362456"/>
            <a:ext cx="4892040" cy="5001768"/>
          </a:xfrm>
          <a:prstGeom prst="rect">
            <a:avLst/>
          </a:prstGeom>
        </p:spPr>
      </p:pic>
      <p:sp>
        <p:nvSpPr>
          <p:cNvPr id="24" name="Shape 21"/>
          <p:cNvSpPr/>
          <p:nvPr/>
        </p:nvSpPr>
        <p:spPr>
          <a:xfrm>
            <a:off x="6528816" y="978408"/>
            <a:ext cx="804672" cy="804672"/>
          </a:xfrm>
          <a:prstGeom prst="ellipse">
            <a:avLst/>
          </a:prstGeom>
          <a:solidFill>
            <a:srgbClr val="72EF29"/>
          </a:solidFill>
          <a:ln w="38100">
            <a:solidFill>
              <a:srgbClr val="FFFFFF"/>
            </a:solidFill>
            <a:prstDash val="solid"/>
          </a:ln>
        </p:spPr>
      </p:sp>
      <p:sp>
        <p:nvSpPr>
          <p:cNvPr id="25" name="Text 22"/>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20 / 48</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03 · ATRIBUTOS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Atributos de reproducción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Son booleanos: basta con escribirlos, no llevan valor.</a:t>
            </a:r>
            <a:endParaRPr lang="en-US" sz="1250" dirty="0"/>
          </a:p>
        </p:txBody>
      </p:sp>
      <p:sp>
        <p:nvSpPr>
          <p:cNvPr id="5" name="Shape 3"/>
          <p:cNvSpPr/>
          <p:nvPr/>
        </p:nvSpPr>
        <p:spPr>
          <a:xfrm>
            <a:off x="640080" y="2615184"/>
            <a:ext cx="10927080" cy="548640"/>
          </a:xfrm>
          <a:prstGeom prst="roundRect">
            <a:avLst>
              <a:gd name="adj" fmla="val 16667"/>
            </a:avLst>
          </a:prstGeom>
          <a:solidFill>
            <a:srgbClr val="F7FDF4"/>
          </a:solidFill>
          <a:ln w="12700">
            <a:solidFill>
              <a:srgbClr val="D9F2CC"/>
            </a:solidFill>
            <a:prstDash val="solid"/>
          </a:ln>
        </p:spPr>
      </p:sp>
      <p:sp>
        <p:nvSpPr>
          <p:cNvPr id="6" name="Text 4"/>
          <p:cNvSpPr txBox="1"/>
          <p:nvPr/>
        </p:nvSpPr>
        <p:spPr>
          <a:xfrm>
            <a:off x="914400" y="2615184"/>
            <a:ext cx="2011680" cy="548640"/>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controls</a:t>
            </a:r>
            <a:endParaRPr lang="en-US" sz="1250" dirty="0"/>
          </a:p>
        </p:txBody>
      </p:sp>
      <p:sp>
        <p:nvSpPr>
          <p:cNvPr id="7" name="Text 5"/>
          <p:cNvSpPr txBox="1"/>
          <p:nvPr/>
        </p:nvSpPr>
        <p:spPr>
          <a:xfrm>
            <a:off x="2926080" y="2615184"/>
            <a:ext cx="8366760" cy="548640"/>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Muestra los botones del navegador: reproducir, volumen y pantalla completa.</a:t>
            </a:r>
            <a:endParaRPr lang="en-US" sz="1200" dirty="0"/>
          </a:p>
        </p:txBody>
      </p:sp>
      <p:sp>
        <p:nvSpPr>
          <p:cNvPr id="8" name="Shape 6"/>
          <p:cNvSpPr/>
          <p:nvPr/>
        </p:nvSpPr>
        <p:spPr>
          <a:xfrm>
            <a:off x="640080" y="3236976"/>
            <a:ext cx="10927080" cy="548640"/>
          </a:xfrm>
          <a:prstGeom prst="roundRect">
            <a:avLst>
              <a:gd name="adj" fmla="val 16667"/>
            </a:avLst>
          </a:prstGeom>
          <a:solidFill>
            <a:srgbClr val="FFFFFF"/>
          </a:solidFill>
          <a:ln w="12700">
            <a:solidFill>
              <a:srgbClr val="D9F2CC"/>
            </a:solidFill>
            <a:prstDash val="solid"/>
          </a:ln>
        </p:spPr>
      </p:sp>
      <p:sp>
        <p:nvSpPr>
          <p:cNvPr id="9" name="Text 7"/>
          <p:cNvSpPr txBox="1"/>
          <p:nvPr/>
        </p:nvSpPr>
        <p:spPr>
          <a:xfrm>
            <a:off x="914400" y="3236976"/>
            <a:ext cx="2011680" cy="548640"/>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autoplay</a:t>
            </a:r>
            <a:endParaRPr lang="en-US" sz="1250" dirty="0"/>
          </a:p>
        </p:txBody>
      </p:sp>
      <p:sp>
        <p:nvSpPr>
          <p:cNvPr id="10" name="Text 8"/>
          <p:cNvSpPr txBox="1"/>
          <p:nvPr/>
        </p:nvSpPr>
        <p:spPr>
          <a:xfrm>
            <a:off x="2926080" y="3236976"/>
            <a:ext cx="8366760" cy="548640"/>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Empieza solo al cargar la página. Tiene reglas propias: las vemos enseguida.</a:t>
            </a:r>
            <a:endParaRPr lang="en-US" sz="1200" dirty="0"/>
          </a:p>
        </p:txBody>
      </p:sp>
      <p:sp>
        <p:nvSpPr>
          <p:cNvPr id="11" name="Shape 9"/>
          <p:cNvSpPr/>
          <p:nvPr/>
        </p:nvSpPr>
        <p:spPr>
          <a:xfrm>
            <a:off x="640080" y="3858768"/>
            <a:ext cx="10927080" cy="548640"/>
          </a:xfrm>
          <a:prstGeom prst="roundRect">
            <a:avLst>
              <a:gd name="adj" fmla="val 16667"/>
            </a:avLst>
          </a:prstGeom>
          <a:solidFill>
            <a:srgbClr val="F7FDF4"/>
          </a:solidFill>
          <a:ln w="12700">
            <a:solidFill>
              <a:srgbClr val="D9F2CC"/>
            </a:solidFill>
            <a:prstDash val="solid"/>
          </a:ln>
        </p:spPr>
      </p:sp>
      <p:sp>
        <p:nvSpPr>
          <p:cNvPr id="12" name="Text 10"/>
          <p:cNvSpPr txBox="1"/>
          <p:nvPr/>
        </p:nvSpPr>
        <p:spPr>
          <a:xfrm>
            <a:off x="914400" y="3858768"/>
            <a:ext cx="2011680" cy="548640"/>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muted</a:t>
            </a:r>
            <a:endParaRPr lang="en-US" sz="1250" dirty="0"/>
          </a:p>
        </p:txBody>
      </p:sp>
      <p:sp>
        <p:nvSpPr>
          <p:cNvPr id="13" name="Text 11"/>
          <p:cNvSpPr txBox="1"/>
          <p:nvPr/>
        </p:nvSpPr>
        <p:spPr>
          <a:xfrm>
            <a:off x="2926080" y="3858768"/>
            <a:ext cx="8366760" cy="548640"/>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Arranca sin sonido.</a:t>
            </a:r>
            <a:endParaRPr lang="en-US" sz="1200" dirty="0"/>
          </a:p>
        </p:txBody>
      </p:sp>
      <p:sp>
        <p:nvSpPr>
          <p:cNvPr id="14" name="Shape 12"/>
          <p:cNvSpPr/>
          <p:nvPr/>
        </p:nvSpPr>
        <p:spPr>
          <a:xfrm>
            <a:off x="640080" y="4480560"/>
            <a:ext cx="10927080" cy="548640"/>
          </a:xfrm>
          <a:prstGeom prst="roundRect">
            <a:avLst>
              <a:gd name="adj" fmla="val 16667"/>
            </a:avLst>
          </a:prstGeom>
          <a:solidFill>
            <a:srgbClr val="FFFFFF"/>
          </a:solidFill>
          <a:ln w="12700">
            <a:solidFill>
              <a:srgbClr val="D9F2CC"/>
            </a:solidFill>
            <a:prstDash val="solid"/>
          </a:ln>
        </p:spPr>
      </p:sp>
      <p:sp>
        <p:nvSpPr>
          <p:cNvPr id="15" name="Text 13"/>
          <p:cNvSpPr txBox="1"/>
          <p:nvPr/>
        </p:nvSpPr>
        <p:spPr>
          <a:xfrm>
            <a:off x="914400" y="4480560"/>
            <a:ext cx="2011680" cy="548640"/>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loop</a:t>
            </a:r>
            <a:endParaRPr lang="en-US" sz="1250" dirty="0"/>
          </a:p>
        </p:txBody>
      </p:sp>
      <p:sp>
        <p:nvSpPr>
          <p:cNvPr id="16" name="Text 14"/>
          <p:cNvSpPr txBox="1"/>
          <p:nvPr/>
        </p:nvSpPr>
        <p:spPr>
          <a:xfrm>
            <a:off x="2926080" y="4480560"/>
            <a:ext cx="8366760" cy="548640"/>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Vuelve a empezar cuando termina.</a:t>
            </a:r>
            <a:endParaRPr lang="en-US" sz="1200" dirty="0"/>
          </a:p>
        </p:txBody>
      </p:sp>
      <p:sp>
        <p:nvSpPr>
          <p:cNvPr id="17" name="Shape 15"/>
          <p:cNvSpPr/>
          <p:nvPr/>
        </p:nvSpPr>
        <p:spPr>
          <a:xfrm>
            <a:off x="640080" y="5102352"/>
            <a:ext cx="10927080" cy="548640"/>
          </a:xfrm>
          <a:prstGeom prst="roundRect">
            <a:avLst>
              <a:gd name="adj" fmla="val 16667"/>
            </a:avLst>
          </a:prstGeom>
          <a:solidFill>
            <a:srgbClr val="F7FDF4"/>
          </a:solidFill>
          <a:ln w="12700">
            <a:solidFill>
              <a:srgbClr val="D9F2CC"/>
            </a:solidFill>
            <a:prstDash val="solid"/>
          </a:ln>
        </p:spPr>
      </p:sp>
      <p:sp>
        <p:nvSpPr>
          <p:cNvPr id="18" name="Text 16"/>
          <p:cNvSpPr txBox="1"/>
          <p:nvPr/>
        </p:nvSpPr>
        <p:spPr>
          <a:xfrm>
            <a:off x="914400" y="5102352"/>
            <a:ext cx="2011680" cy="548640"/>
          </a:xfrm>
          <a:prstGeom prst="rect">
            <a:avLst/>
          </a:prstGeom>
          <a:noFill/>
          <a:ln/>
        </p:spPr>
        <p:txBody>
          <a:bodyPr wrap="square" lIns="0" tIns="0" rIns="0" bIns="0" rtlCol="0" anchor="ctr"/>
          <a:lstStyle/>
          <a:p>
            <a:pPr indent="0" marL="0">
              <a:buNone/>
            </a:pPr>
            <a:r>
              <a:rPr lang="en-US" sz="1250" b="1" dirty="0">
                <a:solidFill>
                  <a:srgbClr val="4FB817"/>
                </a:solidFill>
                <a:latin typeface="Consolas" pitchFamily="34" charset="0"/>
                <a:ea typeface="Consolas" pitchFamily="34" charset="-122"/>
                <a:cs typeface="Consolas" pitchFamily="34" charset="-120"/>
              </a:rPr>
              <a:t>playsinline</a:t>
            </a:r>
            <a:endParaRPr lang="en-US" sz="1250" dirty="0"/>
          </a:p>
        </p:txBody>
      </p:sp>
      <p:sp>
        <p:nvSpPr>
          <p:cNvPr id="19" name="Text 17"/>
          <p:cNvSpPr txBox="1"/>
          <p:nvPr/>
        </p:nvSpPr>
        <p:spPr>
          <a:xfrm>
            <a:off x="2926080" y="5102352"/>
            <a:ext cx="8366760" cy="548640"/>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En celulares, se reproduce dentro de la página y no salta a pantalla completa.</a:t>
            </a:r>
            <a:endParaRPr lang="en-US" sz="1200" dirty="0"/>
          </a:p>
        </p:txBody>
      </p:sp>
      <p:sp>
        <p:nvSpPr>
          <p:cNvPr id="20" name="Text 18"/>
          <p:cNvSpPr txBox="1"/>
          <p:nvPr/>
        </p:nvSpPr>
        <p:spPr>
          <a:xfrm>
            <a:off x="640080" y="5852160"/>
            <a:ext cx="10927080" cy="256032"/>
          </a:xfrm>
          <a:prstGeom prst="rect">
            <a:avLst/>
          </a:prstGeom>
          <a:noFill/>
          <a:ln/>
        </p:spPr>
        <p:txBody>
          <a:bodyPr wrap="square" lIns="0" tIns="0" rIns="0" bIns="0" rtlCol="0" anchor="ctr"/>
          <a:lstStyle/>
          <a:p>
            <a:pPr algn="ctr" indent="0" marL="0">
              <a:buNone/>
            </a:pPr>
            <a:r>
              <a:rPr lang="en-US" sz="1150" i="1" dirty="0">
                <a:solidFill>
                  <a:srgbClr val="4FB817"/>
                </a:solidFill>
                <a:latin typeface="Calibri" pitchFamily="34" charset="0"/>
                <a:ea typeface="Calibri" pitchFamily="34" charset="-122"/>
                <a:cs typeface="Calibri" pitchFamily="34" charset="-120"/>
              </a:rPr>
              <a:t>Valen para &lt;video&gt; y para &lt;audio&gt;, salvo playsinline, que es solo de video.</a:t>
            </a:r>
            <a:endParaRPr lang="en-US" sz="1150" dirty="0"/>
          </a:p>
        </p:txBody>
      </p:sp>
      <p:sp>
        <p:nvSpPr>
          <p:cNvPr id="21" name="Text 19"/>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21 / 48</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03 · ATRIBUTOS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autoplay: el navegador tiene la última palabra</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Los navegadores bloquean cualquier video que intente arrancar solo y con sonido.</a:t>
            </a:r>
            <a:endParaRPr lang="en-US" sz="1250" dirty="0"/>
          </a:p>
        </p:txBody>
      </p:sp>
      <p:sp>
        <p:nvSpPr>
          <p:cNvPr id="5" name="Shape 3"/>
          <p:cNvSpPr/>
          <p:nvPr/>
        </p:nvSpPr>
        <p:spPr>
          <a:xfrm>
            <a:off x="640080" y="2615184"/>
            <a:ext cx="5349240" cy="1517904"/>
          </a:xfrm>
          <a:prstGeom prst="roundRect">
            <a:avLst>
              <a:gd name="adj" fmla="val 6024"/>
            </a:avLst>
          </a:prstGeom>
          <a:solidFill>
            <a:srgbClr val="2B2B2B"/>
          </a:solidFill>
          <a:ln w="12700">
            <a:solidFill>
              <a:srgbClr val="2B2B2B"/>
            </a:solidFill>
            <a:prstDash val="solid"/>
          </a:ln>
        </p:spPr>
      </p:sp>
      <p:sp>
        <p:nvSpPr>
          <p:cNvPr id="6" name="Text 4"/>
          <p:cNvSpPr txBox="1"/>
          <p:nvPr/>
        </p:nvSpPr>
        <p:spPr>
          <a:xfrm>
            <a:off x="868680" y="2779776"/>
            <a:ext cx="4892040" cy="1188720"/>
          </a:xfrm>
          <a:prstGeom prst="rect">
            <a:avLst/>
          </a:prstGeom>
          <a:noFill/>
          <a:ln/>
        </p:spPr>
        <p:txBody>
          <a:bodyPr wrap="square" lIns="0" tIns="0" rIns="0" bIns="0" rtlCol="0" anchor="ctr"/>
          <a:lstStyle/>
          <a:p>
            <a:pPr indent="0" marL="0">
              <a:lnSpc>
                <a:spcPct val="125000"/>
              </a:lnSpc>
              <a:buNone/>
            </a:pPr>
            <a:r>
              <a:rPr lang="en-US" sz="1100" dirty="0">
                <a:solidFill>
                  <a:srgbClr val="9AA39E"/>
                </a:solidFill>
                <a:latin typeface="Consolas" pitchFamily="34" charset="0"/>
                <a:ea typeface="Consolas" pitchFamily="34" charset="-122"/>
                <a:cs typeface="Consolas" pitchFamily="34" charset="-120"/>
              </a:rPr>
              <a:t>&lt;!-- Clip decorativo: sin sonido y en bucle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&lt;video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autoplay muted</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loop playsinline&gt;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&lt;source src="fondo.mp4" type="video/mp4"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&lt;/video&gt;</a:t>
            </a:r>
            <a:endParaRPr lang="en-US" sz="1100" dirty="0"/>
          </a:p>
        </p:txBody>
      </p:sp>
      <p:sp>
        <p:nvSpPr>
          <p:cNvPr id="7" name="Shape 5"/>
          <p:cNvSpPr/>
          <p:nvPr/>
        </p:nvSpPr>
        <p:spPr>
          <a:xfrm>
            <a:off x="6217920" y="2615184"/>
            <a:ext cx="2578608" cy="1517904"/>
          </a:xfrm>
          <a:prstGeom prst="roundRect">
            <a:avLst>
              <a:gd name="adj" fmla="val 6024"/>
            </a:avLst>
          </a:prstGeom>
          <a:solidFill>
            <a:srgbClr val="F0FCE8"/>
          </a:solidFill>
          <a:ln w="12700">
            <a:solidFill>
              <a:srgbClr val="D9F2CC"/>
            </a:solidFill>
            <a:prstDash val="solid"/>
          </a:ln>
        </p:spPr>
      </p:sp>
      <p:sp>
        <p:nvSpPr>
          <p:cNvPr id="8" name="Text 6"/>
          <p:cNvSpPr txBox="1"/>
          <p:nvPr/>
        </p:nvSpPr>
        <p:spPr>
          <a:xfrm>
            <a:off x="6455664" y="2761488"/>
            <a:ext cx="2103120" cy="310896"/>
          </a:xfrm>
          <a:prstGeom prst="rect">
            <a:avLst/>
          </a:prstGeom>
          <a:noFill/>
          <a:ln/>
        </p:spPr>
        <p:txBody>
          <a:bodyPr wrap="square" lIns="0" tIns="0" rIns="0" bIns="0" rtlCol="0" anchor="ctr"/>
          <a:lstStyle/>
          <a:p>
            <a:pPr algn="l" indent="0" marL="0">
              <a:buNone/>
            </a:pPr>
            <a:r>
              <a:rPr lang="en-US" sz="1400" b="1" dirty="0">
                <a:solidFill>
                  <a:srgbClr val="4FB817"/>
                </a:solidFill>
                <a:latin typeface="Calibri" pitchFamily="34" charset="0"/>
                <a:ea typeface="Calibri" pitchFamily="34" charset="-122"/>
                <a:cs typeface="Calibri" pitchFamily="34" charset="-120"/>
              </a:rPr>
              <a:t>Bien</a:t>
            </a:r>
            <a:endParaRPr lang="en-US" sz="1400" dirty="0"/>
          </a:p>
        </p:txBody>
      </p:sp>
      <p:sp>
        <p:nvSpPr>
          <p:cNvPr id="9" name="Text 7"/>
          <p:cNvSpPr txBox="1"/>
          <p:nvPr/>
        </p:nvSpPr>
        <p:spPr>
          <a:xfrm>
            <a:off x="6455664" y="3127248"/>
            <a:ext cx="2103120" cy="918058"/>
          </a:xfrm>
          <a:prstGeom prst="rect">
            <a:avLst/>
          </a:prstGeom>
          <a:noFill/>
          <a:ln/>
        </p:spPr>
        <p:txBody>
          <a:bodyPr wrap="square" lIns="0" tIns="0" rIns="0" bIns="0" rtlCol="0" anchor="t"/>
          <a:lstStyle/>
          <a:p>
            <a:pPr algn="l" indent="0" marL="0">
              <a:lnSpc>
                <a:spcPct val="125000"/>
              </a:lnSpc>
              <a:buNone/>
            </a:pPr>
            <a:r>
              <a:rPr lang="en-US" sz="1150" dirty="0">
                <a:solidFill>
                  <a:srgbClr val="424242"/>
                </a:solidFill>
                <a:latin typeface="Calibri" pitchFamily="34" charset="0"/>
                <a:ea typeface="Calibri" pitchFamily="34" charset="-122"/>
                <a:cs typeface="Calibri" pitchFamily="34" charset="-120"/>
              </a:rPr>
              <a:t>Clip de fondo: sin sonido, en bucle y sin voz que entender.</a:t>
            </a:r>
            <a:endParaRPr lang="en-US" sz="1150" dirty="0"/>
          </a:p>
        </p:txBody>
      </p:sp>
      <p:sp>
        <p:nvSpPr>
          <p:cNvPr id="10" name="Shape 8"/>
          <p:cNvSpPr/>
          <p:nvPr/>
        </p:nvSpPr>
        <p:spPr>
          <a:xfrm>
            <a:off x="8988552" y="2615184"/>
            <a:ext cx="2578608" cy="1517904"/>
          </a:xfrm>
          <a:prstGeom prst="roundRect">
            <a:avLst>
              <a:gd name="adj" fmla="val 6024"/>
            </a:avLst>
          </a:prstGeom>
          <a:solidFill>
            <a:srgbClr val="FBF4F2"/>
          </a:solidFill>
          <a:ln w="12700">
            <a:solidFill>
              <a:srgbClr val="F0D8D2"/>
            </a:solidFill>
            <a:prstDash val="solid"/>
          </a:ln>
        </p:spPr>
      </p:sp>
      <p:sp>
        <p:nvSpPr>
          <p:cNvPr id="11" name="Text 9"/>
          <p:cNvSpPr txBox="1"/>
          <p:nvPr/>
        </p:nvSpPr>
        <p:spPr>
          <a:xfrm>
            <a:off x="9226296" y="2761488"/>
            <a:ext cx="2103120" cy="310896"/>
          </a:xfrm>
          <a:prstGeom prst="rect">
            <a:avLst/>
          </a:prstGeom>
          <a:noFill/>
          <a:ln/>
        </p:spPr>
        <p:txBody>
          <a:bodyPr wrap="square" lIns="0" tIns="0" rIns="0" bIns="0" rtlCol="0" anchor="ctr"/>
          <a:lstStyle/>
          <a:p>
            <a:pPr algn="l" indent="0" marL="0">
              <a:buNone/>
            </a:pPr>
            <a:r>
              <a:rPr lang="en-US" sz="1400" b="1" dirty="0">
                <a:solidFill>
                  <a:srgbClr val="B5462F"/>
                </a:solidFill>
                <a:latin typeface="Calibri" pitchFamily="34" charset="0"/>
                <a:ea typeface="Calibri" pitchFamily="34" charset="-122"/>
                <a:cs typeface="Calibri" pitchFamily="34" charset="-120"/>
              </a:rPr>
              <a:t>Mal</a:t>
            </a:r>
            <a:endParaRPr lang="en-US" sz="1400" dirty="0"/>
          </a:p>
        </p:txBody>
      </p:sp>
      <p:sp>
        <p:nvSpPr>
          <p:cNvPr id="12" name="Text 10"/>
          <p:cNvSpPr txBox="1"/>
          <p:nvPr/>
        </p:nvSpPr>
        <p:spPr>
          <a:xfrm>
            <a:off x="9226296" y="3127248"/>
            <a:ext cx="2103120" cy="918058"/>
          </a:xfrm>
          <a:prstGeom prst="rect">
            <a:avLst/>
          </a:prstGeom>
          <a:noFill/>
          <a:ln/>
        </p:spPr>
        <p:txBody>
          <a:bodyPr wrap="square" lIns="0" tIns="0" rIns="0" bIns="0" rtlCol="0" anchor="t"/>
          <a:lstStyle/>
          <a:p>
            <a:pPr algn="l" indent="0" marL="0">
              <a:lnSpc>
                <a:spcPct val="125000"/>
              </a:lnSpc>
              <a:buNone/>
            </a:pPr>
            <a:r>
              <a:rPr lang="en-US" sz="1150" dirty="0">
                <a:solidFill>
                  <a:srgbClr val="424242"/>
                </a:solidFill>
                <a:latin typeface="Calibri" pitchFamily="34" charset="0"/>
                <a:ea typeface="Calibri" pitchFamily="34" charset="-122"/>
                <a:cs typeface="Calibri" pitchFamily="34" charset="-120"/>
              </a:rPr>
              <a:t>Presentación con voz que arranca sola: se bloquea o molesta.</a:t>
            </a:r>
            <a:endParaRPr lang="en-US" sz="1150" dirty="0"/>
          </a:p>
        </p:txBody>
      </p:sp>
      <p:sp>
        <p:nvSpPr>
          <p:cNvPr id="13" name="Shape 11"/>
          <p:cNvSpPr/>
          <p:nvPr/>
        </p:nvSpPr>
        <p:spPr>
          <a:xfrm>
            <a:off x="640080" y="4334256"/>
            <a:ext cx="10927080" cy="1481328"/>
          </a:xfrm>
          <a:prstGeom prst="roundRect">
            <a:avLst>
              <a:gd name="adj" fmla="val 6173"/>
            </a:avLst>
          </a:prstGeom>
          <a:solidFill>
            <a:srgbClr val="EAFAFB"/>
          </a:solidFill>
          <a:ln w="12700">
            <a:solidFill>
              <a:srgbClr val="BFEAEE"/>
            </a:solidFill>
            <a:prstDash val="solid"/>
          </a:ln>
        </p:spPr>
      </p:sp>
      <p:sp>
        <p:nvSpPr>
          <p:cNvPr id="14" name="Text 12"/>
          <p:cNvSpPr txBox="1"/>
          <p:nvPr/>
        </p:nvSpPr>
        <p:spPr>
          <a:xfrm>
            <a:off x="950976" y="4535424"/>
            <a:ext cx="10305288" cy="310896"/>
          </a:xfrm>
          <a:prstGeom prst="rect">
            <a:avLst/>
          </a:prstGeom>
          <a:noFill/>
          <a:ln/>
        </p:spPr>
        <p:txBody>
          <a:bodyPr wrap="square" lIns="0" tIns="0" rIns="0" bIns="0" rtlCol="0" anchor="ctr"/>
          <a:lstStyle/>
          <a:p>
            <a:pPr algn="l" indent="0" marL="0">
              <a:buNone/>
            </a:pPr>
            <a:r>
              <a:rPr lang="en-US" sz="1400" b="1" dirty="0">
                <a:solidFill>
                  <a:srgbClr val="1E9AA3"/>
                </a:solidFill>
                <a:latin typeface="Calibri" pitchFamily="34" charset="0"/>
                <a:ea typeface="Calibri" pitchFamily="34" charset="-122"/>
                <a:cs typeface="Calibri" pitchFamily="34" charset="-120"/>
              </a:rPr>
              <a:t>En tu portafolio</a:t>
            </a:r>
            <a:endParaRPr lang="en-US" sz="1400" dirty="0"/>
          </a:p>
        </p:txBody>
      </p:sp>
      <p:sp>
        <p:nvSpPr>
          <p:cNvPr id="15" name="Text 13"/>
          <p:cNvSpPr txBox="1"/>
          <p:nvPr/>
        </p:nvSpPr>
        <p:spPr>
          <a:xfrm>
            <a:off x="950976" y="4901184"/>
            <a:ext cx="10305288" cy="793699"/>
          </a:xfrm>
          <a:prstGeom prst="rect">
            <a:avLst/>
          </a:prstGeom>
          <a:noFill/>
          <a:ln/>
        </p:spPr>
        <p:txBody>
          <a:bodyPr wrap="square" lIns="0" tIns="0" rIns="0" bIns="0" rtlCol="0" anchor="t"/>
          <a:lstStyle/>
          <a:p>
            <a:pPr algn="l" indent="0" marL="0">
              <a:lnSpc>
                <a:spcPct val="125000"/>
              </a:lnSpc>
              <a:buNone/>
            </a:pPr>
            <a:r>
              <a:rPr lang="en-US" sz="1250" dirty="0">
                <a:solidFill>
                  <a:srgbClr val="424242"/>
                </a:solidFill>
                <a:latin typeface="Calibri" pitchFamily="34" charset="0"/>
                <a:ea typeface="Calibri" pitchFamily="34" charset="-122"/>
                <a:cs typeface="Calibri" pitchFamily="34" charset="-120"/>
              </a:rPr>
              <a:t>El segundo video de sobre-mi.html tiene autoplay pero no muted: según el navegador, puede quedarse sin arrancar. Además repite el mismo archivo, y eso duplica la descarga.</a:t>
            </a:r>
            <a:endParaRPr lang="en-US" sz="1250" dirty="0"/>
          </a:p>
          <a:p>
            <a:pPr algn="l" indent="0" marL="0">
              <a:lnSpc>
                <a:spcPct val="125000"/>
              </a:lnSpc>
              <a:buNone/>
            </a:pPr>
            <a:r>
              <a:rPr lang="en-US" sz="1250" dirty="0">
                <a:solidFill>
                  <a:srgbClr val="424242"/>
                </a:solidFill>
                <a:latin typeface="Calibri" pitchFamily="34" charset="0"/>
                <a:ea typeface="Calibri" pitchFamily="34" charset="-122"/>
                <a:cs typeface="Calibri" pitchFamily="34" charset="-120"/>
              </a:rPr>
              <a:t>Hoy dejamos un solo video, con controls, y que cada persona decida cuándo verlo.</a:t>
            </a:r>
            <a:endParaRPr lang="en-US" sz="1250" dirty="0"/>
          </a:p>
        </p:txBody>
      </p:sp>
      <p:sp>
        <p:nvSpPr>
          <p:cNvPr id="16" name="Text 1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22 / 48</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03 · ATRIBUTOS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poster y preload: antes de reproducir</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Qué ve y qué descarga la persona antes de pulsar el botón.</a:t>
            </a:r>
            <a:endParaRPr lang="en-US" sz="1250" dirty="0"/>
          </a:p>
        </p:txBody>
      </p:sp>
      <p:sp>
        <p:nvSpPr>
          <p:cNvPr id="5" name="Shape 3"/>
          <p:cNvSpPr/>
          <p:nvPr/>
        </p:nvSpPr>
        <p:spPr>
          <a:xfrm>
            <a:off x="640080" y="2615184"/>
            <a:ext cx="5349240" cy="1737360"/>
          </a:xfrm>
          <a:prstGeom prst="roundRect">
            <a:avLst>
              <a:gd name="adj" fmla="val 5263"/>
            </a:avLst>
          </a:prstGeom>
          <a:solidFill>
            <a:srgbClr val="2B2B2B"/>
          </a:solidFill>
          <a:ln w="12700">
            <a:solidFill>
              <a:srgbClr val="2B2B2B"/>
            </a:solidFill>
            <a:prstDash val="solid"/>
          </a:ln>
        </p:spPr>
      </p:sp>
      <p:sp>
        <p:nvSpPr>
          <p:cNvPr id="6" name="Text 4"/>
          <p:cNvSpPr txBox="1"/>
          <p:nvPr/>
        </p:nvSpPr>
        <p:spPr>
          <a:xfrm>
            <a:off x="868680" y="2779776"/>
            <a:ext cx="4892040" cy="1408176"/>
          </a:xfrm>
          <a:prstGeom prst="rect">
            <a:avLst/>
          </a:prstGeom>
          <a:noFill/>
          <a:ln/>
        </p:spPr>
        <p:txBody>
          <a:bodyPr wrap="square" lIns="0" tIns="0" rIns="0" bIns="0" rtlCol="0" anchor="ctr"/>
          <a:lstStyle/>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&lt;video</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controls</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poster=</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"assets/img/poster-presentacion.jpg"</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preload=</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"metadata"</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&gt;</a:t>
            </a:r>
            <a:endParaRPr lang="en-US" sz="1100" dirty="0"/>
          </a:p>
        </p:txBody>
      </p:sp>
      <p:sp>
        <p:nvSpPr>
          <p:cNvPr id="7" name="Shape 5"/>
          <p:cNvSpPr/>
          <p:nvPr/>
        </p:nvSpPr>
        <p:spPr>
          <a:xfrm>
            <a:off x="6217920" y="2615184"/>
            <a:ext cx="5349240" cy="530352"/>
          </a:xfrm>
          <a:prstGeom prst="roundRect">
            <a:avLst>
              <a:gd name="adj" fmla="val 17241"/>
            </a:avLst>
          </a:prstGeom>
          <a:solidFill>
            <a:srgbClr val="F7FDF4"/>
          </a:solidFill>
          <a:ln w="12700">
            <a:solidFill>
              <a:srgbClr val="D9F2CC"/>
            </a:solidFill>
            <a:prstDash val="solid"/>
          </a:ln>
        </p:spPr>
      </p:sp>
      <p:sp>
        <p:nvSpPr>
          <p:cNvPr id="8" name="Text 6"/>
          <p:cNvSpPr txBox="1"/>
          <p:nvPr/>
        </p:nvSpPr>
        <p:spPr>
          <a:xfrm>
            <a:off x="6492240" y="2615184"/>
            <a:ext cx="2057400" cy="530352"/>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preload="none"</a:t>
            </a:r>
            <a:endParaRPr lang="en-US" sz="1150" dirty="0"/>
          </a:p>
        </p:txBody>
      </p:sp>
      <p:sp>
        <p:nvSpPr>
          <p:cNvPr id="9" name="Text 7"/>
          <p:cNvSpPr txBox="1"/>
          <p:nvPr/>
        </p:nvSpPr>
        <p:spPr>
          <a:xfrm>
            <a:off x="8549640" y="2615184"/>
            <a:ext cx="2743200" cy="530352"/>
          </a:xfrm>
          <a:prstGeom prst="rect">
            <a:avLst/>
          </a:prstGeom>
          <a:noFill/>
          <a:ln/>
        </p:spPr>
        <p:txBody>
          <a:bodyPr wrap="square" lIns="0" tIns="0" rIns="0" bIns="0" rtlCol="0" anchor="ctr"/>
          <a:lstStyle/>
          <a:p>
            <a:pPr indent="0" marL="0">
              <a:buNone/>
            </a:pPr>
            <a:r>
              <a:rPr lang="en-US" sz="1100" dirty="0">
                <a:solidFill>
                  <a:srgbClr val="424242"/>
                </a:solidFill>
                <a:latin typeface="Calibri" pitchFamily="34" charset="0"/>
                <a:ea typeface="Calibri" pitchFamily="34" charset="-122"/>
                <a:cs typeface="Calibri" pitchFamily="34" charset="-120"/>
              </a:rPr>
              <a:t>No descarga nada hasta que pulsan reproducir.</a:t>
            </a:r>
            <a:endParaRPr lang="en-US" sz="1100" dirty="0"/>
          </a:p>
        </p:txBody>
      </p:sp>
      <p:sp>
        <p:nvSpPr>
          <p:cNvPr id="10" name="Shape 8"/>
          <p:cNvSpPr/>
          <p:nvPr/>
        </p:nvSpPr>
        <p:spPr>
          <a:xfrm>
            <a:off x="6217920" y="3218688"/>
            <a:ext cx="5349240" cy="530352"/>
          </a:xfrm>
          <a:prstGeom prst="roundRect">
            <a:avLst>
              <a:gd name="adj" fmla="val 17241"/>
            </a:avLst>
          </a:prstGeom>
          <a:solidFill>
            <a:srgbClr val="FFFFFF"/>
          </a:solidFill>
          <a:ln w="12700">
            <a:solidFill>
              <a:srgbClr val="D9F2CC"/>
            </a:solidFill>
            <a:prstDash val="solid"/>
          </a:ln>
        </p:spPr>
      </p:sp>
      <p:sp>
        <p:nvSpPr>
          <p:cNvPr id="11" name="Text 9"/>
          <p:cNvSpPr txBox="1"/>
          <p:nvPr/>
        </p:nvSpPr>
        <p:spPr>
          <a:xfrm>
            <a:off x="6492240" y="3218688"/>
            <a:ext cx="2057400" cy="530352"/>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preload="metadata"</a:t>
            </a:r>
            <a:endParaRPr lang="en-US" sz="1150" dirty="0"/>
          </a:p>
        </p:txBody>
      </p:sp>
      <p:sp>
        <p:nvSpPr>
          <p:cNvPr id="12" name="Text 10"/>
          <p:cNvSpPr txBox="1"/>
          <p:nvPr/>
        </p:nvSpPr>
        <p:spPr>
          <a:xfrm>
            <a:off x="8549640" y="3218688"/>
            <a:ext cx="2743200" cy="530352"/>
          </a:xfrm>
          <a:prstGeom prst="rect">
            <a:avLst/>
          </a:prstGeom>
          <a:noFill/>
          <a:ln/>
        </p:spPr>
        <p:txBody>
          <a:bodyPr wrap="square" lIns="0" tIns="0" rIns="0" bIns="0" rtlCol="0" anchor="ctr"/>
          <a:lstStyle/>
          <a:p>
            <a:pPr indent="0" marL="0">
              <a:buNone/>
            </a:pPr>
            <a:r>
              <a:rPr lang="en-US" sz="1100" dirty="0">
                <a:solidFill>
                  <a:srgbClr val="424242"/>
                </a:solidFill>
                <a:latin typeface="Calibri" pitchFamily="34" charset="0"/>
                <a:ea typeface="Calibri" pitchFamily="34" charset="-122"/>
                <a:cs typeface="Calibri" pitchFamily="34" charset="-120"/>
              </a:rPr>
              <a:t>Solo la duración y el tamaño. La opción recomendada.</a:t>
            </a:r>
            <a:endParaRPr lang="en-US" sz="1100" dirty="0"/>
          </a:p>
        </p:txBody>
      </p:sp>
      <p:sp>
        <p:nvSpPr>
          <p:cNvPr id="13" name="Shape 11"/>
          <p:cNvSpPr/>
          <p:nvPr/>
        </p:nvSpPr>
        <p:spPr>
          <a:xfrm>
            <a:off x="6217920" y="3822192"/>
            <a:ext cx="5349240" cy="530352"/>
          </a:xfrm>
          <a:prstGeom prst="roundRect">
            <a:avLst>
              <a:gd name="adj" fmla="val 17241"/>
            </a:avLst>
          </a:prstGeom>
          <a:solidFill>
            <a:srgbClr val="F7FDF4"/>
          </a:solidFill>
          <a:ln w="12700">
            <a:solidFill>
              <a:srgbClr val="D9F2CC"/>
            </a:solidFill>
            <a:prstDash val="solid"/>
          </a:ln>
        </p:spPr>
      </p:sp>
      <p:sp>
        <p:nvSpPr>
          <p:cNvPr id="14" name="Text 12"/>
          <p:cNvSpPr txBox="1"/>
          <p:nvPr/>
        </p:nvSpPr>
        <p:spPr>
          <a:xfrm>
            <a:off x="6492240" y="3822192"/>
            <a:ext cx="2057400" cy="530352"/>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preload="auto"</a:t>
            </a:r>
            <a:endParaRPr lang="en-US" sz="1150" dirty="0"/>
          </a:p>
        </p:txBody>
      </p:sp>
      <p:sp>
        <p:nvSpPr>
          <p:cNvPr id="15" name="Text 13"/>
          <p:cNvSpPr txBox="1"/>
          <p:nvPr/>
        </p:nvSpPr>
        <p:spPr>
          <a:xfrm>
            <a:off x="8549640" y="3822192"/>
            <a:ext cx="2743200" cy="530352"/>
          </a:xfrm>
          <a:prstGeom prst="rect">
            <a:avLst/>
          </a:prstGeom>
          <a:noFill/>
          <a:ln/>
        </p:spPr>
        <p:txBody>
          <a:bodyPr wrap="square" lIns="0" tIns="0" rIns="0" bIns="0" rtlCol="0" anchor="ctr"/>
          <a:lstStyle/>
          <a:p>
            <a:pPr indent="0" marL="0">
              <a:buNone/>
            </a:pPr>
            <a:r>
              <a:rPr lang="en-US" sz="1100" dirty="0">
                <a:solidFill>
                  <a:srgbClr val="424242"/>
                </a:solidFill>
                <a:latin typeface="Calibri" pitchFamily="34" charset="0"/>
                <a:ea typeface="Calibri" pitchFamily="34" charset="-122"/>
                <a:cs typeface="Calibri" pitchFamily="34" charset="-120"/>
              </a:rPr>
              <a:t>Puede descargar el video entero aunque nadie lo vea.</a:t>
            </a:r>
            <a:endParaRPr lang="en-US" sz="1100" dirty="0"/>
          </a:p>
        </p:txBody>
      </p:sp>
      <p:sp>
        <p:nvSpPr>
          <p:cNvPr id="16" name="Shape 14"/>
          <p:cNvSpPr/>
          <p:nvPr/>
        </p:nvSpPr>
        <p:spPr>
          <a:xfrm>
            <a:off x="640080" y="4553712"/>
            <a:ext cx="10927080" cy="1499616"/>
          </a:xfrm>
          <a:prstGeom prst="roundRect">
            <a:avLst>
              <a:gd name="adj" fmla="val 6098"/>
            </a:avLst>
          </a:prstGeom>
          <a:solidFill>
            <a:srgbClr val="F0FCE8"/>
          </a:solidFill>
          <a:ln w="12700">
            <a:solidFill>
              <a:srgbClr val="D9F2CC"/>
            </a:solidFill>
            <a:prstDash val="solid"/>
          </a:ln>
        </p:spPr>
      </p:sp>
      <p:pic>
        <p:nvPicPr>
          <p:cNvPr id="17" name="Image 0" descr="Imagen de poster del video de presentación">    </p:cNvPr>
          <p:cNvPicPr>
            <a:picLocks noChangeAspect="1"/>
          </p:cNvPicPr>
          <p:nvPr/>
        </p:nvPicPr>
        <p:blipFill>
          <a:blip r:embed="rId1"/>
          <a:stretch>
            <a:fillRect/>
          </a:stretch>
        </p:blipFill>
        <p:spPr>
          <a:xfrm>
            <a:off x="914400" y="4663440"/>
            <a:ext cx="722376" cy="1280160"/>
          </a:xfrm>
          <a:prstGeom prst="rect">
            <a:avLst/>
          </a:prstGeom>
        </p:spPr>
      </p:pic>
      <p:sp>
        <p:nvSpPr>
          <p:cNvPr id="18" name="Text 15"/>
          <p:cNvSpPr txBox="1"/>
          <p:nvPr/>
        </p:nvSpPr>
        <p:spPr>
          <a:xfrm>
            <a:off x="1920240" y="4681728"/>
            <a:ext cx="2743200" cy="310896"/>
          </a:xfrm>
          <a:prstGeom prst="rect">
            <a:avLst/>
          </a:prstGeom>
          <a:noFill/>
          <a:ln/>
        </p:spPr>
        <p:txBody>
          <a:bodyPr wrap="square" lIns="0" tIns="0" rIns="0" bIns="0" rtlCol="0" anchor="ctr"/>
          <a:lstStyle/>
          <a:p>
            <a:pPr indent="0" marL="0">
              <a:buNone/>
            </a:pPr>
            <a:r>
              <a:rPr lang="en-US" sz="1300" b="1" dirty="0">
                <a:solidFill>
                  <a:srgbClr val="4FB817"/>
                </a:solidFill>
                <a:latin typeface="Consolas" pitchFamily="34" charset="0"/>
                <a:ea typeface="Consolas" pitchFamily="34" charset="-122"/>
                <a:cs typeface="Consolas" pitchFamily="34" charset="-120"/>
              </a:rPr>
              <a:t>poster</a:t>
            </a:r>
            <a:endParaRPr lang="en-US" sz="1300" dirty="0"/>
          </a:p>
        </p:txBody>
      </p:sp>
      <p:sp>
        <p:nvSpPr>
          <p:cNvPr id="19" name="Text 16"/>
          <p:cNvSpPr txBox="1"/>
          <p:nvPr/>
        </p:nvSpPr>
        <p:spPr>
          <a:xfrm>
            <a:off x="1920240" y="5029200"/>
            <a:ext cx="9281160" cy="914400"/>
          </a:xfrm>
          <a:prstGeom prst="rect">
            <a:avLst/>
          </a:prstGeom>
          <a:noFill/>
          <a:ln/>
        </p:spPr>
        <p:txBody>
          <a:bodyPr wrap="square" lIns="0" tIns="0" rIns="0" bIns="0" rtlCol="0" anchor="t"/>
          <a:lstStyle/>
          <a:p>
            <a:pPr indent="0" marL="0">
              <a:lnSpc>
                <a:spcPct val="125000"/>
              </a:lnSpc>
              <a:buNone/>
            </a:pPr>
            <a:r>
              <a:rPr lang="en-US" sz="1250" dirty="0">
                <a:solidFill>
                  <a:srgbClr val="424242"/>
                </a:solidFill>
                <a:latin typeface="Calibri" pitchFamily="34" charset="0"/>
                <a:ea typeface="Calibri" pitchFamily="34" charset="-122"/>
                <a:cs typeface="Calibri" pitchFamily="34" charset="-120"/>
              </a:rPr>
              <a:t>Una imagen JPG que se muestra hasta que el video empieza. Sin poster, el navegador enseña el primer fotograma, que muchas veces es negro. La imagen debe tener la misma proporción que el video.</a:t>
            </a:r>
            <a:endParaRPr lang="en-US" sz="1250" dirty="0"/>
          </a:p>
        </p:txBody>
      </p:sp>
      <p:sp>
        <p:nvSpPr>
          <p:cNvPr id="20" name="Text 1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23 / 48</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03 · ATRIBUTOS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width, height y figure</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El navegador reserva el espacio antes de que el video cargue.</a:t>
            </a:r>
            <a:endParaRPr lang="en-US" sz="1250" dirty="0"/>
          </a:p>
        </p:txBody>
      </p:sp>
      <p:sp>
        <p:nvSpPr>
          <p:cNvPr id="5" name="Shape 3"/>
          <p:cNvSpPr/>
          <p:nvPr/>
        </p:nvSpPr>
        <p:spPr>
          <a:xfrm>
            <a:off x="640080" y="2615184"/>
            <a:ext cx="5760720" cy="2148840"/>
          </a:xfrm>
          <a:prstGeom prst="roundRect">
            <a:avLst>
              <a:gd name="adj" fmla="val 4255"/>
            </a:avLst>
          </a:prstGeom>
          <a:solidFill>
            <a:srgbClr val="2B2B2B"/>
          </a:solidFill>
          <a:ln w="12700">
            <a:solidFill>
              <a:srgbClr val="2B2B2B"/>
            </a:solidFill>
            <a:prstDash val="solid"/>
          </a:ln>
        </p:spPr>
      </p:sp>
      <p:sp>
        <p:nvSpPr>
          <p:cNvPr id="6" name="Text 4"/>
          <p:cNvSpPr txBox="1"/>
          <p:nvPr/>
        </p:nvSpPr>
        <p:spPr>
          <a:xfrm>
            <a:off x="868680" y="2779776"/>
            <a:ext cx="5303520" cy="1819656"/>
          </a:xfrm>
          <a:prstGeom prst="rect">
            <a:avLst/>
          </a:prstGeom>
          <a:noFill/>
          <a:ln/>
        </p:spPr>
        <p:txBody>
          <a:bodyPr wrap="square" lIns="0" tIns="0" rIns="0" bIns="0" rtlCol="0" anchor="ctr"/>
          <a:lstStyle/>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&lt;figure&gt;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&lt;video controls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width="315" height="560"</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&lt;/video&gt;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&lt;figcaption&gt;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Video de presentación de Dagner Chuman.</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&lt;/figcaption&gt;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&lt;/figure&gt;</a:t>
            </a:r>
            <a:endParaRPr lang="en-US" sz="1100" dirty="0"/>
          </a:p>
        </p:txBody>
      </p:sp>
      <p:sp>
        <p:nvSpPr>
          <p:cNvPr id="7" name="Shape 5"/>
          <p:cNvSpPr/>
          <p:nvPr/>
        </p:nvSpPr>
        <p:spPr>
          <a:xfrm>
            <a:off x="6629400" y="2615184"/>
            <a:ext cx="4937760" cy="649224"/>
          </a:xfrm>
          <a:prstGeom prst="roundRect">
            <a:avLst>
              <a:gd name="adj" fmla="val 14085"/>
            </a:avLst>
          </a:prstGeom>
          <a:solidFill>
            <a:srgbClr val="F7FDF4"/>
          </a:solidFill>
          <a:ln w="12700">
            <a:solidFill>
              <a:srgbClr val="D9F2CC"/>
            </a:solidFill>
            <a:prstDash val="solid"/>
          </a:ln>
        </p:spPr>
      </p:sp>
      <p:sp>
        <p:nvSpPr>
          <p:cNvPr id="8" name="Text 6"/>
          <p:cNvSpPr txBox="1"/>
          <p:nvPr/>
        </p:nvSpPr>
        <p:spPr>
          <a:xfrm>
            <a:off x="6903720" y="2615184"/>
            <a:ext cx="1600200" cy="649224"/>
          </a:xfrm>
          <a:prstGeom prst="rect">
            <a:avLst/>
          </a:prstGeom>
          <a:noFill/>
          <a:ln/>
        </p:spPr>
        <p:txBody>
          <a:bodyPr wrap="square" lIns="0" tIns="0" rIns="0" bIns="0" rtlCol="0" anchor="ctr"/>
          <a:lstStyle/>
          <a:p>
            <a:pPr indent="0" marL="0">
              <a:buNone/>
            </a:pPr>
            <a:r>
              <a:rPr lang="en-US" sz="1200" b="1" dirty="0">
                <a:solidFill>
                  <a:srgbClr val="4FB817"/>
                </a:solidFill>
                <a:latin typeface="Calibri" pitchFamily="34" charset="0"/>
                <a:ea typeface="Calibri" pitchFamily="34" charset="-122"/>
                <a:cs typeface="Calibri" pitchFamily="34" charset="-120"/>
              </a:rPr>
              <a:t>Reserva el espacio</a:t>
            </a:r>
            <a:endParaRPr lang="en-US" sz="1200" dirty="0"/>
          </a:p>
        </p:txBody>
      </p:sp>
      <p:sp>
        <p:nvSpPr>
          <p:cNvPr id="9" name="Text 7"/>
          <p:cNvSpPr txBox="1"/>
          <p:nvPr/>
        </p:nvSpPr>
        <p:spPr>
          <a:xfrm>
            <a:off x="8503920" y="2615184"/>
            <a:ext cx="2788920" cy="649224"/>
          </a:xfrm>
          <a:prstGeom prst="rect">
            <a:avLst/>
          </a:prstGeom>
          <a:noFill/>
          <a:ln/>
        </p:spPr>
        <p:txBody>
          <a:bodyPr wrap="square" lIns="0" tIns="0" rIns="0" bIns="0" rtlCol="0" anchor="ctr"/>
          <a:lstStyle/>
          <a:p>
            <a:pPr indent="0" marL="0">
              <a:buNone/>
            </a:pPr>
            <a:r>
              <a:rPr lang="en-US" sz="1100" dirty="0">
                <a:solidFill>
                  <a:srgbClr val="424242"/>
                </a:solidFill>
                <a:latin typeface="Calibri" pitchFamily="34" charset="0"/>
                <a:ea typeface="Calibri" pitchFamily="34" charset="-122"/>
                <a:cs typeface="Calibri" pitchFamily="34" charset="-120"/>
              </a:rPr>
              <a:t>La página no salta cuando el video termina de cargar.</a:t>
            </a:r>
            <a:endParaRPr lang="en-US" sz="1100" dirty="0"/>
          </a:p>
        </p:txBody>
      </p:sp>
      <p:sp>
        <p:nvSpPr>
          <p:cNvPr id="10" name="Shape 8"/>
          <p:cNvSpPr/>
          <p:nvPr/>
        </p:nvSpPr>
        <p:spPr>
          <a:xfrm>
            <a:off x="6629400" y="3364992"/>
            <a:ext cx="4937760" cy="649224"/>
          </a:xfrm>
          <a:prstGeom prst="roundRect">
            <a:avLst>
              <a:gd name="adj" fmla="val 14085"/>
            </a:avLst>
          </a:prstGeom>
          <a:solidFill>
            <a:srgbClr val="FFFFFF"/>
          </a:solidFill>
          <a:ln w="12700">
            <a:solidFill>
              <a:srgbClr val="D9F2CC"/>
            </a:solidFill>
            <a:prstDash val="solid"/>
          </a:ln>
        </p:spPr>
      </p:sp>
      <p:sp>
        <p:nvSpPr>
          <p:cNvPr id="11" name="Text 9"/>
          <p:cNvSpPr txBox="1"/>
          <p:nvPr/>
        </p:nvSpPr>
        <p:spPr>
          <a:xfrm>
            <a:off x="6903720" y="3364992"/>
            <a:ext cx="1600200" cy="649224"/>
          </a:xfrm>
          <a:prstGeom prst="rect">
            <a:avLst/>
          </a:prstGeom>
          <a:noFill/>
          <a:ln/>
        </p:spPr>
        <p:txBody>
          <a:bodyPr wrap="square" lIns="0" tIns="0" rIns="0" bIns="0" rtlCol="0" anchor="ctr"/>
          <a:lstStyle/>
          <a:p>
            <a:pPr indent="0" marL="0">
              <a:buNone/>
            </a:pPr>
            <a:r>
              <a:rPr lang="en-US" sz="1200" b="1" dirty="0">
                <a:solidFill>
                  <a:srgbClr val="4FB817"/>
                </a:solidFill>
                <a:latin typeface="Calibri" pitchFamily="34" charset="0"/>
                <a:ea typeface="Calibri" pitchFamily="34" charset="-122"/>
                <a:cs typeface="Calibri" pitchFamily="34" charset="-120"/>
              </a:rPr>
              <a:t>Respeta la proporción</a:t>
            </a:r>
            <a:endParaRPr lang="en-US" sz="1200" dirty="0"/>
          </a:p>
        </p:txBody>
      </p:sp>
      <p:sp>
        <p:nvSpPr>
          <p:cNvPr id="12" name="Text 10"/>
          <p:cNvSpPr txBox="1"/>
          <p:nvPr/>
        </p:nvSpPr>
        <p:spPr>
          <a:xfrm>
            <a:off x="8503920" y="3364992"/>
            <a:ext cx="2788920" cy="649224"/>
          </a:xfrm>
          <a:prstGeom prst="rect">
            <a:avLst/>
          </a:prstGeom>
          <a:noFill/>
          <a:ln/>
        </p:spPr>
        <p:txBody>
          <a:bodyPr wrap="square" lIns="0" tIns="0" rIns="0" bIns="0" rtlCol="0" anchor="ctr"/>
          <a:lstStyle/>
          <a:p>
            <a:pPr indent="0" marL="0">
              <a:buNone/>
            </a:pPr>
            <a:r>
              <a:rPr lang="en-US" sz="1100" dirty="0">
                <a:solidFill>
                  <a:srgbClr val="424242"/>
                </a:solidFill>
                <a:latin typeface="Calibri" pitchFamily="34" charset="0"/>
                <a:ea typeface="Calibri" pitchFamily="34" charset="-122"/>
                <a:cs typeface="Calibri" pitchFamily="34" charset="-120"/>
              </a:rPr>
              <a:t>315 × 560 es 9:16, vertical. 560 × 315 es 16:9, horizontal.</a:t>
            </a:r>
            <a:endParaRPr lang="en-US" sz="1100" dirty="0"/>
          </a:p>
        </p:txBody>
      </p:sp>
      <p:sp>
        <p:nvSpPr>
          <p:cNvPr id="13" name="Shape 11"/>
          <p:cNvSpPr/>
          <p:nvPr/>
        </p:nvSpPr>
        <p:spPr>
          <a:xfrm>
            <a:off x="6629400" y="4114800"/>
            <a:ext cx="4937760" cy="649224"/>
          </a:xfrm>
          <a:prstGeom prst="roundRect">
            <a:avLst>
              <a:gd name="adj" fmla="val 14085"/>
            </a:avLst>
          </a:prstGeom>
          <a:solidFill>
            <a:srgbClr val="F7FDF4"/>
          </a:solidFill>
          <a:ln w="12700">
            <a:solidFill>
              <a:srgbClr val="D9F2CC"/>
            </a:solidFill>
            <a:prstDash val="solid"/>
          </a:ln>
        </p:spPr>
      </p:sp>
      <p:sp>
        <p:nvSpPr>
          <p:cNvPr id="14" name="Text 12"/>
          <p:cNvSpPr txBox="1"/>
          <p:nvPr/>
        </p:nvSpPr>
        <p:spPr>
          <a:xfrm>
            <a:off x="6903720" y="4114800"/>
            <a:ext cx="1600200" cy="649224"/>
          </a:xfrm>
          <a:prstGeom prst="rect">
            <a:avLst/>
          </a:prstGeom>
          <a:noFill/>
          <a:ln/>
        </p:spPr>
        <p:txBody>
          <a:bodyPr wrap="square" lIns="0" tIns="0" rIns="0" bIns="0" rtlCol="0" anchor="ctr"/>
          <a:lstStyle/>
          <a:p>
            <a:pPr indent="0" marL="0">
              <a:buNone/>
            </a:pPr>
            <a:r>
              <a:rPr lang="en-US" sz="1200" b="1" dirty="0">
                <a:solidFill>
                  <a:srgbClr val="4FB817"/>
                </a:solidFill>
                <a:latin typeface="Calibri" pitchFamily="34" charset="0"/>
                <a:ea typeface="Calibri" pitchFamily="34" charset="-122"/>
                <a:cs typeface="Calibri" pitchFamily="34" charset="-120"/>
              </a:rPr>
              <a:t>figure y figcaption</a:t>
            </a:r>
            <a:endParaRPr lang="en-US" sz="1200" dirty="0"/>
          </a:p>
        </p:txBody>
      </p:sp>
      <p:sp>
        <p:nvSpPr>
          <p:cNvPr id="15" name="Text 13"/>
          <p:cNvSpPr txBox="1"/>
          <p:nvPr/>
        </p:nvSpPr>
        <p:spPr>
          <a:xfrm>
            <a:off x="8503920" y="4114800"/>
            <a:ext cx="2788920" cy="649224"/>
          </a:xfrm>
          <a:prstGeom prst="rect">
            <a:avLst/>
          </a:prstGeom>
          <a:noFill/>
          <a:ln/>
        </p:spPr>
        <p:txBody>
          <a:bodyPr wrap="square" lIns="0" tIns="0" rIns="0" bIns="0" rtlCol="0" anchor="ctr"/>
          <a:lstStyle/>
          <a:p>
            <a:pPr indent="0" marL="0">
              <a:buNone/>
            </a:pPr>
            <a:r>
              <a:rPr lang="en-US" sz="1100" dirty="0">
                <a:solidFill>
                  <a:srgbClr val="424242"/>
                </a:solidFill>
                <a:latin typeface="Calibri" pitchFamily="34" charset="0"/>
                <a:ea typeface="Calibri" pitchFamily="34" charset="-122"/>
                <a:cs typeface="Calibri" pitchFamily="34" charset="-120"/>
              </a:rPr>
              <a:t>El pie del video, igual que en tus imágenes de la sesión 04.</a:t>
            </a:r>
            <a:endParaRPr lang="en-US" sz="1100" dirty="0"/>
          </a:p>
        </p:txBody>
      </p:sp>
      <p:sp>
        <p:nvSpPr>
          <p:cNvPr id="16" name="Shape 14"/>
          <p:cNvSpPr/>
          <p:nvPr/>
        </p:nvSpPr>
        <p:spPr>
          <a:xfrm>
            <a:off x="640080" y="4992624"/>
            <a:ext cx="10927080" cy="713232"/>
          </a:xfrm>
          <a:prstGeom prst="roundRect">
            <a:avLst>
              <a:gd name="adj" fmla="val 12821"/>
            </a:avLst>
          </a:prstGeom>
          <a:solidFill>
            <a:srgbClr val="FBF4F2"/>
          </a:solidFill>
          <a:ln w="12700">
            <a:solidFill>
              <a:srgbClr val="F0D8D2"/>
            </a:solidFill>
            <a:prstDash val="solid"/>
          </a:ln>
        </p:spPr>
      </p:sp>
      <p:sp>
        <p:nvSpPr>
          <p:cNvPr id="17" name="Text 15"/>
          <p:cNvSpPr txBox="1"/>
          <p:nvPr/>
        </p:nvSpPr>
        <p:spPr>
          <a:xfrm>
            <a:off x="950976" y="4992624"/>
            <a:ext cx="10305288" cy="713232"/>
          </a:xfrm>
          <a:prstGeom prst="rect">
            <a:avLst/>
          </a:prstGeom>
          <a:noFill/>
          <a:ln/>
        </p:spPr>
        <p:txBody>
          <a:bodyPr wrap="square" lIns="0" tIns="0" rIns="0" bIns="0" rtlCol="0" anchor="ctr"/>
          <a:lstStyle/>
          <a:p>
            <a:pPr indent="0" marL="0">
              <a:lnSpc>
                <a:spcPct val="120000"/>
              </a:lnSpc>
              <a:buNone/>
            </a:pPr>
            <a:r>
              <a:rPr lang="en-US" sz="1200" b="1" dirty="0">
                <a:solidFill>
                  <a:srgbClr val="B5462F"/>
                </a:solidFill>
                <a:latin typeface="Calibri" pitchFamily="34" charset="0"/>
                <a:ea typeface="Calibri" pitchFamily="34" charset="-122"/>
                <a:cs typeface="Calibri" pitchFamily="34" charset="-120"/>
              </a:rPr>
              <a:t>En tu portafolio:  </a:t>
            </a:r>
            <a:pPr indent="0" marL="0">
              <a:lnSpc>
                <a:spcPct val="120000"/>
              </a:lnSpc>
              <a:buNone/>
            </a:pPr>
            <a:r>
              <a:rPr lang="en-US" sz="1200" dirty="0">
                <a:solidFill>
                  <a:srgbClr val="424242"/>
                </a:solidFill>
                <a:latin typeface="Calibri" pitchFamily="34" charset="0"/>
                <a:ea typeface="Calibri" pitchFamily="34" charset="-122"/>
                <a:cs typeface="Calibri" pitchFamily="34" charset="-120"/>
              </a:rPr>
              <a:t>el video es vertical (9:16), pero la etiqueta dice width="560" height="315". Por eso se ve pequeño y con franjas vacías a los lados.</a:t>
            </a:r>
            <a:endParaRPr lang="en-US" sz="1200" dirty="0"/>
          </a:p>
        </p:txBody>
      </p:sp>
      <p:sp>
        <p:nvSpPr>
          <p:cNvPr id="18" name="Text 16"/>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24 / 48</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03 · RENDIMIENTO</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30 MB para 11 segundos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Tu presentacion.mp4 está en 4K vertical y se muestra en un recuadro de 315 × 560.</a:t>
            </a:r>
            <a:endParaRPr lang="en-US" sz="1250" dirty="0"/>
          </a:p>
        </p:txBody>
      </p:sp>
      <p:sp>
        <p:nvSpPr>
          <p:cNvPr id="5" name="Shape 3"/>
          <p:cNvSpPr/>
          <p:nvPr/>
        </p:nvSpPr>
        <p:spPr>
          <a:xfrm>
            <a:off x="640080" y="2615184"/>
            <a:ext cx="4846320" cy="1600200"/>
          </a:xfrm>
          <a:prstGeom prst="roundRect">
            <a:avLst>
              <a:gd name="adj" fmla="val 5714"/>
            </a:avLst>
          </a:prstGeom>
          <a:solidFill>
            <a:srgbClr val="FBF4F2"/>
          </a:solidFill>
          <a:ln w="12700">
            <a:solidFill>
              <a:srgbClr val="F0D8D2"/>
            </a:solidFill>
            <a:prstDash val="solid"/>
          </a:ln>
        </p:spPr>
      </p:sp>
      <p:sp>
        <p:nvSpPr>
          <p:cNvPr id="6" name="Text 4"/>
          <p:cNvSpPr txBox="1"/>
          <p:nvPr/>
        </p:nvSpPr>
        <p:spPr>
          <a:xfrm>
            <a:off x="950976" y="2761488"/>
            <a:ext cx="1828800" cy="237744"/>
          </a:xfrm>
          <a:prstGeom prst="rect">
            <a:avLst/>
          </a:prstGeom>
          <a:noFill/>
          <a:ln/>
        </p:spPr>
        <p:txBody>
          <a:bodyPr wrap="square" lIns="0" tIns="0" rIns="0" bIns="0" rtlCol="0" anchor="ctr"/>
          <a:lstStyle/>
          <a:p>
            <a:pPr indent="0" marL="0">
              <a:buNone/>
            </a:pPr>
            <a:r>
              <a:rPr lang="en-US" sz="1050" b="1" spc="300" kern="0" dirty="0">
                <a:solidFill>
                  <a:srgbClr val="B5462F"/>
                </a:solidFill>
                <a:latin typeface="Calibri" pitchFamily="34" charset="0"/>
                <a:ea typeface="Calibri" pitchFamily="34" charset="-122"/>
                <a:cs typeface="Calibri" pitchFamily="34" charset="-120"/>
              </a:rPr>
              <a:t>ANTES</a:t>
            </a:r>
            <a:endParaRPr lang="en-US" sz="1050" dirty="0"/>
          </a:p>
        </p:txBody>
      </p:sp>
      <p:sp>
        <p:nvSpPr>
          <p:cNvPr id="7" name="Text 5"/>
          <p:cNvSpPr txBox="1"/>
          <p:nvPr/>
        </p:nvSpPr>
        <p:spPr>
          <a:xfrm>
            <a:off x="950976" y="2999232"/>
            <a:ext cx="4206240" cy="731520"/>
          </a:xfrm>
          <a:prstGeom prst="rect">
            <a:avLst/>
          </a:prstGeom>
          <a:noFill/>
          <a:ln/>
        </p:spPr>
        <p:txBody>
          <a:bodyPr wrap="square" lIns="0" tIns="0" rIns="0" bIns="0" rtlCol="0" anchor="ctr"/>
          <a:lstStyle/>
          <a:p>
            <a:pPr indent="0" marL="0">
              <a:buNone/>
            </a:pPr>
            <a:r>
              <a:rPr lang="en-US" sz="4400" b="1" dirty="0">
                <a:solidFill>
                  <a:srgbClr val="B5462F"/>
                </a:solidFill>
                <a:latin typeface="Calibri" pitchFamily="34" charset="0"/>
                <a:ea typeface="Calibri" pitchFamily="34" charset="-122"/>
                <a:cs typeface="Calibri" pitchFamily="34" charset="-120"/>
              </a:rPr>
              <a:t>30,5 MB</a:t>
            </a:r>
            <a:endParaRPr lang="en-US" sz="4400" dirty="0"/>
          </a:p>
        </p:txBody>
      </p:sp>
      <p:sp>
        <p:nvSpPr>
          <p:cNvPr id="8" name="Text 6"/>
          <p:cNvSpPr txBox="1"/>
          <p:nvPr/>
        </p:nvSpPr>
        <p:spPr>
          <a:xfrm>
            <a:off x="950976" y="3749040"/>
            <a:ext cx="4206240" cy="29260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2160 × 3840 px · 60 fotogramas por segundo</a:t>
            </a:r>
            <a:endParaRPr lang="en-US" sz="1200" dirty="0"/>
          </a:p>
        </p:txBody>
      </p:sp>
      <p:sp>
        <p:nvSpPr>
          <p:cNvPr id="9" name="Text 7"/>
          <p:cNvSpPr txBox="1"/>
          <p:nvPr/>
        </p:nvSpPr>
        <p:spPr>
          <a:xfrm>
            <a:off x="5486400" y="2615184"/>
            <a:ext cx="1234440" cy="1600200"/>
          </a:xfrm>
          <a:prstGeom prst="rect">
            <a:avLst/>
          </a:prstGeom>
          <a:noFill/>
          <a:ln/>
        </p:spPr>
        <p:txBody>
          <a:bodyPr wrap="square" lIns="0" tIns="0" rIns="0" bIns="0" rtlCol="0" anchor="ctr"/>
          <a:lstStyle/>
          <a:p>
            <a:pPr algn="ctr" indent="0" marL="0">
              <a:buNone/>
            </a:pPr>
            <a:r>
              <a:rPr lang="en-US" sz="3400" b="1" dirty="0">
                <a:solidFill>
                  <a:srgbClr val="AEB5B3"/>
                </a:solidFill>
                <a:latin typeface="Calibri" pitchFamily="34" charset="0"/>
                <a:ea typeface="Calibri" pitchFamily="34" charset="-122"/>
                <a:cs typeface="Calibri" pitchFamily="34" charset="-120"/>
              </a:rPr>
              <a:t>→</a:t>
            </a:r>
            <a:endParaRPr lang="en-US" sz="3400" dirty="0"/>
          </a:p>
        </p:txBody>
      </p:sp>
      <p:sp>
        <p:nvSpPr>
          <p:cNvPr id="10" name="Shape 8"/>
          <p:cNvSpPr/>
          <p:nvPr/>
        </p:nvSpPr>
        <p:spPr>
          <a:xfrm>
            <a:off x="6720840" y="2615184"/>
            <a:ext cx="4846320" cy="1600200"/>
          </a:xfrm>
          <a:prstGeom prst="roundRect">
            <a:avLst>
              <a:gd name="adj" fmla="val 5714"/>
            </a:avLst>
          </a:prstGeom>
          <a:solidFill>
            <a:srgbClr val="F0FCE8"/>
          </a:solidFill>
          <a:ln w="12700">
            <a:solidFill>
              <a:srgbClr val="D9F2CC"/>
            </a:solidFill>
            <a:prstDash val="solid"/>
          </a:ln>
        </p:spPr>
      </p:sp>
      <p:sp>
        <p:nvSpPr>
          <p:cNvPr id="11" name="Text 9"/>
          <p:cNvSpPr txBox="1"/>
          <p:nvPr/>
        </p:nvSpPr>
        <p:spPr>
          <a:xfrm>
            <a:off x="7031736" y="2761488"/>
            <a:ext cx="1828800" cy="237744"/>
          </a:xfrm>
          <a:prstGeom prst="rect">
            <a:avLst/>
          </a:prstGeom>
          <a:noFill/>
          <a:ln/>
        </p:spPr>
        <p:txBody>
          <a:bodyPr wrap="square" lIns="0" tIns="0" rIns="0" bIns="0" rtlCol="0" anchor="ctr"/>
          <a:lstStyle/>
          <a:p>
            <a:pPr indent="0" marL="0">
              <a:buNone/>
            </a:pPr>
            <a:r>
              <a:rPr lang="en-US" sz="1050" b="1" spc="300" kern="0" dirty="0">
                <a:solidFill>
                  <a:srgbClr val="4FB817"/>
                </a:solidFill>
                <a:latin typeface="Calibri" pitchFamily="34" charset="0"/>
                <a:ea typeface="Calibri" pitchFamily="34" charset="-122"/>
                <a:cs typeface="Calibri" pitchFamily="34" charset="-120"/>
              </a:rPr>
              <a:t>DESPUÉS</a:t>
            </a:r>
            <a:endParaRPr lang="en-US" sz="1050" dirty="0"/>
          </a:p>
        </p:txBody>
      </p:sp>
      <p:sp>
        <p:nvSpPr>
          <p:cNvPr id="12" name="Text 10"/>
          <p:cNvSpPr txBox="1"/>
          <p:nvPr/>
        </p:nvSpPr>
        <p:spPr>
          <a:xfrm>
            <a:off x="7031736" y="2999232"/>
            <a:ext cx="4206240" cy="731520"/>
          </a:xfrm>
          <a:prstGeom prst="rect">
            <a:avLst/>
          </a:prstGeom>
          <a:noFill/>
          <a:ln/>
        </p:spPr>
        <p:txBody>
          <a:bodyPr wrap="square" lIns="0" tIns="0" rIns="0" bIns="0" rtlCol="0" anchor="ctr"/>
          <a:lstStyle/>
          <a:p>
            <a:pPr indent="0" marL="0">
              <a:buNone/>
            </a:pPr>
            <a:r>
              <a:rPr lang="en-US" sz="4400" b="1" dirty="0">
                <a:solidFill>
                  <a:srgbClr val="4FB817"/>
                </a:solidFill>
                <a:latin typeface="Calibri" pitchFamily="34" charset="0"/>
                <a:ea typeface="Calibri" pitchFamily="34" charset="-122"/>
                <a:cs typeface="Calibri" pitchFamily="34" charset="-120"/>
              </a:rPr>
              <a:t>1,7 MB</a:t>
            </a:r>
            <a:endParaRPr lang="en-US" sz="4400" dirty="0"/>
          </a:p>
        </p:txBody>
      </p:sp>
      <p:sp>
        <p:nvSpPr>
          <p:cNvPr id="13" name="Text 11"/>
          <p:cNvSpPr txBox="1"/>
          <p:nvPr/>
        </p:nvSpPr>
        <p:spPr>
          <a:xfrm>
            <a:off x="7031736" y="3749040"/>
            <a:ext cx="4206240" cy="29260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720 × 1280 px · 30 fotogramas por segundo</a:t>
            </a:r>
            <a:endParaRPr lang="en-US" sz="1200" dirty="0"/>
          </a:p>
        </p:txBody>
      </p:sp>
      <p:sp>
        <p:nvSpPr>
          <p:cNvPr id="14" name="Shape 12"/>
          <p:cNvSpPr/>
          <p:nvPr/>
        </p:nvSpPr>
        <p:spPr>
          <a:xfrm>
            <a:off x="640080" y="4425696"/>
            <a:ext cx="3520440" cy="1188720"/>
          </a:xfrm>
          <a:prstGeom prst="roundRect">
            <a:avLst>
              <a:gd name="adj" fmla="val 7692"/>
            </a:avLst>
          </a:prstGeom>
          <a:solidFill>
            <a:srgbClr val="F7FDF4"/>
          </a:solidFill>
          <a:ln w="12700">
            <a:solidFill>
              <a:srgbClr val="D9F2CC"/>
            </a:solidFill>
            <a:prstDash val="solid"/>
          </a:ln>
        </p:spPr>
      </p:sp>
      <p:sp>
        <p:nvSpPr>
          <p:cNvPr id="15" name="Shape 13"/>
          <p:cNvSpPr/>
          <p:nvPr/>
        </p:nvSpPr>
        <p:spPr>
          <a:xfrm>
            <a:off x="859536" y="4608576"/>
            <a:ext cx="365760" cy="365760"/>
          </a:xfrm>
          <a:prstGeom prst="ellipse">
            <a:avLst/>
          </a:prstGeom>
          <a:solidFill>
            <a:srgbClr val="36C4CC"/>
          </a:solidFill>
          <a:ln w="12700">
            <a:solidFill>
              <a:srgbClr val="36C4CC"/>
            </a:solidFill>
            <a:prstDash val="solid"/>
          </a:ln>
        </p:spPr>
      </p:sp>
      <p:sp>
        <p:nvSpPr>
          <p:cNvPr id="16" name="Text 14"/>
          <p:cNvSpPr txBox="1"/>
          <p:nvPr/>
        </p:nvSpPr>
        <p:spPr>
          <a:xfrm>
            <a:off x="859536" y="4608576"/>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7" name="Text 15"/>
          <p:cNvSpPr txBox="1"/>
          <p:nvPr/>
        </p:nvSpPr>
        <p:spPr>
          <a:xfrm>
            <a:off x="1371600" y="4608576"/>
            <a:ext cx="2606040" cy="365760"/>
          </a:xfrm>
          <a:prstGeom prst="rect">
            <a:avLst/>
          </a:prstGeom>
          <a:noFill/>
          <a:ln/>
        </p:spPr>
        <p:txBody>
          <a:bodyPr wrap="square" lIns="0" tIns="0" rIns="0" bIns="0" rtlCol="0" anchor="ctr"/>
          <a:lstStyle/>
          <a:p>
            <a:pPr indent="0" marL="0">
              <a:buNone/>
            </a:pPr>
            <a:r>
              <a:rPr lang="en-US" sz="1300" b="1" dirty="0">
                <a:solidFill>
                  <a:srgbClr val="36C4CC"/>
                </a:solidFill>
                <a:latin typeface="Calibri" pitchFamily="34" charset="0"/>
                <a:ea typeface="Calibri" pitchFamily="34" charset="-122"/>
                <a:cs typeface="Calibri" pitchFamily="34" charset="-120"/>
              </a:rPr>
              <a:t>Baja la resolución</a:t>
            </a:r>
            <a:endParaRPr lang="en-US" sz="1300" dirty="0"/>
          </a:p>
        </p:txBody>
      </p:sp>
      <p:sp>
        <p:nvSpPr>
          <p:cNvPr id="18" name="Text 16"/>
          <p:cNvSpPr txBox="1"/>
          <p:nvPr/>
        </p:nvSpPr>
        <p:spPr>
          <a:xfrm>
            <a:off x="886968" y="5065776"/>
            <a:ext cx="3063240" cy="457200"/>
          </a:xfrm>
          <a:prstGeom prst="rect">
            <a:avLst/>
          </a:prstGeom>
          <a:noFill/>
          <a:ln/>
        </p:spPr>
        <p:txBody>
          <a:bodyPr wrap="square" lIns="0" tIns="0" rIns="0" bIns="0" rtlCol="0" anchor="t"/>
          <a:lstStyle/>
          <a:p>
            <a:pPr indent="0" marL="0">
              <a:buNone/>
            </a:pPr>
            <a:r>
              <a:rPr lang="en-US" sz="1150" dirty="0">
                <a:solidFill>
                  <a:srgbClr val="424242"/>
                </a:solidFill>
                <a:latin typeface="Calibri" pitchFamily="34" charset="0"/>
                <a:ea typeface="Calibri" pitchFamily="34" charset="-122"/>
                <a:cs typeface="Calibri" pitchFamily="34" charset="-120"/>
              </a:rPr>
              <a:t>720 px de ancho sobran para un recuadro de 315.</a:t>
            </a:r>
            <a:endParaRPr lang="en-US" sz="1150" dirty="0"/>
          </a:p>
        </p:txBody>
      </p:sp>
      <p:sp>
        <p:nvSpPr>
          <p:cNvPr id="19" name="Shape 17"/>
          <p:cNvSpPr/>
          <p:nvPr/>
        </p:nvSpPr>
        <p:spPr>
          <a:xfrm>
            <a:off x="4343400" y="4425696"/>
            <a:ext cx="3520440" cy="1188720"/>
          </a:xfrm>
          <a:prstGeom prst="roundRect">
            <a:avLst>
              <a:gd name="adj" fmla="val 7692"/>
            </a:avLst>
          </a:prstGeom>
          <a:solidFill>
            <a:srgbClr val="F7FDF4"/>
          </a:solidFill>
          <a:ln w="12700">
            <a:solidFill>
              <a:srgbClr val="D9F2CC"/>
            </a:solidFill>
            <a:prstDash val="solid"/>
          </a:ln>
        </p:spPr>
      </p:sp>
      <p:sp>
        <p:nvSpPr>
          <p:cNvPr id="20" name="Shape 18"/>
          <p:cNvSpPr/>
          <p:nvPr/>
        </p:nvSpPr>
        <p:spPr>
          <a:xfrm>
            <a:off x="4562856" y="4608576"/>
            <a:ext cx="365760" cy="365760"/>
          </a:xfrm>
          <a:prstGeom prst="ellipse">
            <a:avLst/>
          </a:prstGeom>
          <a:solidFill>
            <a:srgbClr val="72EF29"/>
          </a:solidFill>
          <a:ln w="12700">
            <a:solidFill>
              <a:srgbClr val="72EF29"/>
            </a:solidFill>
            <a:prstDash val="solid"/>
          </a:ln>
        </p:spPr>
      </p:sp>
      <p:sp>
        <p:nvSpPr>
          <p:cNvPr id="21" name="Text 19"/>
          <p:cNvSpPr txBox="1"/>
          <p:nvPr/>
        </p:nvSpPr>
        <p:spPr>
          <a:xfrm>
            <a:off x="4562856" y="4608576"/>
            <a:ext cx="365760" cy="365760"/>
          </a:xfrm>
          <a:prstGeom prst="rect">
            <a:avLst/>
          </a:prstGeom>
          <a:noFill/>
          <a:ln/>
        </p:spPr>
        <p:txBody>
          <a:bodyPr wrap="square" lIns="0" tIns="0" rIns="0" bIns="0" rtlCol="0" anchor="ctr"/>
          <a:lstStyle/>
          <a:p>
            <a:pPr algn="ctr" indent="0" marL="0">
              <a:buNone/>
            </a:pPr>
            <a:r>
              <a:rPr lang="en-US" sz="1150" b="1" dirty="0">
                <a:solidFill>
                  <a:srgbClr val="2A2A2A"/>
                </a:solidFill>
                <a:latin typeface="Calibri" pitchFamily="34" charset="0"/>
                <a:ea typeface="Calibri" pitchFamily="34" charset="-122"/>
                <a:cs typeface="Calibri" pitchFamily="34" charset="-120"/>
              </a:rPr>
              <a:t>2</a:t>
            </a:r>
            <a:endParaRPr lang="en-US" sz="1150" dirty="0"/>
          </a:p>
        </p:txBody>
      </p:sp>
      <p:sp>
        <p:nvSpPr>
          <p:cNvPr id="22" name="Text 20"/>
          <p:cNvSpPr txBox="1"/>
          <p:nvPr/>
        </p:nvSpPr>
        <p:spPr>
          <a:xfrm>
            <a:off x="5074920" y="4608576"/>
            <a:ext cx="2606040" cy="365760"/>
          </a:xfrm>
          <a:prstGeom prst="rect">
            <a:avLst/>
          </a:prstGeom>
          <a:noFill/>
          <a:ln/>
        </p:spPr>
        <p:txBody>
          <a:bodyPr wrap="square" lIns="0" tIns="0" rIns="0" bIns="0" rtlCol="0" anchor="ctr"/>
          <a:lstStyle/>
          <a:p>
            <a:pPr indent="0" marL="0">
              <a:buNone/>
            </a:pPr>
            <a:r>
              <a:rPr lang="en-US" sz="1300" b="1" dirty="0">
                <a:solidFill>
                  <a:srgbClr val="4FB817"/>
                </a:solidFill>
                <a:latin typeface="Calibri" pitchFamily="34" charset="0"/>
                <a:ea typeface="Calibri" pitchFamily="34" charset="-122"/>
                <a:cs typeface="Calibri" pitchFamily="34" charset="-120"/>
              </a:rPr>
              <a:t>Baja los fotogramas</a:t>
            </a:r>
            <a:endParaRPr lang="en-US" sz="1300" dirty="0"/>
          </a:p>
        </p:txBody>
      </p:sp>
      <p:sp>
        <p:nvSpPr>
          <p:cNvPr id="23" name="Text 21"/>
          <p:cNvSpPr txBox="1"/>
          <p:nvPr/>
        </p:nvSpPr>
        <p:spPr>
          <a:xfrm>
            <a:off x="4590288" y="5065776"/>
            <a:ext cx="3063240" cy="457200"/>
          </a:xfrm>
          <a:prstGeom prst="rect">
            <a:avLst/>
          </a:prstGeom>
          <a:noFill/>
          <a:ln/>
        </p:spPr>
        <p:txBody>
          <a:bodyPr wrap="square" lIns="0" tIns="0" rIns="0" bIns="0" rtlCol="0" anchor="t"/>
          <a:lstStyle/>
          <a:p>
            <a:pPr indent="0" marL="0">
              <a:buNone/>
            </a:pPr>
            <a:r>
              <a:rPr lang="en-US" sz="1150" dirty="0">
                <a:solidFill>
                  <a:srgbClr val="424242"/>
                </a:solidFill>
                <a:latin typeface="Calibri" pitchFamily="34" charset="0"/>
                <a:ea typeface="Calibri" pitchFamily="34" charset="-122"/>
                <a:cs typeface="Calibri" pitchFamily="34" charset="-120"/>
              </a:rPr>
              <a:t>De 60 a 30 por segundo casi no se nota.</a:t>
            </a:r>
            <a:endParaRPr lang="en-US" sz="1150" dirty="0"/>
          </a:p>
        </p:txBody>
      </p:sp>
      <p:sp>
        <p:nvSpPr>
          <p:cNvPr id="24" name="Shape 22"/>
          <p:cNvSpPr/>
          <p:nvPr/>
        </p:nvSpPr>
        <p:spPr>
          <a:xfrm>
            <a:off x="8046720" y="4425696"/>
            <a:ext cx="3520440" cy="1188720"/>
          </a:xfrm>
          <a:prstGeom prst="roundRect">
            <a:avLst>
              <a:gd name="adj" fmla="val 7692"/>
            </a:avLst>
          </a:prstGeom>
          <a:solidFill>
            <a:srgbClr val="F7FDF4"/>
          </a:solidFill>
          <a:ln w="12700">
            <a:solidFill>
              <a:srgbClr val="D9F2CC"/>
            </a:solidFill>
            <a:prstDash val="solid"/>
          </a:ln>
        </p:spPr>
      </p:sp>
      <p:sp>
        <p:nvSpPr>
          <p:cNvPr id="25" name="Shape 23"/>
          <p:cNvSpPr/>
          <p:nvPr/>
        </p:nvSpPr>
        <p:spPr>
          <a:xfrm>
            <a:off x="8266176" y="4608576"/>
            <a:ext cx="365760" cy="365760"/>
          </a:xfrm>
          <a:prstGeom prst="ellipse">
            <a:avLst/>
          </a:prstGeom>
          <a:solidFill>
            <a:srgbClr val="4FB817"/>
          </a:solidFill>
          <a:ln w="12700">
            <a:solidFill>
              <a:srgbClr val="4FB817"/>
            </a:solidFill>
            <a:prstDash val="solid"/>
          </a:ln>
        </p:spPr>
      </p:sp>
      <p:sp>
        <p:nvSpPr>
          <p:cNvPr id="26" name="Text 24"/>
          <p:cNvSpPr txBox="1"/>
          <p:nvPr/>
        </p:nvSpPr>
        <p:spPr>
          <a:xfrm>
            <a:off x="8266176" y="4608576"/>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7" name="Text 25"/>
          <p:cNvSpPr txBox="1"/>
          <p:nvPr/>
        </p:nvSpPr>
        <p:spPr>
          <a:xfrm>
            <a:off x="8778240" y="4608576"/>
            <a:ext cx="2606040" cy="365760"/>
          </a:xfrm>
          <a:prstGeom prst="rect">
            <a:avLst/>
          </a:prstGeom>
          <a:noFill/>
          <a:ln/>
        </p:spPr>
        <p:txBody>
          <a:bodyPr wrap="square" lIns="0" tIns="0" rIns="0" bIns="0" rtlCol="0" anchor="ctr"/>
          <a:lstStyle/>
          <a:p>
            <a:pPr indent="0" marL="0">
              <a:buNone/>
            </a:pPr>
            <a:r>
              <a:rPr lang="en-US" sz="1300" b="1" dirty="0">
                <a:solidFill>
                  <a:srgbClr val="4FB817"/>
                </a:solidFill>
                <a:latin typeface="Calibri" pitchFamily="34" charset="0"/>
                <a:ea typeface="Calibri" pitchFamily="34" charset="-122"/>
                <a:cs typeface="Calibri" pitchFamily="34" charset="-120"/>
              </a:rPr>
              <a:t>Exporta para web</a:t>
            </a:r>
            <a:endParaRPr lang="en-US" sz="1300" dirty="0"/>
          </a:p>
        </p:txBody>
      </p:sp>
      <p:sp>
        <p:nvSpPr>
          <p:cNvPr id="28" name="Text 26"/>
          <p:cNvSpPr txBox="1"/>
          <p:nvPr/>
        </p:nvSpPr>
        <p:spPr>
          <a:xfrm>
            <a:off x="8293608" y="5065776"/>
            <a:ext cx="3063240" cy="457200"/>
          </a:xfrm>
          <a:prstGeom prst="rect">
            <a:avLst/>
          </a:prstGeom>
          <a:noFill/>
          <a:ln/>
        </p:spPr>
        <p:txBody>
          <a:bodyPr wrap="square" lIns="0" tIns="0" rIns="0" bIns="0" rtlCol="0" anchor="t"/>
          <a:lstStyle/>
          <a:p>
            <a:pPr indent="0" marL="0">
              <a:buNone/>
            </a:pPr>
            <a:r>
              <a:rPr lang="en-US" sz="1150" dirty="0">
                <a:solidFill>
                  <a:srgbClr val="424242"/>
                </a:solidFill>
                <a:latin typeface="Calibri" pitchFamily="34" charset="0"/>
                <a:ea typeface="Calibri" pitchFamily="34" charset="-122"/>
                <a:cs typeface="Calibri" pitchFamily="34" charset="-120"/>
              </a:rPr>
              <a:t>H.264 en MP4, con la opción Optimizado para web.</a:t>
            </a:r>
            <a:endParaRPr lang="en-US" sz="1150" dirty="0"/>
          </a:p>
        </p:txBody>
      </p:sp>
      <p:sp>
        <p:nvSpPr>
          <p:cNvPr id="29" name="Text 27"/>
          <p:cNvSpPr txBox="1"/>
          <p:nvPr/>
        </p:nvSpPr>
        <p:spPr>
          <a:xfrm>
            <a:off x="640080" y="5852160"/>
            <a:ext cx="10927080" cy="256032"/>
          </a:xfrm>
          <a:prstGeom prst="rect">
            <a:avLst/>
          </a:prstGeom>
          <a:noFill/>
          <a:ln/>
        </p:spPr>
        <p:txBody>
          <a:bodyPr wrap="square" lIns="0" tIns="0" rIns="0" bIns="0" rtlCol="0" anchor="ctr"/>
          <a:lstStyle/>
          <a:p>
            <a:pPr algn="ctr" indent="0" marL="0">
              <a:buNone/>
            </a:pPr>
            <a:r>
              <a:rPr lang="en-US" sz="1150" i="1" dirty="0">
                <a:solidFill>
                  <a:srgbClr val="4FB817"/>
                </a:solidFill>
                <a:latin typeface="Calibri" pitchFamily="34" charset="0"/>
                <a:ea typeface="Calibri" pitchFamily="34" charset="-122"/>
                <a:cs typeface="Calibri" pitchFamily="34" charset="-120"/>
              </a:rPr>
              <a:t>Herramienta gratuita: HandBrake. El paquete de la sesión ya incluye el video optimizado.</a:t>
            </a:r>
            <a:endParaRPr lang="en-US" sz="1150" dirty="0"/>
          </a:p>
        </p:txBody>
      </p:sp>
      <p:sp>
        <p:nvSpPr>
          <p:cNvPr id="30" name="Text 28"/>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25 / 48</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03 · RENDIMIENTO</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El iframe de YouTube, limpio</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El código que entrega YouTube trae atributos que conviene revisar.</a:t>
            </a:r>
            <a:endParaRPr lang="en-US" sz="1250" dirty="0"/>
          </a:p>
        </p:txBody>
      </p:sp>
      <p:sp>
        <p:nvSpPr>
          <p:cNvPr id="5" name="Shape 3"/>
          <p:cNvSpPr/>
          <p:nvPr/>
        </p:nvSpPr>
        <p:spPr>
          <a:xfrm>
            <a:off x="640080" y="2615184"/>
            <a:ext cx="5943600" cy="2514600"/>
          </a:xfrm>
          <a:prstGeom prst="roundRect">
            <a:avLst>
              <a:gd name="adj" fmla="val 3636"/>
            </a:avLst>
          </a:prstGeom>
          <a:solidFill>
            <a:srgbClr val="2B2B2B"/>
          </a:solidFill>
          <a:ln w="12700">
            <a:solidFill>
              <a:srgbClr val="2B2B2B"/>
            </a:solidFill>
            <a:prstDash val="solid"/>
          </a:ln>
        </p:spPr>
      </p:sp>
      <p:sp>
        <p:nvSpPr>
          <p:cNvPr id="6" name="Text 4"/>
          <p:cNvSpPr txBox="1"/>
          <p:nvPr/>
        </p:nvSpPr>
        <p:spPr>
          <a:xfrm>
            <a:off x="868680" y="2779776"/>
            <a:ext cx="5486400" cy="2185416"/>
          </a:xfrm>
          <a:prstGeom prst="rect">
            <a:avLst/>
          </a:prstGeom>
          <a:noFill/>
          <a:ln/>
        </p:spPr>
        <p:txBody>
          <a:bodyPr wrap="square" lIns="0" tIns="0" rIns="0" bIns="0" rtlCol="0" anchor="t"/>
          <a:lstStyle/>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&lt;iframe</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width="560"</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height="315"</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src="https://www.youtube.com/embed/TNhX1uR2vO8"</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title=</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"Reproductor de video de YouTube"</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loading="lazy"</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allow="…"</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allowfullscreen</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&gt;&lt;/iframe&gt;</a:t>
            </a:r>
            <a:endParaRPr lang="en-US" sz="1100" dirty="0"/>
          </a:p>
        </p:txBody>
      </p:sp>
      <p:sp>
        <p:nvSpPr>
          <p:cNvPr id="7" name="Shape 5"/>
          <p:cNvSpPr/>
          <p:nvPr/>
        </p:nvSpPr>
        <p:spPr>
          <a:xfrm>
            <a:off x="6812280" y="2615184"/>
            <a:ext cx="4754880" cy="566928"/>
          </a:xfrm>
          <a:prstGeom prst="roundRect">
            <a:avLst>
              <a:gd name="adj" fmla="val 16129"/>
            </a:avLst>
          </a:prstGeom>
          <a:solidFill>
            <a:srgbClr val="F7FDF4"/>
          </a:solidFill>
          <a:ln w="12700">
            <a:solidFill>
              <a:srgbClr val="D9F2CC"/>
            </a:solidFill>
            <a:prstDash val="solid"/>
          </a:ln>
        </p:spPr>
      </p:sp>
      <p:sp>
        <p:nvSpPr>
          <p:cNvPr id="8" name="Text 6"/>
          <p:cNvSpPr txBox="1"/>
          <p:nvPr/>
        </p:nvSpPr>
        <p:spPr>
          <a:xfrm>
            <a:off x="7086600" y="2615184"/>
            <a:ext cx="1417320" cy="566928"/>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title</a:t>
            </a:r>
            <a:endParaRPr lang="en-US" sz="1100" dirty="0"/>
          </a:p>
        </p:txBody>
      </p:sp>
      <p:sp>
        <p:nvSpPr>
          <p:cNvPr id="9" name="Text 7"/>
          <p:cNvSpPr txBox="1"/>
          <p:nvPr/>
        </p:nvSpPr>
        <p:spPr>
          <a:xfrm>
            <a:off x="8503920" y="2615184"/>
            <a:ext cx="2788920" cy="566928"/>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Obligatorio: nombra el contenido para el lector de pantalla.</a:t>
            </a:r>
            <a:endParaRPr lang="en-US" sz="1050" dirty="0"/>
          </a:p>
        </p:txBody>
      </p:sp>
      <p:sp>
        <p:nvSpPr>
          <p:cNvPr id="10" name="Shape 8"/>
          <p:cNvSpPr/>
          <p:nvPr/>
        </p:nvSpPr>
        <p:spPr>
          <a:xfrm>
            <a:off x="6812280" y="3264408"/>
            <a:ext cx="4754880" cy="566928"/>
          </a:xfrm>
          <a:prstGeom prst="roundRect">
            <a:avLst>
              <a:gd name="adj" fmla="val 16129"/>
            </a:avLst>
          </a:prstGeom>
          <a:solidFill>
            <a:srgbClr val="FFFFFF"/>
          </a:solidFill>
          <a:ln w="12700">
            <a:solidFill>
              <a:srgbClr val="D9F2CC"/>
            </a:solidFill>
            <a:prstDash val="solid"/>
          </a:ln>
        </p:spPr>
      </p:sp>
      <p:sp>
        <p:nvSpPr>
          <p:cNvPr id="11" name="Text 9"/>
          <p:cNvSpPr txBox="1"/>
          <p:nvPr/>
        </p:nvSpPr>
        <p:spPr>
          <a:xfrm>
            <a:off x="7086600" y="3264408"/>
            <a:ext cx="1417320" cy="566928"/>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loading="lazy"</a:t>
            </a:r>
            <a:endParaRPr lang="en-US" sz="1100" dirty="0"/>
          </a:p>
        </p:txBody>
      </p:sp>
      <p:sp>
        <p:nvSpPr>
          <p:cNvPr id="12" name="Text 10"/>
          <p:cNvSpPr txBox="1"/>
          <p:nvPr/>
        </p:nvSpPr>
        <p:spPr>
          <a:xfrm>
            <a:off x="8503920" y="3264408"/>
            <a:ext cx="2788920" cy="566928"/>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No carga el reproductor hasta que te acercas a él.</a:t>
            </a:r>
            <a:endParaRPr lang="en-US" sz="1050" dirty="0"/>
          </a:p>
        </p:txBody>
      </p:sp>
      <p:sp>
        <p:nvSpPr>
          <p:cNvPr id="13" name="Shape 11"/>
          <p:cNvSpPr/>
          <p:nvPr/>
        </p:nvSpPr>
        <p:spPr>
          <a:xfrm>
            <a:off x="6812280" y="3913632"/>
            <a:ext cx="4754880" cy="566928"/>
          </a:xfrm>
          <a:prstGeom prst="roundRect">
            <a:avLst>
              <a:gd name="adj" fmla="val 16129"/>
            </a:avLst>
          </a:prstGeom>
          <a:solidFill>
            <a:srgbClr val="F7FDF4"/>
          </a:solidFill>
          <a:ln w="12700">
            <a:solidFill>
              <a:srgbClr val="D9F2CC"/>
            </a:solidFill>
            <a:prstDash val="solid"/>
          </a:ln>
        </p:spPr>
      </p:sp>
      <p:sp>
        <p:nvSpPr>
          <p:cNvPr id="14" name="Text 12"/>
          <p:cNvSpPr txBox="1"/>
          <p:nvPr/>
        </p:nvSpPr>
        <p:spPr>
          <a:xfrm>
            <a:off x="7086600" y="3913632"/>
            <a:ext cx="1417320" cy="566928"/>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frameborder</a:t>
            </a:r>
            <a:endParaRPr lang="en-US" sz="1100" dirty="0"/>
          </a:p>
        </p:txBody>
      </p:sp>
      <p:sp>
        <p:nvSpPr>
          <p:cNvPr id="15" name="Text 13"/>
          <p:cNvSpPr txBox="1"/>
          <p:nvPr/>
        </p:nvSpPr>
        <p:spPr>
          <a:xfrm>
            <a:off x="8503920" y="3913632"/>
            <a:ext cx="2788920" cy="566928"/>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Obsoleto: el validador lo marca como error. El borde se quita con CSS.</a:t>
            </a:r>
            <a:endParaRPr lang="en-US" sz="1050" dirty="0"/>
          </a:p>
        </p:txBody>
      </p:sp>
      <p:sp>
        <p:nvSpPr>
          <p:cNvPr id="16" name="Shape 14"/>
          <p:cNvSpPr/>
          <p:nvPr/>
        </p:nvSpPr>
        <p:spPr>
          <a:xfrm>
            <a:off x="6812280" y="4562856"/>
            <a:ext cx="4754880" cy="566928"/>
          </a:xfrm>
          <a:prstGeom prst="roundRect">
            <a:avLst>
              <a:gd name="adj" fmla="val 16129"/>
            </a:avLst>
          </a:prstGeom>
          <a:solidFill>
            <a:srgbClr val="FFFFFF"/>
          </a:solidFill>
          <a:ln w="12700">
            <a:solidFill>
              <a:srgbClr val="D9F2CC"/>
            </a:solidFill>
            <a:prstDash val="solid"/>
          </a:ln>
        </p:spPr>
      </p:sp>
      <p:sp>
        <p:nvSpPr>
          <p:cNvPr id="17" name="Text 15"/>
          <p:cNvSpPr txBox="1"/>
          <p:nvPr/>
        </p:nvSpPr>
        <p:spPr>
          <a:xfrm>
            <a:off x="7086600" y="4562856"/>
            <a:ext cx="1417320" cy="566928"/>
          </a:xfrm>
          <a:prstGeom prst="rect">
            <a:avLst/>
          </a:prstGeom>
          <a:noFill/>
          <a:ln/>
        </p:spPr>
        <p:txBody>
          <a:bodyPr wrap="square" lIns="0" tIns="0" rIns="0" bIns="0" rtlCol="0" anchor="ctr"/>
          <a:lstStyle/>
          <a:p>
            <a:pPr indent="0" marL="0">
              <a:buNone/>
            </a:pPr>
            <a:r>
              <a:rPr lang="en-US" sz="1100" b="1" dirty="0">
                <a:solidFill>
                  <a:srgbClr val="4FB817"/>
                </a:solidFill>
                <a:latin typeface="Calibri" pitchFamily="34" charset="0"/>
                <a:ea typeface="Calibri" pitchFamily="34" charset="-122"/>
                <a:cs typeface="Calibri" pitchFamily="34" charset="-120"/>
              </a:rPr>
              <a:t>Texto interior</a:t>
            </a:r>
            <a:endParaRPr lang="en-US" sz="1100" dirty="0"/>
          </a:p>
        </p:txBody>
      </p:sp>
      <p:sp>
        <p:nvSpPr>
          <p:cNvPr id="18" name="Text 16"/>
          <p:cNvSpPr txBox="1"/>
          <p:nvPr/>
        </p:nvSpPr>
        <p:spPr>
          <a:xfrm>
            <a:off x="8503920" y="4562856"/>
            <a:ext cx="2788920" cy="566928"/>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Lo que escribas entre las dos etiquetas nunca se muestra.</a:t>
            </a:r>
            <a:endParaRPr lang="en-US" sz="1050" dirty="0"/>
          </a:p>
        </p:txBody>
      </p:sp>
      <p:sp>
        <p:nvSpPr>
          <p:cNvPr id="19" name="Text 17"/>
          <p:cNvSpPr txBox="1"/>
          <p:nvPr/>
        </p:nvSpPr>
        <p:spPr>
          <a:xfrm>
            <a:off x="640080" y="5577840"/>
            <a:ext cx="10927080" cy="256032"/>
          </a:xfrm>
          <a:prstGeom prst="rect">
            <a:avLst/>
          </a:prstGeom>
          <a:noFill/>
          <a:ln/>
        </p:spPr>
        <p:txBody>
          <a:bodyPr wrap="square" lIns="0" tIns="0" rIns="0" bIns="0" rtlCol="0" anchor="ctr"/>
          <a:lstStyle/>
          <a:p>
            <a:pPr algn="ctr" indent="0" marL="0">
              <a:buNone/>
            </a:pPr>
            <a:r>
              <a:rPr lang="en-US" sz="1150" i="1" dirty="0">
                <a:solidFill>
                  <a:srgbClr val="4FB817"/>
                </a:solidFill>
                <a:latin typeface="Calibri" pitchFamily="34" charset="0"/>
                <a:ea typeface="Calibri" pitchFamily="34" charset="-122"/>
                <a:cs typeface="Calibri" pitchFamily="34" charset="-120"/>
              </a:rPr>
              <a:t>En tu sobre-mi.html: quita frameborder="0" y el texto «Tu navegador no soporta…» que quedó dentro.</a:t>
            </a:r>
            <a:endParaRPr lang="en-US" sz="1150" dirty="0"/>
          </a:p>
        </p:txBody>
      </p:sp>
      <p:sp>
        <p:nvSpPr>
          <p:cNvPr id="20" name="Text 18"/>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26 / 48</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03 · RENDIMIENTO</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Rutas que no fallan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El mismo archivo, escrito de tres maneras. Solo una funciona en todas partes.</a:t>
            </a:r>
            <a:endParaRPr lang="en-US" sz="1250" dirty="0"/>
          </a:p>
        </p:txBody>
      </p:sp>
      <p:sp>
        <p:nvSpPr>
          <p:cNvPr id="5" name="Shape 3"/>
          <p:cNvSpPr/>
          <p:nvPr/>
        </p:nvSpPr>
        <p:spPr>
          <a:xfrm>
            <a:off x="640080" y="2615184"/>
            <a:ext cx="10927080" cy="576072"/>
          </a:xfrm>
          <a:prstGeom prst="roundRect">
            <a:avLst>
              <a:gd name="adj" fmla="val 15873"/>
            </a:avLst>
          </a:prstGeom>
          <a:solidFill>
            <a:srgbClr val="F0FCE8"/>
          </a:solidFill>
          <a:ln w="12700">
            <a:solidFill>
              <a:srgbClr val="D9F2CC"/>
            </a:solidFill>
            <a:prstDash val="solid"/>
          </a:ln>
        </p:spPr>
      </p:sp>
      <p:sp>
        <p:nvSpPr>
          <p:cNvPr id="6" name="Text 4"/>
          <p:cNvSpPr txBox="1"/>
          <p:nvPr/>
        </p:nvSpPr>
        <p:spPr>
          <a:xfrm>
            <a:off x="914400" y="2615184"/>
            <a:ext cx="4114800" cy="576072"/>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assets/media/video/presentacion.mp4</a:t>
            </a:r>
            <a:endParaRPr lang="en-US" sz="1150" dirty="0"/>
          </a:p>
        </p:txBody>
      </p:sp>
      <p:sp>
        <p:nvSpPr>
          <p:cNvPr id="7" name="Text 5"/>
          <p:cNvSpPr txBox="1"/>
          <p:nvPr/>
        </p:nvSpPr>
        <p:spPr>
          <a:xfrm>
            <a:off x="5166360" y="2615184"/>
            <a:ext cx="4480560" cy="57607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Relativa: funciona con Live Server, en Netlify y con doble clic.</a:t>
            </a:r>
            <a:endParaRPr lang="en-US" sz="1200" dirty="0"/>
          </a:p>
        </p:txBody>
      </p:sp>
      <p:sp>
        <p:nvSpPr>
          <p:cNvPr id="8" name="Text 6"/>
          <p:cNvSpPr txBox="1"/>
          <p:nvPr/>
        </p:nvSpPr>
        <p:spPr>
          <a:xfrm>
            <a:off x="9738360" y="2615184"/>
            <a:ext cx="1600200" cy="576072"/>
          </a:xfrm>
          <a:prstGeom prst="rect">
            <a:avLst/>
          </a:prstGeom>
          <a:noFill/>
          <a:ln/>
        </p:spPr>
        <p:txBody>
          <a:bodyPr wrap="square" lIns="0" tIns="0" rIns="0" bIns="0" rtlCol="0" anchor="ctr"/>
          <a:lstStyle/>
          <a:p>
            <a:pPr algn="r" indent="0" marL="0">
              <a:buNone/>
            </a:pPr>
            <a:r>
              <a:rPr lang="en-US" sz="1200" b="1" dirty="0">
                <a:solidFill>
                  <a:srgbClr val="4FB817"/>
                </a:solidFill>
                <a:latin typeface="Calibri" pitchFamily="34" charset="0"/>
                <a:ea typeface="Calibri" pitchFamily="34" charset="-122"/>
                <a:cs typeface="Calibri" pitchFamily="34" charset="-120"/>
              </a:rPr>
              <a:t>Úsala siempre</a:t>
            </a:r>
            <a:endParaRPr lang="en-US" sz="1200" dirty="0"/>
          </a:p>
        </p:txBody>
      </p:sp>
      <p:sp>
        <p:nvSpPr>
          <p:cNvPr id="9" name="Shape 7"/>
          <p:cNvSpPr/>
          <p:nvPr/>
        </p:nvSpPr>
        <p:spPr>
          <a:xfrm>
            <a:off x="640080" y="3282696"/>
            <a:ext cx="10927080" cy="576072"/>
          </a:xfrm>
          <a:prstGeom prst="roundRect">
            <a:avLst>
              <a:gd name="adj" fmla="val 15873"/>
            </a:avLst>
          </a:prstGeom>
          <a:solidFill>
            <a:srgbClr val="F7FDF4"/>
          </a:solidFill>
          <a:ln w="12700">
            <a:solidFill>
              <a:srgbClr val="D9F2CC"/>
            </a:solidFill>
            <a:prstDash val="solid"/>
          </a:ln>
        </p:spPr>
      </p:sp>
      <p:sp>
        <p:nvSpPr>
          <p:cNvPr id="10" name="Text 8"/>
          <p:cNvSpPr txBox="1"/>
          <p:nvPr/>
        </p:nvSpPr>
        <p:spPr>
          <a:xfrm>
            <a:off x="914400" y="3282696"/>
            <a:ext cx="4114800" cy="576072"/>
          </a:xfrm>
          <a:prstGeom prst="rect">
            <a:avLst/>
          </a:prstGeom>
          <a:noFill/>
          <a:ln/>
        </p:spPr>
        <p:txBody>
          <a:bodyPr wrap="square" lIns="0" tIns="0" rIns="0" bIns="0" rtlCol="0" anchor="ctr"/>
          <a:lstStyle/>
          <a:p>
            <a:pPr indent="0" marL="0">
              <a:buNone/>
            </a:pPr>
            <a:r>
              <a:rPr lang="en-US" sz="1150" b="1" dirty="0">
                <a:solidFill>
                  <a:srgbClr val="C1873B"/>
                </a:solidFill>
                <a:latin typeface="Consolas" pitchFamily="34" charset="0"/>
                <a:ea typeface="Consolas" pitchFamily="34" charset="-122"/>
                <a:cs typeface="Consolas" pitchFamily="34" charset="-120"/>
              </a:rPr>
              <a:t>/assets/media/video/presentacion.mp4</a:t>
            </a:r>
            <a:endParaRPr lang="en-US" sz="1150" dirty="0"/>
          </a:p>
        </p:txBody>
      </p:sp>
      <p:sp>
        <p:nvSpPr>
          <p:cNvPr id="11" name="Text 9"/>
          <p:cNvSpPr txBox="1"/>
          <p:nvPr/>
        </p:nvSpPr>
        <p:spPr>
          <a:xfrm>
            <a:off x="5166360" y="3282696"/>
            <a:ext cx="4480560" cy="57607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Desde la raíz: solo funciona si hay un servidor.</a:t>
            </a:r>
            <a:endParaRPr lang="en-US" sz="1200" dirty="0"/>
          </a:p>
        </p:txBody>
      </p:sp>
      <p:sp>
        <p:nvSpPr>
          <p:cNvPr id="12" name="Text 10"/>
          <p:cNvSpPr txBox="1"/>
          <p:nvPr/>
        </p:nvSpPr>
        <p:spPr>
          <a:xfrm>
            <a:off x="9738360" y="3282696"/>
            <a:ext cx="1600200" cy="576072"/>
          </a:xfrm>
          <a:prstGeom prst="rect">
            <a:avLst/>
          </a:prstGeom>
          <a:noFill/>
          <a:ln/>
        </p:spPr>
        <p:txBody>
          <a:bodyPr wrap="square" lIns="0" tIns="0" rIns="0" bIns="0" rtlCol="0" anchor="ctr"/>
          <a:lstStyle/>
          <a:p>
            <a:pPr algn="r" indent="0" marL="0">
              <a:buNone/>
            </a:pPr>
            <a:r>
              <a:rPr lang="en-US" sz="1200" b="1" dirty="0">
                <a:solidFill>
                  <a:srgbClr val="C1873B"/>
                </a:solidFill>
                <a:latin typeface="Calibri" pitchFamily="34" charset="0"/>
                <a:ea typeface="Calibri" pitchFamily="34" charset="-122"/>
                <a:cs typeface="Calibri" pitchFamily="34" charset="-120"/>
              </a:rPr>
              <a:t>Evítala por ahora</a:t>
            </a:r>
            <a:endParaRPr lang="en-US" sz="1200" dirty="0"/>
          </a:p>
        </p:txBody>
      </p:sp>
      <p:sp>
        <p:nvSpPr>
          <p:cNvPr id="13" name="Shape 11"/>
          <p:cNvSpPr/>
          <p:nvPr/>
        </p:nvSpPr>
        <p:spPr>
          <a:xfrm>
            <a:off x="640080" y="3950208"/>
            <a:ext cx="10927080" cy="576072"/>
          </a:xfrm>
          <a:prstGeom prst="roundRect">
            <a:avLst>
              <a:gd name="adj" fmla="val 15873"/>
            </a:avLst>
          </a:prstGeom>
          <a:solidFill>
            <a:srgbClr val="FBF4F2"/>
          </a:solidFill>
          <a:ln w="12700">
            <a:solidFill>
              <a:srgbClr val="F0D8D2"/>
            </a:solidFill>
            <a:prstDash val="solid"/>
          </a:ln>
        </p:spPr>
      </p:sp>
      <p:sp>
        <p:nvSpPr>
          <p:cNvPr id="14" name="Text 12"/>
          <p:cNvSpPr txBox="1"/>
          <p:nvPr/>
        </p:nvSpPr>
        <p:spPr>
          <a:xfrm>
            <a:off x="914400" y="3950208"/>
            <a:ext cx="4114800" cy="576072"/>
          </a:xfrm>
          <a:prstGeom prst="rect">
            <a:avLst/>
          </a:prstGeom>
          <a:noFill/>
          <a:ln/>
        </p:spPr>
        <p:txBody>
          <a:bodyPr wrap="square" lIns="0" tIns="0" rIns="0" bIns="0" rtlCol="0" anchor="ctr"/>
          <a:lstStyle/>
          <a:p>
            <a:pPr indent="0" marL="0">
              <a:buNone/>
            </a:pPr>
            <a:r>
              <a:rPr lang="en-US" sz="1150" b="1" dirty="0">
                <a:solidFill>
                  <a:srgbClr val="B5462F"/>
                </a:solidFill>
                <a:latin typeface="Consolas" pitchFamily="34" charset="0"/>
                <a:ea typeface="Consolas" pitchFamily="34" charset="-122"/>
                <a:cs typeface="Consolas" pitchFamily="34" charset="-120"/>
              </a:rPr>
              <a:t>C:\Users\SIPAN\…\presentacion.mp4</a:t>
            </a:r>
            <a:endParaRPr lang="en-US" sz="1150" dirty="0"/>
          </a:p>
        </p:txBody>
      </p:sp>
      <p:sp>
        <p:nvSpPr>
          <p:cNvPr id="15" name="Text 13"/>
          <p:cNvSpPr txBox="1"/>
          <p:nvPr/>
        </p:nvSpPr>
        <p:spPr>
          <a:xfrm>
            <a:off x="5166360" y="3950208"/>
            <a:ext cx="4480560" cy="57607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Del disco: solo existe en tu computadora.</a:t>
            </a:r>
            <a:endParaRPr lang="en-US" sz="1200" dirty="0"/>
          </a:p>
        </p:txBody>
      </p:sp>
      <p:sp>
        <p:nvSpPr>
          <p:cNvPr id="16" name="Text 14"/>
          <p:cNvSpPr txBox="1"/>
          <p:nvPr/>
        </p:nvSpPr>
        <p:spPr>
          <a:xfrm>
            <a:off x="9738360" y="3950208"/>
            <a:ext cx="1600200" cy="576072"/>
          </a:xfrm>
          <a:prstGeom prst="rect">
            <a:avLst/>
          </a:prstGeom>
          <a:noFill/>
          <a:ln/>
        </p:spPr>
        <p:txBody>
          <a:bodyPr wrap="square" lIns="0" tIns="0" rIns="0" bIns="0" rtlCol="0" anchor="ctr"/>
          <a:lstStyle/>
          <a:p>
            <a:pPr algn="r" indent="0" marL="0">
              <a:buNone/>
            </a:pPr>
            <a:r>
              <a:rPr lang="en-US" sz="1200" b="1" dirty="0">
                <a:solidFill>
                  <a:srgbClr val="B5462F"/>
                </a:solidFill>
                <a:latin typeface="Calibri" pitchFamily="34" charset="0"/>
                <a:ea typeface="Calibri" pitchFamily="34" charset="-122"/>
                <a:cs typeface="Calibri" pitchFamily="34" charset="-120"/>
              </a:rPr>
              <a:t>Nunca</a:t>
            </a:r>
            <a:endParaRPr lang="en-US" sz="1200" dirty="0"/>
          </a:p>
        </p:txBody>
      </p:sp>
      <p:sp>
        <p:nvSpPr>
          <p:cNvPr id="17" name="Shape 15"/>
          <p:cNvSpPr/>
          <p:nvPr/>
        </p:nvSpPr>
        <p:spPr>
          <a:xfrm>
            <a:off x="640080" y="4718304"/>
            <a:ext cx="10927080" cy="1316736"/>
          </a:xfrm>
          <a:prstGeom prst="roundRect">
            <a:avLst>
              <a:gd name="adj" fmla="val 6944"/>
            </a:avLst>
          </a:prstGeom>
          <a:solidFill>
            <a:srgbClr val="EAFAFB"/>
          </a:solidFill>
          <a:ln w="12700">
            <a:solidFill>
              <a:srgbClr val="BFEAEE"/>
            </a:solidFill>
            <a:prstDash val="solid"/>
          </a:ln>
        </p:spPr>
      </p:sp>
      <p:sp>
        <p:nvSpPr>
          <p:cNvPr id="18" name="Text 16"/>
          <p:cNvSpPr txBox="1"/>
          <p:nvPr/>
        </p:nvSpPr>
        <p:spPr>
          <a:xfrm>
            <a:off x="950976" y="4919472"/>
            <a:ext cx="10305288" cy="310896"/>
          </a:xfrm>
          <a:prstGeom prst="rect">
            <a:avLst/>
          </a:prstGeom>
          <a:noFill/>
          <a:ln/>
        </p:spPr>
        <p:txBody>
          <a:bodyPr wrap="square" lIns="0" tIns="0" rIns="0" bIns="0" rtlCol="0" anchor="ctr"/>
          <a:lstStyle/>
          <a:p>
            <a:pPr algn="l" indent="0" marL="0">
              <a:buNone/>
            </a:pPr>
            <a:r>
              <a:rPr lang="en-US" sz="1400" b="1" dirty="0">
                <a:solidFill>
                  <a:srgbClr val="1E9AA3"/>
                </a:solidFill>
                <a:latin typeface="Calibri" pitchFamily="34" charset="0"/>
                <a:ea typeface="Calibri" pitchFamily="34" charset="-122"/>
                <a:cs typeface="Calibri" pitchFamily="34" charset="-120"/>
              </a:rPr>
              <a:t>En tu portafolio</a:t>
            </a:r>
            <a:endParaRPr lang="en-US" sz="1400" dirty="0"/>
          </a:p>
        </p:txBody>
      </p:sp>
      <p:sp>
        <p:nvSpPr>
          <p:cNvPr id="19" name="Text 17"/>
          <p:cNvSpPr txBox="1"/>
          <p:nvPr/>
        </p:nvSpPr>
        <p:spPr>
          <a:xfrm>
            <a:off x="950976" y="5285232"/>
            <a:ext cx="10305288" cy="629107"/>
          </a:xfrm>
          <a:prstGeom prst="rect">
            <a:avLst/>
          </a:prstGeom>
          <a:noFill/>
          <a:ln/>
        </p:spPr>
        <p:txBody>
          <a:bodyPr wrap="square" lIns="0" tIns="0" rIns="0" bIns="0" rtlCol="0" anchor="t"/>
          <a:lstStyle/>
          <a:p>
            <a:pPr algn="l" indent="0" marL="0">
              <a:lnSpc>
                <a:spcPct val="125000"/>
              </a:lnSpc>
              <a:buNone/>
            </a:pPr>
            <a:r>
              <a:rPr lang="en-US" sz="1250" dirty="0">
                <a:solidFill>
                  <a:srgbClr val="424242"/>
                </a:solidFill>
                <a:latin typeface="Calibri" pitchFamily="34" charset="0"/>
                <a:ea typeface="Calibri" pitchFamily="34" charset="-122"/>
                <a:cs typeface="Calibri" pitchFamily="34" charset="-120"/>
              </a:rPr>
              <a:t>Los dos videos usan /assets/… y el audio usa assets/…: déjalos todos sin la barra inicial. Si algo no carga, abre DevTools › Network: un 404 en rojo es un archivo que no está donde el HTML lo busca.</a:t>
            </a:r>
            <a:endParaRPr lang="en-US" sz="1250" dirty="0"/>
          </a:p>
        </p:txBody>
      </p:sp>
      <p:sp>
        <p:nvSpPr>
          <p:cNvPr id="20" name="Text 18"/>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27 / 48</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548640" y="1664208"/>
            <a:ext cx="5623560" cy="1024128"/>
          </a:xfrm>
          <a:prstGeom prst="roundRect">
            <a:avLst>
              <a:gd name="adj" fmla="val 50000"/>
            </a:avLst>
          </a:prstGeom>
          <a:solidFill>
            <a:srgbClr val="72EF29"/>
          </a:solidFill>
          <a:ln w="12700">
            <a:solidFill>
              <a:srgbClr val="72EF29"/>
            </a:solidFill>
            <a:prstDash val="solid"/>
          </a:ln>
        </p:spPr>
      </p:sp>
      <p:sp>
        <p:nvSpPr>
          <p:cNvPr id="3" name="Shape 1"/>
          <p:cNvSpPr/>
          <p:nvPr/>
        </p:nvSpPr>
        <p:spPr>
          <a:xfrm>
            <a:off x="-548640" y="1517904"/>
            <a:ext cx="5349240" cy="1024128"/>
          </a:xfrm>
          <a:prstGeom prst="roundRect">
            <a:avLst>
              <a:gd name="adj" fmla="val 50000"/>
            </a:avLst>
          </a:prstGeom>
          <a:solidFill>
            <a:srgbClr val="36C4CC"/>
          </a:solidFill>
          <a:ln w="12700">
            <a:solidFill>
              <a:srgbClr val="36C4CC"/>
            </a:solidFill>
            <a:prstDash val="solid"/>
          </a:ln>
        </p:spPr>
      </p:sp>
      <p:sp>
        <p:nvSpPr>
          <p:cNvPr id="4" name="Text 2"/>
          <p:cNvSpPr txBox="1"/>
          <p:nvPr/>
        </p:nvSpPr>
        <p:spPr>
          <a:xfrm>
            <a:off x="274320" y="1517904"/>
            <a:ext cx="4297680" cy="10241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Accesibilidad multimedia</a:t>
            </a:r>
            <a:endParaRPr lang="en-US" sz="2000" dirty="0"/>
          </a:p>
        </p:txBody>
      </p:sp>
      <p:sp>
        <p:nvSpPr>
          <p:cNvPr id="5" name="Text 3"/>
          <p:cNvSpPr txBox="1"/>
          <p:nvPr/>
        </p:nvSpPr>
        <p:spPr>
          <a:xfrm>
            <a:off x="274320" y="2834640"/>
            <a:ext cx="4297680" cy="256032"/>
          </a:xfrm>
          <a:prstGeom prst="rect">
            <a:avLst/>
          </a:prstGeom>
          <a:noFill/>
          <a:ln/>
        </p:spPr>
        <p:txBody>
          <a:bodyPr wrap="square" lIns="0" tIns="0" rIns="0" bIns="0" rtlCol="0" anchor="ctr"/>
          <a:lstStyle/>
          <a:p>
            <a:pPr algn="ctr" indent="0" marL="0">
              <a:buNone/>
            </a:pPr>
            <a:r>
              <a:rPr lang="en-US" sz="1100" b="1" spc="400" kern="0" dirty="0">
                <a:solidFill>
                  <a:srgbClr val="1E9AA3"/>
                </a:solidFill>
                <a:latin typeface="Calibri" pitchFamily="34" charset="0"/>
                <a:ea typeface="Calibri" pitchFamily="34" charset="-122"/>
                <a:cs typeface="Calibri" pitchFamily="34" charset="-120"/>
              </a:rPr>
              <a:t>BLOQUE 04</a:t>
            </a:r>
            <a:endParaRPr lang="en-US" sz="1100" dirty="0"/>
          </a:p>
        </p:txBody>
      </p:sp>
      <p:sp>
        <p:nvSpPr>
          <p:cNvPr id="6" name="Text 4"/>
          <p:cNvSpPr txBox="1"/>
          <p:nvPr/>
        </p:nvSpPr>
        <p:spPr>
          <a:xfrm>
            <a:off x="685800" y="3346704"/>
            <a:ext cx="3657600" cy="237744"/>
          </a:xfrm>
          <a:prstGeom prst="rect">
            <a:avLst/>
          </a:prstGeom>
          <a:noFill/>
          <a:ln/>
        </p:spPr>
        <p:txBody>
          <a:bodyPr wrap="square" lIns="0" tIns="0" rIns="0" bIns="0" rtlCol="0" anchor="ctr"/>
          <a:lstStyle/>
          <a:p>
            <a:pPr indent="0" marL="0">
              <a:buNone/>
            </a:pPr>
            <a:r>
              <a:rPr lang="en-US" sz="1050" b="1" spc="150" kern="0" dirty="0">
                <a:solidFill>
                  <a:srgbClr val="6E7673"/>
                </a:solidFill>
                <a:latin typeface="Calibri" pitchFamily="34" charset="0"/>
                <a:ea typeface="Calibri" pitchFamily="34" charset="-122"/>
                <a:cs typeface="Calibri" pitchFamily="34" charset="-120"/>
              </a:rPr>
              <a:t>En este bloque</a:t>
            </a:r>
            <a:endParaRPr lang="en-US" sz="1050" dirty="0"/>
          </a:p>
        </p:txBody>
      </p:sp>
      <p:sp>
        <p:nvSpPr>
          <p:cNvPr id="7" name="Shape 5"/>
          <p:cNvSpPr/>
          <p:nvPr/>
        </p:nvSpPr>
        <p:spPr>
          <a:xfrm>
            <a:off x="685800" y="3657600"/>
            <a:ext cx="5577840" cy="475488"/>
          </a:xfrm>
          <a:prstGeom prst="roundRect">
            <a:avLst>
              <a:gd name="adj" fmla="val 50000"/>
            </a:avLst>
          </a:prstGeom>
          <a:solidFill>
            <a:srgbClr val="F0FCE8"/>
          </a:solidFill>
          <a:ln w="12700">
            <a:solidFill>
              <a:srgbClr val="F0FCE8"/>
            </a:solidFill>
            <a:prstDash val="solid"/>
          </a:ln>
        </p:spPr>
      </p:sp>
      <p:sp>
        <p:nvSpPr>
          <p:cNvPr id="8" name="Shape 6"/>
          <p:cNvSpPr/>
          <p:nvPr/>
        </p:nvSpPr>
        <p:spPr>
          <a:xfrm>
            <a:off x="685800" y="3657600"/>
            <a:ext cx="667512" cy="475488"/>
          </a:xfrm>
          <a:prstGeom prst="roundRect">
            <a:avLst>
              <a:gd name="adj" fmla="val 50000"/>
            </a:avLst>
          </a:prstGeom>
          <a:solidFill>
            <a:srgbClr val="36C4CC"/>
          </a:solidFill>
          <a:ln w="12700">
            <a:solidFill>
              <a:srgbClr val="36C4CC"/>
            </a:solidFill>
            <a:prstDash val="solid"/>
          </a:ln>
        </p:spPr>
      </p:sp>
      <p:sp>
        <p:nvSpPr>
          <p:cNvPr id="9" name="Text 7"/>
          <p:cNvSpPr txBox="1"/>
          <p:nvPr/>
        </p:nvSpPr>
        <p:spPr>
          <a:xfrm>
            <a:off x="1481328" y="365760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Por qué subtítulos</a:t>
            </a:r>
            <a:endParaRPr lang="en-US" sz="1200" dirty="0"/>
          </a:p>
        </p:txBody>
      </p:sp>
      <p:sp>
        <p:nvSpPr>
          <p:cNvPr id="10" name="Shape 8"/>
          <p:cNvSpPr/>
          <p:nvPr/>
        </p:nvSpPr>
        <p:spPr>
          <a:xfrm>
            <a:off x="685800" y="4206240"/>
            <a:ext cx="5577840" cy="475488"/>
          </a:xfrm>
          <a:prstGeom prst="roundRect">
            <a:avLst>
              <a:gd name="adj" fmla="val 50000"/>
            </a:avLst>
          </a:prstGeom>
          <a:solidFill>
            <a:srgbClr val="F0FCE8"/>
          </a:solidFill>
          <a:ln w="12700">
            <a:solidFill>
              <a:srgbClr val="F0FCE8"/>
            </a:solidFill>
            <a:prstDash val="solid"/>
          </a:ln>
        </p:spPr>
      </p:sp>
      <p:sp>
        <p:nvSpPr>
          <p:cNvPr id="11" name="Shape 9"/>
          <p:cNvSpPr/>
          <p:nvPr/>
        </p:nvSpPr>
        <p:spPr>
          <a:xfrm>
            <a:off x="685800" y="4206240"/>
            <a:ext cx="667512" cy="475488"/>
          </a:xfrm>
          <a:prstGeom prst="roundRect">
            <a:avLst>
              <a:gd name="adj" fmla="val 50000"/>
            </a:avLst>
          </a:prstGeom>
          <a:solidFill>
            <a:srgbClr val="36C4CC"/>
          </a:solidFill>
          <a:ln w="12700">
            <a:solidFill>
              <a:srgbClr val="36C4CC"/>
            </a:solidFill>
            <a:prstDash val="solid"/>
          </a:ln>
        </p:spPr>
      </p:sp>
      <p:sp>
        <p:nvSpPr>
          <p:cNvPr id="12" name="Text 10"/>
          <p:cNvSpPr txBox="1"/>
          <p:nvPr/>
        </p:nvSpPr>
        <p:spPr>
          <a:xfrm>
            <a:off x="1481328" y="420624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La etiqueta track</a:t>
            </a:r>
            <a:endParaRPr lang="en-US" sz="1200" dirty="0"/>
          </a:p>
        </p:txBody>
      </p:sp>
      <p:sp>
        <p:nvSpPr>
          <p:cNvPr id="13" name="Shape 11"/>
          <p:cNvSpPr/>
          <p:nvPr/>
        </p:nvSpPr>
        <p:spPr>
          <a:xfrm>
            <a:off x="685800" y="4754880"/>
            <a:ext cx="5577840" cy="475488"/>
          </a:xfrm>
          <a:prstGeom prst="roundRect">
            <a:avLst>
              <a:gd name="adj" fmla="val 50000"/>
            </a:avLst>
          </a:prstGeom>
          <a:solidFill>
            <a:srgbClr val="F0FCE8"/>
          </a:solidFill>
          <a:ln w="12700">
            <a:solidFill>
              <a:srgbClr val="F0FCE8"/>
            </a:solidFill>
            <a:prstDash val="solid"/>
          </a:ln>
        </p:spPr>
      </p:sp>
      <p:sp>
        <p:nvSpPr>
          <p:cNvPr id="14" name="Shape 12"/>
          <p:cNvSpPr/>
          <p:nvPr/>
        </p:nvSpPr>
        <p:spPr>
          <a:xfrm>
            <a:off x="685800" y="4754880"/>
            <a:ext cx="667512" cy="475488"/>
          </a:xfrm>
          <a:prstGeom prst="roundRect">
            <a:avLst>
              <a:gd name="adj" fmla="val 50000"/>
            </a:avLst>
          </a:prstGeom>
          <a:solidFill>
            <a:srgbClr val="36C4CC"/>
          </a:solidFill>
          <a:ln w="12700">
            <a:solidFill>
              <a:srgbClr val="36C4CC"/>
            </a:solidFill>
            <a:prstDash val="solid"/>
          </a:ln>
        </p:spPr>
      </p:sp>
      <p:sp>
        <p:nvSpPr>
          <p:cNvPr id="15" name="Text 13"/>
          <p:cNvSpPr txBox="1"/>
          <p:nvPr/>
        </p:nvSpPr>
        <p:spPr>
          <a:xfrm>
            <a:off x="1481328" y="475488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El archivo WebVTT</a:t>
            </a:r>
            <a:endParaRPr lang="en-US" sz="1200" dirty="0"/>
          </a:p>
        </p:txBody>
      </p:sp>
      <p:sp>
        <p:nvSpPr>
          <p:cNvPr id="16" name="Shape 14"/>
          <p:cNvSpPr/>
          <p:nvPr/>
        </p:nvSpPr>
        <p:spPr>
          <a:xfrm>
            <a:off x="685800" y="5303520"/>
            <a:ext cx="5577840" cy="475488"/>
          </a:xfrm>
          <a:prstGeom prst="roundRect">
            <a:avLst>
              <a:gd name="adj" fmla="val 50000"/>
            </a:avLst>
          </a:prstGeom>
          <a:solidFill>
            <a:srgbClr val="F0FCE8"/>
          </a:solidFill>
          <a:ln w="12700">
            <a:solidFill>
              <a:srgbClr val="F0FCE8"/>
            </a:solidFill>
            <a:prstDash val="solid"/>
          </a:ln>
        </p:spPr>
      </p:sp>
      <p:sp>
        <p:nvSpPr>
          <p:cNvPr id="17" name="Shape 15"/>
          <p:cNvSpPr/>
          <p:nvPr/>
        </p:nvSpPr>
        <p:spPr>
          <a:xfrm>
            <a:off x="685800" y="5303520"/>
            <a:ext cx="667512" cy="475488"/>
          </a:xfrm>
          <a:prstGeom prst="roundRect">
            <a:avLst>
              <a:gd name="adj" fmla="val 50000"/>
            </a:avLst>
          </a:prstGeom>
          <a:solidFill>
            <a:srgbClr val="36C4CC"/>
          </a:solidFill>
          <a:ln w="12700">
            <a:solidFill>
              <a:srgbClr val="36C4CC"/>
            </a:solidFill>
            <a:prstDash val="solid"/>
          </a:ln>
        </p:spPr>
      </p:sp>
      <p:sp>
        <p:nvSpPr>
          <p:cNvPr id="18" name="Text 16"/>
          <p:cNvSpPr txBox="1"/>
          <p:nvPr/>
        </p:nvSpPr>
        <p:spPr>
          <a:xfrm>
            <a:off x="1481328" y="530352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Transcripción del audio</a:t>
            </a:r>
            <a:endParaRPr lang="en-US" sz="1200" dirty="0"/>
          </a:p>
        </p:txBody>
      </p:sp>
      <p:sp>
        <p:nvSpPr>
          <p:cNvPr id="19" name="Shape 17"/>
          <p:cNvSpPr/>
          <p:nvPr/>
        </p:nvSpPr>
        <p:spPr>
          <a:xfrm>
            <a:off x="685800" y="5852160"/>
            <a:ext cx="5577840" cy="475488"/>
          </a:xfrm>
          <a:prstGeom prst="roundRect">
            <a:avLst>
              <a:gd name="adj" fmla="val 50000"/>
            </a:avLst>
          </a:prstGeom>
          <a:solidFill>
            <a:srgbClr val="F0FCE8"/>
          </a:solidFill>
          <a:ln w="12700">
            <a:solidFill>
              <a:srgbClr val="F0FCE8"/>
            </a:solidFill>
            <a:prstDash val="solid"/>
          </a:ln>
        </p:spPr>
      </p:sp>
      <p:sp>
        <p:nvSpPr>
          <p:cNvPr id="20" name="Shape 18"/>
          <p:cNvSpPr/>
          <p:nvPr/>
        </p:nvSpPr>
        <p:spPr>
          <a:xfrm>
            <a:off x="685800" y="5852160"/>
            <a:ext cx="667512" cy="475488"/>
          </a:xfrm>
          <a:prstGeom prst="roundRect">
            <a:avLst>
              <a:gd name="adj" fmla="val 50000"/>
            </a:avLst>
          </a:prstGeom>
          <a:solidFill>
            <a:srgbClr val="36C4CC"/>
          </a:solidFill>
          <a:ln w="12700">
            <a:solidFill>
              <a:srgbClr val="36C4CC"/>
            </a:solidFill>
            <a:prstDash val="solid"/>
          </a:ln>
        </p:spPr>
      </p:sp>
      <p:sp>
        <p:nvSpPr>
          <p:cNvPr id="21" name="Text 19"/>
          <p:cNvSpPr txBox="1"/>
          <p:nvPr/>
        </p:nvSpPr>
        <p:spPr>
          <a:xfrm>
            <a:off x="1481328" y="5852160"/>
            <a:ext cx="4663440" cy="47548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Lista de comprobación</a:t>
            </a:r>
            <a:endParaRPr lang="en-US" sz="1200" dirty="0"/>
          </a:p>
        </p:txBody>
      </p:sp>
      <p:sp>
        <p:nvSpPr>
          <p:cNvPr id="22" name="Shape 20"/>
          <p:cNvSpPr/>
          <p:nvPr/>
        </p:nvSpPr>
        <p:spPr>
          <a:xfrm>
            <a:off x="6766560" y="1234440"/>
            <a:ext cx="5166360" cy="5257800"/>
          </a:xfrm>
          <a:prstGeom prst="roundRect">
            <a:avLst>
              <a:gd name="adj" fmla="val 3894"/>
            </a:avLst>
          </a:prstGeom>
          <a:solidFill>
            <a:srgbClr val="FFFFFF"/>
          </a:solidFill>
          <a:ln w="28575">
            <a:solidFill>
              <a:srgbClr val="36C4CC"/>
            </a:solidFill>
            <a:prstDash val="solid"/>
          </a:ln>
        </p:spPr>
      </p:sp>
      <p:pic>
        <p:nvPicPr>
          <p:cNvPr id="23" name="Image 0" descr="Persona programando frente a un monitor">    </p:cNvPr>
          <p:cNvPicPr>
            <a:picLocks noChangeAspect="1"/>
          </p:cNvPicPr>
          <p:nvPr/>
        </p:nvPicPr>
        <p:blipFill>
          <a:blip r:embed="rId1"/>
          <a:srcRect l="0" r="0" t="0" b="0"/>
          <a:stretch/>
        </p:blipFill>
        <p:spPr>
          <a:xfrm>
            <a:off x="6903720" y="1362456"/>
            <a:ext cx="4892040" cy="5001768"/>
          </a:xfrm>
          <a:prstGeom prst="rect">
            <a:avLst/>
          </a:prstGeom>
        </p:spPr>
      </p:pic>
      <p:sp>
        <p:nvSpPr>
          <p:cNvPr id="24" name="Shape 21"/>
          <p:cNvSpPr/>
          <p:nvPr/>
        </p:nvSpPr>
        <p:spPr>
          <a:xfrm>
            <a:off x="6528816" y="978408"/>
            <a:ext cx="804672" cy="804672"/>
          </a:xfrm>
          <a:prstGeom prst="ellipse">
            <a:avLst/>
          </a:prstGeom>
          <a:solidFill>
            <a:srgbClr val="72EF29"/>
          </a:solidFill>
          <a:ln w="38100">
            <a:solidFill>
              <a:srgbClr val="FFFFFF"/>
            </a:solidFill>
            <a:prstDash val="solid"/>
          </a:ln>
        </p:spPr>
      </p:sp>
      <p:sp>
        <p:nvSpPr>
          <p:cNvPr id="25" name="Text 22"/>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28 / 48</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04 · ACCESIBILIDAD</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&lt;track&gt;: subtítulos para tu video</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Sirven a personas sordas y a cualquiera que mire sin sonido. Van dentro de &lt;video&gt;, después de las fuentes.</a:t>
            </a:r>
            <a:endParaRPr lang="en-US" sz="1250" dirty="0"/>
          </a:p>
        </p:txBody>
      </p:sp>
      <p:sp>
        <p:nvSpPr>
          <p:cNvPr id="5" name="Shape 3"/>
          <p:cNvSpPr/>
          <p:nvPr/>
        </p:nvSpPr>
        <p:spPr>
          <a:xfrm>
            <a:off x="640080" y="2615184"/>
            <a:ext cx="6035040" cy="2697480"/>
          </a:xfrm>
          <a:prstGeom prst="roundRect">
            <a:avLst>
              <a:gd name="adj" fmla="val 3390"/>
            </a:avLst>
          </a:prstGeom>
          <a:solidFill>
            <a:srgbClr val="2B2B2B"/>
          </a:solidFill>
          <a:ln w="12700">
            <a:solidFill>
              <a:srgbClr val="2B2B2B"/>
            </a:solidFill>
            <a:prstDash val="solid"/>
          </a:ln>
        </p:spPr>
      </p:sp>
      <p:sp>
        <p:nvSpPr>
          <p:cNvPr id="6" name="Text 4"/>
          <p:cNvSpPr txBox="1"/>
          <p:nvPr/>
        </p:nvSpPr>
        <p:spPr>
          <a:xfrm>
            <a:off x="868680" y="2779776"/>
            <a:ext cx="5577840" cy="2368296"/>
          </a:xfrm>
          <a:prstGeom prst="rect">
            <a:avLst/>
          </a:prstGeom>
          <a:noFill/>
          <a:ln/>
        </p:spPr>
        <p:txBody>
          <a:bodyPr wrap="square" lIns="0" tIns="0" rIns="0" bIns="0" rtlCol="0" anchor="t"/>
          <a:lstStyle/>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&lt;video controls&gt;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&lt;source src="…/presentacion.mp4" type="video/mp4"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&lt;track</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kind="subtitles"</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src="assets/media/video/presentacion.es.vtt"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srclang="es"</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label="Español"</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default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&lt;/video&gt;</a:t>
            </a:r>
            <a:endParaRPr lang="en-US" sz="1100" dirty="0"/>
          </a:p>
        </p:txBody>
      </p:sp>
      <p:sp>
        <p:nvSpPr>
          <p:cNvPr id="7" name="Shape 5"/>
          <p:cNvSpPr/>
          <p:nvPr/>
        </p:nvSpPr>
        <p:spPr>
          <a:xfrm>
            <a:off x="6903720" y="2615184"/>
            <a:ext cx="4663440" cy="512064"/>
          </a:xfrm>
          <a:prstGeom prst="roundRect">
            <a:avLst>
              <a:gd name="adj" fmla="val 17857"/>
            </a:avLst>
          </a:prstGeom>
          <a:solidFill>
            <a:srgbClr val="F7FDF4"/>
          </a:solidFill>
          <a:ln w="12700">
            <a:solidFill>
              <a:srgbClr val="D9F2CC"/>
            </a:solidFill>
            <a:prstDash val="solid"/>
          </a:ln>
        </p:spPr>
      </p:sp>
      <p:sp>
        <p:nvSpPr>
          <p:cNvPr id="8" name="Text 6"/>
          <p:cNvSpPr txBox="1"/>
          <p:nvPr/>
        </p:nvSpPr>
        <p:spPr>
          <a:xfrm>
            <a:off x="7178040" y="2615184"/>
            <a:ext cx="1005840" cy="512064"/>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kind</a:t>
            </a:r>
            <a:endParaRPr lang="en-US" sz="1150" dirty="0"/>
          </a:p>
        </p:txBody>
      </p:sp>
      <p:sp>
        <p:nvSpPr>
          <p:cNvPr id="9" name="Text 7"/>
          <p:cNvSpPr txBox="1"/>
          <p:nvPr/>
        </p:nvSpPr>
        <p:spPr>
          <a:xfrm>
            <a:off x="8183880" y="2615184"/>
            <a:ext cx="310896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subtitles para el diálogo; captions si además describe sonidos.</a:t>
            </a:r>
            <a:endParaRPr lang="en-US" sz="1050" dirty="0"/>
          </a:p>
        </p:txBody>
      </p:sp>
      <p:sp>
        <p:nvSpPr>
          <p:cNvPr id="10" name="Shape 8"/>
          <p:cNvSpPr/>
          <p:nvPr/>
        </p:nvSpPr>
        <p:spPr>
          <a:xfrm>
            <a:off x="6903720" y="3195828"/>
            <a:ext cx="4663440" cy="512064"/>
          </a:xfrm>
          <a:prstGeom prst="roundRect">
            <a:avLst>
              <a:gd name="adj" fmla="val 17857"/>
            </a:avLst>
          </a:prstGeom>
          <a:solidFill>
            <a:srgbClr val="FFFFFF"/>
          </a:solidFill>
          <a:ln w="12700">
            <a:solidFill>
              <a:srgbClr val="D9F2CC"/>
            </a:solidFill>
            <a:prstDash val="solid"/>
          </a:ln>
        </p:spPr>
      </p:sp>
      <p:sp>
        <p:nvSpPr>
          <p:cNvPr id="11" name="Text 9"/>
          <p:cNvSpPr txBox="1"/>
          <p:nvPr/>
        </p:nvSpPr>
        <p:spPr>
          <a:xfrm>
            <a:off x="7178040" y="3195828"/>
            <a:ext cx="1005840" cy="512064"/>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src</a:t>
            </a:r>
            <a:endParaRPr lang="en-US" sz="1150" dirty="0"/>
          </a:p>
        </p:txBody>
      </p:sp>
      <p:sp>
        <p:nvSpPr>
          <p:cNvPr id="12" name="Text 10"/>
          <p:cNvSpPr txBox="1"/>
          <p:nvPr/>
        </p:nvSpPr>
        <p:spPr>
          <a:xfrm>
            <a:off x="8183880" y="3195828"/>
            <a:ext cx="310896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La ruta del archivo de texto .vtt.</a:t>
            </a:r>
            <a:endParaRPr lang="en-US" sz="1050" dirty="0"/>
          </a:p>
        </p:txBody>
      </p:sp>
      <p:sp>
        <p:nvSpPr>
          <p:cNvPr id="13" name="Shape 11"/>
          <p:cNvSpPr/>
          <p:nvPr/>
        </p:nvSpPr>
        <p:spPr>
          <a:xfrm>
            <a:off x="6903720" y="3776472"/>
            <a:ext cx="4663440" cy="512064"/>
          </a:xfrm>
          <a:prstGeom prst="roundRect">
            <a:avLst>
              <a:gd name="adj" fmla="val 17857"/>
            </a:avLst>
          </a:prstGeom>
          <a:solidFill>
            <a:srgbClr val="F7FDF4"/>
          </a:solidFill>
          <a:ln w="12700">
            <a:solidFill>
              <a:srgbClr val="D9F2CC"/>
            </a:solidFill>
            <a:prstDash val="solid"/>
          </a:ln>
        </p:spPr>
      </p:sp>
      <p:sp>
        <p:nvSpPr>
          <p:cNvPr id="14" name="Text 12"/>
          <p:cNvSpPr txBox="1"/>
          <p:nvPr/>
        </p:nvSpPr>
        <p:spPr>
          <a:xfrm>
            <a:off x="7178040" y="3776472"/>
            <a:ext cx="1005840" cy="512064"/>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srclang</a:t>
            </a:r>
            <a:endParaRPr lang="en-US" sz="1150" dirty="0"/>
          </a:p>
        </p:txBody>
      </p:sp>
      <p:sp>
        <p:nvSpPr>
          <p:cNvPr id="15" name="Text 13"/>
          <p:cNvSpPr txBox="1"/>
          <p:nvPr/>
        </p:nvSpPr>
        <p:spPr>
          <a:xfrm>
            <a:off x="8183880" y="3776472"/>
            <a:ext cx="310896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El idioma, con su código: es, en, pt.</a:t>
            </a:r>
            <a:endParaRPr lang="en-US" sz="1050" dirty="0"/>
          </a:p>
        </p:txBody>
      </p:sp>
      <p:sp>
        <p:nvSpPr>
          <p:cNvPr id="16" name="Shape 14"/>
          <p:cNvSpPr/>
          <p:nvPr/>
        </p:nvSpPr>
        <p:spPr>
          <a:xfrm>
            <a:off x="6903720" y="4357116"/>
            <a:ext cx="4663440" cy="512064"/>
          </a:xfrm>
          <a:prstGeom prst="roundRect">
            <a:avLst>
              <a:gd name="adj" fmla="val 17857"/>
            </a:avLst>
          </a:prstGeom>
          <a:solidFill>
            <a:srgbClr val="FFFFFF"/>
          </a:solidFill>
          <a:ln w="12700">
            <a:solidFill>
              <a:srgbClr val="D9F2CC"/>
            </a:solidFill>
            <a:prstDash val="solid"/>
          </a:ln>
        </p:spPr>
      </p:sp>
      <p:sp>
        <p:nvSpPr>
          <p:cNvPr id="17" name="Text 15"/>
          <p:cNvSpPr txBox="1"/>
          <p:nvPr/>
        </p:nvSpPr>
        <p:spPr>
          <a:xfrm>
            <a:off x="7178040" y="4357116"/>
            <a:ext cx="1005840" cy="512064"/>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label</a:t>
            </a:r>
            <a:endParaRPr lang="en-US" sz="1150" dirty="0"/>
          </a:p>
        </p:txBody>
      </p:sp>
      <p:sp>
        <p:nvSpPr>
          <p:cNvPr id="18" name="Text 16"/>
          <p:cNvSpPr txBox="1"/>
          <p:nvPr/>
        </p:nvSpPr>
        <p:spPr>
          <a:xfrm>
            <a:off x="8183880" y="4357116"/>
            <a:ext cx="310896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El nombre que aparece en el menú de subtítulos.</a:t>
            </a:r>
            <a:endParaRPr lang="en-US" sz="1050" dirty="0"/>
          </a:p>
        </p:txBody>
      </p:sp>
      <p:sp>
        <p:nvSpPr>
          <p:cNvPr id="19" name="Shape 17"/>
          <p:cNvSpPr/>
          <p:nvPr/>
        </p:nvSpPr>
        <p:spPr>
          <a:xfrm>
            <a:off x="6903720" y="4937760"/>
            <a:ext cx="4663440" cy="512064"/>
          </a:xfrm>
          <a:prstGeom prst="roundRect">
            <a:avLst>
              <a:gd name="adj" fmla="val 17857"/>
            </a:avLst>
          </a:prstGeom>
          <a:solidFill>
            <a:srgbClr val="F7FDF4"/>
          </a:solidFill>
          <a:ln w="12700">
            <a:solidFill>
              <a:srgbClr val="D9F2CC"/>
            </a:solidFill>
            <a:prstDash val="solid"/>
          </a:ln>
        </p:spPr>
      </p:sp>
      <p:sp>
        <p:nvSpPr>
          <p:cNvPr id="20" name="Text 18"/>
          <p:cNvSpPr txBox="1"/>
          <p:nvPr/>
        </p:nvSpPr>
        <p:spPr>
          <a:xfrm>
            <a:off x="7178040" y="4937760"/>
            <a:ext cx="1005840" cy="512064"/>
          </a:xfrm>
          <a:prstGeom prst="rect">
            <a:avLst/>
          </a:prstGeom>
          <a:noFill/>
          <a:ln/>
        </p:spPr>
        <p:txBody>
          <a:bodyPr wrap="square" lIns="0" tIns="0" rIns="0" bIns="0" rtlCol="0" anchor="ctr"/>
          <a:lstStyle/>
          <a:p>
            <a:pPr indent="0" marL="0">
              <a:buNone/>
            </a:pPr>
            <a:r>
              <a:rPr lang="en-US" sz="1150" b="1" dirty="0">
                <a:solidFill>
                  <a:srgbClr val="4FB817"/>
                </a:solidFill>
                <a:latin typeface="Consolas" pitchFamily="34" charset="0"/>
                <a:ea typeface="Consolas" pitchFamily="34" charset="-122"/>
                <a:cs typeface="Consolas" pitchFamily="34" charset="-120"/>
              </a:rPr>
              <a:t>default</a:t>
            </a:r>
            <a:endParaRPr lang="en-US" sz="1150" dirty="0"/>
          </a:p>
        </p:txBody>
      </p:sp>
      <p:sp>
        <p:nvSpPr>
          <p:cNvPr id="21" name="Text 19"/>
          <p:cNvSpPr txBox="1"/>
          <p:nvPr/>
        </p:nvSpPr>
        <p:spPr>
          <a:xfrm>
            <a:off x="8183880" y="4937760"/>
            <a:ext cx="310896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Los deja activados desde el inicio.</a:t>
            </a:r>
            <a:endParaRPr lang="en-US" sz="1050" dirty="0"/>
          </a:p>
        </p:txBody>
      </p:sp>
      <p:sp>
        <p:nvSpPr>
          <p:cNvPr id="22" name="Text 2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29 / 48</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04 · ACCESIBILIDAD</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WebVTT: un archivo de texto con tiempos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Se escribe en VS Code y se guarda con la extensión .vtt.</a:t>
            </a:r>
            <a:endParaRPr lang="en-US" sz="1250" dirty="0"/>
          </a:p>
        </p:txBody>
      </p:sp>
      <p:sp>
        <p:nvSpPr>
          <p:cNvPr id="5" name="Shape 3"/>
          <p:cNvSpPr/>
          <p:nvPr/>
        </p:nvSpPr>
        <p:spPr>
          <a:xfrm>
            <a:off x="640080" y="2615184"/>
            <a:ext cx="5394960" cy="2697480"/>
          </a:xfrm>
          <a:prstGeom prst="roundRect">
            <a:avLst>
              <a:gd name="adj" fmla="val 3390"/>
            </a:avLst>
          </a:prstGeom>
          <a:solidFill>
            <a:srgbClr val="2B2B2B"/>
          </a:solidFill>
          <a:ln w="12700">
            <a:solidFill>
              <a:srgbClr val="2B2B2B"/>
            </a:solidFill>
            <a:prstDash val="solid"/>
          </a:ln>
        </p:spPr>
      </p:sp>
      <p:sp>
        <p:nvSpPr>
          <p:cNvPr id="6" name="Text 4"/>
          <p:cNvSpPr txBox="1"/>
          <p:nvPr/>
        </p:nvSpPr>
        <p:spPr>
          <a:xfrm>
            <a:off x="868680" y="2779776"/>
            <a:ext cx="4937760" cy="2368296"/>
          </a:xfrm>
          <a:prstGeom prst="rect">
            <a:avLst/>
          </a:prstGeom>
          <a:noFill/>
          <a:ln/>
        </p:spPr>
        <p:txBody>
          <a:bodyPr wrap="square" lIns="0" tIns="0" rIns="0" bIns="0" rtlCol="0" anchor="t"/>
          <a:lstStyle/>
          <a:p>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WEBVTT</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00:00.000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--&gt;</a:t>
            </a:r>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00:03.500</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Hola, soy Dagner Chuman.</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00:03.500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--&gt;</a:t>
            </a:r>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00:07.500</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Docente e ingeniero enfocado en el desarrollo web.</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00:07.500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--&gt;</a:t>
            </a:r>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00:11.000</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Bienvenido a mi portafolio.</a:t>
            </a:r>
            <a:endParaRPr lang="en-US" sz="1100" dirty="0"/>
          </a:p>
        </p:txBody>
      </p:sp>
      <p:sp>
        <p:nvSpPr>
          <p:cNvPr id="7" name="Shape 5"/>
          <p:cNvSpPr/>
          <p:nvPr/>
        </p:nvSpPr>
        <p:spPr>
          <a:xfrm>
            <a:off x="6263640" y="2615184"/>
            <a:ext cx="5303520" cy="603504"/>
          </a:xfrm>
          <a:prstGeom prst="roundRect">
            <a:avLst>
              <a:gd name="adj" fmla="val 15152"/>
            </a:avLst>
          </a:prstGeom>
          <a:solidFill>
            <a:srgbClr val="F7FDF4"/>
          </a:solidFill>
          <a:ln w="12700">
            <a:solidFill>
              <a:srgbClr val="D9F2CC"/>
            </a:solidFill>
            <a:prstDash val="solid"/>
          </a:ln>
        </p:spPr>
      </p:sp>
      <p:sp>
        <p:nvSpPr>
          <p:cNvPr id="8" name="Text 6"/>
          <p:cNvSpPr txBox="1"/>
          <p:nvPr/>
        </p:nvSpPr>
        <p:spPr>
          <a:xfrm>
            <a:off x="6537960" y="2615184"/>
            <a:ext cx="1463040" cy="60350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Primera línea</a:t>
            </a:r>
            <a:endParaRPr lang="en-US" sz="1250" dirty="0"/>
          </a:p>
        </p:txBody>
      </p:sp>
      <p:sp>
        <p:nvSpPr>
          <p:cNvPr id="9" name="Text 7"/>
          <p:cNvSpPr txBox="1"/>
          <p:nvPr/>
        </p:nvSpPr>
        <p:spPr>
          <a:xfrm>
            <a:off x="8001000" y="2615184"/>
            <a:ext cx="3291840" cy="603504"/>
          </a:xfrm>
          <a:prstGeom prst="rect">
            <a:avLst/>
          </a:prstGeom>
          <a:noFill/>
          <a:ln/>
        </p:spPr>
        <p:txBody>
          <a:bodyPr wrap="square" lIns="0" tIns="0" rIns="0" bIns="0" rtlCol="0" anchor="ctr"/>
          <a:lstStyle/>
          <a:p>
            <a:pPr indent="0" marL="0">
              <a:buNone/>
            </a:pPr>
            <a:r>
              <a:rPr lang="en-US" sz="1150" dirty="0">
                <a:solidFill>
                  <a:srgbClr val="424242"/>
                </a:solidFill>
                <a:latin typeface="Calibri" pitchFamily="34" charset="0"/>
                <a:ea typeface="Calibri" pitchFamily="34" charset="-122"/>
                <a:cs typeface="Calibri" pitchFamily="34" charset="-120"/>
              </a:rPr>
              <a:t>WEBVTT, en mayúsculas y sola.</a:t>
            </a:r>
            <a:endParaRPr lang="en-US" sz="1150" dirty="0"/>
          </a:p>
        </p:txBody>
      </p:sp>
      <p:sp>
        <p:nvSpPr>
          <p:cNvPr id="10" name="Shape 8"/>
          <p:cNvSpPr/>
          <p:nvPr/>
        </p:nvSpPr>
        <p:spPr>
          <a:xfrm>
            <a:off x="6263640" y="3312871"/>
            <a:ext cx="5303520" cy="603504"/>
          </a:xfrm>
          <a:prstGeom prst="roundRect">
            <a:avLst>
              <a:gd name="adj" fmla="val 15152"/>
            </a:avLst>
          </a:prstGeom>
          <a:solidFill>
            <a:srgbClr val="FFFFFF"/>
          </a:solidFill>
          <a:ln w="12700">
            <a:solidFill>
              <a:srgbClr val="D9F2CC"/>
            </a:solidFill>
            <a:prstDash val="solid"/>
          </a:ln>
        </p:spPr>
      </p:sp>
      <p:sp>
        <p:nvSpPr>
          <p:cNvPr id="11" name="Text 9"/>
          <p:cNvSpPr txBox="1"/>
          <p:nvPr/>
        </p:nvSpPr>
        <p:spPr>
          <a:xfrm>
            <a:off x="6537960" y="3312871"/>
            <a:ext cx="1463040" cy="60350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Tiempos</a:t>
            </a:r>
            <a:endParaRPr lang="en-US" sz="1250" dirty="0"/>
          </a:p>
        </p:txBody>
      </p:sp>
      <p:sp>
        <p:nvSpPr>
          <p:cNvPr id="12" name="Text 10"/>
          <p:cNvSpPr txBox="1"/>
          <p:nvPr/>
        </p:nvSpPr>
        <p:spPr>
          <a:xfrm>
            <a:off x="8001000" y="3312871"/>
            <a:ext cx="3291840" cy="603504"/>
          </a:xfrm>
          <a:prstGeom prst="rect">
            <a:avLst/>
          </a:prstGeom>
          <a:noFill/>
          <a:ln/>
        </p:spPr>
        <p:txBody>
          <a:bodyPr wrap="square" lIns="0" tIns="0" rIns="0" bIns="0" rtlCol="0" anchor="ctr"/>
          <a:lstStyle/>
          <a:p>
            <a:pPr indent="0" marL="0">
              <a:buNone/>
            </a:pPr>
            <a:r>
              <a:rPr lang="en-US" sz="1150" dirty="0">
                <a:solidFill>
                  <a:srgbClr val="424242"/>
                </a:solidFill>
                <a:latin typeface="Calibri" pitchFamily="34" charset="0"/>
                <a:ea typeface="Calibri" pitchFamily="34" charset="-122"/>
                <a:cs typeface="Calibri" pitchFamily="34" charset="-120"/>
              </a:rPr>
              <a:t>minutos:segundos.milésimas, con --&gt; en medio.</a:t>
            </a:r>
            <a:endParaRPr lang="en-US" sz="1150" dirty="0"/>
          </a:p>
        </p:txBody>
      </p:sp>
      <p:sp>
        <p:nvSpPr>
          <p:cNvPr id="13" name="Shape 11"/>
          <p:cNvSpPr/>
          <p:nvPr/>
        </p:nvSpPr>
        <p:spPr>
          <a:xfrm>
            <a:off x="6263640" y="4010558"/>
            <a:ext cx="5303520" cy="603504"/>
          </a:xfrm>
          <a:prstGeom prst="roundRect">
            <a:avLst>
              <a:gd name="adj" fmla="val 15152"/>
            </a:avLst>
          </a:prstGeom>
          <a:solidFill>
            <a:srgbClr val="F7FDF4"/>
          </a:solidFill>
          <a:ln w="12700">
            <a:solidFill>
              <a:srgbClr val="D9F2CC"/>
            </a:solidFill>
            <a:prstDash val="solid"/>
          </a:ln>
        </p:spPr>
      </p:sp>
      <p:sp>
        <p:nvSpPr>
          <p:cNvPr id="14" name="Text 12"/>
          <p:cNvSpPr txBox="1"/>
          <p:nvPr/>
        </p:nvSpPr>
        <p:spPr>
          <a:xfrm>
            <a:off x="6537960" y="4010558"/>
            <a:ext cx="1463040" cy="60350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Texto</a:t>
            </a:r>
            <a:endParaRPr lang="en-US" sz="1250" dirty="0"/>
          </a:p>
        </p:txBody>
      </p:sp>
      <p:sp>
        <p:nvSpPr>
          <p:cNvPr id="15" name="Text 13"/>
          <p:cNvSpPr txBox="1"/>
          <p:nvPr/>
        </p:nvSpPr>
        <p:spPr>
          <a:xfrm>
            <a:off x="8001000" y="4010558"/>
            <a:ext cx="3291840" cy="603504"/>
          </a:xfrm>
          <a:prstGeom prst="rect">
            <a:avLst/>
          </a:prstGeom>
          <a:noFill/>
          <a:ln/>
        </p:spPr>
        <p:txBody>
          <a:bodyPr wrap="square" lIns="0" tIns="0" rIns="0" bIns="0" rtlCol="0" anchor="ctr"/>
          <a:lstStyle/>
          <a:p>
            <a:pPr indent="0" marL="0">
              <a:buNone/>
            </a:pPr>
            <a:r>
              <a:rPr lang="en-US" sz="1150" dirty="0">
                <a:solidFill>
                  <a:srgbClr val="424242"/>
                </a:solidFill>
                <a:latin typeface="Calibri" pitchFamily="34" charset="0"/>
                <a:ea typeface="Calibri" pitchFamily="34" charset="-122"/>
                <a:cs typeface="Calibri" pitchFamily="34" charset="-120"/>
              </a:rPr>
              <a:t>Una o dos líneas cortas por bloque.</a:t>
            </a:r>
            <a:endParaRPr lang="en-US" sz="1150" dirty="0"/>
          </a:p>
        </p:txBody>
      </p:sp>
      <p:sp>
        <p:nvSpPr>
          <p:cNvPr id="16" name="Shape 14"/>
          <p:cNvSpPr/>
          <p:nvPr/>
        </p:nvSpPr>
        <p:spPr>
          <a:xfrm>
            <a:off x="6263640" y="4708246"/>
            <a:ext cx="5303520" cy="603504"/>
          </a:xfrm>
          <a:prstGeom prst="roundRect">
            <a:avLst>
              <a:gd name="adj" fmla="val 15152"/>
            </a:avLst>
          </a:prstGeom>
          <a:solidFill>
            <a:srgbClr val="FFFFFF"/>
          </a:solidFill>
          <a:ln w="12700">
            <a:solidFill>
              <a:srgbClr val="D9F2CC"/>
            </a:solidFill>
            <a:prstDash val="solid"/>
          </a:ln>
        </p:spPr>
      </p:sp>
      <p:sp>
        <p:nvSpPr>
          <p:cNvPr id="17" name="Text 15"/>
          <p:cNvSpPr txBox="1"/>
          <p:nvPr/>
        </p:nvSpPr>
        <p:spPr>
          <a:xfrm>
            <a:off x="6537960" y="4708246"/>
            <a:ext cx="1463040" cy="60350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Línea en blanco</a:t>
            </a:r>
            <a:endParaRPr lang="en-US" sz="1250" dirty="0"/>
          </a:p>
        </p:txBody>
      </p:sp>
      <p:sp>
        <p:nvSpPr>
          <p:cNvPr id="18" name="Text 16"/>
          <p:cNvSpPr txBox="1"/>
          <p:nvPr/>
        </p:nvSpPr>
        <p:spPr>
          <a:xfrm>
            <a:off x="8001000" y="4708246"/>
            <a:ext cx="3291840" cy="603504"/>
          </a:xfrm>
          <a:prstGeom prst="rect">
            <a:avLst/>
          </a:prstGeom>
          <a:noFill/>
          <a:ln/>
        </p:spPr>
        <p:txBody>
          <a:bodyPr wrap="square" lIns="0" tIns="0" rIns="0" bIns="0" rtlCol="0" anchor="ctr"/>
          <a:lstStyle/>
          <a:p>
            <a:pPr indent="0" marL="0">
              <a:buNone/>
            </a:pPr>
            <a:r>
              <a:rPr lang="en-US" sz="1150" dirty="0">
                <a:solidFill>
                  <a:srgbClr val="424242"/>
                </a:solidFill>
                <a:latin typeface="Calibri" pitchFamily="34" charset="0"/>
                <a:ea typeface="Calibri" pitchFamily="34" charset="-122"/>
                <a:cs typeface="Calibri" pitchFamily="34" charset="-120"/>
              </a:rPr>
              <a:t>Separa un bloque del siguiente.</a:t>
            </a:r>
            <a:endParaRPr lang="en-US" sz="1150" dirty="0"/>
          </a:p>
        </p:txBody>
      </p:sp>
      <p:sp>
        <p:nvSpPr>
          <p:cNvPr id="19" name="Shape 17"/>
          <p:cNvSpPr/>
          <p:nvPr/>
        </p:nvSpPr>
        <p:spPr>
          <a:xfrm>
            <a:off x="640080" y="5468112"/>
            <a:ext cx="10927080" cy="566928"/>
          </a:xfrm>
          <a:prstGeom prst="roundRect">
            <a:avLst>
              <a:gd name="adj" fmla="val 16129"/>
            </a:avLst>
          </a:prstGeom>
          <a:solidFill>
            <a:srgbClr val="FBF4F2"/>
          </a:solidFill>
          <a:ln w="12700">
            <a:solidFill>
              <a:srgbClr val="F0D8D2"/>
            </a:solidFill>
            <a:prstDash val="solid"/>
          </a:ln>
        </p:spPr>
      </p:sp>
      <p:sp>
        <p:nvSpPr>
          <p:cNvPr id="20" name="Text 18"/>
          <p:cNvSpPr txBox="1"/>
          <p:nvPr/>
        </p:nvSpPr>
        <p:spPr>
          <a:xfrm>
            <a:off x="950976" y="5468112"/>
            <a:ext cx="10305288" cy="566928"/>
          </a:xfrm>
          <a:prstGeom prst="rect">
            <a:avLst/>
          </a:prstGeom>
          <a:noFill/>
          <a:ln/>
        </p:spPr>
        <p:txBody>
          <a:bodyPr wrap="square" lIns="0" tIns="0" rIns="0" bIns="0" rtlCol="0" anchor="ctr"/>
          <a:lstStyle/>
          <a:p>
            <a:pPr indent="0" marL="0">
              <a:lnSpc>
                <a:spcPct val="120000"/>
              </a:lnSpc>
              <a:buNone/>
            </a:pPr>
            <a:r>
              <a:rPr lang="en-US" sz="1200" b="1" dirty="0">
                <a:solidFill>
                  <a:srgbClr val="B5462F"/>
                </a:solidFill>
                <a:latin typeface="Calibri" pitchFamily="34" charset="0"/>
                <a:ea typeface="Calibri" pitchFamily="34" charset="-122"/>
                <a:cs typeface="Calibri" pitchFamily="34" charset="-120"/>
              </a:rPr>
              <a:t>Ojo:  </a:t>
            </a:r>
            <a:pPr indent="0" marL="0">
              <a:lnSpc>
                <a:spcPct val="120000"/>
              </a:lnSpc>
              <a:buNone/>
            </a:pPr>
            <a:r>
              <a:rPr lang="en-US" sz="1200" dirty="0">
                <a:solidFill>
                  <a:srgbClr val="424242"/>
                </a:solidFill>
                <a:latin typeface="Calibri" pitchFamily="34" charset="0"/>
                <a:ea typeface="Calibri" pitchFamily="34" charset="-122"/>
                <a:cs typeface="Calibri" pitchFamily="34" charset="-120"/>
              </a:rPr>
              <a:t>los subtítulos solo cargan con servidor. Abre la página con Live Server, no con doble clic.</a:t>
            </a:r>
            <a:endParaRPr lang="en-US" sz="1200" dirty="0"/>
          </a:p>
        </p:txBody>
      </p:sp>
      <p:sp>
        <p:nvSpPr>
          <p:cNvPr id="21" name="Text 19"/>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30 / 48</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04 · ACCESIBILIDAD</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El audio necesita transcripción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Un &lt;audio&gt; no muestra subtítulos: el texto va escrito en la página.</a:t>
            </a:r>
            <a:endParaRPr lang="en-US" sz="1250" dirty="0"/>
          </a:p>
        </p:txBody>
      </p:sp>
      <p:sp>
        <p:nvSpPr>
          <p:cNvPr id="5" name="Shape 3"/>
          <p:cNvSpPr/>
          <p:nvPr/>
        </p:nvSpPr>
        <p:spPr>
          <a:xfrm>
            <a:off x="640080" y="2615184"/>
            <a:ext cx="5760720" cy="2011680"/>
          </a:xfrm>
          <a:prstGeom prst="roundRect">
            <a:avLst>
              <a:gd name="adj" fmla="val 4545"/>
            </a:avLst>
          </a:prstGeom>
          <a:solidFill>
            <a:srgbClr val="2B2B2B"/>
          </a:solidFill>
          <a:ln w="12700">
            <a:solidFill>
              <a:srgbClr val="2B2B2B"/>
            </a:solidFill>
            <a:prstDash val="solid"/>
          </a:ln>
        </p:spPr>
      </p:sp>
      <p:sp>
        <p:nvSpPr>
          <p:cNvPr id="6" name="Text 4"/>
          <p:cNvSpPr txBox="1"/>
          <p:nvPr/>
        </p:nvSpPr>
        <p:spPr>
          <a:xfrm>
            <a:off x="868680" y="2779776"/>
            <a:ext cx="5303520" cy="1682496"/>
          </a:xfrm>
          <a:prstGeom prst="rect">
            <a:avLst/>
          </a:prstGeom>
          <a:noFill/>
          <a:ln/>
        </p:spPr>
        <p:txBody>
          <a:bodyPr wrap="square" lIns="0" tIns="0" rIns="0" bIns="0" rtlCol="0" anchor="ctr"/>
          <a:lstStyle/>
          <a:p>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&lt;details&gt;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&lt;summary&gt;</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Transcripción del audio</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&lt;/summary&gt;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&lt;p&gt;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Hola, soy Dagner Chuman. Docente e ingeniero</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enfocado en el desarrollo web…</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&lt;/p&gt;</a:t>
            </a:r>
            <a:endParaRPr lang="en-US" sz="1100" dirty="0"/>
          </a:p>
          <a:p>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&lt;/details&gt;</a:t>
            </a:r>
            <a:endParaRPr lang="en-US" sz="1100" dirty="0"/>
          </a:p>
        </p:txBody>
      </p:sp>
      <p:sp>
        <p:nvSpPr>
          <p:cNvPr id="7" name="Shape 5"/>
          <p:cNvSpPr/>
          <p:nvPr/>
        </p:nvSpPr>
        <p:spPr>
          <a:xfrm>
            <a:off x="6629400" y="2615184"/>
            <a:ext cx="4937760" cy="2011680"/>
          </a:xfrm>
          <a:prstGeom prst="roundRect">
            <a:avLst>
              <a:gd name="adj" fmla="val 4545"/>
            </a:avLst>
          </a:prstGeom>
          <a:solidFill>
            <a:srgbClr val="F0FCE8"/>
          </a:solidFill>
          <a:ln w="12700">
            <a:solidFill>
              <a:srgbClr val="D9F2CC"/>
            </a:solidFill>
            <a:prstDash val="solid"/>
          </a:ln>
        </p:spPr>
      </p:sp>
      <p:sp>
        <p:nvSpPr>
          <p:cNvPr id="8" name="Text 6"/>
          <p:cNvSpPr txBox="1"/>
          <p:nvPr/>
        </p:nvSpPr>
        <p:spPr>
          <a:xfrm>
            <a:off x="6940296" y="2816352"/>
            <a:ext cx="4315968" cy="310896"/>
          </a:xfrm>
          <a:prstGeom prst="rect">
            <a:avLst/>
          </a:prstGeom>
          <a:noFill/>
          <a:ln/>
        </p:spPr>
        <p:txBody>
          <a:bodyPr wrap="square" lIns="0" tIns="0" rIns="0" bIns="0" rtlCol="0" anchor="ctr"/>
          <a:lstStyle/>
          <a:p>
            <a:pPr algn="l" indent="0" marL="0">
              <a:buNone/>
            </a:pPr>
            <a:r>
              <a:rPr lang="en-US" sz="1400" b="1" dirty="0">
                <a:solidFill>
                  <a:srgbClr val="4FB817"/>
                </a:solidFill>
                <a:latin typeface="Calibri" pitchFamily="34" charset="0"/>
                <a:ea typeface="Calibri" pitchFamily="34" charset="-122"/>
                <a:cs typeface="Calibri" pitchFamily="34" charset="-120"/>
              </a:rPr>
              <a:t>details y summary</a:t>
            </a:r>
            <a:endParaRPr lang="en-US" sz="1400" dirty="0"/>
          </a:p>
        </p:txBody>
      </p:sp>
      <p:sp>
        <p:nvSpPr>
          <p:cNvPr id="9" name="Text 7"/>
          <p:cNvSpPr txBox="1"/>
          <p:nvPr/>
        </p:nvSpPr>
        <p:spPr>
          <a:xfrm>
            <a:off x="6940296" y="3182112"/>
            <a:ext cx="4315968" cy="1324051"/>
          </a:xfrm>
          <a:prstGeom prst="rect">
            <a:avLst/>
          </a:prstGeom>
          <a:noFill/>
          <a:ln/>
        </p:spPr>
        <p:txBody>
          <a:bodyPr wrap="square" lIns="0" tIns="0" rIns="0" bIns="0" rtlCol="0" anchor="t"/>
          <a:lstStyle/>
          <a:p>
            <a:pPr algn="l" indent="0" marL="0">
              <a:lnSpc>
                <a:spcPct val="125000"/>
              </a:lnSpc>
              <a:buNone/>
            </a:pPr>
            <a:r>
              <a:rPr lang="en-US" sz="1200" dirty="0">
                <a:solidFill>
                  <a:srgbClr val="424242"/>
                </a:solidFill>
                <a:latin typeface="Calibri" pitchFamily="34" charset="0"/>
                <a:ea typeface="Calibri" pitchFamily="34" charset="-122"/>
                <a:cs typeface="Calibri" pitchFamily="34" charset="-120"/>
              </a:rPr>
              <a:t>Un bloque que se abre y se cierra con un clic, sin JavaScript. El texto queda disponible sin estorbar a quien no lo necesita.</a:t>
            </a:r>
            <a:endParaRPr lang="en-US" sz="1200" dirty="0"/>
          </a:p>
        </p:txBody>
      </p:sp>
      <p:sp>
        <p:nvSpPr>
          <p:cNvPr id="10" name="Shape 8"/>
          <p:cNvSpPr/>
          <p:nvPr/>
        </p:nvSpPr>
        <p:spPr>
          <a:xfrm>
            <a:off x="640080" y="4846320"/>
            <a:ext cx="10927080" cy="1188720"/>
          </a:xfrm>
          <a:prstGeom prst="roundRect">
            <a:avLst>
              <a:gd name="adj" fmla="val 7692"/>
            </a:avLst>
          </a:prstGeom>
          <a:solidFill>
            <a:srgbClr val="EAFAFB"/>
          </a:solidFill>
          <a:ln w="12700">
            <a:solidFill>
              <a:srgbClr val="BFEAEE"/>
            </a:solidFill>
            <a:prstDash val="solid"/>
          </a:ln>
        </p:spPr>
      </p:sp>
      <p:sp>
        <p:nvSpPr>
          <p:cNvPr id="11" name="Text 9"/>
          <p:cNvSpPr txBox="1"/>
          <p:nvPr/>
        </p:nvSpPr>
        <p:spPr>
          <a:xfrm>
            <a:off x="950976" y="5047488"/>
            <a:ext cx="10305288" cy="310896"/>
          </a:xfrm>
          <a:prstGeom prst="rect">
            <a:avLst/>
          </a:prstGeom>
          <a:noFill/>
          <a:ln/>
        </p:spPr>
        <p:txBody>
          <a:bodyPr wrap="square" lIns="0" tIns="0" rIns="0" bIns="0" rtlCol="0" anchor="ctr"/>
          <a:lstStyle/>
          <a:p>
            <a:pPr algn="l" indent="0" marL="0">
              <a:buNone/>
            </a:pPr>
            <a:r>
              <a:rPr lang="en-US" sz="1400" b="1" dirty="0">
                <a:solidFill>
                  <a:srgbClr val="1E9AA3"/>
                </a:solidFill>
                <a:latin typeface="Calibri" pitchFamily="34" charset="0"/>
                <a:ea typeface="Calibri" pitchFamily="34" charset="-122"/>
                <a:cs typeface="Calibri" pitchFamily="34" charset="-120"/>
              </a:rPr>
              <a:t>También lo leen los buscadores</a:t>
            </a:r>
            <a:endParaRPr lang="en-US" sz="1400" dirty="0"/>
          </a:p>
        </p:txBody>
      </p:sp>
      <p:sp>
        <p:nvSpPr>
          <p:cNvPr id="12" name="Text 10"/>
          <p:cNvSpPr txBox="1"/>
          <p:nvPr/>
        </p:nvSpPr>
        <p:spPr>
          <a:xfrm>
            <a:off x="950976" y="5413248"/>
            <a:ext cx="10305288" cy="501091"/>
          </a:xfrm>
          <a:prstGeom prst="rect">
            <a:avLst/>
          </a:prstGeom>
          <a:noFill/>
          <a:ln/>
        </p:spPr>
        <p:txBody>
          <a:bodyPr wrap="square" lIns="0" tIns="0" rIns="0" bIns="0" rtlCol="0" anchor="t"/>
          <a:lstStyle/>
          <a:p>
            <a:pPr algn="l" indent="0" marL="0">
              <a:lnSpc>
                <a:spcPct val="125000"/>
              </a:lnSpc>
              <a:buNone/>
            </a:pPr>
            <a:r>
              <a:rPr lang="en-US" sz="1250" dirty="0">
                <a:solidFill>
                  <a:srgbClr val="424242"/>
                </a:solidFill>
                <a:latin typeface="Calibri" pitchFamily="34" charset="0"/>
                <a:ea typeface="Calibri" pitchFamily="34" charset="-122"/>
                <a:cs typeface="Calibri" pitchFamily="34" charset="-120"/>
              </a:rPr>
              <a:t>Un buscador no escucha tu audio ni mira tu video, pero sí lee el texto de la transcripción y de los subtítulos.</a:t>
            </a:r>
            <a:endParaRPr lang="en-US" sz="1250" dirty="0"/>
          </a:p>
        </p:txBody>
      </p:sp>
      <p:sp>
        <p:nvSpPr>
          <p:cNvPr id="13" name="Text 11"/>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31 / 48</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04 · ACCESIBILIDAD</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Lista de comprobación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Antes de dar por terminado cualquier video o audio, recorre estos seis puntos.</a:t>
            </a:r>
            <a:endParaRPr lang="en-US" sz="1250" dirty="0"/>
          </a:p>
        </p:txBody>
      </p:sp>
      <p:sp>
        <p:nvSpPr>
          <p:cNvPr id="5" name="Shape 3"/>
          <p:cNvSpPr/>
          <p:nvPr/>
        </p:nvSpPr>
        <p:spPr>
          <a:xfrm>
            <a:off x="640080" y="2615184"/>
            <a:ext cx="10927080" cy="530352"/>
          </a:xfrm>
          <a:prstGeom prst="roundRect">
            <a:avLst>
              <a:gd name="adj" fmla="val 17241"/>
            </a:avLst>
          </a:prstGeom>
          <a:solidFill>
            <a:srgbClr val="F7FDF4"/>
          </a:solidFill>
          <a:ln w="12700">
            <a:solidFill>
              <a:srgbClr val="D9F2CC"/>
            </a:solidFill>
            <a:prstDash val="solid"/>
          </a:ln>
        </p:spPr>
      </p:sp>
      <p:sp>
        <p:nvSpPr>
          <p:cNvPr id="6" name="Shape 4"/>
          <p:cNvSpPr/>
          <p:nvPr/>
        </p:nvSpPr>
        <p:spPr>
          <a:xfrm>
            <a:off x="978408" y="2624328"/>
            <a:ext cx="512064" cy="512064"/>
          </a:xfrm>
          <a:prstGeom prst="ellipse">
            <a:avLst/>
          </a:prstGeom>
          <a:solidFill>
            <a:srgbClr val="36C4CC"/>
          </a:solidFill>
          <a:ln w="12700">
            <a:solidFill>
              <a:srgbClr val="36C4CC"/>
            </a:solidFill>
            <a:prstDash val="solid"/>
          </a:ln>
        </p:spPr>
      </p:sp>
      <p:sp>
        <p:nvSpPr>
          <p:cNvPr id="7" name="Text 5"/>
          <p:cNvSpPr txBox="1"/>
          <p:nvPr/>
        </p:nvSpPr>
        <p:spPr>
          <a:xfrm>
            <a:off x="978408" y="2624328"/>
            <a:ext cx="512064"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691640" y="2615184"/>
            <a:ext cx="3520440" cy="530352"/>
          </a:xfrm>
          <a:prstGeom prst="rect">
            <a:avLst/>
          </a:prstGeom>
          <a:noFill/>
          <a:ln/>
        </p:spPr>
        <p:txBody>
          <a:bodyPr wrap="square" lIns="0" tIns="0" rIns="0" bIns="0" rtlCol="0" anchor="ctr"/>
          <a:lstStyle/>
          <a:p>
            <a:pPr indent="0" marL="0">
              <a:buNone/>
            </a:pPr>
            <a:r>
              <a:rPr lang="en-US" sz="1350" b="1" dirty="0">
                <a:solidFill>
                  <a:srgbClr val="36C4CC"/>
                </a:solidFill>
                <a:latin typeface="Calibri" pitchFamily="34" charset="0"/>
                <a:ea typeface="Calibri" pitchFamily="34" charset="-122"/>
                <a:cs typeface="Calibri" pitchFamily="34" charset="-120"/>
              </a:rPr>
              <a:t>¿Pesa lo razonable?</a:t>
            </a:r>
            <a:endParaRPr lang="en-US" sz="1350" dirty="0"/>
          </a:p>
        </p:txBody>
      </p:sp>
      <p:sp>
        <p:nvSpPr>
          <p:cNvPr id="9" name="Text 7"/>
          <p:cNvSpPr txBox="1"/>
          <p:nvPr/>
        </p:nvSpPr>
        <p:spPr>
          <a:xfrm>
            <a:off x="5349240" y="2615184"/>
            <a:ext cx="5943600" cy="53035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Comprimido y a la resolución en que se muestra.</a:t>
            </a:r>
            <a:endParaRPr lang="en-US" sz="1200" dirty="0"/>
          </a:p>
        </p:txBody>
      </p:sp>
      <p:sp>
        <p:nvSpPr>
          <p:cNvPr id="10" name="Shape 8"/>
          <p:cNvSpPr/>
          <p:nvPr/>
        </p:nvSpPr>
        <p:spPr>
          <a:xfrm>
            <a:off x="640080" y="3223260"/>
            <a:ext cx="10927080" cy="530352"/>
          </a:xfrm>
          <a:prstGeom prst="roundRect">
            <a:avLst>
              <a:gd name="adj" fmla="val 17241"/>
            </a:avLst>
          </a:prstGeom>
          <a:solidFill>
            <a:srgbClr val="F7FDF4"/>
          </a:solidFill>
          <a:ln w="12700">
            <a:solidFill>
              <a:srgbClr val="D9F2CC"/>
            </a:solidFill>
            <a:prstDash val="solid"/>
          </a:ln>
        </p:spPr>
      </p:sp>
      <p:sp>
        <p:nvSpPr>
          <p:cNvPr id="11" name="Shape 9"/>
          <p:cNvSpPr/>
          <p:nvPr/>
        </p:nvSpPr>
        <p:spPr>
          <a:xfrm>
            <a:off x="978408" y="3232404"/>
            <a:ext cx="512064" cy="512064"/>
          </a:xfrm>
          <a:prstGeom prst="ellipse">
            <a:avLst/>
          </a:prstGeom>
          <a:solidFill>
            <a:srgbClr val="72EF29"/>
          </a:solidFill>
          <a:ln w="12700">
            <a:solidFill>
              <a:srgbClr val="72EF29"/>
            </a:solidFill>
            <a:prstDash val="solid"/>
          </a:ln>
        </p:spPr>
      </p:sp>
      <p:sp>
        <p:nvSpPr>
          <p:cNvPr id="12" name="Text 10"/>
          <p:cNvSpPr txBox="1"/>
          <p:nvPr/>
        </p:nvSpPr>
        <p:spPr>
          <a:xfrm>
            <a:off x="978408" y="3232404"/>
            <a:ext cx="512064" cy="512064"/>
          </a:xfrm>
          <a:prstGeom prst="rect">
            <a:avLst/>
          </a:prstGeom>
          <a:noFill/>
          <a:ln/>
        </p:spPr>
        <p:txBody>
          <a:bodyPr wrap="square" lIns="0" tIns="0" rIns="0" bIns="0" rtlCol="0" anchor="ctr"/>
          <a:lstStyle/>
          <a:p>
            <a:pPr algn="ctr" indent="0" marL="0">
              <a:buNone/>
            </a:pPr>
            <a:r>
              <a:rPr lang="en-US" sz="1300" b="1" dirty="0">
                <a:solidFill>
                  <a:srgbClr val="2A2A2A"/>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691640" y="3223260"/>
            <a:ext cx="3520440" cy="530352"/>
          </a:xfrm>
          <a:prstGeom prst="rect">
            <a:avLst/>
          </a:prstGeom>
          <a:noFill/>
          <a:ln/>
        </p:spPr>
        <p:txBody>
          <a:bodyPr wrap="square" lIns="0" tIns="0" rIns="0" bIns="0" rtlCol="0" anchor="ctr"/>
          <a:lstStyle/>
          <a:p>
            <a:pPr indent="0" marL="0">
              <a:buNone/>
            </a:pPr>
            <a:r>
              <a:rPr lang="en-US" sz="1350" b="1" dirty="0">
                <a:solidFill>
                  <a:srgbClr val="4FB817"/>
                </a:solidFill>
                <a:latin typeface="Calibri" pitchFamily="34" charset="0"/>
                <a:ea typeface="Calibri" pitchFamily="34" charset="-122"/>
                <a:cs typeface="Calibri" pitchFamily="34" charset="-120"/>
              </a:rPr>
              <a:t>¿Tiene dos fuentes?</a:t>
            </a:r>
            <a:endParaRPr lang="en-US" sz="1350" dirty="0"/>
          </a:p>
        </p:txBody>
      </p:sp>
      <p:sp>
        <p:nvSpPr>
          <p:cNvPr id="14" name="Text 12"/>
          <p:cNvSpPr txBox="1"/>
          <p:nvPr/>
        </p:nvSpPr>
        <p:spPr>
          <a:xfrm>
            <a:off x="5349240" y="3223260"/>
            <a:ext cx="5943600" cy="53035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source con su type; MP4 o MP3 siempre presente.</a:t>
            </a:r>
            <a:endParaRPr lang="en-US" sz="1200" dirty="0"/>
          </a:p>
        </p:txBody>
      </p:sp>
      <p:sp>
        <p:nvSpPr>
          <p:cNvPr id="15" name="Shape 13"/>
          <p:cNvSpPr/>
          <p:nvPr/>
        </p:nvSpPr>
        <p:spPr>
          <a:xfrm>
            <a:off x="640080" y="3831336"/>
            <a:ext cx="10927080" cy="530352"/>
          </a:xfrm>
          <a:prstGeom prst="roundRect">
            <a:avLst>
              <a:gd name="adj" fmla="val 17241"/>
            </a:avLst>
          </a:prstGeom>
          <a:solidFill>
            <a:srgbClr val="F7FDF4"/>
          </a:solidFill>
          <a:ln w="12700">
            <a:solidFill>
              <a:srgbClr val="D9F2CC"/>
            </a:solidFill>
            <a:prstDash val="solid"/>
          </a:ln>
        </p:spPr>
      </p:sp>
      <p:sp>
        <p:nvSpPr>
          <p:cNvPr id="16" name="Shape 14"/>
          <p:cNvSpPr/>
          <p:nvPr/>
        </p:nvSpPr>
        <p:spPr>
          <a:xfrm>
            <a:off x="978408" y="3840480"/>
            <a:ext cx="512064" cy="512064"/>
          </a:xfrm>
          <a:prstGeom prst="ellipse">
            <a:avLst/>
          </a:prstGeom>
          <a:solidFill>
            <a:srgbClr val="4FB817"/>
          </a:solidFill>
          <a:ln w="12700">
            <a:solidFill>
              <a:srgbClr val="4FB817"/>
            </a:solidFill>
            <a:prstDash val="solid"/>
          </a:ln>
        </p:spPr>
      </p:sp>
      <p:sp>
        <p:nvSpPr>
          <p:cNvPr id="17" name="Text 15"/>
          <p:cNvSpPr txBox="1"/>
          <p:nvPr/>
        </p:nvSpPr>
        <p:spPr>
          <a:xfrm>
            <a:off x="978408" y="3840480"/>
            <a:ext cx="512064"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691640" y="3831336"/>
            <a:ext cx="3520440" cy="530352"/>
          </a:xfrm>
          <a:prstGeom prst="rect">
            <a:avLst/>
          </a:prstGeom>
          <a:noFill/>
          <a:ln/>
        </p:spPr>
        <p:txBody>
          <a:bodyPr wrap="square" lIns="0" tIns="0" rIns="0" bIns="0" rtlCol="0" anchor="ctr"/>
          <a:lstStyle/>
          <a:p>
            <a:pPr indent="0" marL="0">
              <a:buNone/>
            </a:pPr>
            <a:r>
              <a:rPr lang="en-US" sz="1350" b="1" dirty="0">
                <a:solidFill>
                  <a:srgbClr val="4FB817"/>
                </a:solidFill>
                <a:latin typeface="Calibri" pitchFamily="34" charset="0"/>
                <a:ea typeface="Calibri" pitchFamily="34" charset="-122"/>
                <a:cs typeface="Calibri" pitchFamily="34" charset="-120"/>
              </a:rPr>
              <a:t>¿Se puede controlar?</a:t>
            </a:r>
            <a:endParaRPr lang="en-US" sz="1350" dirty="0"/>
          </a:p>
        </p:txBody>
      </p:sp>
      <p:sp>
        <p:nvSpPr>
          <p:cNvPr id="19" name="Text 17"/>
          <p:cNvSpPr txBox="1"/>
          <p:nvPr/>
        </p:nvSpPr>
        <p:spPr>
          <a:xfrm>
            <a:off x="5349240" y="3831336"/>
            <a:ext cx="5943600" cy="53035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controls o controles propios, y nada suena solo.</a:t>
            </a:r>
            <a:endParaRPr lang="en-US" sz="1200" dirty="0"/>
          </a:p>
        </p:txBody>
      </p:sp>
      <p:sp>
        <p:nvSpPr>
          <p:cNvPr id="20" name="Shape 18"/>
          <p:cNvSpPr/>
          <p:nvPr/>
        </p:nvSpPr>
        <p:spPr>
          <a:xfrm>
            <a:off x="640080" y="4439412"/>
            <a:ext cx="10927080" cy="530352"/>
          </a:xfrm>
          <a:prstGeom prst="roundRect">
            <a:avLst>
              <a:gd name="adj" fmla="val 17241"/>
            </a:avLst>
          </a:prstGeom>
          <a:solidFill>
            <a:srgbClr val="F7FDF4"/>
          </a:solidFill>
          <a:ln w="12700">
            <a:solidFill>
              <a:srgbClr val="D9F2CC"/>
            </a:solidFill>
            <a:prstDash val="solid"/>
          </a:ln>
        </p:spPr>
      </p:sp>
      <p:sp>
        <p:nvSpPr>
          <p:cNvPr id="21" name="Shape 19"/>
          <p:cNvSpPr/>
          <p:nvPr/>
        </p:nvSpPr>
        <p:spPr>
          <a:xfrm>
            <a:off x="978408" y="4448556"/>
            <a:ext cx="512064" cy="512064"/>
          </a:xfrm>
          <a:prstGeom prst="ellipse">
            <a:avLst/>
          </a:prstGeom>
          <a:solidFill>
            <a:srgbClr val="5AD3DA"/>
          </a:solidFill>
          <a:ln w="12700">
            <a:solidFill>
              <a:srgbClr val="5AD3DA"/>
            </a:solidFill>
            <a:prstDash val="solid"/>
          </a:ln>
        </p:spPr>
      </p:sp>
      <p:sp>
        <p:nvSpPr>
          <p:cNvPr id="22" name="Text 20"/>
          <p:cNvSpPr txBox="1"/>
          <p:nvPr/>
        </p:nvSpPr>
        <p:spPr>
          <a:xfrm>
            <a:off x="978408" y="4448556"/>
            <a:ext cx="512064"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691640" y="4439412"/>
            <a:ext cx="3520440" cy="530352"/>
          </a:xfrm>
          <a:prstGeom prst="rect">
            <a:avLst/>
          </a:prstGeom>
          <a:noFill/>
          <a:ln/>
        </p:spPr>
        <p:txBody>
          <a:bodyPr wrap="square" lIns="0" tIns="0" rIns="0" bIns="0" rtlCol="0" anchor="ctr"/>
          <a:lstStyle/>
          <a:p>
            <a:pPr indent="0" marL="0">
              <a:buNone/>
            </a:pPr>
            <a:r>
              <a:rPr lang="en-US" sz="1350" b="1" dirty="0">
                <a:solidFill>
                  <a:srgbClr val="5AD3DA"/>
                </a:solidFill>
                <a:latin typeface="Calibri" pitchFamily="34" charset="0"/>
                <a:ea typeface="Calibri" pitchFamily="34" charset="-122"/>
                <a:cs typeface="Calibri" pitchFamily="34" charset="-120"/>
              </a:rPr>
              <a:t>¿Se entiende sin sonido?</a:t>
            </a:r>
            <a:endParaRPr lang="en-US" sz="1350" dirty="0"/>
          </a:p>
        </p:txBody>
      </p:sp>
      <p:sp>
        <p:nvSpPr>
          <p:cNvPr id="24" name="Text 22"/>
          <p:cNvSpPr txBox="1"/>
          <p:nvPr/>
        </p:nvSpPr>
        <p:spPr>
          <a:xfrm>
            <a:off x="5349240" y="4439412"/>
            <a:ext cx="5943600" cy="53035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track en el video y transcripción en el audio.</a:t>
            </a:r>
            <a:endParaRPr lang="en-US" sz="1200" dirty="0"/>
          </a:p>
        </p:txBody>
      </p:sp>
      <p:sp>
        <p:nvSpPr>
          <p:cNvPr id="25" name="Shape 23"/>
          <p:cNvSpPr/>
          <p:nvPr/>
        </p:nvSpPr>
        <p:spPr>
          <a:xfrm>
            <a:off x="640080" y="5047488"/>
            <a:ext cx="10927080" cy="530352"/>
          </a:xfrm>
          <a:prstGeom prst="roundRect">
            <a:avLst>
              <a:gd name="adj" fmla="val 17241"/>
            </a:avLst>
          </a:prstGeom>
          <a:solidFill>
            <a:srgbClr val="F7FDF4"/>
          </a:solidFill>
          <a:ln w="12700">
            <a:solidFill>
              <a:srgbClr val="D9F2CC"/>
            </a:solidFill>
            <a:prstDash val="solid"/>
          </a:ln>
        </p:spPr>
      </p:sp>
      <p:sp>
        <p:nvSpPr>
          <p:cNvPr id="26" name="Shape 24"/>
          <p:cNvSpPr/>
          <p:nvPr/>
        </p:nvSpPr>
        <p:spPr>
          <a:xfrm>
            <a:off x="978408" y="5056632"/>
            <a:ext cx="512064" cy="512064"/>
          </a:xfrm>
          <a:prstGeom prst="ellipse">
            <a:avLst/>
          </a:prstGeom>
          <a:solidFill>
            <a:srgbClr val="63ED12"/>
          </a:solidFill>
          <a:ln w="12700">
            <a:solidFill>
              <a:srgbClr val="63ED12"/>
            </a:solidFill>
            <a:prstDash val="solid"/>
          </a:ln>
        </p:spPr>
      </p:sp>
      <p:sp>
        <p:nvSpPr>
          <p:cNvPr id="27" name="Text 25"/>
          <p:cNvSpPr txBox="1"/>
          <p:nvPr/>
        </p:nvSpPr>
        <p:spPr>
          <a:xfrm>
            <a:off x="978408" y="5056632"/>
            <a:ext cx="512064" cy="512064"/>
          </a:xfrm>
          <a:prstGeom prst="rect">
            <a:avLst/>
          </a:prstGeom>
          <a:noFill/>
          <a:ln/>
        </p:spPr>
        <p:txBody>
          <a:bodyPr wrap="square" lIns="0" tIns="0" rIns="0" bIns="0" rtlCol="0" anchor="ctr"/>
          <a:lstStyle/>
          <a:p>
            <a:pPr algn="ctr" indent="0" marL="0">
              <a:buNone/>
            </a:pPr>
            <a:r>
              <a:rPr lang="en-US" sz="1300" b="1" dirty="0">
                <a:solidFill>
                  <a:srgbClr val="2A2A2A"/>
                </a:solidFill>
                <a:latin typeface="Calibri" pitchFamily="34" charset="0"/>
                <a:ea typeface="Calibri" pitchFamily="34" charset="-122"/>
                <a:cs typeface="Calibri" pitchFamily="34" charset="-120"/>
              </a:rPr>
              <a:t>5</a:t>
            </a:r>
            <a:endParaRPr lang="en-US" sz="1300" dirty="0"/>
          </a:p>
        </p:txBody>
      </p:sp>
      <p:sp>
        <p:nvSpPr>
          <p:cNvPr id="28" name="Text 26"/>
          <p:cNvSpPr txBox="1"/>
          <p:nvPr/>
        </p:nvSpPr>
        <p:spPr>
          <a:xfrm>
            <a:off x="1691640" y="5047488"/>
            <a:ext cx="3520440" cy="530352"/>
          </a:xfrm>
          <a:prstGeom prst="rect">
            <a:avLst/>
          </a:prstGeom>
          <a:noFill/>
          <a:ln/>
        </p:spPr>
        <p:txBody>
          <a:bodyPr wrap="square" lIns="0" tIns="0" rIns="0" bIns="0" rtlCol="0" anchor="ctr"/>
          <a:lstStyle/>
          <a:p>
            <a:pPr indent="0" marL="0">
              <a:buNone/>
            </a:pPr>
            <a:r>
              <a:rPr lang="en-US" sz="1350" b="1" dirty="0">
                <a:solidFill>
                  <a:srgbClr val="4FB817"/>
                </a:solidFill>
                <a:latin typeface="Calibri" pitchFamily="34" charset="0"/>
                <a:ea typeface="Calibri" pitchFamily="34" charset="-122"/>
                <a:cs typeface="Calibri" pitchFamily="34" charset="-120"/>
              </a:rPr>
              <a:t>¿Las rutas son relativas?</a:t>
            </a:r>
            <a:endParaRPr lang="en-US" sz="1350" dirty="0"/>
          </a:p>
        </p:txBody>
      </p:sp>
      <p:sp>
        <p:nvSpPr>
          <p:cNvPr id="29" name="Text 27"/>
          <p:cNvSpPr txBox="1"/>
          <p:nvPr/>
        </p:nvSpPr>
        <p:spPr>
          <a:xfrm>
            <a:off x="5349240" y="5047488"/>
            <a:ext cx="5943600" cy="53035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Sin barra inicial y sin C:\.</a:t>
            </a:r>
            <a:endParaRPr lang="en-US" sz="1200" dirty="0"/>
          </a:p>
        </p:txBody>
      </p:sp>
      <p:sp>
        <p:nvSpPr>
          <p:cNvPr id="30" name="Shape 28"/>
          <p:cNvSpPr/>
          <p:nvPr/>
        </p:nvSpPr>
        <p:spPr>
          <a:xfrm>
            <a:off x="640080" y="5655564"/>
            <a:ext cx="10927080" cy="530352"/>
          </a:xfrm>
          <a:prstGeom prst="roundRect">
            <a:avLst>
              <a:gd name="adj" fmla="val 17241"/>
            </a:avLst>
          </a:prstGeom>
          <a:solidFill>
            <a:srgbClr val="F7FDF4"/>
          </a:solidFill>
          <a:ln w="12700">
            <a:solidFill>
              <a:srgbClr val="D9F2CC"/>
            </a:solidFill>
            <a:prstDash val="solid"/>
          </a:ln>
        </p:spPr>
      </p:sp>
      <p:sp>
        <p:nvSpPr>
          <p:cNvPr id="31" name="Shape 29"/>
          <p:cNvSpPr/>
          <p:nvPr/>
        </p:nvSpPr>
        <p:spPr>
          <a:xfrm>
            <a:off x="978408" y="5664708"/>
            <a:ext cx="512064" cy="512064"/>
          </a:xfrm>
          <a:prstGeom prst="ellipse">
            <a:avLst/>
          </a:prstGeom>
          <a:solidFill>
            <a:srgbClr val="7E5A94"/>
          </a:solidFill>
          <a:ln w="12700">
            <a:solidFill>
              <a:srgbClr val="7E5A94"/>
            </a:solidFill>
            <a:prstDash val="solid"/>
          </a:ln>
        </p:spPr>
      </p:sp>
      <p:sp>
        <p:nvSpPr>
          <p:cNvPr id="32" name="Text 30"/>
          <p:cNvSpPr txBox="1"/>
          <p:nvPr/>
        </p:nvSpPr>
        <p:spPr>
          <a:xfrm>
            <a:off x="978408" y="5664708"/>
            <a:ext cx="512064" cy="51206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3" name="Text 31"/>
          <p:cNvSpPr txBox="1"/>
          <p:nvPr/>
        </p:nvSpPr>
        <p:spPr>
          <a:xfrm>
            <a:off x="1691640" y="5655564"/>
            <a:ext cx="3520440" cy="530352"/>
          </a:xfrm>
          <a:prstGeom prst="rect">
            <a:avLst/>
          </a:prstGeom>
          <a:noFill/>
          <a:ln/>
        </p:spPr>
        <p:txBody>
          <a:bodyPr wrap="square" lIns="0" tIns="0" rIns="0" bIns="0" rtlCol="0" anchor="ctr"/>
          <a:lstStyle/>
          <a:p>
            <a:pPr indent="0" marL="0">
              <a:buNone/>
            </a:pPr>
            <a:r>
              <a:rPr lang="en-US" sz="1350" b="1" dirty="0">
                <a:solidFill>
                  <a:srgbClr val="7E5A94"/>
                </a:solidFill>
                <a:latin typeface="Calibri" pitchFamily="34" charset="0"/>
                <a:ea typeface="Calibri" pitchFamily="34" charset="-122"/>
                <a:cs typeface="Calibri" pitchFamily="34" charset="-120"/>
              </a:rPr>
              <a:t>¿Pasa el validador W3C?</a:t>
            </a:r>
            <a:endParaRPr lang="en-US" sz="1350" dirty="0"/>
          </a:p>
        </p:txBody>
      </p:sp>
      <p:sp>
        <p:nvSpPr>
          <p:cNvPr id="34" name="Text 32"/>
          <p:cNvSpPr txBox="1"/>
          <p:nvPr/>
        </p:nvSpPr>
        <p:spPr>
          <a:xfrm>
            <a:off x="5349240" y="5655564"/>
            <a:ext cx="5943600" cy="530352"/>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Sin errores antes de publicar.</a:t>
            </a:r>
            <a:endParaRPr lang="en-US" sz="1200" dirty="0"/>
          </a:p>
        </p:txBody>
      </p:sp>
      <p:sp>
        <p:nvSpPr>
          <p:cNvPr id="35" name="Text 33"/>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32 / 48</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3127248" y="2779776"/>
            <a:ext cx="5943600" cy="960120"/>
          </a:xfrm>
          <a:prstGeom prst="roundRect">
            <a:avLst>
              <a:gd name="adj" fmla="val 50000"/>
            </a:avLst>
          </a:prstGeom>
          <a:solidFill>
            <a:srgbClr val="72EF29"/>
          </a:solidFill>
          <a:ln w="12700">
            <a:solidFill>
              <a:srgbClr val="72EF29"/>
            </a:solidFill>
            <a:prstDash val="solid"/>
          </a:ln>
        </p:spPr>
      </p:sp>
      <p:sp>
        <p:nvSpPr>
          <p:cNvPr id="3" name="Shape 1"/>
          <p:cNvSpPr/>
          <p:nvPr/>
        </p:nvSpPr>
        <p:spPr>
          <a:xfrm>
            <a:off x="3127248" y="2651760"/>
            <a:ext cx="5943600" cy="960120"/>
          </a:xfrm>
          <a:prstGeom prst="roundRect">
            <a:avLst>
              <a:gd name="adj" fmla="val 50000"/>
            </a:avLst>
          </a:prstGeom>
          <a:solidFill>
            <a:srgbClr val="36C4CC"/>
          </a:solidFill>
          <a:ln w="12700">
            <a:solidFill>
              <a:srgbClr val="36C4CC"/>
            </a:solidFill>
            <a:prstDash val="solid"/>
          </a:ln>
        </p:spPr>
      </p:sp>
      <p:sp>
        <p:nvSpPr>
          <p:cNvPr id="4" name="Text 2"/>
          <p:cNvSpPr txBox="1"/>
          <p:nvPr/>
        </p:nvSpPr>
        <p:spPr>
          <a:xfrm>
            <a:off x="3127248" y="2651760"/>
            <a:ext cx="5943600" cy="9601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DESCANSO · 15 MINUTOS</a:t>
            </a:r>
            <a:endParaRPr lang="en-US" sz="2000" dirty="0"/>
          </a:p>
        </p:txBody>
      </p:sp>
      <p:pic>
        <p:nvPicPr>
          <p:cNvPr id="5" name="Image 0" descr="Indicador de espera">    </p:cNvPr>
          <p:cNvPicPr>
            <a:picLocks noChangeAspect="1"/>
          </p:cNvPicPr>
          <p:nvPr/>
        </p:nvPicPr>
        <p:blipFill>
          <a:blip r:embed="rId1"/>
          <a:stretch>
            <a:fillRect/>
          </a:stretch>
        </p:blipFill>
        <p:spPr>
          <a:xfrm>
            <a:off x="5550408" y="3977640"/>
            <a:ext cx="1097280" cy="1097280"/>
          </a:xfrm>
          <a:prstGeom prst="rect">
            <a:avLst/>
          </a:prstGeom>
        </p:spPr>
      </p:pic>
      <p:sp>
        <p:nvSpPr>
          <p:cNvPr id="6" name="Text 3"/>
          <p:cNvSpPr txBox="1"/>
          <p:nvPr/>
        </p:nvSpPr>
        <p:spPr>
          <a:xfrm>
            <a:off x="1371600" y="5321808"/>
            <a:ext cx="9445752" cy="310896"/>
          </a:xfrm>
          <a:prstGeom prst="rect">
            <a:avLst/>
          </a:prstGeom>
          <a:noFill/>
          <a:ln/>
        </p:spPr>
        <p:txBody>
          <a:bodyPr wrap="square" lIns="0" tIns="0" rIns="0" bIns="0" rtlCol="0" anchor="ctr"/>
          <a:lstStyle/>
          <a:p>
            <a:pPr algn="ctr" indent="0" marL="0">
              <a:buNone/>
            </a:pPr>
            <a:r>
              <a:rPr lang="en-US" sz="1200" dirty="0">
                <a:solidFill>
                  <a:srgbClr val="6E7673"/>
                </a:solidFill>
                <a:latin typeface="Calibri" pitchFamily="34" charset="0"/>
                <a:ea typeface="Calibri" pitchFamily="34" charset="-122"/>
                <a:cs typeface="Calibri" pitchFamily="34" charset="-120"/>
              </a:rPr>
              <a:t>Al volver construimos tus propios controles de video. Ten abierto tu sobre-mi.html.</a:t>
            </a:r>
            <a:endParaRPr lang="en-US" sz="1200" dirty="0"/>
          </a:p>
        </p:txBody>
      </p:sp>
      <p:pic>
        <p:nvPicPr>
          <p:cNvPr id="7" name="Image 1" descr="/home/claude/trabajo/plantilla/assets/puntos.png">    </p:cNvPr>
          <p:cNvPicPr>
            <a:picLocks noChangeAspect="1"/>
          </p:cNvPicPr>
          <p:nvPr/>
        </p:nvPicPr>
        <p:blipFill>
          <a:blip r:embed="rId2"/>
          <a:stretch>
            <a:fillRect/>
          </a:stretch>
        </p:blipFill>
        <p:spPr>
          <a:xfrm>
            <a:off x="137160" y="5897880"/>
            <a:ext cx="1828800" cy="822960"/>
          </a:xfrm>
          <a:prstGeom prst="rect">
            <a:avLst/>
          </a:prstGeom>
        </p:spPr>
      </p:pic>
      <p:sp>
        <p:nvSpPr>
          <p:cNvPr id="8" name="Text 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33 / 48</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Instrumental: aplicación del conocimiento con ejercicios y demostraciones">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34 / 48</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4FB817"/>
                </a:solidFill>
                <a:latin typeface="Calibri" pitchFamily="34" charset="0"/>
                <a:ea typeface="Calibri" pitchFamily="34" charset="-122"/>
                <a:cs typeface="Calibri" pitchFamily="34" charset="-120"/>
              </a:rPr>
              <a:t>05 · CONTROLES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Controles propios: HTML que ya conoces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Botones, una etiqueta y un control deslizante. Lo nuevo es conectarlos con el video.</a:t>
            </a:r>
            <a:endParaRPr lang="en-US" sz="1250" dirty="0"/>
          </a:p>
        </p:txBody>
      </p:sp>
      <p:sp>
        <p:nvSpPr>
          <p:cNvPr id="5" name="Shape 3"/>
          <p:cNvSpPr/>
          <p:nvPr/>
        </p:nvSpPr>
        <p:spPr>
          <a:xfrm>
            <a:off x="640080" y="2615184"/>
            <a:ext cx="6629400" cy="2514600"/>
          </a:xfrm>
          <a:prstGeom prst="roundRect">
            <a:avLst>
              <a:gd name="adj" fmla="val 3636"/>
            </a:avLst>
          </a:prstGeom>
          <a:solidFill>
            <a:srgbClr val="2B2B2B"/>
          </a:solidFill>
          <a:ln w="12700">
            <a:solidFill>
              <a:srgbClr val="2B2B2B"/>
            </a:solidFill>
            <a:prstDash val="solid"/>
          </a:ln>
        </p:spPr>
      </p:sp>
      <p:sp>
        <p:nvSpPr>
          <p:cNvPr id="6" name="Text 4"/>
          <p:cNvSpPr txBox="1"/>
          <p:nvPr/>
        </p:nvSpPr>
        <p:spPr>
          <a:xfrm>
            <a:off x="868680" y="2779776"/>
            <a:ext cx="6172200" cy="2185416"/>
          </a:xfrm>
          <a:prstGeom prst="rect">
            <a:avLst/>
          </a:prstGeom>
          <a:noFill/>
          <a:ln/>
        </p:spPr>
        <p:txBody>
          <a:bodyPr wrap="square" lIns="0" tIns="0" rIns="0" bIns="0" rtlCol="0" anchor="t"/>
          <a:lstStyle/>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&lt;div id="controles-video" role="group"</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aria-label="Controles del video"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hidden</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&lt;button type="button"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id="btn-reproducir"</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&gt;Reproducir&lt;/button&gt;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&lt;button type="button"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id="btn-silenciar"</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&gt;Silenciar&lt;/button&gt;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&lt;label for="barra-progreso"&gt;Avance&lt;/label&gt;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&lt;input type="range"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id="barra-progreso"</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min="0" max="100" value="0" step="0.1" /&gt;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  &lt;span </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id="tiempo"</a:t>
            </a:r>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&gt;0:00 / 0:00&lt;/span&gt;</a:t>
            </a:r>
            <a:endParaRPr lang="en-US" sz="1100" dirty="0"/>
          </a:p>
          <a:p>
            <a:pPr indent="0" marL="0">
              <a:lnSpc>
                <a:spcPct val="125000"/>
              </a:lnSpc>
              <a:buNone/>
            </a:pPr>
            <a:r>
              <a:rPr lang="en-US" sz="1100" dirty="0">
                <a:solidFill>
                  <a:srgbClr val="8FD3A8"/>
                </a:solidFill>
                <a:latin typeface="Consolas" pitchFamily="34" charset="0"/>
                <a:ea typeface="Consolas" pitchFamily="34" charset="-122"/>
                <a:cs typeface="Consolas" pitchFamily="34" charset="-120"/>
              </a:rPr>
              <a:t>&lt;/div&gt;</a:t>
            </a:r>
            <a:endParaRPr lang="en-US" sz="1100" dirty="0"/>
          </a:p>
        </p:txBody>
      </p:sp>
      <p:sp>
        <p:nvSpPr>
          <p:cNvPr id="7" name="Shape 5"/>
          <p:cNvSpPr/>
          <p:nvPr/>
        </p:nvSpPr>
        <p:spPr>
          <a:xfrm>
            <a:off x="7452360" y="2615184"/>
            <a:ext cx="4114800" cy="777240"/>
          </a:xfrm>
          <a:prstGeom prst="roundRect">
            <a:avLst>
              <a:gd name="adj" fmla="val 11765"/>
            </a:avLst>
          </a:prstGeom>
          <a:solidFill>
            <a:srgbClr val="F7FDF4"/>
          </a:solidFill>
          <a:ln w="12700">
            <a:solidFill>
              <a:srgbClr val="D9F2CC"/>
            </a:solidFill>
            <a:prstDash val="solid"/>
          </a:ln>
        </p:spPr>
      </p:sp>
      <p:sp>
        <p:nvSpPr>
          <p:cNvPr id="8" name="Text 6"/>
          <p:cNvSpPr txBox="1"/>
          <p:nvPr/>
        </p:nvSpPr>
        <p:spPr>
          <a:xfrm>
            <a:off x="7726680" y="2615184"/>
            <a:ext cx="1005840" cy="777240"/>
          </a:xfrm>
          <a:prstGeom prst="rect">
            <a:avLst/>
          </a:prstGeom>
          <a:noFill/>
          <a:ln/>
        </p:spPr>
        <p:txBody>
          <a:bodyPr wrap="square" lIns="0" tIns="0" rIns="0" bIns="0" rtlCol="0" anchor="ctr"/>
          <a:lstStyle/>
          <a:p>
            <a:pPr indent="0" marL="0">
              <a:buNone/>
            </a:pPr>
            <a:r>
              <a:rPr lang="en-US" sz="1200" b="1" dirty="0">
                <a:solidFill>
                  <a:srgbClr val="4FB817"/>
                </a:solidFill>
                <a:latin typeface="Calibri" pitchFamily="34" charset="0"/>
                <a:ea typeface="Calibri" pitchFamily="34" charset="-122"/>
                <a:cs typeface="Calibri" pitchFamily="34" charset="-120"/>
              </a:rPr>
              <a:t>HTML</a:t>
            </a:r>
            <a:endParaRPr lang="en-US" sz="1200" dirty="0"/>
          </a:p>
        </p:txBody>
      </p:sp>
      <p:sp>
        <p:nvSpPr>
          <p:cNvPr id="9" name="Text 7"/>
          <p:cNvSpPr txBox="1"/>
          <p:nvPr/>
        </p:nvSpPr>
        <p:spPr>
          <a:xfrm>
            <a:off x="8732520" y="2615184"/>
            <a:ext cx="2560320" cy="777240"/>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Pone las piezas: botones con texto que el lector de pantalla anuncia.</a:t>
            </a:r>
            <a:endParaRPr lang="en-US" sz="1050" dirty="0"/>
          </a:p>
        </p:txBody>
      </p:sp>
      <p:sp>
        <p:nvSpPr>
          <p:cNvPr id="10" name="Shape 8"/>
          <p:cNvSpPr/>
          <p:nvPr/>
        </p:nvSpPr>
        <p:spPr>
          <a:xfrm>
            <a:off x="7452360" y="3483864"/>
            <a:ext cx="4114800" cy="777240"/>
          </a:xfrm>
          <a:prstGeom prst="roundRect">
            <a:avLst>
              <a:gd name="adj" fmla="val 11765"/>
            </a:avLst>
          </a:prstGeom>
          <a:solidFill>
            <a:srgbClr val="FFFFFF"/>
          </a:solidFill>
          <a:ln w="12700">
            <a:solidFill>
              <a:srgbClr val="D9F2CC"/>
            </a:solidFill>
            <a:prstDash val="solid"/>
          </a:ln>
        </p:spPr>
      </p:sp>
      <p:sp>
        <p:nvSpPr>
          <p:cNvPr id="11" name="Text 9"/>
          <p:cNvSpPr txBox="1"/>
          <p:nvPr/>
        </p:nvSpPr>
        <p:spPr>
          <a:xfrm>
            <a:off x="7726680" y="3483864"/>
            <a:ext cx="1005840" cy="777240"/>
          </a:xfrm>
          <a:prstGeom prst="rect">
            <a:avLst/>
          </a:prstGeom>
          <a:noFill/>
          <a:ln/>
        </p:spPr>
        <p:txBody>
          <a:bodyPr wrap="square" lIns="0" tIns="0" rIns="0" bIns="0" rtlCol="0" anchor="ctr"/>
          <a:lstStyle/>
          <a:p>
            <a:pPr indent="0" marL="0">
              <a:buNone/>
            </a:pPr>
            <a:r>
              <a:rPr lang="en-US" sz="1200" b="1" dirty="0">
                <a:solidFill>
                  <a:srgbClr val="4FB817"/>
                </a:solidFill>
                <a:latin typeface="Calibri" pitchFamily="34" charset="0"/>
                <a:ea typeface="Calibri" pitchFamily="34" charset="-122"/>
                <a:cs typeface="Calibri" pitchFamily="34" charset="-120"/>
              </a:rPr>
              <a:t>JavaScript</a:t>
            </a:r>
            <a:endParaRPr lang="en-US" sz="1200" dirty="0"/>
          </a:p>
        </p:txBody>
      </p:sp>
      <p:sp>
        <p:nvSpPr>
          <p:cNvPr id="12" name="Text 10"/>
          <p:cNvSpPr txBox="1"/>
          <p:nvPr/>
        </p:nvSpPr>
        <p:spPr>
          <a:xfrm>
            <a:off x="8732520" y="3483864"/>
            <a:ext cx="2560320" cy="777240"/>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Las conecta con el video. Va en un archivo aparte: reproductor.js.</a:t>
            </a:r>
            <a:endParaRPr lang="en-US" sz="1050" dirty="0"/>
          </a:p>
        </p:txBody>
      </p:sp>
      <p:sp>
        <p:nvSpPr>
          <p:cNvPr id="13" name="Shape 11"/>
          <p:cNvSpPr/>
          <p:nvPr/>
        </p:nvSpPr>
        <p:spPr>
          <a:xfrm>
            <a:off x="7452360" y="4352544"/>
            <a:ext cx="4114800" cy="777240"/>
          </a:xfrm>
          <a:prstGeom prst="roundRect">
            <a:avLst>
              <a:gd name="adj" fmla="val 11765"/>
            </a:avLst>
          </a:prstGeom>
          <a:solidFill>
            <a:srgbClr val="F7FDF4"/>
          </a:solidFill>
          <a:ln w="12700">
            <a:solidFill>
              <a:srgbClr val="D9F2CC"/>
            </a:solidFill>
            <a:prstDash val="solid"/>
          </a:ln>
        </p:spPr>
      </p:sp>
      <p:sp>
        <p:nvSpPr>
          <p:cNvPr id="14" name="Text 12"/>
          <p:cNvSpPr txBox="1"/>
          <p:nvPr/>
        </p:nvSpPr>
        <p:spPr>
          <a:xfrm>
            <a:off x="7726680" y="4352544"/>
            <a:ext cx="1005840" cy="777240"/>
          </a:xfrm>
          <a:prstGeom prst="rect">
            <a:avLst/>
          </a:prstGeom>
          <a:noFill/>
          <a:ln/>
        </p:spPr>
        <p:txBody>
          <a:bodyPr wrap="square" lIns="0" tIns="0" rIns="0" bIns="0" rtlCol="0" anchor="ctr"/>
          <a:lstStyle/>
          <a:p>
            <a:pPr indent="0" marL="0">
              <a:buNone/>
            </a:pPr>
            <a:r>
              <a:rPr lang="en-US" sz="1200" b="1" dirty="0">
                <a:solidFill>
                  <a:srgbClr val="4FB817"/>
                </a:solidFill>
                <a:latin typeface="Calibri" pitchFamily="34" charset="0"/>
                <a:ea typeface="Calibri" pitchFamily="34" charset="-122"/>
                <a:cs typeface="Calibri" pitchFamily="34" charset="-120"/>
              </a:rPr>
              <a:t>CSS</a:t>
            </a:r>
            <a:endParaRPr lang="en-US" sz="1200" dirty="0"/>
          </a:p>
        </p:txBody>
      </p:sp>
      <p:sp>
        <p:nvSpPr>
          <p:cNvPr id="15" name="Text 13"/>
          <p:cNvSpPr txBox="1"/>
          <p:nvPr/>
        </p:nvSpPr>
        <p:spPr>
          <a:xfrm>
            <a:off x="8732520" y="4352544"/>
            <a:ext cx="2560320" cy="777240"/>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Las viste. Llega en la sesión 08; hoy se ven como botones del navegador.</a:t>
            </a:r>
            <a:endParaRPr lang="en-US" sz="1050" dirty="0"/>
          </a:p>
        </p:txBody>
      </p:sp>
      <p:sp>
        <p:nvSpPr>
          <p:cNvPr id="16" name="Shape 14"/>
          <p:cNvSpPr/>
          <p:nvPr/>
        </p:nvSpPr>
        <p:spPr>
          <a:xfrm>
            <a:off x="640080" y="5321808"/>
            <a:ext cx="10927080" cy="713232"/>
          </a:xfrm>
          <a:prstGeom prst="roundRect">
            <a:avLst>
              <a:gd name="adj" fmla="val 12821"/>
            </a:avLst>
          </a:prstGeom>
          <a:solidFill>
            <a:srgbClr val="EAFAFB"/>
          </a:solidFill>
          <a:ln w="12700">
            <a:solidFill>
              <a:srgbClr val="BFEAEE"/>
            </a:solidFill>
            <a:prstDash val="solid"/>
          </a:ln>
        </p:spPr>
      </p:sp>
      <p:sp>
        <p:nvSpPr>
          <p:cNvPr id="17" name="Text 15"/>
          <p:cNvSpPr txBox="1"/>
          <p:nvPr/>
        </p:nvSpPr>
        <p:spPr>
          <a:xfrm>
            <a:off x="950976" y="5321808"/>
            <a:ext cx="10305288" cy="713232"/>
          </a:xfrm>
          <a:prstGeom prst="rect">
            <a:avLst/>
          </a:prstGeom>
          <a:noFill/>
          <a:ln/>
        </p:spPr>
        <p:txBody>
          <a:bodyPr wrap="square" lIns="0" tIns="0" rIns="0" bIns="0" rtlCol="0" anchor="ctr"/>
          <a:lstStyle/>
          <a:p>
            <a:pPr indent="0" marL="0">
              <a:lnSpc>
                <a:spcPct val="120000"/>
              </a:lnSpc>
              <a:buNone/>
            </a:pPr>
            <a:r>
              <a:rPr lang="en-US" sz="1200" b="1" dirty="0">
                <a:solidFill>
                  <a:srgbClr val="1E9AA3"/>
                </a:solidFill>
                <a:latin typeface="Calibri" pitchFamily="34" charset="0"/>
                <a:ea typeface="Calibri" pitchFamily="34" charset="-122"/>
                <a:cs typeface="Calibri" pitchFamily="34" charset="-120"/>
              </a:rPr>
              <a:t>Por qué hidden:  </a:t>
            </a:r>
            <a:pPr indent="0" marL="0">
              <a:lnSpc>
                <a:spcPct val="120000"/>
              </a:lnSpc>
              <a:buNone/>
            </a:pPr>
            <a:r>
              <a:rPr lang="en-US" sz="1200" dirty="0">
                <a:solidFill>
                  <a:srgbClr val="424242"/>
                </a:solidFill>
                <a:latin typeface="Calibri" pitchFamily="34" charset="0"/>
                <a:ea typeface="Calibri" pitchFamily="34" charset="-122"/>
                <a:cs typeface="Calibri" pitchFamily="34" charset="-120"/>
              </a:rPr>
              <a:t>los botones nacen ocultos y el script los muestra. Si el script no carga, el video conserva los controles del navegador y sigue funcionando.</a:t>
            </a:r>
            <a:endParaRPr lang="en-US" sz="1200" dirty="0"/>
          </a:p>
        </p:txBody>
      </p:sp>
      <p:sp>
        <p:nvSpPr>
          <p:cNvPr id="18" name="Text 16"/>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35 / 48</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4FB817"/>
                </a:solidFill>
                <a:latin typeface="Calibri" pitchFamily="34" charset="0"/>
                <a:ea typeface="Calibri" pitchFamily="34" charset="-122"/>
                <a:cs typeface="Calibri" pitchFamily="34" charset="-120"/>
              </a:rPr>
              <a:t>05 · CONTROLES</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El script en cuatro ideas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No necesitas saber JavaScript: hoy lo copias, lo lees y cambias solo los textos.</a:t>
            </a:r>
            <a:endParaRPr lang="en-US" sz="1250" dirty="0"/>
          </a:p>
        </p:txBody>
      </p:sp>
      <p:sp>
        <p:nvSpPr>
          <p:cNvPr id="5" name="Shape 3"/>
          <p:cNvSpPr/>
          <p:nvPr/>
        </p:nvSpPr>
        <p:spPr>
          <a:xfrm>
            <a:off x="640080" y="2615184"/>
            <a:ext cx="6126480" cy="3291840"/>
          </a:xfrm>
          <a:prstGeom prst="roundRect">
            <a:avLst>
              <a:gd name="adj" fmla="val 2778"/>
            </a:avLst>
          </a:prstGeom>
          <a:solidFill>
            <a:srgbClr val="2B2B2B"/>
          </a:solidFill>
          <a:ln w="12700">
            <a:solidFill>
              <a:srgbClr val="2B2B2B"/>
            </a:solidFill>
            <a:prstDash val="solid"/>
          </a:ln>
        </p:spPr>
      </p:sp>
      <p:sp>
        <p:nvSpPr>
          <p:cNvPr id="6" name="Text 4"/>
          <p:cNvSpPr txBox="1"/>
          <p:nvPr/>
        </p:nvSpPr>
        <p:spPr>
          <a:xfrm>
            <a:off x="868680" y="2779776"/>
            <a:ext cx="5669280" cy="2962656"/>
          </a:xfrm>
          <a:prstGeom prst="rect">
            <a:avLst/>
          </a:prstGeom>
          <a:noFill/>
          <a:ln/>
        </p:spPr>
        <p:txBody>
          <a:bodyPr wrap="square" lIns="0" tIns="0" rIns="0" bIns="0" rtlCol="0" anchor="t"/>
          <a:lstStyle/>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const video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document.</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getElementById</a:t>
            </a:r>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("video-presentacion");</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const btnReproducir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document.</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getElementById</a:t>
            </a:r>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("btn-reproducir");</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video.</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removeAttribute</a:t>
            </a:r>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("controls");</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btnReproducir.</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addEventListener</a:t>
            </a:r>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("click", () =&gt;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if (video.paused)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video.</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play()</a:t>
            </a:r>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 else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video.</a:t>
            </a:r>
            <a:pPr indent="0" marL="0">
              <a:lnSpc>
                <a:spcPct val="125000"/>
              </a:lnSpc>
              <a:buNone/>
            </a:pPr>
            <a:r>
              <a:rPr lang="en-US" sz="1100" b="1" dirty="0">
                <a:solidFill>
                  <a:srgbClr val="72EF29"/>
                </a:solidFill>
                <a:latin typeface="Consolas" pitchFamily="34" charset="0"/>
                <a:ea typeface="Consolas" pitchFamily="34" charset="-122"/>
                <a:cs typeface="Consolas" pitchFamily="34" charset="-120"/>
              </a:rPr>
              <a:t>pause()</a:t>
            </a:r>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  }</a:t>
            </a:r>
            <a:endParaRPr lang="en-US" sz="1100" dirty="0"/>
          </a:p>
          <a:p>
            <a:pPr indent="0" marL="0">
              <a:lnSpc>
                <a:spcPct val="125000"/>
              </a:lnSpc>
              <a:buNone/>
            </a:pPr>
            <a:r>
              <a:rPr lang="en-US" sz="1100" dirty="0">
                <a:solidFill>
                  <a:srgbClr val="E5E7EB"/>
                </a:solidFill>
                <a:latin typeface="Consolas" pitchFamily="34" charset="0"/>
                <a:ea typeface="Consolas" pitchFamily="34" charset="-122"/>
                <a:cs typeface="Consolas" pitchFamily="34" charset="-120"/>
              </a:rPr>
              <a:t>});</a:t>
            </a:r>
            <a:endParaRPr lang="en-US" sz="1100" dirty="0"/>
          </a:p>
        </p:txBody>
      </p:sp>
      <p:sp>
        <p:nvSpPr>
          <p:cNvPr id="7" name="Shape 5"/>
          <p:cNvSpPr/>
          <p:nvPr/>
        </p:nvSpPr>
        <p:spPr>
          <a:xfrm>
            <a:off x="6995160" y="2615184"/>
            <a:ext cx="4572000" cy="676656"/>
          </a:xfrm>
          <a:prstGeom prst="roundRect">
            <a:avLst>
              <a:gd name="adj" fmla="val 13514"/>
            </a:avLst>
          </a:prstGeom>
          <a:solidFill>
            <a:srgbClr val="F7FDF4"/>
          </a:solidFill>
          <a:ln w="12700">
            <a:solidFill>
              <a:srgbClr val="D9F2CC"/>
            </a:solidFill>
            <a:prstDash val="solid"/>
          </a:ln>
        </p:spPr>
      </p:sp>
      <p:sp>
        <p:nvSpPr>
          <p:cNvPr id="8" name="Text 6"/>
          <p:cNvSpPr txBox="1"/>
          <p:nvPr/>
        </p:nvSpPr>
        <p:spPr>
          <a:xfrm>
            <a:off x="7269480" y="2615184"/>
            <a:ext cx="1783080" cy="676656"/>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getElementById</a:t>
            </a:r>
            <a:endParaRPr lang="en-US" sz="1100" dirty="0"/>
          </a:p>
        </p:txBody>
      </p:sp>
      <p:sp>
        <p:nvSpPr>
          <p:cNvPr id="9" name="Text 7"/>
          <p:cNvSpPr txBox="1"/>
          <p:nvPr/>
        </p:nvSpPr>
        <p:spPr>
          <a:xfrm>
            <a:off x="9052560" y="2615184"/>
            <a:ext cx="2240280" cy="676656"/>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Busca en la página la etiqueta que tiene ese id.</a:t>
            </a:r>
            <a:endParaRPr lang="en-US" sz="1050" dirty="0"/>
          </a:p>
        </p:txBody>
      </p:sp>
      <p:sp>
        <p:nvSpPr>
          <p:cNvPr id="10" name="Shape 8"/>
          <p:cNvSpPr/>
          <p:nvPr/>
        </p:nvSpPr>
        <p:spPr>
          <a:xfrm>
            <a:off x="6995160" y="3410712"/>
            <a:ext cx="4572000" cy="676656"/>
          </a:xfrm>
          <a:prstGeom prst="roundRect">
            <a:avLst>
              <a:gd name="adj" fmla="val 13514"/>
            </a:avLst>
          </a:prstGeom>
          <a:solidFill>
            <a:srgbClr val="FFFFFF"/>
          </a:solidFill>
          <a:ln w="12700">
            <a:solidFill>
              <a:srgbClr val="D9F2CC"/>
            </a:solidFill>
            <a:prstDash val="solid"/>
          </a:ln>
        </p:spPr>
      </p:sp>
      <p:sp>
        <p:nvSpPr>
          <p:cNvPr id="11" name="Text 9"/>
          <p:cNvSpPr txBox="1"/>
          <p:nvPr/>
        </p:nvSpPr>
        <p:spPr>
          <a:xfrm>
            <a:off x="7269480" y="3410712"/>
            <a:ext cx="1783080" cy="676656"/>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removeAttribute</a:t>
            </a:r>
            <a:endParaRPr lang="en-US" sz="1100" dirty="0"/>
          </a:p>
        </p:txBody>
      </p:sp>
      <p:sp>
        <p:nvSpPr>
          <p:cNvPr id="12" name="Text 10"/>
          <p:cNvSpPr txBox="1"/>
          <p:nvPr/>
        </p:nvSpPr>
        <p:spPr>
          <a:xfrm>
            <a:off x="9052560" y="3410712"/>
            <a:ext cx="2240280" cy="676656"/>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Quita controls: desaparecen los botones del navegador.</a:t>
            </a:r>
            <a:endParaRPr lang="en-US" sz="1050" dirty="0"/>
          </a:p>
        </p:txBody>
      </p:sp>
      <p:sp>
        <p:nvSpPr>
          <p:cNvPr id="13" name="Shape 11"/>
          <p:cNvSpPr/>
          <p:nvPr/>
        </p:nvSpPr>
        <p:spPr>
          <a:xfrm>
            <a:off x="6995160" y="4206240"/>
            <a:ext cx="4572000" cy="676656"/>
          </a:xfrm>
          <a:prstGeom prst="roundRect">
            <a:avLst>
              <a:gd name="adj" fmla="val 13514"/>
            </a:avLst>
          </a:prstGeom>
          <a:solidFill>
            <a:srgbClr val="F7FDF4"/>
          </a:solidFill>
          <a:ln w="12700">
            <a:solidFill>
              <a:srgbClr val="D9F2CC"/>
            </a:solidFill>
            <a:prstDash val="solid"/>
          </a:ln>
        </p:spPr>
      </p:sp>
      <p:sp>
        <p:nvSpPr>
          <p:cNvPr id="14" name="Text 12"/>
          <p:cNvSpPr txBox="1"/>
          <p:nvPr/>
        </p:nvSpPr>
        <p:spPr>
          <a:xfrm>
            <a:off x="7269480" y="4206240"/>
            <a:ext cx="1783080" cy="676656"/>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addEventListener</a:t>
            </a:r>
            <a:endParaRPr lang="en-US" sz="1100" dirty="0"/>
          </a:p>
        </p:txBody>
      </p:sp>
      <p:sp>
        <p:nvSpPr>
          <p:cNvPr id="15" name="Text 13"/>
          <p:cNvSpPr txBox="1"/>
          <p:nvPr/>
        </p:nvSpPr>
        <p:spPr>
          <a:xfrm>
            <a:off x="9052560" y="4206240"/>
            <a:ext cx="2240280" cy="676656"/>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«Cuando hagan clic aquí, ejecuta esto».</a:t>
            </a:r>
            <a:endParaRPr lang="en-US" sz="1050" dirty="0"/>
          </a:p>
        </p:txBody>
      </p:sp>
      <p:sp>
        <p:nvSpPr>
          <p:cNvPr id="16" name="Shape 14"/>
          <p:cNvSpPr/>
          <p:nvPr/>
        </p:nvSpPr>
        <p:spPr>
          <a:xfrm>
            <a:off x="6995160" y="5001768"/>
            <a:ext cx="4572000" cy="676656"/>
          </a:xfrm>
          <a:prstGeom prst="roundRect">
            <a:avLst>
              <a:gd name="adj" fmla="val 13514"/>
            </a:avLst>
          </a:prstGeom>
          <a:solidFill>
            <a:srgbClr val="FFFFFF"/>
          </a:solidFill>
          <a:ln w="12700">
            <a:solidFill>
              <a:srgbClr val="D9F2CC"/>
            </a:solidFill>
            <a:prstDash val="solid"/>
          </a:ln>
        </p:spPr>
      </p:sp>
      <p:sp>
        <p:nvSpPr>
          <p:cNvPr id="17" name="Text 15"/>
          <p:cNvSpPr txBox="1"/>
          <p:nvPr/>
        </p:nvSpPr>
        <p:spPr>
          <a:xfrm>
            <a:off x="7269480" y="5001768"/>
            <a:ext cx="1783080" cy="676656"/>
          </a:xfrm>
          <a:prstGeom prst="rect">
            <a:avLst/>
          </a:prstGeom>
          <a:noFill/>
          <a:ln/>
        </p:spPr>
        <p:txBody>
          <a:bodyPr wrap="square" lIns="0" tIns="0" rIns="0" bIns="0" rtlCol="0" anchor="ctr"/>
          <a:lstStyle/>
          <a:p>
            <a:pPr indent="0" marL="0">
              <a:buNone/>
            </a:pPr>
            <a:r>
              <a:rPr lang="en-US" sz="1100" b="1" dirty="0">
                <a:solidFill>
                  <a:srgbClr val="4FB817"/>
                </a:solidFill>
                <a:latin typeface="Consolas" pitchFamily="34" charset="0"/>
                <a:ea typeface="Consolas" pitchFamily="34" charset="-122"/>
                <a:cs typeface="Consolas" pitchFamily="34" charset="-120"/>
              </a:rPr>
              <a:t>play() · pause()</a:t>
            </a:r>
            <a:endParaRPr lang="en-US" sz="1100" dirty="0"/>
          </a:p>
        </p:txBody>
      </p:sp>
      <p:sp>
        <p:nvSpPr>
          <p:cNvPr id="18" name="Text 16"/>
          <p:cNvSpPr txBox="1"/>
          <p:nvPr/>
        </p:nvSpPr>
        <p:spPr>
          <a:xfrm>
            <a:off x="9052560" y="5001768"/>
            <a:ext cx="2240280" cy="676656"/>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Las órdenes que acepta un video o un audio.</a:t>
            </a:r>
            <a:endParaRPr lang="en-US" sz="1050" dirty="0"/>
          </a:p>
        </p:txBody>
      </p:sp>
      <p:sp>
        <p:nvSpPr>
          <p:cNvPr id="19" name="Text 17"/>
          <p:cNvSpPr txBox="1"/>
          <p:nvPr/>
        </p:nvSpPr>
        <p:spPr>
          <a:xfrm>
            <a:off x="640080" y="6053328"/>
            <a:ext cx="10927080" cy="256032"/>
          </a:xfrm>
          <a:prstGeom prst="rect">
            <a:avLst/>
          </a:prstGeom>
          <a:noFill/>
          <a:ln/>
        </p:spPr>
        <p:txBody>
          <a:bodyPr wrap="square" lIns="0" tIns="0" rIns="0" bIns="0" rtlCol="0" anchor="ctr"/>
          <a:lstStyle/>
          <a:p>
            <a:pPr algn="ctr" indent="0" marL="0">
              <a:buNone/>
            </a:pPr>
            <a:r>
              <a:rPr lang="en-US" sz="1150" i="1" dirty="0">
                <a:solidFill>
                  <a:srgbClr val="4FB817"/>
                </a:solidFill>
                <a:latin typeface="Calibri" pitchFamily="34" charset="0"/>
                <a:ea typeface="Calibri" pitchFamily="34" charset="-122"/>
                <a:cs typeface="Calibri" pitchFamily="34" charset="-120"/>
              </a:rPr>
              <a:t>El archivo completo, con la barra de avance y el contador de tiempo, está en assets/js/reproductor.js.</a:t>
            </a:r>
            <a:endParaRPr lang="en-US" sz="1150" dirty="0"/>
          </a:p>
        </p:txBody>
      </p:sp>
      <p:sp>
        <p:nvSpPr>
          <p:cNvPr id="20" name="Text 18"/>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36 / 48</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4FB817"/>
                </a:solidFill>
                <a:latin typeface="Calibri" pitchFamily="34" charset="0"/>
                <a:ea typeface="Calibri" pitchFamily="34" charset="-122"/>
                <a:cs typeface="Calibri" pitchFamily="34" charset="-120"/>
              </a:rPr>
              <a:t>05 · PRÁCTICA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Construimos juntos: tu video de presentación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Escríbelo conmigo, línea por línea. No lo copies y pegues.</a:t>
            </a:r>
            <a:endParaRPr lang="en-US" sz="1250" dirty="0"/>
          </a:p>
        </p:txBody>
      </p:sp>
      <p:sp>
        <p:nvSpPr>
          <p:cNvPr id="6" name="Shape 3"/>
          <p:cNvSpPr/>
          <p:nvPr/>
        </p:nvSpPr>
        <p:spPr>
          <a:xfrm>
            <a:off x="640080" y="2615184"/>
            <a:ext cx="6492240" cy="3419856"/>
          </a:xfrm>
          <a:prstGeom prst="roundRect">
            <a:avLst>
              <a:gd name="adj" fmla="val 2674"/>
            </a:avLst>
          </a:prstGeom>
          <a:solidFill>
            <a:srgbClr val="2B2B2B"/>
          </a:solidFill>
          <a:ln w="12700">
            <a:solidFill>
              <a:srgbClr val="2B2B2B"/>
            </a:solidFill>
            <a:prstDash val="solid"/>
          </a:ln>
        </p:spPr>
      </p:sp>
      <p:sp>
        <p:nvSpPr>
          <p:cNvPr id="7" name="Text 4"/>
          <p:cNvSpPr txBox="1"/>
          <p:nvPr/>
        </p:nvSpPr>
        <p:spPr>
          <a:xfrm>
            <a:off x="868680" y="2779776"/>
            <a:ext cx="6035040" cy="3090672"/>
          </a:xfrm>
          <a:prstGeom prst="rect">
            <a:avLst/>
          </a:prstGeom>
          <a:noFill/>
          <a:ln/>
        </p:spPr>
        <p:txBody>
          <a:bodyPr wrap="square" lIns="0" tIns="0" rIns="0" bIns="0" rtlCol="0" anchor="t"/>
          <a:lstStyle/>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&lt;figure&gt;</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&lt;video id="video-presentacion" width="315" height="560"</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poster="assets/img/poster-presentacion.jpg"</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preload="metadata" controls playsinline&gt;</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&lt;source src="assets/media/video/presentacion.webm"</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type="video/webm" /&gt;</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&lt;source src="assets/media/video/presentacion.mp4"</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type="video/mp4" /&gt;</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&lt;track kind="subtitles" srclang="es" label="Español"</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src="assets/media/video/presentacion.es.vtt" default /&gt;</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&lt;/video&gt;</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a:t>
            </a:r>
            <a:pPr indent="0" marL="0">
              <a:lnSpc>
                <a:spcPct val="125000"/>
              </a:lnSpc>
              <a:buNone/>
            </a:pPr>
            <a:r>
              <a:rPr lang="en-US" sz="1050" dirty="0">
                <a:solidFill>
                  <a:srgbClr val="9AA39E"/>
                </a:solidFill>
                <a:latin typeface="Consolas" pitchFamily="34" charset="0"/>
                <a:ea typeface="Consolas" pitchFamily="34" charset="-122"/>
                <a:cs typeface="Consolas" pitchFamily="34" charset="-120"/>
              </a:rPr>
              <a:t>&lt;!-- aquí va el div de controles --&gt;</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  &lt;figcaption&gt;Video de presentación de Dagner Chuman.&lt;/figcaption&gt;</a:t>
            </a:r>
            <a:endParaRPr lang="en-US" sz="1050" dirty="0"/>
          </a:p>
          <a:p>
            <a:pPr indent="0" marL="0">
              <a:lnSpc>
                <a:spcPct val="125000"/>
              </a:lnSpc>
              <a:buNone/>
            </a:pPr>
            <a:r>
              <a:rPr lang="en-US" sz="1050" dirty="0">
                <a:solidFill>
                  <a:srgbClr val="8FD3A8"/>
                </a:solidFill>
                <a:latin typeface="Consolas" pitchFamily="34" charset="0"/>
                <a:ea typeface="Consolas" pitchFamily="34" charset="-122"/>
                <a:cs typeface="Consolas" pitchFamily="34" charset="-120"/>
              </a:rPr>
              <a:t>&lt;/figure&gt;</a:t>
            </a:r>
            <a:endParaRPr lang="en-US" sz="1050" dirty="0"/>
          </a:p>
        </p:txBody>
      </p:sp>
      <p:sp>
        <p:nvSpPr>
          <p:cNvPr id="8" name="Shape 5"/>
          <p:cNvSpPr/>
          <p:nvPr/>
        </p:nvSpPr>
        <p:spPr>
          <a:xfrm>
            <a:off x="7315200" y="2615184"/>
            <a:ext cx="4251960" cy="512064"/>
          </a:xfrm>
          <a:prstGeom prst="roundRect">
            <a:avLst>
              <a:gd name="adj" fmla="val 17857"/>
            </a:avLst>
          </a:prstGeom>
          <a:solidFill>
            <a:srgbClr val="F7FDF4"/>
          </a:solidFill>
          <a:ln w="12700">
            <a:solidFill>
              <a:srgbClr val="D9F2CC"/>
            </a:solidFill>
            <a:prstDash val="solid"/>
          </a:ln>
        </p:spPr>
      </p:sp>
      <p:sp>
        <p:nvSpPr>
          <p:cNvPr id="9" name="Shape 6"/>
          <p:cNvSpPr/>
          <p:nvPr/>
        </p:nvSpPr>
        <p:spPr>
          <a:xfrm>
            <a:off x="7479792" y="2706624"/>
            <a:ext cx="329184" cy="329184"/>
          </a:xfrm>
          <a:prstGeom prst="ellipse">
            <a:avLst/>
          </a:prstGeom>
          <a:solidFill>
            <a:srgbClr val="72EF29"/>
          </a:solidFill>
          <a:ln w="12700">
            <a:solidFill>
              <a:srgbClr val="72EF29"/>
            </a:solidFill>
            <a:prstDash val="solid"/>
          </a:ln>
        </p:spPr>
      </p:sp>
      <p:sp>
        <p:nvSpPr>
          <p:cNvPr id="10" name="Text 7"/>
          <p:cNvSpPr txBox="1"/>
          <p:nvPr/>
        </p:nvSpPr>
        <p:spPr>
          <a:xfrm>
            <a:off x="7479792" y="2706624"/>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1</a:t>
            </a:r>
            <a:endParaRPr lang="en-US" sz="1050" dirty="0"/>
          </a:p>
        </p:txBody>
      </p:sp>
      <p:sp>
        <p:nvSpPr>
          <p:cNvPr id="11" name="Text 8"/>
          <p:cNvSpPr txBox="1"/>
          <p:nvPr/>
        </p:nvSpPr>
        <p:spPr>
          <a:xfrm>
            <a:off x="7973568" y="2615184"/>
            <a:ext cx="1097280" cy="51206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Limpia</a:t>
            </a:r>
            <a:endParaRPr lang="en-US" sz="1250" dirty="0"/>
          </a:p>
        </p:txBody>
      </p:sp>
      <p:sp>
        <p:nvSpPr>
          <p:cNvPr id="12" name="Text 9"/>
          <p:cNvSpPr txBox="1"/>
          <p:nvPr/>
        </p:nvSpPr>
        <p:spPr>
          <a:xfrm>
            <a:off x="9070848" y="2615184"/>
            <a:ext cx="233172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Borra el video repetido y el &lt;style&gt; vacío.</a:t>
            </a:r>
            <a:endParaRPr lang="en-US" sz="1050" dirty="0"/>
          </a:p>
        </p:txBody>
      </p:sp>
      <p:sp>
        <p:nvSpPr>
          <p:cNvPr id="13" name="Shape 10"/>
          <p:cNvSpPr/>
          <p:nvPr/>
        </p:nvSpPr>
        <p:spPr>
          <a:xfrm>
            <a:off x="7315200" y="3196742"/>
            <a:ext cx="4251960" cy="512064"/>
          </a:xfrm>
          <a:prstGeom prst="roundRect">
            <a:avLst>
              <a:gd name="adj" fmla="val 17857"/>
            </a:avLst>
          </a:prstGeom>
          <a:solidFill>
            <a:srgbClr val="F7FDF4"/>
          </a:solidFill>
          <a:ln w="12700">
            <a:solidFill>
              <a:srgbClr val="D9F2CC"/>
            </a:solidFill>
            <a:prstDash val="solid"/>
          </a:ln>
        </p:spPr>
      </p:sp>
      <p:sp>
        <p:nvSpPr>
          <p:cNvPr id="14" name="Shape 11"/>
          <p:cNvSpPr/>
          <p:nvPr/>
        </p:nvSpPr>
        <p:spPr>
          <a:xfrm>
            <a:off x="7479792" y="3288182"/>
            <a:ext cx="329184" cy="329184"/>
          </a:xfrm>
          <a:prstGeom prst="ellipse">
            <a:avLst/>
          </a:prstGeom>
          <a:solidFill>
            <a:srgbClr val="72EF29"/>
          </a:solidFill>
          <a:ln w="12700">
            <a:solidFill>
              <a:srgbClr val="72EF29"/>
            </a:solidFill>
            <a:prstDash val="solid"/>
          </a:ln>
        </p:spPr>
      </p:sp>
      <p:sp>
        <p:nvSpPr>
          <p:cNvPr id="15" name="Text 12"/>
          <p:cNvSpPr txBox="1"/>
          <p:nvPr/>
        </p:nvSpPr>
        <p:spPr>
          <a:xfrm>
            <a:off x="7479792" y="3288182"/>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2</a:t>
            </a:r>
            <a:endParaRPr lang="en-US" sz="1050" dirty="0"/>
          </a:p>
        </p:txBody>
      </p:sp>
      <p:sp>
        <p:nvSpPr>
          <p:cNvPr id="16" name="Text 13"/>
          <p:cNvSpPr txBox="1"/>
          <p:nvPr/>
        </p:nvSpPr>
        <p:spPr>
          <a:xfrm>
            <a:off x="7973568" y="3196742"/>
            <a:ext cx="1097280" cy="51206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Envuelve</a:t>
            </a:r>
            <a:endParaRPr lang="en-US" sz="1250" dirty="0"/>
          </a:p>
        </p:txBody>
      </p:sp>
      <p:sp>
        <p:nvSpPr>
          <p:cNvPr id="17" name="Text 14"/>
          <p:cNvSpPr txBox="1"/>
          <p:nvPr/>
        </p:nvSpPr>
        <p:spPr>
          <a:xfrm>
            <a:off x="9070848" y="3196742"/>
            <a:ext cx="233172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figure y figcaption alrededor del video.</a:t>
            </a:r>
            <a:endParaRPr lang="en-US" sz="1050" dirty="0"/>
          </a:p>
        </p:txBody>
      </p:sp>
      <p:sp>
        <p:nvSpPr>
          <p:cNvPr id="18" name="Shape 15"/>
          <p:cNvSpPr/>
          <p:nvPr/>
        </p:nvSpPr>
        <p:spPr>
          <a:xfrm>
            <a:off x="7315200" y="3778301"/>
            <a:ext cx="4251960" cy="512064"/>
          </a:xfrm>
          <a:prstGeom prst="roundRect">
            <a:avLst>
              <a:gd name="adj" fmla="val 17857"/>
            </a:avLst>
          </a:prstGeom>
          <a:solidFill>
            <a:srgbClr val="F7FDF4"/>
          </a:solidFill>
          <a:ln w="12700">
            <a:solidFill>
              <a:srgbClr val="D9F2CC"/>
            </a:solidFill>
            <a:prstDash val="solid"/>
          </a:ln>
        </p:spPr>
      </p:sp>
      <p:sp>
        <p:nvSpPr>
          <p:cNvPr id="19" name="Shape 16"/>
          <p:cNvSpPr/>
          <p:nvPr/>
        </p:nvSpPr>
        <p:spPr>
          <a:xfrm>
            <a:off x="7479792" y="3869741"/>
            <a:ext cx="329184" cy="329184"/>
          </a:xfrm>
          <a:prstGeom prst="ellipse">
            <a:avLst/>
          </a:prstGeom>
          <a:solidFill>
            <a:srgbClr val="72EF29"/>
          </a:solidFill>
          <a:ln w="12700">
            <a:solidFill>
              <a:srgbClr val="72EF29"/>
            </a:solidFill>
            <a:prstDash val="solid"/>
          </a:ln>
        </p:spPr>
      </p:sp>
      <p:sp>
        <p:nvSpPr>
          <p:cNvPr id="20" name="Text 17"/>
          <p:cNvSpPr txBox="1"/>
          <p:nvPr/>
        </p:nvSpPr>
        <p:spPr>
          <a:xfrm>
            <a:off x="7479792" y="3869741"/>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3</a:t>
            </a:r>
            <a:endParaRPr lang="en-US" sz="1050" dirty="0"/>
          </a:p>
        </p:txBody>
      </p:sp>
      <p:sp>
        <p:nvSpPr>
          <p:cNvPr id="21" name="Text 18"/>
          <p:cNvSpPr txBox="1"/>
          <p:nvPr/>
        </p:nvSpPr>
        <p:spPr>
          <a:xfrm>
            <a:off x="7973568" y="3778301"/>
            <a:ext cx="1097280" cy="51206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Fuentes</a:t>
            </a:r>
            <a:endParaRPr lang="en-US" sz="1250" dirty="0"/>
          </a:p>
        </p:txBody>
      </p:sp>
      <p:sp>
        <p:nvSpPr>
          <p:cNvPr id="22" name="Text 19"/>
          <p:cNvSpPr txBox="1"/>
          <p:nvPr/>
        </p:nvSpPr>
        <p:spPr>
          <a:xfrm>
            <a:off x="9070848" y="3778301"/>
            <a:ext cx="233172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Dos source con su type; quita el src.</a:t>
            </a:r>
            <a:endParaRPr lang="en-US" sz="1050" dirty="0"/>
          </a:p>
        </p:txBody>
      </p:sp>
      <p:sp>
        <p:nvSpPr>
          <p:cNvPr id="23" name="Shape 20"/>
          <p:cNvSpPr/>
          <p:nvPr/>
        </p:nvSpPr>
        <p:spPr>
          <a:xfrm>
            <a:off x="7315200" y="4359859"/>
            <a:ext cx="4251960" cy="512064"/>
          </a:xfrm>
          <a:prstGeom prst="roundRect">
            <a:avLst>
              <a:gd name="adj" fmla="val 17857"/>
            </a:avLst>
          </a:prstGeom>
          <a:solidFill>
            <a:srgbClr val="F7FDF4"/>
          </a:solidFill>
          <a:ln w="12700">
            <a:solidFill>
              <a:srgbClr val="D9F2CC"/>
            </a:solidFill>
            <a:prstDash val="solid"/>
          </a:ln>
        </p:spPr>
      </p:sp>
      <p:sp>
        <p:nvSpPr>
          <p:cNvPr id="24" name="Shape 21"/>
          <p:cNvSpPr/>
          <p:nvPr/>
        </p:nvSpPr>
        <p:spPr>
          <a:xfrm>
            <a:off x="7479792" y="4451299"/>
            <a:ext cx="329184" cy="329184"/>
          </a:xfrm>
          <a:prstGeom prst="ellipse">
            <a:avLst/>
          </a:prstGeom>
          <a:solidFill>
            <a:srgbClr val="72EF29"/>
          </a:solidFill>
          <a:ln w="12700">
            <a:solidFill>
              <a:srgbClr val="72EF29"/>
            </a:solidFill>
            <a:prstDash val="solid"/>
          </a:ln>
        </p:spPr>
      </p:sp>
      <p:sp>
        <p:nvSpPr>
          <p:cNvPr id="25" name="Text 22"/>
          <p:cNvSpPr txBox="1"/>
          <p:nvPr/>
        </p:nvSpPr>
        <p:spPr>
          <a:xfrm>
            <a:off x="7479792" y="4451299"/>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4</a:t>
            </a:r>
            <a:endParaRPr lang="en-US" sz="1050" dirty="0"/>
          </a:p>
        </p:txBody>
      </p:sp>
      <p:sp>
        <p:nvSpPr>
          <p:cNvPr id="26" name="Text 23"/>
          <p:cNvSpPr txBox="1"/>
          <p:nvPr/>
        </p:nvSpPr>
        <p:spPr>
          <a:xfrm>
            <a:off x="7973568" y="4359859"/>
            <a:ext cx="1097280" cy="51206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Atributos</a:t>
            </a:r>
            <a:endParaRPr lang="en-US" sz="1250" dirty="0"/>
          </a:p>
        </p:txBody>
      </p:sp>
      <p:sp>
        <p:nvSpPr>
          <p:cNvPr id="27" name="Text 24"/>
          <p:cNvSpPr txBox="1"/>
          <p:nvPr/>
        </p:nvSpPr>
        <p:spPr>
          <a:xfrm>
            <a:off x="9070848" y="4359859"/>
            <a:ext cx="233172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poster, preload y la proporción real.</a:t>
            </a:r>
            <a:endParaRPr lang="en-US" sz="1050" dirty="0"/>
          </a:p>
        </p:txBody>
      </p:sp>
      <p:sp>
        <p:nvSpPr>
          <p:cNvPr id="28" name="Shape 25"/>
          <p:cNvSpPr/>
          <p:nvPr/>
        </p:nvSpPr>
        <p:spPr>
          <a:xfrm>
            <a:off x="7315200" y="4941418"/>
            <a:ext cx="4251960" cy="512064"/>
          </a:xfrm>
          <a:prstGeom prst="roundRect">
            <a:avLst>
              <a:gd name="adj" fmla="val 17857"/>
            </a:avLst>
          </a:prstGeom>
          <a:solidFill>
            <a:srgbClr val="F7FDF4"/>
          </a:solidFill>
          <a:ln w="12700">
            <a:solidFill>
              <a:srgbClr val="D9F2CC"/>
            </a:solidFill>
            <a:prstDash val="solid"/>
          </a:ln>
        </p:spPr>
      </p:sp>
      <p:sp>
        <p:nvSpPr>
          <p:cNvPr id="29" name="Shape 26"/>
          <p:cNvSpPr/>
          <p:nvPr/>
        </p:nvSpPr>
        <p:spPr>
          <a:xfrm>
            <a:off x="7479792" y="5032858"/>
            <a:ext cx="329184" cy="329184"/>
          </a:xfrm>
          <a:prstGeom prst="ellipse">
            <a:avLst/>
          </a:prstGeom>
          <a:solidFill>
            <a:srgbClr val="72EF29"/>
          </a:solidFill>
          <a:ln w="12700">
            <a:solidFill>
              <a:srgbClr val="72EF29"/>
            </a:solidFill>
            <a:prstDash val="solid"/>
          </a:ln>
        </p:spPr>
      </p:sp>
      <p:sp>
        <p:nvSpPr>
          <p:cNvPr id="30" name="Text 27"/>
          <p:cNvSpPr txBox="1"/>
          <p:nvPr/>
        </p:nvSpPr>
        <p:spPr>
          <a:xfrm>
            <a:off x="7479792" y="5032858"/>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5</a:t>
            </a:r>
            <a:endParaRPr lang="en-US" sz="1050" dirty="0"/>
          </a:p>
        </p:txBody>
      </p:sp>
      <p:sp>
        <p:nvSpPr>
          <p:cNvPr id="31" name="Text 28"/>
          <p:cNvSpPr txBox="1"/>
          <p:nvPr/>
        </p:nvSpPr>
        <p:spPr>
          <a:xfrm>
            <a:off x="7973568" y="4941418"/>
            <a:ext cx="1097280" cy="51206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Subtítulos</a:t>
            </a:r>
            <a:endParaRPr lang="en-US" sz="1250" dirty="0"/>
          </a:p>
        </p:txBody>
      </p:sp>
      <p:sp>
        <p:nvSpPr>
          <p:cNvPr id="32" name="Text 29"/>
          <p:cNvSpPr txBox="1"/>
          <p:nvPr/>
        </p:nvSpPr>
        <p:spPr>
          <a:xfrm>
            <a:off x="9070848" y="4941418"/>
            <a:ext cx="233172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Crea el .vtt y añade track.</a:t>
            </a:r>
            <a:endParaRPr lang="en-US" sz="1050" dirty="0"/>
          </a:p>
        </p:txBody>
      </p:sp>
      <p:sp>
        <p:nvSpPr>
          <p:cNvPr id="33" name="Shape 30"/>
          <p:cNvSpPr/>
          <p:nvPr/>
        </p:nvSpPr>
        <p:spPr>
          <a:xfrm>
            <a:off x="7315200" y="5522976"/>
            <a:ext cx="4251960" cy="512064"/>
          </a:xfrm>
          <a:prstGeom prst="roundRect">
            <a:avLst>
              <a:gd name="adj" fmla="val 17857"/>
            </a:avLst>
          </a:prstGeom>
          <a:solidFill>
            <a:srgbClr val="F7FDF4"/>
          </a:solidFill>
          <a:ln w="12700">
            <a:solidFill>
              <a:srgbClr val="D9F2CC"/>
            </a:solidFill>
            <a:prstDash val="solid"/>
          </a:ln>
        </p:spPr>
      </p:sp>
      <p:sp>
        <p:nvSpPr>
          <p:cNvPr id="34" name="Shape 31"/>
          <p:cNvSpPr/>
          <p:nvPr/>
        </p:nvSpPr>
        <p:spPr>
          <a:xfrm>
            <a:off x="7479792" y="5614416"/>
            <a:ext cx="329184" cy="329184"/>
          </a:xfrm>
          <a:prstGeom prst="ellipse">
            <a:avLst/>
          </a:prstGeom>
          <a:solidFill>
            <a:srgbClr val="72EF29"/>
          </a:solidFill>
          <a:ln w="12700">
            <a:solidFill>
              <a:srgbClr val="72EF29"/>
            </a:solidFill>
            <a:prstDash val="solid"/>
          </a:ln>
        </p:spPr>
      </p:sp>
      <p:sp>
        <p:nvSpPr>
          <p:cNvPr id="35" name="Text 32"/>
          <p:cNvSpPr txBox="1"/>
          <p:nvPr/>
        </p:nvSpPr>
        <p:spPr>
          <a:xfrm>
            <a:off x="7479792" y="5614416"/>
            <a:ext cx="329184" cy="329184"/>
          </a:xfrm>
          <a:prstGeom prst="rect">
            <a:avLst/>
          </a:prstGeom>
          <a:noFill/>
          <a:ln/>
        </p:spPr>
        <p:txBody>
          <a:bodyPr wrap="square" lIns="0" tIns="0" rIns="0" bIns="0" rtlCol="0" anchor="ctr"/>
          <a:lstStyle/>
          <a:p>
            <a:pPr algn="ctr" indent="0" marL="0">
              <a:buNone/>
            </a:pPr>
            <a:r>
              <a:rPr lang="en-US" sz="1050" b="1" dirty="0">
                <a:solidFill>
                  <a:srgbClr val="2A2A2A"/>
                </a:solidFill>
                <a:latin typeface="Calibri" pitchFamily="34" charset="0"/>
                <a:ea typeface="Calibri" pitchFamily="34" charset="-122"/>
                <a:cs typeface="Calibri" pitchFamily="34" charset="-120"/>
              </a:rPr>
              <a:t>6</a:t>
            </a:r>
            <a:endParaRPr lang="en-US" sz="1050" dirty="0"/>
          </a:p>
        </p:txBody>
      </p:sp>
      <p:sp>
        <p:nvSpPr>
          <p:cNvPr id="36" name="Text 33"/>
          <p:cNvSpPr txBox="1"/>
          <p:nvPr/>
        </p:nvSpPr>
        <p:spPr>
          <a:xfrm>
            <a:off x="7973568" y="5522976"/>
            <a:ext cx="1097280" cy="512064"/>
          </a:xfrm>
          <a:prstGeom prst="rect">
            <a:avLst/>
          </a:prstGeom>
          <a:noFill/>
          <a:ln/>
        </p:spPr>
        <p:txBody>
          <a:bodyPr wrap="square" lIns="0" tIns="0" rIns="0" bIns="0" rtlCol="0" anchor="ctr"/>
          <a:lstStyle/>
          <a:p>
            <a:pPr indent="0" marL="0">
              <a:buNone/>
            </a:pPr>
            <a:r>
              <a:rPr lang="en-US" sz="1250" b="1" dirty="0">
                <a:solidFill>
                  <a:srgbClr val="4FB817"/>
                </a:solidFill>
                <a:latin typeface="Calibri" pitchFamily="34" charset="0"/>
                <a:ea typeface="Calibri" pitchFamily="34" charset="-122"/>
                <a:cs typeface="Calibri" pitchFamily="34" charset="-120"/>
              </a:rPr>
              <a:t>Controles</a:t>
            </a:r>
            <a:endParaRPr lang="en-US" sz="1250" dirty="0"/>
          </a:p>
        </p:txBody>
      </p:sp>
      <p:sp>
        <p:nvSpPr>
          <p:cNvPr id="37" name="Text 34"/>
          <p:cNvSpPr txBox="1"/>
          <p:nvPr/>
        </p:nvSpPr>
        <p:spPr>
          <a:xfrm>
            <a:off x="9070848" y="5522976"/>
            <a:ext cx="2331720" cy="51206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El div de botones y el script con defer.</a:t>
            </a:r>
            <a:endParaRPr lang="en-US" sz="1050" dirty="0"/>
          </a:p>
        </p:txBody>
      </p:sp>
      <p:sp>
        <p:nvSpPr>
          <p:cNvPr id="38" name="Text 35"/>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37 / 48</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4FB817"/>
                </a:solidFill>
                <a:latin typeface="Calibri" pitchFamily="34" charset="0"/>
                <a:ea typeface="Calibri" pitchFamily="34" charset="-122"/>
                <a:cs typeface="Calibri" pitchFamily="34" charset="-120"/>
              </a:rPr>
              <a:t>05 · PRÁCTICA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Ahora tú: completa y mejora</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Tienes 25 minutos. Trabaja sobre la página que acabamos de empezar.</a:t>
            </a:r>
            <a:endParaRPr lang="en-US" sz="1250" dirty="0"/>
          </a:p>
        </p:txBody>
      </p:sp>
      <p:sp>
        <p:nvSpPr>
          <p:cNvPr id="5" name="Shape 3"/>
          <p:cNvSpPr/>
          <p:nvPr/>
        </p:nvSpPr>
        <p:spPr>
          <a:xfrm>
            <a:off x="640080" y="2615184"/>
            <a:ext cx="3520440" cy="1572768"/>
          </a:xfrm>
          <a:prstGeom prst="roundRect">
            <a:avLst>
              <a:gd name="adj" fmla="val 5814"/>
            </a:avLst>
          </a:prstGeom>
          <a:solidFill>
            <a:srgbClr val="F7FDF4"/>
          </a:solidFill>
          <a:ln w="12700">
            <a:solidFill>
              <a:srgbClr val="D9F2CC"/>
            </a:solidFill>
            <a:prstDash val="solid"/>
          </a:ln>
        </p:spPr>
      </p:sp>
      <p:sp>
        <p:nvSpPr>
          <p:cNvPr id="6" name="Shape 4"/>
          <p:cNvSpPr/>
          <p:nvPr/>
        </p:nvSpPr>
        <p:spPr>
          <a:xfrm>
            <a:off x="886968" y="2843784"/>
            <a:ext cx="402336" cy="402336"/>
          </a:xfrm>
          <a:prstGeom prst="ellipse">
            <a:avLst/>
          </a:prstGeom>
          <a:solidFill>
            <a:srgbClr val="36C4CC"/>
          </a:solidFill>
          <a:ln w="12700">
            <a:solidFill>
              <a:srgbClr val="36C4CC"/>
            </a:solidFill>
            <a:prstDash val="solid"/>
          </a:ln>
        </p:spPr>
      </p:sp>
      <p:sp>
        <p:nvSpPr>
          <p:cNvPr id="7" name="Text 5"/>
          <p:cNvSpPr txBox="1"/>
          <p:nvPr/>
        </p:nvSpPr>
        <p:spPr>
          <a:xfrm>
            <a:off x="88696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444752" y="2843784"/>
            <a:ext cx="2514600" cy="402336"/>
          </a:xfrm>
          <a:prstGeom prst="rect">
            <a:avLst/>
          </a:prstGeom>
          <a:noFill/>
          <a:ln/>
        </p:spPr>
        <p:txBody>
          <a:bodyPr wrap="square" lIns="0" tIns="0" rIns="0" bIns="0" rtlCol="0" anchor="ctr"/>
          <a:lstStyle/>
          <a:p>
            <a:pPr indent="0" marL="0">
              <a:buNone/>
            </a:pPr>
            <a:r>
              <a:rPr lang="en-US" sz="1300" b="1" dirty="0">
                <a:solidFill>
                  <a:srgbClr val="36C4CC"/>
                </a:solidFill>
                <a:latin typeface="Calibri" pitchFamily="34" charset="0"/>
                <a:ea typeface="Calibri" pitchFamily="34" charset="-122"/>
                <a:cs typeface="Calibri" pitchFamily="34" charset="-120"/>
              </a:rPr>
              <a:t>Corrige las rutas</a:t>
            </a:r>
            <a:endParaRPr lang="en-US" sz="1300" dirty="0"/>
          </a:p>
        </p:txBody>
      </p:sp>
      <p:sp>
        <p:nvSpPr>
          <p:cNvPr id="9" name="Text 7"/>
          <p:cNvSpPr txBox="1"/>
          <p:nvPr/>
        </p:nvSpPr>
        <p:spPr>
          <a:xfrm>
            <a:off x="914400" y="338328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Todas relativas y sin la barra inicial: assets/media/…</a:t>
            </a:r>
            <a:endParaRPr lang="en-US" sz="1150" dirty="0"/>
          </a:p>
        </p:txBody>
      </p:sp>
      <p:sp>
        <p:nvSpPr>
          <p:cNvPr id="10" name="Shape 8"/>
          <p:cNvSpPr/>
          <p:nvPr/>
        </p:nvSpPr>
        <p:spPr>
          <a:xfrm>
            <a:off x="4343400" y="2615184"/>
            <a:ext cx="3520440" cy="1572768"/>
          </a:xfrm>
          <a:prstGeom prst="roundRect">
            <a:avLst>
              <a:gd name="adj" fmla="val 5814"/>
            </a:avLst>
          </a:prstGeom>
          <a:solidFill>
            <a:srgbClr val="F7FDF4"/>
          </a:solidFill>
          <a:ln w="12700">
            <a:solidFill>
              <a:srgbClr val="D9F2CC"/>
            </a:solidFill>
            <a:prstDash val="solid"/>
          </a:ln>
        </p:spPr>
      </p:sp>
      <p:sp>
        <p:nvSpPr>
          <p:cNvPr id="11" name="Shape 9"/>
          <p:cNvSpPr/>
          <p:nvPr/>
        </p:nvSpPr>
        <p:spPr>
          <a:xfrm>
            <a:off x="4590288" y="2843784"/>
            <a:ext cx="402336" cy="402336"/>
          </a:xfrm>
          <a:prstGeom prst="ellipse">
            <a:avLst/>
          </a:prstGeom>
          <a:solidFill>
            <a:srgbClr val="72EF29"/>
          </a:solidFill>
          <a:ln w="12700">
            <a:solidFill>
              <a:srgbClr val="72EF29"/>
            </a:solidFill>
            <a:prstDash val="solid"/>
          </a:ln>
        </p:spPr>
      </p:sp>
      <p:sp>
        <p:nvSpPr>
          <p:cNvPr id="12" name="Text 10"/>
          <p:cNvSpPr txBox="1"/>
          <p:nvPr/>
        </p:nvSpPr>
        <p:spPr>
          <a:xfrm>
            <a:off x="4590288" y="2843784"/>
            <a:ext cx="402336" cy="402336"/>
          </a:xfrm>
          <a:prstGeom prst="rect">
            <a:avLst/>
          </a:prstGeom>
          <a:noFill/>
          <a:ln/>
        </p:spPr>
        <p:txBody>
          <a:bodyPr wrap="square" lIns="0" tIns="0" rIns="0" bIns="0" rtlCol="0" anchor="ctr"/>
          <a:lstStyle/>
          <a:p>
            <a:pPr algn="ctr" indent="0" marL="0">
              <a:buNone/>
            </a:pPr>
            <a:r>
              <a:rPr lang="en-US" sz="1200" b="1" dirty="0">
                <a:solidFill>
                  <a:srgbClr val="2A2A2A"/>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5148072" y="2843784"/>
            <a:ext cx="2514600" cy="402336"/>
          </a:xfrm>
          <a:prstGeom prst="rect">
            <a:avLst/>
          </a:prstGeom>
          <a:noFill/>
          <a:ln/>
        </p:spPr>
        <p:txBody>
          <a:bodyPr wrap="square" lIns="0" tIns="0" rIns="0" bIns="0" rtlCol="0" anchor="ctr"/>
          <a:lstStyle/>
          <a:p>
            <a:pPr indent="0" marL="0">
              <a:buNone/>
            </a:pPr>
            <a:r>
              <a:rPr lang="en-US" sz="1300" b="1" dirty="0">
                <a:solidFill>
                  <a:srgbClr val="4FB817"/>
                </a:solidFill>
                <a:latin typeface="Calibri" pitchFamily="34" charset="0"/>
                <a:ea typeface="Calibri" pitchFamily="34" charset="-122"/>
                <a:cs typeface="Calibri" pitchFamily="34" charset="-120"/>
              </a:rPr>
              <a:t>Arregla el audio</a:t>
            </a:r>
            <a:endParaRPr lang="en-US" sz="1300" dirty="0"/>
          </a:p>
        </p:txBody>
      </p:sp>
      <p:sp>
        <p:nvSpPr>
          <p:cNvPr id="14" name="Text 12"/>
          <p:cNvSpPr txBox="1"/>
          <p:nvPr/>
        </p:nvSpPr>
        <p:spPr>
          <a:xfrm>
            <a:off x="4617720" y="338328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Copia presentacion.mp3 y presentacion.ogg a assets/media/audio y usa dos source.</a:t>
            </a:r>
            <a:endParaRPr lang="en-US" sz="1150" dirty="0"/>
          </a:p>
        </p:txBody>
      </p:sp>
      <p:sp>
        <p:nvSpPr>
          <p:cNvPr id="15" name="Shape 13"/>
          <p:cNvSpPr/>
          <p:nvPr/>
        </p:nvSpPr>
        <p:spPr>
          <a:xfrm>
            <a:off x="8046720" y="2615184"/>
            <a:ext cx="3520440" cy="1572768"/>
          </a:xfrm>
          <a:prstGeom prst="roundRect">
            <a:avLst>
              <a:gd name="adj" fmla="val 5814"/>
            </a:avLst>
          </a:prstGeom>
          <a:solidFill>
            <a:srgbClr val="F7FDF4"/>
          </a:solidFill>
          <a:ln w="12700">
            <a:solidFill>
              <a:srgbClr val="D9F2CC"/>
            </a:solidFill>
            <a:prstDash val="solid"/>
          </a:ln>
        </p:spPr>
      </p:sp>
      <p:sp>
        <p:nvSpPr>
          <p:cNvPr id="16" name="Shape 14"/>
          <p:cNvSpPr/>
          <p:nvPr/>
        </p:nvSpPr>
        <p:spPr>
          <a:xfrm>
            <a:off x="8293608" y="2843784"/>
            <a:ext cx="402336" cy="402336"/>
          </a:xfrm>
          <a:prstGeom prst="ellipse">
            <a:avLst/>
          </a:prstGeom>
          <a:solidFill>
            <a:srgbClr val="4FB817"/>
          </a:solidFill>
          <a:ln w="12700">
            <a:solidFill>
              <a:srgbClr val="4FB817"/>
            </a:solidFill>
            <a:prstDash val="solid"/>
          </a:ln>
        </p:spPr>
      </p:sp>
      <p:sp>
        <p:nvSpPr>
          <p:cNvPr id="17" name="Text 15"/>
          <p:cNvSpPr txBox="1"/>
          <p:nvPr/>
        </p:nvSpPr>
        <p:spPr>
          <a:xfrm>
            <a:off x="829360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8851392" y="2843784"/>
            <a:ext cx="2514600" cy="402336"/>
          </a:xfrm>
          <a:prstGeom prst="rect">
            <a:avLst/>
          </a:prstGeom>
          <a:noFill/>
          <a:ln/>
        </p:spPr>
        <p:txBody>
          <a:bodyPr wrap="square" lIns="0" tIns="0" rIns="0" bIns="0" rtlCol="0" anchor="ctr"/>
          <a:lstStyle/>
          <a:p>
            <a:pPr indent="0" marL="0">
              <a:buNone/>
            </a:pPr>
            <a:r>
              <a:rPr lang="en-US" sz="1300" b="1" dirty="0">
                <a:solidFill>
                  <a:srgbClr val="4FB817"/>
                </a:solidFill>
                <a:latin typeface="Calibri" pitchFamily="34" charset="0"/>
                <a:ea typeface="Calibri" pitchFamily="34" charset="-122"/>
                <a:cs typeface="Calibri" pitchFamily="34" charset="-120"/>
              </a:rPr>
              <a:t>Añade la transcripción</a:t>
            </a:r>
            <a:endParaRPr lang="en-US" sz="1300" dirty="0"/>
          </a:p>
        </p:txBody>
      </p:sp>
      <p:sp>
        <p:nvSpPr>
          <p:cNvPr id="19" name="Text 17"/>
          <p:cNvSpPr txBox="1"/>
          <p:nvPr/>
        </p:nvSpPr>
        <p:spPr>
          <a:xfrm>
            <a:off x="8321040" y="338328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Un details con su summary, debajo del audio.</a:t>
            </a:r>
            <a:endParaRPr lang="en-US" sz="1150" dirty="0"/>
          </a:p>
        </p:txBody>
      </p:sp>
      <p:sp>
        <p:nvSpPr>
          <p:cNvPr id="20" name="Shape 18"/>
          <p:cNvSpPr/>
          <p:nvPr/>
        </p:nvSpPr>
        <p:spPr>
          <a:xfrm>
            <a:off x="640080" y="4352544"/>
            <a:ext cx="3520440" cy="1572768"/>
          </a:xfrm>
          <a:prstGeom prst="roundRect">
            <a:avLst>
              <a:gd name="adj" fmla="val 5814"/>
            </a:avLst>
          </a:prstGeom>
          <a:solidFill>
            <a:srgbClr val="F7FDF4"/>
          </a:solidFill>
          <a:ln w="12700">
            <a:solidFill>
              <a:srgbClr val="D9F2CC"/>
            </a:solidFill>
            <a:prstDash val="solid"/>
          </a:ln>
        </p:spPr>
      </p:sp>
      <p:sp>
        <p:nvSpPr>
          <p:cNvPr id="21" name="Shape 19"/>
          <p:cNvSpPr/>
          <p:nvPr/>
        </p:nvSpPr>
        <p:spPr>
          <a:xfrm>
            <a:off x="886968" y="4581144"/>
            <a:ext cx="402336" cy="402336"/>
          </a:xfrm>
          <a:prstGeom prst="ellipse">
            <a:avLst/>
          </a:prstGeom>
          <a:solidFill>
            <a:srgbClr val="5AD3DA"/>
          </a:solidFill>
          <a:ln w="12700">
            <a:solidFill>
              <a:srgbClr val="5AD3DA"/>
            </a:solidFill>
            <a:prstDash val="solid"/>
          </a:ln>
        </p:spPr>
      </p:sp>
      <p:sp>
        <p:nvSpPr>
          <p:cNvPr id="22" name="Text 20"/>
          <p:cNvSpPr txBox="1"/>
          <p:nvPr/>
        </p:nvSpPr>
        <p:spPr>
          <a:xfrm>
            <a:off x="88696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444752" y="4581144"/>
            <a:ext cx="2514600" cy="402336"/>
          </a:xfrm>
          <a:prstGeom prst="rect">
            <a:avLst/>
          </a:prstGeom>
          <a:noFill/>
          <a:ln/>
        </p:spPr>
        <p:txBody>
          <a:bodyPr wrap="square" lIns="0" tIns="0" rIns="0" bIns="0" rtlCol="0" anchor="ctr"/>
          <a:lstStyle/>
          <a:p>
            <a:pPr indent="0" marL="0">
              <a:buNone/>
            </a:pPr>
            <a:r>
              <a:rPr lang="en-US" sz="1300" b="1" dirty="0">
                <a:solidFill>
                  <a:srgbClr val="5AD3DA"/>
                </a:solidFill>
                <a:latin typeface="Calibri" pitchFamily="34" charset="0"/>
                <a:ea typeface="Calibri" pitchFamily="34" charset="-122"/>
                <a:cs typeface="Calibri" pitchFamily="34" charset="-120"/>
              </a:rPr>
              <a:t>Limpia el iframe</a:t>
            </a:r>
            <a:endParaRPr lang="en-US" sz="1300" dirty="0"/>
          </a:p>
        </p:txBody>
      </p:sp>
      <p:sp>
        <p:nvSpPr>
          <p:cNvPr id="24" name="Text 22"/>
          <p:cNvSpPr txBox="1"/>
          <p:nvPr/>
        </p:nvSpPr>
        <p:spPr>
          <a:xfrm>
            <a:off x="914400" y="512064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Quita frameborder, escribe un title descriptivo y añade loading="lazy".</a:t>
            </a:r>
            <a:endParaRPr lang="en-US" sz="1150" dirty="0"/>
          </a:p>
        </p:txBody>
      </p:sp>
      <p:sp>
        <p:nvSpPr>
          <p:cNvPr id="25" name="Shape 23"/>
          <p:cNvSpPr/>
          <p:nvPr/>
        </p:nvSpPr>
        <p:spPr>
          <a:xfrm>
            <a:off x="4343400" y="4352544"/>
            <a:ext cx="3520440" cy="1572768"/>
          </a:xfrm>
          <a:prstGeom prst="roundRect">
            <a:avLst>
              <a:gd name="adj" fmla="val 5814"/>
            </a:avLst>
          </a:prstGeom>
          <a:solidFill>
            <a:srgbClr val="F7FDF4"/>
          </a:solidFill>
          <a:ln w="12700">
            <a:solidFill>
              <a:srgbClr val="D9F2CC"/>
            </a:solidFill>
            <a:prstDash val="solid"/>
          </a:ln>
        </p:spPr>
      </p:sp>
      <p:sp>
        <p:nvSpPr>
          <p:cNvPr id="26" name="Shape 24"/>
          <p:cNvSpPr/>
          <p:nvPr/>
        </p:nvSpPr>
        <p:spPr>
          <a:xfrm>
            <a:off x="4590288" y="4581144"/>
            <a:ext cx="402336" cy="402336"/>
          </a:xfrm>
          <a:prstGeom prst="ellipse">
            <a:avLst/>
          </a:prstGeom>
          <a:solidFill>
            <a:srgbClr val="63ED12"/>
          </a:solidFill>
          <a:ln w="12700">
            <a:solidFill>
              <a:srgbClr val="63ED12"/>
            </a:solidFill>
            <a:prstDash val="solid"/>
          </a:ln>
        </p:spPr>
      </p:sp>
      <p:sp>
        <p:nvSpPr>
          <p:cNvPr id="27" name="Text 25"/>
          <p:cNvSpPr txBox="1"/>
          <p:nvPr/>
        </p:nvSpPr>
        <p:spPr>
          <a:xfrm>
            <a:off x="4590288" y="4581144"/>
            <a:ext cx="402336" cy="402336"/>
          </a:xfrm>
          <a:prstGeom prst="rect">
            <a:avLst/>
          </a:prstGeom>
          <a:noFill/>
          <a:ln/>
        </p:spPr>
        <p:txBody>
          <a:bodyPr wrap="square" lIns="0" tIns="0" rIns="0" bIns="0" rtlCol="0" anchor="ctr"/>
          <a:lstStyle/>
          <a:p>
            <a:pPr algn="ctr" indent="0" marL="0">
              <a:buNone/>
            </a:pPr>
            <a:r>
              <a:rPr lang="en-US" sz="1200" b="1" dirty="0">
                <a:solidFill>
                  <a:srgbClr val="2A2A2A"/>
                </a:solidFill>
                <a:latin typeface="Calibri" pitchFamily="34" charset="0"/>
                <a:ea typeface="Calibri" pitchFamily="34" charset="-122"/>
                <a:cs typeface="Calibri" pitchFamily="34" charset="-120"/>
              </a:rPr>
              <a:t>5</a:t>
            </a:r>
            <a:endParaRPr lang="en-US" sz="1200" dirty="0"/>
          </a:p>
        </p:txBody>
      </p:sp>
      <p:sp>
        <p:nvSpPr>
          <p:cNvPr id="28" name="Text 26"/>
          <p:cNvSpPr txBox="1"/>
          <p:nvPr/>
        </p:nvSpPr>
        <p:spPr>
          <a:xfrm>
            <a:off x="5148072" y="4581144"/>
            <a:ext cx="2514600" cy="402336"/>
          </a:xfrm>
          <a:prstGeom prst="rect">
            <a:avLst/>
          </a:prstGeom>
          <a:noFill/>
          <a:ln/>
        </p:spPr>
        <p:txBody>
          <a:bodyPr wrap="square" lIns="0" tIns="0" rIns="0" bIns="0" rtlCol="0" anchor="ctr"/>
          <a:lstStyle/>
          <a:p>
            <a:pPr indent="0" marL="0">
              <a:buNone/>
            </a:pPr>
            <a:r>
              <a:rPr lang="en-US" sz="1300" b="1" dirty="0">
                <a:solidFill>
                  <a:srgbClr val="4FB817"/>
                </a:solidFill>
                <a:latin typeface="Calibri" pitchFamily="34" charset="0"/>
                <a:ea typeface="Calibri" pitchFamily="34" charset="-122"/>
                <a:cs typeface="Calibri" pitchFamily="34" charset="-120"/>
              </a:rPr>
              <a:t>Valida en W3C</a:t>
            </a:r>
            <a:endParaRPr lang="en-US" sz="1300" dirty="0"/>
          </a:p>
        </p:txBody>
      </p:sp>
      <p:sp>
        <p:nvSpPr>
          <p:cNvPr id="29" name="Text 27"/>
          <p:cNvSpPr txBox="1"/>
          <p:nvPr/>
        </p:nvSpPr>
        <p:spPr>
          <a:xfrm>
            <a:off x="4617720" y="512064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Sin errores de estructura antes de continuar.</a:t>
            </a:r>
            <a:endParaRPr lang="en-US" sz="1150" dirty="0"/>
          </a:p>
        </p:txBody>
      </p:sp>
      <p:sp>
        <p:nvSpPr>
          <p:cNvPr id="30" name="Shape 28"/>
          <p:cNvSpPr/>
          <p:nvPr/>
        </p:nvSpPr>
        <p:spPr>
          <a:xfrm>
            <a:off x="8046720" y="4352544"/>
            <a:ext cx="3520440" cy="1572768"/>
          </a:xfrm>
          <a:prstGeom prst="roundRect">
            <a:avLst>
              <a:gd name="adj" fmla="val 5814"/>
            </a:avLst>
          </a:prstGeom>
          <a:solidFill>
            <a:srgbClr val="F7FDF4"/>
          </a:solidFill>
          <a:ln w="12700">
            <a:solidFill>
              <a:srgbClr val="D9F2CC"/>
            </a:solidFill>
            <a:prstDash val="solid"/>
          </a:ln>
        </p:spPr>
      </p:sp>
      <p:sp>
        <p:nvSpPr>
          <p:cNvPr id="31" name="Shape 29"/>
          <p:cNvSpPr/>
          <p:nvPr/>
        </p:nvSpPr>
        <p:spPr>
          <a:xfrm>
            <a:off x="8293608" y="4581144"/>
            <a:ext cx="402336" cy="402336"/>
          </a:xfrm>
          <a:prstGeom prst="ellipse">
            <a:avLst/>
          </a:prstGeom>
          <a:solidFill>
            <a:srgbClr val="7E5A94"/>
          </a:solidFill>
          <a:ln w="12700">
            <a:solidFill>
              <a:srgbClr val="7E5A94"/>
            </a:solidFill>
            <a:prstDash val="solid"/>
          </a:ln>
        </p:spPr>
      </p:sp>
      <p:sp>
        <p:nvSpPr>
          <p:cNvPr id="32" name="Text 30"/>
          <p:cNvSpPr txBox="1"/>
          <p:nvPr/>
        </p:nvSpPr>
        <p:spPr>
          <a:xfrm>
            <a:off x="829360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3" name="Text 31"/>
          <p:cNvSpPr txBox="1"/>
          <p:nvPr/>
        </p:nvSpPr>
        <p:spPr>
          <a:xfrm>
            <a:off x="8851392" y="4581144"/>
            <a:ext cx="2514600" cy="402336"/>
          </a:xfrm>
          <a:prstGeom prst="rect">
            <a:avLst/>
          </a:prstGeom>
          <a:noFill/>
          <a:ln/>
        </p:spPr>
        <p:txBody>
          <a:bodyPr wrap="square" lIns="0" tIns="0" rIns="0" bIns="0" rtlCol="0" anchor="ctr"/>
          <a:lstStyle/>
          <a:p>
            <a:pPr indent="0" marL="0">
              <a:buNone/>
            </a:pPr>
            <a:r>
              <a:rPr lang="en-US" sz="1300" b="1" dirty="0">
                <a:solidFill>
                  <a:srgbClr val="7E5A94"/>
                </a:solidFill>
                <a:latin typeface="Calibri" pitchFamily="34" charset="0"/>
                <a:ea typeface="Calibri" pitchFamily="34" charset="-122"/>
                <a:cs typeface="Calibri" pitchFamily="34" charset="-120"/>
              </a:rPr>
              <a:t>Publica en Netlify</a:t>
            </a:r>
            <a:endParaRPr lang="en-US" sz="1300" dirty="0"/>
          </a:p>
        </p:txBody>
      </p:sp>
      <p:sp>
        <p:nvSpPr>
          <p:cNvPr id="34" name="Text 32"/>
          <p:cNvSpPr txBox="1"/>
          <p:nvPr/>
        </p:nvSpPr>
        <p:spPr>
          <a:xfrm>
            <a:off x="8321040" y="512064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Comprueba el video, los subtítulos y el audio en la URL pública.</a:t>
            </a:r>
            <a:endParaRPr lang="en-US" sz="1150" dirty="0"/>
          </a:p>
        </p:txBody>
      </p:sp>
      <p:sp>
        <p:nvSpPr>
          <p:cNvPr id="35" name="Text 33"/>
          <p:cNvSpPr txBox="1"/>
          <p:nvPr/>
        </p:nvSpPr>
        <p:spPr>
          <a:xfrm>
            <a:off x="640080" y="6053328"/>
            <a:ext cx="10927080" cy="256032"/>
          </a:xfrm>
          <a:prstGeom prst="rect">
            <a:avLst/>
          </a:prstGeom>
          <a:noFill/>
          <a:ln/>
        </p:spPr>
        <p:txBody>
          <a:bodyPr wrap="square" lIns="0" tIns="0" rIns="0" bIns="0" rtlCol="0" anchor="ctr"/>
          <a:lstStyle/>
          <a:p>
            <a:pPr algn="ctr" indent="0" marL="0">
              <a:buNone/>
            </a:pPr>
            <a:r>
              <a:rPr lang="en-US" sz="1150" i="1" dirty="0">
                <a:solidFill>
                  <a:srgbClr val="4FB817"/>
                </a:solidFill>
                <a:latin typeface="Calibri" pitchFamily="34" charset="0"/>
                <a:ea typeface="Calibri" pitchFamily="34" charset="-122"/>
                <a:cs typeface="Calibri" pitchFamily="34" charset="-120"/>
              </a:rPr>
              <a:t>Si terminas antes: añade un botón Reiniciar que ponga video.currentTime en 0.</a:t>
            </a:r>
            <a:endParaRPr lang="en-US" sz="1150" dirty="0"/>
          </a:p>
        </p:txBody>
      </p:sp>
      <p:sp>
        <p:nvSpPr>
          <p:cNvPr id="36" name="Text 3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38 / 48</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4FB817"/>
                </a:solidFill>
                <a:latin typeface="Calibri" pitchFamily="34" charset="0"/>
                <a:ea typeface="Calibri" pitchFamily="34" charset="-122"/>
                <a:cs typeface="Calibri" pitchFamily="34" charset="-120"/>
              </a:rPr>
              <a:t>06 · FIGMA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De vuelta a Figma: corrige los Pasos 2 al 6</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Cinco fallos frecuentes en la cabecera. Compáralos con tu archivo antes de la sesión 08.</a:t>
            </a:r>
            <a:endParaRPr lang="en-US" sz="1250" dirty="0"/>
          </a:p>
        </p:txBody>
      </p:sp>
      <p:sp>
        <p:nvSpPr>
          <p:cNvPr id="6" name="Text 3"/>
          <p:cNvSpPr txBox="1"/>
          <p:nvPr/>
        </p:nvSpPr>
        <p:spPr>
          <a:xfrm>
            <a:off x="914400" y="2587752"/>
            <a:ext cx="2743200" cy="219456"/>
          </a:xfrm>
          <a:prstGeom prst="rect">
            <a:avLst/>
          </a:prstGeom>
          <a:noFill/>
          <a:ln/>
        </p:spPr>
        <p:txBody>
          <a:bodyPr wrap="square" lIns="0" tIns="0" rIns="0" bIns="0" rtlCol="0" anchor="ctr"/>
          <a:lstStyle/>
          <a:p>
            <a:pPr indent="0" marL="0">
              <a:buNone/>
            </a:pPr>
            <a:r>
              <a:rPr lang="en-US" sz="950" b="1" spc="150" kern="0" dirty="0">
                <a:solidFill>
                  <a:srgbClr val="6E7673"/>
                </a:solidFill>
                <a:latin typeface="Calibri" pitchFamily="34" charset="0"/>
                <a:ea typeface="Calibri" pitchFamily="34" charset="-122"/>
                <a:cs typeface="Calibri" pitchFamily="34" charset="-120"/>
              </a:rPr>
              <a:t>Capa</a:t>
            </a:r>
            <a:endParaRPr lang="en-US" sz="950" dirty="0"/>
          </a:p>
        </p:txBody>
      </p:sp>
      <p:sp>
        <p:nvSpPr>
          <p:cNvPr id="7" name="Text 4"/>
          <p:cNvSpPr txBox="1"/>
          <p:nvPr/>
        </p:nvSpPr>
        <p:spPr>
          <a:xfrm>
            <a:off x="2697480" y="2587752"/>
            <a:ext cx="2743200" cy="219456"/>
          </a:xfrm>
          <a:prstGeom prst="rect">
            <a:avLst/>
          </a:prstGeom>
          <a:noFill/>
          <a:ln/>
        </p:spPr>
        <p:txBody>
          <a:bodyPr wrap="square" lIns="0" tIns="0" rIns="0" bIns="0" rtlCol="0" anchor="ctr"/>
          <a:lstStyle/>
          <a:p>
            <a:pPr indent="0" marL="0">
              <a:buNone/>
            </a:pPr>
            <a:r>
              <a:rPr lang="en-US" sz="950" b="1" spc="150" kern="0" dirty="0">
                <a:solidFill>
                  <a:srgbClr val="6E7673"/>
                </a:solidFill>
                <a:latin typeface="Calibri" pitchFamily="34" charset="0"/>
                <a:ea typeface="Calibri" pitchFamily="34" charset="-122"/>
                <a:cs typeface="Calibri" pitchFamily="34" charset="-120"/>
              </a:rPr>
              <a:t>El fallo</a:t>
            </a:r>
            <a:endParaRPr lang="en-US" sz="950" dirty="0"/>
          </a:p>
        </p:txBody>
      </p:sp>
      <p:sp>
        <p:nvSpPr>
          <p:cNvPr id="8" name="Text 5"/>
          <p:cNvSpPr txBox="1"/>
          <p:nvPr/>
        </p:nvSpPr>
        <p:spPr>
          <a:xfrm>
            <a:off x="6675120" y="2587752"/>
            <a:ext cx="2743200" cy="219456"/>
          </a:xfrm>
          <a:prstGeom prst="rect">
            <a:avLst/>
          </a:prstGeom>
          <a:noFill/>
          <a:ln/>
        </p:spPr>
        <p:txBody>
          <a:bodyPr wrap="square" lIns="0" tIns="0" rIns="0" bIns="0" rtlCol="0" anchor="ctr"/>
          <a:lstStyle/>
          <a:p>
            <a:pPr indent="0" marL="0">
              <a:buNone/>
            </a:pPr>
            <a:r>
              <a:rPr lang="en-US" sz="950" b="1" spc="150" kern="0" dirty="0">
                <a:solidFill>
                  <a:srgbClr val="6E7673"/>
                </a:solidFill>
                <a:latin typeface="Calibri" pitchFamily="34" charset="0"/>
                <a:ea typeface="Calibri" pitchFamily="34" charset="-122"/>
                <a:cs typeface="Calibri" pitchFamily="34" charset="-120"/>
              </a:rPr>
              <a:t>La corrección</a:t>
            </a:r>
            <a:endParaRPr lang="en-US" sz="950" dirty="0"/>
          </a:p>
        </p:txBody>
      </p:sp>
      <p:sp>
        <p:nvSpPr>
          <p:cNvPr id="9" name="Shape 6"/>
          <p:cNvSpPr/>
          <p:nvPr/>
        </p:nvSpPr>
        <p:spPr>
          <a:xfrm>
            <a:off x="640080" y="2834640"/>
            <a:ext cx="10927080" cy="557784"/>
          </a:xfrm>
          <a:prstGeom prst="roundRect">
            <a:avLst>
              <a:gd name="adj" fmla="val 16393"/>
            </a:avLst>
          </a:prstGeom>
          <a:solidFill>
            <a:srgbClr val="F7FDF4"/>
          </a:solidFill>
          <a:ln w="12700">
            <a:solidFill>
              <a:srgbClr val="D9F2CC"/>
            </a:solidFill>
            <a:prstDash val="solid"/>
          </a:ln>
        </p:spPr>
      </p:sp>
      <p:sp>
        <p:nvSpPr>
          <p:cNvPr id="10" name="Text 7"/>
          <p:cNvSpPr txBox="1"/>
          <p:nvPr/>
        </p:nvSpPr>
        <p:spPr>
          <a:xfrm>
            <a:off x="914400" y="2834640"/>
            <a:ext cx="1828800" cy="557784"/>
          </a:xfrm>
          <a:prstGeom prst="rect">
            <a:avLst/>
          </a:prstGeom>
          <a:noFill/>
          <a:ln/>
        </p:spPr>
        <p:txBody>
          <a:bodyPr wrap="square" lIns="0" tIns="0" rIns="0" bIns="0" rtlCol="0" anchor="ctr"/>
          <a:lstStyle/>
          <a:p>
            <a:pPr indent="0" marL="0">
              <a:buNone/>
            </a:pPr>
            <a:r>
              <a:rPr lang="en-US" sz="1200" b="1" dirty="0">
                <a:solidFill>
                  <a:srgbClr val="1E9AA3"/>
                </a:solidFill>
                <a:latin typeface="Calibri" pitchFamily="34" charset="0"/>
                <a:ea typeface="Calibri" pitchFamily="34" charset="-122"/>
                <a:cs typeface="Calibri" pitchFamily="34" charset="-120"/>
              </a:rPr>
              <a:t>Paso 2 · Header</a:t>
            </a:r>
            <a:endParaRPr lang="en-US" sz="1200" dirty="0"/>
          </a:p>
        </p:txBody>
      </p:sp>
      <p:sp>
        <p:nvSpPr>
          <p:cNvPr id="11" name="Text 8"/>
          <p:cNvSpPr txBox="1"/>
          <p:nvPr/>
        </p:nvSpPr>
        <p:spPr>
          <a:xfrm>
            <a:off x="2697480" y="2834640"/>
            <a:ext cx="3794760" cy="557784"/>
          </a:xfrm>
          <a:prstGeom prst="rect">
            <a:avLst/>
          </a:prstGeom>
          <a:noFill/>
          <a:ln/>
        </p:spPr>
        <p:txBody>
          <a:bodyPr wrap="square" lIns="0" tIns="0" rIns="0" bIns="0" rtlCol="0" anchor="ctr"/>
          <a:lstStyle/>
          <a:p>
            <a:pPr indent="0" marL="0">
              <a:buNone/>
            </a:pPr>
            <a:r>
              <a:rPr lang="en-US" sz="1050" dirty="0">
                <a:solidFill>
                  <a:srgbClr val="B5462F"/>
                </a:solidFill>
                <a:latin typeface="Calibri" pitchFamily="34" charset="0"/>
                <a:ea typeface="Calibri" pitchFamily="34" charset="-122"/>
                <a:cs typeface="Calibri" pitchFamily="34" charset="-120"/>
              </a:rPr>
              <a:t>Mide 160 de alto: el doble de lo necesario.</a:t>
            </a:r>
            <a:endParaRPr lang="en-US" sz="1050" dirty="0"/>
          </a:p>
        </p:txBody>
      </p:sp>
      <p:sp>
        <p:nvSpPr>
          <p:cNvPr id="12" name="Text 9"/>
          <p:cNvSpPr txBox="1"/>
          <p:nvPr/>
        </p:nvSpPr>
        <p:spPr>
          <a:xfrm>
            <a:off x="6675120" y="2834640"/>
            <a:ext cx="470916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H: Altura fija 80. Espacio: Auto.</a:t>
            </a:r>
            <a:endParaRPr lang="en-US" sz="1050" dirty="0"/>
          </a:p>
        </p:txBody>
      </p:sp>
      <p:sp>
        <p:nvSpPr>
          <p:cNvPr id="13" name="Shape 10"/>
          <p:cNvSpPr/>
          <p:nvPr/>
        </p:nvSpPr>
        <p:spPr>
          <a:xfrm>
            <a:off x="640080" y="3465576"/>
            <a:ext cx="10927080" cy="557784"/>
          </a:xfrm>
          <a:prstGeom prst="roundRect">
            <a:avLst>
              <a:gd name="adj" fmla="val 16393"/>
            </a:avLst>
          </a:prstGeom>
          <a:solidFill>
            <a:srgbClr val="FFFFFF"/>
          </a:solidFill>
          <a:ln w="12700">
            <a:solidFill>
              <a:srgbClr val="D9F2CC"/>
            </a:solidFill>
            <a:prstDash val="solid"/>
          </a:ln>
        </p:spPr>
      </p:sp>
      <p:sp>
        <p:nvSpPr>
          <p:cNvPr id="14" name="Text 11"/>
          <p:cNvSpPr txBox="1"/>
          <p:nvPr/>
        </p:nvSpPr>
        <p:spPr>
          <a:xfrm>
            <a:off x="914400" y="3465576"/>
            <a:ext cx="1828800" cy="557784"/>
          </a:xfrm>
          <a:prstGeom prst="rect">
            <a:avLst/>
          </a:prstGeom>
          <a:noFill/>
          <a:ln/>
        </p:spPr>
        <p:txBody>
          <a:bodyPr wrap="square" lIns="0" tIns="0" rIns="0" bIns="0" rtlCol="0" anchor="ctr"/>
          <a:lstStyle/>
          <a:p>
            <a:pPr indent="0" marL="0">
              <a:buNone/>
            </a:pPr>
            <a:r>
              <a:rPr lang="en-US" sz="1200" b="1" dirty="0">
                <a:solidFill>
                  <a:srgbClr val="1E9AA3"/>
                </a:solidFill>
                <a:latin typeface="Calibri" pitchFamily="34" charset="0"/>
                <a:ea typeface="Calibri" pitchFamily="34" charset="-122"/>
                <a:cs typeface="Calibri" pitchFamily="34" charset="-120"/>
              </a:rPr>
              <a:t>Paso 3 · Nombre</a:t>
            </a:r>
            <a:endParaRPr lang="en-US" sz="1200" dirty="0"/>
          </a:p>
        </p:txBody>
      </p:sp>
      <p:sp>
        <p:nvSpPr>
          <p:cNvPr id="15" name="Text 12"/>
          <p:cNvSpPr txBox="1"/>
          <p:nvPr/>
        </p:nvSpPr>
        <p:spPr>
          <a:xfrm>
            <a:off x="2697480" y="3465576"/>
            <a:ext cx="3794760" cy="557784"/>
          </a:xfrm>
          <a:prstGeom prst="rect">
            <a:avLst/>
          </a:prstGeom>
          <a:noFill/>
          <a:ln/>
        </p:spPr>
        <p:txBody>
          <a:bodyPr wrap="square" lIns="0" tIns="0" rIns="0" bIns="0" rtlCol="0" anchor="ctr"/>
          <a:lstStyle/>
          <a:p>
            <a:pPr indent="0" marL="0">
              <a:buNone/>
            </a:pPr>
            <a:r>
              <a:rPr lang="en-US" sz="1050" dirty="0">
                <a:solidFill>
                  <a:srgbClr val="B5462F"/>
                </a:solidFill>
                <a:latin typeface="Calibri" pitchFamily="34" charset="0"/>
                <a:ea typeface="Calibri" pitchFamily="34" charset="-122"/>
                <a:cs typeface="Calibri" pitchFamily="34" charset="-120"/>
              </a:rPr>
              <a:t>Fuente Imprima Regular de 20 px.</a:t>
            </a:r>
            <a:endParaRPr lang="en-US" sz="1050" dirty="0"/>
          </a:p>
        </p:txBody>
      </p:sp>
      <p:sp>
        <p:nvSpPr>
          <p:cNvPr id="16" name="Text 13"/>
          <p:cNvSpPr txBox="1"/>
          <p:nvPr/>
        </p:nvSpPr>
        <p:spPr>
          <a:xfrm>
            <a:off x="6675120" y="3465576"/>
            <a:ext cx="470916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Outfit Bold de 18 px, color #0B0F19.</a:t>
            </a:r>
            <a:endParaRPr lang="en-US" sz="1050" dirty="0"/>
          </a:p>
        </p:txBody>
      </p:sp>
      <p:sp>
        <p:nvSpPr>
          <p:cNvPr id="17" name="Shape 14"/>
          <p:cNvSpPr/>
          <p:nvPr/>
        </p:nvSpPr>
        <p:spPr>
          <a:xfrm>
            <a:off x="640080" y="4096512"/>
            <a:ext cx="10927080" cy="557784"/>
          </a:xfrm>
          <a:prstGeom prst="roundRect">
            <a:avLst>
              <a:gd name="adj" fmla="val 16393"/>
            </a:avLst>
          </a:prstGeom>
          <a:solidFill>
            <a:srgbClr val="F7FDF4"/>
          </a:solidFill>
          <a:ln w="12700">
            <a:solidFill>
              <a:srgbClr val="D9F2CC"/>
            </a:solidFill>
            <a:prstDash val="solid"/>
          </a:ln>
        </p:spPr>
      </p:sp>
      <p:sp>
        <p:nvSpPr>
          <p:cNvPr id="18" name="Text 15"/>
          <p:cNvSpPr txBox="1"/>
          <p:nvPr/>
        </p:nvSpPr>
        <p:spPr>
          <a:xfrm>
            <a:off x="914400" y="4096512"/>
            <a:ext cx="1828800" cy="557784"/>
          </a:xfrm>
          <a:prstGeom prst="rect">
            <a:avLst/>
          </a:prstGeom>
          <a:noFill/>
          <a:ln/>
        </p:spPr>
        <p:txBody>
          <a:bodyPr wrap="square" lIns="0" tIns="0" rIns="0" bIns="0" rtlCol="0" anchor="ctr"/>
          <a:lstStyle/>
          <a:p>
            <a:pPr indent="0" marL="0">
              <a:buNone/>
            </a:pPr>
            <a:r>
              <a:rPr lang="en-US" sz="1200" b="1" dirty="0">
                <a:solidFill>
                  <a:srgbClr val="1E9AA3"/>
                </a:solidFill>
                <a:latin typeface="Calibri" pitchFamily="34" charset="0"/>
                <a:ea typeface="Calibri" pitchFamily="34" charset="-122"/>
                <a:cs typeface="Calibri" pitchFamily="34" charset="-120"/>
              </a:rPr>
              <a:t>Paso 4 · nav</a:t>
            </a:r>
            <a:endParaRPr lang="en-US" sz="1200" dirty="0"/>
          </a:p>
        </p:txBody>
      </p:sp>
      <p:sp>
        <p:nvSpPr>
          <p:cNvPr id="19" name="Text 16"/>
          <p:cNvSpPr txBox="1"/>
          <p:nvPr/>
        </p:nvSpPr>
        <p:spPr>
          <a:xfrm>
            <a:off x="2697480" y="4096512"/>
            <a:ext cx="3794760" cy="557784"/>
          </a:xfrm>
          <a:prstGeom prst="rect">
            <a:avLst/>
          </a:prstGeom>
          <a:noFill/>
          <a:ln/>
        </p:spPr>
        <p:txBody>
          <a:bodyPr wrap="square" lIns="0" tIns="0" rIns="0" bIns="0" rtlCol="0" anchor="ctr"/>
          <a:lstStyle/>
          <a:p>
            <a:pPr indent="0" marL="0">
              <a:buNone/>
            </a:pPr>
            <a:r>
              <a:rPr lang="en-US" sz="1050" dirty="0">
                <a:solidFill>
                  <a:srgbClr val="B5462F"/>
                </a:solidFill>
                <a:latin typeface="Calibri" pitchFamily="34" charset="0"/>
                <a:ea typeface="Calibri" pitchFamily="34" charset="-122"/>
                <a:cs typeface="Calibri" pitchFamily="34" charset="-120"/>
              </a:rPr>
              <a:t>Textos de ancho fijo: nav mide 1369 px y tapa la barra. Tiene relleno blanco y espaciado 10.</a:t>
            </a:r>
            <a:endParaRPr lang="en-US" sz="1050" dirty="0"/>
          </a:p>
        </p:txBody>
      </p:sp>
      <p:sp>
        <p:nvSpPr>
          <p:cNvPr id="20" name="Text 17"/>
          <p:cNvSpPr txBox="1"/>
          <p:nvPr/>
        </p:nvSpPr>
        <p:spPr>
          <a:xfrm>
            <a:off x="6675120" y="4096512"/>
            <a:ext cx="470916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Textos: Ajuste automático de ancho. nav: sin relleno, Espaciado 0 y Espacio 32.</a:t>
            </a:r>
            <a:endParaRPr lang="en-US" sz="1050" dirty="0"/>
          </a:p>
        </p:txBody>
      </p:sp>
      <p:sp>
        <p:nvSpPr>
          <p:cNvPr id="21" name="Shape 18"/>
          <p:cNvSpPr/>
          <p:nvPr/>
        </p:nvSpPr>
        <p:spPr>
          <a:xfrm>
            <a:off x="640080" y="4727448"/>
            <a:ext cx="10927080" cy="557784"/>
          </a:xfrm>
          <a:prstGeom prst="roundRect">
            <a:avLst>
              <a:gd name="adj" fmla="val 16393"/>
            </a:avLst>
          </a:prstGeom>
          <a:solidFill>
            <a:srgbClr val="FFFFFF"/>
          </a:solidFill>
          <a:ln w="12700">
            <a:solidFill>
              <a:srgbClr val="D9F2CC"/>
            </a:solidFill>
            <a:prstDash val="solid"/>
          </a:ln>
        </p:spPr>
      </p:sp>
      <p:sp>
        <p:nvSpPr>
          <p:cNvPr id="22" name="Text 19"/>
          <p:cNvSpPr txBox="1"/>
          <p:nvPr/>
        </p:nvSpPr>
        <p:spPr>
          <a:xfrm>
            <a:off x="914400" y="4727448"/>
            <a:ext cx="1828800" cy="557784"/>
          </a:xfrm>
          <a:prstGeom prst="rect">
            <a:avLst/>
          </a:prstGeom>
          <a:noFill/>
          <a:ln/>
        </p:spPr>
        <p:txBody>
          <a:bodyPr wrap="square" lIns="0" tIns="0" rIns="0" bIns="0" rtlCol="0" anchor="ctr"/>
          <a:lstStyle/>
          <a:p>
            <a:pPr indent="0" marL="0">
              <a:buNone/>
            </a:pPr>
            <a:r>
              <a:rPr lang="en-US" sz="1200" b="1" dirty="0">
                <a:solidFill>
                  <a:srgbClr val="1E9AA3"/>
                </a:solidFill>
                <a:latin typeface="Calibri" pitchFamily="34" charset="0"/>
                <a:ea typeface="Calibri" pitchFamily="34" charset="-122"/>
                <a:cs typeface="Calibri" pitchFamily="34" charset="-120"/>
              </a:rPr>
              <a:t>Paso 5 · btn-header</a:t>
            </a:r>
            <a:endParaRPr lang="en-US" sz="1200" dirty="0"/>
          </a:p>
        </p:txBody>
      </p:sp>
      <p:sp>
        <p:nvSpPr>
          <p:cNvPr id="23" name="Text 20"/>
          <p:cNvSpPr txBox="1"/>
          <p:nvPr/>
        </p:nvSpPr>
        <p:spPr>
          <a:xfrm>
            <a:off x="2697480" y="4727448"/>
            <a:ext cx="3794760" cy="557784"/>
          </a:xfrm>
          <a:prstGeom prst="rect">
            <a:avLst/>
          </a:prstGeom>
          <a:noFill/>
          <a:ln/>
        </p:spPr>
        <p:txBody>
          <a:bodyPr wrap="square" lIns="0" tIns="0" rIns="0" bIns="0" rtlCol="0" anchor="ctr"/>
          <a:lstStyle/>
          <a:p>
            <a:pPr indent="0" marL="0">
              <a:buNone/>
            </a:pPr>
            <a:r>
              <a:rPr lang="en-US" sz="1050" dirty="0">
                <a:solidFill>
                  <a:srgbClr val="B5462F"/>
                </a:solidFill>
                <a:latin typeface="Calibri" pitchFamily="34" charset="0"/>
                <a:ea typeface="Calibri" pitchFamily="34" charset="-122"/>
                <a:cs typeface="Calibri" pitchFamily="34" charset="-120"/>
              </a:rPr>
              <a:t>El botón todavía no existe y el menú no se centra.</a:t>
            </a:r>
            <a:endParaRPr lang="en-US" sz="1050" dirty="0"/>
          </a:p>
        </p:txBody>
      </p:sp>
      <p:sp>
        <p:nvSpPr>
          <p:cNvPr id="24" name="Text 21"/>
          <p:cNvSpPr txBox="1"/>
          <p:nvPr/>
        </p:nvSpPr>
        <p:spPr>
          <a:xfrm>
            <a:off x="6675120" y="4727448"/>
            <a:ext cx="470916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Marco con Shift + A: Espaciado 14 y 24, Radio 8, Trazo #374151. Texto: Contacto.</a:t>
            </a:r>
            <a:endParaRPr lang="en-US" sz="1050" dirty="0"/>
          </a:p>
        </p:txBody>
      </p:sp>
      <p:sp>
        <p:nvSpPr>
          <p:cNvPr id="25" name="Shape 22"/>
          <p:cNvSpPr/>
          <p:nvPr/>
        </p:nvSpPr>
        <p:spPr>
          <a:xfrm>
            <a:off x="640080" y="5358384"/>
            <a:ext cx="10927080" cy="557784"/>
          </a:xfrm>
          <a:prstGeom prst="roundRect">
            <a:avLst>
              <a:gd name="adj" fmla="val 16393"/>
            </a:avLst>
          </a:prstGeom>
          <a:solidFill>
            <a:srgbClr val="F7FDF4"/>
          </a:solidFill>
          <a:ln w="12700">
            <a:solidFill>
              <a:srgbClr val="D9F2CC"/>
            </a:solidFill>
            <a:prstDash val="solid"/>
          </a:ln>
        </p:spPr>
      </p:sp>
      <p:sp>
        <p:nvSpPr>
          <p:cNvPr id="26" name="Text 23"/>
          <p:cNvSpPr txBox="1"/>
          <p:nvPr/>
        </p:nvSpPr>
        <p:spPr>
          <a:xfrm>
            <a:off x="914400" y="5358384"/>
            <a:ext cx="1828800" cy="557784"/>
          </a:xfrm>
          <a:prstGeom prst="rect">
            <a:avLst/>
          </a:prstGeom>
          <a:noFill/>
          <a:ln/>
        </p:spPr>
        <p:txBody>
          <a:bodyPr wrap="square" lIns="0" tIns="0" rIns="0" bIns="0" rtlCol="0" anchor="ctr"/>
          <a:lstStyle/>
          <a:p>
            <a:pPr indent="0" marL="0">
              <a:buNone/>
            </a:pPr>
            <a:r>
              <a:rPr lang="en-US" sz="1200" b="1" dirty="0">
                <a:solidFill>
                  <a:srgbClr val="1E9AA3"/>
                </a:solidFill>
                <a:latin typeface="Calibri" pitchFamily="34" charset="0"/>
                <a:ea typeface="Calibri" pitchFamily="34" charset="-122"/>
                <a:cs typeface="Calibri" pitchFamily="34" charset="-120"/>
              </a:rPr>
              <a:t>Paso 6 · hero-section</a:t>
            </a:r>
            <a:endParaRPr lang="en-US" sz="1200" dirty="0"/>
          </a:p>
        </p:txBody>
      </p:sp>
      <p:sp>
        <p:nvSpPr>
          <p:cNvPr id="27" name="Text 24"/>
          <p:cNvSpPr txBox="1"/>
          <p:nvPr/>
        </p:nvSpPr>
        <p:spPr>
          <a:xfrm>
            <a:off x="2697480" y="5358384"/>
            <a:ext cx="3794760" cy="557784"/>
          </a:xfrm>
          <a:prstGeom prst="rect">
            <a:avLst/>
          </a:prstGeom>
          <a:noFill/>
          <a:ln/>
        </p:spPr>
        <p:txBody>
          <a:bodyPr wrap="square" lIns="0" tIns="0" rIns="0" bIns="0" rtlCol="0" anchor="ctr"/>
          <a:lstStyle/>
          <a:p>
            <a:pPr indent="0" marL="0">
              <a:buNone/>
            </a:pPr>
            <a:r>
              <a:rPr lang="en-US" sz="1050" dirty="0">
                <a:solidFill>
                  <a:srgbClr val="B5462F"/>
                </a:solidFill>
                <a:latin typeface="Calibri" pitchFamily="34" charset="0"/>
                <a:ea typeface="Calibri" pitchFamily="34" charset="-122"/>
                <a:cs typeface="Calibri" pitchFamily="34" charset="-120"/>
              </a:rPr>
              <a:t>Está flotando fuera del marco principal.</a:t>
            </a:r>
            <a:endParaRPr lang="en-US" sz="1050" dirty="0"/>
          </a:p>
        </p:txBody>
      </p:sp>
      <p:sp>
        <p:nvSpPr>
          <p:cNvPr id="28" name="Text 25"/>
          <p:cNvSpPr txBox="1"/>
          <p:nvPr/>
        </p:nvSpPr>
        <p:spPr>
          <a:xfrm>
            <a:off x="6675120" y="5358384"/>
            <a:ext cx="4709160" cy="557784"/>
          </a:xfrm>
          <a:prstGeom prst="rect">
            <a:avLst/>
          </a:prstGeom>
          <a:noFill/>
          <a:ln/>
        </p:spPr>
        <p:txBody>
          <a:bodyPr wrap="square" lIns="0" tIns="0" rIns="0" bIns="0" rtlCol="0" anchor="ctr"/>
          <a:lstStyle/>
          <a:p>
            <a:pPr indent="0" marL="0">
              <a:buNone/>
            </a:pPr>
            <a:r>
              <a:rPr lang="en-US" sz="1050" dirty="0">
                <a:solidFill>
                  <a:srgbClr val="424242"/>
                </a:solidFill>
                <a:latin typeface="Calibri" pitchFamily="34" charset="0"/>
                <a:ea typeface="Calibri" pitchFamily="34" charset="-122"/>
                <a:cs typeface="Calibri" pitchFamily="34" charset="-120"/>
              </a:rPr>
              <a:t>Arrástralo dentro, debajo de Header. W: Llenar el contenedor.</a:t>
            </a:r>
            <a:endParaRPr lang="en-US" sz="1050" dirty="0"/>
          </a:p>
        </p:txBody>
      </p:sp>
      <p:sp>
        <p:nvSpPr>
          <p:cNvPr id="29" name="Text 26"/>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39 / 48</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4FB817"/>
                </a:solidFill>
                <a:latin typeface="Calibri" pitchFamily="34" charset="0"/>
                <a:ea typeface="Calibri" pitchFamily="34" charset="-122"/>
                <a:cs typeface="Calibri" pitchFamily="34" charset="-120"/>
              </a:rPr>
              <a:t>06 · FIGMA</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Deja tu diseño listo para la sesión 08</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El CSS de la próxima clase sale de estas medidas. Los pasos están en el manual de Figma.</a:t>
            </a:r>
            <a:endParaRPr lang="en-US" sz="1250" dirty="0"/>
          </a:p>
        </p:txBody>
      </p:sp>
      <p:sp>
        <p:nvSpPr>
          <p:cNvPr id="5" name="Shape 3"/>
          <p:cNvSpPr/>
          <p:nvPr/>
        </p:nvSpPr>
        <p:spPr>
          <a:xfrm>
            <a:off x="640080" y="2615184"/>
            <a:ext cx="3520440" cy="1572768"/>
          </a:xfrm>
          <a:prstGeom prst="roundRect">
            <a:avLst>
              <a:gd name="adj" fmla="val 5814"/>
            </a:avLst>
          </a:prstGeom>
          <a:solidFill>
            <a:srgbClr val="F7FDF4"/>
          </a:solidFill>
          <a:ln w="12700">
            <a:solidFill>
              <a:srgbClr val="D9F2CC"/>
            </a:solidFill>
            <a:prstDash val="solid"/>
          </a:ln>
        </p:spPr>
      </p:sp>
      <p:sp>
        <p:nvSpPr>
          <p:cNvPr id="6" name="Shape 4"/>
          <p:cNvSpPr/>
          <p:nvPr/>
        </p:nvSpPr>
        <p:spPr>
          <a:xfrm>
            <a:off x="886968" y="2843784"/>
            <a:ext cx="402336" cy="402336"/>
          </a:xfrm>
          <a:prstGeom prst="ellipse">
            <a:avLst/>
          </a:prstGeom>
          <a:solidFill>
            <a:srgbClr val="36C4CC"/>
          </a:solidFill>
          <a:ln w="12700">
            <a:solidFill>
              <a:srgbClr val="36C4CC"/>
            </a:solidFill>
            <a:prstDash val="solid"/>
          </a:ln>
        </p:spPr>
      </p:sp>
      <p:sp>
        <p:nvSpPr>
          <p:cNvPr id="7" name="Text 5"/>
          <p:cNvSpPr txBox="1"/>
          <p:nvPr/>
        </p:nvSpPr>
        <p:spPr>
          <a:xfrm>
            <a:off x="88696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444752" y="2843784"/>
            <a:ext cx="2514600" cy="402336"/>
          </a:xfrm>
          <a:prstGeom prst="rect">
            <a:avLst/>
          </a:prstGeom>
          <a:noFill/>
          <a:ln/>
        </p:spPr>
        <p:txBody>
          <a:bodyPr wrap="square" lIns="0" tIns="0" rIns="0" bIns="0" rtlCol="0" anchor="ctr"/>
          <a:lstStyle/>
          <a:p>
            <a:pPr indent="0" marL="0">
              <a:buNone/>
            </a:pPr>
            <a:r>
              <a:rPr lang="en-US" sz="1300" b="1" dirty="0">
                <a:solidFill>
                  <a:srgbClr val="36C4CC"/>
                </a:solidFill>
                <a:latin typeface="Calibri" pitchFamily="34" charset="0"/>
                <a:ea typeface="Calibri" pitchFamily="34" charset="-122"/>
                <a:cs typeface="Calibri" pitchFamily="34" charset="-120"/>
              </a:rPr>
              <a:t>Paso 7 · hero-left</a:t>
            </a:r>
            <a:endParaRPr lang="en-US" sz="1300" dirty="0"/>
          </a:p>
        </p:txBody>
      </p:sp>
      <p:sp>
        <p:nvSpPr>
          <p:cNvPr id="9" name="Text 7"/>
          <p:cNvSpPr txBox="1"/>
          <p:nvPr/>
        </p:nvSpPr>
        <p:spPr>
          <a:xfrm>
            <a:off x="914400" y="338328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Columna de ancho fijo 696 y Espacio 32. Título Outfit ExtraBold 64; párrafo Geist 18.</a:t>
            </a:r>
            <a:endParaRPr lang="en-US" sz="1150" dirty="0"/>
          </a:p>
        </p:txBody>
      </p:sp>
      <p:sp>
        <p:nvSpPr>
          <p:cNvPr id="10" name="Shape 8"/>
          <p:cNvSpPr/>
          <p:nvPr/>
        </p:nvSpPr>
        <p:spPr>
          <a:xfrm>
            <a:off x="4343400" y="2615184"/>
            <a:ext cx="3520440" cy="1572768"/>
          </a:xfrm>
          <a:prstGeom prst="roundRect">
            <a:avLst>
              <a:gd name="adj" fmla="val 5814"/>
            </a:avLst>
          </a:prstGeom>
          <a:solidFill>
            <a:srgbClr val="F7FDF4"/>
          </a:solidFill>
          <a:ln w="12700">
            <a:solidFill>
              <a:srgbClr val="D9F2CC"/>
            </a:solidFill>
            <a:prstDash val="solid"/>
          </a:ln>
        </p:spPr>
      </p:sp>
      <p:sp>
        <p:nvSpPr>
          <p:cNvPr id="11" name="Shape 9"/>
          <p:cNvSpPr/>
          <p:nvPr/>
        </p:nvSpPr>
        <p:spPr>
          <a:xfrm>
            <a:off x="4590288" y="2843784"/>
            <a:ext cx="402336" cy="402336"/>
          </a:xfrm>
          <a:prstGeom prst="ellipse">
            <a:avLst/>
          </a:prstGeom>
          <a:solidFill>
            <a:srgbClr val="72EF29"/>
          </a:solidFill>
          <a:ln w="12700">
            <a:solidFill>
              <a:srgbClr val="72EF29"/>
            </a:solidFill>
            <a:prstDash val="solid"/>
          </a:ln>
        </p:spPr>
      </p:sp>
      <p:sp>
        <p:nvSpPr>
          <p:cNvPr id="12" name="Text 10"/>
          <p:cNvSpPr txBox="1"/>
          <p:nvPr/>
        </p:nvSpPr>
        <p:spPr>
          <a:xfrm>
            <a:off x="4590288" y="2843784"/>
            <a:ext cx="402336" cy="402336"/>
          </a:xfrm>
          <a:prstGeom prst="rect">
            <a:avLst/>
          </a:prstGeom>
          <a:noFill/>
          <a:ln/>
        </p:spPr>
        <p:txBody>
          <a:bodyPr wrap="square" lIns="0" tIns="0" rIns="0" bIns="0" rtlCol="0" anchor="ctr"/>
          <a:lstStyle/>
          <a:p>
            <a:pPr algn="ctr" indent="0" marL="0">
              <a:buNone/>
            </a:pPr>
            <a:r>
              <a:rPr lang="en-US" sz="1200" b="1" dirty="0">
                <a:solidFill>
                  <a:srgbClr val="2A2A2A"/>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5148072" y="2843784"/>
            <a:ext cx="2514600" cy="402336"/>
          </a:xfrm>
          <a:prstGeom prst="rect">
            <a:avLst/>
          </a:prstGeom>
          <a:noFill/>
          <a:ln/>
        </p:spPr>
        <p:txBody>
          <a:bodyPr wrap="square" lIns="0" tIns="0" rIns="0" bIns="0" rtlCol="0" anchor="ctr"/>
          <a:lstStyle/>
          <a:p>
            <a:pPr indent="0" marL="0">
              <a:buNone/>
            </a:pPr>
            <a:r>
              <a:rPr lang="en-US" sz="1300" b="1" dirty="0">
                <a:solidFill>
                  <a:srgbClr val="4FB817"/>
                </a:solidFill>
                <a:latin typeface="Calibri" pitchFamily="34" charset="0"/>
                <a:ea typeface="Calibri" pitchFamily="34" charset="-122"/>
                <a:cs typeface="Calibri" pitchFamily="34" charset="-120"/>
              </a:rPr>
              <a:t>Paso 8 · Botones</a:t>
            </a:r>
            <a:endParaRPr lang="en-US" sz="1300" dirty="0"/>
          </a:p>
        </p:txBody>
      </p:sp>
      <p:sp>
        <p:nvSpPr>
          <p:cNvPr id="14" name="Text 12"/>
          <p:cNvSpPr txBox="1"/>
          <p:nvPr/>
        </p:nvSpPr>
        <p:spPr>
          <a:xfrm>
            <a:off x="4617720" y="338328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hero-actions con Espacio 16. Botón azul #06B6C4 y botón con Trazo #374151.</a:t>
            </a:r>
            <a:endParaRPr lang="en-US" sz="1150" dirty="0"/>
          </a:p>
        </p:txBody>
      </p:sp>
      <p:sp>
        <p:nvSpPr>
          <p:cNvPr id="15" name="Shape 13"/>
          <p:cNvSpPr/>
          <p:nvPr/>
        </p:nvSpPr>
        <p:spPr>
          <a:xfrm>
            <a:off x="8046720" y="2615184"/>
            <a:ext cx="3520440" cy="1572768"/>
          </a:xfrm>
          <a:prstGeom prst="roundRect">
            <a:avLst>
              <a:gd name="adj" fmla="val 5814"/>
            </a:avLst>
          </a:prstGeom>
          <a:solidFill>
            <a:srgbClr val="F7FDF4"/>
          </a:solidFill>
          <a:ln w="12700">
            <a:solidFill>
              <a:srgbClr val="D9F2CC"/>
            </a:solidFill>
            <a:prstDash val="solid"/>
          </a:ln>
        </p:spPr>
      </p:sp>
      <p:sp>
        <p:nvSpPr>
          <p:cNvPr id="16" name="Shape 14"/>
          <p:cNvSpPr/>
          <p:nvPr/>
        </p:nvSpPr>
        <p:spPr>
          <a:xfrm>
            <a:off x="8293608" y="2843784"/>
            <a:ext cx="402336" cy="402336"/>
          </a:xfrm>
          <a:prstGeom prst="ellipse">
            <a:avLst/>
          </a:prstGeom>
          <a:solidFill>
            <a:srgbClr val="4FB817"/>
          </a:solidFill>
          <a:ln w="12700">
            <a:solidFill>
              <a:srgbClr val="4FB817"/>
            </a:solidFill>
            <a:prstDash val="solid"/>
          </a:ln>
        </p:spPr>
      </p:sp>
      <p:sp>
        <p:nvSpPr>
          <p:cNvPr id="17" name="Text 15"/>
          <p:cNvSpPr txBox="1"/>
          <p:nvPr/>
        </p:nvSpPr>
        <p:spPr>
          <a:xfrm>
            <a:off x="8293608" y="28437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8851392" y="2843784"/>
            <a:ext cx="2514600" cy="402336"/>
          </a:xfrm>
          <a:prstGeom prst="rect">
            <a:avLst/>
          </a:prstGeom>
          <a:noFill/>
          <a:ln/>
        </p:spPr>
        <p:txBody>
          <a:bodyPr wrap="square" lIns="0" tIns="0" rIns="0" bIns="0" rtlCol="0" anchor="ctr"/>
          <a:lstStyle/>
          <a:p>
            <a:pPr indent="0" marL="0">
              <a:buNone/>
            </a:pPr>
            <a:r>
              <a:rPr lang="en-US" sz="1300" b="1" dirty="0">
                <a:solidFill>
                  <a:srgbClr val="4FB817"/>
                </a:solidFill>
                <a:latin typeface="Calibri" pitchFamily="34" charset="0"/>
                <a:ea typeface="Calibri" pitchFamily="34" charset="-122"/>
                <a:cs typeface="Calibri" pitchFamily="34" charset="-120"/>
              </a:rPr>
              <a:t>Paso 9 · hero-right</a:t>
            </a:r>
            <a:endParaRPr lang="en-US" sz="1300" dirty="0"/>
          </a:p>
        </p:txBody>
      </p:sp>
      <p:sp>
        <p:nvSpPr>
          <p:cNvPr id="19" name="Text 17"/>
          <p:cNvSpPr txBox="1"/>
          <p:nvPr/>
        </p:nvSpPr>
        <p:spPr>
          <a:xfrm>
            <a:off x="8321040" y="338328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Tarjeta de 520 × 404, Radio 12, Trazo #E5E7EB y Recortar contenido.</a:t>
            </a:r>
            <a:endParaRPr lang="en-US" sz="1150" dirty="0"/>
          </a:p>
        </p:txBody>
      </p:sp>
      <p:sp>
        <p:nvSpPr>
          <p:cNvPr id="20" name="Shape 18"/>
          <p:cNvSpPr/>
          <p:nvPr/>
        </p:nvSpPr>
        <p:spPr>
          <a:xfrm>
            <a:off x="640080" y="4352544"/>
            <a:ext cx="3520440" cy="1572768"/>
          </a:xfrm>
          <a:prstGeom prst="roundRect">
            <a:avLst>
              <a:gd name="adj" fmla="val 5814"/>
            </a:avLst>
          </a:prstGeom>
          <a:solidFill>
            <a:srgbClr val="F7FDF4"/>
          </a:solidFill>
          <a:ln w="12700">
            <a:solidFill>
              <a:srgbClr val="D9F2CC"/>
            </a:solidFill>
            <a:prstDash val="solid"/>
          </a:ln>
        </p:spPr>
      </p:sp>
      <p:sp>
        <p:nvSpPr>
          <p:cNvPr id="21" name="Shape 19"/>
          <p:cNvSpPr/>
          <p:nvPr/>
        </p:nvSpPr>
        <p:spPr>
          <a:xfrm>
            <a:off x="886968" y="4581144"/>
            <a:ext cx="402336" cy="402336"/>
          </a:xfrm>
          <a:prstGeom prst="ellipse">
            <a:avLst/>
          </a:prstGeom>
          <a:solidFill>
            <a:srgbClr val="5AD3DA"/>
          </a:solidFill>
          <a:ln w="12700">
            <a:solidFill>
              <a:srgbClr val="5AD3DA"/>
            </a:solidFill>
            <a:prstDash val="solid"/>
          </a:ln>
        </p:spPr>
      </p:sp>
      <p:sp>
        <p:nvSpPr>
          <p:cNvPr id="22" name="Text 20"/>
          <p:cNvSpPr txBox="1"/>
          <p:nvPr/>
        </p:nvSpPr>
        <p:spPr>
          <a:xfrm>
            <a:off x="88696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444752" y="4581144"/>
            <a:ext cx="2514600" cy="402336"/>
          </a:xfrm>
          <a:prstGeom prst="rect">
            <a:avLst/>
          </a:prstGeom>
          <a:noFill/>
          <a:ln/>
        </p:spPr>
        <p:txBody>
          <a:bodyPr wrap="square" lIns="0" tIns="0" rIns="0" bIns="0" rtlCol="0" anchor="ctr"/>
          <a:lstStyle/>
          <a:p>
            <a:pPr indent="0" marL="0">
              <a:buNone/>
            </a:pPr>
            <a:r>
              <a:rPr lang="en-US" sz="1300" b="1" dirty="0">
                <a:solidFill>
                  <a:srgbClr val="5AD3DA"/>
                </a:solidFill>
                <a:latin typeface="Calibri" pitchFamily="34" charset="0"/>
                <a:ea typeface="Calibri" pitchFamily="34" charset="-122"/>
                <a:cs typeface="Calibri" pitchFamily="34" charset="-120"/>
              </a:rPr>
              <a:t>Paso 13 · Footer</a:t>
            </a:r>
            <a:endParaRPr lang="en-US" sz="1300" dirty="0"/>
          </a:p>
        </p:txBody>
      </p:sp>
      <p:sp>
        <p:nvSpPr>
          <p:cNvPr id="24" name="Text 22"/>
          <p:cNvSpPr txBox="1"/>
          <p:nvPr/>
        </p:nvSpPr>
        <p:spPr>
          <a:xfrm>
            <a:off x="914400" y="512064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footer-wrapper: Altura fija 182, Espaciado 48 y 80, Trazo solo superior.</a:t>
            </a:r>
            <a:endParaRPr lang="en-US" sz="1150" dirty="0"/>
          </a:p>
        </p:txBody>
      </p:sp>
      <p:sp>
        <p:nvSpPr>
          <p:cNvPr id="25" name="Shape 23"/>
          <p:cNvSpPr/>
          <p:nvPr/>
        </p:nvSpPr>
        <p:spPr>
          <a:xfrm>
            <a:off x="4343400" y="4352544"/>
            <a:ext cx="3520440" cy="1572768"/>
          </a:xfrm>
          <a:prstGeom prst="roundRect">
            <a:avLst>
              <a:gd name="adj" fmla="val 5814"/>
            </a:avLst>
          </a:prstGeom>
          <a:solidFill>
            <a:srgbClr val="F7FDF4"/>
          </a:solidFill>
          <a:ln w="12700">
            <a:solidFill>
              <a:srgbClr val="D9F2CC"/>
            </a:solidFill>
            <a:prstDash val="solid"/>
          </a:ln>
        </p:spPr>
      </p:sp>
      <p:sp>
        <p:nvSpPr>
          <p:cNvPr id="26" name="Shape 24"/>
          <p:cNvSpPr/>
          <p:nvPr/>
        </p:nvSpPr>
        <p:spPr>
          <a:xfrm>
            <a:off x="4590288" y="4581144"/>
            <a:ext cx="402336" cy="402336"/>
          </a:xfrm>
          <a:prstGeom prst="ellipse">
            <a:avLst/>
          </a:prstGeom>
          <a:solidFill>
            <a:srgbClr val="63ED12"/>
          </a:solidFill>
          <a:ln w="12700">
            <a:solidFill>
              <a:srgbClr val="63ED12"/>
            </a:solidFill>
            <a:prstDash val="solid"/>
          </a:ln>
        </p:spPr>
      </p:sp>
      <p:sp>
        <p:nvSpPr>
          <p:cNvPr id="27" name="Text 25"/>
          <p:cNvSpPr txBox="1"/>
          <p:nvPr/>
        </p:nvSpPr>
        <p:spPr>
          <a:xfrm>
            <a:off x="4590288" y="4581144"/>
            <a:ext cx="402336" cy="402336"/>
          </a:xfrm>
          <a:prstGeom prst="rect">
            <a:avLst/>
          </a:prstGeom>
          <a:noFill/>
          <a:ln/>
        </p:spPr>
        <p:txBody>
          <a:bodyPr wrap="square" lIns="0" tIns="0" rIns="0" bIns="0" rtlCol="0" anchor="ctr"/>
          <a:lstStyle/>
          <a:p>
            <a:pPr algn="ctr" indent="0" marL="0">
              <a:buNone/>
            </a:pPr>
            <a:r>
              <a:rPr lang="en-US" sz="1200" b="1" dirty="0">
                <a:solidFill>
                  <a:srgbClr val="2A2A2A"/>
                </a:solidFill>
                <a:latin typeface="Calibri" pitchFamily="34" charset="0"/>
                <a:ea typeface="Calibri" pitchFamily="34" charset="-122"/>
                <a:cs typeface="Calibri" pitchFamily="34" charset="-120"/>
              </a:rPr>
              <a:t>5</a:t>
            </a:r>
            <a:endParaRPr lang="en-US" sz="1200" dirty="0"/>
          </a:p>
        </p:txBody>
      </p:sp>
      <p:sp>
        <p:nvSpPr>
          <p:cNvPr id="28" name="Text 26"/>
          <p:cNvSpPr txBox="1"/>
          <p:nvPr/>
        </p:nvSpPr>
        <p:spPr>
          <a:xfrm>
            <a:off x="5148072" y="4581144"/>
            <a:ext cx="2514600" cy="402336"/>
          </a:xfrm>
          <a:prstGeom prst="rect">
            <a:avLst/>
          </a:prstGeom>
          <a:noFill/>
          <a:ln/>
        </p:spPr>
        <p:txBody>
          <a:bodyPr wrap="square" lIns="0" tIns="0" rIns="0" bIns="0" rtlCol="0" anchor="ctr"/>
          <a:lstStyle/>
          <a:p>
            <a:pPr indent="0" marL="0">
              <a:buNone/>
            </a:pPr>
            <a:r>
              <a:rPr lang="en-US" sz="1300" b="1" dirty="0">
                <a:solidFill>
                  <a:srgbClr val="4FB817"/>
                </a:solidFill>
                <a:latin typeface="Calibri" pitchFamily="34" charset="0"/>
                <a:ea typeface="Calibri" pitchFamily="34" charset="-122"/>
                <a:cs typeface="Calibri" pitchFamily="34" charset="-120"/>
              </a:rPr>
              <a:t>Ampliación · Formulario</a:t>
            </a:r>
            <a:endParaRPr lang="en-US" sz="1300" dirty="0"/>
          </a:p>
        </p:txBody>
      </p:sp>
      <p:sp>
        <p:nvSpPr>
          <p:cNvPr id="29" name="Text 27"/>
          <p:cNvSpPr txBox="1"/>
          <p:nvPr/>
        </p:nvSpPr>
        <p:spPr>
          <a:xfrm>
            <a:off x="4617720" y="512064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En contact-section: campos con Espaciado 12 y 16, Radio 8 y Trazo #E5E7EB. Botón azul.</a:t>
            </a:r>
            <a:endParaRPr lang="en-US" sz="1150" dirty="0"/>
          </a:p>
        </p:txBody>
      </p:sp>
      <p:sp>
        <p:nvSpPr>
          <p:cNvPr id="30" name="Shape 28"/>
          <p:cNvSpPr/>
          <p:nvPr/>
        </p:nvSpPr>
        <p:spPr>
          <a:xfrm>
            <a:off x="8046720" y="4352544"/>
            <a:ext cx="3520440" cy="1572768"/>
          </a:xfrm>
          <a:prstGeom prst="roundRect">
            <a:avLst>
              <a:gd name="adj" fmla="val 5814"/>
            </a:avLst>
          </a:prstGeom>
          <a:solidFill>
            <a:srgbClr val="F7FDF4"/>
          </a:solidFill>
          <a:ln w="12700">
            <a:solidFill>
              <a:srgbClr val="D9F2CC"/>
            </a:solidFill>
            <a:prstDash val="solid"/>
          </a:ln>
        </p:spPr>
      </p:sp>
      <p:sp>
        <p:nvSpPr>
          <p:cNvPr id="31" name="Shape 29"/>
          <p:cNvSpPr/>
          <p:nvPr/>
        </p:nvSpPr>
        <p:spPr>
          <a:xfrm>
            <a:off x="8293608" y="4581144"/>
            <a:ext cx="402336" cy="402336"/>
          </a:xfrm>
          <a:prstGeom prst="ellipse">
            <a:avLst/>
          </a:prstGeom>
          <a:solidFill>
            <a:srgbClr val="7E5A94"/>
          </a:solidFill>
          <a:ln w="12700">
            <a:solidFill>
              <a:srgbClr val="7E5A94"/>
            </a:solidFill>
            <a:prstDash val="solid"/>
          </a:ln>
        </p:spPr>
      </p:sp>
      <p:sp>
        <p:nvSpPr>
          <p:cNvPr id="32" name="Text 30"/>
          <p:cNvSpPr txBox="1"/>
          <p:nvPr/>
        </p:nvSpPr>
        <p:spPr>
          <a:xfrm>
            <a:off x="8293608" y="458114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3" name="Text 31"/>
          <p:cNvSpPr txBox="1"/>
          <p:nvPr/>
        </p:nvSpPr>
        <p:spPr>
          <a:xfrm>
            <a:off x="8851392" y="4581144"/>
            <a:ext cx="2514600" cy="402336"/>
          </a:xfrm>
          <a:prstGeom prst="rect">
            <a:avLst/>
          </a:prstGeom>
          <a:noFill/>
          <a:ln/>
        </p:spPr>
        <p:txBody>
          <a:bodyPr wrap="square" lIns="0" tIns="0" rIns="0" bIns="0" rtlCol="0" anchor="ctr"/>
          <a:lstStyle/>
          <a:p>
            <a:pPr indent="0" marL="0">
              <a:buNone/>
            </a:pPr>
            <a:r>
              <a:rPr lang="en-US" sz="1300" b="1" dirty="0">
                <a:solidFill>
                  <a:srgbClr val="7E5A94"/>
                </a:solidFill>
                <a:latin typeface="Calibri" pitchFamily="34" charset="0"/>
                <a:ea typeface="Calibri" pitchFamily="34" charset="-122"/>
                <a:cs typeface="Calibri" pitchFamily="34" charset="-120"/>
              </a:rPr>
              <a:t>Ampliación · Video</a:t>
            </a:r>
            <a:endParaRPr lang="en-US" sz="1300" dirty="0"/>
          </a:p>
        </p:txBody>
      </p:sp>
      <p:sp>
        <p:nvSpPr>
          <p:cNvPr id="34" name="Text 32"/>
          <p:cNvSpPr txBox="1"/>
          <p:nvPr/>
        </p:nvSpPr>
        <p:spPr>
          <a:xfrm>
            <a:off x="8321040" y="5120640"/>
            <a:ext cx="2971800" cy="676656"/>
          </a:xfrm>
          <a:prstGeom prst="rect">
            <a:avLst/>
          </a:prstGeom>
          <a:noFill/>
          <a:ln/>
        </p:spPr>
        <p:txBody>
          <a:bodyPr wrap="square" lIns="0" tIns="0" rIns="0" bIns="0" rtlCol="0" anchor="t"/>
          <a:lstStyle/>
          <a:p>
            <a:pPr indent="0" marL="0">
              <a:lnSpc>
                <a:spcPct val="120000"/>
              </a:lnSpc>
              <a:buNone/>
            </a:pPr>
            <a:r>
              <a:rPr lang="en-US" sz="1150" dirty="0">
                <a:solidFill>
                  <a:srgbClr val="424242"/>
                </a:solidFill>
                <a:latin typeface="Calibri" pitchFamily="34" charset="0"/>
                <a:ea typeface="Calibri" pitchFamily="34" charset="-122"/>
                <a:cs typeface="Calibri" pitchFamily="34" charset="-120"/>
              </a:rPr>
              <a:t>En about-section: marco de 315 × 560, Radio 12, con la imagen de poster.</a:t>
            </a:r>
            <a:endParaRPr lang="en-US" sz="1150" dirty="0"/>
          </a:p>
        </p:txBody>
      </p:sp>
      <p:sp>
        <p:nvSpPr>
          <p:cNvPr id="35" name="Text 33"/>
          <p:cNvSpPr txBox="1"/>
          <p:nvPr/>
        </p:nvSpPr>
        <p:spPr>
          <a:xfrm>
            <a:off x="640080" y="6053328"/>
            <a:ext cx="10927080" cy="256032"/>
          </a:xfrm>
          <a:prstGeom prst="rect">
            <a:avLst/>
          </a:prstGeom>
          <a:noFill/>
          <a:ln/>
        </p:spPr>
        <p:txBody>
          <a:bodyPr wrap="square" lIns="0" tIns="0" rIns="0" bIns="0" rtlCol="0" anchor="ctr"/>
          <a:lstStyle/>
          <a:p>
            <a:pPr algn="ctr" indent="0" marL="0">
              <a:buNone/>
            </a:pPr>
            <a:r>
              <a:rPr lang="en-US" sz="1150" i="1" dirty="0">
                <a:solidFill>
                  <a:srgbClr val="4FB817"/>
                </a:solidFill>
                <a:latin typeface="Calibri" pitchFamily="34" charset="0"/>
                <a:ea typeface="Calibri" pitchFamily="34" charset="-122"/>
                <a:cs typeface="Calibri" pitchFamily="34" charset="-120"/>
              </a:rPr>
              <a:t>Las dos ampliaciones no están en el manual: añaden al diseño lo que hoy construiste en HTML.</a:t>
            </a:r>
            <a:endParaRPr lang="en-US" sz="1150" dirty="0"/>
          </a:p>
        </p:txBody>
      </p:sp>
      <p:sp>
        <p:nvSpPr>
          <p:cNvPr id="36" name="Text 34"/>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40 / 48</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Nivelador: nivel de comprensión del estudiante">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41 / 48</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NIVELADOR</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Autoevaluación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Marca mentalmente cada punto. Si dudas en alguno, pregunta ahora.</a:t>
            </a:r>
            <a:endParaRPr lang="en-US" sz="1250" dirty="0"/>
          </a:p>
        </p:txBody>
      </p:sp>
      <p:sp>
        <p:nvSpPr>
          <p:cNvPr id="5" name="Shape 3"/>
          <p:cNvSpPr/>
          <p:nvPr/>
        </p:nvSpPr>
        <p:spPr>
          <a:xfrm>
            <a:off x="640080" y="2615184"/>
            <a:ext cx="10927080" cy="402336"/>
          </a:xfrm>
          <a:prstGeom prst="roundRect">
            <a:avLst>
              <a:gd name="adj" fmla="val 22727"/>
            </a:avLst>
          </a:prstGeom>
          <a:solidFill>
            <a:srgbClr val="F7FDF4"/>
          </a:solidFill>
          <a:ln w="12700">
            <a:solidFill>
              <a:srgbClr val="D9F2CC"/>
            </a:solidFill>
            <a:prstDash val="solid"/>
          </a:ln>
        </p:spPr>
      </p:sp>
      <p:sp>
        <p:nvSpPr>
          <p:cNvPr id="6" name="Shape 4"/>
          <p:cNvSpPr/>
          <p:nvPr/>
        </p:nvSpPr>
        <p:spPr>
          <a:xfrm>
            <a:off x="914400" y="2688336"/>
            <a:ext cx="292608" cy="256032"/>
          </a:xfrm>
          <a:prstGeom prst="roundRect">
            <a:avLst>
              <a:gd name="adj" fmla="val 21429"/>
            </a:avLst>
          </a:prstGeom>
          <a:solidFill>
            <a:srgbClr val="FFFFFF"/>
          </a:solidFill>
          <a:ln w="19050">
            <a:solidFill>
              <a:srgbClr val="36C4CC"/>
            </a:solidFill>
            <a:prstDash val="solid"/>
          </a:ln>
        </p:spPr>
      </p:sp>
      <p:sp>
        <p:nvSpPr>
          <p:cNvPr id="7" name="Text 5"/>
          <p:cNvSpPr txBox="1"/>
          <p:nvPr/>
        </p:nvSpPr>
        <p:spPr>
          <a:xfrm>
            <a:off x="1371600" y="2615184"/>
            <a:ext cx="9921240" cy="402336"/>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Sé unir un label con su campo usando for e id.</a:t>
            </a:r>
            <a:endParaRPr lang="en-US" sz="1200" dirty="0"/>
          </a:p>
        </p:txBody>
      </p:sp>
      <p:sp>
        <p:nvSpPr>
          <p:cNvPr id="8" name="Shape 6"/>
          <p:cNvSpPr/>
          <p:nvPr/>
        </p:nvSpPr>
        <p:spPr>
          <a:xfrm>
            <a:off x="640080" y="3070555"/>
            <a:ext cx="10927080" cy="402336"/>
          </a:xfrm>
          <a:prstGeom prst="roundRect">
            <a:avLst>
              <a:gd name="adj" fmla="val 22727"/>
            </a:avLst>
          </a:prstGeom>
          <a:solidFill>
            <a:srgbClr val="F7FDF4"/>
          </a:solidFill>
          <a:ln w="12700">
            <a:solidFill>
              <a:srgbClr val="D9F2CC"/>
            </a:solidFill>
            <a:prstDash val="solid"/>
          </a:ln>
        </p:spPr>
      </p:sp>
      <p:sp>
        <p:nvSpPr>
          <p:cNvPr id="9" name="Shape 7"/>
          <p:cNvSpPr/>
          <p:nvPr/>
        </p:nvSpPr>
        <p:spPr>
          <a:xfrm>
            <a:off x="914400" y="3143707"/>
            <a:ext cx="292608" cy="256032"/>
          </a:xfrm>
          <a:prstGeom prst="roundRect">
            <a:avLst>
              <a:gd name="adj" fmla="val 21429"/>
            </a:avLst>
          </a:prstGeom>
          <a:solidFill>
            <a:srgbClr val="FFFFFF"/>
          </a:solidFill>
          <a:ln w="19050">
            <a:solidFill>
              <a:srgbClr val="36C4CC"/>
            </a:solidFill>
            <a:prstDash val="solid"/>
          </a:ln>
        </p:spPr>
      </p:sp>
      <p:sp>
        <p:nvSpPr>
          <p:cNvPr id="10" name="Text 8"/>
          <p:cNvSpPr txBox="1"/>
          <p:nvPr/>
        </p:nvSpPr>
        <p:spPr>
          <a:xfrm>
            <a:off x="1371600" y="3070555"/>
            <a:ext cx="9921240" cy="402336"/>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Sé qué validan required, minlength y pattern.</a:t>
            </a:r>
            <a:endParaRPr lang="en-US" sz="1200" dirty="0"/>
          </a:p>
        </p:txBody>
      </p:sp>
      <p:sp>
        <p:nvSpPr>
          <p:cNvPr id="11" name="Shape 9"/>
          <p:cNvSpPr/>
          <p:nvPr/>
        </p:nvSpPr>
        <p:spPr>
          <a:xfrm>
            <a:off x="640080" y="3525926"/>
            <a:ext cx="10927080" cy="402336"/>
          </a:xfrm>
          <a:prstGeom prst="roundRect">
            <a:avLst>
              <a:gd name="adj" fmla="val 22727"/>
            </a:avLst>
          </a:prstGeom>
          <a:solidFill>
            <a:srgbClr val="F7FDF4"/>
          </a:solidFill>
          <a:ln w="12700">
            <a:solidFill>
              <a:srgbClr val="D9F2CC"/>
            </a:solidFill>
            <a:prstDash val="solid"/>
          </a:ln>
        </p:spPr>
      </p:sp>
      <p:sp>
        <p:nvSpPr>
          <p:cNvPr id="12" name="Shape 10"/>
          <p:cNvSpPr/>
          <p:nvPr/>
        </p:nvSpPr>
        <p:spPr>
          <a:xfrm>
            <a:off x="914400" y="3599078"/>
            <a:ext cx="292608" cy="256032"/>
          </a:xfrm>
          <a:prstGeom prst="roundRect">
            <a:avLst>
              <a:gd name="adj" fmla="val 21429"/>
            </a:avLst>
          </a:prstGeom>
          <a:solidFill>
            <a:srgbClr val="FFFFFF"/>
          </a:solidFill>
          <a:ln w="19050">
            <a:solidFill>
              <a:srgbClr val="36C4CC"/>
            </a:solidFill>
            <a:prstDash val="solid"/>
          </a:ln>
        </p:spPr>
      </p:sp>
      <p:sp>
        <p:nvSpPr>
          <p:cNvPr id="13" name="Text 11"/>
          <p:cNvSpPr txBox="1"/>
          <p:nvPr/>
        </p:nvSpPr>
        <p:spPr>
          <a:xfrm>
            <a:off x="1371600" y="3525926"/>
            <a:ext cx="9921240" cy="402336"/>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Sé la diferencia entre un contenedor (.mp4) y un códec (H.264).</a:t>
            </a:r>
            <a:endParaRPr lang="en-US" sz="1200" dirty="0"/>
          </a:p>
        </p:txBody>
      </p:sp>
      <p:sp>
        <p:nvSpPr>
          <p:cNvPr id="14" name="Shape 12"/>
          <p:cNvSpPr/>
          <p:nvPr/>
        </p:nvSpPr>
        <p:spPr>
          <a:xfrm>
            <a:off x="640080" y="3981298"/>
            <a:ext cx="10927080" cy="402336"/>
          </a:xfrm>
          <a:prstGeom prst="roundRect">
            <a:avLst>
              <a:gd name="adj" fmla="val 22727"/>
            </a:avLst>
          </a:prstGeom>
          <a:solidFill>
            <a:srgbClr val="F7FDF4"/>
          </a:solidFill>
          <a:ln w="12700">
            <a:solidFill>
              <a:srgbClr val="D9F2CC"/>
            </a:solidFill>
            <a:prstDash val="solid"/>
          </a:ln>
        </p:spPr>
      </p:sp>
      <p:sp>
        <p:nvSpPr>
          <p:cNvPr id="15" name="Shape 13"/>
          <p:cNvSpPr/>
          <p:nvPr/>
        </p:nvSpPr>
        <p:spPr>
          <a:xfrm>
            <a:off x="914400" y="4054450"/>
            <a:ext cx="292608" cy="256032"/>
          </a:xfrm>
          <a:prstGeom prst="roundRect">
            <a:avLst>
              <a:gd name="adj" fmla="val 21429"/>
            </a:avLst>
          </a:prstGeom>
          <a:solidFill>
            <a:srgbClr val="FFFFFF"/>
          </a:solidFill>
          <a:ln w="19050">
            <a:solidFill>
              <a:srgbClr val="36C4CC"/>
            </a:solidFill>
            <a:prstDash val="solid"/>
          </a:ln>
        </p:spPr>
      </p:sp>
      <p:sp>
        <p:nvSpPr>
          <p:cNvPr id="16" name="Text 14"/>
          <p:cNvSpPr txBox="1"/>
          <p:nvPr/>
        </p:nvSpPr>
        <p:spPr>
          <a:xfrm>
            <a:off x="1371600" y="3981298"/>
            <a:ext cx="9921240" cy="402336"/>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Puedo ofrecer dos fuentes con &lt;source&gt; y su type.</a:t>
            </a:r>
            <a:endParaRPr lang="en-US" sz="1200" dirty="0"/>
          </a:p>
        </p:txBody>
      </p:sp>
      <p:sp>
        <p:nvSpPr>
          <p:cNvPr id="17" name="Shape 15"/>
          <p:cNvSpPr/>
          <p:nvPr/>
        </p:nvSpPr>
        <p:spPr>
          <a:xfrm>
            <a:off x="640080" y="4436669"/>
            <a:ext cx="10927080" cy="402336"/>
          </a:xfrm>
          <a:prstGeom prst="roundRect">
            <a:avLst>
              <a:gd name="adj" fmla="val 22727"/>
            </a:avLst>
          </a:prstGeom>
          <a:solidFill>
            <a:srgbClr val="F7FDF4"/>
          </a:solidFill>
          <a:ln w="12700">
            <a:solidFill>
              <a:srgbClr val="D9F2CC"/>
            </a:solidFill>
            <a:prstDash val="solid"/>
          </a:ln>
        </p:spPr>
      </p:sp>
      <p:sp>
        <p:nvSpPr>
          <p:cNvPr id="18" name="Shape 16"/>
          <p:cNvSpPr/>
          <p:nvPr/>
        </p:nvSpPr>
        <p:spPr>
          <a:xfrm>
            <a:off x="914400" y="4509821"/>
            <a:ext cx="292608" cy="256032"/>
          </a:xfrm>
          <a:prstGeom prst="roundRect">
            <a:avLst>
              <a:gd name="adj" fmla="val 21429"/>
            </a:avLst>
          </a:prstGeom>
          <a:solidFill>
            <a:srgbClr val="FFFFFF"/>
          </a:solidFill>
          <a:ln w="19050">
            <a:solidFill>
              <a:srgbClr val="36C4CC"/>
            </a:solidFill>
            <a:prstDash val="solid"/>
          </a:ln>
        </p:spPr>
      </p:sp>
      <p:sp>
        <p:nvSpPr>
          <p:cNvPr id="19" name="Text 17"/>
          <p:cNvSpPr txBox="1"/>
          <p:nvPr/>
        </p:nvSpPr>
        <p:spPr>
          <a:xfrm>
            <a:off x="1371600" y="4436669"/>
            <a:ext cx="9921240" cy="402336"/>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Sé por qué un video con autoplay necesita muted.</a:t>
            </a:r>
            <a:endParaRPr lang="en-US" sz="1200" dirty="0"/>
          </a:p>
        </p:txBody>
      </p:sp>
      <p:sp>
        <p:nvSpPr>
          <p:cNvPr id="20" name="Shape 18"/>
          <p:cNvSpPr/>
          <p:nvPr/>
        </p:nvSpPr>
        <p:spPr>
          <a:xfrm>
            <a:off x="640080" y="4892040"/>
            <a:ext cx="10927080" cy="402336"/>
          </a:xfrm>
          <a:prstGeom prst="roundRect">
            <a:avLst>
              <a:gd name="adj" fmla="val 22727"/>
            </a:avLst>
          </a:prstGeom>
          <a:solidFill>
            <a:srgbClr val="F7FDF4"/>
          </a:solidFill>
          <a:ln w="12700">
            <a:solidFill>
              <a:srgbClr val="D9F2CC"/>
            </a:solidFill>
            <a:prstDash val="solid"/>
          </a:ln>
        </p:spPr>
      </p:sp>
      <p:sp>
        <p:nvSpPr>
          <p:cNvPr id="21" name="Shape 19"/>
          <p:cNvSpPr/>
          <p:nvPr/>
        </p:nvSpPr>
        <p:spPr>
          <a:xfrm>
            <a:off x="914400" y="4965192"/>
            <a:ext cx="292608" cy="256032"/>
          </a:xfrm>
          <a:prstGeom prst="roundRect">
            <a:avLst>
              <a:gd name="adj" fmla="val 21429"/>
            </a:avLst>
          </a:prstGeom>
          <a:solidFill>
            <a:srgbClr val="FFFFFF"/>
          </a:solidFill>
          <a:ln w="19050">
            <a:solidFill>
              <a:srgbClr val="36C4CC"/>
            </a:solidFill>
            <a:prstDash val="solid"/>
          </a:ln>
        </p:spPr>
      </p:sp>
      <p:sp>
        <p:nvSpPr>
          <p:cNvPr id="22" name="Text 20"/>
          <p:cNvSpPr txBox="1"/>
          <p:nvPr/>
        </p:nvSpPr>
        <p:spPr>
          <a:xfrm>
            <a:off x="1371600" y="4892040"/>
            <a:ext cx="9921240" cy="402336"/>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Puedo comprimir un video y crear su imagen de poster.</a:t>
            </a:r>
            <a:endParaRPr lang="en-US" sz="1200" dirty="0"/>
          </a:p>
        </p:txBody>
      </p:sp>
      <p:sp>
        <p:nvSpPr>
          <p:cNvPr id="23" name="Shape 21"/>
          <p:cNvSpPr/>
          <p:nvPr/>
        </p:nvSpPr>
        <p:spPr>
          <a:xfrm>
            <a:off x="640080" y="5347411"/>
            <a:ext cx="10927080" cy="402336"/>
          </a:xfrm>
          <a:prstGeom prst="roundRect">
            <a:avLst>
              <a:gd name="adj" fmla="val 22727"/>
            </a:avLst>
          </a:prstGeom>
          <a:solidFill>
            <a:srgbClr val="F7FDF4"/>
          </a:solidFill>
          <a:ln w="12700">
            <a:solidFill>
              <a:srgbClr val="D9F2CC"/>
            </a:solidFill>
            <a:prstDash val="solid"/>
          </a:ln>
        </p:spPr>
      </p:sp>
      <p:sp>
        <p:nvSpPr>
          <p:cNvPr id="24" name="Shape 22"/>
          <p:cNvSpPr/>
          <p:nvPr/>
        </p:nvSpPr>
        <p:spPr>
          <a:xfrm>
            <a:off x="914400" y="5420563"/>
            <a:ext cx="292608" cy="256032"/>
          </a:xfrm>
          <a:prstGeom prst="roundRect">
            <a:avLst>
              <a:gd name="adj" fmla="val 21429"/>
            </a:avLst>
          </a:prstGeom>
          <a:solidFill>
            <a:srgbClr val="FFFFFF"/>
          </a:solidFill>
          <a:ln w="19050">
            <a:solidFill>
              <a:srgbClr val="36C4CC"/>
            </a:solidFill>
            <a:prstDash val="solid"/>
          </a:ln>
        </p:spPr>
      </p:sp>
      <p:sp>
        <p:nvSpPr>
          <p:cNvPr id="25" name="Text 23"/>
          <p:cNvSpPr txBox="1"/>
          <p:nvPr/>
        </p:nvSpPr>
        <p:spPr>
          <a:xfrm>
            <a:off x="1371600" y="5347411"/>
            <a:ext cx="9921240" cy="402336"/>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Sé escribir un archivo .vtt y enlazarlo con &lt;track&gt;.</a:t>
            </a:r>
            <a:endParaRPr lang="en-US" sz="1200" dirty="0"/>
          </a:p>
        </p:txBody>
      </p:sp>
      <p:sp>
        <p:nvSpPr>
          <p:cNvPr id="26" name="Shape 24"/>
          <p:cNvSpPr/>
          <p:nvPr/>
        </p:nvSpPr>
        <p:spPr>
          <a:xfrm>
            <a:off x="640080" y="5802782"/>
            <a:ext cx="10927080" cy="402336"/>
          </a:xfrm>
          <a:prstGeom prst="roundRect">
            <a:avLst>
              <a:gd name="adj" fmla="val 22727"/>
            </a:avLst>
          </a:prstGeom>
          <a:solidFill>
            <a:srgbClr val="F7FDF4"/>
          </a:solidFill>
          <a:ln w="12700">
            <a:solidFill>
              <a:srgbClr val="D9F2CC"/>
            </a:solidFill>
            <a:prstDash val="solid"/>
          </a:ln>
        </p:spPr>
      </p:sp>
      <p:sp>
        <p:nvSpPr>
          <p:cNvPr id="27" name="Shape 25"/>
          <p:cNvSpPr/>
          <p:nvPr/>
        </p:nvSpPr>
        <p:spPr>
          <a:xfrm>
            <a:off x="914400" y="5875934"/>
            <a:ext cx="292608" cy="256032"/>
          </a:xfrm>
          <a:prstGeom prst="roundRect">
            <a:avLst>
              <a:gd name="adj" fmla="val 21429"/>
            </a:avLst>
          </a:prstGeom>
          <a:solidFill>
            <a:srgbClr val="FFFFFF"/>
          </a:solidFill>
          <a:ln w="19050">
            <a:solidFill>
              <a:srgbClr val="36C4CC"/>
            </a:solidFill>
            <a:prstDash val="solid"/>
          </a:ln>
        </p:spPr>
      </p:sp>
      <p:sp>
        <p:nvSpPr>
          <p:cNvPr id="28" name="Text 26"/>
          <p:cNvSpPr txBox="1"/>
          <p:nvPr/>
        </p:nvSpPr>
        <p:spPr>
          <a:xfrm>
            <a:off x="1371600" y="5802782"/>
            <a:ext cx="9921240" cy="402336"/>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Puedo explicar qué hace cada parte de reproductor.js.</a:t>
            </a:r>
            <a:endParaRPr lang="en-US" sz="1200" dirty="0"/>
          </a:p>
        </p:txBody>
      </p:sp>
      <p:sp>
        <p:nvSpPr>
          <p:cNvPr id="29" name="Text 2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42 / 48</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NIVELADOR</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Espacio de consultas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¿Qué parte quedó menos clara?</a:t>
            </a:r>
            <a:endParaRPr lang="en-US" sz="1250" dirty="0"/>
          </a:p>
        </p:txBody>
      </p:sp>
      <p:sp>
        <p:nvSpPr>
          <p:cNvPr id="5" name="Shape 3"/>
          <p:cNvSpPr/>
          <p:nvPr/>
        </p:nvSpPr>
        <p:spPr>
          <a:xfrm>
            <a:off x="640080" y="2724912"/>
            <a:ext cx="2628900" cy="1892808"/>
          </a:xfrm>
          <a:prstGeom prst="roundRect">
            <a:avLst>
              <a:gd name="adj" fmla="val 4831"/>
            </a:avLst>
          </a:prstGeom>
          <a:solidFill>
            <a:srgbClr val="F0FCE8"/>
          </a:solidFill>
          <a:ln w="12700">
            <a:solidFill>
              <a:srgbClr val="D9F2CC"/>
            </a:solidFill>
            <a:prstDash val="solid"/>
          </a:ln>
        </p:spPr>
      </p:sp>
      <p:sp>
        <p:nvSpPr>
          <p:cNvPr id="6" name="Text 4"/>
          <p:cNvSpPr txBox="1"/>
          <p:nvPr/>
        </p:nvSpPr>
        <p:spPr>
          <a:xfrm>
            <a:off x="822960" y="2980944"/>
            <a:ext cx="2263140" cy="365760"/>
          </a:xfrm>
          <a:prstGeom prst="rect">
            <a:avLst/>
          </a:prstGeom>
          <a:noFill/>
          <a:ln/>
        </p:spPr>
        <p:txBody>
          <a:bodyPr wrap="square" lIns="0" tIns="0" rIns="0" bIns="0" rtlCol="0" anchor="ctr"/>
          <a:lstStyle/>
          <a:p>
            <a:pPr algn="ctr" indent="0" marL="0">
              <a:buNone/>
            </a:pPr>
            <a:r>
              <a:rPr lang="en-US" sz="1600" b="1" dirty="0">
                <a:solidFill>
                  <a:srgbClr val="4FB817"/>
                </a:solidFill>
                <a:latin typeface="Calibri" pitchFamily="34" charset="0"/>
                <a:ea typeface="Calibri" pitchFamily="34" charset="-122"/>
                <a:cs typeface="Calibri" pitchFamily="34" charset="-120"/>
              </a:rPr>
              <a:t>¿Formulario?</a:t>
            </a:r>
            <a:endParaRPr lang="en-US" sz="1600" dirty="0"/>
          </a:p>
        </p:txBody>
      </p:sp>
      <p:sp>
        <p:nvSpPr>
          <p:cNvPr id="7" name="Text 5"/>
          <p:cNvSpPr txBox="1"/>
          <p:nvPr/>
        </p:nvSpPr>
        <p:spPr>
          <a:xfrm>
            <a:off x="868680" y="3456432"/>
            <a:ext cx="2171700" cy="822960"/>
          </a:xfrm>
          <a:prstGeom prst="rect">
            <a:avLst/>
          </a:prstGeom>
          <a:noFill/>
          <a:ln/>
        </p:spPr>
        <p:txBody>
          <a:bodyPr wrap="square" lIns="0" tIns="0" rIns="0" bIns="0" rtlCol="0" anchor="t"/>
          <a:lstStyle/>
          <a:p>
            <a:pPr algn="ctr" indent="0" marL="0">
              <a:lnSpc>
                <a:spcPct val="125000"/>
              </a:lnSpc>
              <a:buNone/>
            </a:pPr>
            <a:r>
              <a:rPr lang="en-US" sz="1200" dirty="0">
                <a:solidFill>
                  <a:srgbClr val="424242"/>
                </a:solidFill>
                <a:latin typeface="Calibri" pitchFamily="34" charset="0"/>
                <a:ea typeface="Calibri" pitchFamily="34" charset="-122"/>
                <a:cs typeface="Calibri" pitchFamily="34" charset="-120"/>
              </a:rPr>
              <a:t>¿A dónde llegan los datos que envío?</a:t>
            </a:r>
            <a:endParaRPr lang="en-US" sz="1200" dirty="0"/>
          </a:p>
        </p:txBody>
      </p:sp>
      <p:sp>
        <p:nvSpPr>
          <p:cNvPr id="8" name="Shape 6"/>
          <p:cNvSpPr/>
          <p:nvPr/>
        </p:nvSpPr>
        <p:spPr>
          <a:xfrm>
            <a:off x="3406140" y="2724912"/>
            <a:ext cx="2628900" cy="1892808"/>
          </a:xfrm>
          <a:prstGeom prst="roundRect">
            <a:avLst>
              <a:gd name="adj" fmla="val 4831"/>
            </a:avLst>
          </a:prstGeom>
          <a:solidFill>
            <a:srgbClr val="EAFAFB"/>
          </a:solidFill>
          <a:ln w="12700">
            <a:solidFill>
              <a:srgbClr val="BFEAEE"/>
            </a:solidFill>
            <a:prstDash val="solid"/>
          </a:ln>
        </p:spPr>
      </p:sp>
      <p:sp>
        <p:nvSpPr>
          <p:cNvPr id="9" name="Text 7"/>
          <p:cNvSpPr txBox="1"/>
          <p:nvPr/>
        </p:nvSpPr>
        <p:spPr>
          <a:xfrm>
            <a:off x="3589020" y="2980944"/>
            <a:ext cx="2263140" cy="365760"/>
          </a:xfrm>
          <a:prstGeom prst="rect">
            <a:avLst/>
          </a:prstGeom>
          <a:noFill/>
          <a:ln/>
        </p:spPr>
        <p:txBody>
          <a:bodyPr wrap="square" lIns="0" tIns="0" rIns="0" bIns="0" rtlCol="0" anchor="ctr"/>
          <a:lstStyle/>
          <a:p>
            <a:pPr algn="ctr" indent="0" marL="0">
              <a:buNone/>
            </a:pPr>
            <a:r>
              <a:rPr lang="en-US" sz="1600" b="1" dirty="0">
                <a:solidFill>
                  <a:srgbClr val="1E9AA3"/>
                </a:solidFill>
                <a:latin typeface="Calibri" pitchFamily="34" charset="0"/>
                <a:ea typeface="Calibri" pitchFamily="34" charset="-122"/>
                <a:cs typeface="Calibri" pitchFamily="34" charset="-120"/>
              </a:rPr>
              <a:t>¿Autoplay?</a:t>
            </a:r>
            <a:endParaRPr lang="en-US" sz="1600" dirty="0"/>
          </a:p>
        </p:txBody>
      </p:sp>
      <p:sp>
        <p:nvSpPr>
          <p:cNvPr id="10" name="Text 8"/>
          <p:cNvSpPr txBox="1"/>
          <p:nvPr/>
        </p:nvSpPr>
        <p:spPr>
          <a:xfrm>
            <a:off x="3634740" y="3456432"/>
            <a:ext cx="2171700" cy="822960"/>
          </a:xfrm>
          <a:prstGeom prst="rect">
            <a:avLst/>
          </a:prstGeom>
          <a:noFill/>
          <a:ln/>
        </p:spPr>
        <p:txBody>
          <a:bodyPr wrap="square" lIns="0" tIns="0" rIns="0" bIns="0" rtlCol="0" anchor="t"/>
          <a:lstStyle/>
          <a:p>
            <a:pPr algn="ctr" indent="0" marL="0">
              <a:lnSpc>
                <a:spcPct val="125000"/>
              </a:lnSpc>
              <a:buNone/>
            </a:pPr>
            <a:r>
              <a:rPr lang="en-US" sz="1200" dirty="0">
                <a:solidFill>
                  <a:srgbClr val="424242"/>
                </a:solidFill>
                <a:latin typeface="Calibri" pitchFamily="34" charset="0"/>
                <a:ea typeface="Calibri" pitchFamily="34" charset="-122"/>
                <a:cs typeface="Calibri" pitchFamily="34" charset="-120"/>
              </a:rPr>
              <a:t>¿Por qué mi video no arranca solo?</a:t>
            </a:r>
            <a:endParaRPr lang="en-US" sz="1200" dirty="0"/>
          </a:p>
        </p:txBody>
      </p:sp>
      <p:sp>
        <p:nvSpPr>
          <p:cNvPr id="11" name="Shape 9"/>
          <p:cNvSpPr/>
          <p:nvPr/>
        </p:nvSpPr>
        <p:spPr>
          <a:xfrm>
            <a:off x="6172200" y="2724912"/>
            <a:ext cx="2628900" cy="1892808"/>
          </a:xfrm>
          <a:prstGeom prst="roundRect">
            <a:avLst>
              <a:gd name="adj" fmla="val 4831"/>
            </a:avLst>
          </a:prstGeom>
          <a:solidFill>
            <a:srgbClr val="F0FCE8"/>
          </a:solidFill>
          <a:ln w="12700">
            <a:solidFill>
              <a:srgbClr val="D9F2CC"/>
            </a:solidFill>
            <a:prstDash val="solid"/>
          </a:ln>
        </p:spPr>
      </p:sp>
      <p:sp>
        <p:nvSpPr>
          <p:cNvPr id="12" name="Text 10"/>
          <p:cNvSpPr txBox="1"/>
          <p:nvPr/>
        </p:nvSpPr>
        <p:spPr>
          <a:xfrm>
            <a:off x="6355080" y="2980944"/>
            <a:ext cx="2263140" cy="365760"/>
          </a:xfrm>
          <a:prstGeom prst="rect">
            <a:avLst/>
          </a:prstGeom>
          <a:noFill/>
          <a:ln/>
        </p:spPr>
        <p:txBody>
          <a:bodyPr wrap="square" lIns="0" tIns="0" rIns="0" bIns="0" rtlCol="0" anchor="ctr"/>
          <a:lstStyle/>
          <a:p>
            <a:pPr algn="ctr" indent="0" marL="0">
              <a:buNone/>
            </a:pPr>
            <a:r>
              <a:rPr lang="en-US" sz="1600" b="1" dirty="0">
                <a:solidFill>
                  <a:srgbClr val="4FB817"/>
                </a:solidFill>
                <a:latin typeface="Calibri" pitchFamily="34" charset="0"/>
                <a:ea typeface="Calibri" pitchFamily="34" charset="-122"/>
                <a:cs typeface="Calibri" pitchFamily="34" charset="-120"/>
              </a:rPr>
              <a:t>¿Subtítulos?</a:t>
            </a:r>
            <a:endParaRPr lang="en-US" sz="1600" dirty="0"/>
          </a:p>
        </p:txBody>
      </p:sp>
      <p:sp>
        <p:nvSpPr>
          <p:cNvPr id="13" name="Text 11"/>
          <p:cNvSpPr txBox="1"/>
          <p:nvPr/>
        </p:nvSpPr>
        <p:spPr>
          <a:xfrm>
            <a:off x="6400800" y="3456432"/>
            <a:ext cx="2171700" cy="822960"/>
          </a:xfrm>
          <a:prstGeom prst="rect">
            <a:avLst/>
          </a:prstGeom>
          <a:noFill/>
          <a:ln/>
        </p:spPr>
        <p:txBody>
          <a:bodyPr wrap="square" lIns="0" tIns="0" rIns="0" bIns="0" rtlCol="0" anchor="t"/>
          <a:lstStyle/>
          <a:p>
            <a:pPr algn="ctr" indent="0" marL="0">
              <a:lnSpc>
                <a:spcPct val="125000"/>
              </a:lnSpc>
              <a:buNone/>
            </a:pPr>
            <a:r>
              <a:rPr lang="en-US" sz="1200" dirty="0">
                <a:solidFill>
                  <a:srgbClr val="424242"/>
                </a:solidFill>
                <a:latin typeface="Calibri" pitchFamily="34" charset="0"/>
                <a:ea typeface="Calibri" pitchFamily="34" charset="-122"/>
                <a:cs typeface="Calibri" pitchFamily="34" charset="-120"/>
              </a:rPr>
              <a:t>¿Por qué no aparecen al abrir con doble clic?</a:t>
            </a:r>
            <a:endParaRPr lang="en-US" sz="1200" dirty="0"/>
          </a:p>
        </p:txBody>
      </p:sp>
      <p:sp>
        <p:nvSpPr>
          <p:cNvPr id="14" name="Shape 12"/>
          <p:cNvSpPr/>
          <p:nvPr/>
        </p:nvSpPr>
        <p:spPr>
          <a:xfrm>
            <a:off x="8938260" y="2724912"/>
            <a:ext cx="2628900" cy="1892808"/>
          </a:xfrm>
          <a:prstGeom prst="roundRect">
            <a:avLst>
              <a:gd name="adj" fmla="val 4831"/>
            </a:avLst>
          </a:prstGeom>
          <a:solidFill>
            <a:srgbClr val="EAFAFB"/>
          </a:solidFill>
          <a:ln w="12700">
            <a:solidFill>
              <a:srgbClr val="BFEAEE"/>
            </a:solidFill>
            <a:prstDash val="solid"/>
          </a:ln>
        </p:spPr>
      </p:sp>
      <p:sp>
        <p:nvSpPr>
          <p:cNvPr id="15" name="Text 13"/>
          <p:cNvSpPr txBox="1"/>
          <p:nvPr/>
        </p:nvSpPr>
        <p:spPr>
          <a:xfrm>
            <a:off x="9121140" y="2980944"/>
            <a:ext cx="2263140" cy="365760"/>
          </a:xfrm>
          <a:prstGeom prst="rect">
            <a:avLst/>
          </a:prstGeom>
          <a:noFill/>
          <a:ln/>
        </p:spPr>
        <p:txBody>
          <a:bodyPr wrap="square" lIns="0" tIns="0" rIns="0" bIns="0" rtlCol="0" anchor="ctr"/>
          <a:lstStyle/>
          <a:p>
            <a:pPr algn="ctr" indent="0" marL="0">
              <a:buNone/>
            </a:pPr>
            <a:r>
              <a:rPr lang="en-US" sz="1600" b="1" dirty="0">
                <a:solidFill>
                  <a:srgbClr val="1E9AA3"/>
                </a:solidFill>
                <a:latin typeface="Calibri" pitchFamily="34" charset="0"/>
                <a:ea typeface="Calibri" pitchFamily="34" charset="-122"/>
                <a:cs typeface="Calibri" pitchFamily="34" charset="-120"/>
              </a:rPr>
              <a:t>¿Y móvil?</a:t>
            </a:r>
            <a:endParaRPr lang="en-US" sz="1600" dirty="0"/>
          </a:p>
        </p:txBody>
      </p:sp>
      <p:sp>
        <p:nvSpPr>
          <p:cNvPr id="16" name="Text 14"/>
          <p:cNvSpPr txBox="1"/>
          <p:nvPr/>
        </p:nvSpPr>
        <p:spPr>
          <a:xfrm>
            <a:off x="9166860" y="3456432"/>
            <a:ext cx="2171700" cy="822960"/>
          </a:xfrm>
          <a:prstGeom prst="rect">
            <a:avLst/>
          </a:prstGeom>
          <a:noFill/>
          <a:ln/>
        </p:spPr>
        <p:txBody>
          <a:bodyPr wrap="square" lIns="0" tIns="0" rIns="0" bIns="0" rtlCol="0" anchor="t"/>
          <a:lstStyle/>
          <a:p>
            <a:pPr algn="ctr" indent="0" marL="0">
              <a:lnSpc>
                <a:spcPct val="125000"/>
              </a:lnSpc>
              <a:buNone/>
            </a:pPr>
            <a:r>
              <a:rPr lang="en-US" sz="1200" dirty="0">
                <a:solidFill>
                  <a:srgbClr val="424242"/>
                </a:solidFill>
                <a:latin typeface="Calibri" pitchFamily="34" charset="0"/>
                <a:ea typeface="Calibri" pitchFamily="34" charset="-122"/>
                <a:cs typeface="Calibri" pitchFamily="34" charset="-120"/>
              </a:rPr>
              <a:t>¿Qué pasa con un video ancho en un celular?</a:t>
            </a:r>
            <a:endParaRPr lang="en-US" sz="1200" dirty="0"/>
          </a:p>
        </p:txBody>
      </p:sp>
      <p:sp>
        <p:nvSpPr>
          <p:cNvPr id="17" name="Shape 15"/>
          <p:cNvSpPr/>
          <p:nvPr/>
        </p:nvSpPr>
        <p:spPr>
          <a:xfrm>
            <a:off x="640080" y="4855464"/>
            <a:ext cx="10927080" cy="1170432"/>
          </a:xfrm>
          <a:prstGeom prst="roundRect">
            <a:avLst>
              <a:gd name="adj" fmla="val 7813"/>
            </a:avLst>
          </a:prstGeom>
          <a:solidFill>
            <a:srgbClr val="F7FDF4"/>
          </a:solidFill>
          <a:ln w="12700">
            <a:solidFill>
              <a:srgbClr val="D9F2CC"/>
            </a:solidFill>
            <a:prstDash val="solid"/>
          </a:ln>
        </p:spPr>
      </p:sp>
      <p:sp>
        <p:nvSpPr>
          <p:cNvPr id="18" name="Text 16"/>
          <p:cNvSpPr txBox="1"/>
          <p:nvPr/>
        </p:nvSpPr>
        <p:spPr>
          <a:xfrm>
            <a:off x="950976" y="5010912"/>
            <a:ext cx="10305288" cy="310896"/>
          </a:xfrm>
          <a:prstGeom prst="rect">
            <a:avLst/>
          </a:prstGeom>
          <a:noFill/>
          <a:ln/>
        </p:spPr>
        <p:txBody>
          <a:bodyPr wrap="square" lIns="0" tIns="0" rIns="0" bIns="0" rtlCol="0" anchor="ctr"/>
          <a:lstStyle/>
          <a:p>
            <a:pPr algn="l" indent="0" marL="0">
              <a:buNone/>
            </a:pPr>
            <a:r>
              <a:rPr lang="en-US" sz="1400" b="1" dirty="0">
                <a:solidFill>
                  <a:srgbClr val="4FB817"/>
                </a:solidFill>
                <a:latin typeface="Calibri" pitchFamily="34" charset="0"/>
                <a:ea typeface="Calibri" pitchFamily="34" charset="-122"/>
                <a:cs typeface="Calibri" pitchFamily="34" charset="-120"/>
              </a:rPr>
              <a:t>Sobre el envío del formulario</a:t>
            </a:r>
            <a:endParaRPr lang="en-US" sz="1400" dirty="0"/>
          </a:p>
        </p:txBody>
      </p:sp>
      <p:sp>
        <p:nvSpPr>
          <p:cNvPr id="19" name="Text 17"/>
          <p:cNvSpPr txBox="1"/>
          <p:nvPr/>
        </p:nvSpPr>
        <p:spPr>
          <a:xfrm>
            <a:off x="950976" y="5376672"/>
            <a:ext cx="10305288" cy="555955"/>
          </a:xfrm>
          <a:prstGeom prst="rect">
            <a:avLst/>
          </a:prstGeom>
          <a:noFill/>
          <a:ln/>
        </p:spPr>
        <p:txBody>
          <a:bodyPr wrap="square" lIns="0" tIns="0" rIns="0" bIns="0" rtlCol="0" anchor="t"/>
          <a:lstStyle/>
          <a:p>
            <a:pPr algn="l" indent="0" marL="0">
              <a:lnSpc>
                <a:spcPct val="125000"/>
              </a:lnSpc>
              <a:buNone/>
            </a:pPr>
            <a:r>
              <a:rPr lang="en-US" sz="1200" dirty="0">
                <a:solidFill>
                  <a:srgbClr val="424242"/>
                </a:solidFill>
                <a:latin typeface="Calibri" pitchFamily="34" charset="0"/>
                <a:ea typeface="Calibri" pitchFamily="34" charset="-122"/>
                <a:cs typeface="Calibri" pitchFamily="34" charset="-120"/>
              </a:rPr>
              <a:t>Tu sitio es estático: no hay un programa que reciba los datos. Con method="get" los ves en la barra de direcciones, y eso basta para comprobar cada name. Recibirlos de verdad necesita un servicio aparte.</a:t>
            </a:r>
            <a:endParaRPr lang="en-US" sz="1200" dirty="0"/>
          </a:p>
        </p:txBody>
      </p:sp>
      <p:sp>
        <p:nvSpPr>
          <p:cNvPr id="20" name="Text 18"/>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43 / 48</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Funcional: aplicar lo aprendido">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44 / 48</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4FB817"/>
                </a:solidFill>
                <a:latin typeface="Calibri" pitchFamily="34" charset="0"/>
                <a:ea typeface="Calibri" pitchFamily="34" charset="-122"/>
                <a:cs typeface="Calibri" pitchFamily="34" charset="-120"/>
              </a:rPr>
              <a:t>ACTIVIDAD</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Tarea de la sesión</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Forma parte del 40 % de participación en clases [P].</a:t>
            </a:r>
            <a:endParaRPr lang="en-US" sz="1250" dirty="0"/>
          </a:p>
        </p:txBody>
      </p:sp>
      <p:sp>
        <p:nvSpPr>
          <p:cNvPr id="5" name="Shape 3"/>
          <p:cNvSpPr/>
          <p:nvPr/>
        </p:nvSpPr>
        <p:spPr>
          <a:xfrm>
            <a:off x="640080" y="2615184"/>
            <a:ext cx="5349240" cy="3410712"/>
          </a:xfrm>
          <a:prstGeom prst="roundRect">
            <a:avLst>
              <a:gd name="adj" fmla="val 2681"/>
            </a:avLst>
          </a:prstGeom>
          <a:solidFill>
            <a:srgbClr val="F0FCE8"/>
          </a:solidFill>
          <a:ln w="12700">
            <a:solidFill>
              <a:srgbClr val="D9F2CC"/>
            </a:solidFill>
            <a:prstDash val="solid"/>
          </a:ln>
        </p:spPr>
      </p:sp>
      <p:sp>
        <p:nvSpPr>
          <p:cNvPr id="6" name="Text 4"/>
          <p:cNvSpPr txBox="1"/>
          <p:nvPr/>
        </p:nvSpPr>
        <p:spPr>
          <a:xfrm>
            <a:off x="950976" y="2816352"/>
            <a:ext cx="4727448" cy="310896"/>
          </a:xfrm>
          <a:prstGeom prst="rect">
            <a:avLst/>
          </a:prstGeom>
          <a:noFill/>
          <a:ln/>
        </p:spPr>
        <p:txBody>
          <a:bodyPr wrap="square" lIns="0" tIns="0" rIns="0" bIns="0" rtlCol="0" anchor="ctr"/>
          <a:lstStyle/>
          <a:p>
            <a:pPr algn="l" indent="0" marL="0">
              <a:buNone/>
            </a:pPr>
            <a:r>
              <a:rPr lang="en-US" sz="1500" b="1" dirty="0">
                <a:solidFill>
                  <a:srgbClr val="4FB817"/>
                </a:solidFill>
                <a:latin typeface="Calibri" pitchFamily="34" charset="0"/>
                <a:ea typeface="Calibri" pitchFamily="34" charset="-122"/>
                <a:cs typeface="Calibri" pitchFamily="34" charset="-120"/>
              </a:rPr>
              <a:t>Consigna</a:t>
            </a:r>
            <a:endParaRPr lang="en-US" sz="1500" dirty="0"/>
          </a:p>
        </p:txBody>
      </p:sp>
      <p:sp>
        <p:nvSpPr>
          <p:cNvPr id="7" name="Text 5"/>
          <p:cNvSpPr txBox="1"/>
          <p:nvPr/>
        </p:nvSpPr>
        <p:spPr>
          <a:xfrm>
            <a:off x="950976" y="3182112"/>
            <a:ext cx="4727448" cy="2723083"/>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424242"/>
                </a:solidFill>
                <a:latin typeface="Calibri" pitchFamily="34" charset="0"/>
                <a:ea typeface="Calibri" pitchFamily="34" charset="-122"/>
                <a:cs typeface="Calibri" pitchFamily="34" charset="-120"/>
              </a:rPr>
              <a:t>Completa tu formulario de contacto: cinco campos o más, cada uno con label y validación.</a:t>
            </a:r>
            <a:endParaRPr lang="en-US" sz="1150" dirty="0"/>
          </a:p>
          <a:p>
            <a:pPr marL="177800" indent="-177800">
              <a:spcAft>
                <a:spcPts val="700"/>
              </a:spcAft>
              <a:buSzPct val="100000"/>
              <a:buChar char="•"/>
            </a:pPr>
            <a:r>
              <a:rPr lang="en-US" sz="1150" dirty="0">
                <a:solidFill>
                  <a:srgbClr val="424242"/>
                </a:solidFill>
                <a:latin typeface="Calibri" pitchFamily="34" charset="0"/>
                <a:ea typeface="Calibri" pitchFamily="34" charset="-122"/>
                <a:cs typeface="Calibri" pitchFamily="34" charset="-120"/>
              </a:rPr>
              <a:t>Graba tu video de presentación (30 segundos como máximo), comprímelo a menos de 3 MB y crea su poster.</a:t>
            </a:r>
            <a:endParaRPr lang="en-US" sz="1150" dirty="0"/>
          </a:p>
          <a:p>
            <a:pPr marL="177800" indent="-177800">
              <a:spcAft>
                <a:spcPts val="700"/>
              </a:spcAft>
              <a:buSzPct val="100000"/>
              <a:buChar char="•"/>
            </a:pPr>
            <a:r>
              <a:rPr lang="en-US" sz="1150" dirty="0">
                <a:solidFill>
                  <a:srgbClr val="424242"/>
                </a:solidFill>
                <a:latin typeface="Calibri" pitchFamily="34" charset="0"/>
                <a:ea typeface="Calibri" pitchFamily="34" charset="-122"/>
                <a:cs typeface="Calibri" pitchFamily="34" charset="-120"/>
              </a:rPr>
              <a:t>Publícalo con dos source, subtítulos .vtt y controles personalizados.</a:t>
            </a:r>
            <a:endParaRPr lang="en-US" sz="1150" dirty="0"/>
          </a:p>
          <a:p>
            <a:pPr marL="177800" indent="-177800">
              <a:spcAft>
                <a:spcPts val="700"/>
              </a:spcAft>
              <a:buSzPct val="100000"/>
              <a:buChar char="•"/>
            </a:pPr>
            <a:r>
              <a:rPr lang="en-US" sz="1150" dirty="0">
                <a:solidFill>
                  <a:srgbClr val="424242"/>
                </a:solidFill>
                <a:latin typeface="Calibri" pitchFamily="34" charset="0"/>
                <a:ea typeface="Calibri" pitchFamily="34" charset="-122"/>
                <a:cs typeface="Calibri" pitchFamily="34" charset="-120"/>
              </a:rPr>
              <a:t>Añade tu audio en dos formatos, con su transcripción.</a:t>
            </a:r>
            <a:endParaRPr lang="en-US" sz="1150" dirty="0"/>
          </a:p>
          <a:p>
            <a:pPr marL="177800" indent="-177800">
              <a:spcAft>
                <a:spcPts val="700"/>
              </a:spcAft>
              <a:buSzPct val="100000"/>
              <a:buChar char="•"/>
            </a:pPr>
            <a:r>
              <a:rPr lang="en-US" sz="1150" dirty="0">
                <a:solidFill>
                  <a:srgbClr val="424242"/>
                </a:solidFill>
                <a:latin typeface="Calibri" pitchFamily="34" charset="0"/>
                <a:ea typeface="Calibri" pitchFamily="34" charset="-122"/>
                <a:cs typeface="Calibri" pitchFamily="34" charset="-120"/>
              </a:rPr>
              <a:t>En Figma: termina los Pasos 7, 8, 9 y 13 del manual.</a:t>
            </a:r>
            <a:endParaRPr lang="en-US" sz="1150" dirty="0"/>
          </a:p>
          <a:p>
            <a:pPr marL="177800" indent="-177800">
              <a:spcAft>
                <a:spcPts val="700"/>
              </a:spcAft>
              <a:buSzPct val="100000"/>
              <a:buChar char="•"/>
            </a:pPr>
            <a:r>
              <a:rPr lang="en-US" sz="1150" dirty="0">
                <a:solidFill>
                  <a:srgbClr val="424242"/>
                </a:solidFill>
                <a:latin typeface="Calibri" pitchFamily="34" charset="0"/>
                <a:ea typeface="Calibri" pitchFamily="34" charset="-122"/>
                <a:cs typeface="Calibri" pitchFamily="34" charset="-120"/>
              </a:rPr>
              <a:t>Valida sin errores y publica en Netlify.</a:t>
            </a:r>
            <a:endParaRPr lang="en-US" sz="1150" dirty="0"/>
          </a:p>
        </p:txBody>
      </p:sp>
      <p:sp>
        <p:nvSpPr>
          <p:cNvPr id="8" name="Shape 6"/>
          <p:cNvSpPr/>
          <p:nvPr/>
        </p:nvSpPr>
        <p:spPr>
          <a:xfrm>
            <a:off x="6217920" y="2615184"/>
            <a:ext cx="5349240" cy="3410712"/>
          </a:xfrm>
          <a:prstGeom prst="roundRect">
            <a:avLst>
              <a:gd name="adj" fmla="val 2681"/>
            </a:avLst>
          </a:prstGeom>
          <a:solidFill>
            <a:srgbClr val="F7FDF4"/>
          </a:solidFill>
          <a:ln w="12700">
            <a:solidFill>
              <a:srgbClr val="D9F2CC"/>
            </a:solidFill>
            <a:prstDash val="solid"/>
          </a:ln>
        </p:spPr>
      </p:sp>
      <p:sp>
        <p:nvSpPr>
          <p:cNvPr id="9" name="Text 7"/>
          <p:cNvSpPr txBox="1"/>
          <p:nvPr/>
        </p:nvSpPr>
        <p:spPr>
          <a:xfrm>
            <a:off x="6528816" y="2816352"/>
            <a:ext cx="4754880" cy="310896"/>
          </a:xfrm>
          <a:prstGeom prst="rect">
            <a:avLst/>
          </a:prstGeom>
          <a:noFill/>
          <a:ln/>
        </p:spPr>
        <p:txBody>
          <a:bodyPr wrap="square" lIns="0" tIns="0" rIns="0" bIns="0" rtlCol="0" anchor="ctr"/>
          <a:lstStyle/>
          <a:p>
            <a:pPr indent="0" marL="0">
              <a:buNone/>
            </a:pPr>
            <a:r>
              <a:rPr lang="en-US" sz="1500" b="1" dirty="0">
                <a:solidFill>
                  <a:srgbClr val="1E9AA3"/>
                </a:solidFill>
                <a:latin typeface="Calibri" pitchFamily="34" charset="0"/>
                <a:ea typeface="Calibri" pitchFamily="34" charset="-122"/>
                <a:cs typeface="Calibri" pitchFamily="34" charset="-120"/>
              </a:rPr>
              <a:t>Indicaciones de entrega</a:t>
            </a:r>
            <a:endParaRPr lang="en-US" sz="1500" dirty="0"/>
          </a:p>
        </p:txBody>
      </p:sp>
      <p:sp>
        <p:nvSpPr>
          <p:cNvPr id="10" name="Shape 8"/>
          <p:cNvSpPr/>
          <p:nvPr/>
        </p:nvSpPr>
        <p:spPr>
          <a:xfrm>
            <a:off x="6583680" y="3328416"/>
            <a:ext cx="384048" cy="384048"/>
          </a:xfrm>
          <a:prstGeom prst="ellipse">
            <a:avLst/>
          </a:prstGeom>
          <a:solidFill>
            <a:srgbClr val="36C4CC"/>
          </a:solidFill>
          <a:ln w="12700">
            <a:solidFill>
              <a:srgbClr val="36C4CC"/>
            </a:solidFill>
            <a:prstDash val="solid"/>
          </a:ln>
        </p:spPr>
      </p:sp>
      <p:sp>
        <p:nvSpPr>
          <p:cNvPr id="11" name="Text 9"/>
          <p:cNvSpPr txBox="1"/>
          <p:nvPr/>
        </p:nvSpPr>
        <p:spPr>
          <a:xfrm>
            <a:off x="6583680" y="332841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7132320" y="3328416"/>
            <a:ext cx="4206240" cy="38404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Subir la URL publicada al Aula Virtual.</a:t>
            </a:r>
            <a:endParaRPr lang="en-US" sz="1200" dirty="0"/>
          </a:p>
        </p:txBody>
      </p:sp>
      <p:sp>
        <p:nvSpPr>
          <p:cNvPr id="13" name="Shape 11"/>
          <p:cNvSpPr/>
          <p:nvPr/>
        </p:nvSpPr>
        <p:spPr>
          <a:xfrm>
            <a:off x="6583680" y="3968496"/>
            <a:ext cx="384048" cy="384048"/>
          </a:xfrm>
          <a:prstGeom prst="ellipse">
            <a:avLst/>
          </a:prstGeom>
          <a:solidFill>
            <a:srgbClr val="36C4CC"/>
          </a:solidFill>
          <a:ln w="12700">
            <a:solidFill>
              <a:srgbClr val="36C4CC"/>
            </a:solidFill>
            <a:prstDash val="solid"/>
          </a:ln>
        </p:spPr>
      </p:sp>
      <p:sp>
        <p:nvSpPr>
          <p:cNvPr id="14" name="Text 12"/>
          <p:cNvSpPr txBox="1"/>
          <p:nvPr/>
        </p:nvSpPr>
        <p:spPr>
          <a:xfrm>
            <a:off x="6583680" y="39684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3"/>
          <p:cNvSpPr txBox="1"/>
          <p:nvPr/>
        </p:nvSpPr>
        <p:spPr>
          <a:xfrm>
            <a:off x="7132320" y="3968496"/>
            <a:ext cx="4206240" cy="38404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Adjuntar captura del validador W3C sin errores.</a:t>
            </a:r>
            <a:endParaRPr lang="en-US" sz="1200" dirty="0"/>
          </a:p>
        </p:txBody>
      </p:sp>
      <p:sp>
        <p:nvSpPr>
          <p:cNvPr id="16" name="Shape 14"/>
          <p:cNvSpPr/>
          <p:nvPr/>
        </p:nvSpPr>
        <p:spPr>
          <a:xfrm>
            <a:off x="6583680" y="4608576"/>
            <a:ext cx="384048" cy="384048"/>
          </a:xfrm>
          <a:prstGeom prst="ellipse">
            <a:avLst/>
          </a:prstGeom>
          <a:solidFill>
            <a:srgbClr val="36C4CC"/>
          </a:solidFill>
          <a:ln w="12700">
            <a:solidFill>
              <a:srgbClr val="36C4CC"/>
            </a:solidFill>
            <a:prstDash val="solid"/>
          </a:ln>
        </p:spPr>
      </p:sp>
      <p:sp>
        <p:nvSpPr>
          <p:cNvPr id="17" name="Text 15"/>
          <p:cNvSpPr txBox="1"/>
          <p:nvPr/>
        </p:nvSpPr>
        <p:spPr>
          <a:xfrm>
            <a:off x="6583680" y="46085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6"/>
          <p:cNvSpPr txBox="1"/>
          <p:nvPr/>
        </p:nvSpPr>
        <p:spPr>
          <a:xfrm>
            <a:off x="7132320" y="4608576"/>
            <a:ext cx="4206240" cy="38404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El envío es obligatorio dentro del plazo establecido.</a:t>
            </a:r>
            <a:endParaRPr lang="en-US" sz="1200" dirty="0"/>
          </a:p>
        </p:txBody>
      </p:sp>
      <p:sp>
        <p:nvSpPr>
          <p:cNvPr id="19" name="Shape 17"/>
          <p:cNvSpPr/>
          <p:nvPr/>
        </p:nvSpPr>
        <p:spPr>
          <a:xfrm>
            <a:off x="6583680" y="5248656"/>
            <a:ext cx="384048" cy="384048"/>
          </a:xfrm>
          <a:prstGeom prst="ellipse">
            <a:avLst/>
          </a:prstGeom>
          <a:solidFill>
            <a:srgbClr val="36C4CC"/>
          </a:solidFill>
          <a:ln w="12700">
            <a:solidFill>
              <a:srgbClr val="36C4CC"/>
            </a:solidFill>
            <a:prstDash val="solid"/>
          </a:ln>
        </p:spPr>
      </p:sp>
      <p:sp>
        <p:nvSpPr>
          <p:cNvPr id="20" name="Text 18"/>
          <p:cNvSpPr txBox="1"/>
          <p:nvPr/>
        </p:nvSpPr>
        <p:spPr>
          <a:xfrm>
            <a:off x="6583680"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1" name="Text 19"/>
          <p:cNvSpPr txBox="1"/>
          <p:nvPr/>
        </p:nvSpPr>
        <p:spPr>
          <a:xfrm>
            <a:off x="7132320" y="5248656"/>
            <a:ext cx="4206240" cy="384048"/>
          </a:xfrm>
          <a:prstGeom prst="rect">
            <a:avLst/>
          </a:prstGeom>
          <a:noFill/>
          <a:ln/>
        </p:spPr>
        <p:txBody>
          <a:bodyPr wrap="square" lIns="0" tIns="0" rIns="0" bIns="0" rtlCol="0" anchor="ctr"/>
          <a:lstStyle/>
          <a:p>
            <a:pPr indent="0" marL="0">
              <a:buNone/>
            </a:pPr>
            <a:r>
              <a:rPr lang="en-US" sz="1200" dirty="0">
                <a:solidFill>
                  <a:srgbClr val="424242"/>
                </a:solidFill>
                <a:latin typeface="Calibri" pitchFamily="34" charset="0"/>
                <a:ea typeface="Calibri" pitchFamily="34" charset="-122"/>
                <a:cs typeface="Calibri" pitchFamily="34" charset="-120"/>
              </a:rPr>
              <a:t>Se registra en ClassDojo como participación en clase.</a:t>
            </a:r>
            <a:endParaRPr lang="en-US" sz="1200" dirty="0"/>
          </a:p>
        </p:txBody>
      </p:sp>
      <p:sp>
        <p:nvSpPr>
          <p:cNvPr id="22" name="Text 2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45 / 48</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Orientador: conclusión del tema">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46 / 48</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RESUMEN</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Puntos clave de la sesión</a:t>
            </a:r>
            <a:endParaRPr lang="en-US" sz="2800" dirty="0"/>
          </a:p>
        </p:txBody>
      </p:sp>
      <p:sp>
        <p:nvSpPr>
          <p:cNvPr id="4" name="Shape 2"/>
          <p:cNvSpPr/>
          <p:nvPr/>
        </p:nvSpPr>
        <p:spPr>
          <a:xfrm>
            <a:off x="795528" y="2697480"/>
            <a:ext cx="329184" cy="329184"/>
          </a:xfrm>
          <a:prstGeom prst="ellipse">
            <a:avLst/>
          </a:prstGeom>
          <a:solidFill>
            <a:srgbClr val="72EF29"/>
          </a:solidFill>
          <a:ln w="12700">
            <a:solidFill>
              <a:srgbClr val="72EF29"/>
            </a:solidFill>
            <a:prstDash val="solid"/>
          </a:ln>
        </p:spPr>
      </p:sp>
      <p:sp>
        <p:nvSpPr>
          <p:cNvPr id="5" name="Text 3"/>
          <p:cNvSpPr txBox="1"/>
          <p:nvPr/>
        </p:nvSpPr>
        <p:spPr>
          <a:xfrm>
            <a:off x="795528" y="26974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Symbol" pitchFamily="34" charset="0"/>
                <a:ea typeface="Segoe UI Symbol" pitchFamily="34" charset="-122"/>
                <a:cs typeface="Segoe UI Symbol" pitchFamily="34" charset="-120"/>
              </a:rPr>
              <a:t>✓</a:t>
            </a:r>
            <a:endParaRPr lang="en-US" sz="1100" dirty="0"/>
          </a:p>
        </p:txBody>
      </p:sp>
      <p:sp>
        <p:nvSpPr>
          <p:cNvPr id="6" name="Text 4"/>
          <p:cNvSpPr txBox="1"/>
          <p:nvPr/>
        </p:nvSpPr>
        <p:spPr>
          <a:xfrm>
            <a:off x="1353312" y="2651760"/>
            <a:ext cx="10012680" cy="374904"/>
          </a:xfrm>
          <a:prstGeom prst="rect">
            <a:avLst/>
          </a:prstGeom>
          <a:noFill/>
          <a:ln/>
        </p:spPr>
        <p:txBody>
          <a:bodyPr wrap="square" lIns="0" tIns="0" rIns="0" bIns="0" rtlCol="0" anchor="ctr"/>
          <a:lstStyle/>
          <a:p>
            <a:pPr indent="0" marL="0">
              <a:buNone/>
            </a:pPr>
            <a:r>
              <a:rPr lang="en-US" sz="1250" dirty="0">
                <a:solidFill>
                  <a:srgbClr val="424242"/>
                </a:solidFill>
                <a:latin typeface="Calibri" pitchFamily="34" charset="0"/>
                <a:ea typeface="Calibri" pitchFamily="34" charset="-122"/>
                <a:cs typeface="Calibri" pitchFamily="34" charset="-120"/>
              </a:rPr>
              <a:t>Cada campo lleva su label, unido con for e id, y un name para viajar en el envío.</a:t>
            </a:r>
            <a:endParaRPr lang="en-US" sz="1250" dirty="0"/>
          </a:p>
        </p:txBody>
      </p:sp>
      <p:sp>
        <p:nvSpPr>
          <p:cNvPr id="7" name="Shape 5"/>
          <p:cNvSpPr/>
          <p:nvPr/>
        </p:nvSpPr>
        <p:spPr>
          <a:xfrm>
            <a:off x="795528" y="3090672"/>
            <a:ext cx="329184" cy="329184"/>
          </a:xfrm>
          <a:prstGeom prst="ellipse">
            <a:avLst/>
          </a:prstGeom>
          <a:solidFill>
            <a:srgbClr val="72EF29"/>
          </a:solidFill>
          <a:ln w="12700">
            <a:solidFill>
              <a:srgbClr val="72EF29"/>
            </a:solidFill>
            <a:prstDash val="solid"/>
          </a:ln>
        </p:spPr>
      </p:sp>
      <p:sp>
        <p:nvSpPr>
          <p:cNvPr id="8" name="Text 6"/>
          <p:cNvSpPr txBox="1"/>
          <p:nvPr/>
        </p:nvSpPr>
        <p:spPr>
          <a:xfrm>
            <a:off x="795528" y="30906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Symbol" pitchFamily="34" charset="0"/>
                <a:ea typeface="Segoe UI Symbol" pitchFamily="34" charset="-122"/>
                <a:cs typeface="Segoe UI Symbol" pitchFamily="34" charset="-120"/>
              </a:rPr>
              <a:t>✓</a:t>
            </a:r>
            <a:endParaRPr lang="en-US" sz="1100" dirty="0"/>
          </a:p>
        </p:txBody>
      </p:sp>
      <p:sp>
        <p:nvSpPr>
          <p:cNvPr id="9" name="Text 7"/>
          <p:cNvSpPr txBox="1"/>
          <p:nvPr/>
        </p:nvSpPr>
        <p:spPr>
          <a:xfrm>
            <a:off x="1353312" y="3044952"/>
            <a:ext cx="10012680" cy="374904"/>
          </a:xfrm>
          <a:prstGeom prst="rect">
            <a:avLst/>
          </a:prstGeom>
          <a:noFill/>
          <a:ln/>
        </p:spPr>
        <p:txBody>
          <a:bodyPr wrap="square" lIns="0" tIns="0" rIns="0" bIns="0" rtlCol="0" anchor="ctr"/>
          <a:lstStyle/>
          <a:p>
            <a:pPr indent="0" marL="0">
              <a:buNone/>
            </a:pPr>
            <a:r>
              <a:rPr lang="en-US" sz="1250" dirty="0">
                <a:solidFill>
                  <a:srgbClr val="424242"/>
                </a:solidFill>
                <a:latin typeface="Calibri" pitchFamily="34" charset="0"/>
                <a:ea typeface="Calibri" pitchFamily="34" charset="-122"/>
                <a:cs typeface="Calibri" pitchFamily="34" charset="-120"/>
              </a:rPr>
              <a:t>required, minlength y pattern validan sin una línea de JavaScript.</a:t>
            </a:r>
            <a:endParaRPr lang="en-US" sz="1250" dirty="0"/>
          </a:p>
        </p:txBody>
      </p:sp>
      <p:sp>
        <p:nvSpPr>
          <p:cNvPr id="10" name="Shape 8"/>
          <p:cNvSpPr/>
          <p:nvPr/>
        </p:nvSpPr>
        <p:spPr>
          <a:xfrm>
            <a:off x="795528" y="3483864"/>
            <a:ext cx="329184" cy="329184"/>
          </a:xfrm>
          <a:prstGeom prst="ellipse">
            <a:avLst/>
          </a:prstGeom>
          <a:solidFill>
            <a:srgbClr val="72EF29"/>
          </a:solidFill>
          <a:ln w="12700">
            <a:solidFill>
              <a:srgbClr val="72EF29"/>
            </a:solidFill>
            <a:prstDash val="solid"/>
          </a:ln>
        </p:spPr>
      </p:sp>
      <p:sp>
        <p:nvSpPr>
          <p:cNvPr id="11" name="Text 9"/>
          <p:cNvSpPr txBox="1"/>
          <p:nvPr/>
        </p:nvSpPr>
        <p:spPr>
          <a:xfrm>
            <a:off x="795528" y="348386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Symbol" pitchFamily="34" charset="0"/>
                <a:ea typeface="Segoe UI Symbol" pitchFamily="34" charset="-122"/>
                <a:cs typeface="Segoe UI Symbol" pitchFamily="34" charset="-120"/>
              </a:rPr>
              <a:t>✓</a:t>
            </a:r>
            <a:endParaRPr lang="en-US" sz="1100" dirty="0"/>
          </a:p>
        </p:txBody>
      </p:sp>
      <p:sp>
        <p:nvSpPr>
          <p:cNvPr id="12" name="Text 10"/>
          <p:cNvSpPr txBox="1"/>
          <p:nvPr/>
        </p:nvSpPr>
        <p:spPr>
          <a:xfrm>
            <a:off x="1353312" y="3438144"/>
            <a:ext cx="10012680" cy="374904"/>
          </a:xfrm>
          <a:prstGeom prst="rect">
            <a:avLst/>
          </a:prstGeom>
          <a:noFill/>
          <a:ln/>
        </p:spPr>
        <p:txBody>
          <a:bodyPr wrap="square" lIns="0" tIns="0" rIns="0" bIns="0" rtlCol="0" anchor="ctr"/>
          <a:lstStyle/>
          <a:p>
            <a:pPr indent="0" marL="0">
              <a:buNone/>
            </a:pPr>
            <a:r>
              <a:rPr lang="en-US" sz="1250" dirty="0">
                <a:solidFill>
                  <a:srgbClr val="424242"/>
                </a:solidFill>
                <a:latin typeface="Calibri" pitchFamily="34" charset="0"/>
                <a:ea typeface="Calibri" pitchFamily="34" charset="-122"/>
                <a:cs typeface="Calibri" pitchFamily="34" charset="-120"/>
              </a:rPr>
              <a:t>Un video es un contenedor (.mp4) con un códec dentro (H.264); &lt;source&gt; ofrece varias fuentes.</a:t>
            </a:r>
            <a:endParaRPr lang="en-US" sz="1250" dirty="0"/>
          </a:p>
        </p:txBody>
      </p:sp>
      <p:sp>
        <p:nvSpPr>
          <p:cNvPr id="13" name="Shape 11"/>
          <p:cNvSpPr/>
          <p:nvPr/>
        </p:nvSpPr>
        <p:spPr>
          <a:xfrm>
            <a:off x="795528" y="3877056"/>
            <a:ext cx="329184" cy="329184"/>
          </a:xfrm>
          <a:prstGeom prst="ellipse">
            <a:avLst/>
          </a:prstGeom>
          <a:solidFill>
            <a:srgbClr val="72EF29"/>
          </a:solidFill>
          <a:ln w="12700">
            <a:solidFill>
              <a:srgbClr val="72EF29"/>
            </a:solidFill>
            <a:prstDash val="solid"/>
          </a:ln>
        </p:spPr>
      </p:sp>
      <p:sp>
        <p:nvSpPr>
          <p:cNvPr id="14" name="Text 12"/>
          <p:cNvSpPr txBox="1"/>
          <p:nvPr/>
        </p:nvSpPr>
        <p:spPr>
          <a:xfrm>
            <a:off x="795528" y="38770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Symbol" pitchFamily="34" charset="0"/>
                <a:ea typeface="Segoe UI Symbol" pitchFamily="34" charset="-122"/>
                <a:cs typeface="Segoe UI Symbol" pitchFamily="34" charset="-120"/>
              </a:rPr>
              <a:t>✓</a:t>
            </a:r>
            <a:endParaRPr lang="en-US" sz="1100" dirty="0"/>
          </a:p>
        </p:txBody>
      </p:sp>
      <p:sp>
        <p:nvSpPr>
          <p:cNvPr id="15" name="Text 13"/>
          <p:cNvSpPr txBox="1"/>
          <p:nvPr/>
        </p:nvSpPr>
        <p:spPr>
          <a:xfrm>
            <a:off x="1353312" y="3831336"/>
            <a:ext cx="10012680" cy="374904"/>
          </a:xfrm>
          <a:prstGeom prst="rect">
            <a:avLst/>
          </a:prstGeom>
          <a:noFill/>
          <a:ln/>
        </p:spPr>
        <p:txBody>
          <a:bodyPr wrap="square" lIns="0" tIns="0" rIns="0" bIns="0" rtlCol="0" anchor="ctr"/>
          <a:lstStyle/>
          <a:p>
            <a:pPr indent="0" marL="0">
              <a:buNone/>
            </a:pPr>
            <a:r>
              <a:rPr lang="en-US" sz="1250" dirty="0">
                <a:solidFill>
                  <a:srgbClr val="424242"/>
                </a:solidFill>
                <a:latin typeface="Calibri" pitchFamily="34" charset="0"/>
                <a:ea typeface="Calibri" pitchFamily="34" charset="-122"/>
                <a:cs typeface="Calibri" pitchFamily="34" charset="-120"/>
              </a:rPr>
              <a:t>autoplay solo funciona con muted: nada debe sonar sin que la persona lo pida.</a:t>
            </a:r>
            <a:endParaRPr lang="en-US" sz="1250" dirty="0"/>
          </a:p>
        </p:txBody>
      </p:sp>
      <p:sp>
        <p:nvSpPr>
          <p:cNvPr id="16" name="Shape 14"/>
          <p:cNvSpPr/>
          <p:nvPr/>
        </p:nvSpPr>
        <p:spPr>
          <a:xfrm>
            <a:off x="795528" y="4270248"/>
            <a:ext cx="329184" cy="329184"/>
          </a:xfrm>
          <a:prstGeom prst="ellipse">
            <a:avLst/>
          </a:prstGeom>
          <a:solidFill>
            <a:srgbClr val="72EF29"/>
          </a:solidFill>
          <a:ln w="12700">
            <a:solidFill>
              <a:srgbClr val="72EF29"/>
            </a:solidFill>
            <a:prstDash val="solid"/>
          </a:ln>
        </p:spPr>
      </p:sp>
      <p:sp>
        <p:nvSpPr>
          <p:cNvPr id="17" name="Text 15"/>
          <p:cNvSpPr txBox="1"/>
          <p:nvPr/>
        </p:nvSpPr>
        <p:spPr>
          <a:xfrm>
            <a:off x="795528" y="42702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Symbol" pitchFamily="34" charset="0"/>
                <a:ea typeface="Segoe UI Symbol" pitchFamily="34" charset="-122"/>
                <a:cs typeface="Segoe UI Symbol" pitchFamily="34" charset="-120"/>
              </a:rPr>
              <a:t>✓</a:t>
            </a:r>
            <a:endParaRPr lang="en-US" sz="1100" dirty="0"/>
          </a:p>
        </p:txBody>
      </p:sp>
      <p:sp>
        <p:nvSpPr>
          <p:cNvPr id="18" name="Text 16"/>
          <p:cNvSpPr txBox="1"/>
          <p:nvPr/>
        </p:nvSpPr>
        <p:spPr>
          <a:xfrm>
            <a:off x="1353312" y="4224528"/>
            <a:ext cx="10012680" cy="374904"/>
          </a:xfrm>
          <a:prstGeom prst="rect">
            <a:avLst/>
          </a:prstGeom>
          <a:noFill/>
          <a:ln/>
        </p:spPr>
        <p:txBody>
          <a:bodyPr wrap="square" lIns="0" tIns="0" rIns="0" bIns="0" rtlCol="0" anchor="ctr"/>
          <a:lstStyle/>
          <a:p>
            <a:pPr indent="0" marL="0">
              <a:buNone/>
            </a:pPr>
            <a:r>
              <a:rPr lang="en-US" sz="1250" dirty="0">
                <a:solidFill>
                  <a:srgbClr val="424242"/>
                </a:solidFill>
                <a:latin typeface="Calibri" pitchFamily="34" charset="0"/>
                <a:ea typeface="Calibri" pitchFamily="34" charset="-122"/>
                <a:cs typeface="Calibri" pitchFamily="34" charset="-120"/>
              </a:rPr>
              <a:t>poster y preload="metadata" cuidan lo que se ve y lo que se descarga antes de reproducir.</a:t>
            </a:r>
            <a:endParaRPr lang="en-US" sz="1250" dirty="0"/>
          </a:p>
        </p:txBody>
      </p:sp>
      <p:sp>
        <p:nvSpPr>
          <p:cNvPr id="19" name="Shape 17"/>
          <p:cNvSpPr/>
          <p:nvPr/>
        </p:nvSpPr>
        <p:spPr>
          <a:xfrm>
            <a:off x="795528" y="4663440"/>
            <a:ext cx="329184" cy="329184"/>
          </a:xfrm>
          <a:prstGeom prst="ellipse">
            <a:avLst/>
          </a:prstGeom>
          <a:solidFill>
            <a:srgbClr val="72EF29"/>
          </a:solidFill>
          <a:ln w="12700">
            <a:solidFill>
              <a:srgbClr val="72EF29"/>
            </a:solidFill>
            <a:prstDash val="solid"/>
          </a:ln>
        </p:spPr>
      </p:sp>
      <p:sp>
        <p:nvSpPr>
          <p:cNvPr id="20" name="Text 18"/>
          <p:cNvSpPr txBox="1"/>
          <p:nvPr/>
        </p:nvSpPr>
        <p:spPr>
          <a:xfrm>
            <a:off x="795528" y="46634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Symbol" pitchFamily="34" charset="0"/>
                <a:ea typeface="Segoe UI Symbol" pitchFamily="34" charset="-122"/>
                <a:cs typeface="Segoe UI Symbol" pitchFamily="34" charset="-120"/>
              </a:rPr>
              <a:t>✓</a:t>
            </a:r>
            <a:endParaRPr lang="en-US" sz="1100" dirty="0"/>
          </a:p>
        </p:txBody>
      </p:sp>
      <p:sp>
        <p:nvSpPr>
          <p:cNvPr id="21" name="Text 19"/>
          <p:cNvSpPr txBox="1"/>
          <p:nvPr/>
        </p:nvSpPr>
        <p:spPr>
          <a:xfrm>
            <a:off x="1353312" y="4617720"/>
            <a:ext cx="10012680" cy="374904"/>
          </a:xfrm>
          <a:prstGeom prst="rect">
            <a:avLst/>
          </a:prstGeom>
          <a:noFill/>
          <a:ln/>
        </p:spPr>
        <p:txBody>
          <a:bodyPr wrap="square" lIns="0" tIns="0" rIns="0" bIns="0" rtlCol="0" anchor="ctr"/>
          <a:lstStyle/>
          <a:p>
            <a:pPr indent="0" marL="0">
              <a:buNone/>
            </a:pPr>
            <a:r>
              <a:rPr lang="en-US" sz="1250" dirty="0">
                <a:solidFill>
                  <a:srgbClr val="424242"/>
                </a:solidFill>
                <a:latin typeface="Calibri" pitchFamily="34" charset="0"/>
                <a:ea typeface="Calibri" pitchFamily="34" charset="-122"/>
                <a:cs typeface="Calibri" pitchFamily="34" charset="-120"/>
              </a:rPr>
              <a:t>Un video se comprime antes de subirlo: 720 px de ancho y 30 fps bastan para la web.</a:t>
            </a:r>
            <a:endParaRPr lang="en-US" sz="1250" dirty="0"/>
          </a:p>
        </p:txBody>
      </p:sp>
      <p:sp>
        <p:nvSpPr>
          <p:cNvPr id="22" name="Shape 20"/>
          <p:cNvSpPr/>
          <p:nvPr/>
        </p:nvSpPr>
        <p:spPr>
          <a:xfrm>
            <a:off x="795528" y="5056632"/>
            <a:ext cx="329184" cy="329184"/>
          </a:xfrm>
          <a:prstGeom prst="ellipse">
            <a:avLst/>
          </a:prstGeom>
          <a:solidFill>
            <a:srgbClr val="72EF29"/>
          </a:solidFill>
          <a:ln w="12700">
            <a:solidFill>
              <a:srgbClr val="72EF29"/>
            </a:solidFill>
            <a:prstDash val="solid"/>
          </a:ln>
        </p:spPr>
      </p:sp>
      <p:sp>
        <p:nvSpPr>
          <p:cNvPr id="23" name="Text 21"/>
          <p:cNvSpPr txBox="1"/>
          <p:nvPr/>
        </p:nvSpPr>
        <p:spPr>
          <a:xfrm>
            <a:off x="795528" y="50566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Symbol" pitchFamily="34" charset="0"/>
                <a:ea typeface="Segoe UI Symbol" pitchFamily="34" charset="-122"/>
                <a:cs typeface="Segoe UI Symbol" pitchFamily="34" charset="-120"/>
              </a:rPr>
              <a:t>✓</a:t>
            </a:r>
            <a:endParaRPr lang="en-US" sz="1100" dirty="0"/>
          </a:p>
        </p:txBody>
      </p:sp>
      <p:sp>
        <p:nvSpPr>
          <p:cNvPr id="24" name="Text 22"/>
          <p:cNvSpPr txBox="1"/>
          <p:nvPr/>
        </p:nvSpPr>
        <p:spPr>
          <a:xfrm>
            <a:off x="1353312" y="5010912"/>
            <a:ext cx="10012680" cy="374904"/>
          </a:xfrm>
          <a:prstGeom prst="rect">
            <a:avLst/>
          </a:prstGeom>
          <a:noFill/>
          <a:ln/>
        </p:spPr>
        <p:txBody>
          <a:bodyPr wrap="square" lIns="0" tIns="0" rIns="0" bIns="0" rtlCol="0" anchor="ctr"/>
          <a:lstStyle/>
          <a:p>
            <a:pPr indent="0" marL="0">
              <a:buNone/>
            </a:pPr>
            <a:r>
              <a:rPr lang="en-US" sz="1250" dirty="0">
                <a:solidFill>
                  <a:srgbClr val="424242"/>
                </a:solidFill>
                <a:latin typeface="Calibri" pitchFamily="34" charset="0"/>
                <a:ea typeface="Calibri" pitchFamily="34" charset="-122"/>
                <a:cs typeface="Calibri" pitchFamily="34" charset="-120"/>
              </a:rPr>
              <a:t>&lt;track&gt; y un archivo .vtt añaden subtítulos; el audio lleva su transcripción en la página.</a:t>
            </a:r>
            <a:endParaRPr lang="en-US" sz="1250" dirty="0"/>
          </a:p>
        </p:txBody>
      </p:sp>
      <p:sp>
        <p:nvSpPr>
          <p:cNvPr id="25" name="Shape 23"/>
          <p:cNvSpPr/>
          <p:nvPr/>
        </p:nvSpPr>
        <p:spPr>
          <a:xfrm>
            <a:off x="795528" y="5449824"/>
            <a:ext cx="329184" cy="329184"/>
          </a:xfrm>
          <a:prstGeom prst="ellipse">
            <a:avLst/>
          </a:prstGeom>
          <a:solidFill>
            <a:srgbClr val="72EF29"/>
          </a:solidFill>
          <a:ln w="12700">
            <a:solidFill>
              <a:srgbClr val="72EF29"/>
            </a:solidFill>
            <a:prstDash val="solid"/>
          </a:ln>
        </p:spPr>
      </p:sp>
      <p:sp>
        <p:nvSpPr>
          <p:cNvPr id="26" name="Text 24"/>
          <p:cNvSpPr txBox="1"/>
          <p:nvPr/>
        </p:nvSpPr>
        <p:spPr>
          <a:xfrm>
            <a:off x="795528" y="5449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Symbol" pitchFamily="34" charset="0"/>
                <a:ea typeface="Segoe UI Symbol" pitchFamily="34" charset="-122"/>
                <a:cs typeface="Segoe UI Symbol" pitchFamily="34" charset="-120"/>
              </a:rPr>
              <a:t>✓</a:t>
            </a:r>
            <a:endParaRPr lang="en-US" sz="1100" dirty="0"/>
          </a:p>
        </p:txBody>
      </p:sp>
      <p:sp>
        <p:nvSpPr>
          <p:cNvPr id="27" name="Text 25"/>
          <p:cNvSpPr txBox="1"/>
          <p:nvPr/>
        </p:nvSpPr>
        <p:spPr>
          <a:xfrm>
            <a:off x="1353312" y="5404104"/>
            <a:ext cx="10012680" cy="374904"/>
          </a:xfrm>
          <a:prstGeom prst="rect">
            <a:avLst/>
          </a:prstGeom>
          <a:noFill/>
          <a:ln/>
        </p:spPr>
        <p:txBody>
          <a:bodyPr wrap="square" lIns="0" tIns="0" rIns="0" bIns="0" rtlCol="0" anchor="ctr"/>
          <a:lstStyle/>
          <a:p>
            <a:pPr indent="0" marL="0">
              <a:buNone/>
            </a:pPr>
            <a:r>
              <a:rPr lang="en-US" sz="1250" dirty="0">
                <a:solidFill>
                  <a:srgbClr val="424242"/>
                </a:solidFill>
                <a:latin typeface="Calibri" pitchFamily="34" charset="0"/>
                <a:ea typeface="Calibri" pitchFamily="34" charset="-122"/>
                <a:cs typeface="Calibri" pitchFamily="34" charset="-120"/>
              </a:rPr>
              <a:t>Las rutas van relativas, y todo archivo que el HTML menciona debe existir en la carpeta.</a:t>
            </a:r>
            <a:endParaRPr lang="en-US" sz="1250" dirty="0"/>
          </a:p>
        </p:txBody>
      </p:sp>
      <p:sp>
        <p:nvSpPr>
          <p:cNvPr id="28" name="Shape 26"/>
          <p:cNvSpPr/>
          <p:nvPr/>
        </p:nvSpPr>
        <p:spPr>
          <a:xfrm>
            <a:off x="795528" y="5843016"/>
            <a:ext cx="329184" cy="329184"/>
          </a:xfrm>
          <a:prstGeom prst="ellipse">
            <a:avLst/>
          </a:prstGeom>
          <a:solidFill>
            <a:srgbClr val="72EF29"/>
          </a:solidFill>
          <a:ln w="12700">
            <a:solidFill>
              <a:srgbClr val="72EF29"/>
            </a:solidFill>
            <a:prstDash val="solid"/>
          </a:ln>
        </p:spPr>
      </p:sp>
      <p:sp>
        <p:nvSpPr>
          <p:cNvPr id="29" name="Text 27"/>
          <p:cNvSpPr txBox="1"/>
          <p:nvPr/>
        </p:nvSpPr>
        <p:spPr>
          <a:xfrm>
            <a:off x="795528" y="58430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Segoe UI Symbol" pitchFamily="34" charset="0"/>
                <a:ea typeface="Segoe UI Symbol" pitchFamily="34" charset="-122"/>
                <a:cs typeface="Segoe UI Symbol" pitchFamily="34" charset="-120"/>
              </a:rPr>
              <a:t>✓</a:t>
            </a:r>
            <a:endParaRPr lang="en-US" sz="1100" dirty="0"/>
          </a:p>
        </p:txBody>
      </p:sp>
      <p:sp>
        <p:nvSpPr>
          <p:cNvPr id="30" name="Text 28"/>
          <p:cNvSpPr txBox="1"/>
          <p:nvPr/>
        </p:nvSpPr>
        <p:spPr>
          <a:xfrm>
            <a:off x="1353312" y="5797296"/>
            <a:ext cx="10012680" cy="374904"/>
          </a:xfrm>
          <a:prstGeom prst="rect">
            <a:avLst/>
          </a:prstGeom>
          <a:noFill/>
          <a:ln/>
        </p:spPr>
        <p:txBody>
          <a:bodyPr wrap="square" lIns="0" tIns="0" rIns="0" bIns="0" rtlCol="0" anchor="ctr"/>
          <a:lstStyle/>
          <a:p>
            <a:pPr indent="0" marL="0">
              <a:buNone/>
            </a:pPr>
            <a:r>
              <a:rPr lang="en-US" sz="1250" dirty="0">
                <a:solidFill>
                  <a:srgbClr val="424242"/>
                </a:solidFill>
                <a:latin typeface="Calibri" pitchFamily="34" charset="0"/>
                <a:ea typeface="Calibri" pitchFamily="34" charset="-122"/>
                <a:cs typeface="Calibri" pitchFamily="34" charset="-120"/>
              </a:rPr>
              <a:t>Los controles propios son botones HTML conectados al video con unas líneas de JavaScript.</a:t>
            </a:r>
            <a:endParaRPr lang="en-US" sz="1250" dirty="0"/>
          </a:p>
        </p:txBody>
      </p:sp>
      <p:sp>
        <p:nvSpPr>
          <p:cNvPr id="31" name="Text 29"/>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47 / 48</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640080" y="1554480"/>
            <a:ext cx="10927080" cy="237744"/>
          </a:xfrm>
          <a:prstGeom prst="rect">
            <a:avLst/>
          </a:prstGeom>
          <a:noFill/>
          <a:ln/>
        </p:spPr>
        <p:txBody>
          <a:bodyPr wrap="square" lIns="0" tIns="0" rIns="0" bIns="0" rtlCol="0" anchor="ctr"/>
          <a:lstStyle/>
          <a:p>
            <a:pPr indent="0" marL="0">
              <a:buNone/>
            </a:pPr>
            <a:r>
              <a:rPr lang="en-US" sz="1050" b="1" spc="300" kern="0" dirty="0">
                <a:solidFill>
                  <a:srgbClr val="1E9AA3"/>
                </a:solidFill>
                <a:latin typeface="Calibri" pitchFamily="34" charset="0"/>
                <a:ea typeface="Calibri" pitchFamily="34" charset="-122"/>
                <a:cs typeface="Calibri" pitchFamily="34" charset="-120"/>
              </a:rPr>
              <a:t>ORIENTADOR</a:t>
            </a:r>
            <a:endParaRPr lang="en-US" sz="1050" dirty="0"/>
          </a:p>
        </p:txBody>
      </p:sp>
      <p:sp>
        <p:nvSpPr>
          <p:cNvPr id="3" name="Text 0"/>
          <p:cNvSpPr/>
          <p:nvPr>
            <p:ph idx="101" type="title" hasCustomPrompt="1"/>
          </p:nvPr>
        </p:nvSpPr>
        <p:spPr>
          <a:xfrm>
            <a:off x="640080" y="1810512"/>
            <a:ext cx="10927080" cy="512064"/>
          </a:xfrm>
          <a:prstGeom prst="rect">
            <a:avLst/>
          </a:prstGeom>
          <a:noFill/>
          <a:ln/>
        </p:spPr>
        <p:txBody>
          <a:bodyPr wrap="square" lIns="0" tIns="0" rIns="0" bIns="0" rtlCol="0" anchor="ctr"/>
          <a:lstStyle/>
          <a:p>
            <a:pPr algn="l" indent="0" marL="0">
              <a:buNone/>
            </a:pPr>
            <a:r>
              <a:rPr lang="en-US" sz="2800" b="1" dirty="0">
                <a:solidFill>
                  <a:srgbClr val="2A2A2A"/>
                </a:solidFill>
                <a:latin typeface="Calibri" pitchFamily="34" charset="0"/>
                <a:ea typeface="Calibri" pitchFamily="34" charset="-122"/>
                <a:cs typeface="Calibri" pitchFamily="34" charset="-120"/>
              </a:rPr>
              <a:t>Hacia dónde vamos</a:t>
            </a:r>
            <a:endParaRPr lang="en-US" sz="2800" dirty="0"/>
          </a:p>
        </p:txBody>
      </p:sp>
      <p:sp>
        <p:nvSpPr>
          <p:cNvPr id="4" name="Text 2"/>
          <p:cNvSpPr txBox="1"/>
          <p:nvPr/>
        </p:nvSpPr>
        <p:spPr>
          <a:xfrm>
            <a:off x="640080" y="2286000"/>
            <a:ext cx="10927080" cy="274320"/>
          </a:xfrm>
          <a:prstGeom prst="rect">
            <a:avLst/>
          </a:prstGeom>
          <a:noFill/>
          <a:ln/>
        </p:spPr>
        <p:txBody>
          <a:bodyPr wrap="square" lIns="0" tIns="0" rIns="0" bIns="0" rtlCol="0" anchor="ctr"/>
          <a:lstStyle/>
          <a:p>
            <a:pPr indent="0" marL="0">
              <a:buNone/>
            </a:pPr>
            <a:r>
              <a:rPr lang="en-US" sz="1250" dirty="0">
                <a:solidFill>
                  <a:srgbClr val="6E7673"/>
                </a:solidFill>
                <a:latin typeface="Calibri" pitchFamily="34" charset="0"/>
                <a:ea typeface="Calibri" pitchFamily="34" charset="-122"/>
                <a:cs typeface="Calibri" pitchFamily="34" charset="-120"/>
              </a:rPr>
              <a:t>Tu página ya tiene estructura, imágenes y multimedia. Lo que viene.</a:t>
            </a:r>
            <a:endParaRPr lang="en-US" sz="1250" dirty="0"/>
          </a:p>
        </p:txBody>
      </p:sp>
      <p:sp>
        <p:nvSpPr>
          <p:cNvPr id="5" name="Shape 3"/>
          <p:cNvSpPr/>
          <p:nvPr/>
        </p:nvSpPr>
        <p:spPr>
          <a:xfrm>
            <a:off x="1051560" y="3895344"/>
            <a:ext cx="10104120" cy="0"/>
          </a:xfrm>
          <a:prstGeom prst="line">
            <a:avLst/>
          </a:prstGeom>
          <a:noFill/>
          <a:ln w="31750">
            <a:solidFill>
              <a:srgbClr val="D9F2CC"/>
            </a:solidFill>
            <a:prstDash val="solid"/>
          </a:ln>
        </p:spPr>
      </p:sp>
      <p:sp>
        <p:nvSpPr>
          <p:cNvPr id="6" name="Shape 4"/>
          <p:cNvSpPr/>
          <p:nvPr/>
        </p:nvSpPr>
        <p:spPr>
          <a:xfrm>
            <a:off x="1984248" y="3817620"/>
            <a:ext cx="155448" cy="155448"/>
          </a:xfrm>
          <a:prstGeom prst="ellipse">
            <a:avLst/>
          </a:prstGeom>
          <a:solidFill>
            <a:srgbClr val="5AD3DA"/>
          </a:solidFill>
          <a:ln w="12700">
            <a:solidFill>
              <a:srgbClr val="5AD3DA"/>
            </a:solidFill>
            <a:prstDash val="solid"/>
          </a:ln>
        </p:spPr>
      </p:sp>
      <p:sp>
        <p:nvSpPr>
          <p:cNvPr id="7" name="Text 5"/>
          <p:cNvSpPr txBox="1"/>
          <p:nvPr/>
        </p:nvSpPr>
        <p:spPr>
          <a:xfrm>
            <a:off x="1051560" y="2962656"/>
            <a:ext cx="2020824" cy="237744"/>
          </a:xfrm>
          <a:prstGeom prst="rect">
            <a:avLst/>
          </a:prstGeom>
          <a:noFill/>
          <a:ln/>
        </p:spPr>
        <p:txBody>
          <a:bodyPr wrap="square" lIns="0" tIns="0" rIns="0" bIns="0" rtlCol="0" anchor="ctr"/>
          <a:lstStyle/>
          <a:p>
            <a:pPr algn="ctr" indent="0" marL="0">
              <a:buNone/>
            </a:pPr>
            <a:r>
              <a:rPr lang="en-US" sz="950" b="1" spc="250" kern="0" dirty="0">
                <a:solidFill>
                  <a:srgbClr val="6E7673"/>
                </a:solidFill>
                <a:latin typeface="Calibri" pitchFamily="34" charset="0"/>
                <a:ea typeface="Calibri" pitchFamily="34" charset="-122"/>
                <a:cs typeface="Calibri" pitchFamily="34" charset="-120"/>
              </a:rPr>
              <a:t>SESIÓN 06</a:t>
            </a:r>
            <a:endParaRPr lang="en-US" sz="950" dirty="0"/>
          </a:p>
        </p:txBody>
      </p:sp>
      <p:sp>
        <p:nvSpPr>
          <p:cNvPr id="8" name="Text 6"/>
          <p:cNvSpPr txBox="1"/>
          <p:nvPr/>
        </p:nvSpPr>
        <p:spPr>
          <a:xfrm>
            <a:off x="1051560" y="3218688"/>
            <a:ext cx="2020824" cy="365760"/>
          </a:xfrm>
          <a:prstGeom prst="rect">
            <a:avLst/>
          </a:prstGeom>
          <a:noFill/>
          <a:ln/>
        </p:spPr>
        <p:txBody>
          <a:bodyPr wrap="square" lIns="0" tIns="0" rIns="0" bIns="0" rtlCol="0" anchor="ctr"/>
          <a:lstStyle/>
          <a:p>
            <a:pPr algn="ctr" indent="0" marL="0">
              <a:buNone/>
            </a:pPr>
            <a:r>
              <a:rPr lang="en-US" sz="1500" b="1" dirty="0">
                <a:solidFill>
                  <a:srgbClr val="5AD3DA"/>
                </a:solidFill>
                <a:latin typeface="Calibri" pitchFamily="34" charset="0"/>
                <a:ea typeface="Calibri" pitchFamily="34" charset="-122"/>
                <a:cs typeface="Calibri" pitchFamily="34" charset="-120"/>
              </a:rPr>
              <a:t>Formularios</a:t>
            </a:r>
            <a:endParaRPr lang="en-US" sz="1500" dirty="0"/>
          </a:p>
        </p:txBody>
      </p:sp>
      <p:sp>
        <p:nvSpPr>
          <p:cNvPr id="9" name="Text 7"/>
          <p:cNvSpPr txBox="1"/>
          <p:nvPr/>
        </p:nvSpPr>
        <p:spPr>
          <a:xfrm>
            <a:off x="1143000" y="4133088"/>
            <a:ext cx="1837944" cy="457200"/>
          </a:xfrm>
          <a:prstGeom prst="rect">
            <a:avLst/>
          </a:prstGeom>
          <a:noFill/>
          <a:ln/>
        </p:spPr>
        <p:txBody>
          <a:bodyPr wrap="square" lIns="0" tIns="0" rIns="0" bIns="0" rtlCol="0" anchor="t"/>
          <a:lstStyle/>
          <a:p>
            <a:pPr algn="ctr" indent="0" marL="0">
              <a:buNone/>
            </a:pPr>
            <a:r>
              <a:rPr lang="en-US" sz="1050" dirty="0">
                <a:solidFill>
                  <a:srgbClr val="6E7673"/>
                </a:solidFill>
                <a:latin typeface="Calibri" pitchFamily="34" charset="0"/>
                <a:ea typeface="Calibri" pitchFamily="34" charset="-122"/>
                <a:cs typeface="Calibri" pitchFamily="34" charset="-120"/>
              </a:rPr>
              <a:t>Campos, validación y el Taller TA1.</a:t>
            </a:r>
            <a:endParaRPr lang="en-US" sz="1050" dirty="0"/>
          </a:p>
        </p:txBody>
      </p:sp>
      <p:sp>
        <p:nvSpPr>
          <p:cNvPr id="10" name="Shape 8"/>
          <p:cNvSpPr/>
          <p:nvPr/>
        </p:nvSpPr>
        <p:spPr>
          <a:xfrm>
            <a:off x="3963924" y="3776472"/>
            <a:ext cx="237744" cy="237744"/>
          </a:xfrm>
          <a:prstGeom prst="ellipse">
            <a:avLst/>
          </a:prstGeom>
          <a:solidFill>
            <a:srgbClr val="72EF29"/>
          </a:solidFill>
          <a:ln w="12700">
            <a:solidFill>
              <a:srgbClr val="72EF29"/>
            </a:solidFill>
            <a:prstDash val="solid"/>
          </a:ln>
        </p:spPr>
      </p:sp>
      <p:sp>
        <p:nvSpPr>
          <p:cNvPr id="11" name="Text 9"/>
          <p:cNvSpPr txBox="1"/>
          <p:nvPr/>
        </p:nvSpPr>
        <p:spPr>
          <a:xfrm>
            <a:off x="3072384" y="2962656"/>
            <a:ext cx="2020824" cy="237744"/>
          </a:xfrm>
          <a:prstGeom prst="rect">
            <a:avLst/>
          </a:prstGeom>
          <a:noFill/>
          <a:ln/>
        </p:spPr>
        <p:txBody>
          <a:bodyPr wrap="square" lIns="0" tIns="0" rIns="0" bIns="0" rtlCol="0" anchor="ctr"/>
          <a:lstStyle/>
          <a:p>
            <a:pPr algn="ctr" indent="0" marL="0">
              <a:buNone/>
            </a:pPr>
            <a:r>
              <a:rPr lang="en-US" sz="950" b="1" spc="250" kern="0" dirty="0">
                <a:solidFill>
                  <a:srgbClr val="6E7673"/>
                </a:solidFill>
                <a:latin typeface="Calibri" pitchFamily="34" charset="0"/>
                <a:ea typeface="Calibri" pitchFamily="34" charset="-122"/>
                <a:cs typeface="Calibri" pitchFamily="34" charset="-120"/>
              </a:rPr>
              <a:t>SESIÓN 07</a:t>
            </a:r>
            <a:endParaRPr lang="en-US" sz="950" dirty="0"/>
          </a:p>
        </p:txBody>
      </p:sp>
      <p:sp>
        <p:nvSpPr>
          <p:cNvPr id="12" name="Text 10"/>
          <p:cNvSpPr txBox="1"/>
          <p:nvPr/>
        </p:nvSpPr>
        <p:spPr>
          <a:xfrm>
            <a:off x="3072384" y="3218688"/>
            <a:ext cx="2020824" cy="365760"/>
          </a:xfrm>
          <a:prstGeom prst="rect">
            <a:avLst/>
          </a:prstGeom>
          <a:noFill/>
          <a:ln/>
        </p:spPr>
        <p:txBody>
          <a:bodyPr wrap="square" lIns="0" tIns="0" rIns="0" bIns="0" rtlCol="0" anchor="ctr"/>
          <a:lstStyle/>
          <a:p>
            <a:pPr algn="ctr" indent="0" marL="0">
              <a:buNone/>
            </a:pPr>
            <a:r>
              <a:rPr lang="en-US" sz="1500" b="1" dirty="0">
                <a:solidFill>
                  <a:srgbClr val="4FB817"/>
                </a:solidFill>
                <a:latin typeface="Calibri" pitchFamily="34" charset="0"/>
                <a:ea typeface="Calibri" pitchFamily="34" charset="-122"/>
                <a:cs typeface="Calibri" pitchFamily="34" charset="-120"/>
              </a:rPr>
              <a:t>Multimedia</a:t>
            </a:r>
            <a:endParaRPr lang="en-US" sz="1500" dirty="0"/>
          </a:p>
        </p:txBody>
      </p:sp>
      <p:sp>
        <p:nvSpPr>
          <p:cNvPr id="13" name="Text 11"/>
          <p:cNvSpPr txBox="1"/>
          <p:nvPr/>
        </p:nvSpPr>
        <p:spPr>
          <a:xfrm>
            <a:off x="3163824" y="4133088"/>
            <a:ext cx="1837944" cy="457200"/>
          </a:xfrm>
          <a:prstGeom prst="rect">
            <a:avLst/>
          </a:prstGeom>
          <a:noFill/>
          <a:ln/>
        </p:spPr>
        <p:txBody>
          <a:bodyPr wrap="square" lIns="0" tIns="0" rIns="0" bIns="0" rtlCol="0" anchor="t"/>
          <a:lstStyle/>
          <a:p>
            <a:pPr algn="ctr" indent="0" marL="0">
              <a:buNone/>
            </a:pPr>
            <a:r>
              <a:rPr lang="en-US" sz="1050" dirty="0">
                <a:solidFill>
                  <a:srgbClr val="6E7673"/>
                </a:solidFill>
                <a:latin typeface="Calibri" pitchFamily="34" charset="0"/>
                <a:ea typeface="Calibri" pitchFamily="34" charset="-122"/>
                <a:cs typeface="Calibri" pitchFamily="34" charset="-120"/>
              </a:rPr>
              <a:t>Video y audio listos para publicar.</a:t>
            </a:r>
            <a:endParaRPr lang="en-US" sz="1050" dirty="0"/>
          </a:p>
        </p:txBody>
      </p:sp>
      <p:sp>
        <p:nvSpPr>
          <p:cNvPr id="14" name="Shape 12"/>
          <p:cNvSpPr/>
          <p:nvPr/>
        </p:nvSpPr>
        <p:spPr>
          <a:xfrm>
            <a:off x="6025896" y="3817620"/>
            <a:ext cx="155448" cy="155448"/>
          </a:xfrm>
          <a:prstGeom prst="ellipse">
            <a:avLst/>
          </a:prstGeom>
          <a:solidFill>
            <a:srgbClr val="36C4CC"/>
          </a:solidFill>
          <a:ln w="12700">
            <a:solidFill>
              <a:srgbClr val="36C4CC"/>
            </a:solidFill>
            <a:prstDash val="solid"/>
          </a:ln>
        </p:spPr>
      </p:sp>
      <p:sp>
        <p:nvSpPr>
          <p:cNvPr id="15" name="Text 13"/>
          <p:cNvSpPr txBox="1"/>
          <p:nvPr/>
        </p:nvSpPr>
        <p:spPr>
          <a:xfrm>
            <a:off x="5093208" y="2962656"/>
            <a:ext cx="2020824" cy="237744"/>
          </a:xfrm>
          <a:prstGeom prst="rect">
            <a:avLst/>
          </a:prstGeom>
          <a:noFill/>
          <a:ln/>
        </p:spPr>
        <p:txBody>
          <a:bodyPr wrap="square" lIns="0" tIns="0" rIns="0" bIns="0" rtlCol="0" anchor="ctr"/>
          <a:lstStyle/>
          <a:p>
            <a:pPr algn="ctr" indent="0" marL="0">
              <a:buNone/>
            </a:pPr>
            <a:r>
              <a:rPr lang="en-US" sz="950" b="1" spc="250" kern="0" dirty="0">
                <a:solidFill>
                  <a:srgbClr val="6E7673"/>
                </a:solidFill>
                <a:latin typeface="Calibri" pitchFamily="34" charset="0"/>
                <a:ea typeface="Calibri" pitchFamily="34" charset="-122"/>
                <a:cs typeface="Calibri" pitchFamily="34" charset="-120"/>
              </a:rPr>
              <a:t>SESIÓN 08</a:t>
            </a:r>
            <a:endParaRPr lang="en-US" sz="950" dirty="0"/>
          </a:p>
        </p:txBody>
      </p:sp>
      <p:sp>
        <p:nvSpPr>
          <p:cNvPr id="16" name="Text 14"/>
          <p:cNvSpPr txBox="1"/>
          <p:nvPr/>
        </p:nvSpPr>
        <p:spPr>
          <a:xfrm>
            <a:off x="5093208" y="3218688"/>
            <a:ext cx="2020824" cy="365760"/>
          </a:xfrm>
          <a:prstGeom prst="rect">
            <a:avLst/>
          </a:prstGeom>
          <a:noFill/>
          <a:ln/>
        </p:spPr>
        <p:txBody>
          <a:bodyPr wrap="square" lIns="0" tIns="0" rIns="0" bIns="0" rtlCol="0" anchor="ctr"/>
          <a:lstStyle/>
          <a:p>
            <a:pPr algn="ctr" indent="0" marL="0">
              <a:buNone/>
            </a:pPr>
            <a:r>
              <a:rPr lang="en-US" sz="1500" b="1" dirty="0">
                <a:solidFill>
                  <a:srgbClr val="36C4CC"/>
                </a:solidFill>
                <a:latin typeface="Calibri" pitchFamily="34" charset="0"/>
                <a:ea typeface="Calibri" pitchFamily="34" charset="-122"/>
                <a:cs typeface="Calibri" pitchFamily="34" charset="-120"/>
              </a:rPr>
              <a:t>CSS3</a:t>
            </a:r>
            <a:endParaRPr lang="en-US" sz="1500" dirty="0"/>
          </a:p>
        </p:txBody>
      </p:sp>
      <p:sp>
        <p:nvSpPr>
          <p:cNvPr id="17" name="Text 15"/>
          <p:cNvSpPr txBox="1"/>
          <p:nvPr/>
        </p:nvSpPr>
        <p:spPr>
          <a:xfrm>
            <a:off x="5184648" y="4133088"/>
            <a:ext cx="1837944" cy="457200"/>
          </a:xfrm>
          <a:prstGeom prst="rect">
            <a:avLst/>
          </a:prstGeom>
          <a:noFill/>
          <a:ln/>
        </p:spPr>
        <p:txBody>
          <a:bodyPr wrap="square" lIns="0" tIns="0" rIns="0" bIns="0" rtlCol="0" anchor="t"/>
          <a:lstStyle/>
          <a:p>
            <a:pPr algn="ctr" indent="0" marL="0">
              <a:buNone/>
            </a:pPr>
            <a:r>
              <a:rPr lang="en-US" sz="1050" dirty="0">
                <a:solidFill>
                  <a:srgbClr val="6E7673"/>
                </a:solidFill>
                <a:latin typeface="Calibri" pitchFamily="34" charset="0"/>
                <a:ea typeface="Calibri" pitchFamily="34" charset="-122"/>
                <a:cs typeface="Calibri" pitchFamily="34" charset="-120"/>
              </a:rPr>
              <a:t>Por fin le damos estilo a todo.</a:t>
            </a:r>
            <a:endParaRPr lang="en-US" sz="1050" dirty="0"/>
          </a:p>
        </p:txBody>
      </p:sp>
      <p:sp>
        <p:nvSpPr>
          <p:cNvPr id="18" name="Shape 16"/>
          <p:cNvSpPr/>
          <p:nvPr/>
        </p:nvSpPr>
        <p:spPr>
          <a:xfrm>
            <a:off x="8046720" y="3817620"/>
            <a:ext cx="155448" cy="155448"/>
          </a:xfrm>
          <a:prstGeom prst="ellipse">
            <a:avLst/>
          </a:prstGeom>
          <a:solidFill>
            <a:srgbClr val="4FB817"/>
          </a:solidFill>
          <a:ln w="12700">
            <a:solidFill>
              <a:srgbClr val="4FB817"/>
            </a:solidFill>
            <a:prstDash val="solid"/>
          </a:ln>
        </p:spPr>
      </p:sp>
      <p:sp>
        <p:nvSpPr>
          <p:cNvPr id="19" name="Text 17"/>
          <p:cNvSpPr txBox="1"/>
          <p:nvPr/>
        </p:nvSpPr>
        <p:spPr>
          <a:xfrm>
            <a:off x="7114032" y="2962656"/>
            <a:ext cx="2020824" cy="237744"/>
          </a:xfrm>
          <a:prstGeom prst="rect">
            <a:avLst/>
          </a:prstGeom>
          <a:noFill/>
          <a:ln/>
        </p:spPr>
        <p:txBody>
          <a:bodyPr wrap="square" lIns="0" tIns="0" rIns="0" bIns="0" rtlCol="0" anchor="ctr"/>
          <a:lstStyle/>
          <a:p>
            <a:pPr algn="ctr" indent="0" marL="0">
              <a:buNone/>
            </a:pPr>
            <a:r>
              <a:rPr lang="en-US" sz="950" b="1" spc="250" kern="0" dirty="0">
                <a:solidFill>
                  <a:srgbClr val="6E7673"/>
                </a:solidFill>
                <a:latin typeface="Calibri" pitchFamily="34" charset="0"/>
                <a:ea typeface="Calibri" pitchFamily="34" charset="-122"/>
                <a:cs typeface="Calibri" pitchFamily="34" charset="-120"/>
              </a:rPr>
              <a:t>SESIÓN 09</a:t>
            </a:r>
            <a:endParaRPr lang="en-US" sz="950" dirty="0"/>
          </a:p>
        </p:txBody>
      </p:sp>
      <p:sp>
        <p:nvSpPr>
          <p:cNvPr id="20" name="Text 18"/>
          <p:cNvSpPr txBox="1"/>
          <p:nvPr/>
        </p:nvSpPr>
        <p:spPr>
          <a:xfrm>
            <a:off x="7114032" y="3218688"/>
            <a:ext cx="2020824" cy="365760"/>
          </a:xfrm>
          <a:prstGeom prst="rect">
            <a:avLst/>
          </a:prstGeom>
          <a:noFill/>
          <a:ln/>
        </p:spPr>
        <p:txBody>
          <a:bodyPr wrap="square" lIns="0" tIns="0" rIns="0" bIns="0" rtlCol="0" anchor="ctr"/>
          <a:lstStyle/>
          <a:p>
            <a:pPr algn="ctr" indent="0" marL="0">
              <a:buNone/>
            </a:pPr>
            <a:r>
              <a:rPr lang="en-US" sz="1500" b="1" dirty="0">
                <a:solidFill>
                  <a:srgbClr val="4FB817"/>
                </a:solidFill>
                <a:latin typeface="Calibri" pitchFamily="34" charset="0"/>
                <a:ea typeface="Calibri" pitchFamily="34" charset="-122"/>
                <a:cs typeface="Calibri" pitchFamily="34" charset="-120"/>
              </a:rPr>
              <a:t>Propiedades</a:t>
            </a:r>
            <a:endParaRPr lang="en-US" sz="1500" dirty="0"/>
          </a:p>
        </p:txBody>
      </p:sp>
      <p:sp>
        <p:nvSpPr>
          <p:cNvPr id="21" name="Text 19"/>
          <p:cNvSpPr txBox="1"/>
          <p:nvPr/>
        </p:nvSpPr>
        <p:spPr>
          <a:xfrm>
            <a:off x="7205472" y="4133088"/>
            <a:ext cx="1837944" cy="457200"/>
          </a:xfrm>
          <a:prstGeom prst="rect">
            <a:avLst/>
          </a:prstGeom>
          <a:noFill/>
          <a:ln/>
        </p:spPr>
        <p:txBody>
          <a:bodyPr wrap="square" lIns="0" tIns="0" rIns="0" bIns="0" rtlCol="0" anchor="t"/>
          <a:lstStyle/>
          <a:p>
            <a:pPr algn="ctr" indent="0" marL="0">
              <a:buNone/>
            </a:pPr>
            <a:r>
              <a:rPr lang="en-US" sz="1050" dirty="0">
                <a:solidFill>
                  <a:srgbClr val="6E7673"/>
                </a:solidFill>
                <a:latin typeface="Calibri" pitchFamily="34" charset="0"/>
                <a:ea typeface="Calibri" pitchFamily="34" charset="-122"/>
                <a:cs typeface="Calibri" pitchFamily="34" charset="-120"/>
              </a:rPr>
              <a:t>Color, tipografía, fondos y bordes.</a:t>
            </a:r>
            <a:endParaRPr lang="en-US" sz="1050" dirty="0"/>
          </a:p>
        </p:txBody>
      </p:sp>
      <p:sp>
        <p:nvSpPr>
          <p:cNvPr id="22" name="Shape 20"/>
          <p:cNvSpPr/>
          <p:nvPr/>
        </p:nvSpPr>
        <p:spPr>
          <a:xfrm>
            <a:off x="10067544" y="3817620"/>
            <a:ext cx="155448" cy="155448"/>
          </a:xfrm>
          <a:prstGeom prst="ellipse">
            <a:avLst/>
          </a:prstGeom>
          <a:solidFill>
            <a:srgbClr val="63ED12"/>
          </a:solidFill>
          <a:ln w="12700">
            <a:solidFill>
              <a:srgbClr val="63ED12"/>
            </a:solidFill>
            <a:prstDash val="solid"/>
          </a:ln>
        </p:spPr>
      </p:sp>
      <p:sp>
        <p:nvSpPr>
          <p:cNvPr id="23" name="Text 21"/>
          <p:cNvSpPr txBox="1"/>
          <p:nvPr/>
        </p:nvSpPr>
        <p:spPr>
          <a:xfrm>
            <a:off x="9134856" y="2962656"/>
            <a:ext cx="2020824" cy="237744"/>
          </a:xfrm>
          <a:prstGeom prst="rect">
            <a:avLst/>
          </a:prstGeom>
          <a:noFill/>
          <a:ln/>
        </p:spPr>
        <p:txBody>
          <a:bodyPr wrap="square" lIns="0" tIns="0" rIns="0" bIns="0" rtlCol="0" anchor="ctr"/>
          <a:lstStyle/>
          <a:p>
            <a:pPr algn="ctr" indent="0" marL="0">
              <a:buNone/>
            </a:pPr>
            <a:r>
              <a:rPr lang="en-US" sz="950" b="1" spc="250" kern="0" dirty="0">
                <a:solidFill>
                  <a:srgbClr val="6E7673"/>
                </a:solidFill>
                <a:latin typeface="Calibri" pitchFamily="34" charset="0"/>
                <a:ea typeface="Calibri" pitchFamily="34" charset="-122"/>
                <a:cs typeface="Calibri" pitchFamily="34" charset="-120"/>
              </a:rPr>
              <a:t>SESIÓN 10</a:t>
            </a:r>
            <a:endParaRPr lang="en-US" sz="950" dirty="0"/>
          </a:p>
        </p:txBody>
      </p:sp>
      <p:sp>
        <p:nvSpPr>
          <p:cNvPr id="24" name="Text 22"/>
          <p:cNvSpPr txBox="1"/>
          <p:nvPr/>
        </p:nvSpPr>
        <p:spPr>
          <a:xfrm>
            <a:off x="9134856" y="3218688"/>
            <a:ext cx="2020824" cy="365760"/>
          </a:xfrm>
          <a:prstGeom prst="rect">
            <a:avLst/>
          </a:prstGeom>
          <a:noFill/>
          <a:ln/>
        </p:spPr>
        <p:txBody>
          <a:bodyPr wrap="square" lIns="0" tIns="0" rIns="0" bIns="0" rtlCol="0" anchor="ctr"/>
          <a:lstStyle/>
          <a:p>
            <a:pPr algn="ctr" indent="0" marL="0">
              <a:buNone/>
            </a:pPr>
            <a:r>
              <a:rPr lang="en-US" sz="1500" b="1" dirty="0">
                <a:solidFill>
                  <a:srgbClr val="4FB817"/>
                </a:solidFill>
                <a:latin typeface="Calibri" pitchFamily="34" charset="0"/>
                <a:ea typeface="Calibri" pitchFamily="34" charset="-122"/>
                <a:cs typeface="Calibri" pitchFamily="34" charset="-120"/>
              </a:rPr>
              <a:t>Maquetación</a:t>
            </a:r>
            <a:endParaRPr lang="en-US" sz="1500" dirty="0"/>
          </a:p>
        </p:txBody>
      </p:sp>
      <p:sp>
        <p:nvSpPr>
          <p:cNvPr id="25" name="Text 23"/>
          <p:cNvSpPr txBox="1"/>
          <p:nvPr/>
        </p:nvSpPr>
        <p:spPr>
          <a:xfrm>
            <a:off x="9226296" y="4133088"/>
            <a:ext cx="1837944" cy="457200"/>
          </a:xfrm>
          <a:prstGeom prst="rect">
            <a:avLst/>
          </a:prstGeom>
          <a:noFill/>
          <a:ln/>
        </p:spPr>
        <p:txBody>
          <a:bodyPr wrap="square" lIns="0" tIns="0" rIns="0" bIns="0" rtlCol="0" anchor="t"/>
          <a:lstStyle/>
          <a:p>
            <a:pPr algn="ctr" indent="0" marL="0">
              <a:buNone/>
            </a:pPr>
            <a:r>
              <a:rPr lang="en-US" sz="1050" dirty="0">
                <a:solidFill>
                  <a:srgbClr val="6E7673"/>
                </a:solidFill>
                <a:latin typeface="Calibri" pitchFamily="34" charset="0"/>
                <a:ea typeface="Calibri" pitchFamily="34" charset="-122"/>
                <a:cs typeface="Calibri" pitchFamily="34" charset="-120"/>
              </a:rPr>
              <a:t>Modelo de caja, flexbox y grid.</a:t>
            </a:r>
            <a:endParaRPr lang="en-US" sz="1050" dirty="0"/>
          </a:p>
        </p:txBody>
      </p:sp>
      <p:sp>
        <p:nvSpPr>
          <p:cNvPr id="26" name="Shape 24"/>
          <p:cNvSpPr/>
          <p:nvPr/>
        </p:nvSpPr>
        <p:spPr>
          <a:xfrm>
            <a:off x="640080" y="5340096"/>
            <a:ext cx="10927080" cy="694944"/>
          </a:xfrm>
          <a:prstGeom prst="roundRect">
            <a:avLst>
              <a:gd name="adj" fmla="val 13158"/>
            </a:avLst>
          </a:prstGeom>
          <a:solidFill>
            <a:srgbClr val="F0FCE8"/>
          </a:solidFill>
          <a:ln w="12700">
            <a:solidFill>
              <a:srgbClr val="D9F2CC"/>
            </a:solidFill>
            <a:prstDash val="solid"/>
          </a:ln>
        </p:spPr>
      </p:sp>
      <p:sp>
        <p:nvSpPr>
          <p:cNvPr id="27" name="Text 25"/>
          <p:cNvSpPr txBox="1"/>
          <p:nvPr/>
        </p:nvSpPr>
        <p:spPr>
          <a:xfrm>
            <a:off x="950976" y="5340096"/>
            <a:ext cx="10305288" cy="694944"/>
          </a:xfrm>
          <a:prstGeom prst="rect">
            <a:avLst/>
          </a:prstGeom>
          <a:noFill/>
          <a:ln/>
        </p:spPr>
        <p:txBody>
          <a:bodyPr wrap="square" lIns="0" tIns="0" rIns="0" bIns="0" rtlCol="0" anchor="ctr"/>
          <a:lstStyle/>
          <a:p>
            <a:pPr indent="0" marL="0">
              <a:buNone/>
            </a:pPr>
            <a:r>
              <a:rPr lang="en-US" sz="1250" dirty="0">
                <a:solidFill>
                  <a:srgbClr val="424242"/>
                </a:solidFill>
                <a:latin typeface="Calibri" pitchFamily="34" charset="0"/>
                <a:ea typeface="Calibri" pitchFamily="34" charset="-122"/>
                <a:cs typeface="Calibri" pitchFamily="34" charset="-120"/>
              </a:rPr>
              <a:t>Para la sesión 08: trae tu portafolio publicado y tu Figma corregido hasta el Paso 9. Empezamos a pasar el diseño a CSS.</a:t>
            </a:r>
            <a:endParaRPr lang="en-US" sz="1250" dirty="0"/>
          </a:p>
        </p:txBody>
      </p:sp>
      <p:sp>
        <p:nvSpPr>
          <p:cNvPr id="28" name="Text 26"/>
          <p:cNvSpPr txBox="1"/>
          <p:nvPr/>
        </p:nvSpPr>
        <p:spPr>
          <a:xfrm>
            <a:off x="640080" y="6181344"/>
            <a:ext cx="4572000" cy="237744"/>
          </a:xfrm>
          <a:prstGeom prst="rect">
            <a:avLst/>
          </a:prstGeom>
          <a:noFill/>
          <a:ln/>
        </p:spPr>
        <p:txBody>
          <a:bodyPr wrap="square" lIns="0" tIns="0" rIns="0" bIns="0" rtlCol="0" anchor="ctr"/>
          <a:lstStyle/>
          <a:p>
            <a:pPr indent="0" marL="0">
              <a:buNone/>
            </a:pPr>
            <a:r>
              <a:rPr lang="en-US" sz="1050" dirty="0">
                <a:solidFill>
                  <a:srgbClr val="6E7673"/>
                </a:solidFill>
                <a:latin typeface="Calibri" pitchFamily="34" charset="0"/>
                <a:ea typeface="Calibri" pitchFamily="34" charset="-122"/>
                <a:cs typeface="Calibri" pitchFamily="34" charset="-120"/>
              </a:rPr>
              <a:t>Ing. Dagner Anibal Chuman Lluen</a:t>
            </a:r>
            <a:endParaRPr lang="en-US" sz="1050" dirty="0"/>
          </a:p>
        </p:txBody>
      </p:sp>
      <p:sp>
        <p:nvSpPr>
          <p:cNvPr id="29" name="Text 27"/>
          <p:cNvSpPr txBox="1"/>
          <p:nvPr/>
        </p:nvSpPr>
        <p:spPr>
          <a:xfrm>
            <a:off x="10607040" y="6455664"/>
            <a:ext cx="1325880" cy="219456"/>
          </a:xfrm>
          <a:prstGeom prst="rect">
            <a:avLst/>
          </a:prstGeom>
          <a:noFill/>
          <a:ln/>
        </p:spPr>
        <p:txBody>
          <a:bodyPr wrap="square" lIns="0" tIns="0" rIns="0" bIns="0" rtlCol="0" anchor="ctr"/>
          <a:lstStyle/>
          <a:p>
            <a:pPr algn="r" indent="0" marL="0">
              <a:buNone/>
            </a:pPr>
            <a:r>
              <a:rPr lang="en-US" sz="800" dirty="0">
                <a:solidFill>
                  <a:srgbClr val="AEB5B3"/>
                </a:solidFill>
                <a:latin typeface="Calibri" pitchFamily="34" charset="0"/>
                <a:ea typeface="Calibri" pitchFamily="34" charset="-122"/>
                <a:cs typeface="Calibri" pitchFamily="34" charset="-120"/>
              </a:rPr>
              <a:t>48 / 48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Centro de Informática USS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07 · Multimedia avanzada en HTML5</dc:title>
  <dc:subject>Curso de Diseño Web</dc:subject>
  <dc:creator>Ing. Dagner Anibal Chuman Lluen</dc:creator>
  <cp:lastModifiedBy>Ing. Dagner Anibal Chuman Lluen</cp:lastModifiedBy>
  <cp:revision>1</cp:revision>
  <dcterms:created xsi:type="dcterms:W3CDTF">2026-10-04T05:28:49Z</dcterms:created>
  <dcterms:modified xsi:type="dcterms:W3CDTF">2026-10-04T05:28:49Z</dcterms:modified>
</cp:coreProperties>
</file>