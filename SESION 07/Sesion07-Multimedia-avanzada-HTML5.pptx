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icio" id="{dd14fbab-9637-5815-e56c-0f17c0c7d88d}">
          <p14:sldIdLst>
            <p14:sldId id="256"/>
            <p14:sldId id="257"/>
            <p14:sldId id="258"/>
            <p14:sldId id="259"/>
          </p14:sldIdLst>
        </p14:section>
        <p14:section name="Conceptual" id="{0e97ba82-4128-ac88-2e15-cd4c86aaf106}">
          <p14:sldIdLst>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Lst>
        </p14:section>
        <p14:section name="Instrumental" id="{2b94e9b5-0134-eeb3-13f7-5eb42f9a438e}">
          <p14:sldIdLst>
            <p14:sldId id="289"/>
            <p14:sldId id="290"/>
            <p14:sldId id="291"/>
            <p14:sldId id="292"/>
            <p14:sldId id="293"/>
            <p14:sldId id="294"/>
            <p14:sldId id="295"/>
          </p14:sldIdLst>
        </p14:section>
        <p14:section name="Nivelador" id="{23141c8e-b3ae-5124-f5fa-30d3329474c8}">
          <p14:sldIdLst>
            <p14:sldId id="296"/>
            <p14:sldId id="297"/>
            <p14:sldId id="298"/>
          </p14:sldIdLst>
        </p14:section>
        <p14:section name="Funcional" id="{848b9b91-00ae-d0f3-bce5-07ac884f7082}">
          <p14:sldIdLst>
            <p14:sldId id="299"/>
            <p14:sldId id="300"/>
          </p14:sldIdLst>
        </p14:section>
        <p14:section name="Orientador" id="{f006d138-8f6d-2bf0-63eb-9c23caf21975}">
          <p14:sldIdLst>
            <p14:sldId id="301"/>
            <p14:sldId id="302"/>
            <p14:sldId id="30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Preguntas de arranque: ¿qué formatos de video conocen? ¿Qué pasa cuando un video no carga en una página?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minutos. Repaso de la sesión 06. Objetivo: terminar con el formulario funcionando en contactame.html antes de pasar a multimedia.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Abrir contactame.html con Live Server. Tras escribirlo: enviar vacío para ver la validación, luego completo para ver los pares name=valor en la barra de direcciones.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Abrir sobre-mi.html en VS Code con Live Server. Seguir los seis pasos en orden. Mostrar en DevTools › Network cómo cambia la descarga al pasar de preload="auto" a "metadata".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minutos para el bloque de Figma. Primero se corrige en vivo la cabecera con esta tabla; después se construyen los Pasos 7 al 9 con la Guía de Figma de la sesión. La sesión 08 lee estas medidas para escribir header.css.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jp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jp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7-1.jpg"/><Relationship Id="rId2"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jpg"/><Relationship Id="rId2"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image" Target="../media/image-1009-1.jpg"/><Relationship Id="rId2"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image" Target="../media/image-1010-1.jpg"/><Relationship Id="rId2"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image" Target="../media/image-1011-1.jpg"/><Relationship Id="rId2"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image" Target="../media/image-1012-1.jpg"/><Relationship Id="rId2"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image" Target="../media/image-1013-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FFFFFF"/>
        </a:solidFill>
      </p:bgPr>
    </p:bg>
    <p:spTree>
      <p:nvGrpSpPr>
        <p:cNvPr id="1" name=""/>
        <p:cNvGrpSpPr/>
        <p:nvPr/>
      </p:nvGrpSpPr>
      <p:grpSpPr>
        <a:xfrm>
          <a:off x="0" y="0"/>
          <a:ext cx="0" cy="0"/>
          <a:chOff x="0" y="0"/>
          <a:chExt cx="0" cy="0"/>
        </a:xfrm>
      </p:grpSpPr>
      <p:pic>
        <p:nvPicPr>
          <p:cNvPr id="2" name="Image 0" descr="/home/claude/trabajo/plantilla/assets/portada-top.png">    </p:cNvPr>
          <p:cNvPicPr>
            <a:picLocks noChangeAspect="1"/>
          </p:cNvPicPr>
          <p:nvPr/>
        </p:nvPicPr>
        <p:blipFill>
          <a:blip r:embed="rId1"/>
          <a:stretch>
            <a:fillRect/>
          </a:stretch>
        </p:blipFill>
        <p:spPr>
          <a:xfrm>
            <a:off x="0" y="0"/>
            <a:ext cx="12191695" cy="146304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MAGEN">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CEPTUAL">
    <p:bg>
      <p:bgPr>
        <a:solidFill>
          <a:srgbClr val="FFFFFF"/>
        </a:solidFill>
      </p:bgPr>
    </p:bg>
    <p:spTree>
      <p:nvGrpSpPr>
        <p:cNvPr id="1" name=""/>
        <p:cNvGrpSpPr/>
        <p:nvPr/>
      </p:nvGrpSpPr>
      <p:grpSpPr>
        <a:xfrm>
          <a:off x="0" y="0"/>
          <a:ext cx="0" cy="0"/>
          <a:chOff x="0" y="0"/>
          <a:chExt cx="0" cy="0"/>
        </a:xfrm>
      </p:grpSpPr>
      <p:pic>
        <p:nvPicPr>
          <p:cNvPr id="2" name="Image 0" descr="/home/claude/trabajo/plantilla/assets/band-conceptual.jpg">    </p:cNvPr>
          <p:cNvPicPr>
            <a:picLocks noChangeAspect="1"/>
          </p:cNvPicPr>
          <p:nvPr/>
        </p:nvPicPr>
        <p:blipFill>
          <a:blip r:embed="rId1"/>
          <a:stretch>
            <a:fillRect/>
          </a:stretch>
        </p:blipFill>
        <p:spPr>
          <a:xfrm>
            <a:off x="0" y="0"/>
            <a:ext cx="12191695" cy="1188720"/>
          </a:xfrm>
          <a:prstGeom prst="rect">
            <a:avLst/>
          </a:prstGeom>
        </p:spPr>
      </p:pic>
      <p:sp>
        <p:nvSpPr>
          <p:cNvPr id="3" name="Text 0"/>
          <p:cNvSpPr/>
          <p:nvPr>
            <p:ph idx="101" type="title" hasCustomPrompt="1"/>
          </p:nvPr>
        </p:nvSpPr>
        <p:spPr>
          <a:xfrm>
            <a:off x="640080" y="1810512"/>
            <a:ext cx="10927080" cy="512064"/>
          </a:xfrm>
          <a:prstGeom prst="rect">
            <a:avLst/>
          </a:prstGeom>
          <a:noFill/>
          <a:ln/>
        </p:spPr>
        <p:txBody>
          <a:bodyPr wrap="square" rtlCol="0"/>
          <a:lstStyle>
            <a:lvl1pPr algn="l" indent="0" marL="0">
              <a:buNone/>
              <a:defRPr lang="en-US" sz="2800" b="1" dirty="0">
                <a:solidFill>
                  <a:srgbClr val="1F2326"/>
                </a:solidFill>
                <a:latin typeface="Calibri" pitchFamily="34" charset="0"/>
                <a:ea typeface="Calibri" pitchFamily="34" charset="-122"/>
                <a:cs typeface="Calibri" pitchFamily="34" charset="-120"/>
              </a:defRPr>
            </a:lvl1pPr>
          </a:lstStyle>
          <a:p>
            <a:pPr algn="l" indent="0" marL="0">
              <a:buNone/>
            </a:pPr>
            <a:endParaRPr lang="en-US" sz="28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CEPTUAL_LIBRE">
    <p:bg>
      <p:bgPr>
        <a:solidFill>
          <a:srgbClr val="FFFFFF"/>
        </a:solidFill>
      </p:bgPr>
    </p:bg>
    <p:spTree>
      <p:nvGrpSpPr>
        <p:cNvPr id="1" name=""/>
        <p:cNvGrpSpPr/>
        <p:nvPr/>
      </p:nvGrpSpPr>
      <p:grpSpPr>
        <a:xfrm>
          <a:off x="0" y="0"/>
          <a:ext cx="0" cy="0"/>
          <a:chOff x="0" y="0"/>
          <a:chExt cx="0" cy="0"/>
        </a:xfrm>
      </p:grpSpPr>
      <p:pic>
        <p:nvPicPr>
          <p:cNvPr id="2" name="Image 0" descr="/home/claude/trabajo/plantilla/assets/band-conceptual.jpg">    </p:cNvPr>
          <p:cNvPicPr>
            <a:picLocks noChangeAspect="1"/>
          </p:cNvPicPr>
          <p:nvPr/>
        </p:nvPicPr>
        <p:blipFill>
          <a:blip r:embed="rId1"/>
          <a:stretch>
            <a:fillRect/>
          </a:stretch>
        </p:blipFill>
        <p:spPr>
          <a:xfrm>
            <a:off x="0" y="0"/>
            <a:ext cx="12191695" cy="118872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INSTRUMENTAL">
    <p:bg>
      <p:bgPr>
        <a:solidFill>
          <a:srgbClr val="FFFFFF"/>
        </a:solidFill>
      </p:bgPr>
    </p:bg>
    <p:spTree>
      <p:nvGrpSpPr>
        <p:cNvPr id="1" name=""/>
        <p:cNvGrpSpPr/>
        <p:nvPr/>
      </p:nvGrpSpPr>
      <p:grpSpPr>
        <a:xfrm>
          <a:off x="0" y="0"/>
          <a:ext cx="0" cy="0"/>
          <a:chOff x="0" y="0"/>
          <a:chExt cx="0" cy="0"/>
        </a:xfrm>
      </p:grpSpPr>
      <p:pic>
        <p:nvPicPr>
          <p:cNvPr id="2" name="Image 0" descr="/home/claude/trabajo/plantilla/assets/band-instrumental.jpg">    </p:cNvPr>
          <p:cNvPicPr>
            <a:picLocks noChangeAspect="1"/>
          </p:cNvPicPr>
          <p:nvPr/>
        </p:nvPicPr>
        <p:blipFill>
          <a:blip r:embed="rId1"/>
          <a:stretch>
            <a:fillRect/>
          </a:stretch>
        </p:blipFill>
        <p:spPr>
          <a:xfrm>
            <a:off x="0" y="0"/>
            <a:ext cx="12191695" cy="1188720"/>
          </a:xfrm>
          <a:prstGeom prst="rect">
            <a:avLst/>
          </a:prstGeom>
        </p:spPr>
      </p:pic>
      <p:sp>
        <p:nvSpPr>
          <p:cNvPr id="3" name="Text 0"/>
          <p:cNvSpPr/>
          <p:nvPr>
            <p:ph idx="101" type="title" hasCustomPrompt="1"/>
          </p:nvPr>
        </p:nvSpPr>
        <p:spPr>
          <a:xfrm>
            <a:off x="640080" y="1810512"/>
            <a:ext cx="10927080" cy="512064"/>
          </a:xfrm>
          <a:prstGeom prst="rect">
            <a:avLst/>
          </a:prstGeom>
          <a:noFill/>
          <a:ln/>
        </p:spPr>
        <p:txBody>
          <a:bodyPr wrap="square" rtlCol="0"/>
          <a:lstStyle>
            <a:lvl1pPr algn="l" indent="0" marL="0">
              <a:buNone/>
              <a:defRPr lang="en-US" sz="2800" b="1" dirty="0">
                <a:solidFill>
                  <a:srgbClr val="1F2326"/>
                </a:solidFill>
                <a:latin typeface="Calibri" pitchFamily="34" charset="0"/>
                <a:ea typeface="Calibri" pitchFamily="34" charset="-122"/>
                <a:cs typeface="Calibri" pitchFamily="34" charset="-120"/>
              </a:defRPr>
            </a:lvl1pPr>
          </a:lstStyle>
          <a:p>
            <a:pPr algn="l" indent="0" marL="0">
              <a:buNone/>
            </a:pPr>
            <a:endParaRPr lang="en-US" sz="280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INSTRUMENTAL_LIBRE">
    <p:bg>
      <p:bgPr>
        <a:solidFill>
          <a:srgbClr val="FFFFFF"/>
        </a:solidFill>
      </p:bgPr>
    </p:bg>
    <p:spTree>
      <p:nvGrpSpPr>
        <p:cNvPr id="1" name=""/>
        <p:cNvGrpSpPr/>
        <p:nvPr/>
      </p:nvGrpSpPr>
      <p:grpSpPr>
        <a:xfrm>
          <a:off x="0" y="0"/>
          <a:ext cx="0" cy="0"/>
          <a:chOff x="0" y="0"/>
          <a:chExt cx="0" cy="0"/>
        </a:xfrm>
      </p:grpSpPr>
      <p:pic>
        <p:nvPicPr>
          <p:cNvPr id="2" name="Image 0" descr="/home/claude/trabajo/plantilla/assets/band-instrumental.jpg">    </p:cNvPr>
          <p:cNvPicPr>
            <a:picLocks noChangeAspect="1"/>
          </p:cNvPicPr>
          <p:nvPr/>
        </p:nvPicPr>
        <p:blipFill>
          <a:blip r:embed="rId1"/>
          <a:stretch>
            <a:fillRect/>
          </a:stretch>
        </p:blipFill>
        <p:spPr>
          <a:xfrm>
            <a:off x="0" y="0"/>
            <a:ext cx="12191695" cy="118872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NIVELADOR">
    <p:bg>
      <p:bgPr>
        <a:solidFill>
          <a:srgbClr val="FFFFFF"/>
        </a:solidFill>
      </p:bgPr>
    </p:bg>
    <p:spTree>
      <p:nvGrpSpPr>
        <p:cNvPr id="1" name=""/>
        <p:cNvGrpSpPr/>
        <p:nvPr/>
      </p:nvGrpSpPr>
      <p:grpSpPr>
        <a:xfrm>
          <a:off x="0" y="0"/>
          <a:ext cx="0" cy="0"/>
          <a:chOff x="0" y="0"/>
          <a:chExt cx="0" cy="0"/>
        </a:xfrm>
      </p:grpSpPr>
      <p:pic>
        <p:nvPicPr>
          <p:cNvPr id="2" name="Image 0" descr="/home/claude/trabajo/plantilla/assets/band-nivelador.jpg">    </p:cNvPr>
          <p:cNvPicPr>
            <a:picLocks noChangeAspect="1"/>
          </p:cNvPicPr>
          <p:nvPr/>
        </p:nvPicPr>
        <p:blipFill>
          <a:blip r:embed="rId1"/>
          <a:stretch>
            <a:fillRect/>
          </a:stretch>
        </p:blipFill>
        <p:spPr>
          <a:xfrm>
            <a:off x="0" y="0"/>
            <a:ext cx="12191695" cy="1188720"/>
          </a:xfrm>
          <a:prstGeom prst="rect">
            <a:avLst/>
          </a:prstGeom>
        </p:spPr>
      </p:pic>
      <p:sp>
        <p:nvSpPr>
          <p:cNvPr id="3" name="Text 0"/>
          <p:cNvSpPr/>
          <p:nvPr>
            <p:ph idx="101" type="title" hasCustomPrompt="1"/>
          </p:nvPr>
        </p:nvSpPr>
        <p:spPr>
          <a:xfrm>
            <a:off x="640080" y="1810512"/>
            <a:ext cx="10927080" cy="512064"/>
          </a:xfrm>
          <a:prstGeom prst="rect">
            <a:avLst/>
          </a:prstGeom>
          <a:noFill/>
          <a:ln/>
        </p:spPr>
        <p:txBody>
          <a:bodyPr wrap="square" rtlCol="0"/>
          <a:lstStyle>
            <a:lvl1pPr algn="l" indent="0" marL="0">
              <a:buNone/>
              <a:defRPr lang="en-US" sz="2800" b="1" dirty="0">
                <a:solidFill>
                  <a:srgbClr val="1F2326"/>
                </a:solidFill>
                <a:latin typeface="Calibri" pitchFamily="34" charset="0"/>
                <a:ea typeface="Calibri" pitchFamily="34" charset="-122"/>
                <a:cs typeface="Calibri" pitchFamily="34" charset="-120"/>
              </a:defRPr>
            </a:lvl1pPr>
          </a:lstStyle>
          <a:p>
            <a:pPr algn="l" indent="0" marL="0">
              <a:buNone/>
            </a:pPr>
            <a:endParaRPr lang="en-US" sz="2800"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NIVELADOR_LIBRE">
    <p:bg>
      <p:bgPr>
        <a:solidFill>
          <a:srgbClr val="FFFFFF"/>
        </a:solidFill>
      </p:bgPr>
    </p:bg>
    <p:spTree>
      <p:nvGrpSpPr>
        <p:cNvPr id="1" name=""/>
        <p:cNvGrpSpPr/>
        <p:nvPr/>
      </p:nvGrpSpPr>
      <p:grpSpPr>
        <a:xfrm>
          <a:off x="0" y="0"/>
          <a:ext cx="0" cy="0"/>
          <a:chOff x="0" y="0"/>
          <a:chExt cx="0" cy="0"/>
        </a:xfrm>
      </p:grpSpPr>
      <p:pic>
        <p:nvPicPr>
          <p:cNvPr id="2" name="Image 0" descr="/home/claude/trabajo/plantilla/assets/band-nivelador.jpg">    </p:cNvPr>
          <p:cNvPicPr>
            <a:picLocks noChangeAspect="1"/>
          </p:cNvPicPr>
          <p:nvPr/>
        </p:nvPicPr>
        <p:blipFill>
          <a:blip r:embed="rId1"/>
          <a:stretch>
            <a:fillRect/>
          </a:stretch>
        </p:blipFill>
        <p:spPr>
          <a:xfrm>
            <a:off x="0" y="0"/>
            <a:ext cx="12191695" cy="118872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FUNCIONAL">
    <p:bg>
      <p:bgPr>
        <a:solidFill>
          <a:srgbClr val="FFFFFF"/>
        </a:solidFill>
      </p:bgPr>
    </p:bg>
    <p:spTree>
      <p:nvGrpSpPr>
        <p:cNvPr id="1" name=""/>
        <p:cNvGrpSpPr/>
        <p:nvPr/>
      </p:nvGrpSpPr>
      <p:grpSpPr>
        <a:xfrm>
          <a:off x="0" y="0"/>
          <a:ext cx="0" cy="0"/>
          <a:chOff x="0" y="0"/>
          <a:chExt cx="0" cy="0"/>
        </a:xfrm>
      </p:grpSpPr>
      <p:pic>
        <p:nvPicPr>
          <p:cNvPr id="2" name="Image 0" descr="/home/claude/trabajo/plantilla/assets/band-funcional.jpg">    </p:cNvPr>
          <p:cNvPicPr>
            <a:picLocks noChangeAspect="1"/>
          </p:cNvPicPr>
          <p:nvPr/>
        </p:nvPicPr>
        <p:blipFill>
          <a:blip r:embed="rId1"/>
          <a:stretch>
            <a:fillRect/>
          </a:stretch>
        </p:blipFill>
        <p:spPr>
          <a:xfrm>
            <a:off x="0" y="0"/>
            <a:ext cx="12191695" cy="1188720"/>
          </a:xfrm>
          <a:prstGeom prst="rect">
            <a:avLst/>
          </a:prstGeom>
        </p:spPr>
      </p:pic>
      <p:sp>
        <p:nvSpPr>
          <p:cNvPr id="3" name="Text 0"/>
          <p:cNvSpPr/>
          <p:nvPr>
            <p:ph idx="101" type="title" hasCustomPrompt="1"/>
          </p:nvPr>
        </p:nvSpPr>
        <p:spPr>
          <a:xfrm>
            <a:off x="640080" y="1810512"/>
            <a:ext cx="10927080" cy="512064"/>
          </a:xfrm>
          <a:prstGeom prst="rect">
            <a:avLst/>
          </a:prstGeom>
          <a:noFill/>
          <a:ln/>
        </p:spPr>
        <p:txBody>
          <a:bodyPr wrap="square" rtlCol="0"/>
          <a:lstStyle>
            <a:lvl1pPr algn="l" indent="0" marL="0">
              <a:buNone/>
              <a:defRPr lang="en-US" sz="2800" b="1" dirty="0">
                <a:solidFill>
                  <a:srgbClr val="1F2326"/>
                </a:solidFill>
                <a:latin typeface="Calibri" pitchFamily="34" charset="0"/>
                <a:ea typeface="Calibri" pitchFamily="34" charset="-122"/>
                <a:cs typeface="Calibri" pitchFamily="34" charset="-120"/>
              </a:defRPr>
            </a:lvl1pPr>
          </a:lstStyle>
          <a:p>
            <a:pPr algn="l" indent="0" marL="0">
              <a:buNone/>
            </a:pPr>
            <a:endParaRPr lang="en-US" sz="2800"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FUNCIONAL_LIBRE">
    <p:bg>
      <p:bgPr>
        <a:solidFill>
          <a:srgbClr val="FFFFFF"/>
        </a:solidFill>
      </p:bgPr>
    </p:bg>
    <p:spTree>
      <p:nvGrpSpPr>
        <p:cNvPr id="1" name=""/>
        <p:cNvGrpSpPr/>
        <p:nvPr/>
      </p:nvGrpSpPr>
      <p:grpSpPr>
        <a:xfrm>
          <a:off x="0" y="0"/>
          <a:ext cx="0" cy="0"/>
          <a:chOff x="0" y="0"/>
          <a:chExt cx="0" cy="0"/>
        </a:xfrm>
      </p:grpSpPr>
      <p:pic>
        <p:nvPicPr>
          <p:cNvPr id="2" name="Image 0" descr="/home/claude/trabajo/plantilla/assets/band-funcional.jpg">    </p:cNvPr>
          <p:cNvPicPr>
            <a:picLocks noChangeAspect="1"/>
          </p:cNvPicPr>
          <p:nvPr/>
        </p:nvPicPr>
        <p:blipFill>
          <a:blip r:embed="rId1"/>
          <a:stretch>
            <a:fillRect/>
          </a:stretch>
        </p:blipFill>
        <p:spPr>
          <a:xfrm>
            <a:off x="0" y="0"/>
            <a:ext cx="12191695" cy="118872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ORIENTADOR">
    <p:bg>
      <p:bgPr>
        <a:solidFill>
          <a:srgbClr val="FFFFFF"/>
        </a:solidFill>
      </p:bgPr>
    </p:bg>
    <p:spTree>
      <p:nvGrpSpPr>
        <p:cNvPr id="1" name=""/>
        <p:cNvGrpSpPr/>
        <p:nvPr/>
      </p:nvGrpSpPr>
      <p:grpSpPr>
        <a:xfrm>
          <a:off x="0" y="0"/>
          <a:ext cx="0" cy="0"/>
          <a:chOff x="0" y="0"/>
          <a:chExt cx="0" cy="0"/>
        </a:xfrm>
      </p:grpSpPr>
      <p:pic>
        <p:nvPicPr>
          <p:cNvPr id="2" name="Image 0" descr="/home/claude/trabajo/plantilla/assets/band-orientador.jpg">    </p:cNvPr>
          <p:cNvPicPr>
            <a:picLocks noChangeAspect="1"/>
          </p:cNvPicPr>
          <p:nvPr/>
        </p:nvPicPr>
        <p:blipFill>
          <a:blip r:embed="rId1"/>
          <a:stretch>
            <a:fillRect/>
          </a:stretch>
        </p:blipFill>
        <p:spPr>
          <a:xfrm>
            <a:off x="0" y="0"/>
            <a:ext cx="12191695" cy="1188720"/>
          </a:xfrm>
          <a:prstGeom prst="rect">
            <a:avLst/>
          </a:prstGeom>
        </p:spPr>
      </p:pic>
      <p:sp>
        <p:nvSpPr>
          <p:cNvPr id="3" name="Text 0"/>
          <p:cNvSpPr/>
          <p:nvPr>
            <p:ph idx="101" type="title" hasCustomPrompt="1"/>
          </p:nvPr>
        </p:nvSpPr>
        <p:spPr>
          <a:xfrm>
            <a:off x="640080" y="1810512"/>
            <a:ext cx="10927080" cy="512064"/>
          </a:xfrm>
          <a:prstGeom prst="rect">
            <a:avLst/>
          </a:prstGeom>
          <a:noFill/>
          <a:ln/>
        </p:spPr>
        <p:txBody>
          <a:bodyPr wrap="square" rtlCol="0"/>
          <a:lstStyle>
            <a:lvl1pPr algn="l" indent="0" marL="0">
              <a:buNone/>
              <a:defRPr lang="en-US" sz="2800" b="1" dirty="0">
                <a:solidFill>
                  <a:srgbClr val="1F2326"/>
                </a:solidFill>
                <a:latin typeface="Calibri" pitchFamily="34" charset="0"/>
                <a:ea typeface="Calibri" pitchFamily="34" charset="-122"/>
                <a:cs typeface="Calibri" pitchFamily="34" charset="-120"/>
              </a:defRPr>
            </a:lvl1pPr>
          </a:lstStyle>
          <a:p>
            <a:pPr algn="l" indent="0" marL="0">
              <a:buNone/>
            </a:pPr>
            <a:endParaRPr lang="en-US" sz="2800"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ORIENTADOR_LIBRE">
    <p:bg>
      <p:bgPr>
        <a:solidFill>
          <a:srgbClr val="FFFFFF"/>
        </a:solidFill>
      </p:bgPr>
    </p:bg>
    <p:spTree>
      <p:nvGrpSpPr>
        <p:cNvPr id="1" name=""/>
        <p:cNvGrpSpPr/>
        <p:nvPr/>
      </p:nvGrpSpPr>
      <p:grpSpPr>
        <a:xfrm>
          <a:off x="0" y="0"/>
          <a:ext cx="0" cy="0"/>
          <a:chOff x="0" y="0"/>
          <a:chExt cx="0" cy="0"/>
        </a:xfrm>
      </p:grpSpPr>
      <p:pic>
        <p:nvPicPr>
          <p:cNvPr id="2" name="Image 0" descr="/home/claude/trabajo/plantilla/assets/band-orientador.jpg">    </p:cNvPr>
          <p:cNvPicPr>
            <a:picLocks noChangeAspect="1"/>
          </p:cNvPicPr>
          <p:nvPr/>
        </p:nvPicPr>
        <p:blipFill>
          <a:blip r:embed="rId1"/>
          <a:stretch>
            <a:fillRect/>
          </a:stretch>
        </p:blipFill>
        <p:spPr>
          <a:xfrm>
            <a:off x="0" y="0"/>
            <a:ext cx="12191695" cy="118872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5.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5.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5.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5.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5.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3.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3.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3.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Indicador de espera">    </p:cNvPr>
          <p:cNvPicPr>
            <a:picLocks noChangeAspect="1"/>
          </p:cNvPicPr>
          <p:nvPr/>
        </p:nvPicPr>
        <p:blipFill>
          <a:blip r:embed="rId1"/>
          <a:stretch>
            <a:fillRect/>
          </a:stretch>
        </p:blipFill>
        <p:spPr>
          <a:xfrm>
            <a:off x="5230368" y="1737360"/>
            <a:ext cx="1737360" cy="1737360"/>
          </a:xfrm>
          <a:prstGeom prst="rect">
            <a:avLst/>
          </a:prstGeom>
        </p:spPr>
      </p:pic>
      <p:sp>
        <p:nvSpPr>
          <p:cNvPr id="3" name="Shape 0"/>
          <p:cNvSpPr/>
          <p:nvPr/>
        </p:nvSpPr>
        <p:spPr>
          <a:xfrm>
            <a:off x="3127248" y="3639312"/>
            <a:ext cx="5943600" cy="841248"/>
          </a:xfrm>
          <a:prstGeom prst="roundRect">
            <a:avLst>
              <a:gd name="adj" fmla="val 50000"/>
            </a:avLst>
          </a:prstGeom>
          <a:solidFill>
            <a:srgbClr val="177E89"/>
          </a:solidFill>
          <a:ln w="12700">
            <a:solidFill>
              <a:srgbClr val="177E89"/>
            </a:solidFill>
            <a:prstDash val="solid"/>
          </a:ln>
        </p:spPr>
      </p:sp>
      <p:sp>
        <p:nvSpPr>
          <p:cNvPr id="4" name="Text 1"/>
          <p:cNvSpPr txBox="1"/>
          <p:nvPr/>
        </p:nvSpPr>
        <p:spPr>
          <a:xfrm>
            <a:off x="3127248" y="3639312"/>
            <a:ext cx="5943600" cy="84124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ESPERANDO A LOS COMPAÑEROS</a:t>
            </a:r>
            <a:endParaRPr lang="en-US" sz="2000" dirty="0"/>
          </a:p>
        </p:txBody>
      </p:sp>
      <p:sp>
        <p:nvSpPr>
          <p:cNvPr id="5" name="Text 2"/>
          <p:cNvSpPr txBox="1"/>
          <p:nvPr/>
        </p:nvSpPr>
        <p:spPr>
          <a:xfrm>
            <a:off x="1371600" y="4700016"/>
            <a:ext cx="9445752" cy="365760"/>
          </a:xfrm>
          <a:prstGeom prst="rect">
            <a:avLst/>
          </a:prstGeom>
          <a:noFill/>
          <a:ln/>
        </p:spPr>
        <p:txBody>
          <a:bodyPr wrap="square" lIns="0" tIns="0" rIns="0" bIns="0" rtlCol="0" anchor="ctr"/>
          <a:lstStyle/>
          <a:p>
            <a:pPr algn="ctr" indent="0" marL="0">
              <a:buNone/>
            </a:pPr>
            <a:r>
              <a:rPr lang="en-US" sz="1600" dirty="0">
                <a:solidFill>
                  <a:srgbClr val="1F2326"/>
                </a:solidFill>
                <a:latin typeface="Calibri" pitchFamily="34" charset="0"/>
                <a:ea typeface="Calibri" pitchFamily="34" charset="-122"/>
                <a:cs typeface="Calibri" pitchFamily="34" charset="-120"/>
              </a:rPr>
              <a:t>Sesión 07 · comenzamos en unos minutos</a:t>
            </a:r>
            <a:endParaRPr lang="en-US" sz="1600" dirty="0"/>
          </a:p>
        </p:txBody>
      </p:sp>
      <p:sp>
        <p:nvSpPr>
          <p:cNvPr id="6" name="Text 3"/>
          <p:cNvSpPr txBox="1"/>
          <p:nvPr/>
        </p:nvSpPr>
        <p:spPr>
          <a:xfrm>
            <a:off x="1371600" y="5120640"/>
            <a:ext cx="9445752" cy="310896"/>
          </a:xfrm>
          <a:prstGeom prst="rect">
            <a:avLst/>
          </a:prstGeom>
          <a:noFill/>
          <a:ln/>
        </p:spPr>
        <p:txBody>
          <a:bodyPr wrap="square" lIns="0" tIns="0" rIns="0" bIns="0" rtlCol="0" anchor="ctr"/>
          <a:lstStyle/>
          <a:p>
            <a:pPr algn="ctr" indent="0" marL="0">
              <a:buNone/>
            </a:pPr>
            <a:r>
              <a:rPr lang="en-US" sz="1150" dirty="0">
                <a:solidFill>
                  <a:srgbClr val="5F676C"/>
                </a:solidFill>
                <a:latin typeface="Calibri" pitchFamily="34" charset="0"/>
                <a:ea typeface="Calibri" pitchFamily="34" charset="-122"/>
                <a:cs typeface="Calibri" pitchFamily="34" charset="-120"/>
              </a:rPr>
              <a:t>Abre tu carpeta mi-portafolio en Visual Studio Code y tu archivo de Figma. Hoy repasamos formularios y dejamos listos el video y el audio.</a:t>
            </a:r>
            <a:endParaRPr lang="en-US" sz="1150" dirty="0"/>
          </a:p>
        </p:txBody>
      </p:sp>
      <p:sp>
        <p:nvSpPr>
          <p:cNvPr id="7" name="Shape 4"/>
          <p:cNvSpPr/>
          <p:nvPr/>
        </p:nvSpPr>
        <p:spPr>
          <a:xfrm>
            <a:off x="4718304" y="5861304"/>
            <a:ext cx="2761488" cy="466344"/>
          </a:xfrm>
          <a:prstGeom prst="roundRect">
            <a:avLst>
              <a:gd name="adj" fmla="val 50000"/>
            </a:avLst>
          </a:prstGeom>
          <a:solidFill>
            <a:srgbClr val="FFFFFF"/>
          </a:solidFill>
          <a:ln w="12700">
            <a:solidFill>
              <a:srgbClr val="CFD5D9"/>
            </a:solidFill>
            <a:prstDash val="solid"/>
          </a:ln>
        </p:spPr>
      </p:sp>
      <p:sp>
        <p:nvSpPr>
          <p:cNvPr id="8" name="Text 5"/>
          <p:cNvSpPr txBox="1"/>
          <p:nvPr/>
        </p:nvSpPr>
        <p:spPr>
          <a:xfrm>
            <a:off x="4718304" y="5861304"/>
            <a:ext cx="2761488" cy="466344"/>
          </a:xfrm>
          <a:prstGeom prst="rect">
            <a:avLst/>
          </a:prstGeom>
          <a:noFill/>
          <a:ln/>
        </p:spPr>
        <p:txBody>
          <a:bodyPr wrap="square" lIns="0" tIns="0" rIns="0" bIns="0" rtlCol="0" anchor="ctr"/>
          <a:lstStyle/>
          <a:p>
            <a:pPr algn="ctr" indent="0" marL="0">
              <a:buNone/>
            </a:pPr>
            <a:r>
              <a:rPr lang="en-US" sz="1000" b="1" spc="300" kern="0" dirty="0">
                <a:solidFill>
                  <a:srgbClr val="5F676C"/>
                </a:solidFill>
                <a:latin typeface="Calibri" pitchFamily="34" charset="0"/>
                <a:ea typeface="Calibri" pitchFamily="34" charset="-122"/>
                <a:cs typeface="Calibri" pitchFamily="34" charset="-120"/>
              </a:rPr>
              <a:t>CURSO DE DISEÑO WEB</a:t>
            </a:r>
            <a:endParaRPr lang="en-US" sz="1000" dirty="0"/>
          </a:p>
        </p:txBody>
      </p:sp>
      <p:sp>
        <p:nvSpPr>
          <p:cNvPr id="9" name="Text 6"/>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01 / 48</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85800" y="2048256"/>
            <a:ext cx="5486400" cy="256032"/>
          </a:xfrm>
          <a:prstGeom prst="rect">
            <a:avLst/>
          </a:prstGeom>
          <a:noFill/>
          <a:ln/>
        </p:spPr>
        <p:txBody>
          <a:bodyPr wrap="square" lIns="0" tIns="0" rIns="0" bIns="0" rtlCol="0" anchor="ctr"/>
          <a:lstStyle/>
          <a:p>
            <a:pPr indent="0" marL="0">
              <a:buNone/>
            </a:pPr>
            <a:r>
              <a:rPr lang="en-US" sz="1100" b="1" spc="300" kern="0" dirty="0">
                <a:solidFill>
                  <a:srgbClr val="177E89"/>
                </a:solidFill>
                <a:latin typeface="Calibri" pitchFamily="34" charset="0"/>
                <a:ea typeface="Calibri" pitchFamily="34" charset="-122"/>
                <a:cs typeface="Calibri" pitchFamily="34" charset="-120"/>
              </a:rPr>
              <a:t>CURSO DE DISEÑO WEB</a:t>
            </a:r>
            <a:endParaRPr lang="en-US" sz="1100" dirty="0"/>
          </a:p>
        </p:txBody>
      </p:sp>
      <p:sp>
        <p:nvSpPr>
          <p:cNvPr id="3" name="Text 1"/>
          <p:cNvSpPr txBox="1"/>
          <p:nvPr/>
        </p:nvSpPr>
        <p:spPr>
          <a:xfrm>
            <a:off x="685800" y="2432304"/>
            <a:ext cx="7223760" cy="914400"/>
          </a:xfrm>
          <a:prstGeom prst="rect">
            <a:avLst/>
          </a:prstGeom>
          <a:noFill/>
          <a:ln/>
        </p:spPr>
        <p:txBody>
          <a:bodyPr wrap="square" lIns="0" tIns="0" rIns="0" bIns="0" rtlCol="0" anchor="ctr"/>
          <a:lstStyle/>
          <a:p>
            <a:pPr indent="0" marL="0">
              <a:buNone/>
            </a:pPr>
            <a:r>
              <a:rPr lang="en-US" sz="3800" b="1" dirty="0">
                <a:solidFill>
                  <a:srgbClr val="1F2326"/>
                </a:solidFill>
                <a:latin typeface="Calibri" pitchFamily="34" charset="0"/>
                <a:ea typeface="Calibri" pitchFamily="34" charset="-122"/>
                <a:cs typeface="Calibri" pitchFamily="34" charset="-120"/>
              </a:rPr>
              <a:t>Multimedia avanzada en HTML5</a:t>
            </a:r>
            <a:endParaRPr lang="en-US" sz="3800" dirty="0"/>
          </a:p>
        </p:txBody>
      </p:sp>
      <p:sp>
        <p:nvSpPr>
          <p:cNvPr id="4" name="Shape 2"/>
          <p:cNvSpPr/>
          <p:nvPr/>
        </p:nvSpPr>
        <p:spPr>
          <a:xfrm>
            <a:off x="685800" y="3566160"/>
            <a:ext cx="2148840" cy="457200"/>
          </a:xfrm>
          <a:prstGeom prst="roundRect">
            <a:avLst>
              <a:gd name="adj" fmla="val 50000"/>
            </a:avLst>
          </a:prstGeom>
          <a:solidFill>
            <a:srgbClr val="177E89"/>
          </a:solidFill>
          <a:ln w="12700">
            <a:solidFill>
              <a:srgbClr val="177E89"/>
            </a:solidFill>
            <a:prstDash val="solid"/>
          </a:ln>
        </p:spPr>
      </p:sp>
      <p:sp>
        <p:nvSpPr>
          <p:cNvPr id="5" name="Text 3"/>
          <p:cNvSpPr txBox="1"/>
          <p:nvPr/>
        </p:nvSpPr>
        <p:spPr>
          <a:xfrm>
            <a:off x="685800" y="3566160"/>
            <a:ext cx="214884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SESIÓN 07</a:t>
            </a:r>
            <a:endParaRPr lang="en-US" sz="1300" dirty="0"/>
          </a:p>
        </p:txBody>
      </p:sp>
      <p:sp>
        <p:nvSpPr>
          <p:cNvPr id="6" name="Text 4"/>
          <p:cNvSpPr txBox="1"/>
          <p:nvPr/>
        </p:nvSpPr>
        <p:spPr>
          <a:xfrm>
            <a:off x="685800" y="4261104"/>
            <a:ext cx="7223760" cy="274320"/>
          </a:xfrm>
          <a:prstGeom prst="rect">
            <a:avLst/>
          </a:prstGeom>
          <a:noFill/>
          <a:ln/>
        </p:spPr>
        <p:txBody>
          <a:bodyPr wrap="square" lIns="0" tIns="0" rIns="0" bIns="0" rtlCol="0" anchor="ctr"/>
          <a:lstStyle/>
          <a:p>
            <a:pPr indent="0" marL="0">
              <a:buNone/>
            </a:pPr>
            <a:r>
              <a:rPr lang="en-US" sz="1250" dirty="0">
                <a:solidFill>
                  <a:srgbClr val="5F676C"/>
                </a:solidFill>
                <a:latin typeface="Calibri" pitchFamily="34" charset="0"/>
                <a:ea typeface="Calibri" pitchFamily="34" charset="-122"/>
                <a:cs typeface="Calibri" pitchFamily="34" charset="-120"/>
              </a:rPr>
              <a:t>Repaso de formularios · video · audio · subtítulos · controles propios</a:t>
            </a:r>
            <a:endParaRPr lang="en-US" sz="1250" dirty="0"/>
          </a:p>
        </p:txBody>
      </p:sp>
      <p:sp>
        <p:nvSpPr>
          <p:cNvPr id="7" name="Text 5"/>
          <p:cNvSpPr txBox="1"/>
          <p:nvPr/>
        </p:nvSpPr>
        <p:spPr>
          <a:xfrm>
            <a:off x="685800" y="4809744"/>
            <a:ext cx="2743200" cy="237744"/>
          </a:xfrm>
          <a:prstGeom prst="rect">
            <a:avLst/>
          </a:prstGeom>
          <a:noFill/>
          <a:ln/>
        </p:spPr>
        <p:txBody>
          <a:bodyPr wrap="square" lIns="0" tIns="0" rIns="0" bIns="0" rtlCol="0" anchor="ctr"/>
          <a:lstStyle/>
          <a:p>
            <a:pPr indent="0" marL="0">
              <a:buNone/>
            </a:pPr>
            <a:r>
              <a:rPr lang="en-US" sz="1000" b="1" spc="200" kern="0" dirty="0">
                <a:solidFill>
                  <a:srgbClr val="5F676C"/>
                </a:solidFill>
                <a:latin typeface="Calibri" pitchFamily="34" charset="0"/>
                <a:ea typeface="Calibri" pitchFamily="34" charset="-122"/>
                <a:cs typeface="Calibri" pitchFamily="34" charset="-120"/>
              </a:rPr>
              <a:t>Docente</a:t>
            </a:r>
            <a:endParaRPr lang="en-US" sz="1000" dirty="0"/>
          </a:p>
        </p:txBody>
      </p:sp>
      <p:sp>
        <p:nvSpPr>
          <p:cNvPr id="8" name="Text 6"/>
          <p:cNvSpPr txBox="1"/>
          <p:nvPr/>
        </p:nvSpPr>
        <p:spPr>
          <a:xfrm>
            <a:off x="685800" y="5084064"/>
            <a:ext cx="5486400" cy="329184"/>
          </a:xfrm>
          <a:prstGeom prst="rect">
            <a:avLst/>
          </a:prstGeom>
          <a:noFill/>
          <a:ln/>
        </p:spPr>
        <p:txBody>
          <a:bodyPr wrap="square" lIns="0" tIns="0" rIns="0" bIns="0" rtlCol="0" anchor="ctr"/>
          <a:lstStyle/>
          <a:p>
            <a:pPr indent="0" marL="0">
              <a:buNone/>
            </a:pPr>
            <a:r>
              <a:rPr lang="en-US" sz="1500" b="1" dirty="0">
                <a:solidFill>
                  <a:srgbClr val="1F2326"/>
                </a:solidFill>
                <a:latin typeface="Calibri" pitchFamily="34" charset="0"/>
                <a:ea typeface="Calibri" pitchFamily="34" charset="-122"/>
                <a:cs typeface="Calibri" pitchFamily="34" charset="-120"/>
              </a:rPr>
              <a:t>Ing. Dagner Anibal Chuman Lluen</a:t>
            </a:r>
            <a:endParaRPr lang="en-US" sz="1500" dirty="0"/>
          </a:p>
        </p:txBody>
      </p:sp>
      <p:sp>
        <p:nvSpPr>
          <p:cNvPr id="9" name="Shape 7"/>
          <p:cNvSpPr/>
          <p:nvPr/>
        </p:nvSpPr>
        <p:spPr>
          <a:xfrm>
            <a:off x="8366760" y="2240280"/>
            <a:ext cx="3200400" cy="2057400"/>
          </a:xfrm>
          <a:prstGeom prst="roundRect">
            <a:avLst>
              <a:gd name="adj" fmla="val 6222"/>
            </a:avLst>
          </a:prstGeom>
          <a:solidFill>
            <a:srgbClr val="2B2B2B"/>
          </a:solidFill>
          <a:ln w="12700">
            <a:solidFill>
              <a:srgbClr val="2B2B2B"/>
            </a:solidFill>
            <a:prstDash val="solid"/>
          </a:ln>
        </p:spPr>
      </p:sp>
      <p:sp>
        <p:nvSpPr>
          <p:cNvPr id="10" name="Shape 8"/>
          <p:cNvSpPr/>
          <p:nvPr/>
        </p:nvSpPr>
        <p:spPr>
          <a:xfrm>
            <a:off x="9601200" y="2697480"/>
            <a:ext cx="731520" cy="731520"/>
          </a:xfrm>
          <a:prstGeom prst="ellipse">
            <a:avLst/>
          </a:prstGeom>
          <a:solidFill>
            <a:srgbClr val="177E89"/>
          </a:solidFill>
          <a:ln w="12700">
            <a:solidFill>
              <a:srgbClr val="177E89"/>
            </a:solidFill>
            <a:prstDash val="solid"/>
          </a:ln>
        </p:spPr>
      </p:sp>
      <p:sp>
        <p:nvSpPr>
          <p:cNvPr id="11" name="Shape 9"/>
          <p:cNvSpPr/>
          <p:nvPr/>
        </p:nvSpPr>
        <p:spPr>
          <a:xfrm rot="5400000">
            <a:off x="9857232" y="2926080"/>
            <a:ext cx="274320" cy="274320"/>
          </a:xfrm>
          <a:prstGeom prst="triangle">
            <a:avLst/>
          </a:prstGeom>
          <a:solidFill>
            <a:srgbClr val="FFFFFF"/>
          </a:solidFill>
          <a:ln w="12700">
            <a:solidFill>
              <a:srgbClr val="FFFFFF"/>
            </a:solidFill>
            <a:prstDash val="solid"/>
          </a:ln>
        </p:spPr>
      </p:sp>
      <p:sp>
        <p:nvSpPr>
          <p:cNvPr id="12" name="Shape 10"/>
          <p:cNvSpPr/>
          <p:nvPr/>
        </p:nvSpPr>
        <p:spPr>
          <a:xfrm>
            <a:off x="8641080" y="3822192"/>
            <a:ext cx="2651760" cy="64008"/>
          </a:xfrm>
          <a:prstGeom prst="roundRect">
            <a:avLst>
              <a:gd name="adj" fmla="val 50000"/>
            </a:avLst>
          </a:prstGeom>
          <a:solidFill>
            <a:srgbClr val="5A5F5C"/>
          </a:solidFill>
          <a:ln w="12700">
            <a:solidFill>
              <a:srgbClr val="5A5F5C"/>
            </a:solidFill>
            <a:prstDash val="solid"/>
          </a:ln>
        </p:spPr>
      </p:sp>
      <p:sp>
        <p:nvSpPr>
          <p:cNvPr id="13" name="Shape 11"/>
          <p:cNvSpPr/>
          <p:nvPr/>
        </p:nvSpPr>
        <p:spPr>
          <a:xfrm>
            <a:off x="8641080" y="3822192"/>
            <a:ext cx="1051560" cy="64008"/>
          </a:xfrm>
          <a:prstGeom prst="roundRect">
            <a:avLst>
              <a:gd name="adj" fmla="val 50000"/>
            </a:avLst>
          </a:prstGeom>
          <a:solidFill>
            <a:srgbClr val="177E89"/>
          </a:solidFill>
          <a:ln w="12700">
            <a:solidFill>
              <a:srgbClr val="177E89"/>
            </a:solidFill>
            <a:prstDash val="solid"/>
          </a:ln>
        </p:spPr>
      </p:sp>
      <p:sp>
        <p:nvSpPr>
          <p:cNvPr id="14" name="Shape 12"/>
          <p:cNvSpPr/>
          <p:nvPr/>
        </p:nvSpPr>
        <p:spPr>
          <a:xfrm>
            <a:off x="9619488" y="3771900"/>
            <a:ext cx="164592" cy="164592"/>
          </a:xfrm>
          <a:prstGeom prst="ellipse">
            <a:avLst/>
          </a:prstGeom>
          <a:solidFill>
            <a:srgbClr val="177E89"/>
          </a:solidFill>
          <a:ln w="12700">
            <a:solidFill>
              <a:srgbClr val="FFFFFF"/>
            </a:solidFill>
            <a:prstDash val="solid"/>
          </a:ln>
        </p:spPr>
      </p:sp>
      <p:sp>
        <p:nvSpPr>
          <p:cNvPr id="15" name="Text 13"/>
          <p:cNvSpPr txBox="1"/>
          <p:nvPr/>
        </p:nvSpPr>
        <p:spPr>
          <a:xfrm>
            <a:off x="8641080" y="3950208"/>
            <a:ext cx="2651760" cy="219456"/>
          </a:xfrm>
          <a:prstGeom prst="rect">
            <a:avLst/>
          </a:prstGeom>
          <a:noFill/>
          <a:ln/>
        </p:spPr>
        <p:txBody>
          <a:bodyPr wrap="square" lIns="0" tIns="0" rIns="0" bIns="0" rtlCol="0" anchor="ctr"/>
          <a:lstStyle/>
          <a:p>
            <a:pPr indent="0" marL="0">
              <a:buNone/>
            </a:pPr>
            <a:r>
              <a:rPr lang="en-US" sz="950" dirty="0">
                <a:solidFill>
                  <a:srgbClr val="9AA39E"/>
                </a:solidFill>
                <a:latin typeface="Consolas" pitchFamily="34" charset="0"/>
                <a:ea typeface="Consolas" pitchFamily="34" charset="-122"/>
                <a:cs typeface="Consolas" pitchFamily="34" charset="-120"/>
              </a:rPr>
              <a:t>0:04 / 0:11</a:t>
            </a:r>
            <a:endParaRPr lang="en-US" sz="950" dirty="0"/>
          </a:p>
        </p:txBody>
      </p:sp>
      <p:sp>
        <p:nvSpPr>
          <p:cNvPr id="16" name="Text 14"/>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02 / 48</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Cómo te sientes hoy?">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03 / 48</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Qué es CINFO? Conceptual, Instrumental, Nivelador, Funcional y Orientador">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04 / 48</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Conceptual: conocimientos previos y definiciones clave">    </p:cNvPr>
          <p:cNvPicPr>
            <a:picLocks noChangeAspect="1"/>
          </p:cNvPicPr>
          <p:nvPr/>
        </p:nvPicPr>
        <p:blipFill>
          <a:blip r:embed="rId1"/>
          <a:stretch>
            <a:fillRect/>
          </a:stretch>
        </p:blipFill>
        <p:spPr>
          <a:xfrm>
            <a:off x="0" y="0"/>
            <a:ext cx="12191695" cy="6858000"/>
          </a:xfrm>
          <a:prstGeom prst="rect">
            <a:avLst/>
          </a:prstGeom>
        </p:spPr>
      </p:pic>
      <p:sp>
        <p:nvSpPr>
          <p:cNvPr id="4" name="Text 0"/>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05 / 48</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indent="0" marL="0">
              <a:buNone/>
            </a:pPr>
            <a:r>
              <a:rPr lang="en-US" sz="1050" b="1" spc="300" kern="0" dirty="0">
                <a:solidFill>
                  <a:srgbClr val="177E89"/>
                </a:solidFill>
                <a:latin typeface="Calibri" pitchFamily="34" charset="0"/>
                <a:ea typeface="Calibri" pitchFamily="34" charset="-122"/>
                <a:cs typeface="Calibri" pitchFamily="34" charset="-120"/>
              </a:rPr>
              <a:t>REPASO</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De dónde venimos</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indent="0" marL="0">
              <a:buNone/>
            </a:pPr>
            <a:r>
              <a:rPr lang="en-US" sz="1250" dirty="0">
                <a:solidFill>
                  <a:srgbClr val="5F676C"/>
                </a:solidFill>
                <a:latin typeface="Calibri" pitchFamily="34" charset="0"/>
                <a:ea typeface="Calibri" pitchFamily="34" charset="-122"/>
                <a:cs typeface="Calibri" pitchFamily="34" charset="-120"/>
              </a:rPr>
              <a:t>Tu portafolio ya muestra un video y un audio, y tu diseño está empezado en Figma.</a:t>
            </a:r>
            <a:endParaRPr lang="en-US" sz="1250" dirty="0"/>
          </a:p>
        </p:txBody>
      </p:sp>
      <p:sp>
        <p:nvSpPr>
          <p:cNvPr id="5" name="Shape 3"/>
          <p:cNvSpPr/>
          <p:nvPr/>
        </p:nvSpPr>
        <p:spPr>
          <a:xfrm>
            <a:off x="640080" y="2615184"/>
            <a:ext cx="5349240" cy="1920240"/>
          </a:xfrm>
          <a:prstGeom prst="roundRect">
            <a:avLst>
              <a:gd name="adj" fmla="val 4762"/>
            </a:avLst>
          </a:prstGeom>
          <a:solidFill>
            <a:srgbClr val="FFFFFF"/>
          </a:solidFill>
          <a:ln w="12700">
            <a:solidFill>
              <a:srgbClr val="CFD5D9"/>
            </a:solidFill>
            <a:prstDash val="solid"/>
          </a:ln>
        </p:spPr>
      </p:sp>
      <p:sp>
        <p:nvSpPr>
          <p:cNvPr id="6" name="Text 4"/>
          <p:cNvSpPr txBox="1"/>
          <p:nvPr/>
        </p:nvSpPr>
        <p:spPr>
          <a:xfrm>
            <a:off x="950976" y="2816352"/>
            <a:ext cx="4727448" cy="310896"/>
          </a:xfrm>
          <a:prstGeom prst="rect">
            <a:avLst/>
          </a:prstGeom>
          <a:noFill/>
          <a:ln/>
        </p:spPr>
        <p:txBody>
          <a:bodyPr wrap="square" lIns="0" tIns="0" rIns="0" bIns="0" rtlCol="0" anchor="ctr"/>
          <a:lstStyle/>
          <a:p>
            <a:pPr algn="l" indent="0" marL="0">
              <a:buNone/>
            </a:pPr>
            <a:r>
              <a:rPr lang="en-US" sz="1400" b="1" dirty="0">
                <a:solidFill>
                  <a:srgbClr val="5F676C"/>
                </a:solidFill>
                <a:latin typeface="Calibri" pitchFamily="34" charset="0"/>
                <a:ea typeface="Calibri" pitchFamily="34" charset="-122"/>
                <a:cs typeface="Calibri" pitchFamily="34" charset="-120"/>
              </a:rPr>
              <a:t>Ya tienes</a:t>
            </a:r>
            <a:endParaRPr lang="en-US" sz="1400" dirty="0"/>
          </a:p>
        </p:txBody>
      </p:sp>
      <p:sp>
        <p:nvSpPr>
          <p:cNvPr id="7" name="Text 5"/>
          <p:cNvSpPr txBox="1"/>
          <p:nvPr/>
        </p:nvSpPr>
        <p:spPr>
          <a:xfrm>
            <a:off x="950976" y="3182112"/>
            <a:ext cx="4727448" cy="1232611"/>
          </a:xfrm>
          <a:prstGeom prst="rect">
            <a:avLst/>
          </a:prstGeom>
          <a:noFill/>
          <a:ln/>
        </p:spPr>
        <p:txBody>
          <a:bodyPr wrap="square" lIns="0" tIns="0" rIns="0" bIns="0" rtlCol="0" anchor="t"/>
          <a:lstStyle/>
          <a:p>
            <a:pPr marL="177800" indent="-177800">
              <a:spcAft>
                <a:spcPts val="900"/>
              </a:spcAft>
              <a:buSzPct val="100000"/>
              <a:buChar char="•"/>
            </a:pPr>
            <a:r>
              <a:rPr lang="en-US" sz="1200" dirty="0">
                <a:solidFill>
                  <a:srgbClr val="33393D"/>
                </a:solidFill>
                <a:latin typeface="Calibri" pitchFamily="34" charset="0"/>
                <a:ea typeface="Calibri" pitchFamily="34" charset="-122"/>
                <a:cs typeface="Calibri" pitchFamily="34" charset="-120"/>
              </a:rPr>
              <a:t>Cuatro páginas con header, nav, main y footer.</a:t>
            </a:r>
            <a:endParaRPr lang="en-US" sz="1200" dirty="0"/>
          </a:p>
          <a:p>
            <a:pPr marL="177800" indent="-177800">
              <a:spcAft>
                <a:spcPts val="900"/>
              </a:spcAft>
              <a:buSzPct val="100000"/>
              <a:buChar char="•"/>
            </a:pPr>
            <a:r>
              <a:rPr lang="en-US" sz="1200" dirty="0">
                <a:solidFill>
                  <a:srgbClr val="33393D"/>
                </a:solidFill>
                <a:latin typeface="Calibri" pitchFamily="34" charset="0"/>
                <a:ea typeface="Calibri" pitchFamily="34" charset="-122"/>
                <a:cs typeface="Calibri" pitchFamily="34" charset="-120"/>
              </a:rPr>
              <a:t>En Sobre mí, un video, un audio y un iframe de YouTube.</a:t>
            </a:r>
            <a:endParaRPr lang="en-US" sz="1200" dirty="0"/>
          </a:p>
          <a:p>
            <a:pPr marL="177800" indent="-177800">
              <a:spcAft>
                <a:spcPts val="900"/>
              </a:spcAft>
              <a:buSzPct val="100000"/>
              <a:buChar char="•"/>
            </a:pPr>
            <a:r>
              <a:rPr lang="en-US" sz="1200" dirty="0">
                <a:solidFill>
                  <a:srgbClr val="33393D"/>
                </a:solidFill>
                <a:latin typeface="Calibri" pitchFamily="34" charset="0"/>
                <a:ea typeface="Calibri" pitchFamily="34" charset="-122"/>
                <a:cs typeface="Calibri" pitchFamily="34" charset="-120"/>
              </a:rPr>
              <a:t>En Figma, el marco principal y la cabecera (Pasos 1 al 6).</a:t>
            </a:r>
            <a:endParaRPr lang="en-US" sz="1200" dirty="0"/>
          </a:p>
        </p:txBody>
      </p:sp>
      <p:sp>
        <p:nvSpPr>
          <p:cNvPr id="8" name="Shape 6"/>
          <p:cNvSpPr/>
          <p:nvPr/>
        </p:nvSpPr>
        <p:spPr>
          <a:xfrm>
            <a:off x="6217920" y="2615184"/>
            <a:ext cx="5349240" cy="1920240"/>
          </a:xfrm>
          <a:prstGeom prst="roundRect">
            <a:avLst>
              <a:gd name="adj" fmla="val 4762"/>
            </a:avLst>
          </a:prstGeom>
          <a:solidFill>
            <a:srgbClr val="F3F5F6"/>
          </a:solidFill>
          <a:ln w="12700">
            <a:solidFill>
              <a:srgbClr val="CFD5D9"/>
            </a:solidFill>
            <a:prstDash val="solid"/>
          </a:ln>
        </p:spPr>
      </p:sp>
      <p:sp>
        <p:nvSpPr>
          <p:cNvPr id="9" name="Text 7"/>
          <p:cNvSpPr txBox="1"/>
          <p:nvPr/>
        </p:nvSpPr>
        <p:spPr>
          <a:xfrm>
            <a:off x="6528816" y="2816352"/>
            <a:ext cx="4727448" cy="310896"/>
          </a:xfrm>
          <a:prstGeom prst="rect">
            <a:avLst/>
          </a:prstGeom>
          <a:noFill/>
          <a:ln/>
        </p:spPr>
        <p:txBody>
          <a:bodyPr wrap="square" lIns="0" tIns="0" rIns="0" bIns="0" rtlCol="0" anchor="ctr"/>
          <a:lstStyle/>
          <a:p>
            <a:pPr algn="l" indent="0" marL="0">
              <a:buNone/>
            </a:pPr>
            <a:r>
              <a:rPr lang="en-US" sz="1400" b="1" dirty="0">
                <a:solidFill>
                  <a:srgbClr val="1F2326"/>
                </a:solidFill>
                <a:latin typeface="Calibri" pitchFamily="34" charset="0"/>
                <a:ea typeface="Calibri" pitchFamily="34" charset="-122"/>
                <a:cs typeface="Calibri" pitchFamily="34" charset="-120"/>
              </a:rPr>
              <a:t>Hoy sumas</a:t>
            </a:r>
            <a:endParaRPr lang="en-US" sz="1400" dirty="0"/>
          </a:p>
        </p:txBody>
      </p:sp>
      <p:sp>
        <p:nvSpPr>
          <p:cNvPr id="10" name="Text 8"/>
          <p:cNvSpPr txBox="1"/>
          <p:nvPr/>
        </p:nvSpPr>
        <p:spPr>
          <a:xfrm>
            <a:off x="6528816" y="3182112"/>
            <a:ext cx="4727448" cy="1232611"/>
          </a:xfrm>
          <a:prstGeom prst="rect">
            <a:avLst/>
          </a:prstGeom>
          <a:noFill/>
          <a:ln/>
        </p:spPr>
        <p:txBody>
          <a:bodyPr wrap="square" lIns="0" tIns="0" rIns="0" bIns="0" rtlCol="0" anchor="t"/>
          <a:lstStyle/>
          <a:p>
            <a:pPr marL="177800" indent="-177800">
              <a:spcAft>
                <a:spcPts val="900"/>
              </a:spcAft>
              <a:buSzPct val="100000"/>
              <a:buChar char="•"/>
            </a:pPr>
            <a:r>
              <a:rPr lang="en-US" sz="1200" dirty="0">
                <a:solidFill>
                  <a:srgbClr val="33393D"/>
                </a:solidFill>
                <a:latin typeface="Calibri" pitchFamily="34" charset="0"/>
                <a:ea typeface="Calibri" pitchFamily="34" charset="-122"/>
                <a:cs typeface="Calibri" pitchFamily="34" charset="-120"/>
              </a:rPr>
              <a:t>Un formulario de contacto con validación (repaso de la sesión 06).</a:t>
            </a:r>
            <a:endParaRPr lang="en-US" sz="1200" dirty="0"/>
          </a:p>
          <a:p>
            <a:pPr marL="177800" indent="-177800">
              <a:spcAft>
                <a:spcPts val="900"/>
              </a:spcAft>
              <a:buSzPct val="100000"/>
              <a:buChar char="•"/>
            </a:pPr>
            <a:r>
              <a:rPr lang="en-US" sz="1200" dirty="0">
                <a:solidFill>
                  <a:srgbClr val="33393D"/>
                </a:solidFill>
                <a:latin typeface="Calibri" pitchFamily="34" charset="0"/>
                <a:ea typeface="Calibri" pitchFamily="34" charset="-122"/>
                <a:cs typeface="Calibri" pitchFamily="34" charset="-120"/>
              </a:rPr>
              <a:t>Video y audio con varias fuentes, póster y subtítulos.</a:t>
            </a:r>
            <a:endParaRPr lang="en-US" sz="1200" dirty="0"/>
          </a:p>
          <a:p>
            <a:pPr marL="177800" indent="-177800">
              <a:spcAft>
                <a:spcPts val="900"/>
              </a:spcAft>
              <a:buSzPct val="100000"/>
              <a:buChar char="•"/>
            </a:pPr>
            <a:r>
              <a:rPr lang="en-US" sz="1200" dirty="0">
                <a:solidFill>
                  <a:srgbClr val="33393D"/>
                </a:solidFill>
                <a:latin typeface="Calibri" pitchFamily="34" charset="0"/>
                <a:ea typeface="Calibri" pitchFamily="34" charset="-122"/>
                <a:cs typeface="Calibri" pitchFamily="34" charset="-120"/>
              </a:rPr>
              <a:t>Controles propios hechos con botones.</a:t>
            </a:r>
            <a:endParaRPr lang="en-US" sz="1200" dirty="0"/>
          </a:p>
        </p:txBody>
      </p:sp>
      <p:sp>
        <p:nvSpPr>
          <p:cNvPr id="11" name="Shape 9"/>
          <p:cNvSpPr/>
          <p:nvPr/>
        </p:nvSpPr>
        <p:spPr>
          <a:xfrm>
            <a:off x="640080" y="4736592"/>
            <a:ext cx="10927080" cy="1298448"/>
          </a:xfrm>
          <a:prstGeom prst="roundRect">
            <a:avLst>
              <a:gd name="adj" fmla="val 7042"/>
            </a:avLst>
          </a:prstGeom>
          <a:solidFill>
            <a:srgbClr val="F3F5F6"/>
          </a:solidFill>
          <a:ln w="12700">
            <a:solidFill>
              <a:srgbClr val="CFD5D9"/>
            </a:solidFill>
            <a:prstDash val="solid"/>
          </a:ln>
        </p:spPr>
      </p:sp>
      <p:sp>
        <p:nvSpPr>
          <p:cNvPr id="12" name="Text 10"/>
          <p:cNvSpPr txBox="1"/>
          <p:nvPr/>
        </p:nvSpPr>
        <p:spPr>
          <a:xfrm>
            <a:off x="950976" y="4937760"/>
            <a:ext cx="10305288" cy="310896"/>
          </a:xfrm>
          <a:prstGeom prst="rect">
            <a:avLst/>
          </a:prstGeom>
          <a:noFill/>
          <a:ln/>
        </p:spPr>
        <p:txBody>
          <a:bodyPr wrap="square" lIns="0" tIns="0" rIns="0" bIns="0" rtlCol="0" anchor="ctr"/>
          <a:lstStyle/>
          <a:p>
            <a:pPr algn="l" indent="0" marL="0">
              <a:buNone/>
            </a:pPr>
            <a:r>
              <a:rPr lang="en-US" sz="1400" b="1" dirty="0">
                <a:solidFill>
                  <a:srgbClr val="177E89"/>
                </a:solidFill>
                <a:latin typeface="Calibri" pitchFamily="34" charset="0"/>
                <a:ea typeface="Calibri" pitchFamily="34" charset="-122"/>
                <a:cs typeface="Calibri" pitchFamily="34" charset="-120"/>
              </a:rPr>
              <a:t>Lo que une las dos partes de hoy</a:t>
            </a:r>
            <a:endParaRPr lang="en-US" sz="1400" dirty="0"/>
          </a:p>
        </p:txBody>
      </p:sp>
      <p:sp>
        <p:nvSpPr>
          <p:cNvPr id="13" name="Text 11"/>
          <p:cNvSpPr txBox="1"/>
          <p:nvPr/>
        </p:nvSpPr>
        <p:spPr>
          <a:xfrm>
            <a:off x="950976" y="5303520"/>
            <a:ext cx="10305288" cy="610819"/>
          </a:xfrm>
          <a:prstGeom prst="rect">
            <a:avLst/>
          </a:prstGeom>
          <a:noFill/>
          <a:ln/>
        </p:spPr>
        <p:txBody>
          <a:bodyPr wrap="square" lIns="0" tIns="0" rIns="0" bIns="0" rtlCol="0" anchor="t"/>
          <a:lstStyle/>
          <a:p>
            <a:pPr algn="l" indent="0" marL="0">
              <a:lnSpc>
                <a:spcPct val="125000"/>
              </a:lnSpc>
              <a:buNone/>
            </a:pPr>
            <a:r>
              <a:rPr lang="en-US" sz="1250" dirty="0">
                <a:solidFill>
                  <a:srgbClr val="33393D"/>
                </a:solidFill>
                <a:latin typeface="Calibri" pitchFamily="34" charset="0"/>
                <a:ea typeface="Calibri" pitchFamily="34" charset="-122"/>
                <a:cs typeface="Calibri" pitchFamily="34" charset="-120"/>
              </a:rPr>
              <a:t>Los botones, las etiquetas y los controles deslizantes de un formulario son las mismas piezas con las que se construyen los controles de un video. Por eso empezamos repasando formularios.</a:t>
            </a:r>
            <a:endParaRPr lang="en-US" sz="1250" dirty="0"/>
          </a:p>
        </p:txBody>
      </p:sp>
      <p:sp>
        <p:nvSpPr>
          <p:cNvPr id="14" name="Text 12"/>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06 / 48</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indent="0" marL="0">
              <a:buNone/>
            </a:pPr>
            <a:r>
              <a:rPr lang="en-US" sz="1050" b="1" spc="300" kern="0" dirty="0">
                <a:solidFill>
                  <a:srgbClr val="177E89"/>
                </a:solidFill>
                <a:latin typeface="Calibri" pitchFamily="34" charset="0"/>
                <a:ea typeface="Calibri" pitchFamily="34" charset="-122"/>
                <a:cs typeface="Calibri" pitchFamily="34" charset="-120"/>
              </a:rPr>
              <a:t>LOGROS DE APRENDIZAJE</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¿Qué vas a lograr hoy?</a:t>
            </a:r>
            <a:endParaRPr lang="en-US" sz="2800" dirty="0"/>
          </a:p>
        </p:txBody>
      </p:sp>
      <p:sp>
        <p:nvSpPr>
          <p:cNvPr id="4" name="Shape 2"/>
          <p:cNvSpPr/>
          <p:nvPr/>
        </p:nvSpPr>
        <p:spPr>
          <a:xfrm>
            <a:off x="640080" y="2615184"/>
            <a:ext cx="10927080" cy="621792"/>
          </a:xfrm>
          <a:prstGeom prst="roundRect">
            <a:avLst>
              <a:gd name="adj" fmla="val 14706"/>
            </a:avLst>
          </a:prstGeom>
          <a:solidFill>
            <a:srgbClr val="FFFFFF"/>
          </a:solidFill>
          <a:ln w="12700">
            <a:solidFill>
              <a:srgbClr val="CFD5D9"/>
            </a:solidFill>
            <a:prstDash val="solid"/>
          </a:ln>
        </p:spPr>
      </p:sp>
      <p:sp>
        <p:nvSpPr>
          <p:cNvPr id="5" name="Shape 3"/>
          <p:cNvSpPr/>
          <p:nvPr/>
        </p:nvSpPr>
        <p:spPr>
          <a:xfrm>
            <a:off x="978408" y="2670048"/>
            <a:ext cx="512064" cy="512064"/>
          </a:xfrm>
          <a:prstGeom prst="ellipse">
            <a:avLst/>
          </a:prstGeom>
          <a:solidFill>
            <a:srgbClr val="177E89"/>
          </a:solidFill>
          <a:ln w="12700">
            <a:solidFill>
              <a:srgbClr val="177E89"/>
            </a:solidFill>
            <a:prstDash val="solid"/>
          </a:ln>
        </p:spPr>
      </p:sp>
      <p:sp>
        <p:nvSpPr>
          <p:cNvPr id="6" name="Text 4"/>
          <p:cNvSpPr txBox="1"/>
          <p:nvPr/>
        </p:nvSpPr>
        <p:spPr>
          <a:xfrm>
            <a:off x="978408" y="2670048"/>
            <a:ext cx="512064"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691640" y="2615184"/>
            <a:ext cx="2286000" cy="621792"/>
          </a:xfrm>
          <a:prstGeom prst="rect">
            <a:avLst/>
          </a:prstGeom>
          <a:noFill/>
          <a:ln/>
        </p:spPr>
        <p:txBody>
          <a:bodyPr wrap="square" lIns="0" tIns="0" rIns="0" bIns="0" rtlCol="0" anchor="ctr"/>
          <a:lstStyle/>
          <a:p>
            <a:pPr indent="0" marL="0">
              <a:buNone/>
            </a:pPr>
            <a:r>
              <a:rPr lang="en-US" sz="1350" b="1" dirty="0">
                <a:solidFill>
                  <a:srgbClr val="177E89"/>
                </a:solidFill>
                <a:latin typeface="Calibri" pitchFamily="34" charset="0"/>
                <a:ea typeface="Calibri" pitchFamily="34" charset="-122"/>
                <a:cs typeface="Calibri" pitchFamily="34" charset="-120"/>
              </a:rPr>
              <a:t>Repasar</a:t>
            </a:r>
            <a:endParaRPr lang="en-US" sz="1350" dirty="0"/>
          </a:p>
        </p:txBody>
      </p:sp>
      <p:sp>
        <p:nvSpPr>
          <p:cNvPr id="8" name="Text 6"/>
          <p:cNvSpPr txBox="1"/>
          <p:nvPr/>
        </p:nvSpPr>
        <p:spPr>
          <a:xfrm>
            <a:off x="4114800" y="2615184"/>
            <a:ext cx="7178040" cy="621792"/>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Construir un formulario con sus campos, sus etiquetas y validación nativa.</a:t>
            </a:r>
            <a:endParaRPr lang="en-US" sz="1200" dirty="0"/>
          </a:p>
        </p:txBody>
      </p:sp>
      <p:sp>
        <p:nvSpPr>
          <p:cNvPr id="9" name="Shape 7"/>
          <p:cNvSpPr/>
          <p:nvPr/>
        </p:nvSpPr>
        <p:spPr>
          <a:xfrm>
            <a:off x="640080" y="3319272"/>
            <a:ext cx="10927080" cy="621792"/>
          </a:xfrm>
          <a:prstGeom prst="roundRect">
            <a:avLst>
              <a:gd name="adj" fmla="val 14706"/>
            </a:avLst>
          </a:prstGeom>
          <a:solidFill>
            <a:srgbClr val="FFFFFF"/>
          </a:solidFill>
          <a:ln w="12700">
            <a:solidFill>
              <a:srgbClr val="CFD5D9"/>
            </a:solidFill>
            <a:prstDash val="solid"/>
          </a:ln>
        </p:spPr>
      </p:sp>
      <p:sp>
        <p:nvSpPr>
          <p:cNvPr id="10" name="Shape 8"/>
          <p:cNvSpPr/>
          <p:nvPr/>
        </p:nvSpPr>
        <p:spPr>
          <a:xfrm>
            <a:off x="978408" y="3374136"/>
            <a:ext cx="512064" cy="512064"/>
          </a:xfrm>
          <a:prstGeom prst="ellipse">
            <a:avLst/>
          </a:prstGeom>
          <a:solidFill>
            <a:srgbClr val="177E89"/>
          </a:solidFill>
          <a:ln w="12700">
            <a:solidFill>
              <a:srgbClr val="177E89"/>
            </a:solidFill>
            <a:prstDash val="solid"/>
          </a:ln>
        </p:spPr>
      </p:sp>
      <p:sp>
        <p:nvSpPr>
          <p:cNvPr id="11" name="Text 9"/>
          <p:cNvSpPr txBox="1"/>
          <p:nvPr/>
        </p:nvSpPr>
        <p:spPr>
          <a:xfrm>
            <a:off x="978408" y="3374136"/>
            <a:ext cx="512064"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1691640" y="3319272"/>
            <a:ext cx="2286000" cy="621792"/>
          </a:xfrm>
          <a:prstGeom prst="rect">
            <a:avLst/>
          </a:prstGeom>
          <a:noFill/>
          <a:ln/>
        </p:spPr>
        <p:txBody>
          <a:bodyPr wrap="square" lIns="0" tIns="0" rIns="0" bIns="0" rtlCol="0" anchor="ctr"/>
          <a:lstStyle/>
          <a:p>
            <a:pPr indent="0" marL="0">
              <a:buNone/>
            </a:pPr>
            <a:r>
              <a:rPr lang="en-US" sz="1350" b="1" dirty="0">
                <a:solidFill>
                  <a:srgbClr val="177E89"/>
                </a:solidFill>
                <a:latin typeface="Calibri" pitchFamily="34" charset="0"/>
                <a:ea typeface="Calibri" pitchFamily="34" charset="-122"/>
                <a:cs typeface="Calibri" pitchFamily="34" charset="-120"/>
              </a:rPr>
              <a:t>Elegir</a:t>
            </a:r>
            <a:endParaRPr lang="en-US" sz="1350" dirty="0"/>
          </a:p>
        </p:txBody>
      </p:sp>
      <p:sp>
        <p:nvSpPr>
          <p:cNvPr id="13" name="Text 11"/>
          <p:cNvSpPr txBox="1"/>
          <p:nvPr/>
        </p:nvSpPr>
        <p:spPr>
          <a:xfrm>
            <a:off x="4114800" y="3319272"/>
            <a:ext cx="7178040" cy="621792"/>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Decidir el formato adecuado de video y de audio, y ofrecer varias fuentes.</a:t>
            </a:r>
            <a:endParaRPr lang="en-US" sz="1200" dirty="0"/>
          </a:p>
        </p:txBody>
      </p:sp>
      <p:sp>
        <p:nvSpPr>
          <p:cNvPr id="14" name="Shape 12"/>
          <p:cNvSpPr/>
          <p:nvPr/>
        </p:nvSpPr>
        <p:spPr>
          <a:xfrm>
            <a:off x="640080" y="4023360"/>
            <a:ext cx="10927080" cy="621792"/>
          </a:xfrm>
          <a:prstGeom prst="roundRect">
            <a:avLst>
              <a:gd name="adj" fmla="val 14706"/>
            </a:avLst>
          </a:prstGeom>
          <a:solidFill>
            <a:srgbClr val="FFFFFF"/>
          </a:solidFill>
          <a:ln w="12700">
            <a:solidFill>
              <a:srgbClr val="CFD5D9"/>
            </a:solidFill>
            <a:prstDash val="solid"/>
          </a:ln>
        </p:spPr>
      </p:sp>
      <p:sp>
        <p:nvSpPr>
          <p:cNvPr id="15" name="Shape 13"/>
          <p:cNvSpPr/>
          <p:nvPr/>
        </p:nvSpPr>
        <p:spPr>
          <a:xfrm>
            <a:off x="978408" y="4078224"/>
            <a:ext cx="512064" cy="512064"/>
          </a:xfrm>
          <a:prstGeom prst="ellipse">
            <a:avLst/>
          </a:prstGeom>
          <a:solidFill>
            <a:srgbClr val="177E89"/>
          </a:solidFill>
          <a:ln w="12700">
            <a:solidFill>
              <a:srgbClr val="177E89"/>
            </a:solidFill>
            <a:prstDash val="solid"/>
          </a:ln>
        </p:spPr>
      </p:sp>
      <p:sp>
        <p:nvSpPr>
          <p:cNvPr id="16" name="Text 14"/>
          <p:cNvSpPr txBox="1"/>
          <p:nvPr/>
        </p:nvSpPr>
        <p:spPr>
          <a:xfrm>
            <a:off x="978408" y="4078224"/>
            <a:ext cx="512064"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691640" y="4023360"/>
            <a:ext cx="2286000" cy="621792"/>
          </a:xfrm>
          <a:prstGeom prst="rect">
            <a:avLst/>
          </a:prstGeom>
          <a:noFill/>
          <a:ln/>
        </p:spPr>
        <p:txBody>
          <a:bodyPr wrap="square" lIns="0" tIns="0" rIns="0" bIns="0" rtlCol="0" anchor="ctr"/>
          <a:lstStyle/>
          <a:p>
            <a:pPr indent="0" marL="0">
              <a:buNone/>
            </a:pPr>
            <a:r>
              <a:rPr lang="en-US" sz="1350" b="1" dirty="0">
                <a:solidFill>
                  <a:srgbClr val="177E89"/>
                </a:solidFill>
                <a:latin typeface="Calibri" pitchFamily="34" charset="0"/>
                <a:ea typeface="Calibri" pitchFamily="34" charset="-122"/>
                <a:cs typeface="Calibri" pitchFamily="34" charset="-120"/>
              </a:rPr>
              <a:t>Configurar</a:t>
            </a:r>
            <a:endParaRPr lang="en-US" sz="1350" dirty="0"/>
          </a:p>
        </p:txBody>
      </p:sp>
      <p:sp>
        <p:nvSpPr>
          <p:cNvPr id="18" name="Text 16"/>
          <p:cNvSpPr txBox="1"/>
          <p:nvPr/>
        </p:nvSpPr>
        <p:spPr>
          <a:xfrm>
            <a:off x="4114800" y="4023360"/>
            <a:ext cx="7178040" cy="621792"/>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Usar poster, preload y los atributos de reproducción; comprimir antes de publicar.</a:t>
            </a:r>
            <a:endParaRPr lang="en-US" sz="1200" dirty="0"/>
          </a:p>
        </p:txBody>
      </p:sp>
      <p:sp>
        <p:nvSpPr>
          <p:cNvPr id="19" name="Shape 17"/>
          <p:cNvSpPr/>
          <p:nvPr/>
        </p:nvSpPr>
        <p:spPr>
          <a:xfrm>
            <a:off x="640080" y="4727448"/>
            <a:ext cx="10927080" cy="621792"/>
          </a:xfrm>
          <a:prstGeom prst="roundRect">
            <a:avLst>
              <a:gd name="adj" fmla="val 14706"/>
            </a:avLst>
          </a:prstGeom>
          <a:solidFill>
            <a:srgbClr val="FFFFFF"/>
          </a:solidFill>
          <a:ln w="12700">
            <a:solidFill>
              <a:srgbClr val="CFD5D9"/>
            </a:solidFill>
            <a:prstDash val="solid"/>
          </a:ln>
        </p:spPr>
      </p:sp>
      <p:sp>
        <p:nvSpPr>
          <p:cNvPr id="20" name="Shape 18"/>
          <p:cNvSpPr/>
          <p:nvPr/>
        </p:nvSpPr>
        <p:spPr>
          <a:xfrm>
            <a:off x="978408" y="4782312"/>
            <a:ext cx="512064" cy="512064"/>
          </a:xfrm>
          <a:prstGeom prst="ellipse">
            <a:avLst/>
          </a:prstGeom>
          <a:solidFill>
            <a:srgbClr val="177E89"/>
          </a:solidFill>
          <a:ln w="12700">
            <a:solidFill>
              <a:srgbClr val="177E89"/>
            </a:solidFill>
            <a:prstDash val="solid"/>
          </a:ln>
        </p:spPr>
      </p:sp>
      <p:sp>
        <p:nvSpPr>
          <p:cNvPr id="21" name="Text 19"/>
          <p:cNvSpPr txBox="1"/>
          <p:nvPr/>
        </p:nvSpPr>
        <p:spPr>
          <a:xfrm>
            <a:off x="978408" y="4782312"/>
            <a:ext cx="512064"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1691640" y="4727448"/>
            <a:ext cx="2286000" cy="621792"/>
          </a:xfrm>
          <a:prstGeom prst="rect">
            <a:avLst/>
          </a:prstGeom>
          <a:noFill/>
          <a:ln/>
        </p:spPr>
        <p:txBody>
          <a:bodyPr wrap="square" lIns="0" tIns="0" rIns="0" bIns="0" rtlCol="0" anchor="ctr"/>
          <a:lstStyle/>
          <a:p>
            <a:pPr indent="0" marL="0">
              <a:buNone/>
            </a:pPr>
            <a:r>
              <a:rPr lang="en-US" sz="1350" b="1" dirty="0">
                <a:solidFill>
                  <a:srgbClr val="177E89"/>
                </a:solidFill>
                <a:latin typeface="Calibri" pitchFamily="34" charset="0"/>
                <a:ea typeface="Calibri" pitchFamily="34" charset="-122"/>
                <a:cs typeface="Calibri" pitchFamily="34" charset="-120"/>
              </a:rPr>
              <a:t>Hacer accesible</a:t>
            </a:r>
            <a:endParaRPr lang="en-US" sz="1350" dirty="0"/>
          </a:p>
        </p:txBody>
      </p:sp>
      <p:sp>
        <p:nvSpPr>
          <p:cNvPr id="23" name="Text 21"/>
          <p:cNvSpPr txBox="1"/>
          <p:nvPr/>
        </p:nvSpPr>
        <p:spPr>
          <a:xfrm>
            <a:off x="4114800" y="4727448"/>
            <a:ext cx="7178040" cy="621792"/>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Añadir subtítulos con track y una transcripción para el audio.</a:t>
            </a:r>
            <a:endParaRPr lang="en-US" sz="1200" dirty="0"/>
          </a:p>
        </p:txBody>
      </p:sp>
      <p:sp>
        <p:nvSpPr>
          <p:cNvPr id="24" name="Shape 22"/>
          <p:cNvSpPr/>
          <p:nvPr/>
        </p:nvSpPr>
        <p:spPr>
          <a:xfrm>
            <a:off x="640080" y="5431536"/>
            <a:ext cx="10927080" cy="621792"/>
          </a:xfrm>
          <a:prstGeom prst="roundRect">
            <a:avLst>
              <a:gd name="adj" fmla="val 14706"/>
            </a:avLst>
          </a:prstGeom>
          <a:solidFill>
            <a:srgbClr val="FFFFFF"/>
          </a:solidFill>
          <a:ln w="12700">
            <a:solidFill>
              <a:srgbClr val="CFD5D9"/>
            </a:solidFill>
            <a:prstDash val="solid"/>
          </a:ln>
        </p:spPr>
      </p:sp>
      <p:sp>
        <p:nvSpPr>
          <p:cNvPr id="25" name="Shape 23"/>
          <p:cNvSpPr/>
          <p:nvPr/>
        </p:nvSpPr>
        <p:spPr>
          <a:xfrm>
            <a:off x="978408" y="5486400"/>
            <a:ext cx="512064" cy="512064"/>
          </a:xfrm>
          <a:prstGeom prst="ellipse">
            <a:avLst/>
          </a:prstGeom>
          <a:solidFill>
            <a:srgbClr val="177E89"/>
          </a:solidFill>
          <a:ln w="12700">
            <a:solidFill>
              <a:srgbClr val="177E89"/>
            </a:solidFill>
            <a:prstDash val="solid"/>
          </a:ln>
        </p:spPr>
      </p:sp>
      <p:sp>
        <p:nvSpPr>
          <p:cNvPr id="26" name="Text 24"/>
          <p:cNvSpPr txBox="1"/>
          <p:nvPr/>
        </p:nvSpPr>
        <p:spPr>
          <a:xfrm>
            <a:off x="978408" y="5486400"/>
            <a:ext cx="512064"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txBox="1"/>
          <p:nvPr/>
        </p:nvSpPr>
        <p:spPr>
          <a:xfrm>
            <a:off x="1691640" y="5431536"/>
            <a:ext cx="2286000" cy="621792"/>
          </a:xfrm>
          <a:prstGeom prst="rect">
            <a:avLst/>
          </a:prstGeom>
          <a:noFill/>
          <a:ln/>
        </p:spPr>
        <p:txBody>
          <a:bodyPr wrap="square" lIns="0" tIns="0" rIns="0" bIns="0" rtlCol="0" anchor="ctr"/>
          <a:lstStyle/>
          <a:p>
            <a:pPr indent="0" marL="0">
              <a:buNone/>
            </a:pPr>
            <a:r>
              <a:rPr lang="en-US" sz="1350" b="1" dirty="0">
                <a:solidFill>
                  <a:srgbClr val="177E89"/>
                </a:solidFill>
                <a:latin typeface="Calibri" pitchFamily="34" charset="0"/>
                <a:ea typeface="Calibri" pitchFamily="34" charset="-122"/>
                <a:cs typeface="Calibri" pitchFamily="34" charset="-120"/>
              </a:rPr>
              <a:t>Personalizar</a:t>
            </a:r>
            <a:endParaRPr lang="en-US" sz="1350" dirty="0"/>
          </a:p>
        </p:txBody>
      </p:sp>
      <p:sp>
        <p:nvSpPr>
          <p:cNvPr id="28" name="Text 26"/>
          <p:cNvSpPr txBox="1"/>
          <p:nvPr/>
        </p:nvSpPr>
        <p:spPr>
          <a:xfrm>
            <a:off x="4114800" y="5431536"/>
            <a:ext cx="7178040" cy="621792"/>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Reemplazar los controles del navegador por botones propios.</a:t>
            </a:r>
            <a:endParaRPr lang="en-US" sz="1200" dirty="0"/>
          </a:p>
        </p:txBody>
      </p:sp>
      <p:sp>
        <p:nvSpPr>
          <p:cNvPr id="29" name="Text 27"/>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07 / 48</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indent="0" marL="0">
              <a:buNone/>
            </a:pPr>
            <a:r>
              <a:rPr lang="en-US" sz="1050" b="1" spc="300" kern="0" dirty="0">
                <a:solidFill>
                  <a:srgbClr val="177E89"/>
                </a:solidFill>
                <a:latin typeface="Calibri" pitchFamily="34" charset="0"/>
                <a:ea typeface="Calibri" pitchFamily="34" charset="-122"/>
                <a:cs typeface="Calibri" pitchFamily="34" charset="-120"/>
              </a:rPr>
              <a:t>AGENDA</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Cómo se reparten las 4 horas</a:t>
            </a:r>
            <a:endParaRPr lang="en-US" sz="2800" dirty="0"/>
          </a:p>
        </p:txBody>
      </p:sp>
      <p:sp>
        <p:nvSpPr>
          <p:cNvPr id="4" name="Shape 2"/>
          <p:cNvSpPr/>
          <p:nvPr/>
        </p:nvSpPr>
        <p:spPr>
          <a:xfrm>
            <a:off x="640080" y="2615184"/>
            <a:ext cx="10927080" cy="457200"/>
          </a:xfrm>
          <a:prstGeom prst="roundRect">
            <a:avLst>
              <a:gd name="adj" fmla="val 20000"/>
            </a:avLst>
          </a:prstGeom>
          <a:solidFill>
            <a:srgbClr val="FFFFFF"/>
          </a:solidFill>
          <a:ln w="12700">
            <a:solidFill>
              <a:srgbClr val="CFD5D9"/>
            </a:solidFill>
            <a:prstDash val="solid"/>
          </a:ln>
        </p:spPr>
      </p:sp>
      <p:sp>
        <p:nvSpPr>
          <p:cNvPr id="5" name="Shape 3"/>
          <p:cNvSpPr/>
          <p:nvPr/>
        </p:nvSpPr>
        <p:spPr>
          <a:xfrm>
            <a:off x="960120" y="2651760"/>
            <a:ext cx="384048" cy="384048"/>
          </a:xfrm>
          <a:prstGeom prst="ellipse">
            <a:avLst/>
          </a:prstGeom>
          <a:solidFill>
            <a:srgbClr val="177E89"/>
          </a:solidFill>
          <a:ln w="12700">
            <a:solidFill>
              <a:srgbClr val="177E89"/>
            </a:solidFill>
            <a:prstDash val="solid"/>
          </a:ln>
        </p:spPr>
      </p:sp>
      <p:sp>
        <p:nvSpPr>
          <p:cNvPr id="6" name="Text 4"/>
          <p:cNvSpPr txBox="1"/>
          <p:nvPr/>
        </p:nvSpPr>
        <p:spPr>
          <a:xfrm>
            <a:off x="960120" y="265176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7" name="Text 5"/>
          <p:cNvSpPr txBox="1"/>
          <p:nvPr/>
        </p:nvSpPr>
        <p:spPr>
          <a:xfrm>
            <a:off x="1664208" y="2615184"/>
            <a:ext cx="3383280" cy="457200"/>
          </a:xfrm>
          <a:prstGeom prst="rect">
            <a:avLst/>
          </a:prstGeom>
          <a:noFill/>
          <a:ln/>
        </p:spPr>
        <p:txBody>
          <a:bodyPr wrap="square" lIns="0" tIns="0" rIns="0" bIns="0" rtlCol="0" anchor="ctr"/>
          <a:lstStyle/>
          <a:p>
            <a:pPr indent="0" marL="0">
              <a:buNone/>
            </a:pPr>
            <a:r>
              <a:rPr lang="en-US" sz="1300" b="1" dirty="0">
                <a:solidFill>
                  <a:srgbClr val="1F2326"/>
                </a:solidFill>
                <a:latin typeface="Calibri" pitchFamily="34" charset="0"/>
                <a:ea typeface="Calibri" pitchFamily="34" charset="-122"/>
                <a:cs typeface="Calibri" pitchFamily="34" charset="-120"/>
              </a:rPr>
              <a:t>Repaso: formularios HTML5</a:t>
            </a:r>
            <a:endParaRPr lang="en-US" sz="1300" dirty="0"/>
          </a:p>
        </p:txBody>
      </p:sp>
      <p:sp>
        <p:nvSpPr>
          <p:cNvPr id="8" name="Text 6"/>
          <p:cNvSpPr txBox="1"/>
          <p:nvPr/>
        </p:nvSpPr>
        <p:spPr>
          <a:xfrm>
            <a:off x="5202936" y="2615184"/>
            <a:ext cx="5120640" cy="457200"/>
          </a:xfrm>
          <a:prstGeom prst="rect">
            <a:avLst/>
          </a:prstGeom>
          <a:noFill/>
          <a:ln/>
        </p:spPr>
        <p:txBody>
          <a:bodyPr wrap="square" lIns="0" tIns="0" rIns="0" bIns="0" rtlCol="0" anchor="ctr"/>
          <a:lstStyle/>
          <a:p>
            <a:pPr indent="0" marL="0">
              <a:buNone/>
            </a:pPr>
            <a:r>
              <a:rPr lang="en-US" sz="1100" dirty="0">
                <a:solidFill>
                  <a:srgbClr val="5F676C"/>
                </a:solidFill>
                <a:latin typeface="Calibri" pitchFamily="34" charset="0"/>
                <a:ea typeface="Calibri" pitchFamily="34" charset="-122"/>
                <a:cs typeface="Calibri" pitchFamily="34" charset="-120"/>
              </a:rPr>
              <a:t>Campos, etiquetas, validación y el formulario de contacto.</a:t>
            </a:r>
            <a:endParaRPr lang="en-US" sz="1100" dirty="0"/>
          </a:p>
        </p:txBody>
      </p:sp>
      <p:sp>
        <p:nvSpPr>
          <p:cNvPr id="9" name="Text 7"/>
          <p:cNvSpPr txBox="1"/>
          <p:nvPr/>
        </p:nvSpPr>
        <p:spPr>
          <a:xfrm>
            <a:off x="10195560" y="2615184"/>
            <a:ext cx="1188720" cy="457200"/>
          </a:xfrm>
          <a:prstGeom prst="rect">
            <a:avLst/>
          </a:prstGeom>
          <a:noFill/>
          <a:ln/>
        </p:spPr>
        <p:txBody>
          <a:bodyPr wrap="square" lIns="0" tIns="0" rIns="0" bIns="0" rtlCol="0" anchor="ctr"/>
          <a:lstStyle/>
          <a:p>
            <a:pPr algn="r" indent="0" marL="0">
              <a:buNone/>
            </a:pPr>
            <a:r>
              <a:rPr lang="en-US" sz="1100" b="1" dirty="0">
                <a:solidFill>
                  <a:srgbClr val="177E89"/>
                </a:solidFill>
                <a:latin typeface="Calibri" pitchFamily="34" charset="0"/>
                <a:ea typeface="Calibri" pitchFamily="34" charset="-122"/>
                <a:cs typeface="Calibri" pitchFamily="34" charset="-120"/>
              </a:rPr>
              <a:t>40 min</a:t>
            </a:r>
            <a:endParaRPr lang="en-US" sz="1100" dirty="0"/>
          </a:p>
        </p:txBody>
      </p:sp>
      <p:sp>
        <p:nvSpPr>
          <p:cNvPr id="10" name="Shape 8"/>
          <p:cNvSpPr/>
          <p:nvPr/>
        </p:nvSpPr>
        <p:spPr>
          <a:xfrm>
            <a:off x="640080" y="3129077"/>
            <a:ext cx="10927080" cy="457200"/>
          </a:xfrm>
          <a:prstGeom prst="roundRect">
            <a:avLst>
              <a:gd name="adj" fmla="val 20000"/>
            </a:avLst>
          </a:prstGeom>
          <a:solidFill>
            <a:srgbClr val="FFFFFF"/>
          </a:solidFill>
          <a:ln w="12700">
            <a:solidFill>
              <a:srgbClr val="CFD5D9"/>
            </a:solidFill>
            <a:prstDash val="solid"/>
          </a:ln>
        </p:spPr>
      </p:sp>
      <p:sp>
        <p:nvSpPr>
          <p:cNvPr id="11" name="Shape 9"/>
          <p:cNvSpPr/>
          <p:nvPr/>
        </p:nvSpPr>
        <p:spPr>
          <a:xfrm>
            <a:off x="960120" y="3165653"/>
            <a:ext cx="384048" cy="384048"/>
          </a:xfrm>
          <a:prstGeom prst="ellipse">
            <a:avLst/>
          </a:prstGeom>
          <a:solidFill>
            <a:srgbClr val="177E89"/>
          </a:solidFill>
          <a:ln w="12700">
            <a:solidFill>
              <a:srgbClr val="177E89"/>
            </a:solidFill>
            <a:prstDash val="solid"/>
          </a:ln>
        </p:spPr>
      </p:sp>
      <p:sp>
        <p:nvSpPr>
          <p:cNvPr id="12" name="Text 10"/>
          <p:cNvSpPr txBox="1"/>
          <p:nvPr/>
        </p:nvSpPr>
        <p:spPr>
          <a:xfrm>
            <a:off x="960120" y="3165653"/>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13" name="Text 11"/>
          <p:cNvSpPr txBox="1"/>
          <p:nvPr/>
        </p:nvSpPr>
        <p:spPr>
          <a:xfrm>
            <a:off x="1664208" y="3129077"/>
            <a:ext cx="3383280" cy="457200"/>
          </a:xfrm>
          <a:prstGeom prst="rect">
            <a:avLst/>
          </a:prstGeom>
          <a:noFill/>
          <a:ln/>
        </p:spPr>
        <p:txBody>
          <a:bodyPr wrap="square" lIns="0" tIns="0" rIns="0" bIns="0" rtlCol="0" anchor="ctr"/>
          <a:lstStyle/>
          <a:p>
            <a:pPr indent="0" marL="0">
              <a:buNone/>
            </a:pPr>
            <a:r>
              <a:rPr lang="en-US" sz="1300" b="1" dirty="0">
                <a:solidFill>
                  <a:srgbClr val="1F2326"/>
                </a:solidFill>
                <a:latin typeface="Calibri" pitchFamily="34" charset="0"/>
                <a:ea typeface="Calibri" pitchFamily="34" charset="-122"/>
                <a:cs typeface="Calibri" pitchFamily="34" charset="-120"/>
              </a:rPr>
              <a:t>Formatos y fuentes</a:t>
            </a:r>
            <a:endParaRPr lang="en-US" sz="1300" dirty="0"/>
          </a:p>
        </p:txBody>
      </p:sp>
      <p:sp>
        <p:nvSpPr>
          <p:cNvPr id="14" name="Text 12"/>
          <p:cNvSpPr txBox="1"/>
          <p:nvPr/>
        </p:nvSpPr>
        <p:spPr>
          <a:xfrm>
            <a:off x="5202936" y="3129077"/>
            <a:ext cx="5120640" cy="457200"/>
          </a:xfrm>
          <a:prstGeom prst="rect">
            <a:avLst/>
          </a:prstGeom>
          <a:noFill/>
          <a:ln/>
        </p:spPr>
        <p:txBody>
          <a:bodyPr wrap="square" lIns="0" tIns="0" rIns="0" bIns="0" rtlCol="0" anchor="ctr"/>
          <a:lstStyle/>
          <a:p>
            <a:pPr indent="0" marL="0">
              <a:buNone/>
            </a:pPr>
            <a:r>
              <a:rPr lang="en-US" sz="1100" dirty="0">
                <a:solidFill>
                  <a:srgbClr val="5F676C"/>
                </a:solidFill>
                <a:latin typeface="Calibri" pitchFamily="34" charset="0"/>
                <a:ea typeface="Calibri" pitchFamily="34" charset="-122"/>
                <a:cs typeface="Calibri" pitchFamily="34" charset="-120"/>
              </a:rPr>
              <a:t>Contenedores, códecs y la etiqueta source.</a:t>
            </a:r>
            <a:endParaRPr lang="en-US" sz="1100" dirty="0"/>
          </a:p>
        </p:txBody>
      </p:sp>
      <p:sp>
        <p:nvSpPr>
          <p:cNvPr id="15" name="Text 13"/>
          <p:cNvSpPr txBox="1"/>
          <p:nvPr/>
        </p:nvSpPr>
        <p:spPr>
          <a:xfrm>
            <a:off x="10195560" y="3129077"/>
            <a:ext cx="1188720" cy="457200"/>
          </a:xfrm>
          <a:prstGeom prst="rect">
            <a:avLst/>
          </a:prstGeom>
          <a:noFill/>
          <a:ln/>
        </p:spPr>
        <p:txBody>
          <a:bodyPr wrap="square" lIns="0" tIns="0" rIns="0" bIns="0" rtlCol="0" anchor="ctr"/>
          <a:lstStyle/>
          <a:p>
            <a:pPr algn="r" indent="0" marL="0">
              <a:buNone/>
            </a:pPr>
            <a:r>
              <a:rPr lang="en-US" sz="1100" b="1" dirty="0">
                <a:solidFill>
                  <a:srgbClr val="177E89"/>
                </a:solidFill>
                <a:latin typeface="Calibri" pitchFamily="34" charset="0"/>
                <a:ea typeface="Calibri" pitchFamily="34" charset="-122"/>
                <a:cs typeface="Calibri" pitchFamily="34" charset="-120"/>
              </a:rPr>
              <a:t>25 min</a:t>
            </a:r>
            <a:endParaRPr lang="en-US" sz="1100" dirty="0"/>
          </a:p>
        </p:txBody>
      </p:sp>
      <p:sp>
        <p:nvSpPr>
          <p:cNvPr id="16" name="Shape 14"/>
          <p:cNvSpPr/>
          <p:nvPr/>
        </p:nvSpPr>
        <p:spPr>
          <a:xfrm>
            <a:off x="640080" y="3642970"/>
            <a:ext cx="10927080" cy="457200"/>
          </a:xfrm>
          <a:prstGeom prst="roundRect">
            <a:avLst>
              <a:gd name="adj" fmla="val 20000"/>
            </a:avLst>
          </a:prstGeom>
          <a:solidFill>
            <a:srgbClr val="FFFFFF"/>
          </a:solidFill>
          <a:ln w="12700">
            <a:solidFill>
              <a:srgbClr val="CFD5D9"/>
            </a:solidFill>
            <a:prstDash val="solid"/>
          </a:ln>
        </p:spPr>
      </p:sp>
      <p:sp>
        <p:nvSpPr>
          <p:cNvPr id="17" name="Shape 15"/>
          <p:cNvSpPr/>
          <p:nvPr/>
        </p:nvSpPr>
        <p:spPr>
          <a:xfrm>
            <a:off x="960120" y="3679546"/>
            <a:ext cx="384048" cy="384048"/>
          </a:xfrm>
          <a:prstGeom prst="ellipse">
            <a:avLst/>
          </a:prstGeom>
          <a:solidFill>
            <a:srgbClr val="177E89"/>
          </a:solidFill>
          <a:ln w="12700">
            <a:solidFill>
              <a:srgbClr val="177E89"/>
            </a:solidFill>
            <a:prstDash val="solid"/>
          </a:ln>
        </p:spPr>
      </p:sp>
      <p:sp>
        <p:nvSpPr>
          <p:cNvPr id="18" name="Text 16"/>
          <p:cNvSpPr txBox="1"/>
          <p:nvPr/>
        </p:nvSpPr>
        <p:spPr>
          <a:xfrm>
            <a:off x="960120" y="3679546"/>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19" name="Text 17"/>
          <p:cNvSpPr txBox="1"/>
          <p:nvPr/>
        </p:nvSpPr>
        <p:spPr>
          <a:xfrm>
            <a:off x="1664208" y="3642970"/>
            <a:ext cx="3383280" cy="457200"/>
          </a:xfrm>
          <a:prstGeom prst="rect">
            <a:avLst/>
          </a:prstGeom>
          <a:noFill/>
          <a:ln/>
        </p:spPr>
        <p:txBody>
          <a:bodyPr wrap="square" lIns="0" tIns="0" rIns="0" bIns="0" rtlCol="0" anchor="ctr"/>
          <a:lstStyle/>
          <a:p>
            <a:pPr indent="0" marL="0">
              <a:buNone/>
            </a:pPr>
            <a:r>
              <a:rPr lang="en-US" sz="1300" b="1" dirty="0">
                <a:solidFill>
                  <a:srgbClr val="1F2326"/>
                </a:solidFill>
                <a:latin typeface="Calibri" pitchFamily="34" charset="0"/>
                <a:ea typeface="Calibri" pitchFamily="34" charset="-122"/>
                <a:cs typeface="Calibri" pitchFamily="34" charset="-120"/>
              </a:rPr>
              <a:t>Atributos y rendimiento</a:t>
            </a:r>
            <a:endParaRPr lang="en-US" sz="1300" dirty="0"/>
          </a:p>
        </p:txBody>
      </p:sp>
      <p:sp>
        <p:nvSpPr>
          <p:cNvPr id="20" name="Text 18"/>
          <p:cNvSpPr txBox="1"/>
          <p:nvPr/>
        </p:nvSpPr>
        <p:spPr>
          <a:xfrm>
            <a:off x="5202936" y="3642970"/>
            <a:ext cx="5120640" cy="457200"/>
          </a:xfrm>
          <a:prstGeom prst="rect">
            <a:avLst/>
          </a:prstGeom>
          <a:noFill/>
          <a:ln/>
        </p:spPr>
        <p:txBody>
          <a:bodyPr wrap="square" lIns="0" tIns="0" rIns="0" bIns="0" rtlCol="0" anchor="ctr"/>
          <a:lstStyle/>
          <a:p>
            <a:pPr indent="0" marL="0">
              <a:buNone/>
            </a:pPr>
            <a:r>
              <a:rPr lang="en-US" sz="1100" dirty="0">
                <a:solidFill>
                  <a:srgbClr val="5F676C"/>
                </a:solidFill>
                <a:latin typeface="Calibri" pitchFamily="34" charset="0"/>
                <a:ea typeface="Calibri" pitchFamily="34" charset="-122"/>
                <a:cs typeface="Calibri" pitchFamily="34" charset="-120"/>
              </a:rPr>
              <a:t>poster, preload, autoplay, peso del archivo y rutas.</a:t>
            </a:r>
            <a:endParaRPr lang="en-US" sz="1100" dirty="0"/>
          </a:p>
        </p:txBody>
      </p:sp>
      <p:sp>
        <p:nvSpPr>
          <p:cNvPr id="21" name="Text 19"/>
          <p:cNvSpPr txBox="1"/>
          <p:nvPr/>
        </p:nvSpPr>
        <p:spPr>
          <a:xfrm>
            <a:off x="10195560" y="3642970"/>
            <a:ext cx="1188720" cy="457200"/>
          </a:xfrm>
          <a:prstGeom prst="rect">
            <a:avLst/>
          </a:prstGeom>
          <a:noFill/>
          <a:ln/>
        </p:spPr>
        <p:txBody>
          <a:bodyPr wrap="square" lIns="0" tIns="0" rIns="0" bIns="0" rtlCol="0" anchor="ctr"/>
          <a:lstStyle/>
          <a:p>
            <a:pPr algn="r" indent="0" marL="0">
              <a:buNone/>
            </a:pPr>
            <a:r>
              <a:rPr lang="en-US" sz="1100" b="1" dirty="0">
                <a:solidFill>
                  <a:srgbClr val="177E89"/>
                </a:solidFill>
                <a:latin typeface="Calibri" pitchFamily="34" charset="0"/>
                <a:ea typeface="Calibri" pitchFamily="34" charset="-122"/>
                <a:cs typeface="Calibri" pitchFamily="34" charset="-120"/>
              </a:rPr>
              <a:t>35 min</a:t>
            </a:r>
            <a:endParaRPr lang="en-US" sz="1100" dirty="0"/>
          </a:p>
        </p:txBody>
      </p:sp>
      <p:sp>
        <p:nvSpPr>
          <p:cNvPr id="22" name="Shape 20"/>
          <p:cNvSpPr/>
          <p:nvPr/>
        </p:nvSpPr>
        <p:spPr>
          <a:xfrm>
            <a:off x="640080" y="4156862"/>
            <a:ext cx="10927080" cy="457200"/>
          </a:xfrm>
          <a:prstGeom prst="roundRect">
            <a:avLst>
              <a:gd name="adj" fmla="val 20000"/>
            </a:avLst>
          </a:prstGeom>
          <a:solidFill>
            <a:srgbClr val="FFFFFF"/>
          </a:solidFill>
          <a:ln w="12700">
            <a:solidFill>
              <a:srgbClr val="CFD5D9"/>
            </a:solidFill>
            <a:prstDash val="solid"/>
          </a:ln>
        </p:spPr>
      </p:sp>
      <p:sp>
        <p:nvSpPr>
          <p:cNvPr id="23" name="Shape 21"/>
          <p:cNvSpPr/>
          <p:nvPr/>
        </p:nvSpPr>
        <p:spPr>
          <a:xfrm>
            <a:off x="960120" y="4193438"/>
            <a:ext cx="384048" cy="384048"/>
          </a:xfrm>
          <a:prstGeom prst="ellipse">
            <a:avLst/>
          </a:prstGeom>
          <a:solidFill>
            <a:srgbClr val="177E89"/>
          </a:solidFill>
          <a:ln w="12700">
            <a:solidFill>
              <a:srgbClr val="177E89"/>
            </a:solidFill>
            <a:prstDash val="solid"/>
          </a:ln>
        </p:spPr>
      </p:sp>
      <p:sp>
        <p:nvSpPr>
          <p:cNvPr id="24" name="Text 22"/>
          <p:cNvSpPr txBox="1"/>
          <p:nvPr/>
        </p:nvSpPr>
        <p:spPr>
          <a:xfrm>
            <a:off x="960120" y="419343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25" name="Text 23"/>
          <p:cNvSpPr txBox="1"/>
          <p:nvPr/>
        </p:nvSpPr>
        <p:spPr>
          <a:xfrm>
            <a:off x="1664208" y="4156862"/>
            <a:ext cx="3383280" cy="457200"/>
          </a:xfrm>
          <a:prstGeom prst="rect">
            <a:avLst/>
          </a:prstGeom>
          <a:noFill/>
          <a:ln/>
        </p:spPr>
        <p:txBody>
          <a:bodyPr wrap="square" lIns="0" tIns="0" rIns="0" bIns="0" rtlCol="0" anchor="ctr"/>
          <a:lstStyle/>
          <a:p>
            <a:pPr indent="0" marL="0">
              <a:buNone/>
            </a:pPr>
            <a:r>
              <a:rPr lang="en-US" sz="1300" b="1" dirty="0">
                <a:solidFill>
                  <a:srgbClr val="1F2326"/>
                </a:solidFill>
                <a:latin typeface="Calibri" pitchFamily="34" charset="0"/>
                <a:ea typeface="Calibri" pitchFamily="34" charset="-122"/>
                <a:cs typeface="Calibri" pitchFamily="34" charset="-120"/>
              </a:rPr>
              <a:t>Accesibilidad</a:t>
            </a:r>
            <a:endParaRPr lang="en-US" sz="1300" dirty="0"/>
          </a:p>
        </p:txBody>
      </p:sp>
      <p:sp>
        <p:nvSpPr>
          <p:cNvPr id="26" name="Text 24"/>
          <p:cNvSpPr txBox="1"/>
          <p:nvPr/>
        </p:nvSpPr>
        <p:spPr>
          <a:xfrm>
            <a:off x="5202936" y="4156862"/>
            <a:ext cx="5120640" cy="457200"/>
          </a:xfrm>
          <a:prstGeom prst="rect">
            <a:avLst/>
          </a:prstGeom>
          <a:noFill/>
          <a:ln/>
        </p:spPr>
        <p:txBody>
          <a:bodyPr wrap="square" lIns="0" tIns="0" rIns="0" bIns="0" rtlCol="0" anchor="ctr"/>
          <a:lstStyle/>
          <a:p>
            <a:pPr indent="0" marL="0">
              <a:buNone/>
            </a:pPr>
            <a:r>
              <a:rPr lang="en-US" sz="1100" dirty="0">
                <a:solidFill>
                  <a:srgbClr val="5F676C"/>
                </a:solidFill>
                <a:latin typeface="Calibri" pitchFamily="34" charset="0"/>
                <a:ea typeface="Calibri" pitchFamily="34" charset="-122"/>
                <a:cs typeface="Calibri" pitchFamily="34" charset="-120"/>
              </a:rPr>
              <a:t>Subtítulos con track y transcripción.</a:t>
            </a:r>
            <a:endParaRPr lang="en-US" sz="1100" dirty="0"/>
          </a:p>
        </p:txBody>
      </p:sp>
      <p:sp>
        <p:nvSpPr>
          <p:cNvPr id="27" name="Text 25"/>
          <p:cNvSpPr txBox="1"/>
          <p:nvPr/>
        </p:nvSpPr>
        <p:spPr>
          <a:xfrm>
            <a:off x="10195560" y="4156862"/>
            <a:ext cx="1188720" cy="457200"/>
          </a:xfrm>
          <a:prstGeom prst="rect">
            <a:avLst/>
          </a:prstGeom>
          <a:noFill/>
          <a:ln/>
        </p:spPr>
        <p:txBody>
          <a:bodyPr wrap="square" lIns="0" tIns="0" rIns="0" bIns="0" rtlCol="0" anchor="ctr"/>
          <a:lstStyle/>
          <a:p>
            <a:pPr algn="r" indent="0" marL="0">
              <a:buNone/>
            </a:pPr>
            <a:r>
              <a:rPr lang="en-US" sz="1100" b="1" dirty="0">
                <a:solidFill>
                  <a:srgbClr val="177E89"/>
                </a:solidFill>
                <a:latin typeface="Calibri" pitchFamily="34" charset="0"/>
                <a:ea typeface="Calibri" pitchFamily="34" charset="-122"/>
                <a:cs typeface="Calibri" pitchFamily="34" charset="-120"/>
              </a:rPr>
              <a:t>25 min</a:t>
            </a:r>
            <a:endParaRPr lang="en-US" sz="1100" dirty="0"/>
          </a:p>
        </p:txBody>
      </p:sp>
      <p:sp>
        <p:nvSpPr>
          <p:cNvPr id="28" name="Shape 26"/>
          <p:cNvSpPr/>
          <p:nvPr/>
        </p:nvSpPr>
        <p:spPr>
          <a:xfrm>
            <a:off x="640080" y="4670755"/>
            <a:ext cx="10927080" cy="457200"/>
          </a:xfrm>
          <a:prstGeom prst="roundRect">
            <a:avLst>
              <a:gd name="adj" fmla="val 20000"/>
            </a:avLst>
          </a:prstGeom>
          <a:solidFill>
            <a:srgbClr val="F3F5F6"/>
          </a:solidFill>
          <a:ln w="12700">
            <a:solidFill>
              <a:srgbClr val="CFD5D9"/>
            </a:solidFill>
            <a:prstDash val="solid"/>
          </a:ln>
        </p:spPr>
      </p:sp>
      <p:sp>
        <p:nvSpPr>
          <p:cNvPr id="29" name="Shape 27"/>
          <p:cNvSpPr/>
          <p:nvPr/>
        </p:nvSpPr>
        <p:spPr>
          <a:xfrm>
            <a:off x="960120" y="4707331"/>
            <a:ext cx="384048" cy="384048"/>
          </a:xfrm>
          <a:prstGeom prst="ellipse">
            <a:avLst/>
          </a:prstGeom>
          <a:solidFill>
            <a:srgbClr val="5F676C"/>
          </a:solidFill>
          <a:ln w="12700">
            <a:solidFill>
              <a:srgbClr val="5F676C"/>
            </a:solidFill>
            <a:prstDash val="solid"/>
          </a:ln>
        </p:spPr>
      </p:sp>
      <p:sp>
        <p:nvSpPr>
          <p:cNvPr id="30" name="Text 28"/>
          <p:cNvSpPr txBox="1"/>
          <p:nvPr/>
        </p:nvSpPr>
        <p:spPr>
          <a:xfrm>
            <a:off x="960120" y="4707331"/>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31" name="Text 29"/>
          <p:cNvSpPr txBox="1"/>
          <p:nvPr/>
        </p:nvSpPr>
        <p:spPr>
          <a:xfrm>
            <a:off x="1664208" y="4670755"/>
            <a:ext cx="3383280" cy="457200"/>
          </a:xfrm>
          <a:prstGeom prst="rect">
            <a:avLst/>
          </a:prstGeom>
          <a:noFill/>
          <a:ln/>
        </p:spPr>
        <p:txBody>
          <a:bodyPr wrap="square" lIns="0" tIns="0" rIns="0" bIns="0" rtlCol="0" anchor="ctr"/>
          <a:lstStyle/>
          <a:p>
            <a:pPr indent="0" marL="0">
              <a:buNone/>
            </a:pPr>
            <a:r>
              <a:rPr lang="en-US" sz="1300" b="1" dirty="0">
                <a:solidFill>
                  <a:srgbClr val="5F676C"/>
                </a:solidFill>
                <a:latin typeface="Calibri" pitchFamily="34" charset="0"/>
                <a:ea typeface="Calibri" pitchFamily="34" charset="-122"/>
                <a:cs typeface="Calibri" pitchFamily="34" charset="-120"/>
              </a:rPr>
              <a:t>Descanso</a:t>
            </a:r>
            <a:endParaRPr lang="en-US" sz="1300" dirty="0"/>
          </a:p>
        </p:txBody>
      </p:sp>
      <p:sp>
        <p:nvSpPr>
          <p:cNvPr id="32" name="Text 30"/>
          <p:cNvSpPr txBox="1"/>
          <p:nvPr/>
        </p:nvSpPr>
        <p:spPr>
          <a:xfrm>
            <a:off x="10195560" y="4670755"/>
            <a:ext cx="1188720" cy="457200"/>
          </a:xfrm>
          <a:prstGeom prst="rect">
            <a:avLst/>
          </a:prstGeom>
          <a:noFill/>
          <a:ln/>
        </p:spPr>
        <p:txBody>
          <a:bodyPr wrap="square" lIns="0" tIns="0" rIns="0" bIns="0" rtlCol="0" anchor="ctr"/>
          <a:lstStyle/>
          <a:p>
            <a:pPr algn="r" indent="0" marL="0">
              <a:buNone/>
            </a:pPr>
            <a:r>
              <a:rPr lang="en-US" sz="1100" b="1" dirty="0">
                <a:solidFill>
                  <a:srgbClr val="5F676C"/>
                </a:solidFill>
                <a:latin typeface="Calibri" pitchFamily="34" charset="0"/>
                <a:ea typeface="Calibri" pitchFamily="34" charset="-122"/>
                <a:cs typeface="Calibri" pitchFamily="34" charset="-120"/>
              </a:rPr>
              <a:t>15 min</a:t>
            </a:r>
            <a:endParaRPr lang="en-US" sz="1100" dirty="0"/>
          </a:p>
        </p:txBody>
      </p:sp>
      <p:sp>
        <p:nvSpPr>
          <p:cNvPr id="33" name="Shape 31"/>
          <p:cNvSpPr/>
          <p:nvPr/>
        </p:nvSpPr>
        <p:spPr>
          <a:xfrm>
            <a:off x="640080" y="5184648"/>
            <a:ext cx="10927080" cy="457200"/>
          </a:xfrm>
          <a:prstGeom prst="roundRect">
            <a:avLst>
              <a:gd name="adj" fmla="val 20000"/>
            </a:avLst>
          </a:prstGeom>
          <a:solidFill>
            <a:srgbClr val="FFFFFF"/>
          </a:solidFill>
          <a:ln w="12700">
            <a:solidFill>
              <a:srgbClr val="CFD5D9"/>
            </a:solidFill>
            <a:prstDash val="solid"/>
          </a:ln>
        </p:spPr>
      </p:sp>
      <p:sp>
        <p:nvSpPr>
          <p:cNvPr id="34" name="Shape 32"/>
          <p:cNvSpPr/>
          <p:nvPr/>
        </p:nvSpPr>
        <p:spPr>
          <a:xfrm>
            <a:off x="960120" y="5221224"/>
            <a:ext cx="384048" cy="384048"/>
          </a:xfrm>
          <a:prstGeom prst="ellipse">
            <a:avLst/>
          </a:prstGeom>
          <a:solidFill>
            <a:srgbClr val="177E89"/>
          </a:solidFill>
          <a:ln w="12700">
            <a:solidFill>
              <a:srgbClr val="177E89"/>
            </a:solidFill>
            <a:prstDash val="solid"/>
          </a:ln>
        </p:spPr>
      </p:sp>
      <p:sp>
        <p:nvSpPr>
          <p:cNvPr id="35" name="Text 33"/>
          <p:cNvSpPr txBox="1"/>
          <p:nvPr/>
        </p:nvSpPr>
        <p:spPr>
          <a:xfrm>
            <a:off x="960120" y="5221224"/>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05</a:t>
            </a:r>
            <a:endParaRPr lang="en-US" sz="1100" dirty="0"/>
          </a:p>
        </p:txBody>
      </p:sp>
      <p:sp>
        <p:nvSpPr>
          <p:cNvPr id="36" name="Text 34"/>
          <p:cNvSpPr txBox="1"/>
          <p:nvPr/>
        </p:nvSpPr>
        <p:spPr>
          <a:xfrm>
            <a:off x="1664208" y="5184648"/>
            <a:ext cx="3383280" cy="457200"/>
          </a:xfrm>
          <a:prstGeom prst="rect">
            <a:avLst/>
          </a:prstGeom>
          <a:noFill/>
          <a:ln/>
        </p:spPr>
        <p:txBody>
          <a:bodyPr wrap="square" lIns="0" tIns="0" rIns="0" bIns="0" rtlCol="0" anchor="ctr"/>
          <a:lstStyle/>
          <a:p>
            <a:pPr indent="0" marL="0">
              <a:buNone/>
            </a:pPr>
            <a:r>
              <a:rPr lang="en-US" sz="1300" b="1" dirty="0">
                <a:solidFill>
                  <a:srgbClr val="1F2326"/>
                </a:solidFill>
                <a:latin typeface="Calibri" pitchFamily="34" charset="0"/>
                <a:ea typeface="Calibri" pitchFamily="34" charset="-122"/>
                <a:cs typeface="Calibri" pitchFamily="34" charset="-120"/>
              </a:rPr>
              <a:t>Controles propios y práctica</a:t>
            </a:r>
            <a:endParaRPr lang="en-US" sz="1300" dirty="0"/>
          </a:p>
        </p:txBody>
      </p:sp>
      <p:sp>
        <p:nvSpPr>
          <p:cNvPr id="37" name="Text 35"/>
          <p:cNvSpPr txBox="1"/>
          <p:nvPr/>
        </p:nvSpPr>
        <p:spPr>
          <a:xfrm>
            <a:off x="5202936" y="5184648"/>
            <a:ext cx="5120640" cy="457200"/>
          </a:xfrm>
          <a:prstGeom prst="rect">
            <a:avLst/>
          </a:prstGeom>
          <a:noFill/>
          <a:ln/>
        </p:spPr>
        <p:txBody>
          <a:bodyPr wrap="square" lIns="0" tIns="0" rIns="0" bIns="0" rtlCol="0" anchor="ctr"/>
          <a:lstStyle/>
          <a:p>
            <a:pPr indent="0" marL="0">
              <a:buNone/>
            </a:pPr>
            <a:r>
              <a:rPr lang="en-US" sz="1100" dirty="0">
                <a:solidFill>
                  <a:srgbClr val="5F676C"/>
                </a:solidFill>
                <a:latin typeface="Calibri" pitchFamily="34" charset="0"/>
                <a:ea typeface="Calibri" pitchFamily="34" charset="-122"/>
                <a:cs typeface="Calibri" pitchFamily="34" charset="-120"/>
              </a:rPr>
              <a:t>Botones, barra de avance y tu página Sobre mí.</a:t>
            </a:r>
            <a:endParaRPr lang="en-US" sz="1100" dirty="0"/>
          </a:p>
        </p:txBody>
      </p:sp>
      <p:sp>
        <p:nvSpPr>
          <p:cNvPr id="38" name="Text 36"/>
          <p:cNvSpPr txBox="1"/>
          <p:nvPr/>
        </p:nvSpPr>
        <p:spPr>
          <a:xfrm>
            <a:off x="10195560" y="5184648"/>
            <a:ext cx="1188720" cy="457200"/>
          </a:xfrm>
          <a:prstGeom prst="rect">
            <a:avLst/>
          </a:prstGeom>
          <a:noFill/>
          <a:ln/>
        </p:spPr>
        <p:txBody>
          <a:bodyPr wrap="square" lIns="0" tIns="0" rIns="0" bIns="0" rtlCol="0" anchor="ctr"/>
          <a:lstStyle/>
          <a:p>
            <a:pPr algn="r" indent="0" marL="0">
              <a:buNone/>
            </a:pPr>
            <a:r>
              <a:rPr lang="en-US" sz="1100" b="1" dirty="0">
                <a:solidFill>
                  <a:srgbClr val="177E89"/>
                </a:solidFill>
                <a:latin typeface="Calibri" pitchFamily="34" charset="0"/>
                <a:ea typeface="Calibri" pitchFamily="34" charset="-122"/>
                <a:cs typeface="Calibri" pitchFamily="34" charset="-120"/>
              </a:rPr>
              <a:t>45 min</a:t>
            </a:r>
            <a:endParaRPr lang="en-US" sz="1100" dirty="0"/>
          </a:p>
        </p:txBody>
      </p:sp>
      <p:sp>
        <p:nvSpPr>
          <p:cNvPr id="39" name="Shape 37"/>
          <p:cNvSpPr/>
          <p:nvPr/>
        </p:nvSpPr>
        <p:spPr>
          <a:xfrm>
            <a:off x="640080" y="5698541"/>
            <a:ext cx="10927080" cy="457200"/>
          </a:xfrm>
          <a:prstGeom prst="roundRect">
            <a:avLst>
              <a:gd name="adj" fmla="val 20000"/>
            </a:avLst>
          </a:prstGeom>
          <a:solidFill>
            <a:srgbClr val="FFFFFF"/>
          </a:solidFill>
          <a:ln w="12700">
            <a:solidFill>
              <a:srgbClr val="CFD5D9"/>
            </a:solidFill>
            <a:prstDash val="solid"/>
          </a:ln>
        </p:spPr>
      </p:sp>
      <p:sp>
        <p:nvSpPr>
          <p:cNvPr id="40" name="Shape 38"/>
          <p:cNvSpPr/>
          <p:nvPr/>
        </p:nvSpPr>
        <p:spPr>
          <a:xfrm>
            <a:off x="960120" y="5735117"/>
            <a:ext cx="384048" cy="384048"/>
          </a:xfrm>
          <a:prstGeom prst="ellipse">
            <a:avLst/>
          </a:prstGeom>
          <a:solidFill>
            <a:srgbClr val="177E89"/>
          </a:solidFill>
          <a:ln w="12700">
            <a:solidFill>
              <a:srgbClr val="177E89"/>
            </a:solidFill>
            <a:prstDash val="solid"/>
          </a:ln>
        </p:spPr>
      </p:sp>
      <p:sp>
        <p:nvSpPr>
          <p:cNvPr id="41" name="Text 39"/>
          <p:cNvSpPr txBox="1"/>
          <p:nvPr/>
        </p:nvSpPr>
        <p:spPr>
          <a:xfrm>
            <a:off x="960120" y="5735117"/>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06</a:t>
            </a:r>
            <a:endParaRPr lang="en-US" sz="1100" dirty="0"/>
          </a:p>
        </p:txBody>
      </p:sp>
      <p:sp>
        <p:nvSpPr>
          <p:cNvPr id="42" name="Text 40"/>
          <p:cNvSpPr txBox="1"/>
          <p:nvPr/>
        </p:nvSpPr>
        <p:spPr>
          <a:xfrm>
            <a:off x="1664208" y="5698541"/>
            <a:ext cx="3383280" cy="457200"/>
          </a:xfrm>
          <a:prstGeom prst="rect">
            <a:avLst/>
          </a:prstGeom>
          <a:noFill/>
          <a:ln/>
        </p:spPr>
        <p:txBody>
          <a:bodyPr wrap="square" lIns="0" tIns="0" rIns="0" bIns="0" rtlCol="0" anchor="ctr"/>
          <a:lstStyle/>
          <a:p>
            <a:pPr indent="0" marL="0">
              <a:buNone/>
            </a:pPr>
            <a:r>
              <a:rPr lang="en-US" sz="1300" b="1" dirty="0">
                <a:solidFill>
                  <a:srgbClr val="1F2326"/>
                </a:solidFill>
                <a:latin typeface="Calibri" pitchFamily="34" charset="0"/>
                <a:ea typeface="Calibri" pitchFamily="34" charset="-122"/>
                <a:cs typeface="Calibri" pitchFamily="34" charset="-120"/>
              </a:rPr>
              <a:t>Figma: el Hero</a:t>
            </a:r>
            <a:endParaRPr lang="en-US" sz="1300" dirty="0"/>
          </a:p>
        </p:txBody>
      </p:sp>
      <p:sp>
        <p:nvSpPr>
          <p:cNvPr id="43" name="Text 41"/>
          <p:cNvSpPr txBox="1"/>
          <p:nvPr/>
        </p:nvSpPr>
        <p:spPr>
          <a:xfrm>
            <a:off x="5202936" y="5698541"/>
            <a:ext cx="5120640" cy="457200"/>
          </a:xfrm>
          <a:prstGeom prst="rect">
            <a:avLst/>
          </a:prstGeom>
          <a:noFill/>
          <a:ln/>
        </p:spPr>
        <p:txBody>
          <a:bodyPr wrap="square" lIns="0" tIns="0" rIns="0" bIns="0" rtlCol="0" anchor="ctr"/>
          <a:lstStyle/>
          <a:p>
            <a:pPr indent="0" marL="0">
              <a:buNone/>
            </a:pPr>
            <a:r>
              <a:rPr lang="en-US" sz="1100" dirty="0">
                <a:solidFill>
                  <a:srgbClr val="5F676C"/>
                </a:solidFill>
                <a:latin typeface="Calibri" pitchFamily="34" charset="0"/>
                <a:ea typeface="Calibri" pitchFamily="34" charset="-122"/>
                <a:cs typeface="Calibri" pitchFamily="34" charset="-120"/>
              </a:rPr>
              <a:t>Revisa los Pasos 1 al 6 y construye los Pasos 7 al 9.</a:t>
            </a:r>
            <a:endParaRPr lang="en-US" sz="1100" dirty="0"/>
          </a:p>
        </p:txBody>
      </p:sp>
      <p:sp>
        <p:nvSpPr>
          <p:cNvPr id="44" name="Text 42"/>
          <p:cNvSpPr txBox="1"/>
          <p:nvPr/>
        </p:nvSpPr>
        <p:spPr>
          <a:xfrm>
            <a:off x="10195560" y="5698541"/>
            <a:ext cx="1188720" cy="457200"/>
          </a:xfrm>
          <a:prstGeom prst="rect">
            <a:avLst/>
          </a:prstGeom>
          <a:noFill/>
          <a:ln/>
        </p:spPr>
        <p:txBody>
          <a:bodyPr wrap="square" lIns="0" tIns="0" rIns="0" bIns="0" rtlCol="0" anchor="ctr"/>
          <a:lstStyle/>
          <a:p>
            <a:pPr algn="r" indent="0" marL="0">
              <a:buNone/>
            </a:pPr>
            <a:r>
              <a:rPr lang="en-US" sz="1100" b="1" dirty="0">
                <a:solidFill>
                  <a:srgbClr val="177E89"/>
                </a:solidFill>
                <a:latin typeface="Calibri" pitchFamily="34" charset="0"/>
                <a:ea typeface="Calibri" pitchFamily="34" charset="-122"/>
                <a:cs typeface="Calibri" pitchFamily="34" charset="-120"/>
              </a:rPr>
              <a:t>30 min</a:t>
            </a:r>
            <a:endParaRPr lang="en-US" sz="1100" dirty="0"/>
          </a:p>
        </p:txBody>
      </p:sp>
      <p:sp>
        <p:nvSpPr>
          <p:cNvPr id="45" name="Text 43"/>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08 / 48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1517904"/>
            <a:ext cx="5349240" cy="1024128"/>
          </a:xfrm>
          <a:prstGeom prst="roundRect">
            <a:avLst>
              <a:gd name="adj" fmla="val 50000"/>
            </a:avLst>
          </a:prstGeom>
          <a:solidFill>
            <a:srgbClr val="177E89"/>
          </a:solidFill>
          <a:ln w="12700">
            <a:solidFill>
              <a:srgbClr val="177E89"/>
            </a:solidFill>
            <a:prstDash val="solid"/>
          </a:ln>
        </p:spPr>
      </p:sp>
      <p:sp>
        <p:nvSpPr>
          <p:cNvPr id="3" name="Text 1"/>
          <p:cNvSpPr txBox="1"/>
          <p:nvPr/>
        </p:nvSpPr>
        <p:spPr>
          <a:xfrm>
            <a:off x="274320" y="1517904"/>
            <a:ext cx="4297680" cy="10241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Repaso: formularios HTML5</a:t>
            </a:r>
            <a:endParaRPr lang="en-US" sz="2000" dirty="0"/>
          </a:p>
        </p:txBody>
      </p:sp>
      <p:sp>
        <p:nvSpPr>
          <p:cNvPr id="4" name="Text 2"/>
          <p:cNvSpPr txBox="1"/>
          <p:nvPr/>
        </p:nvSpPr>
        <p:spPr>
          <a:xfrm>
            <a:off x="274320" y="2834640"/>
            <a:ext cx="4297680" cy="256032"/>
          </a:xfrm>
          <a:prstGeom prst="rect">
            <a:avLst/>
          </a:prstGeom>
          <a:noFill/>
          <a:ln/>
        </p:spPr>
        <p:txBody>
          <a:bodyPr wrap="square" lIns="0" tIns="0" rIns="0" bIns="0" rtlCol="0" anchor="ctr"/>
          <a:lstStyle/>
          <a:p>
            <a:pPr algn="ctr" indent="0" marL="0">
              <a:buNone/>
            </a:pPr>
            <a:r>
              <a:rPr lang="en-US" sz="1100" b="1" spc="400" kern="0" dirty="0">
                <a:solidFill>
                  <a:srgbClr val="177E89"/>
                </a:solidFill>
                <a:latin typeface="Calibri" pitchFamily="34" charset="0"/>
                <a:ea typeface="Calibri" pitchFamily="34" charset="-122"/>
                <a:cs typeface="Calibri" pitchFamily="34" charset="-120"/>
              </a:rPr>
              <a:t>BLOQUE 01</a:t>
            </a:r>
            <a:endParaRPr lang="en-US" sz="1100" dirty="0"/>
          </a:p>
        </p:txBody>
      </p:sp>
      <p:sp>
        <p:nvSpPr>
          <p:cNvPr id="5" name="Text 3"/>
          <p:cNvSpPr txBox="1"/>
          <p:nvPr/>
        </p:nvSpPr>
        <p:spPr>
          <a:xfrm>
            <a:off x="685800" y="3346704"/>
            <a:ext cx="3657600" cy="237744"/>
          </a:xfrm>
          <a:prstGeom prst="rect">
            <a:avLst/>
          </a:prstGeom>
          <a:noFill/>
          <a:ln/>
        </p:spPr>
        <p:txBody>
          <a:bodyPr wrap="square" lIns="0" tIns="0" rIns="0" bIns="0" rtlCol="0" anchor="ctr"/>
          <a:lstStyle/>
          <a:p>
            <a:pPr indent="0" marL="0">
              <a:buNone/>
            </a:pPr>
            <a:r>
              <a:rPr lang="en-US" sz="1050" b="1" spc="150" kern="0" dirty="0">
                <a:solidFill>
                  <a:srgbClr val="5F676C"/>
                </a:solidFill>
                <a:latin typeface="Calibri" pitchFamily="34" charset="0"/>
                <a:ea typeface="Calibri" pitchFamily="34" charset="-122"/>
                <a:cs typeface="Calibri" pitchFamily="34" charset="-120"/>
              </a:rPr>
              <a:t>En este bloque</a:t>
            </a:r>
            <a:endParaRPr lang="en-US" sz="1050" dirty="0"/>
          </a:p>
        </p:txBody>
      </p:sp>
      <p:sp>
        <p:nvSpPr>
          <p:cNvPr id="6" name="Shape 4"/>
          <p:cNvSpPr/>
          <p:nvPr/>
        </p:nvSpPr>
        <p:spPr>
          <a:xfrm>
            <a:off x="685800" y="3657600"/>
            <a:ext cx="5577840" cy="475488"/>
          </a:xfrm>
          <a:prstGeom prst="roundRect">
            <a:avLst>
              <a:gd name="adj" fmla="val 19231"/>
            </a:avLst>
          </a:prstGeom>
          <a:solidFill>
            <a:srgbClr val="FFFFFF"/>
          </a:solidFill>
          <a:ln w="12700">
            <a:solidFill>
              <a:srgbClr val="CFD5D9"/>
            </a:solidFill>
            <a:prstDash val="solid"/>
          </a:ln>
        </p:spPr>
      </p:sp>
      <p:sp>
        <p:nvSpPr>
          <p:cNvPr id="7" name="Text 5"/>
          <p:cNvSpPr txBox="1"/>
          <p:nvPr/>
        </p:nvSpPr>
        <p:spPr>
          <a:xfrm>
            <a:off x="896112" y="3657600"/>
            <a:ext cx="457200" cy="475488"/>
          </a:xfrm>
          <a:prstGeom prst="rect">
            <a:avLst/>
          </a:prstGeom>
          <a:noFill/>
          <a:ln/>
        </p:spPr>
        <p:txBody>
          <a:bodyPr wrap="square" lIns="0" tIns="0" rIns="0" bIns="0" rtlCol="0" anchor="ctr"/>
          <a:lstStyle/>
          <a:p>
            <a:pPr indent="0" marL="0">
              <a:buNone/>
            </a:pPr>
            <a:r>
              <a:rPr lang="en-US" sz="1200" b="1" dirty="0">
                <a:solidFill>
                  <a:srgbClr val="177E89"/>
                </a:solidFill>
                <a:latin typeface="Calibri" pitchFamily="34" charset="0"/>
                <a:ea typeface="Calibri" pitchFamily="34" charset="-122"/>
                <a:cs typeface="Calibri" pitchFamily="34" charset="-120"/>
              </a:rPr>
              <a:t>01</a:t>
            </a:r>
            <a:endParaRPr lang="en-US" sz="1200" dirty="0"/>
          </a:p>
        </p:txBody>
      </p:sp>
      <p:sp>
        <p:nvSpPr>
          <p:cNvPr id="8" name="Text 6"/>
          <p:cNvSpPr txBox="1"/>
          <p:nvPr/>
        </p:nvSpPr>
        <p:spPr>
          <a:xfrm>
            <a:off x="1481328" y="3657600"/>
            <a:ext cx="4663440" cy="475488"/>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Anatomía de un formulario</a:t>
            </a:r>
            <a:endParaRPr lang="en-US" sz="1200" dirty="0"/>
          </a:p>
        </p:txBody>
      </p:sp>
      <p:sp>
        <p:nvSpPr>
          <p:cNvPr id="9" name="Shape 7"/>
          <p:cNvSpPr/>
          <p:nvPr/>
        </p:nvSpPr>
        <p:spPr>
          <a:xfrm>
            <a:off x="685800" y="4206240"/>
            <a:ext cx="5577840" cy="475488"/>
          </a:xfrm>
          <a:prstGeom prst="roundRect">
            <a:avLst>
              <a:gd name="adj" fmla="val 19231"/>
            </a:avLst>
          </a:prstGeom>
          <a:solidFill>
            <a:srgbClr val="FFFFFF"/>
          </a:solidFill>
          <a:ln w="12700">
            <a:solidFill>
              <a:srgbClr val="CFD5D9"/>
            </a:solidFill>
            <a:prstDash val="solid"/>
          </a:ln>
        </p:spPr>
      </p:sp>
      <p:sp>
        <p:nvSpPr>
          <p:cNvPr id="10" name="Text 8"/>
          <p:cNvSpPr txBox="1"/>
          <p:nvPr/>
        </p:nvSpPr>
        <p:spPr>
          <a:xfrm>
            <a:off x="896112" y="4206240"/>
            <a:ext cx="457200" cy="475488"/>
          </a:xfrm>
          <a:prstGeom prst="rect">
            <a:avLst/>
          </a:prstGeom>
          <a:noFill/>
          <a:ln/>
        </p:spPr>
        <p:txBody>
          <a:bodyPr wrap="square" lIns="0" tIns="0" rIns="0" bIns="0" rtlCol="0" anchor="ctr"/>
          <a:lstStyle/>
          <a:p>
            <a:pPr indent="0" marL="0">
              <a:buNone/>
            </a:pPr>
            <a:r>
              <a:rPr lang="en-US" sz="1200" b="1" dirty="0">
                <a:solidFill>
                  <a:srgbClr val="177E89"/>
                </a:solidFill>
                <a:latin typeface="Calibri" pitchFamily="34" charset="0"/>
                <a:ea typeface="Calibri" pitchFamily="34" charset="-122"/>
                <a:cs typeface="Calibri" pitchFamily="34" charset="-120"/>
              </a:rPr>
              <a:t>02</a:t>
            </a:r>
            <a:endParaRPr lang="en-US" sz="1200" dirty="0"/>
          </a:p>
        </p:txBody>
      </p:sp>
      <p:sp>
        <p:nvSpPr>
          <p:cNvPr id="11" name="Text 9"/>
          <p:cNvSpPr txBox="1"/>
          <p:nvPr/>
        </p:nvSpPr>
        <p:spPr>
          <a:xfrm>
            <a:off x="1481328" y="4206240"/>
            <a:ext cx="4663440" cy="475488"/>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label: la etiqueta de cada campo</a:t>
            </a:r>
            <a:endParaRPr lang="en-US" sz="1200" dirty="0"/>
          </a:p>
        </p:txBody>
      </p:sp>
      <p:sp>
        <p:nvSpPr>
          <p:cNvPr id="12" name="Shape 10"/>
          <p:cNvSpPr/>
          <p:nvPr/>
        </p:nvSpPr>
        <p:spPr>
          <a:xfrm>
            <a:off x="685800" y="4754880"/>
            <a:ext cx="5577840" cy="475488"/>
          </a:xfrm>
          <a:prstGeom prst="roundRect">
            <a:avLst>
              <a:gd name="adj" fmla="val 19231"/>
            </a:avLst>
          </a:prstGeom>
          <a:solidFill>
            <a:srgbClr val="FFFFFF"/>
          </a:solidFill>
          <a:ln w="12700">
            <a:solidFill>
              <a:srgbClr val="CFD5D9"/>
            </a:solidFill>
            <a:prstDash val="solid"/>
          </a:ln>
        </p:spPr>
      </p:sp>
      <p:sp>
        <p:nvSpPr>
          <p:cNvPr id="13" name="Text 11"/>
          <p:cNvSpPr txBox="1"/>
          <p:nvPr/>
        </p:nvSpPr>
        <p:spPr>
          <a:xfrm>
            <a:off x="896112" y="4754880"/>
            <a:ext cx="457200" cy="475488"/>
          </a:xfrm>
          <a:prstGeom prst="rect">
            <a:avLst/>
          </a:prstGeom>
          <a:noFill/>
          <a:ln/>
        </p:spPr>
        <p:txBody>
          <a:bodyPr wrap="square" lIns="0" tIns="0" rIns="0" bIns="0" rtlCol="0" anchor="ctr"/>
          <a:lstStyle/>
          <a:p>
            <a:pPr indent="0" marL="0">
              <a:buNone/>
            </a:pPr>
            <a:r>
              <a:rPr lang="en-US" sz="1200" b="1" dirty="0">
                <a:solidFill>
                  <a:srgbClr val="177E89"/>
                </a:solidFill>
                <a:latin typeface="Calibri" pitchFamily="34" charset="0"/>
                <a:ea typeface="Calibri" pitchFamily="34" charset="-122"/>
                <a:cs typeface="Calibri" pitchFamily="34" charset="-120"/>
              </a:rPr>
              <a:t>03</a:t>
            </a:r>
            <a:endParaRPr lang="en-US" sz="1200" dirty="0"/>
          </a:p>
        </p:txBody>
      </p:sp>
      <p:sp>
        <p:nvSpPr>
          <p:cNvPr id="14" name="Text 12"/>
          <p:cNvSpPr txBox="1"/>
          <p:nvPr/>
        </p:nvSpPr>
        <p:spPr>
          <a:xfrm>
            <a:off x="1481328" y="4754880"/>
            <a:ext cx="4663440" cy="475488"/>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Tipos de campo</a:t>
            </a:r>
            <a:endParaRPr lang="en-US" sz="1200" dirty="0"/>
          </a:p>
        </p:txBody>
      </p:sp>
      <p:sp>
        <p:nvSpPr>
          <p:cNvPr id="15" name="Shape 13"/>
          <p:cNvSpPr/>
          <p:nvPr/>
        </p:nvSpPr>
        <p:spPr>
          <a:xfrm>
            <a:off x="685800" y="5303520"/>
            <a:ext cx="5577840" cy="475488"/>
          </a:xfrm>
          <a:prstGeom prst="roundRect">
            <a:avLst>
              <a:gd name="adj" fmla="val 19231"/>
            </a:avLst>
          </a:prstGeom>
          <a:solidFill>
            <a:srgbClr val="FFFFFF"/>
          </a:solidFill>
          <a:ln w="12700">
            <a:solidFill>
              <a:srgbClr val="CFD5D9"/>
            </a:solidFill>
            <a:prstDash val="solid"/>
          </a:ln>
        </p:spPr>
      </p:sp>
      <p:sp>
        <p:nvSpPr>
          <p:cNvPr id="16" name="Text 14"/>
          <p:cNvSpPr txBox="1"/>
          <p:nvPr/>
        </p:nvSpPr>
        <p:spPr>
          <a:xfrm>
            <a:off x="896112" y="5303520"/>
            <a:ext cx="457200" cy="475488"/>
          </a:xfrm>
          <a:prstGeom prst="rect">
            <a:avLst/>
          </a:prstGeom>
          <a:noFill/>
          <a:ln/>
        </p:spPr>
        <p:txBody>
          <a:bodyPr wrap="square" lIns="0" tIns="0" rIns="0" bIns="0" rtlCol="0" anchor="ctr"/>
          <a:lstStyle/>
          <a:p>
            <a:pPr indent="0" marL="0">
              <a:buNone/>
            </a:pPr>
            <a:r>
              <a:rPr lang="en-US" sz="1200" b="1" dirty="0">
                <a:solidFill>
                  <a:srgbClr val="177E89"/>
                </a:solidFill>
                <a:latin typeface="Calibri" pitchFamily="34" charset="0"/>
                <a:ea typeface="Calibri" pitchFamily="34" charset="-122"/>
                <a:cs typeface="Calibri" pitchFamily="34" charset="-120"/>
              </a:rPr>
              <a:t>04</a:t>
            </a:r>
            <a:endParaRPr lang="en-US" sz="1200" dirty="0"/>
          </a:p>
        </p:txBody>
      </p:sp>
      <p:sp>
        <p:nvSpPr>
          <p:cNvPr id="17" name="Text 15"/>
          <p:cNvSpPr txBox="1"/>
          <p:nvPr/>
        </p:nvSpPr>
        <p:spPr>
          <a:xfrm>
            <a:off x="1481328" y="5303520"/>
            <a:ext cx="4663440" cy="475488"/>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Validación nativa</a:t>
            </a:r>
            <a:endParaRPr lang="en-US" sz="1200" dirty="0"/>
          </a:p>
        </p:txBody>
      </p:sp>
      <p:sp>
        <p:nvSpPr>
          <p:cNvPr id="18" name="Shape 16"/>
          <p:cNvSpPr/>
          <p:nvPr/>
        </p:nvSpPr>
        <p:spPr>
          <a:xfrm>
            <a:off x="685800" y="5852160"/>
            <a:ext cx="5577840" cy="475488"/>
          </a:xfrm>
          <a:prstGeom prst="roundRect">
            <a:avLst>
              <a:gd name="adj" fmla="val 19231"/>
            </a:avLst>
          </a:prstGeom>
          <a:solidFill>
            <a:srgbClr val="FFFFFF"/>
          </a:solidFill>
          <a:ln w="12700">
            <a:solidFill>
              <a:srgbClr val="CFD5D9"/>
            </a:solidFill>
            <a:prstDash val="solid"/>
          </a:ln>
        </p:spPr>
      </p:sp>
      <p:sp>
        <p:nvSpPr>
          <p:cNvPr id="19" name="Text 17"/>
          <p:cNvSpPr txBox="1"/>
          <p:nvPr/>
        </p:nvSpPr>
        <p:spPr>
          <a:xfrm>
            <a:off x="896112" y="5852160"/>
            <a:ext cx="457200" cy="475488"/>
          </a:xfrm>
          <a:prstGeom prst="rect">
            <a:avLst/>
          </a:prstGeom>
          <a:noFill/>
          <a:ln/>
        </p:spPr>
        <p:txBody>
          <a:bodyPr wrap="square" lIns="0" tIns="0" rIns="0" bIns="0" rtlCol="0" anchor="ctr"/>
          <a:lstStyle/>
          <a:p>
            <a:pPr indent="0" marL="0">
              <a:buNone/>
            </a:pPr>
            <a:r>
              <a:rPr lang="en-US" sz="1200" b="1" dirty="0">
                <a:solidFill>
                  <a:srgbClr val="177E89"/>
                </a:solidFill>
                <a:latin typeface="Calibri" pitchFamily="34" charset="0"/>
                <a:ea typeface="Calibri" pitchFamily="34" charset="-122"/>
                <a:cs typeface="Calibri" pitchFamily="34" charset="-120"/>
              </a:rPr>
              <a:t>05</a:t>
            </a:r>
            <a:endParaRPr lang="en-US" sz="1200" dirty="0"/>
          </a:p>
        </p:txBody>
      </p:sp>
      <p:sp>
        <p:nvSpPr>
          <p:cNvPr id="20" name="Text 18"/>
          <p:cNvSpPr txBox="1"/>
          <p:nvPr/>
        </p:nvSpPr>
        <p:spPr>
          <a:xfrm>
            <a:off x="1481328" y="5852160"/>
            <a:ext cx="4663440" cy="475488"/>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Controles avanzados</a:t>
            </a:r>
            <a:endParaRPr lang="en-US" sz="1200" dirty="0"/>
          </a:p>
        </p:txBody>
      </p:sp>
      <p:sp>
        <p:nvSpPr>
          <p:cNvPr id="21" name="Shape 19"/>
          <p:cNvSpPr/>
          <p:nvPr/>
        </p:nvSpPr>
        <p:spPr>
          <a:xfrm>
            <a:off x="6766560" y="1234440"/>
            <a:ext cx="5166360" cy="5257800"/>
          </a:xfrm>
          <a:prstGeom prst="roundRect">
            <a:avLst>
              <a:gd name="adj" fmla="val 2124"/>
            </a:avLst>
          </a:prstGeom>
          <a:solidFill>
            <a:srgbClr val="FFFFFF"/>
          </a:solidFill>
          <a:ln w="12700">
            <a:solidFill>
              <a:srgbClr val="CFD5D9"/>
            </a:solidFill>
            <a:prstDash val="solid"/>
          </a:ln>
        </p:spPr>
      </p:sp>
      <p:pic>
        <p:nvPicPr>
          <p:cNvPr id="22" name="Image 0" descr="Persona programando frente a un monitor">    </p:cNvPr>
          <p:cNvPicPr>
            <a:picLocks noChangeAspect="1"/>
          </p:cNvPicPr>
          <p:nvPr/>
        </p:nvPicPr>
        <p:blipFill>
          <a:blip r:embed="rId1"/>
          <a:srcRect l="0" r="0" t="0" b="0"/>
          <a:stretch/>
        </p:blipFill>
        <p:spPr>
          <a:xfrm>
            <a:off x="6903720" y="1362456"/>
            <a:ext cx="4892040" cy="5001768"/>
          </a:xfrm>
          <a:prstGeom prst="rect">
            <a:avLst/>
          </a:prstGeom>
        </p:spPr>
      </p:pic>
      <p:sp>
        <p:nvSpPr>
          <p:cNvPr id="24" name="Text 20"/>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09 / 48</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indent="0" marL="0">
              <a:buNone/>
            </a:pPr>
            <a:r>
              <a:rPr lang="en-US" sz="1050" b="1" spc="300" kern="0" dirty="0">
                <a:solidFill>
                  <a:srgbClr val="177E89"/>
                </a:solidFill>
                <a:latin typeface="Calibri" pitchFamily="34" charset="0"/>
                <a:ea typeface="Calibri" pitchFamily="34" charset="-122"/>
                <a:cs typeface="Calibri" pitchFamily="34" charset="-120"/>
              </a:rPr>
              <a:t>01 · REPASO</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Anatomía de un formulario</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indent="0" marL="0">
              <a:buNone/>
            </a:pPr>
            <a:r>
              <a:rPr lang="en-US" sz="1250" dirty="0">
                <a:solidFill>
                  <a:srgbClr val="5F676C"/>
                </a:solidFill>
                <a:latin typeface="Calibri" pitchFamily="34" charset="0"/>
                <a:ea typeface="Calibri" pitchFamily="34" charset="-122"/>
                <a:cs typeface="Calibri" pitchFamily="34" charset="-120"/>
              </a:rPr>
              <a:t>Una etiqueta form, campos con nombre y un botón que envía.</a:t>
            </a:r>
            <a:endParaRPr lang="en-US" sz="1250" dirty="0"/>
          </a:p>
        </p:txBody>
      </p:sp>
      <p:sp>
        <p:nvSpPr>
          <p:cNvPr id="5" name="Shape 3"/>
          <p:cNvSpPr/>
          <p:nvPr/>
        </p:nvSpPr>
        <p:spPr>
          <a:xfrm>
            <a:off x="640080" y="2615184"/>
            <a:ext cx="6035040" cy="2148840"/>
          </a:xfrm>
          <a:prstGeom prst="roundRect">
            <a:avLst>
              <a:gd name="adj" fmla="val 4255"/>
            </a:avLst>
          </a:prstGeom>
          <a:solidFill>
            <a:srgbClr val="2B2B2B"/>
          </a:solidFill>
          <a:ln w="12700">
            <a:solidFill>
              <a:srgbClr val="2B2B2B"/>
            </a:solidFill>
            <a:prstDash val="solid"/>
          </a:ln>
        </p:spPr>
      </p:sp>
      <p:sp>
        <p:nvSpPr>
          <p:cNvPr id="6" name="Text 4"/>
          <p:cNvSpPr txBox="1"/>
          <p:nvPr/>
        </p:nvSpPr>
        <p:spPr>
          <a:xfrm>
            <a:off x="868680" y="2779776"/>
            <a:ext cx="5577840" cy="1819656"/>
          </a:xfrm>
          <a:prstGeom prst="rect">
            <a:avLst/>
          </a:prstGeom>
          <a:noFill/>
          <a:ln/>
        </p:spPr>
        <p:txBody>
          <a:bodyPr wrap="square" lIns="0" tIns="0" rIns="0" bIns="0" rtlCol="0" anchor="ctr"/>
          <a:lstStyle/>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&lt;form action="contactame.html" method="get"&gt;</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&lt;p&gt;</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&lt;label </a:t>
            </a:r>
            <a:pPr indent="0" marL="0">
              <a:lnSpc>
                <a:spcPct val="125000"/>
              </a:lnSpc>
              <a:buNone/>
            </a:pPr>
            <a:r>
              <a:rPr lang="en-US" sz="1100" b="1" dirty="0">
                <a:solidFill>
                  <a:srgbClr val="8FE1E8"/>
                </a:solidFill>
                <a:latin typeface="Consolas" pitchFamily="34" charset="0"/>
                <a:ea typeface="Consolas" pitchFamily="34" charset="-122"/>
                <a:cs typeface="Consolas" pitchFamily="34" charset="-120"/>
              </a:rPr>
              <a:t>for="nombre"</a:t>
            </a:r>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&gt;Nombre completo&lt;/label&gt;</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&lt;input type="text" </a:t>
            </a:r>
            <a:pPr indent="0" marL="0">
              <a:lnSpc>
                <a:spcPct val="125000"/>
              </a:lnSpc>
              <a:buNone/>
            </a:pPr>
            <a:r>
              <a:rPr lang="en-US" sz="1100" b="1" dirty="0">
                <a:solidFill>
                  <a:srgbClr val="8FE1E8"/>
                </a:solidFill>
                <a:latin typeface="Consolas" pitchFamily="34" charset="0"/>
                <a:ea typeface="Consolas" pitchFamily="34" charset="-122"/>
                <a:cs typeface="Consolas" pitchFamily="34" charset="-120"/>
              </a:rPr>
              <a:t>id="nombre"</a:t>
            </a:r>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a:t>
            </a:r>
            <a:pPr indent="0" marL="0">
              <a:lnSpc>
                <a:spcPct val="125000"/>
              </a:lnSpc>
              <a:buNone/>
            </a:pPr>
            <a:r>
              <a:rPr lang="en-US" sz="1100" b="1" dirty="0">
                <a:solidFill>
                  <a:srgbClr val="8FE1E8"/>
                </a:solidFill>
                <a:latin typeface="Consolas" pitchFamily="34" charset="0"/>
                <a:ea typeface="Consolas" pitchFamily="34" charset="-122"/>
                <a:cs typeface="Consolas" pitchFamily="34" charset="-120"/>
              </a:rPr>
              <a:t>name="nombre"</a:t>
            </a:r>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/&gt;</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&lt;/p&gt;</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&lt;button type="submit"&gt;Enviar mensaje&lt;/button&gt;</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&lt;/form&gt;</a:t>
            </a:r>
            <a:endParaRPr lang="en-US" sz="1100" dirty="0"/>
          </a:p>
        </p:txBody>
      </p:sp>
      <p:sp>
        <p:nvSpPr>
          <p:cNvPr id="7" name="Shape 5"/>
          <p:cNvSpPr/>
          <p:nvPr/>
        </p:nvSpPr>
        <p:spPr>
          <a:xfrm>
            <a:off x="6903720" y="2615184"/>
            <a:ext cx="4663440" cy="466344"/>
          </a:xfrm>
          <a:prstGeom prst="roundRect">
            <a:avLst>
              <a:gd name="adj" fmla="val 19608"/>
            </a:avLst>
          </a:prstGeom>
          <a:solidFill>
            <a:srgbClr val="FFFFFF"/>
          </a:solidFill>
          <a:ln w="12700">
            <a:solidFill>
              <a:srgbClr val="CFD5D9"/>
            </a:solidFill>
            <a:prstDash val="solid"/>
          </a:ln>
        </p:spPr>
      </p:sp>
      <p:sp>
        <p:nvSpPr>
          <p:cNvPr id="8" name="Text 6"/>
          <p:cNvSpPr txBox="1"/>
          <p:nvPr/>
        </p:nvSpPr>
        <p:spPr>
          <a:xfrm>
            <a:off x="7178040" y="2615184"/>
            <a:ext cx="1097280" cy="466344"/>
          </a:xfrm>
          <a:prstGeom prst="rect">
            <a:avLst/>
          </a:prstGeom>
          <a:noFill/>
          <a:ln/>
        </p:spPr>
        <p:txBody>
          <a:bodyPr wrap="square" lIns="0" tIns="0" rIns="0" bIns="0" rtlCol="0" anchor="ctr"/>
          <a:lstStyle/>
          <a:p>
            <a:pPr indent="0" marL="0">
              <a:buNone/>
            </a:pPr>
            <a:r>
              <a:rPr lang="en-US" sz="1150" b="1" dirty="0">
                <a:solidFill>
                  <a:srgbClr val="177E89"/>
                </a:solidFill>
                <a:latin typeface="Consolas" pitchFamily="34" charset="0"/>
                <a:ea typeface="Consolas" pitchFamily="34" charset="-122"/>
                <a:cs typeface="Consolas" pitchFamily="34" charset="-120"/>
              </a:rPr>
              <a:t>action</a:t>
            </a:r>
            <a:endParaRPr lang="en-US" sz="1150" dirty="0"/>
          </a:p>
        </p:txBody>
      </p:sp>
      <p:sp>
        <p:nvSpPr>
          <p:cNvPr id="9" name="Text 7"/>
          <p:cNvSpPr txBox="1"/>
          <p:nvPr/>
        </p:nvSpPr>
        <p:spPr>
          <a:xfrm>
            <a:off x="8275320" y="2615184"/>
            <a:ext cx="3017520" cy="466344"/>
          </a:xfrm>
          <a:prstGeom prst="rect">
            <a:avLst/>
          </a:prstGeom>
          <a:noFill/>
          <a:ln/>
        </p:spPr>
        <p:txBody>
          <a:bodyPr wrap="square" lIns="0" tIns="0" rIns="0" bIns="0" rtlCol="0" anchor="ctr"/>
          <a:lstStyle/>
          <a:p>
            <a:pPr indent="0" marL="0">
              <a:buNone/>
            </a:pPr>
            <a:r>
              <a:rPr lang="en-US" sz="1050" dirty="0">
                <a:solidFill>
                  <a:srgbClr val="33393D"/>
                </a:solidFill>
                <a:latin typeface="Calibri" pitchFamily="34" charset="0"/>
                <a:ea typeface="Calibri" pitchFamily="34" charset="-122"/>
                <a:cs typeface="Calibri" pitchFamily="34" charset="-120"/>
              </a:rPr>
              <a:t>La página que recibe los datos.</a:t>
            </a:r>
            <a:endParaRPr lang="en-US" sz="1050" dirty="0"/>
          </a:p>
        </p:txBody>
      </p:sp>
      <p:sp>
        <p:nvSpPr>
          <p:cNvPr id="10" name="Shape 8"/>
          <p:cNvSpPr/>
          <p:nvPr/>
        </p:nvSpPr>
        <p:spPr>
          <a:xfrm>
            <a:off x="6903720" y="3175711"/>
            <a:ext cx="4663440" cy="466344"/>
          </a:xfrm>
          <a:prstGeom prst="roundRect">
            <a:avLst>
              <a:gd name="adj" fmla="val 19608"/>
            </a:avLst>
          </a:prstGeom>
          <a:solidFill>
            <a:srgbClr val="FFFFFF"/>
          </a:solidFill>
          <a:ln w="12700">
            <a:solidFill>
              <a:srgbClr val="CFD5D9"/>
            </a:solidFill>
            <a:prstDash val="solid"/>
          </a:ln>
        </p:spPr>
      </p:sp>
      <p:sp>
        <p:nvSpPr>
          <p:cNvPr id="11" name="Text 9"/>
          <p:cNvSpPr txBox="1"/>
          <p:nvPr/>
        </p:nvSpPr>
        <p:spPr>
          <a:xfrm>
            <a:off x="7178040" y="3175711"/>
            <a:ext cx="1097280" cy="466344"/>
          </a:xfrm>
          <a:prstGeom prst="rect">
            <a:avLst/>
          </a:prstGeom>
          <a:noFill/>
          <a:ln/>
        </p:spPr>
        <p:txBody>
          <a:bodyPr wrap="square" lIns="0" tIns="0" rIns="0" bIns="0" rtlCol="0" anchor="ctr"/>
          <a:lstStyle/>
          <a:p>
            <a:pPr indent="0" marL="0">
              <a:buNone/>
            </a:pPr>
            <a:r>
              <a:rPr lang="en-US" sz="1150" b="1" dirty="0">
                <a:solidFill>
                  <a:srgbClr val="177E89"/>
                </a:solidFill>
                <a:latin typeface="Consolas" pitchFamily="34" charset="0"/>
                <a:ea typeface="Consolas" pitchFamily="34" charset="-122"/>
                <a:cs typeface="Consolas" pitchFamily="34" charset="-120"/>
              </a:rPr>
              <a:t>method</a:t>
            </a:r>
            <a:endParaRPr lang="en-US" sz="1150" dirty="0"/>
          </a:p>
        </p:txBody>
      </p:sp>
      <p:sp>
        <p:nvSpPr>
          <p:cNvPr id="12" name="Text 10"/>
          <p:cNvSpPr txBox="1"/>
          <p:nvPr/>
        </p:nvSpPr>
        <p:spPr>
          <a:xfrm>
            <a:off x="8275320" y="3175711"/>
            <a:ext cx="3017520" cy="466344"/>
          </a:xfrm>
          <a:prstGeom prst="rect">
            <a:avLst/>
          </a:prstGeom>
          <a:noFill/>
          <a:ln/>
        </p:spPr>
        <p:txBody>
          <a:bodyPr wrap="square" lIns="0" tIns="0" rIns="0" bIns="0" rtlCol="0" anchor="ctr"/>
          <a:lstStyle/>
          <a:p>
            <a:pPr indent="0" marL="0">
              <a:buNone/>
            </a:pPr>
            <a:r>
              <a:rPr lang="en-US" sz="1050" dirty="0">
                <a:solidFill>
                  <a:srgbClr val="33393D"/>
                </a:solidFill>
                <a:latin typeface="Calibri" pitchFamily="34" charset="0"/>
                <a:ea typeface="Calibri" pitchFamily="34" charset="-122"/>
                <a:cs typeface="Calibri" pitchFamily="34" charset="-120"/>
              </a:rPr>
              <a:t>get los muestra en la dirección; post los envía ocultos.</a:t>
            </a:r>
            <a:endParaRPr lang="en-US" sz="1050" dirty="0"/>
          </a:p>
        </p:txBody>
      </p:sp>
      <p:sp>
        <p:nvSpPr>
          <p:cNvPr id="13" name="Shape 11"/>
          <p:cNvSpPr/>
          <p:nvPr/>
        </p:nvSpPr>
        <p:spPr>
          <a:xfrm>
            <a:off x="6903720" y="3736238"/>
            <a:ext cx="4663440" cy="466344"/>
          </a:xfrm>
          <a:prstGeom prst="roundRect">
            <a:avLst>
              <a:gd name="adj" fmla="val 19608"/>
            </a:avLst>
          </a:prstGeom>
          <a:solidFill>
            <a:srgbClr val="FFFFFF"/>
          </a:solidFill>
          <a:ln w="12700">
            <a:solidFill>
              <a:srgbClr val="CFD5D9"/>
            </a:solidFill>
            <a:prstDash val="solid"/>
          </a:ln>
        </p:spPr>
      </p:sp>
      <p:sp>
        <p:nvSpPr>
          <p:cNvPr id="14" name="Text 12"/>
          <p:cNvSpPr txBox="1"/>
          <p:nvPr/>
        </p:nvSpPr>
        <p:spPr>
          <a:xfrm>
            <a:off x="7178040" y="3736238"/>
            <a:ext cx="1097280" cy="466344"/>
          </a:xfrm>
          <a:prstGeom prst="rect">
            <a:avLst/>
          </a:prstGeom>
          <a:noFill/>
          <a:ln/>
        </p:spPr>
        <p:txBody>
          <a:bodyPr wrap="square" lIns="0" tIns="0" rIns="0" bIns="0" rtlCol="0" anchor="ctr"/>
          <a:lstStyle/>
          <a:p>
            <a:pPr indent="0" marL="0">
              <a:buNone/>
            </a:pPr>
            <a:r>
              <a:rPr lang="en-US" sz="1150" b="1" dirty="0">
                <a:solidFill>
                  <a:srgbClr val="177E89"/>
                </a:solidFill>
                <a:latin typeface="Consolas" pitchFamily="34" charset="0"/>
                <a:ea typeface="Consolas" pitchFamily="34" charset="-122"/>
                <a:cs typeface="Consolas" pitchFamily="34" charset="-120"/>
              </a:rPr>
              <a:t>name</a:t>
            </a:r>
            <a:endParaRPr lang="en-US" sz="1150" dirty="0"/>
          </a:p>
        </p:txBody>
      </p:sp>
      <p:sp>
        <p:nvSpPr>
          <p:cNvPr id="15" name="Text 13"/>
          <p:cNvSpPr txBox="1"/>
          <p:nvPr/>
        </p:nvSpPr>
        <p:spPr>
          <a:xfrm>
            <a:off x="8275320" y="3736238"/>
            <a:ext cx="3017520" cy="466344"/>
          </a:xfrm>
          <a:prstGeom prst="rect">
            <a:avLst/>
          </a:prstGeom>
          <a:noFill/>
          <a:ln/>
        </p:spPr>
        <p:txBody>
          <a:bodyPr wrap="square" lIns="0" tIns="0" rIns="0" bIns="0" rtlCol="0" anchor="ctr"/>
          <a:lstStyle/>
          <a:p>
            <a:pPr indent="0" marL="0">
              <a:buNone/>
            </a:pPr>
            <a:r>
              <a:rPr lang="en-US" sz="1050" dirty="0">
                <a:solidFill>
                  <a:srgbClr val="33393D"/>
                </a:solidFill>
                <a:latin typeface="Calibri" pitchFamily="34" charset="0"/>
                <a:ea typeface="Calibri" pitchFamily="34" charset="-122"/>
                <a:cs typeface="Calibri" pitchFamily="34" charset="-120"/>
              </a:rPr>
              <a:t>El nombre con que viaja cada dato. Sin name, el campo no se envía.</a:t>
            </a:r>
            <a:endParaRPr lang="en-US" sz="1050" dirty="0"/>
          </a:p>
        </p:txBody>
      </p:sp>
      <p:sp>
        <p:nvSpPr>
          <p:cNvPr id="16" name="Shape 14"/>
          <p:cNvSpPr/>
          <p:nvPr/>
        </p:nvSpPr>
        <p:spPr>
          <a:xfrm>
            <a:off x="6903720" y="4296766"/>
            <a:ext cx="4663440" cy="466344"/>
          </a:xfrm>
          <a:prstGeom prst="roundRect">
            <a:avLst>
              <a:gd name="adj" fmla="val 19608"/>
            </a:avLst>
          </a:prstGeom>
          <a:solidFill>
            <a:srgbClr val="FFFFFF"/>
          </a:solidFill>
          <a:ln w="12700">
            <a:solidFill>
              <a:srgbClr val="CFD5D9"/>
            </a:solidFill>
            <a:prstDash val="solid"/>
          </a:ln>
        </p:spPr>
      </p:sp>
      <p:sp>
        <p:nvSpPr>
          <p:cNvPr id="17" name="Text 15"/>
          <p:cNvSpPr txBox="1"/>
          <p:nvPr/>
        </p:nvSpPr>
        <p:spPr>
          <a:xfrm>
            <a:off x="7178040" y="4296766"/>
            <a:ext cx="1097280" cy="466344"/>
          </a:xfrm>
          <a:prstGeom prst="rect">
            <a:avLst/>
          </a:prstGeom>
          <a:noFill/>
          <a:ln/>
        </p:spPr>
        <p:txBody>
          <a:bodyPr wrap="square" lIns="0" tIns="0" rIns="0" bIns="0" rtlCol="0" anchor="ctr"/>
          <a:lstStyle/>
          <a:p>
            <a:pPr indent="0" marL="0">
              <a:buNone/>
            </a:pPr>
            <a:r>
              <a:rPr lang="en-US" sz="1150" b="1" dirty="0">
                <a:solidFill>
                  <a:srgbClr val="177E89"/>
                </a:solidFill>
                <a:latin typeface="Consolas" pitchFamily="34" charset="0"/>
                <a:ea typeface="Consolas" pitchFamily="34" charset="-122"/>
                <a:cs typeface="Consolas" pitchFamily="34" charset="-120"/>
              </a:rPr>
              <a:t>for + id</a:t>
            </a:r>
            <a:endParaRPr lang="en-US" sz="1150" dirty="0"/>
          </a:p>
        </p:txBody>
      </p:sp>
      <p:sp>
        <p:nvSpPr>
          <p:cNvPr id="18" name="Text 16"/>
          <p:cNvSpPr txBox="1"/>
          <p:nvPr/>
        </p:nvSpPr>
        <p:spPr>
          <a:xfrm>
            <a:off x="8275320" y="4296766"/>
            <a:ext cx="3017520" cy="466344"/>
          </a:xfrm>
          <a:prstGeom prst="rect">
            <a:avLst/>
          </a:prstGeom>
          <a:noFill/>
          <a:ln/>
        </p:spPr>
        <p:txBody>
          <a:bodyPr wrap="square" lIns="0" tIns="0" rIns="0" bIns="0" rtlCol="0" anchor="ctr"/>
          <a:lstStyle/>
          <a:p>
            <a:pPr indent="0" marL="0">
              <a:buNone/>
            </a:pPr>
            <a:r>
              <a:rPr lang="en-US" sz="1050" dirty="0">
                <a:solidFill>
                  <a:srgbClr val="33393D"/>
                </a:solidFill>
                <a:latin typeface="Calibri" pitchFamily="34" charset="0"/>
                <a:ea typeface="Calibri" pitchFamily="34" charset="-122"/>
                <a:cs typeface="Calibri" pitchFamily="34" charset="-120"/>
              </a:rPr>
              <a:t>Unen la etiqueta con su campo: el mismo valor en los dos.</a:t>
            </a:r>
            <a:endParaRPr lang="en-US" sz="1050" dirty="0"/>
          </a:p>
        </p:txBody>
      </p:sp>
      <p:sp>
        <p:nvSpPr>
          <p:cNvPr id="19" name="Shape 17"/>
          <p:cNvSpPr/>
          <p:nvPr/>
        </p:nvSpPr>
        <p:spPr>
          <a:xfrm>
            <a:off x="640080" y="4956048"/>
            <a:ext cx="10927080" cy="1078992"/>
          </a:xfrm>
          <a:prstGeom prst="roundRect">
            <a:avLst>
              <a:gd name="adj" fmla="val 8475"/>
            </a:avLst>
          </a:prstGeom>
          <a:solidFill>
            <a:srgbClr val="F3F5F6"/>
          </a:solidFill>
          <a:ln w="12700">
            <a:solidFill>
              <a:srgbClr val="CFD5D9"/>
            </a:solidFill>
            <a:prstDash val="solid"/>
          </a:ln>
        </p:spPr>
      </p:sp>
      <p:sp>
        <p:nvSpPr>
          <p:cNvPr id="20" name="Text 18"/>
          <p:cNvSpPr txBox="1"/>
          <p:nvPr/>
        </p:nvSpPr>
        <p:spPr>
          <a:xfrm>
            <a:off x="950976" y="5093208"/>
            <a:ext cx="10305288" cy="310896"/>
          </a:xfrm>
          <a:prstGeom prst="rect">
            <a:avLst/>
          </a:prstGeom>
          <a:noFill/>
          <a:ln/>
        </p:spPr>
        <p:txBody>
          <a:bodyPr wrap="square" lIns="0" tIns="0" rIns="0" bIns="0" rtlCol="0" anchor="ctr"/>
          <a:lstStyle/>
          <a:p>
            <a:pPr algn="l" indent="0" marL="0">
              <a:buNone/>
            </a:pPr>
            <a:r>
              <a:rPr lang="en-US" sz="1400" b="1" dirty="0">
                <a:solidFill>
                  <a:srgbClr val="177E89"/>
                </a:solidFill>
                <a:latin typeface="Calibri" pitchFamily="34" charset="0"/>
                <a:ea typeface="Calibri" pitchFamily="34" charset="-122"/>
                <a:cs typeface="Calibri" pitchFamily="34" charset="-120"/>
              </a:rPr>
              <a:t>Pruébalo</a:t>
            </a:r>
            <a:endParaRPr lang="en-US" sz="1400" dirty="0"/>
          </a:p>
        </p:txBody>
      </p:sp>
      <p:sp>
        <p:nvSpPr>
          <p:cNvPr id="21" name="Text 19"/>
          <p:cNvSpPr txBox="1"/>
          <p:nvPr/>
        </p:nvSpPr>
        <p:spPr>
          <a:xfrm>
            <a:off x="950976" y="5458968"/>
            <a:ext cx="10305288" cy="493776"/>
          </a:xfrm>
          <a:prstGeom prst="rect">
            <a:avLst/>
          </a:prstGeom>
          <a:noFill/>
          <a:ln/>
        </p:spPr>
        <p:txBody>
          <a:bodyPr wrap="square" lIns="0" tIns="0" rIns="0" bIns="0" rtlCol="0" anchor="t"/>
          <a:lstStyle/>
          <a:p>
            <a:pPr algn="l" indent="0" marL="0">
              <a:lnSpc>
                <a:spcPct val="125000"/>
              </a:lnSpc>
              <a:buNone/>
            </a:pPr>
            <a:r>
              <a:rPr lang="en-US" sz="1200" dirty="0">
                <a:solidFill>
                  <a:srgbClr val="33393D"/>
                </a:solidFill>
                <a:latin typeface="Calibri" pitchFamily="34" charset="0"/>
                <a:ea typeface="Calibri" pitchFamily="34" charset="-122"/>
                <a:cs typeface="Calibri" pitchFamily="34" charset="-120"/>
              </a:rPr>
              <a:t>Escribe Ana y pulsa Enviar: la dirección cambia a contactame.html?nombre=Ana. Cada dato viaja como name=valor. Si haces clic en el texto «Nombre completo», el cursor salta al campo: eso lo consigue label.</a:t>
            </a:r>
            <a:endParaRPr lang="en-US" sz="1200" dirty="0"/>
          </a:p>
        </p:txBody>
      </p:sp>
      <p:sp>
        <p:nvSpPr>
          <p:cNvPr id="22" name="Text 20"/>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10 / 48</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indent="0" marL="0">
              <a:buNone/>
            </a:pPr>
            <a:r>
              <a:rPr lang="en-US" sz="1050" b="1" spc="300" kern="0" dirty="0">
                <a:solidFill>
                  <a:srgbClr val="177E89"/>
                </a:solidFill>
                <a:latin typeface="Calibri" pitchFamily="34" charset="0"/>
                <a:ea typeface="Calibri" pitchFamily="34" charset="-122"/>
                <a:cs typeface="Calibri" pitchFamily="34" charset="-120"/>
              </a:rPr>
              <a:t>01 · REPASO</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Tipos de campo</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indent="0" marL="0">
              <a:buNone/>
            </a:pPr>
            <a:r>
              <a:rPr lang="en-US" sz="1250" dirty="0">
                <a:solidFill>
                  <a:srgbClr val="5F676C"/>
                </a:solidFill>
                <a:latin typeface="Calibri" pitchFamily="34" charset="0"/>
                <a:ea typeface="Calibri" pitchFamily="34" charset="-122"/>
                <a:cs typeface="Calibri" pitchFamily="34" charset="-120"/>
              </a:rPr>
              <a:t>El atributo type cambia el teclado del celular, la forma del campo y lo que el navegador valida.</a:t>
            </a:r>
            <a:endParaRPr lang="en-US" sz="1250" dirty="0"/>
          </a:p>
        </p:txBody>
      </p:sp>
      <p:sp>
        <p:nvSpPr>
          <p:cNvPr id="5" name="Shape 3"/>
          <p:cNvSpPr/>
          <p:nvPr/>
        </p:nvSpPr>
        <p:spPr>
          <a:xfrm>
            <a:off x="640080" y="2615184"/>
            <a:ext cx="10927080" cy="484632"/>
          </a:xfrm>
          <a:prstGeom prst="roundRect">
            <a:avLst>
              <a:gd name="adj" fmla="val 18868"/>
            </a:avLst>
          </a:prstGeom>
          <a:solidFill>
            <a:srgbClr val="FFFFFF"/>
          </a:solidFill>
          <a:ln w="12700">
            <a:solidFill>
              <a:srgbClr val="CFD5D9"/>
            </a:solidFill>
            <a:prstDash val="solid"/>
          </a:ln>
        </p:spPr>
      </p:sp>
      <p:sp>
        <p:nvSpPr>
          <p:cNvPr id="6" name="Text 4"/>
          <p:cNvSpPr txBox="1"/>
          <p:nvPr/>
        </p:nvSpPr>
        <p:spPr>
          <a:xfrm>
            <a:off x="914400" y="2615184"/>
            <a:ext cx="1920240" cy="484632"/>
          </a:xfrm>
          <a:prstGeom prst="rect">
            <a:avLst/>
          </a:prstGeom>
          <a:noFill/>
          <a:ln/>
        </p:spPr>
        <p:txBody>
          <a:bodyPr wrap="square" lIns="0" tIns="0" rIns="0" bIns="0" rtlCol="0" anchor="ctr"/>
          <a:lstStyle/>
          <a:p>
            <a:pPr indent="0" marL="0">
              <a:buNone/>
            </a:pPr>
            <a:r>
              <a:rPr lang="en-US" sz="1250" b="1" dirty="0">
                <a:solidFill>
                  <a:srgbClr val="177E89"/>
                </a:solidFill>
                <a:latin typeface="Consolas" pitchFamily="34" charset="0"/>
                <a:ea typeface="Consolas" pitchFamily="34" charset="-122"/>
                <a:cs typeface="Consolas" pitchFamily="34" charset="-120"/>
              </a:rPr>
              <a:t>text</a:t>
            </a:r>
            <a:endParaRPr lang="en-US" sz="1250" dirty="0"/>
          </a:p>
        </p:txBody>
      </p:sp>
      <p:sp>
        <p:nvSpPr>
          <p:cNvPr id="7" name="Text 5"/>
          <p:cNvSpPr txBox="1"/>
          <p:nvPr/>
        </p:nvSpPr>
        <p:spPr>
          <a:xfrm>
            <a:off x="2834640" y="2615184"/>
            <a:ext cx="4398264" cy="484632"/>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Texto libre de una línea.</a:t>
            </a:r>
            <a:endParaRPr lang="en-US" sz="1200" dirty="0"/>
          </a:p>
        </p:txBody>
      </p:sp>
      <p:sp>
        <p:nvSpPr>
          <p:cNvPr id="8" name="Text 6"/>
          <p:cNvSpPr txBox="1"/>
          <p:nvPr/>
        </p:nvSpPr>
        <p:spPr>
          <a:xfrm>
            <a:off x="7232904" y="2615184"/>
            <a:ext cx="320040" cy="484632"/>
          </a:xfrm>
          <a:prstGeom prst="rect">
            <a:avLst/>
          </a:prstGeom>
          <a:noFill/>
          <a:ln/>
        </p:spPr>
        <p:txBody>
          <a:bodyPr wrap="square" lIns="0" tIns="0" rIns="0" bIns="0" rtlCol="0" anchor="ctr"/>
          <a:lstStyle/>
          <a:p>
            <a:pPr algn="ctr" indent="0" marL="0">
              <a:buNone/>
            </a:pPr>
            <a:r>
              <a:rPr lang="en-US" sz="1200" dirty="0">
                <a:solidFill>
                  <a:srgbClr val="9AA2A7"/>
                </a:solidFill>
                <a:latin typeface="Calibri" pitchFamily="34" charset="0"/>
                <a:ea typeface="Calibri" pitchFamily="34" charset="-122"/>
                <a:cs typeface="Calibri" pitchFamily="34" charset="-120"/>
              </a:rPr>
              <a:t>→</a:t>
            </a:r>
            <a:endParaRPr lang="en-US" sz="1200" dirty="0"/>
          </a:p>
        </p:txBody>
      </p:sp>
      <p:sp>
        <p:nvSpPr>
          <p:cNvPr id="9" name="Text 7"/>
          <p:cNvSpPr txBox="1"/>
          <p:nvPr/>
        </p:nvSpPr>
        <p:spPr>
          <a:xfrm>
            <a:off x="7598664" y="2615184"/>
            <a:ext cx="3739896" cy="484632"/>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Nombre</a:t>
            </a:r>
            <a:endParaRPr lang="en-US" sz="1200" dirty="0"/>
          </a:p>
        </p:txBody>
      </p:sp>
      <p:sp>
        <p:nvSpPr>
          <p:cNvPr id="10" name="Shape 8"/>
          <p:cNvSpPr/>
          <p:nvPr/>
        </p:nvSpPr>
        <p:spPr>
          <a:xfrm>
            <a:off x="640080" y="3163824"/>
            <a:ext cx="10927080" cy="484632"/>
          </a:xfrm>
          <a:prstGeom prst="roundRect">
            <a:avLst>
              <a:gd name="adj" fmla="val 18868"/>
            </a:avLst>
          </a:prstGeom>
          <a:solidFill>
            <a:srgbClr val="FFFFFF"/>
          </a:solidFill>
          <a:ln w="12700">
            <a:solidFill>
              <a:srgbClr val="CFD5D9"/>
            </a:solidFill>
            <a:prstDash val="solid"/>
          </a:ln>
        </p:spPr>
      </p:sp>
      <p:sp>
        <p:nvSpPr>
          <p:cNvPr id="11" name="Text 9"/>
          <p:cNvSpPr txBox="1"/>
          <p:nvPr/>
        </p:nvSpPr>
        <p:spPr>
          <a:xfrm>
            <a:off x="914400" y="3163824"/>
            <a:ext cx="1920240" cy="484632"/>
          </a:xfrm>
          <a:prstGeom prst="rect">
            <a:avLst/>
          </a:prstGeom>
          <a:noFill/>
          <a:ln/>
        </p:spPr>
        <p:txBody>
          <a:bodyPr wrap="square" lIns="0" tIns="0" rIns="0" bIns="0" rtlCol="0" anchor="ctr"/>
          <a:lstStyle/>
          <a:p>
            <a:pPr indent="0" marL="0">
              <a:buNone/>
            </a:pPr>
            <a:r>
              <a:rPr lang="en-US" sz="1250" b="1" dirty="0">
                <a:solidFill>
                  <a:srgbClr val="177E89"/>
                </a:solidFill>
                <a:latin typeface="Consolas" pitchFamily="34" charset="0"/>
                <a:ea typeface="Consolas" pitchFamily="34" charset="-122"/>
                <a:cs typeface="Consolas" pitchFamily="34" charset="-120"/>
              </a:rPr>
              <a:t>email</a:t>
            </a:r>
            <a:endParaRPr lang="en-US" sz="1250" dirty="0"/>
          </a:p>
        </p:txBody>
      </p:sp>
      <p:sp>
        <p:nvSpPr>
          <p:cNvPr id="12" name="Text 10"/>
          <p:cNvSpPr txBox="1"/>
          <p:nvPr/>
        </p:nvSpPr>
        <p:spPr>
          <a:xfrm>
            <a:off x="2834640" y="3163824"/>
            <a:ext cx="4398264" cy="484632"/>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Exige la forma texto@texto y muestra la @ en el teclado del celular.</a:t>
            </a:r>
            <a:endParaRPr lang="en-US" sz="1200" dirty="0"/>
          </a:p>
        </p:txBody>
      </p:sp>
      <p:sp>
        <p:nvSpPr>
          <p:cNvPr id="13" name="Text 11"/>
          <p:cNvSpPr txBox="1"/>
          <p:nvPr/>
        </p:nvSpPr>
        <p:spPr>
          <a:xfrm>
            <a:off x="7232904" y="3163824"/>
            <a:ext cx="320040" cy="484632"/>
          </a:xfrm>
          <a:prstGeom prst="rect">
            <a:avLst/>
          </a:prstGeom>
          <a:noFill/>
          <a:ln/>
        </p:spPr>
        <p:txBody>
          <a:bodyPr wrap="square" lIns="0" tIns="0" rIns="0" bIns="0" rtlCol="0" anchor="ctr"/>
          <a:lstStyle/>
          <a:p>
            <a:pPr algn="ctr" indent="0" marL="0">
              <a:buNone/>
            </a:pPr>
            <a:r>
              <a:rPr lang="en-US" sz="1200" dirty="0">
                <a:solidFill>
                  <a:srgbClr val="9AA2A7"/>
                </a:solidFill>
                <a:latin typeface="Calibri" pitchFamily="34" charset="0"/>
                <a:ea typeface="Calibri" pitchFamily="34" charset="-122"/>
                <a:cs typeface="Calibri" pitchFamily="34" charset="-120"/>
              </a:rPr>
              <a:t>→</a:t>
            </a:r>
            <a:endParaRPr lang="en-US" sz="1200" dirty="0"/>
          </a:p>
        </p:txBody>
      </p:sp>
      <p:sp>
        <p:nvSpPr>
          <p:cNvPr id="14" name="Text 12"/>
          <p:cNvSpPr txBox="1"/>
          <p:nvPr/>
        </p:nvSpPr>
        <p:spPr>
          <a:xfrm>
            <a:off x="7598664" y="3163824"/>
            <a:ext cx="3739896" cy="484632"/>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Correo</a:t>
            </a:r>
            <a:endParaRPr lang="en-US" sz="1200" dirty="0"/>
          </a:p>
        </p:txBody>
      </p:sp>
      <p:sp>
        <p:nvSpPr>
          <p:cNvPr id="15" name="Shape 13"/>
          <p:cNvSpPr/>
          <p:nvPr/>
        </p:nvSpPr>
        <p:spPr>
          <a:xfrm>
            <a:off x="640080" y="3712464"/>
            <a:ext cx="10927080" cy="484632"/>
          </a:xfrm>
          <a:prstGeom prst="roundRect">
            <a:avLst>
              <a:gd name="adj" fmla="val 18868"/>
            </a:avLst>
          </a:prstGeom>
          <a:solidFill>
            <a:srgbClr val="FFFFFF"/>
          </a:solidFill>
          <a:ln w="12700">
            <a:solidFill>
              <a:srgbClr val="CFD5D9"/>
            </a:solidFill>
            <a:prstDash val="solid"/>
          </a:ln>
        </p:spPr>
      </p:sp>
      <p:sp>
        <p:nvSpPr>
          <p:cNvPr id="16" name="Text 14"/>
          <p:cNvSpPr txBox="1"/>
          <p:nvPr/>
        </p:nvSpPr>
        <p:spPr>
          <a:xfrm>
            <a:off x="914400" y="3712464"/>
            <a:ext cx="1920240" cy="484632"/>
          </a:xfrm>
          <a:prstGeom prst="rect">
            <a:avLst/>
          </a:prstGeom>
          <a:noFill/>
          <a:ln/>
        </p:spPr>
        <p:txBody>
          <a:bodyPr wrap="square" lIns="0" tIns="0" rIns="0" bIns="0" rtlCol="0" anchor="ctr"/>
          <a:lstStyle/>
          <a:p>
            <a:pPr indent="0" marL="0">
              <a:buNone/>
            </a:pPr>
            <a:r>
              <a:rPr lang="en-US" sz="1250" b="1" dirty="0">
                <a:solidFill>
                  <a:srgbClr val="177E89"/>
                </a:solidFill>
                <a:latin typeface="Consolas" pitchFamily="34" charset="0"/>
                <a:ea typeface="Consolas" pitchFamily="34" charset="-122"/>
                <a:cs typeface="Consolas" pitchFamily="34" charset="-120"/>
              </a:rPr>
              <a:t>tel</a:t>
            </a:r>
            <a:endParaRPr lang="en-US" sz="1250" dirty="0"/>
          </a:p>
        </p:txBody>
      </p:sp>
      <p:sp>
        <p:nvSpPr>
          <p:cNvPr id="17" name="Text 15"/>
          <p:cNvSpPr txBox="1"/>
          <p:nvPr/>
        </p:nvSpPr>
        <p:spPr>
          <a:xfrm>
            <a:off x="2834640" y="3712464"/>
            <a:ext cx="4398264" cy="484632"/>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Abre el teclado numérico. No valida por sí solo.</a:t>
            </a:r>
            <a:endParaRPr lang="en-US" sz="1200" dirty="0"/>
          </a:p>
        </p:txBody>
      </p:sp>
      <p:sp>
        <p:nvSpPr>
          <p:cNvPr id="18" name="Text 16"/>
          <p:cNvSpPr txBox="1"/>
          <p:nvPr/>
        </p:nvSpPr>
        <p:spPr>
          <a:xfrm>
            <a:off x="7232904" y="3712464"/>
            <a:ext cx="320040" cy="484632"/>
          </a:xfrm>
          <a:prstGeom prst="rect">
            <a:avLst/>
          </a:prstGeom>
          <a:noFill/>
          <a:ln/>
        </p:spPr>
        <p:txBody>
          <a:bodyPr wrap="square" lIns="0" tIns="0" rIns="0" bIns="0" rtlCol="0" anchor="ctr"/>
          <a:lstStyle/>
          <a:p>
            <a:pPr algn="ctr" indent="0" marL="0">
              <a:buNone/>
            </a:pPr>
            <a:r>
              <a:rPr lang="en-US" sz="1200" dirty="0">
                <a:solidFill>
                  <a:srgbClr val="9AA2A7"/>
                </a:solidFill>
                <a:latin typeface="Calibri" pitchFamily="34" charset="0"/>
                <a:ea typeface="Calibri" pitchFamily="34" charset="-122"/>
                <a:cs typeface="Calibri" pitchFamily="34" charset="-120"/>
              </a:rPr>
              <a:t>→</a:t>
            </a:r>
            <a:endParaRPr lang="en-US" sz="1200" dirty="0"/>
          </a:p>
        </p:txBody>
      </p:sp>
      <p:sp>
        <p:nvSpPr>
          <p:cNvPr id="19" name="Text 17"/>
          <p:cNvSpPr txBox="1"/>
          <p:nvPr/>
        </p:nvSpPr>
        <p:spPr>
          <a:xfrm>
            <a:off x="7598664" y="3712464"/>
            <a:ext cx="3739896" cy="484632"/>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Teléfono</a:t>
            </a:r>
            <a:endParaRPr lang="en-US" sz="1200" dirty="0"/>
          </a:p>
        </p:txBody>
      </p:sp>
      <p:sp>
        <p:nvSpPr>
          <p:cNvPr id="20" name="Shape 18"/>
          <p:cNvSpPr/>
          <p:nvPr/>
        </p:nvSpPr>
        <p:spPr>
          <a:xfrm>
            <a:off x="640080" y="4261104"/>
            <a:ext cx="10927080" cy="484632"/>
          </a:xfrm>
          <a:prstGeom prst="roundRect">
            <a:avLst>
              <a:gd name="adj" fmla="val 18868"/>
            </a:avLst>
          </a:prstGeom>
          <a:solidFill>
            <a:srgbClr val="FFFFFF"/>
          </a:solidFill>
          <a:ln w="12700">
            <a:solidFill>
              <a:srgbClr val="CFD5D9"/>
            </a:solidFill>
            <a:prstDash val="solid"/>
          </a:ln>
        </p:spPr>
      </p:sp>
      <p:sp>
        <p:nvSpPr>
          <p:cNvPr id="21" name="Text 19"/>
          <p:cNvSpPr txBox="1"/>
          <p:nvPr/>
        </p:nvSpPr>
        <p:spPr>
          <a:xfrm>
            <a:off x="914400" y="4261104"/>
            <a:ext cx="1920240" cy="484632"/>
          </a:xfrm>
          <a:prstGeom prst="rect">
            <a:avLst/>
          </a:prstGeom>
          <a:noFill/>
          <a:ln/>
        </p:spPr>
        <p:txBody>
          <a:bodyPr wrap="square" lIns="0" tIns="0" rIns="0" bIns="0" rtlCol="0" anchor="ctr"/>
          <a:lstStyle/>
          <a:p>
            <a:pPr indent="0" marL="0">
              <a:buNone/>
            </a:pPr>
            <a:r>
              <a:rPr lang="en-US" sz="1250" b="1" dirty="0">
                <a:solidFill>
                  <a:srgbClr val="177E89"/>
                </a:solidFill>
                <a:latin typeface="Consolas" pitchFamily="34" charset="0"/>
                <a:ea typeface="Consolas" pitchFamily="34" charset="-122"/>
                <a:cs typeface="Consolas" pitchFamily="34" charset="-120"/>
              </a:rPr>
              <a:t>number · range</a:t>
            </a:r>
            <a:endParaRPr lang="en-US" sz="1250" dirty="0"/>
          </a:p>
        </p:txBody>
      </p:sp>
      <p:sp>
        <p:nvSpPr>
          <p:cNvPr id="22" name="Text 20"/>
          <p:cNvSpPr txBox="1"/>
          <p:nvPr/>
        </p:nvSpPr>
        <p:spPr>
          <a:xfrm>
            <a:off x="2834640" y="4261104"/>
            <a:ext cx="4398264" cy="484632"/>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Números: con flechas o con un control deslizante.</a:t>
            </a:r>
            <a:endParaRPr lang="en-US" sz="1200" dirty="0"/>
          </a:p>
        </p:txBody>
      </p:sp>
      <p:sp>
        <p:nvSpPr>
          <p:cNvPr id="23" name="Text 21"/>
          <p:cNvSpPr txBox="1"/>
          <p:nvPr/>
        </p:nvSpPr>
        <p:spPr>
          <a:xfrm>
            <a:off x="7232904" y="4261104"/>
            <a:ext cx="320040" cy="484632"/>
          </a:xfrm>
          <a:prstGeom prst="rect">
            <a:avLst/>
          </a:prstGeom>
          <a:noFill/>
          <a:ln/>
        </p:spPr>
        <p:txBody>
          <a:bodyPr wrap="square" lIns="0" tIns="0" rIns="0" bIns="0" rtlCol="0" anchor="ctr"/>
          <a:lstStyle/>
          <a:p>
            <a:pPr algn="ctr" indent="0" marL="0">
              <a:buNone/>
            </a:pPr>
            <a:r>
              <a:rPr lang="en-US" sz="1200" dirty="0">
                <a:solidFill>
                  <a:srgbClr val="9AA2A7"/>
                </a:solidFill>
                <a:latin typeface="Calibri" pitchFamily="34" charset="0"/>
                <a:ea typeface="Calibri" pitchFamily="34" charset="-122"/>
                <a:cs typeface="Calibri" pitchFamily="34" charset="-120"/>
              </a:rPr>
              <a:t>→</a:t>
            </a:r>
            <a:endParaRPr lang="en-US" sz="1200" dirty="0"/>
          </a:p>
        </p:txBody>
      </p:sp>
      <p:sp>
        <p:nvSpPr>
          <p:cNvPr id="24" name="Text 22"/>
          <p:cNvSpPr txBox="1"/>
          <p:nvPr/>
        </p:nvSpPr>
        <p:spPr>
          <a:xfrm>
            <a:off x="7598664" y="4261104"/>
            <a:ext cx="3739896" cy="484632"/>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Edad, volumen</a:t>
            </a:r>
            <a:endParaRPr lang="en-US" sz="1200" dirty="0"/>
          </a:p>
        </p:txBody>
      </p:sp>
      <p:sp>
        <p:nvSpPr>
          <p:cNvPr id="25" name="Shape 23"/>
          <p:cNvSpPr/>
          <p:nvPr/>
        </p:nvSpPr>
        <p:spPr>
          <a:xfrm>
            <a:off x="640080" y="4809744"/>
            <a:ext cx="10927080" cy="484632"/>
          </a:xfrm>
          <a:prstGeom prst="roundRect">
            <a:avLst>
              <a:gd name="adj" fmla="val 18868"/>
            </a:avLst>
          </a:prstGeom>
          <a:solidFill>
            <a:srgbClr val="FFFFFF"/>
          </a:solidFill>
          <a:ln w="12700">
            <a:solidFill>
              <a:srgbClr val="CFD5D9"/>
            </a:solidFill>
            <a:prstDash val="solid"/>
          </a:ln>
        </p:spPr>
      </p:sp>
      <p:sp>
        <p:nvSpPr>
          <p:cNvPr id="26" name="Text 24"/>
          <p:cNvSpPr txBox="1"/>
          <p:nvPr/>
        </p:nvSpPr>
        <p:spPr>
          <a:xfrm>
            <a:off x="914400" y="4809744"/>
            <a:ext cx="1920240" cy="484632"/>
          </a:xfrm>
          <a:prstGeom prst="rect">
            <a:avLst/>
          </a:prstGeom>
          <a:noFill/>
          <a:ln/>
        </p:spPr>
        <p:txBody>
          <a:bodyPr wrap="square" lIns="0" tIns="0" rIns="0" bIns="0" rtlCol="0" anchor="ctr"/>
          <a:lstStyle/>
          <a:p>
            <a:pPr indent="0" marL="0">
              <a:buNone/>
            </a:pPr>
            <a:r>
              <a:rPr lang="en-US" sz="1250" b="1" dirty="0">
                <a:solidFill>
                  <a:srgbClr val="177E89"/>
                </a:solidFill>
                <a:latin typeface="Consolas" pitchFamily="34" charset="0"/>
                <a:ea typeface="Consolas" pitchFamily="34" charset="-122"/>
                <a:cs typeface="Consolas" pitchFamily="34" charset="-120"/>
              </a:rPr>
              <a:t>date</a:t>
            </a:r>
            <a:endParaRPr lang="en-US" sz="1250" dirty="0"/>
          </a:p>
        </p:txBody>
      </p:sp>
      <p:sp>
        <p:nvSpPr>
          <p:cNvPr id="27" name="Text 25"/>
          <p:cNvSpPr txBox="1"/>
          <p:nvPr/>
        </p:nvSpPr>
        <p:spPr>
          <a:xfrm>
            <a:off x="2834640" y="4809744"/>
            <a:ext cx="4398264" cy="484632"/>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Abre un calendario.</a:t>
            </a:r>
            <a:endParaRPr lang="en-US" sz="1200" dirty="0"/>
          </a:p>
        </p:txBody>
      </p:sp>
      <p:sp>
        <p:nvSpPr>
          <p:cNvPr id="28" name="Text 26"/>
          <p:cNvSpPr txBox="1"/>
          <p:nvPr/>
        </p:nvSpPr>
        <p:spPr>
          <a:xfrm>
            <a:off x="7232904" y="4809744"/>
            <a:ext cx="320040" cy="484632"/>
          </a:xfrm>
          <a:prstGeom prst="rect">
            <a:avLst/>
          </a:prstGeom>
          <a:noFill/>
          <a:ln/>
        </p:spPr>
        <p:txBody>
          <a:bodyPr wrap="square" lIns="0" tIns="0" rIns="0" bIns="0" rtlCol="0" anchor="ctr"/>
          <a:lstStyle/>
          <a:p>
            <a:pPr algn="ctr" indent="0" marL="0">
              <a:buNone/>
            </a:pPr>
            <a:r>
              <a:rPr lang="en-US" sz="1200" dirty="0">
                <a:solidFill>
                  <a:srgbClr val="9AA2A7"/>
                </a:solidFill>
                <a:latin typeface="Calibri" pitchFamily="34" charset="0"/>
                <a:ea typeface="Calibri" pitchFamily="34" charset="-122"/>
                <a:cs typeface="Calibri" pitchFamily="34" charset="-120"/>
              </a:rPr>
              <a:t>→</a:t>
            </a:r>
            <a:endParaRPr lang="en-US" sz="1200" dirty="0"/>
          </a:p>
        </p:txBody>
      </p:sp>
      <p:sp>
        <p:nvSpPr>
          <p:cNvPr id="29" name="Text 27"/>
          <p:cNvSpPr txBox="1"/>
          <p:nvPr/>
        </p:nvSpPr>
        <p:spPr>
          <a:xfrm>
            <a:off x="7598664" y="4809744"/>
            <a:ext cx="3739896" cy="484632"/>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Fecha de nacimiento</a:t>
            </a:r>
            <a:endParaRPr lang="en-US" sz="1200" dirty="0"/>
          </a:p>
        </p:txBody>
      </p:sp>
      <p:sp>
        <p:nvSpPr>
          <p:cNvPr id="30" name="Shape 28"/>
          <p:cNvSpPr/>
          <p:nvPr/>
        </p:nvSpPr>
        <p:spPr>
          <a:xfrm>
            <a:off x="640080" y="5358384"/>
            <a:ext cx="10927080" cy="484632"/>
          </a:xfrm>
          <a:prstGeom prst="roundRect">
            <a:avLst>
              <a:gd name="adj" fmla="val 18868"/>
            </a:avLst>
          </a:prstGeom>
          <a:solidFill>
            <a:srgbClr val="FFFFFF"/>
          </a:solidFill>
          <a:ln w="12700">
            <a:solidFill>
              <a:srgbClr val="CFD5D9"/>
            </a:solidFill>
            <a:prstDash val="solid"/>
          </a:ln>
        </p:spPr>
      </p:sp>
      <p:sp>
        <p:nvSpPr>
          <p:cNvPr id="31" name="Text 29"/>
          <p:cNvSpPr txBox="1"/>
          <p:nvPr/>
        </p:nvSpPr>
        <p:spPr>
          <a:xfrm>
            <a:off x="914400" y="5358384"/>
            <a:ext cx="1920240" cy="484632"/>
          </a:xfrm>
          <a:prstGeom prst="rect">
            <a:avLst/>
          </a:prstGeom>
          <a:noFill/>
          <a:ln/>
        </p:spPr>
        <p:txBody>
          <a:bodyPr wrap="square" lIns="0" tIns="0" rIns="0" bIns="0" rtlCol="0" anchor="ctr"/>
          <a:lstStyle/>
          <a:p>
            <a:pPr indent="0" marL="0">
              <a:buNone/>
            </a:pPr>
            <a:r>
              <a:rPr lang="en-US" sz="1250" b="1" dirty="0">
                <a:solidFill>
                  <a:srgbClr val="177E89"/>
                </a:solidFill>
                <a:latin typeface="Consolas" pitchFamily="34" charset="0"/>
                <a:ea typeface="Consolas" pitchFamily="34" charset="-122"/>
                <a:cs typeface="Consolas" pitchFamily="34" charset="-120"/>
              </a:rPr>
              <a:t>checkbox · radio</a:t>
            </a:r>
            <a:endParaRPr lang="en-US" sz="1250" dirty="0"/>
          </a:p>
        </p:txBody>
      </p:sp>
      <p:sp>
        <p:nvSpPr>
          <p:cNvPr id="32" name="Text 30"/>
          <p:cNvSpPr txBox="1"/>
          <p:nvPr/>
        </p:nvSpPr>
        <p:spPr>
          <a:xfrm>
            <a:off x="2834640" y="5358384"/>
            <a:ext cx="4398264" cy="484632"/>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Varias opciones a la vez, o solo una.</a:t>
            </a:r>
            <a:endParaRPr lang="en-US" sz="1200" dirty="0"/>
          </a:p>
        </p:txBody>
      </p:sp>
      <p:sp>
        <p:nvSpPr>
          <p:cNvPr id="33" name="Text 31"/>
          <p:cNvSpPr txBox="1"/>
          <p:nvPr/>
        </p:nvSpPr>
        <p:spPr>
          <a:xfrm>
            <a:off x="7232904" y="5358384"/>
            <a:ext cx="320040" cy="484632"/>
          </a:xfrm>
          <a:prstGeom prst="rect">
            <a:avLst/>
          </a:prstGeom>
          <a:noFill/>
          <a:ln/>
        </p:spPr>
        <p:txBody>
          <a:bodyPr wrap="square" lIns="0" tIns="0" rIns="0" bIns="0" rtlCol="0" anchor="ctr"/>
          <a:lstStyle/>
          <a:p>
            <a:pPr algn="ctr" indent="0" marL="0">
              <a:buNone/>
            </a:pPr>
            <a:r>
              <a:rPr lang="en-US" sz="1200" dirty="0">
                <a:solidFill>
                  <a:srgbClr val="9AA2A7"/>
                </a:solidFill>
                <a:latin typeface="Calibri" pitchFamily="34" charset="0"/>
                <a:ea typeface="Calibri" pitchFamily="34" charset="-122"/>
                <a:cs typeface="Calibri" pitchFamily="34" charset="-120"/>
              </a:rPr>
              <a:t>→</a:t>
            </a:r>
            <a:endParaRPr lang="en-US" sz="1200" dirty="0"/>
          </a:p>
        </p:txBody>
      </p:sp>
      <p:sp>
        <p:nvSpPr>
          <p:cNvPr id="34" name="Text 32"/>
          <p:cNvSpPr txBox="1"/>
          <p:nvPr/>
        </p:nvSpPr>
        <p:spPr>
          <a:xfrm>
            <a:off x="7598664" y="5358384"/>
            <a:ext cx="3739896" cy="484632"/>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Acepto, turno</a:t>
            </a:r>
            <a:endParaRPr lang="en-US" sz="1200" dirty="0"/>
          </a:p>
        </p:txBody>
      </p:sp>
      <p:sp>
        <p:nvSpPr>
          <p:cNvPr id="35" name="Text 33"/>
          <p:cNvSpPr txBox="1"/>
          <p:nvPr/>
        </p:nvSpPr>
        <p:spPr>
          <a:xfrm>
            <a:off x="640080" y="5961888"/>
            <a:ext cx="10927080" cy="256032"/>
          </a:xfrm>
          <a:prstGeom prst="rect">
            <a:avLst/>
          </a:prstGeom>
          <a:noFill/>
          <a:ln/>
        </p:spPr>
        <p:txBody>
          <a:bodyPr wrap="square" lIns="0" tIns="0" rIns="0" bIns="0" rtlCol="0" anchor="ctr"/>
          <a:lstStyle/>
          <a:p>
            <a:pPr algn="ctr" indent="0" marL="0">
              <a:buNone/>
            </a:pPr>
            <a:r>
              <a:rPr lang="en-US" sz="1150" i="1" dirty="0">
                <a:solidFill>
                  <a:srgbClr val="5F676C"/>
                </a:solidFill>
                <a:latin typeface="Calibri" pitchFamily="34" charset="0"/>
                <a:ea typeface="Calibri" pitchFamily="34" charset="-122"/>
                <a:cs typeface="Calibri" pitchFamily="34" charset="-120"/>
              </a:rPr>
              <a:t>Recuerda range: es el control deslizante que hoy usaremos como barra de avance del video.</a:t>
            </a:r>
            <a:endParaRPr lang="en-US" sz="1150" dirty="0"/>
          </a:p>
        </p:txBody>
      </p:sp>
      <p:sp>
        <p:nvSpPr>
          <p:cNvPr id="36" name="Text 34"/>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11 / 48</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indent="0" marL="0">
              <a:buNone/>
            </a:pPr>
            <a:r>
              <a:rPr lang="en-US" sz="1050" b="1" spc="300" kern="0" dirty="0">
                <a:solidFill>
                  <a:srgbClr val="177E89"/>
                </a:solidFill>
                <a:latin typeface="Calibri" pitchFamily="34" charset="0"/>
                <a:ea typeface="Calibri" pitchFamily="34" charset="-122"/>
                <a:cs typeface="Calibri" pitchFamily="34" charset="-120"/>
              </a:rPr>
              <a:t>01 · REPASO</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Validación nativa: el navegador revisa por ti</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indent="0" marL="0">
              <a:buNone/>
            </a:pPr>
            <a:r>
              <a:rPr lang="en-US" sz="1250" dirty="0">
                <a:solidFill>
                  <a:srgbClr val="5F676C"/>
                </a:solidFill>
                <a:latin typeface="Calibri" pitchFamily="34" charset="0"/>
                <a:ea typeface="Calibri" pitchFamily="34" charset="-122"/>
                <a:cs typeface="Calibri" pitchFamily="34" charset="-120"/>
              </a:rPr>
              <a:t>Sin una línea de JavaScript. Si algo falla, el formulario no se envía y aparece un aviso.</a:t>
            </a:r>
            <a:endParaRPr lang="en-US" sz="1250" dirty="0"/>
          </a:p>
        </p:txBody>
      </p:sp>
      <p:sp>
        <p:nvSpPr>
          <p:cNvPr id="5" name="Shape 3"/>
          <p:cNvSpPr/>
          <p:nvPr/>
        </p:nvSpPr>
        <p:spPr>
          <a:xfrm>
            <a:off x="640080" y="2615184"/>
            <a:ext cx="6035040" cy="2514600"/>
          </a:xfrm>
          <a:prstGeom prst="roundRect">
            <a:avLst>
              <a:gd name="adj" fmla="val 3636"/>
            </a:avLst>
          </a:prstGeom>
          <a:solidFill>
            <a:srgbClr val="2B2B2B"/>
          </a:solidFill>
          <a:ln w="12700">
            <a:solidFill>
              <a:srgbClr val="2B2B2B"/>
            </a:solidFill>
            <a:prstDash val="solid"/>
          </a:ln>
        </p:spPr>
      </p:sp>
      <p:sp>
        <p:nvSpPr>
          <p:cNvPr id="6" name="Text 4"/>
          <p:cNvSpPr txBox="1"/>
          <p:nvPr/>
        </p:nvSpPr>
        <p:spPr>
          <a:xfrm>
            <a:off x="868680" y="2779776"/>
            <a:ext cx="5577840" cy="2185416"/>
          </a:xfrm>
          <a:prstGeom prst="rect">
            <a:avLst/>
          </a:prstGeom>
          <a:noFill/>
          <a:ln/>
        </p:spPr>
        <p:txBody>
          <a:bodyPr wrap="square" lIns="0" tIns="0" rIns="0" bIns="0" rtlCol="0" anchor="t"/>
          <a:lstStyle/>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&lt;input type="email" id="correo" name="correo"</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a:t>
            </a:r>
            <a:pPr indent="0" marL="0">
              <a:lnSpc>
                <a:spcPct val="125000"/>
              </a:lnSpc>
              <a:buNone/>
            </a:pPr>
            <a:r>
              <a:rPr lang="en-US" sz="1100" b="1" dirty="0">
                <a:solidFill>
                  <a:srgbClr val="8FE1E8"/>
                </a:solidFill>
                <a:latin typeface="Consolas" pitchFamily="34" charset="0"/>
                <a:ea typeface="Consolas" pitchFamily="34" charset="-122"/>
                <a:cs typeface="Consolas" pitchFamily="34" charset="-120"/>
              </a:rPr>
              <a:t>placeholder=</a:t>
            </a:r>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"nombre@correo.com" </a:t>
            </a:r>
            <a:pPr indent="0" marL="0">
              <a:lnSpc>
                <a:spcPct val="125000"/>
              </a:lnSpc>
              <a:buNone/>
            </a:pPr>
            <a:r>
              <a:rPr lang="en-US" sz="1100" b="1" dirty="0">
                <a:solidFill>
                  <a:srgbClr val="8FE1E8"/>
                </a:solidFill>
                <a:latin typeface="Consolas" pitchFamily="34" charset="0"/>
                <a:ea typeface="Consolas" pitchFamily="34" charset="-122"/>
                <a:cs typeface="Consolas" pitchFamily="34" charset="-120"/>
              </a:rPr>
              <a:t>required</a:t>
            </a:r>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/&gt;</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&lt;input type="tel" id="telefono" name="telefono"</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a:t>
            </a:r>
            <a:pPr indent="0" marL="0">
              <a:lnSpc>
                <a:spcPct val="125000"/>
              </a:lnSpc>
              <a:buNone/>
            </a:pPr>
            <a:r>
              <a:rPr lang="en-US" sz="1100" b="1" dirty="0">
                <a:solidFill>
                  <a:srgbClr val="8FE1E8"/>
                </a:solidFill>
                <a:latin typeface="Consolas" pitchFamily="34" charset="0"/>
                <a:ea typeface="Consolas" pitchFamily="34" charset="-122"/>
                <a:cs typeface="Consolas" pitchFamily="34" charset="-120"/>
              </a:rPr>
              <a:t>pattern="[0-9]{9}"</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title="Nueve dígitos, sin espacios" /&gt;</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&lt;textarea id="mensaje" name="mensaje"</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a:t>
            </a:r>
            <a:pPr indent="0" marL="0">
              <a:lnSpc>
                <a:spcPct val="125000"/>
              </a:lnSpc>
              <a:buNone/>
            </a:pPr>
            <a:r>
              <a:rPr lang="en-US" sz="1100" b="1" dirty="0">
                <a:solidFill>
                  <a:srgbClr val="8FE1E8"/>
                </a:solidFill>
                <a:latin typeface="Consolas" pitchFamily="34" charset="0"/>
                <a:ea typeface="Consolas" pitchFamily="34" charset="-122"/>
                <a:cs typeface="Consolas" pitchFamily="34" charset="-120"/>
              </a:rPr>
              <a:t>minlength="10" maxlength="500"</a:t>
            </a:r>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a:t>
            </a:r>
            <a:pPr indent="0" marL="0">
              <a:lnSpc>
                <a:spcPct val="125000"/>
              </a:lnSpc>
              <a:buNone/>
            </a:pPr>
            <a:r>
              <a:rPr lang="en-US" sz="1100" b="1" dirty="0">
                <a:solidFill>
                  <a:srgbClr val="8FE1E8"/>
                </a:solidFill>
                <a:latin typeface="Consolas" pitchFamily="34" charset="0"/>
                <a:ea typeface="Consolas" pitchFamily="34" charset="-122"/>
                <a:cs typeface="Consolas" pitchFamily="34" charset="-120"/>
              </a:rPr>
              <a:t>required</a:t>
            </a:r>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&gt;&lt;/textarea&gt;</a:t>
            </a:r>
            <a:endParaRPr lang="en-US" sz="1100" dirty="0"/>
          </a:p>
        </p:txBody>
      </p:sp>
      <p:sp>
        <p:nvSpPr>
          <p:cNvPr id="7" name="Shape 5"/>
          <p:cNvSpPr/>
          <p:nvPr/>
        </p:nvSpPr>
        <p:spPr>
          <a:xfrm>
            <a:off x="6903720" y="2615184"/>
            <a:ext cx="4663440" cy="557784"/>
          </a:xfrm>
          <a:prstGeom prst="roundRect">
            <a:avLst>
              <a:gd name="adj" fmla="val 16393"/>
            </a:avLst>
          </a:prstGeom>
          <a:solidFill>
            <a:srgbClr val="FFFFFF"/>
          </a:solidFill>
          <a:ln w="12700">
            <a:solidFill>
              <a:srgbClr val="CFD5D9"/>
            </a:solidFill>
            <a:prstDash val="solid"/>
          </a:ln>
        </p:spPr>
      </p:sp>
      <p:sp>
        <p:nvSpPr>
          <p:cNvPr id="8" name="Text 6"/>
          <p:cNvSpPr txBox="1"/>
          <p:nvPr/>
        </p:nvSpPr>
        <p:spPr>
          <a:xfrm>
            <a:off x="7178040" y="2615184"/>
            <a:ext cx="1874520" cy="557784"/>
          </a:xfrm>
          <a:prstGeom prst="rect">
            <a:avLst/>
          </a:prstGeom>
          <a:noFill/>
          <a:ln/>
        </p:spPr>
        <p:txBody>
          <a:bodyPr wrap="square" lIns="0" tIns="0" rIns="0" bIns="0" rtlCol="0" anchor="ctr"/>
          <a:lstStyle/>
          <a:p>
            <a:pPr indent="0" marL="0">
              <a:buNone/>
            </a:pPr>
            <a:r>
              <a:rPr lang="en-US" sz="1100" b="1" dirty="0">
                <a:solidFill>
                  <a:srgbClr val="177E89"/>
                </a:solidFill>
                <a:latin typeface="Consolas" pitchFamily="34" charset="0"/>
                <a:ea typeface="Consolas" pitchFamily="34" charset="-122"/>
                <a:cs typeface="Consolas" pitchFamily="34" charset="-120"/>
              </a:rPr>
              <a:t>required</a:t>
            </a:r>
            <a:endParaRPr lang="en-US" sz="1100" dirty="0"/>
          </a:p>
        </p:txBody>
      </p:sp>
      <p:sp>
        <p:nvSpPr>
          <p:cNvPr id="9" name="Text 7"/>
          <p:cNvSpPr txBox="1"/>
          <p:nvPr/>
        </p:nvSpPr>
        <p:spPr>
          <a:xfrm>
            <a:off x="9052560" y="2615184"/>
            <a:ext cx="2240280" cy="557784"/>
          </a:xfrm>
          <a:prstGeom prst="rect">
            <a:avLst/>
          </a:prstGeom>
          <a:noFill/>
          <a:ln/>
        </p:spPr>
        <p:txBody>
          <a:bodyPr wrap="square" lIns="0" tIns="0" rIns="0" bIns="0" rtlCol="0" anchor="ctr"/>
          <a:lstStyle/>
          <a:p>
            <a:pPr indent="0" marL="0">
              <a:buNone/>
            </a:pPr>
            <a:r>
              <a:rPr lang="en-US" sz="1050" dirty="0">
                <a:solidFill>
                  <a:srgbClr val="33393D"/>
                </a:solidFill>
                <a:latin typeface="Calibri" pitchFamily="34" charset="0"/>
                <a:ea typeface="Calibri" pitchFamily="34" charset="-122"/>
                <a:cs typeface="Calibri" pitchFamily="34" charset="-120"/>
              </a:rPr>
              <a:t>Campo obligatorio: no se envía vacío.</a:t>
            </a:r>
            <a:endParaRPr lang="en-US" sz="1050" dirty="0"/>
          </a:p>
        </p:txBody>
      </p:sp>
      <p:sp>
        <p:nvSpPr>
          <p:cNvPr id="10" name="Shape 8"/>
          <p:cNvSpPr/>
          <p:nvPr/>
        </p:nvSpPr>
        <p:spPr>
          <a:xfrm>
            <a:off x="6903720" y="3267151"/>
            <a:ext cx="4663440" cy="557784"/>
          </a:xfrm>
          <a:prstGeom prst="roundRect">
            <a:avLst>
              <a:gd name="adj" fmla="val 16393"/>
            </a:avLst>
          </a:prstGeom>
          <a:solidFill>
            <a:srgbClr val="FFFFFF"/>
          </a:solidFill>
          <a:ln w="12700">
            <a:solidFill>
              <a:srgbClr val="CFD5D9"/>
            </a:solidFill>
            <a:prstDash val="solid"/>
          </a:ln>
        </p:spPr>
      </p:sp>
      <p:sp>
        <p:nvSpPr>
          <p:cNvPr id="11" name="Text 9"/>
          <p:cNvSpPr txBox="1"/>
          <p:nvPr/>
        </p:nvSpPr>
        <p:spPr>
          <a:xfrm>
            <a:off x="7178040" y="3267151"/>
            <a:ext cx="1874520" cy="557784"/>
          </a:xfrm>
          <a:prstGeom prst="rect">
            <a:avLst/>
          </a:prstGeom>
          <a:noFill/>
          <a:ln/>
        </p:spPr>
        <p:txBody>
          <a:bodyPr wrap="square" lIns="0" tIns="0" rIns="0" bIns="0" rtlCol="0" anchor="ctr"/>
          <a:lstStyle/>
          <a:p>
            <a:pPr indent="0" marL="0">
              <a:buNone/>
            </a:pPr>
            <a:r>
              <a:rPr lang="en-US" sz="1100" b="1" dirty="0">
                <a:solidFill>
                  <a:srgbClr val="177E89"/>
                </a:solidFill>
                <a:latin typeface="Consolas" pitchFamily="34" charset="0"/>
                <a:ea typeface="Consolas" pitchFamily="34" charset="-122"/>
                <a:cs typeface="Consolas" pitchFamily="34" charset="-120"/>
              </a:rPr>
              <a:t>minlength · maxlength</a:t>
            </a:r>
            <a:endParaRPr lang="en-US" sz="1100" dirty="0"/>
          </a:p>
        </p:txBody>
      </p:sp>
      <p:sp>
        <p:nvSpPr>
          <p:cNvPr id="12" name="Text 10"/>
          <p:cNvSpPr txBox="1"/>
          <p:nvPr/>
        </p:nvSpPr>
        <p:spPr>
          <a:xfrm>
            <a:off x="9052560" y="3267151"/>
            <a:ext cx="2240280" cy="557784"/>
          </a:xfrm>
          <a:prstGeom prst="rect">
            <a:avLst/>
          </a:prstGeom>
          <a:noFill/>
          <a:ln/>
        </p:spPr>
        <p:txBody>
          <a:bodyPr wrap="square" lIns="0" tIns="0" rIns="0" bIns="0" rtlCol="0" anchor="ctr"/>
          <a:lstStyle/>
          <a:p>
            <a:pPr indent="0" marL="0">
              <a:buNone/>
            </a:pPr>
            <a:r>
              <a:rPr lang="en-US" sz="1050" dirty="0">
                <a:solidFill>
                  <a:srgbClr val="33393D"/>
                </a:solidFill>
                <a:latin typeface="Calibri" pitchFamily="34" charset="0"/>
                <a:ea typeface="Calibri" pitchFamily="34" charset="-122"/>
                <a:cs typeface="Calibri" pitchFamily="34" charset="-120"/>
              </a:rPr>
              <a:t>Cantidad mínima y máxima de caracteres.</a:t>
            </a:r>
            <a:endParaRPr lang="en-US" sz="1050" dirty="0"/>
          </a:p>
        </p:txBody>
      </p:sp>
      <p:sp>
        <p:nvSpPr>
          <p:cNvPr id="13" name="Shape 11"/>
          <p:cNvSpPr/>
          <p:nvPr/>
        </p:nvSpPr>
        <p:spPr>
          <a:xfrm>
            <a:off x="6903720" y="3919118"/>
            <a:ext cx="4663440" cy="557784"/>
          </a:xfrm>
          <a:prstGeom prst="roundRect">
            <a:avLst>
              <a:gd name="adj" fmla="val 16393"/>
            </a:avLst>
          </a:prstGeom>
          <a:solidFill>
            <a:srgbClr val="FFFFFF"/>
          </a:solidFill>
          <a:ln w="12700">
            <a:solidFill>
              <a:srgbClr val="CFD5D9"/>
            </a:solidFill>
            <a:prstDash val="solid"/>
          </a:ln>
        </p:spPr>
      </p:sp>
      <p:sp>
        <p:nvSpPr>
          <p:cNvPr id="14" name="Text 12"/>
          <p:cNvSpPr txBox="1"/>
          <p:nvPr/>
        </p:nvSpPr>
        <p:spPr>
          <a:xfrm>
            <a:off x="7178040" y="3919118"/>
            <a:ext cx="1874520" cy="557784"/>
          </a:xfrm>
          <a:prstGeom prst="rect">
            <a:avLst/>
          </a:prstGeom>
          <a:noFill/>
          <a:ln/>
        </p:spPr>
        <p:txBody>
          <a:bodyPr wrap="square" lIns="0" tIns="0" rIns="0" bIns="0" rtlCol="0" anchor="ctr"/>
          <a:lstStyle/>
          <a:p>
            <a:pPr indent="0" marL="0">
              <a:buNone/>
            </a:pPr>
            <a:r>
              <a:rPr lang="en-US" sz="1100" b="1" dirty="0">
                <a:solidFill>
                  <a:srgbClr val="177E89"/>
                </a:solidFill>
                <a:latin typeface="Consolas" pitchFamily="34" charset="0"/>
                <a:ea typeface="Consolas" pitchFamily="34" charset="-122"/>
                <a:cs typeface="Consolas" pitchFamily="34" charset="-120"/>
              </a:rPr>
              <a:t>pattern</a:t>
            </a:r>
            <a:endParaRPr lang="en-US" sz="1100" dirty="0"/>
          </a:p>
        </p:txBody>
      </p:sp>
      <p:sp>
        <p:nvSpPr>
          <p:cNvPr id="15" name="Text 13"/>
          <p:cNvSpPr txBox="1"/>
          <p:nvPr/>
        </p:nvSpPr>
        <p:spPr>
          <a:xfrm>
            <a:off x="9052560" y="3919118"/>
            <a:ext cx="2240280" cy="557784"/>
          </a:xfrm>
          <a:prstGeom prst="rect">
            <a:avLst/>
          </a:prstGeom>
          <a:noFill/>
          <a:ln/>
        </p:spPr>
        <p:txBody>
          <a:bodyPr wrap="square" lIns="0" tIns="0" rIns="0" bIns="0" rtlCol="0" anchor="ctr"/>
          <a:lstStyle/>
          <a:p>
            <a:pPr indent="0" marL="0">
              <a:buNone/>
            </a:pPr>
            <a:r>
              <a:rPr lang="en-US" sz="1050" dirty="0">
                <a:solidFill>
                  <a:srgbClr val="33393D"/>
                </a:solidFill>
                <a:latin typeface="Calibri" pitchFamily="34" charset="0"/>
                <a:ea typeface="Calibri" pitchFamily="34" charset="-122"/>
                <a:cs typeface="Calibri" pitchFamily="34" charset="-120"/>
              </a:rPr>
              <a:t>Una regla propia. title explica qué se espera.</a:t>
            </a:r>
            <a:endParaRPr lang="en-US" sz="1050" dirty="0"/>
          </a:p>
        </p:txBody>
      </p:sp>
      <p:sp>
        <p:nvSpPr>
          <p:cNvPr id="16" name="Shape 14"/>
          <p:cNvSpPr/>
          <p:nvPr/>
        </p:nvSpPr>
        <p:spPr>
          <a:xfrm>
            <a:off x="6903720" y="4571086"/>
            <a:ext cx="4663440" cy="557784"/>
          </a:xfrm>
          <a:prstGeom prst="roundRect">
            <a:avLst>
              <a:gd name="adj" fmla="val 16393"/>
            </a:avLst>
          </a:prstGeom>
          <a:solidFill>
            <a:srgbClr val="FFFFFF"/>
          </a:solidFill>
          <a:ln w="12700">
            <a:solidFill>
              <a:srgbClr val="CFD5D9"/>
            </a:solidFill>
            <a:prstDash val="solid"/>
          </a:ln>
        </p:spPr>
      </p:sp>
      <p:sp>
        <p:nvSpPr>
          <p:cNvPr id="17" name="Text 15"/>
          <p:cNvSpPr txBox="1"/>
          <p:nvPr/>
        </p:nvSpPr>
        <p:spPr>
          <a:xfrm>
            <a:off x="7178040" y="4571086"/>
            <a:ext cx="1874520" cy="557784"/>
          </a:xfrm>
          <a:prstGeom prst="rect">
            <a:avLst/>
          </a:prstGeom>
          <a:noFill/>
          <a:ln/>
        </p:spPr>
        <p:txBody>
          <a:bodyPr wrap="square" lIns="0" tIns="0" rIns="0" bIns="0" rtlCol="0" anchor="ctr"/>
          <a:lstStyle/>
          <a:p>
            <a:pPr indent="0" marL="0">
              <a:buNone/>
            </a:pPr>
            <a:r>
              <a:rPr lang="en-US" sz="1100" b="1" dirty="0">
                <a:solidFill>
                  <a:srgbClr val="177E89"/>
                </a:solidFill>
                <a:latin typeface="Consolas" pitchFamily="34" charset="0"/>
                <a:ea typeface="Consolas" pitchFamily="34" charset="-122"/>
                <a:cs typeface="Consolas" pitchFamily="34" charset="-120"/>
              </a:rPr>
              <a:t>placeholder</a:t>
            </a:r>
            <a:endParaRPr lang="en-US" sz="1100" dirty="0"/>
          </a:p>
        </p:txBody>
      </p:sp>
      <p:sp>
        <p:nvSpPr>
          <p:cNvPr id="18" name="Text 16"/>
          <p:cNvSpPr txBox="1"/>
          <p:nvPr/>
        </p:nvSpPr>
        <p:spPr>
          <a:xfrm>
            <a:off x="9052560" y="4571086"/>
            <a:ext cx="2240280" cy="557784"/>
          </a:xfrm>
          <a:prstGeom prst="rect">
            <a:avLst/>
          </a:prstGeom>
          <a:noFill/>
          <a:ln/>
        </p:spPr>
        <p:txBody>
          <a:bodyPr wrap="square" lIns="0" tIns="0" rIns="0" bIns="0" rtlCol="0" anchor="ctr"/>
          <a:lstStyle/>
          <a:p>
            <a:pPr indent="0" marL="0">
              <a:buNone/>
            </a:pPr>
            <a:r>
              <a:rPr lang="en-US" sz="1050" dirty="0">
                <a:solidFill>
                  <a:srgbClr val="33393D"/>
                </a:solidFill>
                <a:latin typeface="Calibri" pitchFamily="34" charset="0"/>
                <a:ea typeface="Calibri" pitchFamily="34" charset="-122"/>
                <a:cs typeface="Calibri" pitchFamily="34" charset="-120"/>
              </a:rPr>
              <a:t>Un ejemplo dentro del campo. No reemplaza a label.</a:t>
            </a:r>
            <a:endParaRPr lang="en-US" sz="1050" dirty="0"/>
          </a:p>
        </p:txBody>
      </p:sp>
      <p:sp>
        <p:nvSpPr>
          <p:cNvPr id="19" name="Shape 17"/>
          <p:cNvSpPr/>
          <p:nvPr/>
        </p:nvSpPr>
        <p:spPr>
          <a:xfrm>
            <a:off x="640080" y="5340096"/>
            <a:ext cx="10927080" cy="658368"/>
          </a:xfrm>
          <a:prstGeom prst="roundRect">
            <a:avLst>
              <a:gd name="adj" fmla="val 13889"/>
            </a:avLst>
          </a:prstGeom>
          <a:solidFill>
            <a:srgbClr val="FFFFFF"/>
          </a:solidFill>
          <a:ln w="12700">
            <a:solidFill>
              <a:srgbClr val="CFD5D9"/>
            </a:solidFill>
            <a:prstDash val="solid"/>
          </a:ln>
        </p:spPr>
      </p:sp>
      <p:sp>
        <p:nvSpPr>
          <p:cNvPr id="20" name="Text 18"/>
          <p:cNvSpPr txBox="1"/>
          <p:nvPr/>
        </p:nvSpPr>
        <p:spPr>
          <a:xfrm>
            <a:off x="950976" y="5340096"/>
            <a:ext cx="10305288" cy="658368"/>
          </a:xfrm>
          <a:prstGeom prst="rect">
            <a:avLst/>
          </a:prstGeom>
          <a:noFill/>
          <a:ln/>
        </p:spPr>
        <p:txBody>
          <a:bodyPr wrap="square" lIns="0" tIns="0" rIns="0" bIns="0" rtlCol="0" anchor="ctr"/>
          <a:lstStyle/>
          <a:p>
            <a:pPr indent="0" marL="0">
              <a:lnSpc>
                <a:spcPct val="120000"/>
              </a:lnSpc>
              <a:buNone/>
            </a:pPr>
            <a:r>
              <a:rPr lang="en-US" sz="1200" b="1" dirty="0">
                <a:solidFill>
                  <a:srgbClr val="A8402B"/>
                </a:solidFill>
                <a:latin typeface="Calibri" pitchFamily="34" charset="0"/>
                <a:ea typeface="Calibri" pitchFamily="34" charset="-122"/>
                <a:cs typeface="Calibri" pitchFamily="34" charset="-120"/>
              </a:rPr>
              <a:t>Ojo:  </a:t>
            </a:r>
            <a:pPr indent="0" marL="0">
              <a:lnSpc>
                <a:spcPct val="120000"/>
              </a:lnSpc>
              <a:buNone/>
            </a:pPr>
            <a:r>
              <a:rPr lang="en-US" sz="1200" dirty="0">
                <a:solidFill>
                  <a:srgbClr val="33393D"/>
                </a:solidFill>
                <a:latin typeface="Calibri" pitchFamily="34" charset="0"/>
                <a:ea typeface="Calibri" pitchFamily="34" charset="-122"/>
                <a:cs typeface="Calibri" pitchFamily="34" charset="-120"/>
              </a:rPr>
              <a:t>type="email" acepta ana@correo. Solo comprueba la forma del texto, no que el correo exista.</a:t>
            </a:r>
            <a:endParaRPr lang="en-US" sz="1200" dirty="0"/>
          </a:p>
        </p:txBody>
      </p:sp>
      <p:sp>
        <p:nvSpPr>
          <p:cNvPr id="21" name="Text 19"/>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12 / 48</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indent="0" marL="0">
              <a:buNone/>
            </a:pPr>
            <a:r>
              <a:rPr lang="en-US" sz="1050" b="1" spc="300" kern="0" dirty="0">
                <a:solidFill>
                  <a:srgbClr val="177E89"/>
                </a:solidFill>
                <a:latin typeface="Calibri" pitchFamily="34" charset="0"/>
                <a:ea typeface="Calibri" pitchFamily="34" charset="-122"/>
                <a:cs typeface="Calibri" pitchFamily="34" charset="-120"/>
              </a:rPr>
              <a:t>01 · REPASO</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Controles avanzados: más allá de input</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indent="0" marL="0">
              <a:buNone/>
            </a:pPr>
            <a:r>
              <a:rPr lang="en-US" sz="1250" dirty="0">
                <a:solidFill>
                  <a:srgbClr val="5F676C"/>
                </a:solidFill>
                <a:latin typeface="Calibri" pitchFamily="34" charset="0"/>
                <a:ea typeface="Calibri" pitchFamily="34" charset="-122"/>
                <a:cs typeface="Calibri" pitchFamily="34" charset="-120"/>
              </a:rPr>
              <a:t>Agrupar campos, elegir de una lista y escribir varias líneas.</a:t>
            </a:r>
            <a:endParaRPr lang="en-US" sz="1250" dirty="0"/>
          </a:p>
        </p:txBody>
      </p:sp>
      <p:sp>
        <p:nvSpPr>
          <p:cNvPr id="5" name="Shape 3"/>
          <p:cNvSpPr/>
          <p:nvPr/>
        </p:nvSpPr>
        <p:spPr>
          <a:xfrm>
            <a:off x="640080" y="2615184"/>
            <a:ext cx="6035040" cy="2331720"/>
          </a:xfrm>
          <a:prstGeom prst="roundRect">
            <a:avLst>
              <a:gd name="adj" fmla="val 3922"/>
            </a:avLst>
          </a:prstGeom>
          <a:solidFill>
            <a:srgbClr val="2B2B2B"/>
          </a:solidFill>
          <a:ln w="12700">
            <a:solidFill>
              <a:srgbClr val="2B2B2B"/>
            </a:solidFill>
            <a:prstDash val="solid"/>
          </a:ln>
        </p:spPr>
      </p:sp>
      <p:sp>
        <p:nvSpPr>
          <p:cNvPr id="6" name="Text 4"/>
          <p:cNvSpPr txBox="1"/>
          <p:nvPr/>
        </p:nvSpPr>
        <p:spPr>
          <a:xfrm>
            <a:off x="868680" y="2779776"/>
            <a:ext cx="5577840" cy="2002536"/>
          </a:xfrm>
          <a:prstGeom prst="rect">
            <a:avLst/>
          </a:prstGeom>
          <a:noFill/>
          <a:ln/>
        </p:spPr>
        <p:txBody>
          <a:bodyPr wrap="square" lIns="0" tIns="0" rIns="0" bIns="0" rtlCol="0" anchor="ctr"/>
          <a:lstStyle/>
          <a:p>
            <a:pPr indent="0" marL="0">
              <a:lnSpc>
                <a:spcPct val="125000"/>
              </a:lnSpc>
              <a:buNone/>
            </a:pPr>
            <a:r>
              <a:rPr lang="en-US" sz="1100" b="1" dirty="0">
                <a:solidFill>
                  <a:srgbClr val="8FE1E8"/>
                </a:solidFill>
                <a:latin typeface="Consolas" pitchFamily="34" charset="0"/>
                <a:ea typeface="Consolas" pitchFamily="34" charset="-122"/>
                <a:cs typeface="Consolas" pitchFamily="34" charset="-120"/>
              </a:rPr>
              <a:t>&lt;fieldset&gt;</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a:t>
            </a:r>
            <a:pPr indent="0" marL="0">
              <a:lnSpc>
                <a:spcPct val="125000"/>
              </a:lnSpc>
              <a:buNone/>
            </a:pPr>
            <a:r>
              <a:rPr lang="en-US" sz="1100" b="1" dirty="0">
                <a:solidFill>
                  <a:srgbClr val="8FE1E8"/>
                </a:solidFill>
                <a:latin typeface="Consolas" pitchFamily="34" charset="0"/>
                <a:ea typeface="Consolas" pitchFamily="34" charset="-122"/>
                <a:cs typeface="Consolas" pitchFamily="34" charset="-120"/>
              </a:rPr>
              <a:t>&lt;legend&gt;</a:t>
            </a:r>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Tu mensaje</a:t>
            </a:r>
            <a:pPr indent="0" marL="0">
              <a:lnSpc>
                <a:spcPct val="125000"/>
              </a:lnSpc>
              <a:buNone/>
            </a:pPr>
            <a:r>
              <a:rPr lang="en-US" sz="1100" b="1" dirty="0">
                <a:solidFill>
                  <a:srgbClr val="8FE1E8"/>
                </a:solidFill>
                <a:latin typeface="Consolas" pitchFamily="34" charset="0"/>
                <a:ea typeface="Consolas" pitchFamily="34" charset="-122"/>
                <a:cs typeface="Consolas" pitchFamily="34" charset="-120"/>
              </a:rPr>
              <a:t>&lt;/legend&gt;</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a:t>
            </a:r>
            <a:pPr indent="0" marL="0">
              <a:lnSpc>
                <a:spcPct val="125000"/>
              </a:lnSpc>
              <a:buNone/>
            </a:pPr>
            <a:r>
              <a:rPr lang="en-US" sz="1100" b="1" dirty="0">
                <a:solidFill>
                  <a:srgbClr val="8FE1E8"/>
                </a:solidFill>
                <a:latin typeface="Consolas" pitchFamily="34" charset="0"/>
                <a:ea typeface="Consolas" pitchFamily="34" charset="-122"/>
                <a:cs typeface="Consolas" pitchFamily="34" charset="-120"/>
              </a:rPr>
              <a:t>&lt;select</a:t>
            </a:r>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id="motivo" name="motivo" required&gt;</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&lt;option value=""&gt;Elige una opción&lt;/option&gt;</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&lt;option value="proyecto"&gt;Proponer un proyecto&lt;/option&gt;</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a:t>
            </a:r>
            <a:pPr indent="0" marL="0">
              <a:lnSpc>
                <a:spcPct val="125000"/>
              </a:lnSpc>
              <a:buNone/>
            </a:pPr>
            <a:r>
              <a:rPr lang="en-US" sz="1100" b="1" dirty="0">
                <a:solidFill>
                  <a:srgbClr val="8FE1E8"/>
                </a:solidFill>
                <a:latin typeface="Consolas" pitchFamily="34" charset="0"/>
                <a:ea typeface="Consolas" pitchFamily="34" charset="-122"/>
                <a:cs typeface="Consolas" pitchFamily="34" charset="-120"/>
              </a:rPr>
              <a:t>&lt;/select&gt;</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a:t>
            </a:r>
            <a:pPr indent="0" marL="0">
              <a:lnSpc>
                <a:spcPct val="125000"/>
              </a:lnSpc>
              <a:buNone/>
            </a:pPr>
            <a:r>
              <a:rPr lang="en-US" sz="1100" b="1" dirty="0">
                <a:solidFill>
                  <a:srgbClr val="8FE1E8"/>
                </a:solidFill>
                <a:latin typeface="Consolas" pitchFamily="34" charset="0"/>
                <a:ea typeface="Consolas" pitchFamily="34" charset="-122"/>
                <a:cs typeface="Consolas" pitchFamily="34" charset="-120"/>
              </a:rPr>
              <a:t>&lt;textarea</a:t>
            </a:r>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id="mensaje" name="mensaje" rows="5"&gt;</a:t>
            </a:r>
            <a:pPr indent="0" marL="0">
              <a:lnSpc>
                <a:spcPct val="125000"/>
              </a:lnSpc>
              <a:buNone/>
            </a:pPr>
            <a:r>
              <a:rPr lang="en-US" sz="1100" b="1" dirty="0">
                <a:solidFill>
                  <a:srgbClr val="8FE1E8"/>
                </a:solidFill>
                <a:latin typeface="Consolas" pitchFamily="34" charset="0"/>
                <a:ea typeface="Consolas" pitchFamily="34" charset="-122"/>
                <a:cs typeface="Consolas" pitchFamily="34" charset="-120"/>
              </a:rPr>
              <a:t>&lt;/textarea&gt;</a:t>
            </a:r>
            <a:endParaRPr lang="en-US" sz="1100" dirty="0"/>
          </a:p>
          <a:p>
            <a:pPr indent="0" marL="0">
              <a:lnSpc>
                <a:spcPct val="125000"/>
              </a:lnSpc>
              <a:buNone/>
            </a:pPr>
            <a:r>
              <a:rPr lang="en-US" sz="1100" b="1" dirty="0">
                <a:solidFill>
                  <a:srgbClr val="8FE1E8"/>
                </a:solidFill>
                <a:latin typeface="Consolas" pitchFamily="34" charset="0"/>
                <a:ea typeface="Consolas" pitchFamily="34" charset="-122"/>
                <a:cs typeface="Consolas" pitchFamily="34" charset="-120"/>
              </a:rPr>
              <a:t>&lt;/fieldset&gt;</a:t>
            </a:r>
            <a:endParaRPr lang="en-US" sz="1100" dirty="0"/>
          </a:p>
        </p:txBody>
      </p:sp>
      <p:sp>
        <p:nvSpPr>
          <p:cNvPr id="7" name="Shape 5"/>
          <p:cNvSpPr/>
          <p:nvPr/>
        </p:nvSpPr>
        <p:spPr>
          <a:xfrm>
            <a:off x="6903720" y="2615184"/>
            <a:ext cx="4663440" cy="512064"/>
          </a:xfrm>
          <a:prstGeom prst="roundRect">
            <a:avLst>
              <a:gd name="adj" fmla="val 17857"/>
            </a:avLst>
          </a:prstGeom>
          <a:solidFill>
            <a:srgbClr val="FFFFFF"/>
          </a:solidFill>
          <a:ln w="12700">
            <a:solidFill>
              <a:srgbClr val="CFD5D9"/>
            </a:solidFill>
            <a:prstDash val="solid"/>
          </a:ln>
        </p:spPr>
      </p:sp>
      <p:sp>
        <p:nvSpPr>
          <p:cNvPr id="8" name="Text 6"/>
          <p:cNvSpPr txBox="1"/>
          <p:nvPr/>
        </p:nvSpPr>
        <p:spPr>
          <a:xfrm>
            <a:off x="7178040" y="2615184"/>
            <a:ext cx="1600200" cy="512064"/>
          </a:xfrm>
          <a:prstGeom prst="rect">
            <a:avLst/>
          </a:prstGeom>
          <a:noFill/>
          <a:ln/>
        </p:spPr>
        <p:txBody>
          <a:bodyPr wrap="square" lIns="0" tIns="0" rIns="0" bIns="0" rtlCol="0" anchor="ctr"/>
          <a:lstStyle/>
          <a:p>
            <a:pPr indent="0" marL="0">
              <a:buNone/>
            </a:pPr>
            <a:r>
              <a:rPr lang="en-US" sz="1100" b="1" dirty="0">
                <a:solidFill>
                  <a:srgbClr val="177E89"/>
                </a:solidFill>
                <a:latin typeface="Consolas" pitchFamily="34" charset="0"/>
                <a:ea typeface="Consolas" pitchFamily="34" charset="-122"/>
                <a:cs typeface="Consolas" pitchFamily="34" charset="-120"/>
              </a:rPr>
              <a:t>fieldset + legend</a:t>
            </a:r>
            <a:endParaRPr lang="en-US" sz="1100" dirty="0"/>
          </a:p>
        </p:txBody>
      </p:sp>
      <p:sp>
        <p:nvSpPr>
          <p:cNvPr id="9" name="Text 7"/>
          <p:cNvSpPr txBox="1"/>
          <p:nvPr/>
        </p:nvSpPr>
        <p:spPr>
          <a:xfrm>
            <a:off x="8778240" y="2615184"/>
            <a:ext cx="2514600" cy="512064"/>
          </a:xfrm>
          <a:prstGeom prst="rect">
            <a:avLst/>
          </a:prstGeom>
          <a:noFill/>
          <a:ln/>
        </p:spPr>
        <p:txBody>
          <a:bodyPr wrap="square" lIns="0" tIns="0" rIns="0" bIns="0" rtlCol="0" anchor="ctr"/>
          <a:lstStyle/>
          <a:p>
            <a:pPr indent="0" marL="0">
              <a:buNone/>
            </a:pPr>
            <a:r>
              <a:rPr lang="en-US" sz="1050" dirty="0">
                <a:solidFill>
                  <a:srgbClr val="33393D"/>
                </a:solidFill>
                <a:latin typeface="Calibri" pitchFamily="34" charset="0"/>
                <a:ea typeface="Calibri" pitchFamily="34" charset="-122"/>
                <a:cs typeface="Calibri" pitchFamily="34" charset="-120"/>
              </a:rPr>
              <a:t>Agrupan campos relacionados y les ponen un título.</a:t>
            </a:r>
            <a:endParaRPr lang="en-US" sz="1050" dirty="0"/>
          </a:p>
        </p:txBody>
      </p:sp>
      <p:sp>
        <p:nvSpPr>
          <p:cNvPr id="10" name="Shape 8"/>
          <p:cNvSpPr/>
          <p:nvPr/>
        </p:nvSpPr>
        <p:spPr>
          <a:xfrm>
            <a:off x="6903720" y="3221431"/>
            <a:ext cx="4663440" cy="512064"/>
          </a:xfrm>
          <a:prstGeom prst="roundRect">
            <a:avLst>
              <a:gd name="adj" fmla="val 17857"/>
            </a:avLst>
          </a:prstGeom>
          <a:solidFill>
            <a:srgbClr val="FFFFFF"/>
          </a:solidFill>
          <a:ln w="12700">
            <a:solidFill>
              <a:srgbClr val="CFD5D9"/>
            </a:solidFill>
            <a:prstDash val="solid"/>
          </a:ln>
        </p:spPr>
      </p:sp>
      <p:sp>
        <p:nvSpPr>
          <p:cNvPr id="11" name="Text 9"/>
          <p:cNvSpPr txBox="1"/>
          <p:nvPr/>
        </p:nvSpPr>
        <p:spPr>
          <a:xfrm>
            <a:off x="7178040" y="3221431"/>
            <a:ext cx="1600200" cy="512064"/>
          </a:xfrm>
          <a:prstGeom prst="rect">
            <a:avLst/>
          </a:prstGeom>
          <a:noFill/>
          <a:ln/>
        </p:spPr>
        <p:txBody>
          <a:bodyPr wrap="square" lIns="0" tIns="0" rIns="0" bIns="0" rtlCol="0" anchor="ctr"/>
          <a:lstStyle/>
          <a:p>
            <a:pPr indent="0" marL="0">
              <a:buNone/>
            </a:pPr>
            <a:r>
              <a:rPr lang="en-US" sz="1100" b="1" dirty="0">
                <a:solidFill>
                  <a:srgbClr val="177E89"/>
                </a:solidFill>
                <a:latin typeface="Consolas" pitchFamily="34" charset="0"/>
                <a:ea typeface="Consolas" pitchFamily="34" charset="-122"/>
                <a:cs typeface="Consolas" pitchFamily="34" charset="-120"/>
              </a:rPr>
              <a:t>select + option</a:t>
            </a:r>
            <a:endParaRPr lang="en-US" sz="1100" dirty="0"/>
          </a:p>
        </p:txBody>
      </p:sp>
      <p:sp>
        <p:nvSpPr>
          <p:cNvPr id="12" name="Text 10"/>
          <p:cNvSpPr txBox="1"/>
          <p:nvPr/>
        </p:nvSpPr>
        <p:spPr>
          <a:xfrm>
            <a:off x="8778240" y="3221431"/>
            <a:ext cx="2514600" cy="512064"/>
          </a:xfrm>
          <a:prstGeom prst="rect">
            <a:avLst/>
          </a:prstGeom>
          <a:noFill/>
          <a:ln/>
        </p:spPr>
        <p:txBody>
          <a:bodyPr wrap="square" lIns="0" tIns="0" rIns="0" bIns="0" rtlCol="0" anchor="ctr"/>
          <a:lstStyle/>
          <a:p>
            <a:pPr indent="0" marL="0">
              <a:buNone/>
            </a:pPr>
            <a:r>
              <a:rPr lang="en-US" sz="1050" dirty="0">
                <a:solidFill>
                  <a:srgbClr val="33393D"/>
                </a:solidFill>
                <a:latin typeface="Calibri" pitchFamily="34" charset="0"/>
                <a:ea typeface="Calibri" pitchFamily="34" charset="-122"/>
                <a:cs typeface="Calibri" pitchFamily="34" charset="-120"/>
              </a:rPr>
              <a:t>Lista desplegable. La primera opción vacía obliga a elegir.</a:t>
            </a:r>
            <a:endParaRPr lang="en-US" sz="1050" dirty="0"/>
          </a:p>
        </p:txBody>
      </p:sp>
      <p:sp>
        <p:nvSpPr>
          <p:cNvPr id="13" name="Shape 11"/>
          <p:cNvSpPr/>
          <p:nvPr/>
        </p:nvSpPr>
        <p:spPr>
          <a:xfrm>
            <a:off x="6903720" y="3827678"/>
            <a:ext cx="4663440" cy="512064"/>
          </a:xfrm>
          <a:prstGeom prst="roundRect">
            <a:avLst>
              <a:gd name="adj" fmla="val 17857"/>
            </a:avLst>
          </a:prstGeom>
          <a:solidFill>
            <a:srgbClr val="FFFFFF"/>
          </a:solidFill>
          <a:ln w="12700">
            <a:solidFill>
              <a:srgbClr val="CFD5D9"/>
            </a:solidFill>
            <a:prstDash val="solid"/>
          </a:ln>
        </p:spPr>
      </p:sp>
      <p:sp>
        <p:nvSpPr>
          <p:cNvPr id="14" name="Text 12"/>
          <p:cNvSpPr txBox="1"/>
          <p:nvPr/>
        </p:nvSpPr>
        <p:spPr>
          <a:xfrm>
            <a:off x="7178040" y="3827678"/>
            <a:ext cx="1600200" cy="512064"/>
          </a:xfrm>
          <a:prstGeom prst="rect">
            <a:avLst/>
          </a:prstGeom>
          <a:noFill/>
          <a:ln/>
        </p:spPr>
        <p:txBody>
          <a:bodyPr wrap="square" lIns="0" tIns="0" rIns="0" bIns="0" rtlCol="0" anchor="ctr"/>
          <a:lstStyle/>
          <a:p>
            <a:pPr indent="0" marL="0">
              <a:buNone/>
            </a:pPr>
            <a:r>
              <a:rPr lang="en-US" sz="1100" b="1" dirty="0">
                <a:solidFill>
                  <a:srgbClr val="177E89"/>
                </a:solidFill>
                <a:latin typeface="Consolas" pitchFamily="34" charset="0"/>
                <a:ea typeface="Consolas" pitchFamily="34" charset="-122"/>
                <a:cs typeface="Consolas" pitchFamily="34" charset="-120"/>
              </a:rPr>
              <a:t>textarea</a:t>
            </a:r>
            <a:endParaRPr lang="en-US" sz="1100" dirty="0"/>
          </a:p>
        </p:txBody>
      </p:sp>
      <p:sp>
        <p:nvSpPr>
          <p:cNvPr id="15" name="Text 13"/>
          <p:cNvSpPr txBox="1"/>
          <p:nvPr/>
        </p:nvSpPr>
        <p:spPr>
          <a:xfrm>
            <a:off x="8778240" y="3827678"/>
            <a:ext cx="2514600" cy="512064"/>
          </a:xfrm>
          <a:prstGeom prst="rect">
            <a:avLst/>
          </a:prstGeom>
          <a:noFill/>
          <a:ln/>
        </p:spPr>
        <p:txBody>
          <a:bodyPr wrap="square" lIns="0" tIns="0" rIns="0" bIns="0" rtlCol="0" anchor="ctr"/>
          <a:lstStyle/>
          <a:p>
            <a:pPr indent="0" marL="0">
              <a:buNone/>
            </a:pPr>
            <a:r>
              <a:rPr lang="en-US" sz="1050" dirty="0">
                <a:solidFill>
                  <a:srgbClr val="33393D"/>
                </a:solidFill>
                <a:latin typeface="Calibri" pitchFamily="34" charset="0"/>
                <a:ea typeface="Calibri" pitchFamily="34" charset="-122"/>
                <a:cs typeface="Calibri" pitchFamily="34" charset="-120"/>
              </a:rPr>
              <a:t>Texto de varias líneas. Lleva etiqueta de cierre.</a:t>
            </a:r>
            <a:endParaRPr lang="en-US" sz="1050" dirty="0"/>
          </a:p>
        </p:txBody>
      </p:sp>
      <p:sp>
        <p:nvSpPr>
          <p:cNvPr id="16" name="Shape 14"/>
          <p:cNvSpPr/>
          <p:nvPr/>
        </p:nvSpPr>
        <p:spPr>
          <a:xfrm>
            <a:off x="6903720" y="4433926"/>
            <a:ext cx="4663440" cy="512064"/>
          </a:xfrm>
          <a:prstGeom prst="roundRect">
            <a:avLst>
              <a:gd name="adj" fmla="val 17857"/>
            </a:avLst>
          </a:prstGeom>
          <a:solidFill>
            <a:srgbClr val="FFFFFF"/>
          </a:solidFill>
          <a:ln w="12700">
            <a:solidFill>
              <a:srgbClr val="CFD5D9"/>
            </a:solidFill>
            <a:prstDash val="solid"/>
          </a:ln>
        </p:spPr>
      </p:sp>
      <p:sp>
        <p:nvSpPr>
          <p:cNvPr id="17" name="Text 15"/>
          <p:cNvSpPr txBox="1"/>
          <p:nvPr/>
        </p:nvSpPr>
        <p:spPr>
          <a:xfrm>
            <a:off x="7178040" y="4433926"/>
            <a:ext cx="1600200" cy="512064"/>
          </a:xfrm>
          <a:prstGeom prst="rect">
            <a:avLst/>
          </a:prstGeom>
          <a:noFill/>
          <a:ln/>
        </p:spPr>
        <p:txBody>
          <a:bodyPr wrap="square" lIns="0" tIns="0" rIns="0" bIns="0" rtlCol="0" anchor="ctr"/>
          <a:lstStyle/>
          <a:p>
            <a:pPr indent="0" marL="0">
              <a:buNone/>
            </a:pPr>
            <a:r>
              <a:rPr lang="en-US" sz="1100" b="1" dirty="0">
                <a:solidFill>
                  <a:srgbClr val="177E89"/>
                </a:solidFill>
                <a:latin typeface="Consolas" pitchFamily="34" charset="0"/>
                <a:ea typeface="Consolas" pitchFamily="34" charset="-122"/>
                <a:cs typeface="Consolas" pitchFamily="34" charset="-120"/>
              </a:rPr>
              <a:t>button</a:t>
            </a:r>
            <a:endParaRPr lang="en-US" sz="1100" dirty="0"/>
          </a:p>
        </p:txBody>
      </p:sp>
      <p:sp>
        <p:nvSpPr>
          <p:cNvPr id="18" name="Text 16"/>
          <p:cNvSpPr txBox="1"/>
          <p:nvPr/>
        </p:nvSpPr>
        <p:spPr>
          <a:xfrm>
            <a:off x="8778240" y="4433926"/>
            <a:ext cx="2514600" cy="512064"/>
          </a:xfrm>
          <a:prstGeom prst="rect">
            <a:avLst/>
          </a:prstGeom>
          <a:noFill/>
          <a:ln/>
        </p:spPr>
        <p:txBody>
          <a:bodyPr wrap="square" lIns="0" tIns="0" rIns="0" bIns="0" rtlCol="0" anchor="ctr"/>
          <a:lstStyle/>
          <a:p>
            <a:pPr indent="0" marL="0">
              <a:buNone/>
            </a:pPr>
            <a:r>
              <a:rPr lang="en-US" sz="1050" dirty="0">
                <a:solidFill>
                  <a:srgbClr val="33393D"/>
                </a:solidFill>
                <a:latin typeface="Calibri" pitchFamily="34" charset="0"/>
                <a:ea typeface="Calibri" pitchFamily="34" charset="-122"/>
                <a:cs typeface="Calibri" pitchFamily="34" charset="-120"/>
              </a:rPr>
              <a:t>submit envía, reset limpia y button no hace nada por sí solo.</a:t>
            </a:r>
            <a:endParaRPr lang="en-US" sz="1050" dirty="0"/>
          </a:p>
        </p:txBody>
      </p:sp>
      <p:sp>
        <p:nvSpPr>
          <p:cNvPr id="19" name="Shape 17"/>
          <p:cNvSpPr/>
          <p:nvPr/>
        </p:nvSpPr>
        <p:spPr>
          <a:xfrm>
            <a:off x="640080" y="5175504"/>
            <a:ext cx="10927080" cy="713232"/>
          </a:xfrm>
          <a:prstGeom prst="roundRect">
            <a:avLst>
              <a:gd name="adj" fmla="val 12821"/>
            </a:avLst>
          </a:prstGeom>
          <a:solidFill>
            <a:srgbClr val="F3F5F6"/>
          </a:solidFill>
          <a:ln w="12700">
            <a:solidFill>
              <a:srgbClr val="CFD5D9"/>
            </a:solidFill>
            <a:prstDash val="solid"/>
          </a:ln>
        </p:spPr>
      </p:sp>
      <p:sp>
        <p:nvSpPr>
          <p:cNvPr id="20" name="Text 18"/>
          <p:cNvSpPr txBox="1"/>
          <p:nvPr/>
        </p:nvSpPr>
        <p:spPr>
          <a:xfrm>
            <a:off x="950976" y="5175504"/>
            <a:ext cx="10305288" cy="713232"/>
          </a:xfrm>
          <a:prstGeom prst="rect">
            <a:avLst/>
          </a:prstGeom>
          <a:noFill/>
          <a:ln/>
        </p:spPr>
        <p:txBody>
          <a:bodyPr wrap="square" lIns="0" tIns="0" rIns="0" bIns="0" rtlCol="0" anchor="ctr"/>
          <a:lstStyle/>
          <a:p>
            <a:pPr indent="0" marL="0">
              <a:lnSpc>
                <a:spcPct val="120000"/>
              </a:lnSpc>
              <a:buNone/>
            </a:pPr>
            <a:r>
              <a:rPr lang="en-US" sz="1200" b="1" dirty="0">
                <a:solidFill>
                  <a:srgbClr val="177E89"/>
                </a:solidFill>
                <a:latin typeface="Calibri" pitchFamily="34" charset="0"/>
                <a:ea typeface="Calibri" pitchFamily="34" charset="-122"/>
                <a:cs typeface="Calibri" pitchFamily="34" charset="-120"/>
              </a:rPr>
              <a:t>Guarda este dato:  </a:t>
            </a:r>
            <a:pPr indent="0" marL="0">
              <a:lnSpc>
                <a:spcPct val="120000"/>
              </a:lnSpc>
              <a:buNone/>
            </a:pPr>
            <a:r>
              <a:rPr lang="en-US" sz="1200" dirty="0">
                <a:solidFill>
                  <a:srgbClr val="33393D"/>
                </a:solidFill>
                <a:latin typeface="Calibri" pitchFamily="34" charset="0"/>
                <a:ea typeface="Calibri" pitchFamily="34" charset="-122"/>
                <a:cs typeface="Calibri" pitchFamily="34" charset="-120"/>
              </a:rPr>
              <a:t>los botones con type="button" son los que usaremos después del descanso para controlar el video.</a:t>
            </a:r>
            <a:endParaRPr lang="en-US" sz="1200" dirty="0"/>
          </a:p>
        </p:txBody>
      </p:sp>
      <p:sp>
        <p:nvSpPr>
          <p:cNvPr id="21" name="Text 19"/>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13 / 48</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indent="0" marL="0">
              <a:buNone/>
            </a:pPr>
            <a:r>
              <a:rPr lang="en-US" sz="1050" b="1" spc="300" kern="0" dirty="0">
                <a:solidFill>
                  <a:srgbClr val="177E89"/>
                </a:solidFill>
                <a:latin typeface="Calibri" pitchFamily="34" charset="0"/>
                <a:ea typeface="Calibri" pitchFamily="34" charset="-122"/>
                <a:cs typeface="Calibri" pitchFamily="34" charset="-120"/>
              </a:rPr>
              <a:t>01 · REPASO</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Construimos juntos: el formulario de contacto</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indent="0" marL="0">
              <a:buNone/>
            </a:pPr>
            <a:r>
              <a:rPr lang="en-US" sz="1250" dirty="0">
                <a:solidFill>
                  <a:srgbClr val="5F676C"/>
                </a:solidFill>
                <a:latin typeface="Calibri" pitchFamily="34" charset="0"/>
                <a:ea typeface="Calibri" pitchFamily="34" charset="-122"/>
                <a:cs typeface="Calibri" pitchFamily="34" charset="-120"/>
              </a:rPr>
              <a:t>En contactame.html, debajo de la lista de canales. Escríbelo conmigo, línea por línea.</a:t>
            </a:r>
            <a:endParaRPr lang="en-US" sz="1250" dirty="0"/>
          </a:p>
        </p:txBody>
      </p:sp>
      <p:sp>
        <p:nvSpPr>
          <p:cNvPr id="6" name="Shape 3"/>
          <p:cNvSpPr/>
          <p:nvPr/>
        </p:nvSpPr>
        <p:spPr>
          <a:xfrm>
            <a:off x="640080" y="2615184"/>
            <a:ext cx="6400800" cy="3703320"/>
          </a:xfrm>
          <a:prstGeom prst="roundRect">
            <a:avLst>
              <a:gd name="adj" fmla="val 2469"/>
            </a:avLst>
          </a:prstGeom>
          <a:solidFill>
            <a:srgbClr val="2B2B2B"/>
          </a:solidFill>
          <a:ln w="12700">
            <a:solidFill>
              <a:srgbClr val="2B2B2B"/>
            </a:solidFill>
            <a:prstDash val="solid"/>
          </a:ln>
        </p:spPr>
      </p:sp>
      <p:sp>
        <p:nvSpPr>
          <p:cNvPr id="7" name="Text 4"/>
          <p:cNvSpPr txBox="1"/>
          <p:nvPr/>
        </p:nvSpPr>
        <p:spPr>
          <a:xfrm>
            <a:off x="868680" y="2779776"/>
            <a:ext cx="5943600" cy="3374136"/>
          </a:xfrm>
          <a:prstGeom prst="rect">
            <a:avLst/>
          </a:prstGeom>
          <a:noFill/>
          <a:ln/>
        </p:spPr>
        <p:txBody>
          <a:bodyPr wrap="square" lIns="0" tIns="0" rIns="0" bIns="0" rtlCol="0" anchor="t"/>
          <a:lstStyle/>
          <a:p>
            <a:pPr indent="0" marL="0">
              <a:lnSpc>
                <a:spcPct val="125000"/>
              </a:lnSpc>
              <a:buNone/>
            </a:pPr>
            <a:r>
              <a:rPr lang="en-US" sz="1000" dirty="0">
                <a:solidFill>
                  <a:srgbClr val="E5E7EB"/>
                </a:solidFill>
                <a:latin typeface="Consolas" pitchFamily="34" charset="0"/>
                <a:ea typeface="Consolas" pitchFamily="34" charset="-122"/>
                <a:cs typeface="Consolas" pitchFamily="34" charset="-120"/>
              </a:rPr>
              <a:t>&lt;form action="contactame.html" method="get"&gt;</a:t>
            </a:r>
            <a:endParaRPr lang="en-US" sz="1000" dirty="0"/>
          </a:p>
          <a:p>
            <a:pPr indent="0" marL="0">
              <a:lnSpc>
                <a:spcPct val="125000"/>
              </a:lnSpc>
              <a:buNone/>
            </a:pPr>
            <a:r>
              <a:rPr lang="en-US" sz="1000" dirty="0">
                <a:solidFill>
                  <a:srgbClr val="E5E7EB"/>
                </a:solidFill>
                <a:latin typeface="Consolas" pitchFamily="34" charset="0"/>
                <a:ea typeface="Consolas" pitchFamily="34" charset="-122"/>
                <a:cs typeface="Consolas" pitchFamily="34" charset="-120"/>
              </a:rPr>
              <a:t>  &lt;fieldset&gt;</a:t>
            </a:r>
            <a:endParaRPr lang="en-US" sz="1000" dirty="0"/>
          </a:p>
          <a:p>
            <a:pPr indent="0" marL="0">
              <a:lnSpc>
                <a:spcPct val="125000"/>
              </a:lnSpc>
              <a:buNone/>
            </a:pPr>
            <a:r>
              <a:rPr lang="en-US" sz="1000" dirty="0">
                <a:solidFill>
                  <a:srgbClr val="E5E7EB"/>
                </a:solidFill>
                <a:latin typeface="Consolas" pitchFamily="34" charset="0"/>
                <a:ea typeface="Consolas" pitchFamily="34" charset="-122"/>
                <a:cs typeface="Consolas" pitchFamily="34" charset="-120"/>
              </a:rPr>
              <a:t>    &lt;legend&gt;Tus datos&lt;/legend&gt;</a:t>
            </a:r>
            <a:endParaRPr lang="en-US" sz="1000" dirty="0"/>
          </a:p>
          <a:p>
            <a:pPr indent="0" marL="0">
              <a:lnSpc>
                <a:spcPct val="125000"/>
              </a:lnSpc>
              <a:buNone/>
            </a:pPr>
            <a:r>
              <a:rPr lang="en-US" sz="1000" dirty="0">
                <a:solidFill>
                  <a:srgbClr val="E5E7EB"/>
                </a:solidFill>
                <a:latin typeface="Consolas" pitchFamily="34" charset="0"/>
                <a:ea typeface="Consolas" pitchFamily="34" charset="-122"/>
                <a:cs typeface="Consolas" pitchFamily="34" charset="-120"/>
              </a:rPr>
              <a:t>    &lt;p&gt;</a:t>
            </a:r>
            <a:endParaRPr lang="en-US" sz="1000" dirty="0"/>
          </a:p>
          <a:p>
            <a:pPr indent="0" marL="0">
              <a:lnSpc>
                <a:spcPct val="125000"/>
              </a:lnSpc>
              <a:buNone/>
            </a:pPr>
            <a:r>
              <a:rPr lang="en-US" sz="1000" dirty="0">
                <a:solidFill>
                  <a:srgbClr val="E5E7EB"/>
                </a:solidFill>
                <a:latin typeface="Consolas" pitchFamily="34" charset="0"/>
                <a:ea typeface="Consolas" pitchFamily="34" charset="-122"/>
                <a:cs typeface="Consolas" pitchFamily="34" charset="-120"/>
              </a:rPr>
              <a:t>      &lt;label for="nombre"&gt;Nombre completo&lt;/label&gt;</a:t>
            </a:r>
            <a:endParaRPr lang="en-US" sz="1000" dirty="0"/>
          </a:p>
          <a:p>
            <a:pPr indent="0" marL="0">
              <a:lnSpc>
                <a:spcPct val="125000"/>
              </a:lnSpc>
              <a:buNone/>
            </a:pPr>
            <a:r>
              <a:rPr lang="en-US" sz="1000" dirty="0">
                <a:solidFill>
                  <a:srgbClr val="E5E7EB"/>
                </a:solidFill>
                <a:latin typeface="Consolas" pitchFamily="34" charset="0"/>
                <a:ea typeface="Consolas" pitchFamily="34" charset="-122"/>
                <a:cs typeface="Consolas" pitchFamily="34" charset="-120"/>
              </a:rPr>
              <a:t>      &lt;input type="text" id="nombre" name="nombre" required /&gt;</a:t>
            </a:r>
            <a:endParaRPr lang="en-US" sz="1000" dirty="0"/>
          </a:p>
          <a:p>
            <a:pPr indent="0" marL="0">
              <a:lnSpc>
                <a:spcPct val="125000"/>
              </a:lnSpc>
              <a:buNone/>
            </a:pPr>
            <a:r>
              <a:rPr lang="en-US" sz="1000" dirty="0">
                <a:solidFill>
                  <a:srgbClr val="E5E7EB"/>
                </a:solidFill>
                <a:latin typeface="Consolas" pitchFamily="34" charset="0"/>
                <a:ea typeface="Consolas" pitchFamily="34" charset="-122"/>
                <a:cs typeface="Consolas" pitchFamily="34" charset="-120"/>
              </a:rPr>
              <a:t>    &lt;/p&gt;</a:t>
            </a:r>
            <a:endParaRPr lang="en-US" sz="1000" dirty="0"/>
          </a:p>
          <a:p>
            <a:pPr indent="0" marL="0">
              <a:lnSpc>
                <a:spcPct val="125000"/>
              </a:lnSpc>
              <a:buNone/>
            </a:pPr>
            <a:r>
              <a:rPr lang="en-US" sz="1000" dirty="0">
                <a:solidFill>
                  <a:srgbClr val="E5E7EB"/>
                </a:solidFill>
                <a:latin typeface="Consolas" pitchFamily="34" charset="0"/>
                <a:ea typeface="Consolas" pitchFamily="34" charset="-122"/>
                <a:cs typeface="Consolas" pitchFamily="34" charset="-120"/>
              </a:rPr>
              <a:t>    </a:t>
            </a:r>
            <a:pPr indent="0" marL="0">
              <a:lnSpc>
                <a:spcPct val="125000"/>
              </a:lnSpc>
              <a:buNone/>
            </a:pPr>
            <a:r>
              <a:rPr lang="en-US" sz="1000" dirty="0">
                <a:solidFill>
                  <a:srgbClr val="9AA39E"/>
                </a:solidFill>
                <a:latin typeface="Consolas" pitchFamily="34" charset="0"/>
                <a:ea typeface="Consolas" pitchFamily="34" charset="-122"/>
                <a:cs typeface="Consolas" pitchFamily="34" charset="-120"/>
              </a:rPr>
              <a:t>&lt;!-- correo y teléfono, igual --&gt;</a:t>
            </a:r>
            <a:endParaRPr lang="en-US" sz="1000" dirty="0"/>
          </a:p>
          <a:p>
            <a:pPr indent="0" marL="0">
              <a:lnSpc>
                <a:spcPct val="125000"/>
              </a:lnSpc>
              <a:buNone/>
            </a:pPr>
            <a:r>
              <a:rPr lang="en-US" sz="1000" dirty="0">
                <a:solidFill>
                  <a:srgbClr val="E5E7EB"/>
                </a:solidFill>
                <a:latin typeface="Consolas" pitchFamily="34" charset="0"/>
                <a:ea typeface="Consolas" pitchFamily="34" charset="-122"/>
                <a:cs typeface="Consolas" pitchFamily="34" charset="-120"/>
              </a:rPr>
              <a:t>  &lt;/fieldset&gt;</a:t>
            </a:r>
            <a:endParaRPr lang="en-US" sz="1000" dirty="0"/>
          </a:p>
          <a:p>
            <a:pPr indent="0" marL="0">
              <a:lnSpc>
                <a:spcPct val="125000"/>
              </a:lnSpc>
              <a:buNone/>
            </a:pPr>
            <a:r>
              <a:rPr lang="en-US" sz="1000" dirty="0">
                <a:solidFill>
                  <a:srgbClr val="E5E7EB"/>
                </a:solidFill>
                <a:latin typeface="Consolas" pitchFamily="34" charset="0"/>
                <a:ea typeface="Consolas" pitchFamily="34" charset="-122"/>
                <a:cs typeface="Consolas" pitchFamily="34" charset="-120"/>
              </a:rPr>
              <a:t>  &lt;fieldset&gt;</a:t>
            </a:r>
            <a:endParaRPr lang="en-US" sz="1000" dirty="0"/>
          </a:p>
          <a:p>
            <a:pPr indent="0" marL="0">
              <a:lnSpc>
                <a:spcPct val="125000"/>
              </a:lnSpc>
              <a:buNone/>
            </a:pPr>
            <a:r>
              <a:rPr lang="en-US" sz="1000" dirty="0">
                <a:solidFill>
                  <a:srgbClr val="E5E7EB"/>
                </a:solidFill>
                <a:latin typeface="Consolas" pitchFamily="34" charset="0"/>
                <a:ea typeface="Consolas" pitchFamily="34" charset="-122"/>
                <a:cs typeface="Consolas" pitchFamily="34" charset="-120"/>
              </a:rPr>
              <a:t>    &lt;legend&gt;Tu mensaje&lt;/legend&gt;</a:t>
            </a:r>
            <a:endParaRPr lang="en-US" sz="1000" dirty="0"/>
          </a:p>
          <a:p>
            <a:pPr indent="0" marL="0">
              <a:lnSpc>
                <a:spcPct val="125000"/>
              </a:lnSpc>
              <a:buNone/>
            </a:pPr>
            <a:r>
              <a:rPr lang="en-US" sz="1000" dirty="0">
                <a:solidFill>
                  <a:srgbClr val="E5E7EB"/>
                </a:solidFill>
                <a:latin typeface="Consolas" pitchFamily="34" charset="0"/>
                <a:ea typeface="Consolas" pitchFamily="34" charset="-122"/>
                <a:cs typeface="Consolas" pitchFamily="34" charset="-120"/>
              </a:rPr>
              <a:t>    </a:t>
            </a:r>
            <a:pPr indent="0" marL="0">
              <a:lnSpc>
                <a:spcPct val="125000"/>
              </a:lnSpc>
              <a:buNone/>
            </a:pPr>
            <a:r>
              <a:rPr lang="en-US" sz="1000" dirty="0">
                <a:solidFill>
                  <a:srgbClr val="9AA39E"/>
                </a:solidFill>
                <a:latin typeface="Consolas" pitchFamily="34" charset="0"/>
                <a:ea typeface="Consolas" pitchFamily="34" charset="-122"/>
                <a:cs typeface="Consolas" pitchFamily="34" charset="-120"/>
              </a:rPr>
              <a:t>&lt;!-- select, textarea y checkbox --&gt;</a:t>
            </a:r>
            <a:endParaRPr lang="en-US" sz="1000" dirty="0"/>
          </a:p>
          <a:p>
            <a:pPr indent="0" marL="0">
              <a:lnSpc>
                <a:spcPct val="125000"/>
              </a:lnSpc>
              <a:buNone/>
            </a:pPr>
            <a:r>
              <a:rPr lang="en-US" sz="1000" dirty="0">
                <a:solidFill>
                  <a:srgbClr val="E5E7EB"/>
                </a:solidFill>
                <a:latin typeface="Consolas" pitchFamily="34" charset="0"/>
                <a:ea typeface="Consolas" pitchFamily="34" charset="-122"/>
                <a:cs typeface="Consolas" pitchFamily="34" charset="-120"/>
              </a:rPr>
              <a:t>  &lt;/fieldset&gt;</a:t>
            </a:r>
            <a:endParaRPr lang="en-US" sz="1000" dirty="0"/>
          </a:p>
          <a:p>
            <a:pPr indent="0" marL="0">
              <a:lnSpc>
                <a:spcPct val="125000"/>
              </a:lnSpc>
              <a:buNone/>
            </a:pPr>
            <a:r>
              <a:rPr lang="en-US" sz="1000" dirty="0">
                <a:solidFill>
                  <a:srgbClr val="E5E7EB"/>
                </a:solidFill>
                <a:latin typeface="Consolas" pitchFamily="34" charset="0"/>
                <a:ea typeface="Consolas" pitchFamily="34" charset="-122"/>
                <a:cs typeface="Consolas" pitchFamily="34" charset="-120"/>
              </a:rPr>
              <a:t>  &lt;p&gt;</a:t>
            </a:r>
            <a:endParaRPr lang="en-US" sz="1000" dirty="0"/>
          </a:p>
          <a:p>
            <a:pPr indent="0" marL="0">
              <a:lnSpc>
                <a:spcPct val="125000"/>
              </a:lnSpc>
              <a:buNone/>
            </a:pPr>
            <a:r>
              <a:rPr lang="en-US" sz="1000" dirty="0">
                <a:solidFill>
                  <a:srgbClr val="E5E7EB"/>
                </a:solidFill>
                <a:latin typeface="Consolas" pitchFamily="34" charset="0"/>
                <a:ea typeface="Consolas" pitchFamily="34" charset="-122"/>
                <a:cs typeface="Consolas" pitchFamily="34" charset="-120"/>
              </a:rPr>
              <a:t>    &lt;button type="submit"&gt;Enviar mensaje&lt;/button&gt;</a:t>
            </a:r>
            <a:endParaRPr lang="en-US" sz="1000" dirty="0"/>
          </a:p>
          <a:p>
            <a:pPr indent="0" marL="0">
              <a:lnSpc>
                <a:spcPct val="125000"/>
              </a:lnSpc>
              <a:buNone/>
            </a:pPr>
            <a:r>
              <a:rPr lang="en-US" sz="1000" dirty="0">
                <a:solidFill>
                  <a:srgbClr val="E5E7EB"/>
                </a:solidFill>
                <a:latin typeface="Consolas" pitchFamily="34" charset="0"/>
                <a:ea typeface="Consolas" pitchFamily="34" charset="-122"/>
                <a:cs typeface="Consolas" pitchFamily="34" charset="-120"/>
              </a:rPr>
              <a:t>    &lt;button type="reset"&gt;Limpiar&lt;/button&gt;</a:t>
            </a:r>
            <a:endParaRPr lang="en-US" sz="1000" dirty="0"/>
          </a:p>
          <a:p>
            <a:pPr indent="0" marL="0">
              <a:lnSpc>
                <a:spcPct val="125000"/>
              </a:lnSpc>
              <a:buNone/>
            </a:pPr>
            <a:r>
              <a:rPr lang="en-US" sz="1000" dirty="0">
                <a:solidFill>
                  <a:srgbClr val="E5E7EB"/>
                </a:solidFill>
                <a:latin typeface="Consolas" pitchFamily="34" charset="0"/>
                <a:ea typeface="Consolas" pitchFamily="34" charset="-122"/>
                <a:cs typeface="Consolas" pitchFamily="34" charset="-120"/>
              </a:rPr>
              <a:t>  &lt;/p&gt;</a:t>
            </a:r>
            <a:endParaRPr lang="en-US" sz="1000" dirty="0"/>
          </a:p>
          <a:p>
            <a:pPr indent="0" marL="0">
              <a:lnSpc>
                <a:spcPct val="125000"/>
              </a:lnSpc>
              <a:buNone/>
            </a:pPr>
            <a:r>
              <a:rPr lang="en-US" sz="1000" dirty="0">
                <a:solidFill>
                  <a:srgbClr val="E5E7EB"/>
                </a:solidFill>
                <a:latin typeface="Consolas" pitchFamily="34" charset="0"/>
                <a:ea typeface="Consolas" pitchFamily="34" charset="-122"/>
                <a:cs typeface="Consolas" pitchFamily="34" charset="-120"/>
              </a:rPr>
              <a:t>&lt;/form&gt;</a:t>
            </a:r>
            <a:endParaRPr lang="en-US" sz="1000" dirty="0"/>
          </a:p>
        </p:txBody>
      </p:sp>
      <p:sp>
        <p:nvSpPr>
          <p:cNvPr id="8" name="Shape 5"/>
          <p:cNvSpPr/>
          <p:nvPr/>
        </p:nvSpPr>
        <p:spPr>
          <a:xfrm>
            <a:off x="7223760" y="2615184"/>
            <a:ext cx="4343400" cy="557784"/>
          </a:xfrm>
          <a:prstGeom prst="roundRect">
            <a:avLst>
              <a:gd name="adj" fmla="val 16393"/>
            </a:avLst>
          </a:prstGeom>
          <a:solidFill>
            <a:srgbClr val="FFFFFF"/>
          </a:solidFill>
          <a:ln w="12700">
            <a:solidFill>
              <a:srgbClr val="CFD5D9"/>
            </a:solidFill>
            <a:prstDash val="solid"/>
          </a:ln>
        </p:spPr>
      </p:sp>
      <p:sp>
        <p:nvSpPr>
          <p:cNvPr id="9" name="Shape 6"/>
          <p:cNvSpPr/>
          <p:nvPr/>
        </p:nvSpPr>
        <p:spPr>
          <a:xfrm>
            <a:off x="7388352" y="2729484"/>
            <a:ext cx="329184" cy="329184"/>
          </a:xfrm>
          <a:prstGeom prst="ellipse">
            <a:avLst/>
          </a:prstGeom>
          <a:solidFill>
            <a:srgbClr val="177E89"/>
          </a:solidFill>
          <a:ln w="12700">
            <a:solidFill>
              <a:srgbClr val="177E89"/>
            </a:solidFill>
            <a:prstDash val="solid"/>
          </a:ln>
        </p:spPr>
      </p:sp>
      <p:sp>
        <p:nvSpPr>
          <p:cNvPr id="10" name="Text 7"/>
          <p:cNvSpPr txBox="1"/>
          <p:nvPr/>
        </p:nvSpPr>
        <p:spPr>
          <a:xfrm>
            <a:off x="7388352" y="2729484"/>
            <a:ext cx="329184"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1" name="Text 8"/>
          <p:cNvSpPr txBox="1"/>
          <p:nvPr/>
        </p:nvSpPr>
        <p:spPr>
          <a:xfrm>
            <a:off x="7882128" y="2615184"/>
            <a:ext cx="960120" cy="557784"/>
          </a:xfrm>
          <a:prstGeom prst="rect">
            <a:avLst/>
          </a:prstGeom>
          <a:noFill/>
          <a:ln/>
        </p:spPr>
        <p:txBody>
          <a:bodyPr wrap="square" lIns="0" tIns="0" rIns="0" bIns="0" rtlCol="0" anchor="ctr"/>
          <a:lstStyle/>
          <a:p>
            <a:pPr indent="0" marL="0">
              <a:buNone/>
            </a:pPr>
            <a:r>
              <a:rPr lang="en-US" sz="1250" b="1" dirty="0">
                <a:solidFill>
                  <a:srgbClr val="1F2326"/>
                </a:solidFill>
                <a:latin typeface="Calibri" pitchFamily="34" charset="0"/>
                <a:ea typeface="Calibri" pitchFamily="34" charset="-122"/>
                <a:cs typeface="Calibri" pitchFamily="34" charset="-120"/>
              </a:rPr>
              <a:t>Sección</a:t>
            </a:r>
            <a:endParaRPr lang="en-US" sz="1250" dirty="0"/>
          </a:p>
        </p:txBody>
      </p:sp>
      <p:sp>
        <p:nvSpPr>
          <p:cNvPr id="12" name="Text 9"/>
          <p:cNvSpPr txBox="1"/>
          <p:nvPr/>
        </p:nvSpPr>
        <p:spPr>
          <a:xfrm>
            <a:off x="8842248" y="2615184"/>
            <a:ext cx="2560320" cy="557784"/>
          </a:xfrm>
          <a:prstGeom prst="rect">
            <a:avLst/>
          </a:prstGeom>
          <a:noFill/>
          <a:ln/>
        </p:spPr>
        <p:txBody>
          <a:bodyPr wrap="square" lIns="0" tIns="0" rIns="0" bIns="0" rtlCol="0" anchor="ctr"/>
          <a:lstStyle/>
          <a:p>
            <a:pPr indent="0" marL="0">
              <a:buNone/>
            </a:pPr>
            <a:r>
              <a:rPr lang="en-US" sz="1050" dirty="0">
                <a:solidFill>
                  <a:srgbClr val="33393D"/>
                </a:solidFill>
                <a:latin typeface="Calibri" pitchFamily="34" charset="0"/>
                <a:ea typeface="Calibri" pitchFamily="34" charset="-122"/>
                <a:cs typeface="Calibri" pitchFamily="34" charset="-120"/>
              </a:rPr>
              <a:t>Un section con el h2 «Escríbeme».</a:t>
            </a:r>
            <a:endParaRPr lang="en-US" sz="1050" dirty="0"/>
          </a:p>
        </p:txBody>
      </p:sp>
      <p:sp>
        <p:nvSpPr>
          <p:cNvPr id="13" name="Shape 10"/>
          <p:cNvSpPr/>
          <p:nvPr/>
        </p:nvSpPr>
        <p:spPr>
          <a:xfrm>
            <a:off x="7223760" y="3244291"/>
            <a:ext cx="4343400" cy="557784"/>
          </a:xfrm>
          <a:prstGeom prst="roundRect">
            <a:avLst>
              <a:gd name="adj" fmla="val 16393"/>
            </a:avLst>
          </a:prstGeom>
          <a:solidFill>
            <a:srgbClr val="FFFFFF"/>
          </a:solidFill>
          <a:ln w="12700">
            <a:solidFill>
              <a:srgbClr val="CFD5D9"/>
            </a:solidFill>
            <a:prstDash val="solid"/>
          </a:ln>
        </p:spPr>
      </p:sp>
      <p:sp>
        <p:nvSpPr>
          <p:cNvPr id="14" name="Shape 11"/>
          <p:cNvSpPr/>
          <p:nvPr/>
        </p:nvSpPr>
        <p:spPr>
          <a:xfrm>
            <a:off x="7388352" y="3358591"/>
            <a:ext cx="329184" cy="329184"/>
          </a:xfrm>
          <a:prstGeom prst="ellipse">
            <a:avLst/>
          </a:prstGeom>
          <a:solidFill>
            <a:srgbClr val="177E89"/>
          </a:solidFill>
          <a:ln w="12700">
            <a:solidFill>
              <a:srgbClr val="177E89"/>
            </a:solidFill>
            <a:prstDash val="solid"/>
          </a:ln>
        </p:spPr>
      </p:sp>
      <p:sp>
        <p:nvSpPr>
          <p:cNvPr id="15" name="Text 12"/>
          <p:cNvSpPr txBox="1"/>
          <p:nvPr/>
        </p:nvSpPr>
        <p:spPr>
          <a:xfrm>
            <a:off x="7388352" y="3358591"/>
            <a:ext cx="329184"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6" name="Text 13"/>
          <p:cNvSpPr txBox="1"/>
          <p:nvPr/>
        </p:nvSpPr>
        <p:spPr>
          <a:xfrm>
            <a:off x="7882128" y="3244291"/>
            <a:ext cx="960120" cy="557784"/>
          </a:xfrm>
          <a:prstGeom prst="rect">
            <a:avLst/>
          </a:prstGeom>
          <a:noFill/>
          <a:ln/>
        </p:spPr>
        <p:txBody>
          <a:bodyPr wrap="square" lIns="0" tIns="0" rIns="0" bIns="0" rtlCol="0" anchor="ctr"/>
          <a:lstStyle/>
          <a:p>
            <a:pPr indent="0" marL="0">
              <a:buNone/>
            </a:pPr>
            <a:r>
              <a:rPr lang="en-US" sz="1250" b="1" dirty="0">
                <a:solidFill>
                  <a:srgbClr val="1F2326"/>
                </a:solidFill>
                <a:latin typeface="Calibri" pitchFamily="34" charset="0"/>
                <a:ea typeface="Calibri" pitchFamily="34" charset="-122"/>
                <a:cs typeface="Calibri" pitchFamily="34" charset="-120"/>
              </a:rPr>
              <a:t>form</a:t>
            </a:r>
            <a:endParaRPr lang="en-US" sz="1250" dirty="0"/>
          </a:p>
        </p:txBody>
      </p:sp>
      <p:sp>
        <p:nvSpPr>
          <p:cNvPr id="17" name="Text 14"/>
          <p:cNvSpPr txBox="1"/>
          <p:nvPr/>
        </p:nvSpPr>
        <p:spPr>
          <a:xfrm>
            <a:off x="8842248" y="3244291"/>
            <a:ext cx="2560320" cy="557784"/>
          </a:xfrm>
          <a:prstGeom prst="rect">
            <a:avLst/>
          </a:prstGeom>
          <a:noFill/>
          <a:ln/>
        </p:spPr>
        <p:txBody>
          <a:bodyPr wrap="square" lIns="0" tIns="0" rIns="0" bIns="0" rtlCol="0" anchor="ctr"/>
          <a:lstStyle/>
          <a:p>
            <a:pPr indent="0" marL="0">
              <a:buNone/>
            </a:pPr>
            <a:r>
              <a:rPr lang="en-US" sz="1050" dirty="0">
                <a:solidFill>
                  <a:srgbClr val="33393D"/>
                </a:solidFill>
                <a:latin typeface="Calibri" pitchFamily="34" charset="0"/>
                <a:ea typeface="Calibri" pitchFamily="34" charset="-122"/>
                <a:cs typeface="Calibri" pitchFamily="34" charset="-120"/>
              </a:rPr>
              <a:t>Con action y method="get".</a:t>
            </a:r>
            <a:endParaRPr lang="en-US" sz="1050" dirty="0"/>
          </a:p>
        </p:txBody>
      </p:sp>
      <p:sp>
        <p:nvSpPr>
          <p:cNvPr id="18" name="Shape 15"/>
          <p:cNvSpPr/>
          <p:nvPr/>
        </p:nvSpPr>
        <p:spPr>
          <a:xfrm>
            <a:off x="7223760" y="3873398"/>
            <a:ext cx="4343400" cy="557784"/>
          </a:xfrm>
          <a:prstGeom prst="roundRect">
            <a:avLst>
              <a:gd name="adj" fmla="val 16393"/>
            </a:avLst>
          </a:prstGeom>
          <a:solidFill>
            <a:srgbClr val="FFFFFF"/>
          </a:solidFill>
          <a:ln w="12700">
            <a:solidFill>
              <a:srgbClr val="CFD5D9"/>
            </a:solidFill>
            <a:prstDash val="solid"/>
          </a:ln>
        </p:spPr>
      </p:sp>
      <p:sp>
        <p:nvSpPr>
          <p:cNvPr id="19" name="Shape 16"/>
          <p:cNvSpPr/>
          <p:nvPr/>
        </p:nvSpPr>
        <p:spPr>
          <a:xfrm>
            <a:off x="7388352" y="3987698"/>
            <a:ext cx="329184" cy="329184"/>
          </a:xfrm>
          <a:prstGeom prst="ellipse">
            <a:avLst/>
          </a:prstGeom>
          <a:solidFill>
            <a:srgbClr val="177E89"/>
          </a:solidFill>
          <a:ln w="12700">
            <a:solidFill>
              <a:srgbClr val="177E89"/>
            </a:solidFill>
            <a:prstDash val="solid"/>
          </a:ln>
        </p:spPr>
      </p:sp>
      <p:sp>
        <p:nvSpPr>
          <p:cNvPr id="20" name="Text 17"/>
          <p:cNvSpPr txBox="1"/>
          <p:nvPr/>
        </p:nvSpPr>
        <p:spPr>
          <a:xfrm>
            <a:off x="7388352" y="3987698"/>
            <a:ext cx="329184"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21" name="Text 18"/>
          <p:cNvSpPr txBox="1"/>
          <p:nvPr/>
        </p:nvSpPr>
        <p:spPr>
          <a:xfrm>
            <a:off x="7882128" y="3873398"/>
            <a:ext cx="960120" cy="557784"/>
          </a:xfrm>
          <a:prstGeom prst="rect">
            <a:avLst/>
          </a:prstGeom>
          <a:noFill/>
          <a:ln/>
        </p:spPr>
        <p:txBody>
          <a:bodyPr wrap="square" lIns="0" tIns="0" rIns="0" bIns="0" rtlCol="0" anchor="ctr"/>
          <a:lstStyle/>
          <a:p>
            <a:pPr indent="0" marL="0">
              <a:buNone/>
            </a:pPr>
            <a:r>
              <a:rPr lang="en-US" sz="1250" b="1" dirty="0">
                <a:solidFill>
                  <a:srgbClr val="1F2326"/>
                </a:solidFill>
                <a:latin typeface="Calibri" pitchFamily="34" charset="0"/>
                <a:ea typeface="Calibri" pitchFamily="34" charset="-122"/>
                <a:cs typeface="Calibri" pitchFamily="34" charset="-120"/>
              </a:rPr>
              <a:t>Datos</a:t>
            </a:r>
            <a:endParaRPr lang="en-US" sz="1250" dirty="0"/>
          </a:p>
        </p:txBody>
      </p:sp>
      <p:sp>
        <p:nvSpPr>
          <p:cNvPr id="22" name="Text 19"/>
          <p:cNvSpPr txBox="1"/>
          <p:nvPr/>
        </p:nvSpPr>
        <p:spPr>
          <a:xfrm>
            <a:off x="8842248" y="3873398"/>
            <a:ext cx="2560320" cy="557784"/>
          </a:xfrm>
          <a:prstGeom prst="rect">
            <a:avLst/>
          </a:prstGeom>
          <a:noFill/>
          <a:ln/>
        </p:spPr>
        <p:txBody>
          <a:bodyPr wrap="square" lIns="0" tIns="0" rIns="0" bIns="0" rtlCol="0" anchor="ctr"/>
          <a:lstStyle/>
          <a:p>
            <a:pPr indent="0" marL="0">
              <a:buNone/>
            </a:pPr>
            <a:r>
              <a:rPr lang="en-US" sz="1050" dirty="0">
                <a:solidFill>
                  <a:srgbClr val="33393D"/>
                </a:solidFill>
                <a:latin typeface="Calibri" pitchFamily="34" charset="0"/>
                <a:ea typeface="Calibri" pitchFamily="34" charset="-122"/>
                <a:cs typeface="Calibri" pitchFamily="34" charset="-120"/>
              </a:rPr>
              <a:t>Nombre, correo y teléfono en un fieldset.</a:t>
            </a:r>
            <a:endParaRPr lang="en-US" sz="1050" dirty="0"/>
          </a:p>
        </p:txBody>
      </p:sp>
      <p:sp>
        <p:nvSpPr>
          <p:cNvPr id="23" name="Shape 20"/>
          <p:cNvSpPr/>
          <p:nvPr/>
        </p:nvSpPr>
        <p:spPr>
          <a:xfrm>
            <a:off x="7223760" y="4502506"/>
            <a:ext cx="4343400" cy="557784"/>
          </a:xfrm>
          <a:prstGeom prst="roundRect">
            <a:avLst>
              <a:gd name="adj" fmla="val 16393"/>
            </a:avLst>
          </a:prstGeom>
          <a:solidFill>
            <a:srgbClr val="FFFFFF"/>
          </a:solidFill>
          <a:ln w="12700">
            <a:solidFill>
              <a:srgbClr val="CFD5D9"/>
            </a:solidFill>
            <a:prstDash val="solid"/>
          </a:ln>
        </p:spPr>
      </p:sp>
      <p:sp>
        <p:nvSpPr>
          <p:cNvPr id="24" name="Shape 21"/>
          <p:cNvSpPr/>
          <p:nvPr/>
        </p:nvSpPr>
        <p:spPr>
          <a:xfrm>
            <a:off x="7388352" y="4616806"/>
            <a:ext cx="329184" cy="329184"/>
          </a:xfrm>
          <a:prstGeom prst="ellipse">
            <a:avLst/>
          </a:prstGeom>
          <a:solidFill>
            <a:srgbClr val="177E89"/>
          </a:solidFill>
          <a:ln w="12700">
            <a:solidFill>
              <a:srgbClr val="177E89"/>
            </a:solidFill>
            <a:prstDash val="solid"/>
          </a:ln>
        </p:spPr>
      </p:sp>
      <p:sp>
        <p:nvSpPr>
          <p:cNvPr id="25" name="Text 22"/>
          <p:cNvSpPr txBox="1"/>
          <p:nvPr/>
        </p:nvSpPr>
        <p:spPr>
          <a:xfrm>
            <a:off x="7388352" y="4616806"/>
            <a:ext cx="329184"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26" name="Text 23"/>
          <p:cNvSpPr txBox="1"/>
          <p:nvPr/>
        </p:nvSpPr>
        <p:spPr>
          <a:xfrm>
            <a:off x="7882128" y="4502506"/>
            <a:ext cx="960120" cy="557784"/>
          </a:xfrm>
          <a:prstGeom prst="rect">
            <a:avLst/>
          </a:prstGeom>
          <a:noFill/>
          <a:ln/>
        </p:spPr>
        <p:txBody>
          <a:bodyPr wrap="square" lIns="0" tIns="0" rIns="0" bIns="0" rtlCol="0" anchor="ctr"/>
          <a:lstStyle/>
          <a:p>
            <a:pPr indent="0" marL="0">
              <a:buNone/>
            </a:pPr>
            <a:r>
              <a:rPr lang="en-US" sz="1250" b="1" dirty="0">
                <a:solidFill>
                  <a:srgbClr val="1F2326"/>
                </a:solidFill>
                <a:latin typeface="Calibri" pitchFamily="34" charset="0"/>
                <a:ea typeface="Calibri" pitchFamily="34" charset="-122"/>
                <a:cs typeface="Calibri" pitchFamily="34" charset="-120"/>
              </a:rPr>
              <a:t>Mensaje</a:t>
            </a:r>
            <a:endParaRPr lang="en-US" sz="1250" dirty="0"/>
          </a:p>
        </p:txBody>
      </p:sp>
      <p:sp>
        <p:nvSpPr>
          <p:cNvPr id="27" name="Text 24"/>
          <p:cNvSpPr txBox="1"/>
          <p:nvPr/>
        </p:nvSpPr>
        <p:spPr>
          <a:xfrm>
            <a:off x="8842248" y="4502506"/>
            <a:ext cx="2560320" cy="557784"/>
          </a:xfrm>
          <a:prstGeom prst="rect">
            <a:avLst/>
          </a:prstGeom>
          <a:noFill/>
          <a:ln/>
        </p:spPr>
        <p:txBody>
          <a:bodyPr wrap="square" lIns="0" tIns="0" rIns="0" bIns="0" rtlCol="0" anchor="ctr"/>
          <a:lstStyle/>
          <a:p>
            <a:pPr indent="0" marL="0">
              <a:buNone/>
            </a:pPr>
            <a:r>
              <a:rPr lang="en-US" sz="1050" dirty="0">
                <a:solidFill>
                  <a:srgbClr val="33393D"/>
                </a:solidFill>
                <a:latin typeface="Calibri" pitchFamily="34" charset="0"/>
                <a:ea typeface="Calibri" pitchFamily="34" charset="-122"/>
                <a:cs typeface="Calibri" pitchFamily="34" charset="-120"/>
              </a:rPr>
              <a:t>select, textarea y la casilla de acepto.</a:t>
            </a:r>
            <a:endParaRPr lang="en-US" sz="1050" dirty="0"/>
          </a:p>
        </p:txBody>
      </p:sp>
      <p:sp>
        <p:nvSpPr>
          <p:cNvPr id="28" name="Shape 25"/>
          <p:cNvSpPr/>
          <p:nvPr/>
        </p:nvSpPr>
        <p:spPr>
          <a:xfrm>
            <a:off x="7223760" y="5131613"/>
            <a:ext cx="4343400" cy="557784"/>
          </a:xfrm>
          <a:prstGeom prst="roundRect">
            <a:avLst>
              <a:gd name="adj" fmla="val 16393"/>
            </a:avLst>
          </a:prstGeom>
          <a:solidFill>
            <a:srgbClr val="FFFFFF"/>
          </a:solidFill>
          <a:ln w="12700">
            <a:solidFill>
              <a:srgbClr val="CFD5D9"/>
            </a:solidFill>
            <a:prstDash val="solid"/>
          </a:ln>
        </p:spPr>
      </p:sp>
      <p:sp>
        <p:nvSpPr>
          <p:cNvPr id="29" name="Shape 26"/>
          <p:cNvSpPr/>
          <p:nvPr/>
        </p:nvSpPr>
        <p:spPr>
          <a:xfrm>
            <a:off x="7388352" y="5245913"/>
            <a:ext cx="329184" cy="329184"/>
          </a:xfrm>
          <a:prstGeom prst="ellipse">
            <a:avLst/>
          </a:prstGeom>
          <a:solidFill>
            <a:srgbClr val="177E89"/>
          </a:solidFill>
          <a:ln w="12700">
            <a:solidFill>
              <a:srgbClr val="177E89"/>
            </a:solidFill>
            <a:prstDash val="solid"/>
          </a:ln>
        </p:spPr>
      </p:sp>
      <p:sp>
        <p:nvSpPr>
          <p:cNvPr id="30" name="Text 27"/>
          <p:cNvSpPr txBox="1"/>
          <p:nvPr/>
        </p:nvSpPr>
        <p:spPr>
          <a:xfrm>
            <a:off x="7388352" y="5245913"/>
            <a:ext cx="329184"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31" name="Text 28"/>
          <p:cNvSpPr txBox="1"/>
          <p:nvPr/>
        </p:nvSpPr>
        <p:spPr>
          <a:xfrm>
            <a:off x="7882128" y="5131613"/>
            <a:ext cx="960120" cy="557784"/>
          </a:xfrm>
          <a:prstGeom prst="rect">
            <a:avLst/>
          </a:prstGeom>
          <a:noFill/>
          <a:ln/>
        </p:spPr>
        <p:txBody>
          <a:bodyPr wrap="square" lIns="0" tIns="0" rIns="0" bIns="0" rtlCol="0" anchor="ctr"/>
          <a:lstStyle/>
          <a:p>
            <a:pPr indent="0" marL="0">
              <a:buNone/>
            </a:pPr>
            <a:r>
              <a:rPr lang="en-US" sz="1250" b="1" dirty="0">
                <a:solidFill>
                  <a:srgbClr val="1F2326"/>
                </a:solidFill>
                <a:latin typeface="Calibri" pitchFamily="34" charset="0"/>
                <a:ea typeface="Calibri" pitchFamily="34" charset="-122"/>
                <a:cs typeface="Calibri" pitchFamily="34" charset="-120"/>
              </a:rPr>
              <a:t>Botones</a:t>
            </a:r>
            <a:endParaRPr lang="en-US" sz="1250" dirty="0"/>
          </a:p>
        </p:txBody>
      </p:sp>
      <p:sp>
        <p:nvSpPr>
          <p:cNvPr id="32" name="Text 29"/>
          <p:cNvSpPr txBox="1"/>
          <p:nvPr/>
        </p:nvSpPr>
        <p:spPr>
          <a:xfrm>
            <a:off x="8842248" y="5131613"/>
            <a:ext cx="2560320" cy="557784"/>
          </a:xfrm>
          <a:prstGeom prst="rect">
            <a:avLst/>
          </a:prstGeom>
          <a:noFill/>
          <a:ln/>
        </p:spPr>
        <p:txBody>
          <a:bodyPr wrap="square" lIns="0" tIns="0" rIns="0" bIns="0" rtlCol="0" anchor="ctr"/>
          <a:lstStyle/>
          <a:p>
            <a:pPr indent="0" marL="0">
              <a:buNone/>
            </a:pPr>
            <a:r>
              <a:rPr lang="en-US" sz="1050" dirty="0">
                <a:solidFill>
                  <a:srgbClr val="33393D"/>
                </a:solidFill>
                <a:latin typeface="Calibri" pitchFamily="34" charset="0"/>
                <a:ea typeface="Calibri" pitchFamily="34" charset="-122"/>
                <a:cs typeface="Calibri" pitchFamily="34" charset="-120"/>
              </a:rPr>
              <a:t>Uno de submit y uno de reset.</a:t>
            </a:r>
            <a:endParaRPr lang="en-US" sz="1050" dirty="0"/>
          </a:p>
        </p:txBody>
      </p:sp>
      <p:sp>
        <p:nvSpPr>
          <p:cNvPr id="33" name="Shape 30"/>
          <p:cNvSpPr/>
          <p:nvPr/>
        </p:nvSpPr>
        <p:spPr>
          <a:xfrm>
            <a:off x="7223760" y="5760720"/>
            <a:ext cx="4343400" cy="557784"/>
          </a:xfrm>
          <a:prstGeom prst="roundRect">
            <a:avLst>
              <a:gd name="adj" fmla="val 16393"/>
            </a:avLst>
          </a:prstGeom>
          <a:solidFill>
            <a:srgbClr val="FFFFFF"/>
          </a:solidFill>
          <a:ln w="12700">
            <a:solidFill>
              <a:srgbClr val="CFD5D9"/>
            </a:solidFill>
            <a:prstDash val="solid"/>
          </a:ln>
        </p:spPr>
      </p:sp>
      <p:sp>
        <p:nvSpPr>
          <p:cNvPr id="34" name="Shape 31"/>
          <p:cNvSpPr/>
          <p:nvPr/>
        </p:nvSpPr>
        <p:spPr>
          <a:xfrm>
            <a:off x="7388352" y="5875020"/>
            <a:ext cx="329184" cy="329184"/>
          </a:xfrm>
          <a:prstGeom prst="ellipse">
            <a:avLst/>
          </a:prstGeom>
          <a:solidFill>
            <a:srgbClr val="177E89"/>
          </a:solidFill>
          <a:ln w="12700">
            <a:solidFill>
              <a:srgbClr val="177E89"/>
            </a:solidFill>
            <a:prstDash val="solid"/>
          </a:ln>
        </p:spPr>
      </p:sp>
      <p:sp>
        <p:nvSpPr>
          <p:cNvPr id="35" name="Text 32"/>
          <p:cNvSpPr txBox="1"/>
          <p:nvPr/>
        </p:nvSpPr>
        <p:spPr>
          <a:xfrm>
            <a:off x="7388352" y="5875020"/>
            <a:ext cx="329184"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6</a:t>
            </a:r>
            <a:endParaRPr lang="en-US" sz="1050" dirty="0"/>
          </a:p>
        </p:txBody>
      </p:sp>
      <p:sp>
        <p:nvSpPr>
          <p:cNvPr id="36" name="Text 33"/>
          <p:cNvSpPr txBox="1"/>
          <p:nvPr/>
        </p:nvSpPr>
        <p:spPr>
          <a:xfrm>
            <a:off x="7882128" y="5760720"/>
            <a:ext cx="960120" cy="557784"/>
          </a:xfrm>
          <a:prstGeom prst="rect">
            <a:avLst/>
          </a:prstGeom>
          <a:noFill/>
          <a:ln/>
        </p:spPr>
        <p:txBody>
          <a:bodyPr wrap="square" lIns="0" tIns="0" rIns="0" bIns="0" rtlCol="0" anchor="ctr"/>
          <a:lstStyle/>
          <a:p>
            <a:pPr indent="0" marL="0">
              <a:buNone/>
            </a:pPr>
            <a:r>
              <a:rPr lang="en-US" sz="1250" b="1" dirty="0">
                <a:solidFill>
                  <a:srgbClr val="1F2326"/>
                </a:solidFill>
                <a:latin typeface="Calibri" pitchFamily="34" charset="0"/>
                <a:ea typeface="Calibri" pitchFamily="34" charset="-122"/>
                <a:cs typeface="Calibri" pitchFamily="34" charset="-120"/>
              </a:rPr>
              <a:t>Prueba</a:t>
            </a:r>
            <a:endParaRPr lang="en-US" sz="1250" dirty="0"/>
          </a:p>
        </p:txBody>
      </p:sp>
      <p:sp>
        <p:nvSpPr>
          <p:cNvPr id="37" name="Text 34"/>
          <p:cNvSpPr txBox="1"/>
          <p:nvPr/>
        </p:nvSpPr>
        <p:spPr>
          <a:xfrm>
            <a:off x="8842248" y="5760720"/>
            <a:ext cx="2560320" cy="557784"/>
          </a:xfrm>
          <a:prstGeom prst="rect">
            <a:avLst/>
          </a:prstGeom>
          <a:noFill/>
          <a:ln/>
        </p:spPr>
        <p:txBody>
          <a:bodyPr wrap="square" lIns="0" tIns="0" rIns="0" bIns="0" rtlCol="0" anchor="ctr"/>
          <a:lstStyle/>
          <a:p>
            <a:pPr indent="0" marL="0">
              <a:buNone/>
            </a:pPr>
            <a:r>
              <a:rPr lang="en-US" sz="1050" dirty="0">
                <a:solidFill>
                  <a:srgbClr val="33393D"/>
                </a:solidFill>
                <a:latin typeface="Calibri" pitchFamily="34" charset="0"/>
                <a:ea typeface="Calibri" pitchFamily="34" charset="-122"/>
                <a:cs typeface="Calibri" pitchFamily="34" charset="-120"/>
              </a:rPr>
              <a:t>Envía vacío, luego completo, y mira la dirección.</a:t>
            </a:r>
            <a:endParaRPr lang="en-US" sz="1050" dirty="0"/>
          </a:p>
        </p:txBody>
      </p:sp>
      <p:sp>
        <p:nvSpPr>
          <p:cNvPr id="38" name="Text 35"/>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14 / 48</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48640" y="1517904"/>
            <a:ext cx="5349240" cy="1024128"/>
          </a:xfrm>
          <a:prstGeom prst="roundRect">
            <a:avLst>
              <a:gd name="adj" fmla="val 50000"/>
            </a:avLst>
          </a:prstGeom>
          <a:solidFill>
            <a:srgbClr val="177E89"/>
          </a:solidFill>
          <a:ln w="12700">
            <a:solidFill>
              <a:srgbClr val="177E89"/>
            </a:solidFill>
            <a:prstDash val="solid"/>
          </a:ln>
        </p:spPr>
      </p:sp>
      <p:sp>
        <p:nvSpPr>
          <p:cNvPr id="3" name="Text 1"/>
          <p:cNvSpPr txBox="1"/>
          <p:nvPr/>
        </p:nvSpPr>
        <p:spPr>
          <a:xfrm>
            <a:off x="274320" y="1517904"/>
            <a:ext cx="4297680" cy="10241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Formatos y fuentes</a:t>
            </a:r>
            <a:endParaRPr lang="en-US" sz="2000" dirty="0"/>
          </a:p>
        </p:txBody>
      </p:sp>
      <p:sp>
        <p:nvSpPr>
          <p:cNvPr id="4" name="Text 2"/>
          <p:cNvSpPr txBox="1"/>
          <p:nvPr/>
        </p:nvSpPr>
        <p:spPr>
          <a:xfrm>
            <a:off x="274320" y="2834640"/>
            <a:ext cx="4297680" cy="256032"/>
          </a:xfrm>
          <a:prstGeom prst="rect">
            <a:avLst/>
          </a:prstGeom>
          <a:noFill/>
          <a:ln/>
        </p:spPr>
        <p:txBody>
          <a:bodyPr wrap="square" lIns="0" tIns="0" rIns="0" bIns="0" rtlCol="0" anchor="ctr"/>
          <a:lstStyle/>
          <a:p>
            <a:pPr algn="ctr" indent="0" marL="0">
              <a:buNone/>
            </a:pPr>
            <a:r>
              <a:rPr lang="en-US" sz="1100" b="1" spc="400" kern="0" dirty="0">
                <a:solidFill>
                  <a:srgbClr val="177E89"/>
                </a:solidFill>
                <a:latin typeface="Calibri" pitchFamily="34" charset="0"/>
                <a:ea typeface="Calibri" pitchFamily="34" charset="-122"/>
                <a:cs typeface="Calibri" pitchFamily="34" charset="-120"/>
              </a:rPr>
              <a:t>BLOQUE 02</a:t>
            </a:r>
            <a:endParaRPr lang="en-US" sz="1100" dirty="0"/>
          </a:p>
        </p:txBody>
      </p:sp>
      <p:sp>
        <p:nvSpPr>
          <p:cNvPr id="5" name="Text 3"/>
          <p:cNvSpPr txBox="1"/>
          <p:nvPr/>
        </p:nvSpPr>
        <p:spPr>
          <a:xfrm>
            <a:off x="685800" y="3346704"/>
            <a:ext cx="3657600" cy="237744"/>
          </a:xfrm>
          <a:prstGeom prst="rect">
            <a:avLst/>
          </a:prstGeom>
          <a:noFill/>
          <a:ln/>
        </p:spPr>
        <p:txBody>
          <a:bodyPr wrap="square" lIns="0" tIns="0" rIns="0" bIns="0" rtlCol="0" anchor="ctr"/>
          <a:lstStyle/>
          <a:p>
            <a:pPr indent="0" marL="0">
              <a:buNone/>
            </a:pPr>
            <a:r>
              <a:rPr lang="en-US" sz="1050" b="1" spc="150" kern="0" dirty="0">
                <a:solidFill>
                  <a:srgbClr val="5F676C"/>
                </a:solidFill>
                <a:latin typeface="Calibri" pitchFamily="34" charset="0"/>
                <a:ea typeface="Calibri" pitchFamily="34" charset="-122"/>
                <a:cs typeface="Calibri" pitchFamily="34" charset="-120"/>
              </a:rPr>
              <a:t>En este bloque</a:t>
            </a:r>
            <a:endParaRPr lang="en-US" sz="1050" dirty="0"/>
          </a:p>
        </p:txBody>
      </p:sp>
      <p:sp>
        <p:nvSpPr>
          <p:cNvPr id="6" name="Shape 4"/>
          <p:cNvSpPr/>
          <p:nvPr/>
        </p:nvSpPr>
        <p:spPr>
          <a:xfrm>
            <a:off x="685800" y="3657600"/>
            <a:ext cx="5577840" cy="475488"/>
          </a:xfrm>
          <a:prstGeom prst="roundRect">
            <a:avLst>
              <a:gd name="adj" fmla="val 19231"/>
            </a:avLst>
          </a:prstGeom>
          <a:solidFill>
            <a:srgbClr val="FFFFFF"/>
          </a:solidFill>
          <a:ln w="12700">
            <a:solidFill>
              <a:srgbClr val="CFD5D9"/>
            </a:solidFill>
            <a:prstDash val="solid"/>
          </a:ln>
        </p:spPr>
      </p:sp>
      <p:sp>
        <p:nvSpPr>
          <p:cNvPr id="7" name="Text 5"/>
          <p:cNvSpPr txBox="1"/>
          <p:nvPr/>
        </p:nvSpPr>
        <p:spPr>
          <a:xfrm>
            <a:off x="896112" y="3657600"/>
            <a:ext cx="457200" cy="475488"/>
          </a:xfrm>
          <a:prstGeom prst="rect">
            <a:avLst/>
          </a:prstGeom>
          <a:noFill/>
          <a:ln/>
        </p:spPr>
        <p:txBody>
          <a:bodyPr wrap="square" lIns="0" tIns="0" rIns="0" bIns="0" rtlCol="0" anchor="ctr"/>
          <a:lstStyle/>
          <a:p>
            <a:pPr indent="0" marL="0">
              <a:buNone/>
            </a:pPr>
            <a:r>
              <a:rPr lang="en-US" sz="1200" b="1" dirty="0">
                <a:solidFill>
                  <a:srgbClr val="177E89"/>
                </a:solidFill>
                <a:latin typeface="Calibri" pitchFamily="34" charset="0"/>
                <a:ea typeface="Calibri" pitchFamily="34" charset="-122"/>
                <a:cs typeface="Calibri" pitchFamily="34" charset="-120"/>
              </a:rPr>
              <a:t>01</a:t>
            </a:r>
            <a:endParaRPr lang="en-US" sz="1200" dirty="0"/>
          </a:p>
        </p:txBody>
      </p:sp>
      <p:sp>
        <p:nvSpPr>
          <p:cNvPr id="8" name="Text 6"/>
          <p:cNvSpPr txBox="1"/>
          <p:nvPr/>
        </p:nvSpPr>
        <p:spPr>
          <a:xfrm>
            <a:off x="1481328" y="3657600"/>
            <a:ext cx="4663440" cy="475488"/>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Contenedor y códec</a:t>
            </a:r>
            <a:endParaRPr lang="en-US" sz="1200" dirty="0"/>
          </a:p>
        </p:txBody>
      </p:sp>
      <p:sp>
        <p:nvSpPr>
          <p:cNvPr id="9" name="Shape 7"/>
          <p:cNvSpPr/>
          <p:nvPr/>
        </p:nvSpPr>
        <p:spPr>
          <a:xfrm>
            <a:off x="685800" y="4206240"/>
            <a:ext cx="5577840" cy="475488"/>
          </a:xfrm>
          <a:prstGeom prst="roundRect">
            <a:avLst>
              <a:gd name="adj" fmla="val 19231"/>
            </a:avLst>
          </a:prstGeom>
          <a:solidFill>
            <a:srgbClr val="FFFFFF"/>
          </a:solidFill>
          <a:ln w="12700">
            <a:solidFill>
              <a:srgbClr val="CFD5D9"/>
            </a:solidFill>
            <a:prstDash val="solid"/>
          </a:ln>
        </p:spPr>
      </p:sp>
      <p:sp>
        <p:nvSpPr>
          <p:cNvPr id="10" name="Text 8"/>
          <p:cNvSpPr txBox="1"/>
          <p:nvPr/>
        </p:nvSpPr>
        <p:spPr>
          <a:xfrm>
            <a:off x="896112" y="4206240"/>
            <a:ext cx="457200" cy="475488"/>
          </a:xfrm>
          <a:prstGeom prst="rect">
            <a:avLst/>
          </a:prstGeom>
          <a:noFill/>
          <a:ln/>
        </p:spPr>
        <p:txBody>
          <a:bodyPr wrap="square" lIns="0" tIns="0" rIns="0" bIns="0" rtlCol="0" anchor="ctr"/>
          <a:lstStyle/>
          <a:p>
            <a:pPr indent="0" marL="0">
              <a:buNone/>
            </a:pPr>
            <a:r>
              <a:rPr lang="en-US" sz="1200" b="1" dirty="0">
                <a:solidFill>
                  <a:srgbClr val="177E89"/>
                </a:solidFill>
                <a:latin typeface="Calibri" pitchFamily="34" charset="0"/>
                <a:ea typeface="Calibri" pitchFamily="34" charset="-122"/>
                <a:cs typeface="Calibri" pitchFamily="34" charset="-120"/>
              </a:rPr>
              <a:t>02</a:t>
            </a:r>
            <a:endParaRPr lang="en-US" sz="1200" dirty="0"/>
          </a:p>
        </p:txBody>
      </p:sp>
      <p:sp>
        <p:nvSpPr>
          <p:cNvPr id="11" name="Text 9"/>
          <p:cNvSpPr txBox="1"/>
          <p:nvPr/>
        </p:nvSpPr>
        <p:spPr>
          <a:xfrm>
            <a:off x="1481328" y="4206240"/>
            <a:ext cx="4663440" cy="475488"/>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Formatos de video y de audio</a:t>
            </a:r>
            <a:endParaRPr lang="en-US" sz="1200" dirty="0"/>
          </a:p>
        </p:txBody>
      </p:sp>
      <p:sp>
        <p:nvSpPr>
          <p:cNvPr id="12" name="Shape 10"/>
          <p:cNvSpPr/>
          <p:nvPr/>
        </p:nvSpPr>
        <p:spPr>
          <a:xfrm>
            <a:off x="685800" y="4754880"/>
            <a:ext cx="5577840" cy="475488"/>
          </a:xfrm>
          <a:prstGeom prst="roundRect">
            <a:avLst>
              <a:gd name="adj" fmla="val 19231"/>
            </a:avLst>
          </a:prstGeom>
          <a:solidFill>
            <a:srgbClr val="FFFFFF"/>
          </a:solidFill>
          <a:ln w="12700">
            <a:solidFill>
              <a:srgbClr val="CFD5D9"/>
            </a:solidFill>
            <a:prstDash val="solid"/>
          </a:ln>
        </p:spPr>
      </p:sp>
      <p:sp>
        <p:nvSpPr>
          <p:cNvPr id="13" name="Text 11"/>
          <p:cNvSpPr txBox="1"/>
          <p:nvPr/>
        </p:nvSpPr>
        <p:spPr>
          <a:xfrm>
            <a:off x="896112" y="4754880"/>
            <a:ext cx="457200" cy="475488"/>
          </a:xfrm>
          <a:prstGeom prst="rect">
            <a:avLst/>
          </a:prstGeom>
          <a:noFill/>
          <a:ln/>
        </p:spPr>
        <p:txBody>
          <a:bodyPr wrap="square" lIns="0" tIns="0" rIns="0" bIns="0" rtlCol="0" anchor="ctr"/>
          <a:lstStyle/>
          <a:p>
            <a:pPr indent="0" marL="0">
              <a:buNone/>
            </a:pPr>
            <a:r>
              <a:rPr lang="en-US" sz="1200" b="1" dirty="0">
                <a:solidFill>
                  <a:srgbClr val="177E89"/>
                </a:solidFill>
                <a:latin typeface="Calibri" pitchFamily="34" charset="0"/>
                <a:ea typeface="Calibri" pitchFamily="34" charset="-122"/>
                <a:cs typeface="Calibri" pitchFamily="34" charset="-120"/>
              </a:rPr>
              <a:t>03</a:t>
            </a:r>
            <a:endParaRPr lang="en-US" sz="1200" dirty="0"/>
          </a:p>
        </p:txBody>
      </p:sp>
      <p:sp>
        <p:nvSpPr>
          <p:cNvPr id="14" name="Text 12"/>
          <p:cNvSpPr txBox="1"/>
          <p:nvPr/>
        </p:nvSpPr>
        <p:spPr>
          <a:xfrm>
            <a:off x="1481328" y="4754880"/>
            <a:ext cx="4663440" cy="475488"/>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La etiqueta source</a:t>
            </a:r>
            <a:endParaRPr lang="en-US" sz="1200" dirty="0"/>
          </a:p>
        </p:txBody>
      </p:sp>
      <p:sp>
        <p:nvSpPr>
          <p:cNvPr id="15" name="Shape 13"/>
          <p:cNvSpPr/>
          <p:nvPr/>
        </p:nvSpPr>
        <p:spPr>
          <a:xfrm>
            <a:off x="685800" y="5303520"/>
            <a:ext cx="5577840" cy="475488"/>
          </a:xfrm>
          <a:prstGeom prst="roundRect">
            <a:avLst>
              <a:gd name="adj" fmla="val 19231"/>
            </a:avLst>
          </a:prstGeom>
          <a:solidFill>
            <a:srgbClr val="FFFFFF"/>
          </a:solidFill>
          <a:ln w="12700">
            <a:solidFill>
              <a:srgbClr val="CFD5D9"/>
            </a:solidFill>
            <a:prstDash val="solid"/>
          </a:ln>
        </p:spPr>
      </p:sp>
      <p:sp>
        <p:nvSpPr>
          <p:cNvPr id="16" name="Text 14"/>
          <p:cNvSpPr txBox="1"/>
          <p:nvPr/>
        </p:nvSpPr>
        <p:spPr>
          <a:xfrm>
            <a:off x="896112" y="5303520"/>
            <a:ext cx="457200" cy="475488"/>
          </a:xfrm>
          <a:prstGeom prst="rect">
            <a:avLst/>
          </a:prstGeom>
          <a:noFill/>
          <a:ln/>
        </p:spPr>
        <p:txBody>
          <a:bodyPr wrap="square" lIns="0" tIns="0" rIns="0" bIns="0" rtlCol="0" anchor="ctr"/>
          <a:lstStyle/>
          <a:p>
            <a:pPr indent="0" marL="0">
              <a:buNone/>
            </a:pPr>
            <a:r>
              <a:rPr lang="en-US" sz="1200" b="1" dirty="0">
                <a:solidFill>
                  <a:srgbClr val="177E89"/>
                </a:solidFill>
                <a:latin typeface="Calibri" pitchFamily="34" charset="0"/>
                <a:ea typeface="Calibri" pitchFamily="34" charset="-122"/>
                <a:cs typeface="Calibri" pitchFamily="34" charset="-120"/>
              </a:rPr>
              <a:t>04</a:t>
            </a:r>
            <a:endParaRPr lang="en-US" sz="1200" dirty="0"/>
          </a:p>
        </p:txBody>
      </p:sp>
      <p:sp>
        <p:nvSpPr>
          <p:cNvPr id="17" name="Text 15"/>
          <p:cNvSpPr txBox="1"/>
          <p:nvPr/>
        </p:nvSpPr>
        <p:spPr>
          <a:xfrm>
            <a:off x="1481328" y="5303520"/>
            <a:ext cx="4663440" cy="475488"/>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El audio funciona igual</a:t>
            </a:r>
            <a:endParaRPr lang="en-US" sz="1200" dirty="0"/>
          </a:p>
        </p:txBody>
      </p:sp>
      <p:sp>
        <p:nvSpPr>
          <p:cNvPr id="18" name="Shape 16"/>
          <p:cNvSpPr/>
          <p:nvPr/>
        </p:nvSpPr>
        <p:spPr>
          <a:xfrm>
            <a:off x="685800" y="5852160"/>
            <a:ext cx="5577840" cy="475488"/>
          </a:xfrm>
          <a:prstGeom prst="roundRect">
            <a:avLst>
              <a:gd name="adj" fmla="val 19231"/>
            </a:avLst>
          </a:prstGeom>
          <a:solidFill>
            <a:srgbClr val="FFFFFF"/>
          </a:solidFill>
          <a:ln w="12700">
            <a:solidFill>
              <a:srgbClr val="CFD5D9"/>
            </a:solidFill>
            <a:prstDash val="solid"/>
          </a:ln>
        </p:spPr>
      </p:sp>
      <p:sp>
        <p:nvSpPr>
          <p:cNvPr id="19" name="Text 17"/>
          <p:cNvSpPr txBox="1"/>
          <p:nvPr/>
        </p:nvSpPr>
        <p:spPr>
          <a:xfrm>
            <a:off x="896112" y="5852160"/>
            <a:ext cx="457200" cy="475488"/>
          </a:xfrm>
          <a:prstGeom prst="rect">
            <a:avLst/>
          </a:prstGeom>
          <a:noFill/>
          <a:ln/>
        </p:spPr>
        <p:txBody>
          <a:bodyPr wrap="square" lIns="0" tIns="0" rIns="0" bIns="0" rtlCol="0" anchor="ctr"/>
          <a:lstStyle/>
          <a:p>
            <a:pPr indent="0" marL="0">
              <a:buNone/>
            </a:pPr>
            <a:r>
              <a:rPr lang="en-US" sz="1200" b="1" dirty="0">
                <a:solidFill>
                  <a:srgbClr val="177E89"/>
                </a:solidFill>
                <a:latin typeface="Calibri" pitchFamily="34" charset="0"/>
                <a:ea typeface="Calibri" pitchFamily="34" charset="-122"/>
                <a:cs typeface="Calibri" pitchFamily="34" charset="-120"/>
              </a:rPr>
              <a:t>05</a:t>
            </a:r>
            <a:endParaRPr lang="en-US" sz="1200" dirty="0"/>
          </a:p>
        </p:txBody>
      </p:sp>
      <p:sp>
        <p:nvSpPr>
          <p:cNvPr id="20" name="Text 18"/>
          <p:cNvSpPr txBox="1"/>
          <p:nvPr/>
        </p:nvSpPr>
        <p:spPr>
          <a:xfrm>
            <a:off x="1481328" y="5852160"/>
            <a:ext cx="4663440" cy="475488"/>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El texto alternativo</a:t>
            </a:r>
            <a:endParaRPr lang="en-US" sz="1200" dirty="0"/>
          </a:p>
        </p:txBody>
      </p:sp>
      <p:sp>
        <p:nvSpPr>
          <p:cNvPr id="21" name="Shape 19"/>
          <p:cNvSpPr/>
          <p:nvPr/>
        </p:nvSpPr>
        <p:spPr>
          <a:xfrm>
            <a:off x="6766560" y="1234440"/>
            <a:ext cx="5166360" cy="5257800"/>
          </a:xfrm>
          <a:prstGeom prst="roundRect">
            <a:avLst>
              <a:gd name="adj" fmla="val 2124"/>
            </a:avLst>
          </a:prstGeom>
          <a:solidFill>
            <a:srgbClr val="FFFFFF"/>
          </a:solidFill>
          <a:ln w="12700">
            <a:solidFill>
              <a:srgbClr val="CFD5D9"/>
            </a:solidFill>
            <a:prstDash val="solid"/>
          </a:ln>
        </p:spPr>
      </p:sp>
      <p:pic>
        <p:nvPicPr>
          <p:cNvPr id="22" name="Image 0" descr="Persona programando frente a un monitor">    </p:cNvPr>
          <p:cNvPicPr>
            <a:picLocks noChangeAspect="1"/>
          </p:cNvPicPr>
          <p:nvPr/>
        </p:nvPicPr>
        <p:blipFill>
          <a:blip r:embed="rId1"/>
          <a:srcRect l="0" r="0" t="0" b="0"/>
          <a:stretch/>
        </p:blipFill>
        <p:spPr>
          <a:xfrm>
            <a:off x="6903720" y="1362456"/>
            <a:ext cx="4892040" cy="5001768"/>
          </a:xfrm>
          <a:prstGeom prst="rect">
            <a:avLst/>
          </a:prstGeom>
        </p:spPr>
      </p:pic>
      <p:sp>
        <p:nvSpPr>
          <p:cNvPr id="23" name="Text 20"/>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15 / 48</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indent="0" marL="0">
              <a:buNone/>
            </a:pPr>
            <a:r>
              <a:rPr lang="en-US" sz="1050" b="1" spc="300" kern="0" dirty="0">
                <a:solidFill>
                  <a:srgbClr val="177E89"/>
                </a:solidFill>
                <a:latin typeface="Calibri" pitchFamily="34" charset="0"/>
                <a:ea typeface="Calibri" pitchFamily="34" charset="-122"/>
                <a:cs typeface="Calibri" pitchFamily="34" charset="-120"/>
              </a:rPr>
              <a:t>02 · FORMATOS</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Un archivo de video son dos cosas</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indent="0" marL="0">
              <a:buNone/>
            </a:pPr>
            <a:r>
              <a:rPr lang="en-US" sz="1250" dirty="0">
                <a:solidFill>
                  <a:srgbClr val="5F676C"/>
                </a:solidFill>
                <a:latin typeface="Calibri" pitchFamily="34" charset="0"/>
                <a:ea typeface="Calibri" pitchFamily="34" charset="-122"/>
                <a:cs typeface="Calibri" pitchFamily="34" charset="-120"/>
              </a:rPr>
              <a:t>La extensión no lo dice todo: importa lo que lleva dentro.</a:t>
            </a:r>
            <a:endParaRPr lang="en-US" sz="1250" dirty="0"/>
          </a:p>
        </p:txBody>
      </p:sp>
      <p:sp>
        <p:nvSpPr>
          <p:cNvPr id="5" name="Shape 3"/>
          <p:cNvSpPr/>
          <p:nvPr/>
        </p:nvSpPr>
        <p:spPr>
          <a:xfrm>
            <a:off x="640080" y="2615184"/>
            <a:ext cx="5349240" cy="1783080"/>
          </a:xfrm>
          <a:prstGeom prst="roundRect">
            <a:avLst>
              <a:gd name="adj" fmla="val 5128"/>
            </a:avLst>
          </a:prstGeom>
          <a:solidFill>
            <a:srgbClr val="F3F5F6"/>
          </a:solidFill>
          <a:ln w="12700">
            <a:solidFill>
              <a:srgbClr val="CFD5D9"/>
            </a:solidFill>
            <a:prstDash val="solid"/>
          </a:ln>
        </p:spPr>
      </p:sp>
      <p:sp>
        <p:nvSpPr>
          <p:cNvPr id="6" name="Text 4"/>
          <p:cNvSpPr txBox="1"/>
          <p:nvPr/>
        </p:nvSpPr>
        <p:spPr>
          <a:xfrm>
            <a:off x="950976" y="2816352"/>
            <a:ext cx="4727448" cy="310896"/>
          </a:xfrm>
          <a:prstGeom prst="rect">
            <a:avLst/>
          </a:prstGeom>
          <a:noFill/>
          <a:ln/>
        </p:spPr>
        <p:txBody>
          <a:bodyPr wrap="square" lIns="0" tIns="0" rIns="0" bIns="0" rtlCol="0" anchor="ctr"/>
          <a:lstStyle/>
          <a:p>
            <a:pPr algn="l" indent="0" marL="0">
              <a:buNone/>
            </a:pPr>
            <a:r>
              <a:rPr lang="en-US" sz="1400" b="1" dirty="0">
                <a:solidFill>
                  <a:srgbClr val="1F2326"/>
                </a:solidFill>
                <a:latin typeface="Calibri" pitchFamily="34" charset="0"/>
                <a:ea typeface="Calibri" pitchFamily="34" charset="-122"/>
                <a:cs typeface="Calibri" pitchFamily="34" charset="-120"/>
              </a:rPr>
              <a:t>Contenedor</a:t>
            </a:r>
            <a:endParaRPr lang="en-US" sz="1400" dirty="0"/>
          </a:p>
        </p:txBody>
      </p:sp>
      <p:sp>
        <p:nvSpPr>
          <p:cNvPr id="7" name="Text 5"/>
          <p:cNvSpPr txBox="1"/>
          <p:nvPr/>
        </p:nvSpPr>
        <p:spPr>
          <a:xfrm>
            <a:off x="950976" y="3182112"/>
            <a:ext cx="4727448" cy="1095451"/>
          </a:xfrm>
          <a:prstGeom prst="rect">
            <a:avLst/>
          </a:prstGeom>
          <a:noFill/>
          <a:ln/>
        </p:spPr>
        <p:txBody>
          <a:bodyPr wrap="square" lIns="0" tIns="0" rIns="0" bIns="0" rtlCol="0" anchor="t"/>
          <a:lstStyle/>
          <a:p>
            <a:pPr algn="l" indent="0" marL="0">
              <a:lnSpc>
                <a:spcPct val="125000"/>
              </a:lnSpc>
              <a:buNone/>
            </a:pPr>
            <a:r>
              <a:rPr lang="en-US" sz="1200" dirty="0">
                <a:solidFill>
                  <a:srgbClr val="33393D"/>
                </a:solidFill>
                <a:latin typeface="Calibri" pitchFamily="34" charset="0"/>
                <a:ea typeface="Calibri" pitchFamily="34" charset="-122"/>
                <a:cs typeface="Calibri" pitchFamily="34" charset="-120"/>
              </a:rPr>
              <a:t>La caja. Es la extensión del archivo y guarda juntos el video, el audio y los subtítulos.</a:t>
            </a:r>
            <a:endParaRPr lang="en-US" sz="1200" dirty="0"/>
          </a:p>
        </p:txBody>
      </p:sp>
      <p:sp>
        <p:nvSpPr>
          <p:cNvPr id="8" name="Text 6"/>
          <p:cNvSpPr txBox="1"/>
          <p:nvPr/>
        </p:nvSpPr>
        <p:spPr>
          <a:xfrm>
            <a:off x="950976" y="3922776"/>
            <a:ext cx="4727448" cy="274320"/>
          </a:xfrm>
          <a:prstGeom prst="rect">
            <a:avLst/>
          </a:prstGeom>
          <a:noFill/>
          <a:ln/>
        </p:spPr>
        <p:txBody>
          <a:bodyPr wrap="square" lIns="0" tIns="0" rIns="0" bIns="0" rtlCol="0" anchor="b"/>
          <a:lstStyle/>
          <a:p>
            <a:pPr indent="0" marL="0">
              <a:buNone/>
            </a:pPr>
            <a:r>
              <a:rPr lang="en-US" sz="1150" i="1" dirty="0">
                <a:solidFill>
                  <a:srgbClr val="1F2326"/>
                </a:solidFill>
                <a:latin typeface="Calibri" pitchFamily="34" charset="0"/>
                <a:ea typeface="Calibri" pitchFamily="34" charset="-122"/>
                <a:cs typeface="Calibri" pitchFamily="34" charset="-120"/>
              </a:rPr>
              <a:t>.mp4 · .webm · .ogg</a:t>
            </a:r>
            <a:endParaRPr lang="en-US" sz="1150" dirty="0"/>
          </a:p>
        </p:txBody>
      </p:sp>
      <p:sp>
        <p:nvSpPr>
          <p:cNvPr id="9" name="Shape 7"/>
          <p:cNvSpPr/>
          <p:nvPr/>
        </p:nvSpPr>
        <p:spPr>
          <a:xfrm>
            <a:off x="6217920" y="2615184"/>
            <a:ext cx="5349240" cy="1783080"/>
          </a:xfrm>
          <a:prstGeom prst="roundRect">
            <a:avLst>
              <a:gd name="adj" fmla="val 5128"/>
            </a:avLst>
          </a:prstGeom>
          <a:solidFill>
            <a:srgbClr val="FFFFFF"/>
          </a:solidFill>
          <a:ln w="12700">
            <a:solidFill>
              <a:srgbClr val="CFD5D9"/>
            </a:solidFill>
            <a:prstDash val="solid"/>
          </a:ln>
        </p:spPr>
      </p:sp>
      <p:sp>
        <p:nvSpPr>
          <p:cNvPr id="10" name="Text 8"/>
          <p:cNvSpPr txBox="1"/>
          <p:nvPr/>
        </p:nvSpPr>
        <p:spPr>
          <a:xfrm>
            <a:off x="6528816" y="2816352"/>
            <a:ext cx="4727448" cy="310896"/>
          </a:xfrm>
          <a:prstGeom prst="rect">
            <a:avLst/>
          </a:prstGeom>
          <a:noFill/>
          <a:ln/>
        </p:spPr>
        <p:txBody>
          <a:bodyPr wrap="square" lIns="0" tIns="0" rIns="0" bIns="0" rtlCol="0" anchor="ctr"/>
          <a:lstStyle/>
          <a:p>
            <a:pPr algn="l" indent="0" marL="0">
              <a:buNone/>
            </a:pPr>
            <a:r>
              <a:rPr lang="en-US" sz="1400" b="1" dirty="0">
                <a:solidFill>
                  <a:srgbClr val="1F2326"/>
                </a:solidFill>
                <a:latin typeface="Calibri" pitchFamily="34" charset="0"/>
                <a:ea typeface="Calibri" pitchFamily="34" charset="-122"/>
                <a:cs typeface="Calibri" pitchFamily="34" charset="-120"/>
              </a:rPr>
              <a:t>Códec</a:t>
            </a:r>
            <a:endParaRPr lang="en-US" sz="1400" dirty="0"/>
          </a:p>
        </p:txBody>
      </p:sp>
      <p:sp>
        <p:nvSpPr>
          <p:cNvPr id="11" name="Text 9"/>
          <p:cNvSpPr txBox="1"/>
          <p:nvPr/>
        </p:nvSpPr>
        <p:spPr>
          <a:xfrm>
            <a:off x="6528816" y="3182112"/>
            <a:ext cx="4727448" cy="1095451"/>
          </a:xfrm>
          <a:prstGeom prst="rect">
            <a:avLst/>
          </a:prstGeom>
          <a:noFill/>
          <a:ln/>
        </p:spPr>
        <p:txBody>
          <a:bodyPr wrap="square" lIns="0" tIns="0" rIns="0" bIns="0" rtlCol="0" anchor="t"/>
          <a:lstStyle/>
          <a:p>
            <a:pPr algn="l" indent="0" marL="0">
              <a:lnSpc>
                <a:spcPct val="125000"/>
              </a:lnSpc>
              <a:buNone/>
            </a:pPr>
            <a:r>
              <a:rPr lang="en-US" sz="1200" dirty="0">
                <a:solidFill>
                  <a:srgbClr val="33393D"/>
                </a:solidFill>
                <a:latin typeface="Calibri" pitchFamily="34" charset="0"/>
                <a:ea typeface="Calibri" pitchFamily="34" charset="-122"/>
                <a:cs typeface="Calibri" pitchFamily="34" charset="-120"/>
              </a:rPr>
              <a:t>El método con que se comprime lo que va dentro de la caja. Hay uno para la imagen y otro para el sonido.</a:t>
            </a:r>
            <a:endParaRPr lang="en-US" sz="1200" dirty="0"/>
          </a:p>
        </p:txBody>
      </p:sp>
      <p:sp>
        <p:nvSpPr>
          <p:cNvPr id="12" name="Text 10"/>
          <p:cNvSpPr txBox="1"/>
          <p:nvPr/>
        </p:nvSpPr>
        <p:spPr>
          <a:xfrm>
            <a:off x="6528816" y="3922776"/>
            <a:ext cx="4727448" cy="274320"/>
          </a:xfrm>
          <a:prstGeom prst="rect">
            <a:avLst/>
          </a:prstGeom>
          <a:noFill/>
          <a:ln/>
        </p:spPr>
        <p:txBody>
          <a:bodyPr wrap="square" lIns="0" tIns="0" rIns="0" bIns="0" rtlCol="0" anchor="b"/>
          <a:lstStyle/>
          <a:p>
            <a:pPr indent="0" marL="0">
              <a:buNone/>
            </a:pPr>
            <a:r>
              <a:rPr lang="en-US" sz="1150" i="1" dirty="0">
                <a:solidFill>
                  <a:srgbClr val="1F2326"/>
                </a:solidFill>
                <a:latin typeface="Calibri" pitchFamily="34" charset="0"/>
                <a:ea typeface="Calibri" pitchFamily="34" charset="-122"/>
                <a:cs typeface="Calibri" pitchFamily="34" charset="-120"/>
              </a:rPr>
              <a:t>H.264 · VP9 · AAC · Opus</a:t>
            </a:r>
            <a:endParaRPr lang="en-US" sz="1150" dirty="0"/>
          </a:p>
        </p:txBody>
      </p:sp>
      <p:sp>
        <p:nvSpPr>
          <p:cNvPr id="13" name="Shape 11"/>
          <p:cNvSpPr/>
          <p:nvPr/>
        </p:nvSpPr>
        <p:spPr>
          <a:xfrm>
            <a:off x="640080" y="4599432"/>
            <a:ext cx="10927080" cy="1435608"/>
          </a:xfrm>
          <a:prstGeom prst="roundRect">
            <a:avLst>
              <a:gd name="adj" fmla="val 6369"/>
            </a:avLst>
          </a:prstGeom>
          <a:solidFill>
            <a:srgbClr val="F3F5F6"/>
          </a:solidFill>
          <a:ln w="12700">
            <a:solidFill>
              <a:srgbClr val="CFD5D9"/>
            </a:solidFill>
            <a:prstDash val="solid"/>
          </a:ln>
        </p:spPr>
      </p:sp>
      <p:sp>
        <p:nvSpPr>
          <p:cNvPr id="14" name="Text 12"/>
          <p:cNvSpPr txBox="1"/>
          <p:nvPr/>
        </p:nvSpPr>
        <p:spPr>
          <a:xfrm>
            <a:off x="950976" y="4800600"/>
            <a:ext cx="10305288" cy="310896"/>
          </a:xfrm>
          <a:prstGeom prst="rect">
            <a:avLst/>
          </a:prstGeom>
          <a:noFill/>
          <a:ln/>
        </p:spPr>
        <p:txBody>
          <a:bodyPr wrap="square" lIns="0" tIns="0" rIns="0" bIns="0" rtlCol="0" anchor="ctr"/>
          <a:lstStyle/>
          <a:p>
            <a:pPr algn="l" indent="0" marL="0">
              <a:buNone/>
            </a:pPr>
            <a:r>
              <a:rPr lang="en-US" sz="1400" b="1" dirty="0">
                <a:solidFill>
                  <a:srgbClr val="177E89"/>
                </a:solidFill>
                <a:latin typeface="Calibri" pitchFamily="34" charset="0"/>
                <a:ea typeface="Calibri" pitchFamily="34" charset="-122"/>
                <a:cs typeface="Calibri" pitchFamily="34" charset="-120"/>
              </a:rPr>
              <a:t>Por qué te importa</a:t>
            </a:r>
            <a:endParaRPr lang="en-US" sz="1400" dirty="0"/>
          </a:p>
        </p:txBody>
      </p:sp>
      <p:sp>
        <p:nvSpPr>
          <p:cNvPr id="15" name="Text 13"/>
          <p:cNvSpPr txBox="1"/>
          <p:nvPr/>
        </p:nvSpPr>
        <p:spPr>
          <a:xfrm>
            <a:off x="950976" y="5166360"/>
            <a:ext cx="10305288" cy="747979"/>
          </a:xfrm>
          <a:prstGeom prst="rect">
            <a:avLst/>
          </a:prstGeom>
          <a:noFill/>
          <a:ln/>
        </p:spPr>
        <p:txBody>
          <a:bodyPr wrap="square" lIns="0" tIns="0" rIns="0" bIns="0" rtlCol="0" anchor="t"/>
          <a:lstStyle/>
          <a:p>
            <a:pPr algn="l" indent="0" marL="0">
              <a:lnSpc>
                <a:spcPct val="125000"/>
              </a:lnSpc>
              <a:buNone/>
            </a:pPr>
            <a:r>
              <a:rPr lang="en-US" sz="1250" dirty="0">
                <a:solidFill>
                  <a:srgbClr val="33393D"/>
                </a:solidFill>
                <a:latin typeface="Calibri" pitchFamily="34" charset="0"/>
                <a:ea typeface="Calibri" pitchFamily="34" charset="-122"/>
                <a:cs typeface="Calibri" pitchFamily="34" charset="-120"/>
              </a:rPr>
              <a:t>El navegador tiene que entender las dos cosas. Por eso un .mp4 puede fallar: si por dentro usa un códec que ese navegador no conoce (por ejemplo, un video H.265 grabado con el celular), se oye sin imagen o no se reproduce.</a:t>
            </a:r>
            <a:endParaRPr lang="en-US" sz="1250" dirty="0"/>
          </a:p>
        </p:txBody>
      </p:sp>
      <p:sp>
        <p:nvSpPr>
          <p:cNvPr id="16" name="Text 14"/>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16 / 48</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indent="0" marL="0">
              <a:buNone/>
            </a:pPr>
            <a:r>
              <a:rPr lang="en-US" sz="1050" b="1" spc="300" kern="0" dirty="0">
                <a:solidFill>
                  <a:srgbClr val="177E89"/>
                </a:solidFill>
                <a:latin typeface="Calibri" pitchFamily="34" charset="0"/>
                <a:ea typeface="Calibri" pitchFamily="34" charset="-122"/>
                <a:cs typeface="Calibri" pitchFamily="34" charset="-120"/>
              </a:rPr>
              <a:t>02 · FORMATOS</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Qué formatos usar en la web</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indent="0" marL="0">
              <a:buNone/>
            </a:pPr>
            <a:r>
              <a:rPr lang="en-US" sz="1250" dirty="0">
                <a:solidFill>
                  <a:srgbClr val="5F676C"/>
                </a:solidFill>
                <a:latin typeface="Calibri" pitchFamily="34" charset="0"/>
                <a:ea typeface="Calibri" pitchFamily="34" charset="-122"/>
                <a:cs typeface="Calibri" pitchFamily="34" charset="-120"/>
              </a:rPr>
              <a:t>Dos de video y dos de audio cubren todos los navegadores actuales.</a:t>
            </a:r>
            <a:endParaRPr lang="en-US" sz="1250" dirty="0"/>
          </a:p>
        </p:txBody>
      </p:sp>
      <p:sp>
        <p:nvSpPr>
          <p:cNvPr id="5" name="Shape 3"/>
          <p:cNvSpPr/>
          <p:nvPr/>
        </p:nvSpPr>
        <p:spPr>
          <a:xfrm>
            <a:off x="640080" y="2615184"/>
            <a:ext cx="10927080" cy="484632"/>
          </a:xfrm>
          <a:prstGeom prst="roundRect">
            <a:avLst>
              <a:gd name="adj" fmla="val 18868"/>
            </a:avLst>
          </a:prstGeom>
          <a:solidFill>
            <a:srgbClr val="FFFFFF"/>
          </a:solidFill>
          <a:ln w="12700">
            <a:solidFill>
              <a:srgbClr val="CFD5D9"/>
            </a:solidFill>
            <a:prstDash val="solid"/>
          </a:ln>
        </p:spPr>
      </p:sp>
      <p:sp>
        <p:nvSpPr>
          <p:cNvPr id="6" name="Text 4"/>
          <p:cNvSpPr txBox="1"/>
          <p:nvPr/>
        </p:nvSpPr>
        <p:spPr>
          <a:xfrm>
            <a:off x="914400" y="2615184"/>
            <a:ext cx="1554480" cy="484632"/>
          </a:xfrm>
          <a:prstGeom prst="rect">
            <a:avLst/>
          </a:prstGeom>
          <a:noFill/>
          <a:ln/>
        </p:spPr>
        <p:txBody>
          <a:bodyPr wrap="square" lIns="0" tIns="0" rIns="0" bIns="0" rtlCol="0" anchor="ctr"/>
          <a:lstStyle/>
          <a:p>
            <a:pPr indent="0" marL="0">
              <a:buNone/>
            </a:pPr>
            <a:r>
              <a:rPr lang="en-US" sz="1250" b="1" dirty="0">
                <a:solidFill>
                  <a:srgbClr val="177E89"/>
                </a:solidFill>
                <a:latin typeface="Consolas" pitchFamily="34" charset="0"/>
                <a:ea typeface="Consolas" pitchFamily="34" charset="-122"/>
                <a:cs typeface="Consolas" pitchFamily="34" charset="-120"/>
              </a:rPr>
              <a:t>.mp4</a:t>
            </a:r>
            <a:endParaRPr lang="en-US" sz="1250" dirty="0"/>
          </a:p>
        </p:txBody>
      </p:sp>
      <p:sp>
        <p:nvSpPr>
          <p:cNvPr id="7" name="Text 5"/>
          <p:cNvSpPr txBox="1"/>
          <p:nvPr/>
        </p:nvSpPr>
        <p:spPr>
          <a:xfrm>
            <a:off x="2468880" y="2615184"/>
            <a:ext cx="4588459" cy="484632"/>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Video H.264 con audio AAC. Lo reproducen todos los navegadores.</a:t>
            </a:r>
            <a:endParaRPr lang="en-US" sz="1200" dirty="0"/>
          </a:p>
        </p:txBody>
      </p:sp>
      <p:sp>
        <p:nvSpPr>
          <p:cNvPr id="8" name="Text 6"/>
          <p:cNvSpPr txBox="1"/>
          <p:nvPr/>
        </p:nvSpPr>
        <p:spPr>
          <a:xfrm>
            <a:off x="7057339" y="2615184"/>
            <a:ext cx="320040" cy="484632"/>
          </a:xfrm>
          <a:prstGeom prst="rect">
            <a:avLst/>
          </a:prstGeom>
          <a:noFill/>
          <a:ln/>
        </p:spPr>
        <p:txBody>
          <a:bodyPr wrap="square" lIns="0" tIns="0" rIns="0" bIns="0" rtlCol="0" anchor="ctr"/>
          <a:lstStyle/>
          <a:p>
            <a:pPr algn="ctr" indent="0" marL="0">
              <a:buNone/>
            </a:pPr>
            <a:r>
              <a:rPr lang="en-US" sz="1200" dirty="0">
                <a:solidFill>
                  <a:srgbClr val="9AA2A7"/>
                </a:solidFill>
                <a:latin typeface="Calibri" pitchFamily="34" charset="0"/>
                <a:ea typeface="Calibri" pitchFamily="34" charset="-122"/>
                <a:cs typeface="Calibri" pitchFamily="34" charset="-120"/>
              </a:rPr>
              <a:t>→</a:t>
            </a:r>
            <a:endParaRPr lang="en-US" sz="1200" dirty="0"/>
          </a:p>
        </p:txBody>
      </p:sp>
      <p:sp>
        <p:nvSpPr>
          <p:cNvPr id="9" name="Text 7"/>
          <p:cNvSpPr txBox="1"/>
          <p:nvPr/>
        </p:nvSpPr>
        <p:spPr>
          <a:xfrm>
            <a:off x="7423099" y="2615184"/>
            <a:ext cx="3915461" cy="484632"/>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Tu formato base</a:t>
            </a:r>
            <a:endParaRPr lang="en-US" sz="1200" dirty="0"/>
          </a:p>
        </p:txBody>
      </p:sp>
      <p:sp>
        <p:nvSpPr>
          <p:cNvPr id="10" name="Shape 8"/>
          <p:cNvSpPr/>
          <p:nvPr/>
        </p:nvSpPr>
        <p:spPr>
          <a:xfrm>
            <a:off x="640080" y="3163824"/>
            <a:ext cx="10927080" cy="484632"/>
          </a:xfrm>
          <a:prstGeom prst="roundRect">
            <a:avLst>
              <a:gd name="adj" fmla="val 18868"/>
            </a:avLst>
          </a:prstGeom>
          <a:solidFill>
            <a:srgbClr val="FFFFFF"/>
          </a:solidFill>
          <a:ln w="12700">
            <a:solidFill>
              <a:srgbClr val="CFD5D9"/>
            </a:solidFill>
            <a:prstDash val="solid"/>
          </a:ln>
        </p:spPr>
      </p:sp>
      <p:sp>
        <p:nvSpPr>
          <p:cNvPr id="11" name="Text 9"/>
          <p:cNvSpPr txBox="1"/>
          <p:nvPr/>
        </p:nvSpPr>
        <p:spPr>
          <a:xfrm>
            <a:off x="914400" y="3163824"/>
            <a:ext cx="1554480" cy="484632"/>
          </a:xfrm>
          <a:prstGeom prst="rect">
            <a:avLst/>
          </a:prstGeom>
          <a:noFill/>
          <a:ln/>
        </p:spPr>
        <p:txBody>
          <a:bodyPr wrap="square" lIns="0" tIns="0" rIns="0" bIns="0" rtlCol="0" anchor="ctr"/>
          <a:lstStyle/>
          <a:p>
            <a:pPr indent="0" marL="0">
              <a:buNone/>
            </a:pPr>
            <a:r>
              <a:rPr lang="en-US" sz="1250" b="1" dirty="0">
                <a:solidFill>
                  <a:srgbClr val="177E89"/>
                </a:solidFill>
                <a:latin typeface="Consolas" pitchFamily="34" charset="0"/>
                <a:ea typeface="Consolas" pitchFamily="34" charset="-122"/>
                <a:cs typeface="Consolas" pitchFamily="34" charset="-120"/>
              </a:rPr>
              <a:t>.webm</a:t>
            </a:r>
            <a:endParaRPr lang="en-US" sz="1250" dirty="0"/>
          </a:p>
        </p:txBody>
      </p:sp>
      <p:sp>
        <p:nvSpPr>
          <p:cNvPr id="12" name="Text 10"/>
          <p:cNvSpPr txBox="1"/>
          <p:nvPr/>
        </p:nvSpPr>
        <p:spPr>
          <a:xfrm>
            <a:off x="2468880" y="3163824"/>
            <a:ext cx="4588459" cy="484632"/>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Video VP9 con audio Opus. Libre y con buena compresión.</a:t>
            </a:r>
            <a:endParaRPr lang="en-US" sz="1200" dirty="0"/>
          </a:p>
        </p:txBody>
      </p:sp>
      <p:sp>
        <p:nvSpPr>
          <p:cNvPr id="13" name="Text 11"/>
          <p:cNvSpPr txBox="1"/>
          <p:nvPr/>
        </p:nvSpPr>
        <p:spPr>
          <a:xfrm>
            <a:off x="7057339" y="3163824"/>
            <a:ext cx="320040" cy="484632"/>
          </a:xfrm>
          <a:prstGeom prst="rect">
            <a:avLst/>
          </a:prstGeom>
          <a:noFill/>
          <a:ln/>
        </p:spPr>
        <p:txBody>
          <a:bodyPr wrap="square" lIns="0" tIns="0" rIns="0" bIns="0" rtlCol="0" anchor="ctr"/>
          <a:lstStyle/>
          <a:p>
            <a:pPr algn="ctr" indent="0" marL="0">
              <a:buNone/>
            </a:pPr>
            <a:r>
              <a:rPr lang="en-US" sz="1200" dirty="0">
                <a:solidFill>
                  <a:srgbClr val="9AA2A7"/>
                </a:solidFill>
                <a:latin typeface="Calibri" pitchFamily="34" charset="0"/>
                <a:ea typeface="Calibri" pitchFamily="34" charset="-122"/>
                <a:cs typeface="Calibri" pitchFamily="34" charset="-120"/>
              </a:rPr>
              <a:t>→</a:t>
            </a:r>
            <a:endParaRPr lang="en-US" sz="1200" dirty="0"/>
          </a:p>
        </p:txBody>
      </p:sp>
      <p:sp>
        <p:nvSpPr>
          <p:cNvPr id="14" name="Text 12"/>
          <p:cNvSpPr txBox="1"/>
          <p:nvPr/>
        </p:nvSpPr>
        <p:spPr>
          <a:xfrm>
            <a:off x="7423099" y="3163824"/>
            <a:ext cx="3915461" cy="484632"/>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Segunda fuente</a:t>
            </a:r>
            <a:endParaRPr lang="en-US" sz="1200" dirty="0"/>
          </a:p>
        </p:txBody>
      </p:sp>
      <p:sp>
        <p:nvSpPr>
          <p:cNvPr id="15" name="Shape 13"/>
          <p:cNvSpPr/>
          <p:nvPr/>
        </p:nvSpPr>
        <p:spPr>
          <a:xfrm>
            <a:off x="640080" y="3712464"/>
            <a:ext cx="10927080" cy="484632"/>
          </a:xfrm>
          <a:prstGeom prst="roundRect">
            <a:avLst>
              <a:gd name="adj" fmla="val 18868"/>
            </a:avLst>
          </a:prstGeom>
          <a:solidFill>
            <a:srgbClr val="FFFFFF"/>
          </a:solidFill>
          <a:ln w="12700">
            <a:solidFill>
              <a:srgbClr val="CFD5D9"/>
            </a:solidFill>
            <a:prstDash val="solid"/>
          </a:ln>
        </p:spPr>
      </p:sp>
      <p:sp>
        <p:nvSpPr>
          <p:cNvPr id="16" name="Text 14"/>
          <p:cNvSpPr txBox="1"/>
          <p:nvPr/>
        </p:nvSpPr>
        <p:spPr>
          <a:xfrm>
            <a:off x="914400" y="3712464"/>
            <a:ext cx="1554480" cy="484632"/>
          </a:xfrm>
          <a:prstGeom prst="rect">
            <a:avLst/>
          </a:prstGeom>
          <a:noFill/>
          <a:ln/>
        </p:spPr>
        <p:txBody>
          <a:bodyPr wrap="square" lIns="0" tIns="0" rIns="0" bIns="0" rtlCol="0" anchor="ctr"/>
          <a:lstStyle/>
          <a:p>
            <a:pPr indent="0" marL="0">
              <a:buNone/>
            </a:pPr>
            <a:r>
              <a:rPr lang="en-US" sz="1250" b="1" dirty="0">
                <a:solidFill>
                  <a:srgbClr val="177E89"/>
                </a:solidFill>
                <a:latin typeface="Consolas" pitchFamily="34" charset="0"/>
                <a:ea typeface="Consolas" pitchFamily="34" charset="-122"/>
                <a:cs typeface="Consolas" pitchFamily="34" charset="-120"/>
              </a:rPr>
              <a:t>.mp3</a:t>
            </a:r>
            <a:endParaRPr lang="en-US" sz="1250" dirty="0"/>
          </a:p>
        </p:txBody>
      </p:sp>
      <p:sp>
        <p:nvSpPr>
          <p:cNvPr id="17" name="Text 15"/>
          <p:cNvSpPr txBox="1"/>
          <p:nvPr/>
        </p:nvSpPr>
        <p:spPr>
          <a:xfrm>
            <a:off x="2468880" y="3712464"/>
            <a:ext cx="4588459" cy="484632"/>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Audio. Lo reproducen todos los navegadores.</a:t>
            </a:r>
            <a:endParaRPr lang="en-US" sz="1200" dirty="0"/>
          </a:p>
        </p:txBody>
      </p:sp>
      <p:sp>
        <p:nvSpPr>
          <p:cNvPr id="18" name="Text 16"/>
          <p:cNvSpPr txBox="1"/>
          <p:nvPr/>
        </p:nvSpPr>
        <p:spPr>
          <a:xfrm>
            <a:off x="7057339" y="3712464"/>
            <a:ext cx="320040" cy="484632"/>
          </a:xfrm>
          <a:prstGeom prst="rect">
            <a:avLst/>
          </a:prstGeom>
          <a:noFill/>
          <a:ln/>
        </p:spPr>
        <p:txBody>
          <a:bodyPr wrap="square" lIns="0" tIns="0" rIns="0" bIns="0" rtlCol="0" anchor="ctr"/>
          <a:lstStyle/>
          <a:p>
            <a:pPr algn="ctr" indent="0" marL="0">
              <a:buNone/>
            </a:pPr>
            <a:r>
              <a:rPr lang="en-US" sz="1200" dirty="0">
                <a:solidFill>
                  <a:srgbClr val="9AA2A7"/>
                </a:solidFill>
                <a:latin typeface="Calibri" pitchFamily="34" charset="0"/>
                <a:ea typeface="Calibri" pitchFamily="34" charset="-122"/>
                <a:cs typeface="Calibri" pitchFamily="34" charset="-120"/>
              </a:rPr>
              <a:t>→</a:t>
            </a:r>
            <a:endParaRPr lang="en-US" sz="1200" dirty="0"/>
          </a:p>
        </p:txBody>
      </p:sp>
      <p:sp>
        <p:nvSpPr>
          <p:cNvPr id="19" name="Text 17"/>
          <p:cNvSpPr txBox="1"/>
          <p:nvPr/>
        </p:nvSpPr>
        <p:spPr>
          <a:xfrm>
            <a:off x="7423099" y="3712464"/>
            <a:ext cx="3915461" cy="484632"/>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Tu formato base</a:t>
            </a:r>
            <a:endParaRPr lang="en-US" sz="1200" dirty="0"/>
          </a:p>
        </p:txBody>
      </p:sp>
      <p:sp>
        <p:nvSpPr>
          <p:cNvPr id="20" name="Shape 18"/>
          <p:cNvSpPr/>
          <p:nvPr/>
        </p:nvSpPr>
        <p:spPr>
          <a:xfrm>
            <a:off x="640080" y="4261104"/>
            <a:ext cx="10927080" cy="484632"/>
          </a:xfrm>
          <a:prstGeom prst="roundRect">
            <a:avLst>
              <a:gd name="adj" fmla="val 18868"/>
            </a:avLst>
          </a:prstGeom>
          <a:solidFill>
            <a:srgbClr val="FFFFFF"/>
          </a:solidFill>
          <a:ln w="12700">
            <a:solidFill>
              <a:srgbClr val="CFD5D9"/>
            </a:solidFill>
            <a:prstDash val="solid"/>
          </a:ln>
        </p:spPr>
      </p:sp>
      <p:sp>
        <p:nvSpPr>
          <p:cNvPr id="21" name="Text 19"/>
          <p:cNvSpPr txBox="1"/>
          <p:nvPr/>
        </p:nvSpPr>
        <p:spPr>
          <a:xfrm>
            <a:off x="914400" y="4261104"/>
            <a:ext cx="1554480" cy="484632"/>
          </a:xfrm>
          <a:prstGeom prst="rect">
            <a:avLst/>
          </a:prstGeom>
          <a:noFill/>
          <a:ln/>
        </p:spPr>
        <p:txBody>
          <a:bodyPr wrap="square" lIns="0" tIns="0" rIns="0" bIns="0" rtlCol="0" anchor="ctr"/>
          <a:lstStyle/>
          <a:p>
            <a:pPr indent="0" marL="0">
              <a:buNone/>
            </a:pPr>
            <a:r>
              <a:rPr lang="en-US" sz="1250" b="1" dirty="0">
                <a:solidFill>
                  <a:srgbClr val="177E89"/>
                </a:solidFill>
                <a:latin typeface="Consolas" pitchFamily="34" charset="0"/>
                <a:ea typeface="Consolas" pitchFamily="34" charset="-122"/>
                <a:cs typeface="Consolas" pitchFamily="34" charset="-120"/>
              </a:rPr>
              <a:t>.ogg</a:t>
            </a:r>
            <a:endParaRPr lang="en-US" sz="1250" dirty="0"/>
          </a:p>
        </p:txBody>
      </p:sp>
      <p:sp>
        <p:nvSpPr>
          <p:cNvPr id="22" name="Text 20"/>
          <p:cNvSpPr txBox="1"/>
          <p:nvPr/>
        </p:nvSpPr>
        <p:spPr>
          <a:xfrm>
            <a:off x="2468880" y="4261104"/>
            <a:ext cx="4588459" cy="484632"/>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Audio Vorbis u Opus. Libre.</a:t>
            </a:r>
            <a:endParaRPr lang="en-US" sz="1200" dirty="0"/>
          </a:p>
        </p:txBody>
      </p:sp>
      <p:sp>
        <p:nvSpPr>
          <p:cNvPr id="23" name="Text 21"/>
          <p:cNvSpPr txBox="1"/>
          <p:nvPr/>
        </p:nvSpPr>
        <p:spPr>
          <a:xfrm>
            <a:off x="7057339" y="4261104"/>
            <a:ext cx="320040" cy="484632"/>
          </a:xfrm>
          <a:prstGeom prst="rect">
            <a:avLst/>
          </a:prstGeom>
          <a:noFill/>
          <a:ln/>
        </p:spPr>
        <p:txBody>
          <a:bodyPr wrap="square" lIns="0" tIns="0" rIns="0" bIns="0" rtlCol="0" anchor="ctr"/>
          <a:lstStyle/>
          <a:p>
            <a:pPr algn="ctr" indent="0" marL="0">
              <a:buNone/>
            </a:pPr>
            <a:r>
              <a:rPr lang="en-US" sz="1200" dirty="0">
                <a:solidFill>
                  <a:srgbClr val="9AA2A7"/>
                </a:solidFill>
                <a:latin typeface="Calibri" pitchFamily="34" charset="0"/>
                <a:ea typeface="Calibri" pitchFamily="34" charset="-122"/>
                <a:cs typeface="Calibri" pitchFamily="34" charset="-120"/>
              </a:rPr>
              <a:t>→</a:t>
            </a:r>
            <a:endParaRPr lang="en-US" sz="1200" dirty="0"/>
          </a:p>
        </p:txBody>
      </p:sp>
      <p:sp>
        <p:nvSpPr>
          <p:cNvPr id="24" name="Text 22"/>
          <p:cNvSpPr txBox="1"/>
          <p:nvPr/>
        </p:nvSpPr>
        <p:spPr>
          <a:xfrm>
            <a:off x="7423099" y="4261104"/>
            <a:ext cx="3915461" cy="484632"/>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Segunda fuente</a:t>
            </a:r>
            <a:endParaRPr lang="en-US" sz="1200" dirty="0"/>
          </a:p>
        </p:txBody>
      </p:sp>
      <p:sp>
        <p:nvSpPr>
          <p:cNvPr id="25" name="Shape 23"/>
          <p:cNvSpPr/>
          <p:nvPr/>
        </p:nvSpPr>
        <p:spPr>
          <a:xfrm>
            <a:off x="640080" y="4809744"/>
            <a:ext cx="10927080" cy="484632"/>
          </a:xfrm>
          <a:prstGeom prst="roundRect">
            <a:avLst>
              <a:gd name="adj" fmla="val 18868"/>
            </a:avLst>
          </a:prstGeom>
          <a:solidFill>
            <a:srgbClr val="FFFFFF"/>
          </a:solidFill>
          <a:ln w="12700">
            <a:solidFill>
              <a:srgbClr val="CFD5D9"/>
            </a:solidFill>
            <a:prstDash val="solid"/>
          </a:ln>
        </p:spPr>
      </p:sp>
      <p:sp>
        <p:nvSpPr>
          <p:cNvPr id="26" name="Text 24"/>
          <p:cNvSpPr txBox="1"/>
          <p:nvPr/>
        </p:nvSpPr>
        <p:spPr>
          <a:xfrm>
            <a:off x="914400" y="4809744"/>
            <a:ext cx="1554480" cy="484632"/>
          </a:xfrm>
          <a:prstGeom prst="rect">
            <a:avLst/>
          </a:prstGeom>
          <a:noFill/>
          <a:ln/>
        </p:spPr>
        <p:txBody>
          <a:bodyPr wrap="square" lIns="0" tIns="0" rIns="0" bIns="0" rtlCol="0" anchor="ctr"/>
          <a:lstStyle/>
          <a:p>
            <a:pPr indent="0" marL="0">
              <a:buNone/>
            </a:pPr>
            <a:r>
              <a:rPr lang="en-US" sz="1250" b="1" dirty="0">
                <a:solidFill>
                  <a:srgbClr val="A8402B"/>
                </a:solidFill>
                <a:latin typeface="Consolas" pitchFamily="34" charset="0"/>
                <a:ea typeface="Consolas" pitchFamily="34" charset="-122"/>
                <a:cs typeface="Consolas" pitchFamily="34" charset="-120"/>
              </a:rPr>
              <a:t>.wav</a:t>
            </a:r>
            <a:endParaRPr lang="en-US" sz="1250" dirty="0"/>
          </a:p>
        </p:txBody>
      </p:sp>
      <p:sp>
        <p:nvSpPr>
          <p:cNvPr id="27" name="Text 25"/>
          <p:cNvSpPr txBox="1"/>
          <p:nvPr/>
        </p:nvSpPr>
        <p:spPr>
          <a:xfrm>
            <a:off x="2468880" y="4809744"/>
            <a:ext cx="4588459" cy="484632"/>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Audio sin comprimir: un minuto pesa unos 10 MB.</a:t>
            </a:r>
            <a:endParaRPr lang="en-US" sz="1200" dirty="0"/>
          </a:p>
        </p:txBody>
      </p:sp>
      <p:sp>
        <p:nvSpPr>
          <p:cNvPr id="28" name="Text 26"/>
          <p:cNvSpPr txBox="1"/>
          <p:nvPr/>
        </p:nvSpPr>
        <p:spPr>
          <a:xfrm>
            <a:off x="7057339" y="4809744"/>
            <a:ext cx="320040" cy="484632"/>
          </a:xfrm>
          <a:prstGeom prst="rect">
            <a:avLst/>
          </a:prstGeom>
          <a:noFill/>
          <a:ln/>
        </p:spPr>
        <p:txBody>
          <a:bodyPr wrap="square" lIns="0" tIns="0" rIns="0" bIns="0" rtlCol="0" anchor="ctr"/>
          <a:lstStyle/>
          <a:p>
            <a:pPr algn="ctr" indent="0" marL="0">
              <a:buNone/>
            </a:pPr>
            <a:r>
              <a:rPr lang="en-US" sz="1200" dirty="0">
                <a:solidFill>
                  <a:srgbClr val="9AA2A7"/>
                </a:solidFill>
                <a:latin typeface="Calibri" pitchFamily="34" charset="0"/>
                <a:ea typeface="Calibri" pitchFamily="34" charset="-122"/>
                <a:cs typeface="Calibri" pitchFamily="34" charset="-120"/>
              </a:rPr>
              <a:t>→</a:t>
            </a:r>
            <a:endParaRPr lang="en-US" sz="1200" dirty="0"/>
          </a:p>
        </p:txBody>
      </p:sp>
      <p:sp>
        <p:nvSpPr>
          <p:cNvPr id="29" name="Text 27"/>
          <p:cNvSpPr txBox="1"/>
          <p:nvPr/>
        </p:nvSpPr>
        <p:spPr>
          <a:xfrm>
            <a:off x="7423099" y="4809744"/>
            <a:ext cx="3915461" cy="484632"/>
          </a:xfrm>
          <a:prstGeom prst="rect">
            <a:avLst/>
          </a:prstGeom>
          <a:noFill/>
          <a:ln/>
        </p:spPr>
        <p:txBody>
          <a:bodyPr wrap="square" lIns="0" tIns="0" rIns="0" bIns="0" rtlCol="0" anchor="ctr"/>
          <a:lstStyle/>
          <a:p>
            <a:pPr indent="0" marL="0">
              <a:buNone/>
            </a:pPr>
            <a:r>
              <a:rPr lang="en-US" sz="1200" dirty="0">
                <a:solidFill>
                  <a:srgbClr val="A8402B"/>
                </a:solidFill>
                <a:latin typeface="Calibri" pitchFamily="34" charset="0"/>
                <a:ea typeface="Calibri" pitchFamily="34" charset="-122"/>
                <a:cs typeface="Calibri" pitchFamily="34" charset="-120"/>
              </a:rPr>
              <a:t>Evítalo en la web</a:t>
            </a:r>
            <a:endParaRPr lang="en-US" sz="1200" dirty="0"/>
          </a:p>
        </p:txBody>
      </p:sp>
      <p:sp>
        <p:nvSpPr>
          <p:cNvPr id="30" name="Shape 28"/>
          <p:cNvSpPr/>
          <p:nvPr/>
        </p:nvSpPr>
        <p:spPr>
          <a:xfrm>
            <a:off x="640080" y="5358384"/>
            <a:ext cx="10927080" cy="484632"/>
          </a:xfrm>
          <a:prstGeom prst="roundRect">
            <a:avLst>
              <a:gd name="adj" fmla="val 18868"/>
            </a:avLst>
          </a:prstGeom>
          <a:solidFill>
            <a:srgbClr val="FFFFFF"/>
          </a:solidFill>
          <a:ln w="12700">
            <a:solidFill>
              <a:srgbClr val="CFD5D9"/>
            </a:solidFill>
            <a:prstDash val="solid"/>
          </a:ln>
        </p:spPr>
      </p:sp>
      <p:sp>
        <p:nvSpPr>
          <p:cNvPr id="31" name="Text 29"/>
          <p:cNvSpPr txBox="1"/>
          <p:nvPr/>
        </p:nvSpPr>
        <p:spPr>
          <a:xfrm>
            <a:off x="914400" y="5358384"/>
            <a:ext cx="1554480" cy="484632"/>
          </a:xfrm>
          <a:prstGeom prst="rect">
            <a:avLst/>
          </a:prstGeom>
          <a:noFill/>
          <a:ln/>
        </p:spPr>
        <p:txBody>
          <a:bodyPr wrap="square" lIns="0" tIns="0" rIns="0" bIns="0" rtlCol="0" anchor="ctr"/>
          <a:lstStyle/>
          <a:p>
            <a:pPr indent="0" marL="0">
              <a:buNone/>
            </a:pPr>
            <a:r>
              <a:rPr lang="en-US" sz="1250" b="1" dirty="0">
                <a:solidFill>
                  <a:srgbClr val="A8402B"/>
                </a:solidFill>
                <a:latin typeface="Consolas" pitchFamily="34" charset="0"/>
                <a:ea typeface="Consolas" pitchFamily="34" charset="-122"/>
                <a:cs typeface="Consolas" pitchFamily="34" charset="-120"/>
              </a:rPr>
              <a:t>.mov · .avi</a:t>
            </a:r>
            <a:endParaRPr lang="en-US" sz="1250" dirty="0"/>
          </a:p>
        </p:txBody>
      </p:sp>
      <p:sp>
        <p:nvSpPr>
          <p:cNvPr id="32" name="Text 30"/>
          <p:cNvSpPr txBox="1"/>
          <p:nvPr/>
        </p:nvSpPr>
        <p:spPr>
          <a:xfrm>
            <a:off x="2468880" y="5358384"/>
            <a:ext cx="4588459" cy="484632"/>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Formatos de cámara y de edición.</a:t>
            </a:r>
            <a:endParaRPr lang="en-US" sz="1200" dirty="0"/>
          </a:p>
        </p:txBody>
      </p:sp>
      <p:sp>
        <p:nvSpPr>
          <p:cNvPr id="33" name="Text 31"/>
          <p:cNvSpPr txBox="1"/>
          <p:nvPr/>
        </p:nvSpPr>
        <p:spPr>
          <a:xfrm>
            <a:off x="7057339" y="5358384"/>
            <a:ext cx="320040" cy="484632"/>
          </a:xfrm>
          <a:prstGeom prst="rect">
            <a:avLst/>
          </a:prstGeom>
          <a:noFill/>
          <a:ln/>
        </p:spPr>
        <p:txBody>
          <a:bodyPr wrap="square" lIns="0" tIns="0" rIns="0" bIns="0" rtlCol="0" anchor="ctr"/>
          <a:lstStyle/>
          <a:p>
            <a:pPr algn="ctr" indent="0" marL="0">
              <a:buNone/>
            </a:pPr>
            <a:r>
              <a:rPr lang="en-US" sz="1200" dirty="0">
                <a:solidFill>
                  <a:srgbClr val="9AA2A7"/>
                </a:solidFill>
                <a:latin typeface="Calibri" pitchFamily="34" charset="0"/>
                <a:ea typeface="Calibri" pitchFamily="34" charset="-122"/>
                <a:cs typeface="Calibri" pitchFamily="34" charset="-120"/>
              </a:rPr>
              <a:t>→</a:t>
            </a:r>
            <a:endParaRPr lang="en-US" sz="1200" dirty="0"/>
          </a:p>
        </p:txBody>
      </p:sp>
      <p:sp>
        <p:nvSpPr>
          <p:cNvPr id="34" name="Text 32"/>
          <p:cNvSpPr txBox="1"/>
          <p:nvPr/>
        </p:nvSpPr>
        <p:spPr>
          <a:xfrm>
            <a:off x="7423099" y="5358384"/>
            <a:ext cx="3915461" cy="484632"/>
          </a:xfrm>
          <a:prstGeom prst="rect">
            <a:avLst/>
          </a:prstGeom>
          <a:noFill/>
          <a:ln/>
        </p:spPr>
        <p:txBody>
          <a:bodyPr wrap="square" lIns="0" tIns="0" rIns="0" bIns="0" rtlCol="0" anchor="ctr"/>
          <a:lstStyle/>
          <a:p>
            <a:pPr indent="0" marL="0">
              <a:buNone/>
            </a:pPr>
            <a:r>
              <a:rPr lang="en-US" sz="1200" dirty="0">
                <a:solidFill>
                  <a:srgbClr val="A8402B"/>
                </a:solidFill>
                <a:latin typeface="Calibri" pitchFamily="34" charset="0"/>
                <a:ea typeface="Calibri" pitchFamily="34" charset="-122"/>
                <a:cs typeface="Calibri" pitchFamily="34" charset="-120"/>
              </a:rPr>
              <a:t>Convierte antes de subir</a:t>
            </a:r>
            <a:endParaRPr lang="en-US" sz="1200" dirty="0"/>
          </a:p>
        </p:txBody>
      </p:sp>
      <p:sp>
        <p:nvSpPr>
          <p:cNvPr id="35" name="Text 33"/>
          <p:cNvSpPr txBox="1"/>
          <p:nvPr/>
        </p:nvSpPr>
        <p:spPr>
          <a:xfrm>
            <a:off x="640080" y="5961888"/>
            <a:ext cx="10927080" cy="256032"/>
          </a:xfrm>
          <a:prstGeom prst="rect">
            <a:avLst/>
          </a:prstGeom>
          <a:noFill/>
          <a:ln/>
        </p:spPr>
        <p:txBody>
          <a:bodyPr wrap="square" lIns="0" tIns="0" rIns="0" bIns="0" rtlCol="0" anchor="ctr"/>
          <a:lstStyle/>
          <a:p>
            <a:pPr algn="ctr" indent="0" marL="0">
              <a:buNone/>
            </a:pPr>
            <a:r>
              <a:rPr lang="en-US" sz="1150" i="1" dirty="0">
                <a:solidFill>
                  <a:srgbClr val="5F676C"/>
                </a:solidFill>
                <a:latin typeface="Calibri" pitchFamily="34" charset="0"/>
                <a:ea typeface="Calibri" pitchFamily="34" charset="-122"/>
                <a:cs typeface="Calibri" pitchFamily="34" charset="-120"/>
              </a:rPr>
              <a:t>Regla práctica: MP4 y MP3 siempre; WebM y OGG como segunda fuente.</a:t>
            </a:r>
            <a:endParaRPr lang="en-US" sz="1150" dirty="0"/>
          </a:p>
        </p:txBody>
      </p:sp>
      <p:sp>
        <p:nvSpPr>
          <p:cNvPr id="36" name="Text 34"/>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17 / 48</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indent="0" marL="0">
              <a:buNone/>
            </a:pPr>
            <a:r>
              <a:rPr lang="en-US" sz="1050" b="1" spc="300" kern="0" dirty="0">
                <a:solidFill>
                  <a:srgbClr val="177E89"/>
                </a:solidFill>
                <a:latin typeface="Calibri" pitchFamily="34" charset="0"/>
                <a:ea typeface="Calibri" pitchFamily="34" charset="-122"/>
                <a:cs typeface="Calibri" pitchFamily="34" charset="-120"/>
              </a:rPr>
              <a:t>02 · FORMATOS</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&lt;source&gt;: varias fuentes para un mismo video</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indent="0" marL="0">
              <a:buNone/>
            </a:pPr>
            <a:r>
              <a:rPr lang="en-US" sz="1250" dirty="0">
                <a:solidFill>
                  <a:srgbClr val="5F676C"/>
                </a:solidFill>
                <a:latin typeface="Calibri" pitchFamily="34" charset="0"/>
                <a:ea typeface="Calibri" pitchFamily="34" charset="-122"/>
                <a:cs typeface="Calibri" pitchFamily="34" charset="-120"/>
              </a:rPr>
              <a:t>El navegador recorre la lista y usa la primera que sabe reproducir.</a:t>
            </a:r>
            <a:endParaRPr lang="en-US" sz="1250" dirty="0"/>
          </a:p>
        </p:txBody>
      </p:sp>
      <p:sp>
        <p:nvSpPr>
          <p:cNvPr id="5" name="Shape 3"/>
          <p:cNvSpPr/>
          <p:nvPr/>
        </p:nvSpPr>
        <p:spPr>
          <a:xfrm>
            <a:off x="640080" y="2615184"/>
            <a:ext cx="5943600" cy="2331720"/>
          </a:xfrm>
          <a:prstGeom prst="roundRect">
            <a:avLst>
              <a:gd name="adj" fmla="val 3922"/>
            </a:avLst>
          </a:prstGeom>
          <a:solidFill>
            <a:srgbClr val="2B2B2B"/>
          </a:solidFill>
          <a:ln w="12700">
            <a:solidFill>
              <a:srgbClr val="2B2B2B"/>
            </a:solidFill>
            <a:prstDash val="solid"/>
          </a:ln>
        </p:spPr>
      </p:sp>
      <p:sp>
        <p:nvSpPr>
          <p:cNvPr id="6" name="Text 4"/>
          <p:cNvSpPr txBox="1"/>
          <p:nvPr/>
        </p:nvSpPr>
        <p:spPr>
          <a:xfrm>
            <a:off x="868680" y="2779776"/>
            <a:ext cx="5486400" cy="2002536"/>
          </a:xfrm>
          <a:prstGeom prst="rect">
            <a:avLst/>
          </a:prstGeom>
          <a:noFill/>
          <a:ln/>
        </p:spPr>
        <p:txBody>
          <a:bodyPr wrap="square" lIns="0" tIns="0" rIns="0" bIns="0" rtlCol="0" anchor="t"/>
          <a:lstStyle/>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&lt;video controls width="315" height="560"&gt;</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a:t>
            </a:r>
            <a:pPr indent="0" marL="0">
              <a:lnSpc>
                <a:spcPct val="125000"/>
              </a:lnSpc>
              <a:buNone/>
            </a:pPr>
            <a:r>
              <a:rPr lang="en-US" sz="1100" b="1" dirty="0">
                <a:solidFill>
                  <a:srgbClr val="8FE1E8"/>
                </a:solidFill>
                <a:latin typeface="Consolas" pitchFamily="34" charset="0"/>
                <a:ea typeface="Consolas" pitchFamily="34" charset="-122"/>
                <a:cs typeface="Consolas" pitchFamily="34" charset="-120"/>
              </a:rPr>
              <a:t>&lt;source</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src="assets/media/video/presentacion.webm"</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a:t>
            </a:r>
            <a:pPr indent="0" marL="0">
              <a:lnSpc>
                <a:spcPct val="125000"/>
              </a:lnSpc>
              <a:buNone/>
            </a:pPr>
            <a:r>
              <a:rPr lang="en-US" sz="1100" b="1" dirty="0">
                <a:solidFill>
                  <a:srgbClr val="8FE1E8"/>
                </a:solidFill>
                <a:latin typeface="Consolas" pitchFamily="34" charset="0"/>
                <a:ea typeface="Consolas" pitchFamily="34" charset="-122"/>
                <a:cs typeface="Consolas" pitchFamily="34" charset="-120"/>
              </a:rPr>
              <a:t>type="video/webm"</a:t>
            </a:r>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/&gt;</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a:t>
            </a:r>
            <a:pPr indent="0" marL="0">
              <a:lnSpc>
                <a:spcPct val="125000"/>
              </a:lnSpc>
              <a:buNone/>
            </a:pPr>
            <a:r>
              <a:rPr lang="en-US" sz="1100" b="1" dirty="0">
                <a:solidFill>
                  <a:srgbClr val="8FE1E8"/>
                </a:solidFill>
                <a:latin typeface="Consolas" pitchFamily="34" charset="0"/>
                <a:ea typeface="Consolas" pitchFamily="34" charset="-122"/>
                <a:cs typeface="Consolas" pitchFamily="34" charset="-120"/>
              </a:rPr>
              <a:t>&lt;source</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src="assets/media/video/presentacion.mp4"</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a:t>
            </a:r>
            <a:pPr indent="0" marL="0">
              <a:lnSpc>
                <a:spcPct val="125000"/>
              </a:lnSpc>
              <a:buNone/>
            </a:pPr>
            <a:r>
              <a:rPr lang="en-US" sz="1100" b="1" dirty="0">
                <a:solidFill>
                  <a:srgbClr val="8FE1E8"/>
                </a:solidFill>
                <a:latin typeface="Consolas" pitchFamily="34" charset="0"/>
                <a:ea typeface="Consolas" pitchFamily="34" charset="-122"/>
                <a:cs typeface="Consolas" pitchFamily="34" charset="-120"/>
              </a:rPr>
              <a:t>type="video/mp4"</a:t>
            </a:r>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/&gt;</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&lt;p&gt;Tu navegador no puede reproducir este video.&lt;/p&gt;</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&lt;/video&gt;</a:t>
            </a:r>
            <a:endParaRPr lang="en-US" sz="1100" dirty="0"/>
          </a:p>
        </p:txBody>
      </p:sp>
      <p:sp>
        <p:nvSpPr>
          <p:cNvPr id="7" name="Shape 5"/>
          <p:cNvSpPr/>
          <p:nvPr/>
        </p:nvSpPr>
        <p:spPr>
          <a:xfrm>
            <a:off x="6812280" y="2615184"/>
            <a:ext cx="4754880" cy="713232"/>
          </a:xfrm>
          <a:prstGeom prst="roundRect">
            <a:avLst>
              <a:gd name="adj" fmla="val 12821"/>
            </a:avLst>
          </a:prstGeom>
          <a:solidFill>
            <a:srgbClr val="FFFFFF"/>
          </a:solidFill>
          <a:ln w="12700">
            <a:solidFill>
              <a:srgbClr val="CFD5D9"/>
            </a:solidFill>
            <a:prstDash val="solid"/>
          </a:ln>
        </p:spPr>
      </p:sp>
      <p:sp>
        <p:nvSpPr>
          <p:cNvPr id="8" name="Text 6"/>
          <p:cNvSpPr txBox="1"/>
          <p:nvPr/>
        </p:nvSpPr>
        <p:spPr>
          <a:xfrm>
            <a:off x="7086600" y="2615184"/>
            <a:ext cx="1417320" cy="713232"/>
          </a:xfrm>
          <a:prstGeom prst="rect">
            <a:avLst/>
          </a:prstGeom>
          <a:noFill/>
          <a:ln/>
        </p:spPr>
        <p:txBody>
          <a:bodyPr wrap="square" lIns="0" tIns="0" rIns="0" bIns="0" rtlCol="0" anchor="ctr"/>
          <a:lstStyle/>
          <a:p>
            <a:pPr indent="0" marL="0">
              <a:buNone/>
            </a:pPr>
            <a:r>
              <a:rPr lang="en-US" sz="1250" b="1" dirty="0">
                <a:solidFill>
                  <a:srgbClr val="177E89"/>
                </a:solidFill>
                <a:latin typeface="Calibri" pitchFamily="34" charset="0"/>
                <a:ea typeface="Calibri" pitchFamily="34" charset="-122"/>
                <a:cs typeface="Calibri" pitchFamily="34" charset="-120"/>
              </a:rPr>
              <a:t>De arriba abajo</a:t>
            </a:r>
            <a:endParaRPr lang="en-US" sz="1250" dirty="0"/>
          </a:p>
        </p:txBody>
      </p:sp>
      <p:sp>
        <p:nvSpPr>
          <p:cNvPr id="9" name="Text 7"/>
          <p:cNvSpPr txBox="1"/>
          <p:nvPr/>
        </p:nvSpPr>
        <p:spPr>
          <a:xfrm>
            <a:off x="8503920" y="2615184"/>
            <a:ext cx="2788920" cy="713232"/>
          </a:xfrm>
          <a:prstGeom prst="rect">
            <a:avLst/>
          </a:prstGeom>
          <a:noFill/>
          <a:ln/>
        </p:spPr>
        <p:txBody>
          <a:bodyPr wrap="square" lIns="0" tIns="0" rIns="0" bIns="0" rtlCol="0" anchor="ctr"/>
          <a:lstStyle/>
          <a:p>
            <a:pPr indent="0" marL="0">
              <a:buNone/>
            </a:pPr>
            <a:r>
              <a:rPr lang="en-US" sz="1150" dirty="0">
                <a:solidFill>
                  <a:srgbClr val="33393D"/>
                </a:solidFill>
                <a:latin typeface="Calibri" pitchFamily="34" charset="0"/>
                <a:ea typeface="Calibri" pitchFamily="34" charset="-122"/>
                <a:cs typeface="Calibri" pitchFamily="34" charset="-120"/>
              </a:rPr>
              <a:t>Usa la primera fuente compatible e ignora las demás.</a:t>
            </a:r>
            <a:endParaRPr lang="en-US" sz="1150" dirty="0"/>
          </a:p>
        </p:txBody>
      </p:sp>
      <p:sp>
        <p:nvSpPr>
          <p:cNvPr id="10" name="Shape 8"/>
          <p:cNvSpPr/>
          <p:nvPr/>
        </p:nvSpPr>
        <p:spPr>
          <a:xfrm>
            <a:off x="6812280" y="3424428"/>
            <a:ext cx="4754880" cy="713232"/>
          </a:xfrm>
          <a:prstGeom prst="roundRect">
            <a:avLst>
              <a:gd name="adj" fmla="val 12821"/>
            </a:avLst>
          </a:prstGeom>
          <a:solidFill>
            <a:srgbClr val="FFFFFF"/>
          </a:solidFill>
          <a:ln w="12700">
            <a:solidFill>
              <a:srgbClr val="CFD5D9"/>
            </a:solidFill>
            <a:prstDash val="solid"/>
          </a:ln>
        </p:spPr>
      </p:sp>
      <p:sp>
        <p:nvSpPr>
          <p:cNvPr id="11" name="Text 9"/>
          <p:cNvSpPr txBox="1"/>
          <p:nvPr/>
        </p:nvSpPr>
        <p:spPr>
          <a:xfrm>
            <a:off x="7086600" y="3424428"/>
            <a:ext cx="1417320" cy="713232"/>
          </a:xfrm>
          <a:prstGeom prst="rect">
            <a:avLst/>
          </a:prstGeom>
          <a:noFill/>
          <a:ln/>
        </p:spPr>
        <p:txBody>
          <a:bodyPr wrap="square" lIns="0" tIns="0" rIns="0" bIns="0" rtlCol="0" anchor="ctr"/>
          <a:lstStyle/>
          <a:p>
            <a:pPr indent="0" marL="0">
              <a:buNone/>
            </a:pPr>
            <a:r>
              <a:rPr lang="en-US" sz="1250" b="1" dirty="0">
                <a:solidFill>
                  <a:srgbClr val="177E89"/>
                </a:solidFill>
                <a:latin typeface="Calibri" pitchFamily="34" charset="0"/>
                <a:ea typeface="Calibri" pitchFamily="34" charset="-122"/>
                <a:cs typeface="Calibri" pitchFamily="34" charset="-120"/>
              </a:rPr>
              <a:t>type</a:t>
            </a:r>
            <a:endParaRPr lang="en-US" sz="1250" dirty="0"/>
          </a:p>
        </p:txBody>
      </p:sp>
      <p:sp>
        <p:nvSpPr>
          <p:cNvPr id="12" name="Text 10"/>
          <p:cNvSpPr txBox="1"/>
          <p:nvPr/>
        </p:nvSpPr>
        <p:spPr>
          <a:xfrm>
            <a:off x="8503920" y="3424428"/>
            <a:ext cx="2788920" cy="713232"/>
          </a:xfrm>
          <a:prstGeom prst="rect">
            <a:avLst/>
          </a:prstGeom>
          <a:noFill/>
          <a:ln/>
        </p:spPr>
        <p:txBody>
          <a:bodyPr wrap="square" lIns="0" tIns="0" rIns="0" bIns="0" rtlCol="0" anchor="ctr"/>
          <a:lstStyle/>
          <a:p>
            <a:pPr indent="0" marL="0">
              <a:buNone/>
            </a:pPr>
            <a:r>
              <a:rPr lang="en-US" sz="1150" dirty="0">
                <a:solidFill>
                  <a:srgbClr val="33393D"/>
                </a:solidFill>
                <a:latin typeface="Calibri" pitchFamily="34" charset="0"/>
                <a:ea typeface="Calibri" pitchFamily="34" charset="-122"/>
                <a:cs typeface="Calibri" pitchFamily="34" charset="-120"/>
              </a:rPr>
              <a:t>Le permite decidir sin descargar el archivo.</a:t>
            </a:r>
            <a:endParaRPr lang="en-US" sz="1150" dirty="0"/>
          </a:p>
        </p:txBody>
      </p:sp>
      <p:sp>
        <p:nvSpPr>
          <p:cNvPr id="13" name="Shape 11"/>
          <p:cNvSpPr/>
          <p:nvPr/>
        </p:nvSpPr>
        <p:spPr>
          <a:xfrm>
            <a:off x="6812280" y="4233672"/>
            <a:ext cx="4754880" cy="713232"/>
          </a:xfrm>
          <a:prstGeom prst="roundRect">
            <a:avLst>
              <a:gd name="adj" fmla="val 12821"/>
            </a:avLst>
          </a:prstGeom>
          <a:solidFill>
            <a:srgbClr val="FFFFFF"/>
          </a:solidFill>
          <a:ln w="12700">
            <a:solidFill>
              <a:srgbClr val="CFD5D9"/>
            </a:solidFill>
            <a:prstDash val="solid"/>
          </a:ln>
        </p:spPr>
      </p:sp>
      <p:sp>
        <p:nvSpPr>
          <p:cNvPr id="14" name="Text 12"/>
          <p:cNvSpPr txBox="1"/>
          <p:nvPr/>
        </p:nvSpPr>
        <p:spPr>
          <a:xfrm>
            <a:off x="7086600" y="4233672"/>
            <a:ext cx="1417320" cy="713232"/>
          </a:xfrm>
          <a:prstGeom prst="rect">
            <a:avLst/>
          </a:prstGeom>
          <a:noFill/>
          <a:ln/>
        </p:spPr>
        <p:txBody>
          <a:bodyPr wrap="square" lIns="0" tIns="0" rIns="0" bIns="0" rtlCol="0" anchor="ctr"/>
          <a:lstStyle/>
          <a:p>
            <a:pPr indent="0" marL="0">
              <a:buNone/>
            </a:pPr>
            <a:r>
              <a:rPr lang="en-US" sz="1250" b="1" dirty="0">
                <a:solidFill>
                  <a:srgbClr val="177E89"/>
                </a:solidFill>
                <a:latin typeface="Calibri" pitchFamily="34" charset="0"/>
                <a:ea typeface="Calibri" pitchFamily="34" charset="-122"/>
                <a:cs typeface="Calibri" pitchFamily="34" charset="-120"/>
              </a:rPr>
              <a:t>El texto final</a:t>
            </a:r>
            <a:endParaRPr lang="en-US" sz="1250" dirty="0"/>
          </a:p>
        </p:txBody>
      </p:sp>
      <p:sp>
        <p:nvSpPr>
          <p:cNvPr id="15" name="Text 13"/>
          <p:cNvSpPr txBox="1"/>
          <p:nvPr/>
        </p:nvSpPr>
        <p:spPr>
          <a:xfrm>
            <a:off x="8503920" y="4233672"/>
            <a:ext cx="2788920" cy="713232"/>
          </a:xfrm>
          <a:prstGeom prst="rect">
            <a:avLst/>
          </a:prstGeom>
          <a:noFill/>
          <a:ln/>
        </p:spPr>
        <p:txBody>
          <a:bodyPr wrap="square" lIns="0" tIns="0" rIns="0" bIns="0" rtlCol="0" anchor="ctr"/>
          <a:lstStyle/>
          <a:p>
            <a:pPr indent="0" marL="0">
              <a:buNone/>
            </a:pPr>
            <a:r>
              <a:rPr lang="en-US" sz="1150" dirty="0">
                <a:solidFill>
                  <a:srgbClr val="33393D"/>
                </a:solidFill>
                <a:latin typeface="Calibri" pitchFamily="34" charset="0"/>
                <a:ea typeface="Calibri" pitchFamily="34" charset="-122"/>
                <a:cs typeface="Calibri" pitchFamily="34" charset="-120"/>
              </a:rPr>
              <a:t>Solo aparece en navegadores que no conocen &lt;video&gt;.</a:t>
            </a:r>
            <a:endParaRPr lang="en-US" sz="1150" dirty="0"/>
          </a:p>
        </p:txBody>
      </p:sp>
      <p:sp>
        <p:nvSpPr>
          <p:cNvPr id="16" name="Shape 14"/>
          <p:cNvSpPr/>
          <p:nvPr/>
        </p:nvSpPr>
        <p:spPr>
          <a:xfrm>
            <a:off x="640080" y="5175504"/>
            <a:ext cx="10927080" cy="566928"/>
          </a:xfrm>
          <a:prstGeom prst="roundRect">
            <a:avLst>
              <a:gd name="adj" fmla="val 16129"/>
            </a:avLst>
          </a:prstGeom>
          <a:solidFill>
            <a:srgbClr val="FFFFFF"/>
          </a:solidFill>
          <a:ln w="12700">
            <a:solidFill>
              <a:srgbClr val="CFD5D9"/>
            </a:solidFill>
            <a:prstDash val="solid"/>
          </a:ln>
        </p:spPr>
      </p:sp>
      <p:sp>
        <p:nvSpPr>
          <p:cNvPr id="17" name="Text 15"/>
          <p:cNvSpPr txBox="1"/>
          <p:nvPr/>
        </p:nvSpPr>
        <p:spPr>
          <a:xfrm>
            <a:off x="950976" y="5175504"/>
            <a:ext cx="10305288" cy="566928"/>
          </a:xfrm>
          <a:prstGeom prst="rect">
            <a:avLst/>
          </a:prstGeom>
          <a:noFill/>
          <a:ln/>
        </p:spPr>
        <p:txBody>
          <a:bodyPr wrap="square" lIns="0" tIns="0" rIns="0" bIns="0" rtlCol="0" anchor="ctr"/>
          <a:lstStyle/>
          <a:p>
            <a:pPr indent="0" marL="0">
              <a:lnSpc>
                <a:spcPct val="120000"/>
              </a:lnSpc>
              <a:buNone/>
            </a:pPr>
            <a:r>
              <a:rPr lang="en-US" sz="1200" b="1" dirty="0">
                <a:solidFill>
                  <a:srgbClr val="A8402B"/>
                </a:solidFill>
                <a:latin typeface="Calibri" pitchFamily="34" charset="0"/>
                <a:ea typeface="Calibri" pitchFamily="34" charset="-122"/>
                <a:cs typeface="Calibri" pitchFamily="34" charset="-120"/>
              </a:rPr>
              <a:t>Cuidado:  </a:t>
            </a:r>
            <a:pPr indent="0" marL="0">
              <a:lnSpc>
                <a:spcPct val="120000"/>
              </a:lnSpc>
              <a:buNone/>
            </a:pPr>
            <a:r>
              <a:rPr lang="en-US" sz="1200" dirty="0">
                <a:solidFill>
                  <a:srgbClr val="33393D"/>
                </a:solidFill>
                <a:latin typeface="Calibri" pitchFamily="34" charset="0"/>
                <a:ea typeface="Calibri" pitchFamily="34" charset="-122"/>
                <a:cs typeface="Calibri" pitchFamily="34" charset="-120"/>
              </a:rPr>
              <a:t>si usas &lt;source&gt;, la etiqueta &lt;video&gt; ya no lleva el atributo src.</a:t>
            </a:r>
            <a:endParaRPr lang="en-US" sz="1200" dirty="0"/>
          </a:p>
        </p:txBody>
      </p:sp>
      <p:sp>
        <p:nvSpPr>
          <p:cNvPr id="18" name="Text 16"/>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18 / 48</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indent="0" marL="0">
              <a:buNone/>
            </a:pPr>
            <a:r>
              <a:rPr lang="en-US" sz="1050" b="1" spc="300" kern="0" dirty="0">
                <a:solidFill>
                  <a:srgbClr val="177E89"/>
                </a:solidFill>
                <a:latin typeface="Calibri" pitchFamily="34" charset="0"/>
                <a:ea typeface="Calibri" pitchFamily="34" charset="-122"/>
                <a:cs typeface="Calibri" pitchFamily="34" charset="-120"/>
              </a:rPr>
              <a:t>02 · FORMATOS</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&lt;audio&gt;: la misma idea, sin imagen</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indent="0" marL="0">
              <a:buNone/>
            </a:pPr>
            <a:r>
              <a:rPr lang="en-US" sz="1250" dirty="0">
                <a:solidFill>
                  <a:srgbClr val="5F676C"/>
                </a:solidFill>
                <a:latin typeface="Calibri" pitchFamily="34" charset="0"/>
                <a:ea typeface="Calibri" pitchFamily="34" charset="-122"/>
                <a:cs typeface="Calibri" pitchFamily="34" charset="-120"/>
              </a:rPr>
              <a:t>Mismos atributos y mismas fuentes. Solo cambia lo que se ve.</a:t>
            </a:r>
            <a:endParaRPr lang="en-US" sz="1250" dirty="0"/>
          </a:p>
        </p:txBody>
      </p:sp>
      <p:sp>
        <p:nvSpPr>
          <p:cNvPr id="5" name="Shape 3"/>
          <p:cNvSpPr/>
          <p:nvPr/>
        </p:nvSpPr>
        <p:spPr>
          <a:xfrm>
            <a:off x="640080" y="2615184"/>
            <a:ext cx="5943600" cy="2240280"/>
          </a:xfrm>
          <a:prstGeom prst="roundRect">
            <a:avLst>
              <a:gd name="adj" fmla="val 4082"/>
            </a:avLst>
          </a:prstGeom>
          <a:solidFill>
            <a:srgbClr val="2B2B2B"/>
          </a:solidFill>
          <a:ln w="12700">
            <a:solidFill>
              <a:srgbClr val="2B2B2B"/>
            </a:solidFill>
            <a:prstDash val="solid"/>
          </a:ln>
        </p:spPr>
      </p:sp>
      <p:sp>
        <p:nvSpPr>
          <p:cNvPr id="6" name="Text 4"/>
          <p:cNvSpPr txBox="1"/>
          <p:nvPr/>
        </p:nvSpPr>
        <p:spPr>
          <a:xfrm>
            <a:off x="868680" y="2779776"/>
            <a:ext cx="5486400" cy="1911096"/>
          </a:xfrm>
          <a:prstGeom prst="rect">
            <a:avLst/>
          </a:prstGeom>
          <a:noFill/>
          <a:ln/>
        </p:spPr>
        <p:txBody>
          <a:bodyPr wrap="square" lIns="0" tIns="0" rIns="0" bIns="0" rtlCol="0" anchor="t"/>
          <a:lstStyle/>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&lt;audio controls&gt;</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&lt;source</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src="assets/media/audio/presentacion.ogg"</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a:t>
            </a:r>
            <a:pPr indent="0" marL="0">
              <a:lnSpc>
                <a:spcPct val="125000"/>
              </a:lnSpc>
              <a:buNone/>
            </a:pPr>
            <a:r>
              <a:rPr lang="en-US" sz="1100" b="1" dirty="0">
                <a:solidFill>
                  <a:srgbClr val="8FE1E8"/>
                </a:solidFill>
                <a:latin typeface="Consolas" pitchFamily="34" charset="0"/>
                <a:ea typeface="Consolas" pitchFamily="34" charset="-122"/>
                <a:cs typeface="Consolas" pitchFamily="34" charset="-120"/>
              </a:rPr>
              <a:t>type="audio/ogg"</a:t>
            </a:r>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/&gt;</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&lt;source</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src="assets/media/audio/presentacion.mp3"</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a:t>
            </a:r>
            <a:pPr indent="0" marL="0">
              <a:lnSpc>
                <a:spcPct val="125000"/>
              </a:lnSpc>
              <a:buNone/>
            </a:pPr>
            <a:r>
              <a:rPr lang="en-US" sz="1100" b="1" dirty="0">
                <a:solidFill>
                  <a:srgbClr val="8FE1E8"/>
                </a:solidFill>
                <a:latin typeface="Consolas" pitchFamily="34" charset="0"/>
                <a:ea typeface="Consolas" pitchFamily="34" charset="-122"/>
                <a:cs typeface="Consolas" pitchFamily="34" charset="-120"/>
              </a:rPr>
              <a:t>type="audio/mpeg"</a:t>
            </a:r>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/&gt;</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&lt;p&gt;Tu navegador no puede reproducir este audio.&lt;/p&gt;</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&lt;/audio&gt;</a:t>
            </a:r>
            <a:endParaRPr lang="en-US" sz="1100" dirty="0"/>
          </a:p>
        </p:txBody>
      </p:sp>
      <p:sp>
        <p:nvSpPr>
          <p:cNvPr id="7" name="Shape 5"/>
          <p:cNvSpPr/>
          <p:nvPr/>
        </p:nvSpPr>
        <p:spPr>
          <a:xfrm>
            <a:off x="6812280" y="2615184"/>
            <a:ext cx="4754880" cy="681228"/>
          </a:xfrm>
          <a:prstGeom prst="roundRect">
            <a:avLst>
              <a:gd name="adj" fmla="val 13423"/>
            </a:avLst>
          </a:prstGeom>
          <a:solidFill>
            <a:srgbClr val="FFFFFF"/>
          </a:solidFill>
          <a:ln w="12700">
            <a:solidFill>
              <a:srgbClr val="CFD5D9"/>
            </a:solidFill>
            <a:prstDash val="solid"/>
          </a:ln>
        </p:spPr>
      </p:sp>
      <p:sp>
        <p:nvSpPr>
          <p:cNvPr id="8" name="Text 6"/>
          <p:cNvSpPr txBox="1"/>
          <p:nvPr/>
        </p:nvSpPr>
        <p:spPr>
          <a:xfrm>
            <a:off x="7086600" y="2615184"/>
            <a:ext cx="1280160" cy="681228"/>
          </a:xfrm>
          <a:prstGeom prst="rect">
            <a:avLst/>
          </a:prstGeom>
          <a:noFill/>
          <a:ln/>
        </p:spPr>
        <p:txBody>
          <a:bodyPr wrap="square" lIns="0" tIns="0" rIns="0" bIns="0" rtlCol="0" anchor="ctr"/>
          <a:lstStyle/>
          <a:p>
            <a:pPr indent="0" marL="0">
              <a:buNone/>
            </a:pPr>
            <a:r>
              <a:rPr lang="en-US" sz="1200" b="1" dirty="0">
                <a:solidFill>
                  <a:srgbClr val="177E89"/>
                </a:solidFill>
                <a:latin typeface="Consolas" pitchFamily="34" charset="0"/>
                <a:ea typeface="Consolas" pitchFamily="34" charset="-122"/>
                <a:cs typeface="Consolas" pitchFamily="34" charset="-120"/>
              </a:rPr>
              <a:t>audio/mpeg</a:t>
            </a:r>
            <a:endParaRPr lang="en-US" sz="1200" dirty="0"/>
          </a:p>
        </p:txBody>
      </p:sp>
      <p:sp>
        <p:nvSpPr>
          <p:cNvPr id="9" name="Text 7"/>
          <p:cNvSpPr txBox="1"/>
          <p:nvPr/>
        </p:nvSpPr>
        <p:spPr>
          <a:xfrm>
            <a:off x="8366760" y="2615184"/>
            <a:ext cx="2926080" cy="681228"/>
          </a:xfrm>
          <a:prstGeom prst="rect">
            <a:avLst/>
          </a:prstGeom>
          <a:noFill/>
          <a:ln/>
        </p:spPr>
        <p:txBody>
          <a:bodyPr wrap="square" lIns="0" tIns="0" rIns="0" bIns="0" rtlCol="0" anchor="ctr"/>
          <a:lstStyle/>
          <a:p>
            <a:pPr indent="0" marL="0">
              <a:buNone/>
            </a:pPr>
            <a:r>
              <a:rPr lang="en-US" sz="1150" dirty="0">
                <a:solidFill>
                  <a:srgbClr val="33393D"/>
                </a:solidFill>
                <a:latin typeface="Calibri" pitchFamily="34" charset="0"/>
                <a:ea typeface="Calibri" pitchFamily="34" charset="-122"/>
                <a:cs typeface="Calibri" pitchFamily="34" charset="-120"/>
              </a:rPr>
              <a:t>Es el type del MP3. Escribir audio/mp3 es un error frecuente.</a:t>
            </a:r>
            <a:endParaRPr lang="en-US" sz="1150" dirty="0"/>
          </a:p>
        </p:txBody>
      </p:sp>
      <p:sp>
        <p:nvSpPr>
          <p:cNvPr id="10" name="Shape 8"/>
          <p:cNvSpPr/>
          <p:nvPr/>
        </p:nvSpPr>
        <p:spPr>
          <a:xfrm>
            <a:off x="6812280" y="3394253"/>
            <a:ext cx="4754880" cy="681228"/>
          </a:xfrm>
          <a:prstGeom prst="roundRect">
            <a:avLst>
              <a:gd name="adj" fmla="val 13423"/>
            </a:avLst>
          </a:prstGeom>
          <a:solidFill>
            <a:srgbClr val="FFFFFF"/>
          </a:solidFill>
          <a:ln w="12700">
            <a:solidFill>
              <a:srgbClr val="CFD5D9"/>
            </a:solidFill>
            <a:prstDash val="solid"/>
          </a:ln>
        </p:spPr>
      </p:sp>
      <p:sp>
        <p:nvSpPr>
          <p:cNvPr id="11" name="Text 9"/>
          <p:cNvSpPr txBox="1"/>
          <p:nvPr/>
        </p:nvSpPr>
        <p:spPr>
          <a:xfrm>
            <a:off x="7086600" y="3394253"/>
            <a:ext cx="1280160" cy="681228"/>
          </a:xfrm>
          <a:prstGeom prst="rect">
            <a:avLst/>
          </a:prstGeom>
          <a:noFill/>
          <a:ln/>
        </p:spPr>
        <p:txBody>
          <a:bodyPr wrap="square" lIns="0" tIns="0" rIns="0" bIns="0" rtlCol="0" anchor="ctr"/>
          <a:lstStyle/>
          <a:p>
            <a:pPr indent="0" marL="0">
              <a:buNone/>
            </a:pPr>
            <a:r>
              <a:rPr lang="en-US" sz="1200" b="1" dirty="0">
                <a:solidFill>
                  <a:srgbClr val="177E89"/>
                </a:solidFill>
                <a:latin typeface="Consolas" pitchFamily="34" charset="0"/>
                <a:ea typeface="Consolas" pitchFamily="34" charset="-122"/>
                <a:cs typeface="Consolas" pitchFamily="34" charset="-120"/>
              </a:rPr>
              <a:t>controls</a:t>
            </a:r>
            <a:endParaRPr lang="en-US" sz="1200" dirty="0"/>
          </a:p>
        </p:txBody>
      </p:sp>
      <p:sp>
        <p:nvSpPr>
          <p:cNvPr id="12" name="Text 10"/>
          <p:cNvSpPr txBox="1"/>
          <p:nvPr/>
        </p:nvSpPr>
        <p:spPr>
          <a:xfrm>
            <a:off x="8366760" y="3394253"/>
            <a:ext cx="2926080" cy="681228"/>
          </a:xfrm>
          <a:prstGeom prst="rect">
            <a:avLst/>
          </a:prstGeom>
          <a:noFill/>
          <a:ln/>
        </p:spPr>
        <p:txBody>
          <a:bodyPr wrap="square" lIns="0" tIns="0" rIns="0" bIns="0" rtlCol="0" anchor="ctr"/>
          <a:lstStyle/>
          <a:p>
            <a:pPr indent="0" marL="0">
              <a:buNone/>
            </a:pPr>
            <a:r>
              <a:rPr lang="en-US" sz="1150" dirty="0">
                <a:solidFill>
                  <a:srgbClr val="33393D"/>
                </a:solidFill>
                <a:latin typeface="Calibri" pitchFamily="34" charset="0"/>
                <a:ea typeface="Calibri" pitchFamily="34" charset="-122"/>
                <a:cs typeface="Calibri" pitchFamily="34" charset="-120"/>
              </a:rPr>
              <a:t>Sin él, el audio no se ve: no ocupa espacio en la página.</a:t>
            </a:r>
            <a:endParaRPr lang="en-US" sz="1150" dirty="0"/>
          </a:p>
        </p:txBody>
      </p:sp>
      <p:sp>
        <p:nvSpPr>
          <p:cNvPr id="13" name="Shape 11"/>
          <p:cNvSpPr/>
          <p:nvPr/>
        </p:nvSpPr>
        <p:spPr>
          <a:xfrm>
            <a:off x="6812280" y="4173322"/>
            <a:ext cx="4754880" cy="681228"/>
          </a:xfrm>
          <a:prstGeom prst="roundRect">
            <a:avLst>
              <a:gd name="adj" fmla="val 13423"/>
            </a:avLst>
          </a:prstGeom>
          <a:solidFill>
            <a:srgbClr val="FFFFFF"/>
          </a:solidFill>
          <a:ln w="12700">
            <a:solidFill>
              <a:srgbClr val="CFD5D9"/>
            </a:solidFill>
            <a:prstDash val="solid"/>
          </a:ln>
        </p:spPr>
      </p:sp>
      <p:sp>
        <p:nvSpPr>
          <p:cNvPr id="14" name="Text 12"/>
          <p:cNvSpPr txBox="1"/>
          <p:nvPr/>
        </p:nvSpPr>
        <p:spPr>
          <a:xfrm>
            <a:off x="7086600" y="4173322"/>
            <a:ext cx="1280160" cy="681228"/>
          </a:xfrm>
          <a:prstGeom prst="rect">
            <a:avLst/>
          </a:prstGeom>
          <a:noFill/>
          <a:ln/>
        </p:spPr>
        <p:txBody>
          <a:bodyPr wrap="square" lIns="0" tIns="0" rIns="0" bIns="0" rtlCol="0" anchor="ctr"/>
          <a:lstStyle/>
          <a:p>
            <a:pPr indent="0" marL="0">
              <a:buNone/>
            </a:pPr>
            <a:r>
              <a:rPr lang="en-US" sz="1200" b="1" dirty="0">
                <a:solidFill>
                  <a:srgbClr val="177E89"/>
                </a:solidFill>
                <a:latin typeface="Calibri" pitchFamily="34" charset="0"/>
                <a:ea typeface="Calibri" pitchFamily="34" charset="-122"/>
                <a:cs typeface="Calibri" pitchFamily="34" charset="-120"/>
              </a:rPr>
              <a:t>Texto final</a:t>
            </a:r>
            <a:endParaRPr lang="en-US" sz="1200" dirty="0"/>
          </a:p>
        </p:txBody>
      </p:sp>
      <p:sp>
        <p:nvSpPr>
          <p:cNvPr id="15" name="Text 13"/>
          <p:cNvSpPr txBox="1"/>
          <p:nvPr/>
        </p:nvSpPr>
        <p:spPr>
          <a:xfrm>
            <a:off x="8366760" y="4173322"/>
            <a:ext cx="2926080" cy="681228"/>
          </a:xfrm>
          <a:prstGeom prst="rect">
            <a:avLst/>
          </a:prstGeom>
          <a:noFill/>
          <a:ln/>
        </p:spPr>
        <p:txBody>
          <a:bodyPr wrap="square" lIns="0" tIns="0" rIns="0" bIns="0" rtlCol="0" anchor="ctr"/>
          <a:lstStyle/>
          <a:p>
            <a:pPr indent="0" marL="0">
              <a:buNone/>
            </a:pPr>
            <a:r>
              <a:rPr lang="en-US" sz="1150" dirty="0">
                <a:solidFill>
                  <a:srgbClr val="33393D"/>
                </a:solidFill>
                <a:latin typeface="Calibri" pitchFamily="34" charset="0"/>
                <a:ea typeface="Calibri" pitchFamily="34" charset="-122"/>
                <a:cs typeface="Calibri" pitchFamily="34" charset="-120"/>
              </a:rPr>
              <a:t>Buen lugar para un enlace de descarga del archivo.</a:t>
            </a:r>
            <a:endParaRPr lang="en-US" sz="1150" dirty="0"/>
          </a:p>
        </p:txBody>
      </p:sp>
      <p:sp>
        <p:nvSpPr>
          <p:cNvPr id="16" name="Shape 14"/>
          <p:cNvSpPr/>
          <p:nvPr/>
        </p:nvSpPr>
        <p:spPr>
          <a:xfrm>
            <a:off x="640080" y="5010912"/>
            <a:ext cx="10927080" cy="1042416"/>
          </a:xfrm>
          <a:prstGeom prst="roundRect">
            <a:avLst>
              <a:gd name="adj" fmla="val 8772"/>
            </a:avLst>
          </a:prstGeom>
          <a:solidFill>
            <a:srgbClr val="F3F5F6"/>
          </a:solidFill>
          <a:ln w="12700">
            <a:solidFill>
              <a:srgbClr val="CFD5D9"/>
            </a:solidFill>
            <a:prstDash val="solid"/>
          </a:ln>
        </p:spPr>
      </p:sp>
      <p:sp>
        <p:nvSpPr>
          <p:cNvPr id="17" name="Text 15"/>
          <p:cNvSpPr txBox="1"/>
          <p:nvPr/>
        </p:nvSpPr>
        <p:spPr>
          <a:xfrm>
            <a:off x="950976" y="5138928"/>
            <a:ext cx="10305288" cy="310896"/>
          </a:xfrm>
          <a:prstGeom prst="rect">
            <a:avLst/>
          </a:prstGeom>
          <a:noFill/>
          <a:ln/>
        </p:spPr>
        <p:txBody>
          <a:bodyPr wrap="square" lIns="0" tIns="0" rIns="0" bIns="0" rtlCol="0" anchor="ctr"/>
          <a:lstStyle/>
          <a:p>
            <a:pPr algn="l" indent="0" marL="0">
              <a:buNone/>
            </a:pPr>
            <a:r>
              <a:rPr lang="en-US" sz="1400" b="1" dirty="0">
                <a:solidFill>
                  <a:srgbClr val="177E89"/>
                </a:solidFill>
                <a:latin typeface="Calibri" pitchFamily="34" charset="0"/>
                <a:ea typeface="Calibri" pitchFamily="34" charset="-122"/>
                <a:cs typeface="Calibri" pitchFamily="34" charset="-120"/>
              </a:rPr>
              <a:t>En tu portafolio</a:t>
            </a:r>
            <a:endParaRPr lang="en-US" sz="1400" dirty="0"/>
          </a:p>
        </p:txBody>
      </p:sp>
      <p:sp>
        <p:nvSpPr>
          <p:cNvPr id="18" name="Text 16"/>
          <p:cNvSpPr txBox="1"/>
          <p:nvPr/>
        </p:nvSpPr>
        <p:spPr>
          <a:xfrm>
            <a:off x="950976" y="5504688"/>
            <a:ext cx="10305288" cy="471830"/>
          </a:xfrm>
          <a:prstGeom prst="rect">
            <a:avLst/>
          </a:prstGeom>
          <a:noFill/>
          <a:ln/>
        </p:spPr>
        <p:txBody>
          <a:bodyPr wrap="square" lIns="0" tIns="0" rIns="0" bIns="0" rtlCol="0" anchor="t"/>
          <a:lstStyle/>
          <a:p>
            <a:pPr algn="l" indent="0" marL="0">
              <a:lnSpc>
                <a:spcPct val="125000"/>
              </a:lnSpc>
              <a:buNone/>
            </a:pPr>
            <a:r>
              <a:rPr lang="en-US" sz="1200" dirty="0">
                <a:solidFill>
                  <a:srgbClr val="33393D"/>
                </a:solidFill>
                <a:latin typeface="Calibri" pitchFamily="34" charset="0"/>
                <a:ea typeface="Calibri" pitchFamily="34" charset="-122"/>
                <a:cs typeface="Calibri" pitchFamily="34" charset="-120"/>
              </a:rPr>
              <a:t>Tu sobre-mi.html ya tiene un &lt;audio&gt;, pero la carpeta assets/media/audio está vacía: el reproductor aparece y no suena. Todo archivo que el HTML menciona debe existir en esa ruta.</a:t>
            </a:r>
            <a:endParaRPr lang="en-US" sz="1200" dirty="0"/>
          </a:p>
        </p:txBody>
      </p:sp>
      <p:sp>
        <p:nvSpPr>
          <p:cNvPr id="19" name="Text 17"/>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19 / 48</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548640" y="1517904"/>
            <a:ext cx="5349240" cy="1024128"/>
          </a:xfrm>
          <a:prstGeom prst="roundRect">
            <a:avLst>
              <a:gd name="adj" fmla="val 50000"/>
            </a:avLst>
          </a:prstGeom>
          <a:solidFill>
            <a:srgbClr val="177E89"/>
          </a:solidFill>
          <a:ln w="12700">
            <a:solidFill>
              <a:srgbClr val="177E89"/>
            </a:solidFill>
            <a:prstDash val="solid"/>
          </a:ln>
        </p:spPr>
      </p:sp>
      <p:sp>
        <p:nvSpPr>
          <p:cNvPr id="3" name="Text 1"/>
          <p:cNvSpPr txBox="1"/>
          <p:nvPr/>
        </p:nvSpPr>
        <p:spPr>
          <a:xfrm>
            <a:off x="274320" y="1517904"/>
            <a:ext cx="4297680" cy="10241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Atributos y rendimiento</a:t>
            </a:r>
            <a:endParaRPr lang="en-US" sz="2000" dirty="0"/>
          </a:p>
        </p:txBody>
      </p:sp>
      <p:sp>
        <p:nvSpPr>
          <p:cNvPr id="4" name="Text 2"/>
          <p:cNvSpPr txBox="1"/>
          <p:nvPr/>
        </p:nvSpPr>
        <p:spPr>
          <a:xfrm>
            <a:off x="274320" y="2834640"/>
            <a:ext cx="4297680" cy="256032"/>
          </a:xfrm>
          <a:prstGeom prst="rect">
            <a:avLst/>
          </a:prstGeom>
          <a:noFill/>
          <a:ln/>
        </p:spPr>
        <p:txBody>
          <a:bodyPr wrap="square" lIns="0" tIns="0" rIns="0" bIns="0" rtlCol="0" anchor="ctr"/>
          <a:lstStyle/>
          <a:p>
            <a:pPr algn="ctr" indent="0" marL="0">
              <a:buNone/>
            </a:pPr>
            <a:r>
              <a:rPr lang="en-US" sz="1100" b="1" spc="400" kern="0" dirty="0">
                <a:solidFill>
                  <a:srgbClr val="177E89"/>
                </a:solidFill>
                <a:latin typeface="Calibri" pitchFamily="34" charset="0"/>
                <a:ea typeface="Calibri" pitchFamily="34" charset="-122"/>
                <a:cs typeface="Calibri" pitchFamily="34" charset="-120"/>
              </a:rPr>
              <a:t>BLOQUE 03</a:t>
            </a:r>
            <a:endParaRPr lang="en-US" sz="1100" dirty="0"/>
          </a:p>
        </p:txBody>
      </p:sp>
      <p:sp>
        <p:nvSpPr>
          <p:cNvPr id="5" name="Text 3"/>
          <p:cNvSpPr txBox="1"/>
          <p:nvPr/>
        </p:nvSpPr>
        <p:spPr>
          <a:xfrm>
            <a:off x="685800" y="3346704"/>
            <a:ext cx="3657600" cy="237744"/>
          </a:xfrm>
          <a:prstGeom prst="rect">
            <a:avLst/>
          </a:prstGeom>
          <a:noFill/>
          <a:ln/>
        </p:spPr>
        <p:txBody>
          <a:bodyPr wrap="square" lIns="0" tIns="0" rIns="0" bIns="0" rtlCol="0" anchor="ctr"/>
          <a:lstStyle/>
          <a:p>
            <a:pPr indent="0" marL="0">
              <a:buNone/>
            </a:pPr>
            <a:r>
              <a:rPr lang="en-US" sz="1050" b="1" spc="150" kern="0" dirty="0">
                <a:solidFill>
                  <a:srgbClr val="5F676C"/>
                </a:solidFill>
                <a:latin typeface="Calibri" pitchFamily="34" charset="0"/>
                <a:ea typeface="Calibri" pitchFamily="34" charset="-122"/>
                <a:cs typeface="Calibri" pitchFamily="34" charset="-120"/>
              </a:rPr>
              <a:t>En este bloque</a:t>
            </a:r>
            <a:endParaRPr lang="en-US" sz="1050" dirty="0"/>
          </a:p>
        </p:txBody>
      </p:sp>
      <p:sp>
        <p:nvSpPr>
          <p:cNvPr id="6" name="Shape 4"/>
          <p:cNvSpPr/>
          <p:nvPr/>
        </p:nvSpPr>
        <p:spPr>
          <a:xfrm>
            <a:off x="685800" y="3657600"/>
            <a:ext cx="5577840" cy="475488"/>
          </a:xfrm>
          <a:prstGeom prst="roundRect">
            <a:avLst>
              <a:gd name="adj" fmla="val 19231"/>
            </a:avLst>
          </a:prstGeom>
          <a:solidFill>
            <a:srgbClr val="FFFFFF"/>
          </a:solidFill>
          <a:ln w="12700">
            <a:solidFill>
              <a:srgbClr val="CFD5D9"/>
            </a:solidFill>
            <a:prstDash val="solid"/>
          </a:ln>
        </p:spPr>
      </p:sp>
      <p:sp>
        <p:nvSpPr>
          <p:cNvPr id="7" name="Text 5"/>
          <p:cNvSpPr txBox="1"/>
          <p:nvPr/>
        </p:nvSpPr>
        <p:spPr>
          <a:xfrm>
            <a:off x="896112" y="3657600"/>
            <a:ext cx="457200" cy="475488"/>
          </a:xfrm>
          <a:prstGeom prst="rect">
            <a:avLst/>
          </a:prstGeom>
          <a:noFill/>
          <a:ln/>
        </p:spPr>
        <p:txBody>
          <a:bodyPr wrap="square" lIns="0" tIns="0" rIns="0" bIns="0" rtlCol="0" anchor="ctr"/>
          <a:lstStyle/>
          <a:p>
            <a:pPr indent="0" marL="0">
              <a:buNone/>
            </a:pPr>
            <a:r>
              <a:rPr lang="en-US" sz="1200" b="1" dirty="0">
                <a:solidFill>
                  <a:srgbClr val="177E89"/>
                </a:solidFill>
                <a:latin typeface="Calibri" pitchFamily="34" charset="0"/>
                <a:ea typeface="Calibri" pitchFamily="34" charset="-122"/>
                <a:cs typeface="Calibri" pitchFamily="34" charset="-120"/>
              </a:rPr>
              <a:t>01</a:t>
            </a:r>
            <a:endParaRPr lang="en-US" sz="1200" dirty="0"/>
          </a:p>
        </p:txBody>
      </p:sp>
      <p:sp>
        <p:nvSpPr>
          <p:cNvPr id="8" name="Text 6"/>
          <p:cNvSpPr txBox="1"/>
          <p:nvPr/>
        </p:nvSpPr>
        <p:spPr>
          <a:xfrm>
            <a:off x="1481328" y="3657600"/>
            <a:ext cx="4663440" cy="475488"/>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Atributos de reproducción</a:t>
            </a:r>
            <a:endParaRPr lang="en-US" sz="1200" dirty="0"/>
          </a:p>
        </p:txBody>
      </p:sp>
      <p:sp>
        <p:nvSpPr>
          <p:cNvPr id="9" name="Shape 7"/>
          <p:cNvSpPr/>
          <p:nvPr/>
        </p:nvSpPr>
        <p:spPr>
          <a:xfrm>
            <a:off x="685800" y="4206240"/>
            <a:ext cx="5577840" cy="475488"/>
          </a:xfrm>
          <a:prstGeom prst="roundRect">
            <a:avLst>
              <a:gd name="adj" fmla="val 19231"/>
            </a:avLst>
          </a:prstGeom>
          <a:solidFill>
            <a:srgbClr val="FFFFFF"/>
          </a:solidFill>
          <a:ln w="12700">
            <a:solidFill>
              <a:srgbClr val="CFD5D9"/>
            </a:solidFill>
            <a:prstDash val="solid"/>
          </a:ln>
        </p:spPr>
      </p:sp>
      <p:sp>
        <p:nvSpPr>
          <p:cNvPr id="10" name="Text 8"/>
          <p:cNvSpPr txBox="1"/>
          <p:nvPr/>
        </p:nvSpPr>
        <p:spPr>
          <a:xfrm>
            <a:off x="896112" y="4206240"/>
            <a:ext cx="457200" cy="475488"/>
          </a:xfrm>
          <a:prstGeom prst="rect">
            <a:avLst/>
          </a:prstGeom>
          <a:noFill/>
          <a:ln/>
        </p:spPr>
        <p:txBody>
          <a:bodyPr wrap="square" lIns="0" tIns="0" rIns="0" bIns="0" rtlCol="0" anchor="ctr"/>
          <a:lstStyle/>
          <a:p>
            <a:pPr indent="0" marL="0">
              <a:buNone/>
            </a:pPr>
            <a:r>
              <a:rPr lang="en-US" sz="1200" b="1" dirty="0">
                <a:solidFill>
                  <a:srgbClr val="177E89"/>
                </a:solidFill>
                <a:latin typeface="Calibri" pitchFamily="34" charset="0"/>
                <a:ea typeface="Calibri" pitchFamily="34" charset="-122"/>
                <a:cs typeface="Calibri" pitchFamily="34" charset="-120"/>
              </a:rPr>
              <a:t>02</a:t>
            </a:r>
            <a:endParaRPr lang="en-US" sz="1200" dirty="0"/>
          </a:p>
        </p:txBody>
      </p:sp>
      <p:sp>
        <p:nvSpPr>
          <p:cNvPr id="11" name="Text 9"/>
          <p:cNvSpPr txBox="1"/>
          <p:nvPr/>
        </p:nvSpPr>
        <p:spPr>
          <a:xfrm>
            <a:off x="1481328" y="4206240"/>
            <a:ext cx="4663440" cy="475488"/>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autoplay y sus reglas</a:t>
            </a:r>
            <a:endParaRPr lang="en-US" sz="1200" dirty="0"/>
          </a:p>
        </p:txBody>
      </p:sp>
      <p:sp>
        <p:nvSpPr>
          <p:cNvPr id="12" name="Shape 10"/>
          <p:cNvSpPr/>
          <p:nvPr/>
        </p:nvSpPr>
        <p:spPr>
          <a:xfrm>
            <a:off x="685800" y="4754880"/>
            <a:ext cx="5577840" cy="475488"/>
          </a:xfrm>
          <a:prstGeom prst="roundRect">
            <a:avLst>
              <a:gd name="adj" fmla="val 19231"/>
            </a:avLst>
          </a:prstGeom>
          <a:solidFill>
            <a:srgbClr val="FFFFFF"/>
          </a:solidFill>
          <a:ln w="12700">
            <a:solidFill>
              <a:srgbClr val="CFD5D9"/>
            </a:solidFill>
            <a:prstDash val="solid"/>
          </a:ln>
        </p:spPr>
      </p:sp>
      <p:sp>
        <p:nvSpPr>
          <p:cNvPr id="13" name="Text 11"/>
          <p:cNvSpPr txBox="1"/>
          <p:nvPr/>
        </p:nvSpPr>
        <p:spPr>
          <a:xfrm>
            <a:off x="896112" y="4754880"/>
            <a:ext cx="457200" cy="475488"/>
          </a:xfrm>
          <a:prstGeom prst="rect">
            <a:avLst/>
          </a:prstGeom>
          <a:noFill/>
          <a:ln/>
        </p:spPr>
        <p:txBody>
          <a:bodyPr wrap="square" lIns="0" tIns="0" rIns="0" bIns="0" rtlCol="0" anchor="ctr"/>
          <a:lstStyle/>
          <a:p>
            <a:pPr indent="0" marL="0">
              <a:buNone/>
            </a:pPr>
            <a:r>
              <a:rPr lang="en-US" sz="1200" b="1" dirty="0">
                <a:solidFill>
                  <a:srgbClr val="177E89"/>
                </a:solidFill>
                <a:latin typeface="Calibri" pitchFamily="34" charset="0"/>
                <a:ea typeface="Calibri" pitchFamily="34" charset="-122"/>
                <a:cs typeface="Calibri" pitchFamily="34" charset="-120"/>
              </a:rPr>
              <a:t>03</a:t>
            </a:r>
            <a:endParaRPr lang="en-US" sz="1200" dirty="0"/>
          </a:p>
        </p:txBody>
      </p:sp>
      <p:sp>
        <p:nvSpPr>
          <p:cNvPr id="14" name="Text 12"/>
          <p:cNvSpPr txBox="1"/>
          <p:nvPr/>
        </p:nvSpPr>
        <p:spPr>
          <a:xfrm>
            <a:off x="1481328" y="4754880"/>
            <a:ext cx="4663440" cy="475488"/>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poster, preload y proporción</a:t>
            </a:r>
            <a:endParaRPr lang="en-US" sz="1200" dirty="0"/>
          </a:p>
        </p:txBody>
      </p:sp>
      <p:sp>
        <p:nvSpPr>
          <p:cNvPr id="15" name="Shape 13"/>
          <p:cNvSpPr/>
          <p:nvPr/>
        </p:nvSpPr>
        <p:spPr>
          <a:xfrm>
            <a:off x="685800" y="5303520"/>
            <a:ext cx="5577840" cy="475488"/>
          </a:xfrm>
          <a:prstGeom prst="roundRect">
            <a:avLst>
              <a:gd name="adj" fmla="val 19231"/>
            </a:avLst>
          </a:prstGeom>
          <a:solidFill>
            <a:srgbClr val="FFFFFF"/>
          </a:solidFill>
          <a:ln w="12700">
            <a:solidFill>
              <a:srgbClr val="CFD5D9"/>
            </a:solidFill>
            <a:prstDash val="solid"/>
          </a:ln>
        </p:spPr>
      </p:sp>
      <p:sp>
        <p:nvSpPr>
          <p:cNvPr id="16" name="Text 14"/>
          <p:cNvSpPr txBox="1"/>
          <p:nvPr/>
        </p:nvSpPr>
        <p:spPr>
          <a:xfrm>
            <a:off x="896112" y="5303520"/>
            <a:ext cx="457200" cy="475488"/>
          </a:xfrm>
          <a:prstGeom prst="rect">
            <a:avLst/>
          </a:prstGeom>
          <a:noFill/>
          <a:ln/>
        </p:spPr>
        <p:txBody>
          <a:bodyPr wrap="square" lIns="0" tIns="0" rIns="0" bIns="0" rtlCol="0" anchor="ctr"/>
          <a:lstStyle/>
          <a:p>
            <a:pPr indent="0" marL="0">
              <a:buNone/>
            </a:pPr>
            <a:r>
              <a:rPr lang="en-US" sz="1200" b="1" dirty="0">
                <a:solidFill>
                  <a:srgbClr val="177E89"/>
                </a:solidFill>
                <a:latin typeface="Calibri" pitchFamily="34" charset="0"/>
                <a:ea typeface="Calibri" pitchFamily="34" charset="-122"/>
                <a:cs typeface="Calibri" pitchFamily="34" charset="-120"/>
              </a:rPr>
              <a:t>04</a:t>
            </a:r>
            <a:endParaRPr lang="en-US" sz="1200" dirty="0"/>
          </a:p>
        </p:txBody>
      </p:sp>
      <p:sp>
        <p:nvSpPr>
          <p:cNvPr id="17" name="Text 15"/>
          <p:cNvSpPr txBox="1"/>
          <p:nvPr/>
        </p:nvSpPr>
        <p:spPr>
          <a:xfrm>
            <a:off x="1481328" y="5303520"/>
            <a:ext cx="4663440" cy="475488"/>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El peso de tu video</a:t>
            </a:r>
            <a:endParaRPr lang="en-US" sz="1200" dirty="0"/>
          </a:p>
        </p:txBody>
      </p:sp>
      <p:sp>
        <p:nvSpPr>
          <p:cNvPr id="18" name="Shape 16"/>
          <p:cNvSpPr/>
          <p:nvPr/>
        </p:nvSpPr>
        <p:spPr>
          <a:xfrm>
            <a:off x="685800" y="5852160"/>
            <a:ext cx="5577840" cy="475488"/>
          </a:xfrm>
          <a:prstGeom prst="roundRect">
            <a:avLst>
              <a:gd name="adj" fmla="val 19231"/>
            </a:avLst>
          </a:prstGeom>
          <a:solidFill>
            <a:srgbClr val="FFFFFF"/>
          </a:solidFill>
          <a:ln w="12700">
            <a:solidFill>
              <a:srgbClr val="CFD5D9"/>
            </a:solidFill>
            <a:prstDash val="solid"/>
          </a:ln>
        </p:spPr>
      </p:sp>
      <p:sp>
        <p:nvSpPr>
          <p:cNvPr id="19" name="Text 17"/>
          <p:cNvSpPr txBox="1"/>
          <p:nvPr/>
        </p:nvSpPr>
        <p:spPr>
          <a:xfrm>
            <a:off x="896112" y="5852160"/>
            <a:ext cx="457200" cy="475488"/>
          </a:xfrm>
          <a:prstGeom prst="rect">
            <a:avLst/>
          </a:prstGeom>
          <a:noFill/>
          <a:ln/>
        </p:spPr>
        <p:txBody>
          <a:bodyPr wrap="square" lIns="0" tIns="0" rIns="0" bIns="0" rtlCol="0" anchor="ctr"/>
          <a:lstStyle/>
          <a:p>
            <a:pPr indent="0" marL="0">
              <a:buNone/>
            </a:pPr>
            <a:r>
              <a:rPr lang="en-US" sz="1200" b="1" dirty="0">
                <a:solidFill>
                  <a:srgbClr val="177E89"/>
                </a:solidFill>
                <a:latin typeface="Calibri" pitchFamily="34" charset="0"/>
                <a:ea typeface="Calibri" pitchFamily="34" charset="-122"/>
                <a:cs typeface="Calibri" pitchFamily="34" charset="-120"/>
              </a:rPr>
              <a:t>05</a:t>
            </a:r>
            <a:endParaRPr lang="en-US" sz="1200" dirty="0"/>
          </a:p>
        </p:txBody>
      </p:sp>
      <p:sp>
        <p:nvSpPr>
          <p:cNvPr id="20" name="Text 18"/>
          <p:cNvSpPr txBox="1"/>
          <p:nvPr/>
        </p:nvSpPr>
        <p:spPr>
          <a:xfrm>
            <a:off x="1481328" y="5852160"/>
            <a:ext cx="4663440" cy="475488"/>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El iframe y las rutas</a:t>
            </a:r>
            <a:endParaRPr lang="en-US" sz="1200" dirty="0"/>
          </a:p>
        </p:txBody>
      </p:sp>
      <p:sp>
        <p:nvSpPr>
          <p:cNvPr id="21" name="Shape 19"/>
          <p:cNvSpPr/>
          <p:nvPr/>
        </p:nvSpPr>
        <p:spPr>
          <a:xfrm>
            <a:off x="6766560" y="1234440"/>
            <a:ext cx="5166360" cy="5257800"/>
          </a:xfrm>
          <a:prstGeom prst="roundRect">
            <a:avLst>
              <a:gd name="adj" fmla="val 2124"/>
            </a:avLst>
          </a:prstGeom>
          <a:solidFill>
            <a:srgbClr val="FFFFFF"/>
          </a:solidFill>
          <a:ln w="12700">
            <a:solidFill>
              <a:srgbClr val="CFD5D9"/>
            </a:solidFill>
            <a:prstDash val="solid"/>
          </a:ln>
        </p:spPr>
      </p:sp>
      <p:pic>
        <p:nvPicPr>
          <p:cNvPr id="22" name="Image 0" descr="Persona programando frente a un monitor">    </p:cNvPr>
          <p:cNvPicPr>
            <a:picLocks noChangeAspect="1"/>
          </p:cNvPicPr>
          <p:nvPr/>
        </p:nvPicPr>
        <p:blipFill>
          <a:blip r:embed="rId1"/>
          <a:srcRect l="0" r="0" t="0" b="0"/>
          <a:stretch/>
        </p:blipFill>
        <p:spPr>
          <a:xfrm>
            <a:off x="6903720" y="1362456"/>
            <a:ext cx="4892040" cy="5001768"/>
          </a:xfrm>
          <a:prstGeom prst="rect">
            <a:avLst/>
          </a:prstGeom>
        </p:spPr>
      </p:pic>
      <p:sp>
        <p:nvSpPr>
          <p:cNvPr id="23" name="Text 20"/>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20 / 48</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indent="0" marL="0">
              <a:buNone/>
            </a:pPr>
            <a:r>
              <a:rPr lang="en-US" sz="1050" b="1" spc="300" kern="0" dirty="0">
                <a:solidFill>
                  <a:srgbClr val="177E89"/>
                </a:solidFill>
                <a:latin typeface="Calibri" pitchFamily="34" charset="0"/>
                <a:ea typeface="Calibri" pitchFamily="34" charset="-122"/>
                <a:cs typeface="Calibri" pitchFamily="34" charset="-120"/>
              </a:rPr>
              <a:t>03 · ATRIBUTOS</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Atributos de reproducción</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indent="0" marL="0">
              <a:buNone/>
            </a:pPr>
            <a:r>
              <a:rPr lang="en-US" sz="1250" dirty="0">
                <a:solidFill>
                  <a:srgbClr val="5F676C"/>
                </a:solidFill>
                <a:latin typeface="Calibri" pitchFamily="34" charset="0"/>
                <a:ea typeface="Calibri" pitchFamily="34" charset="-122"/>
                <a:cs typeface="Calibri" pitchFamily="34" charset="-120"/>
              </a:rPr>
              <a:t>Son booleanos: basta con escribirlos, no llevan valor.</a:t>
            </a:r>
            <a:endParaRPr lang="en-US" sz="1250" dirty="0"/>
          </a:p>
        </p:txBody>
      </p:sp>
      <p:sp>
        <p:nvSpPr>
          <p:cNvPr id="5" name="Shape 3"/>
          <p:cNvSpPr/>
          <p:nvPr/>
        </p:nvSpPr>
        <p:spPr>
          <a:xfrm>
            <a:off x="640080" y="2615184"/>
            <a:ext cx="10927080" cy="548640"/>
          </a:xfrm>
          <a:prstGeom prst="roundRect">
            <a:avLst>
              <a:gd name="adj" fmla="val 16667"/>
            </a:avLst>
          </a:prstGeom>
          <a:solidFill>
            <a:srgbClr val="FFFFFF"/>
          </a:solidFill>
          <a:ln w="12700">
            <a:solidFill>
              <a:srgbClr val="CFD5D9"/>
            </a:solidFill>
            <a:prstDash val="solid"/>
          </a:ln>
        </p:spPr>
      </p:sp>
      <p:sp>
        <p:nvSpPr>
          <p:cNvPr id="6" name="Text 4"/>
          <p:cNvSpPr txBox="1"/>
          <p:nvPr/>
        </p:nvSpPr>
        <p:spPr>
          <a:xfrm>
            <a:off x="914400" y="2615184"/>
            <a:ext cx="2011680" cy="548640"/>
          </a:xfrm>
          <a:prstGeom prst="rect">
            <a:avLst/>
          </a:prstGeom>
          <a:noFill/>
          <a:ln/>
        </p:spPr>
        <p:txBody>
          <a:bodyPr wrap="square" lIns="0" tIns="0" rIns="0" bIns="0" rtlCol="0" anchor="ctr"/>
          <a:lstStyle/>
          <a:p>
            <a:pPr indent="0" marL="0">
              <a:buNone/>
            </a:pPr>
            <a:r>
              <a:rPr lang="en-US" sz="1250" b="1" dirty="0">
                <a:solidFill>
                  <a:srgbClr val="177E89"/>
                </a:solidFill>
                <a:latin typeface="Consolas" pitchFamily="34" charset="0"/>
                <a:ea typeface="Consolas" pitchFamily="34" charset="-122"/>
                <a:cs typeface="Consolas" pitchFamily="34" charset="-120"/>
              </a:rPr>
              <a:t>controls</a:t>
            </a:r>
            <a:endParaRPr lang="en-US" sz="1250" dirty="0"/>
          </a:p>
        </p:txBody>
      </p:sp>
      <p:sp>
        <p:nvSpPr>
          <p:cNvPr id="7" name="Text 5"/>
          <p:cNvSpPr txBox="1"/>
          <p:nvPr/>
        </p:nvSpPr>
        <p:spPr>
          <a:xfrm>
            <a:off x="2926080" y="2615184"/>
            <a:ext cx="8366760" cy="548640"/>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Muestra los botones del navegador: reproducir, volumen y pantalla completa.</a:t>
            </a:r>
            <a:endParaRPr lang="en-US" sz="1200" dirty="0"/>
          </a:p>
        </p:txBody>
      </p:sp>
      <p:sp>
        <p:nvSpPr>
          <p:cNvPr id="8" name="Shape 6"/>
          <p:cNvSpPr/>
          <p:nvPr/>
        </p:nvSpPr>
        <p:spPr>
          <a:xfrm>
            <a:off x="640080" y="3236976"/>
            <a:ext cx="10927080" cy="548640"/>
          </a:xfrm>
          <a:prstGeom prst="roundRect">
            <a:avLst>
              <a:gd name="adj" fmla="val 16667"/>
            </a:avLst>
          </a:prstGeom>
          <a:solidFill>
            <a:srgbClr val="FFFFFF"/>
          </a:solidFill>
          <a:ln w="12700">
            <a:solidFill>
              <a:srgbClr val="CFD5D9"/>
            </a:solidFill>
            <a:prstDash val="solid"/>
          </a:ln>
        </p:spPr>
      </p:sp>
      <p:sp>
        <p:nvSpPr>
          <p:cNvPr id="9" name="Text 7"/>
          <p:cNvSpPr txBox="1"/>
          <p:nvPr/>
        </p:nvSpPr>
        <p:spPr>
          <a:xfrm>
            <a:off x="914400" y="3236976"/>
            <a:ext cx="2011680" cy="548640"/>
          </a:xfrm>
          <a:prstGeom prst="rect">
            <a:avLst/>
          </a:prstGeom>
          <a:noFill/>
          <a:ln/>
        </p:spPr>
        <p:txBody>
          <a:bodyPr wrap="square" lIns="0" tIns="0" rIns="0" bIns="0" rtlCol="0" anchor="ctr"/>
          <a:lstStyle/>
          <a:p>
            <a:pPr indent="0" marL="0">
              <a:buNone/>
            </a:pPr>
            <a:r>
              <a:rPr lang="en-US" sz="1250" b="1" dirty="0">
                <a:solidFill>
                  <a:srgbClr val="177E89"/>
                </a:solidFill>
                <a:latin typeface="Consolas" pitchFamily="34" charset="0"/>
                <a:ea typeface="Consolas" pitchFamily="34" charset="-122"/>
                <a:cs typeface="Consolas" pitchFamily="34" charset="-120"/>
              </a:rPr>
              <a:t>autoplay</a:t>
            </a:r>
            <a:endParaRPr lang="en-US" sz="1250" dirty="0"/>
          </a:p>
        </p:txBody>
      </p:sp>
      <p:sp>
        <p:nvSpPr>
          <p:cNvPr id="10" name="Text 8"/>
          <p:cNvSpPr txBox="1"/>
          <p:nvPr/>
        </p:nvSpPr>
        <p:spPr>
          <a:xfrm>
            <a:off x="2926080" y="3236976"/>
            <a:ext cx="8366760" cy="548640"/>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Empieza solo al cargar la página. Tiene reglas propias: las vemos enseguida.</a:t>
            </a:r>
            <a:endParaRPr lang="en-US" sz="1200" dirty="0"/>
          </a:p>
        </p:txBody>
      </p:sp>
      <p:sp>
        <p:nvSpPr>
          <p:cNvPr id="11" name="Shape 9"/>
          <p:cNvSpPr/>
          <p:nvPr/>
        </p:nvSpPr>
        <p:spPr>
          <a:xfrm>
            <a:off x="640080" y="3858768"/>
            <a:ext cx="10927080" cy="548640"/>
          </a:xfrm>
          <a:prstGeom prst="roundRect">
            <a:avLst>
              <a:gd name="adj" fmla="val 16667"/>
            </a:avLst>
          </a:prstGeom>
          <a:solidFill>
            <a:srgbClr val="FFFFFF"/>
          </a:solidFill>
          <a:ln w="12700">
            <a:solidFill>
              <a:srgbClr val="CFD5D9"/>
            </a:solidFill>
            <a:prstDash val="solid"/>
          </a:ln>
        </p:spPr>
      </p:sp>
      <p:sp>
        <p:nvSpPr>
          <p:cNvPr id="12" name="Text 10"/>
          <p:cNvSpPr txBox="1"/>
          <p:nvPr/>
        </p:nvSpPr>
        <p:spPr>
          <a:xfrm>
            <a:off x="914400" y="3858768"/>
            <a:ext cx="2011680" cy="548640"/>
          </a:xfrm>
          <a:prstGeom prst="rect">
            <a:avLst/>
          </a:prstGeom>
          <a:noFill/>
          <a:ln/>
        </p:spPr>
        <p:txBody>
          <a:bodyPr wrap="square" lIns="0" tIns="0" rIns="0" bIns="0" rtlCol="0" anchor="ctr"/>
          <a:lstStyle/>
          <a:p>
            <a:pPr indent="0" marL="0">
              <a:buNone/>
            </a:pPr>
            <a:r>
              <a:rPr lang="en-US" sz="1250" b="1" dirty="0">
                <a:solidFill>
                  <a:srgbClr val="177E89"/>
                </a:solidFill>
                <a:latin typeface="Consolas" pitchFamily="34" charset="0"/>
                <a:ea typeface="Consolas" pitchFamily="34" charset="-122"/>
                <a:cs typeface="Consolas" pitchFamily="34" charset="-120"/>
              </a:rPr>
              <a:t>muted</a:t>
            </a:r>
            <a:endParaRPr lang="en-US" sz="1250" dirty="0"/>
          </a:p>
        </p:txBody>
      </p:sp>
      <p:sp>
        <p:nvSpPr>
          <p:cNvPr id="13" name="Text 11"/>
          <p:cNvSpPr txBox="1"/>
          <p:nvPr/>
        </p:nvSpPr>
        <p:spPr>
          <a:xfrm>
            <a:off x="2926080" y="3858768"/>
            <a:ext cx="8366760" cy="548640"/>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Arranca sin sonido.</a:t>
            </a:r>
            <a:endParaRPr lang="en-US" sz="1200" dirty="0"/>
          </a:p>
        </p:txBody>
      </p:sp>
      <p:sp>
        <p:nvSpPr>
          <p:cNvPr id="14" name="Shape 12"/>
          <p:cNvSpPr/>
          <p:nvPr/>
        </p:nvSpPr>
        <p:spPr>
          <a:xfrm>
            <a:off x="640080" y="4480560"/>
            <a:ext cx="10927080" cy="548640"/>
          </a:xfrm>
          <a:prstGeom prst="roundRect">
            <a:avLst>
              <a:gd name="adj" fmla="val 16667"/>
            </a:avLst>
          </a:prstGeom>
          <a:solidFill>
            <a:srgbClr val="FFFFFF"/>
          </a:solidFill>
          <a:ln w="12700">
            <a:solidFill>
              <a:srgbClr val="CFD5D9"/>
            </a:solidFill>
            <a:prstDash val="solid"/>
          </a:ln>
        </p:spPr>
      </p:sp>
      <p:sp>
        <p:nvSpPr>
          <p:cNvPr id="15" name="Text 13"/>
          <p:cNvSpPr txBox="1"/>
          <p:nvPr/>
        </p:nvSpPr>
        <p:spPr>
          <a:xfrm>
            <a:off x="914400" y="4480560"/>
            <a:ext cx="2011680" cy="548640"/>
          </a:xfrm>
          <a:prstGeom prst="rect">
            <a:avLst/>
          </a:prstGeom>
          <a:noFill/>
          <a:ln/>
        </p:spPr>
        <p:txBody>
          <a:bodyPr wrap="square" lIns="0" tIns="0" rIns="0" bIns="0" rtlCol="0" anchor="ctr"/>
          <a:lstStyle/>
          <a:p>
            <a:pPr indent="0" marL="0">
              <a:buNone/>
            </a:pPr>
            <a:r>
              <a:rPr lang="en-US" sz="1250" b="1" dirty="0">
                <a:solidFill>
                  <a:srgbClr val="177E89"/>
                </a:solidFill>
                <a:latin typeface="Consolas" pitchFamily="34" charset="0"/>
                <a:ea typeface="Consolas" pitchFamily="34" charset="-122"/>
                <a:cs typeface="Consolas" pitchFamily="34" charset="-120"/>
              </a:rPr>
              <a:t>loop</a:t>
            </a:r>
            <a:endParaRPr lang="en-US" sz="1250" dirty="0"/>
          </a:p>
        </p:txBody>
      </p:sp>
      <p:sp>
        <p:nvSpPr>
          <p:cNvPr id="16" name="Text 14"/>
          <p:cNvSpPr txBox="1"/>
          <p:nvPr/>
        </p:nvSpPr>
        <p:spPr>
          <a:xfrm>
            <a:off x="2926080" y="4480560"/>
            <a:ext cx="8366760" cy="548640"/>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Vuelve a empezar cuando termina.</a:t>
            </a:r>
            <a:endParaRPr lang="en-US" sz="1200" dirty="0"/>
          </a:p>
        </p:txBody>
      </p:sp>
      <p:sp>
        <p:nvSpPr>
          <p:cNvPr id="17" name="Shape 15"/>
          <p:cNvSpPr/>
          <p:nvPr/>
        </p:nvSpPr>
        <p:spPr>
          <a:xfrm>
            <a:off x="640080" y="5102352"/>
            <a:ext cx="10927080" cy="548640"/>
          </a:xfrm>
          <a:prstGeom prst="roundRect">
            <a:avLst>
              <a:gd name="adj" fmla="val 16667"/>
            </a:avLst>
          </a:prstGeom>
          <a:solidFill>
            <a:srgbClr val="FFFFFF"/>
          </a:solidFill>
          <a:ln w="12700">
            <a:solidFill>
              <a:srgbClr val="CFD5D9"/>
            </a:solidFill>
            <a:prstDash val="solid"/>
          </a:ln>
        </p:spPr>
      </p:sp>
      <p:sp>
        <p:nvSpPr>
          <p:cNvPr id="18" name="Text 16"/>
          <p:cNvSpPr txBox="1"/>
          <p:nvPr/>
        </p:nvSpPr>
        <p:spPr>
          <a:xfrm>
            <a:off x="914400" y="5102352"/>
            <a:ext cx="2011680" cy="548640"/>
          </a:xfrm>
          <a:prstGeom prst="rect">
            <a:avLst/>
          </a:prstGeom>
          <a:noFill/>
          <a:ln/>
        </p:spPr>
        <p:txBody>
          <a:bodyPr wrap="square" lIns="0" tIns="0" rIns="0" bIns="0" rtlCol="0" anchor="ctr"/>
          <a:lstStyle/>
          <a:p>
            <a:pPr indent="0" marL="0">
              <a:buNone/>
            </a:pPr>
            <a:r>
              <a:rPr lang="en-US" sz="1250" b="1" dirty="0">
                <a:solidFill>
                  <a:srgbClr val="177E89"/>
                </a:solidFill>
                <a:latin typeface="Consolas" pitchFamily="34" charset="0"/>
                <a:ea typeface="Consolas" pitchFamily="34" charset="-122"/>
                <a:cs typeface="Consolas" pitchFamily="34" charset="-120"/>
              </a:rPr>
              <a:t>playsinline</a:t>
            </a:r>
            <a:endParaRPr lang="en-US" sz="1250" dirty="0"/>
          </a:p>
        </p:txBody>
      </p:sp>
      <p:sp>
        <p:nvSpPr>
          <p:cNvPr id="19" name="Text 17"/>
          <p:cNvSpPr txBox="1"/>
          <p:nvPr/>
        </p:nvSpPr>
        <p:spPr>
          <a:xfrm>
            <a:off x="2926080" y="5102352"/>
            <a:ext cx="8366760" cy="548640"/>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En celulares, se reproduce dentro de la página y no salta a pantalla completa.</a:t>
            </a:r>
            <a:endParaRPr lang="en-US" sz="1200" dirty="0"/>
          </a:p>
        </p:txBody>
      </p:sp>
      <p:sp>
        <p:nvSpPr>
          <p:cNvPr id="20" name="Text 18"/>
          <p:cNvSpPr txBox="1"/>
          <p:nvPr/>
        </p:nvSpPr>
        <p:spPr>
          <a:xfrm>
            <a:off x="640080" y="5852160"/>
            <a:ext cx="10927080" cy="256032"/>
          </a:xfrm>
          <a:prstGeom prst="rect">
            <a:avLst/>
          </a:prstGeom>
          <a:noFill/>
          <a:ln/>
        </p:spPr>
        <p:txBody>
          <a:bodyPr wrap="square" lIns="0" tIns="0" rIns="0" bIns="0" rtlCol="0" anchor="ctr"/>
          <a:lstStyle/>
          <a:p>
            <a:pPr algn="ctr" indent="0" marL="0">
              <a:buNone/>
            </a:pPr>
            <a:r>
              <a:rPr lang="en-US" sz="1150" i="1" dirty="0">
                <a:solidFill>
                  <a:srgbClr val="5F676C"/>
                </a:solidFill>
                <a:latin typeface="Calibri" pitchFamily="34" charset="0"/>
                <a:ea typeface="Calibri" pitchFamily="34" charset="-122"/>
                <a:cs typeface="Calibri" pitchFamily="34" charset="-120"/>
              </a:rPr>
              <a:t>Valen para &lt;video&gt; y para &lt;audio&gt;, salvo playsinline, que es solo de video.</a:t>
            </a:r>
            <a:endParaRPr lang="en-US" sz="1150" dirty="0"/>
          </a:p>
        </p:txBody>
      </p:sp>
      <p:sp>
        <p:nvSpPr>
          <p:cNvPr id="21" name="Text 19"/>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21 / 48</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indent="0" marL="0">
              <a:buNone/>
            </a:pPr>
            <a:r>
              <a:rPr lang="en-US" sz="1050" b="1" spc="300" kern="0" dirty="0">
                <a:solidFill>
                  <a:srgbClr val="177E89"/>
                </a:solidFill>
                <a:latin typeface="Calibri" pitchFamily="34" charset="0"/>
                <a:ea typeface="Calibri" pitchFamily="34" charset="-122"/>
                <a:cs typeface="Calibri" pitchFamily="34" charset="-120"/>
              </a:rPr>
              <a:t>03 · ATRIBUTOS</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autoplay: el navegador tiene la última palabra</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indent="0" marL="0">
              <a:buNone/>
            </a:pPr>
            <a:r>
              <a:rPr lang="en-US" sz="1250" dirty="0">
                <a:solidFill>
                  <a:srgbClr val="5F676C"/>
                </a:solidFill>
                <a:latin typeface="Calibri" pitchFamily="34" charset="0"/>
                <a:ea typeface="Calibri" pitchFamily="34" charset="-122"/>
                <a:cs typeface="Calibri" pitchFamily="34" charset="-120"/>
              </a:rPr>
              <a:t>Los navegadores bloquean cualquier video que intente arrancar solo y con sonido.</a:t>
            </a:r>
            <a:endParaRPr lang="en-US" sz="1250" dirty="0"/>
          </a:p>
        </p:txBody>
      </p:sp>
      <p:sp>
        <p:nvSpPr>
          <p:cNvPr id="5" name="Shape 3"/>
          <p:cNvSpPr/>
          <p:nvPr/>
        </p:nvSpPr>
        <p:spPr>
          <a:xfrm>
            <a:off x="640080" y="2615184"/>
            <a:ext cx="5349240" cy="1517904"/>
          </a:xfrm>
          <a:prstGeom prst="roundRect">
            <a:avLst>
              <a:gd name="adj" fmla="val 6024"/>
            </a:avLst>
          </a:prstGeom>
          <a:solidFill>
            <a:srgbClr val="2B2B2B"/>
          </a:solidFill>
          <a:ln w="12700">
            <a:solidFill>
              <a:srgbClr val="2B2B2B"/>
            </a:solidFill>
            <a:prstDash val="solid"/>
          </a:ln>
        </p:spPr>
      </p:sp>
      <p:sp>
        <p:nvSpPr>
          <p:cNvPr id="6" name="Text 4"/>
          <p:cNvSpPr txBox="1"/>
          <p:nvPr/>
        </p:nvSpPr>
        <p:spPr>
          <a:xfrm>
            <a:off x="868680" y="2779776"/>
            <a:ext cx="4892040" cy="1188720"/>
          </a:xfrm>
          <a:prstGeom prst="rect">
            <a:avLst/>
          </a:prstGeom>
          <a:noFill/>
          <a:ln/>
        </p:spPr>
        <p:txBody>
          <a:bodyPr wrap="square" lIns="0" tIns="0" rIns="0" bIns="0" rtlCol="0" anchor="ctr"/>
          <a:lstStyle/>
          <a:p>
            <a:pPr indent="0" marL="0">
              <a:lnSpc>
                <a:spcPct val="125000"/>
              </a:lnSpc>
              <a:buNone/>
            </a:pPr>
            <a:r>
              <a:rPr lang="en-US" sz="1100" dirty="0">
                <a:solidFill>
                  <a:srgbClr val="9AA39E"/>
                </a:solidFill>
                <a:latin typeface="Consolas" pitchFamily="34" charset="0"/>
                <a:ea typeface="Consolas" pitchFamily="34" charset="-122"/>
                <a:cs typeface="Consolas" pitchFamily="34" charset="-120"/>
              </a:rPr>
              <a:t>&lt;!-- Clip decorativo: sin sonido y en bucle --&gt;</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&lt;video </a:t>
            </a:r>
            <a:pPr indent="0" marL="0">
              <a:lnSpc>
                <a:spcPct val="125000"/>
              </a:lnSpc>
              <a:buNone/>
            </a:pPr>
            <a:r>
              <a:rPr lang="en-US" sz="1100" b="1" dirty="0">
                <a:solidFill>
                  <a:srgbClr val="8FE1E8"/>
                </a:solidFill>
                <a:latin typeface="Consolas" pitchFamily="34" charset="0"/>
                <a:ea typeface="Consolas" pitchFamily="34" charset="-122"/>
                <a:cs typeface="Consolas" pitchFamily="34" charset="-120"/>
              </a:rPr>
              <a:t>autoplay muted</a:t>
            </a:r>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loop playsinline&gt;</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&lt;source src="fondo.mp4" type="video/mp4" /&gt;</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&lt;/video&gt;</a:t>
            </a:r>
            <a:endParaRPr lang="en-US" sz="1100" dirty="0"/>
          </a:p>
        </p:txBody>
      </p:sp>
      <p:sp>
        <p:nvSpPr>
          <p:cNvPr id="7" name="Shape 5"/>
          <p:cNvSpPr/>
          <p:nvPr/>
        </p:nvSpPr>
        <p:spPr>
          <a:xfrm>
            <a:off x="6217920" y="2615184"/>
            <a:ext cx="2578608" cy="1517904"/>
          </a:xfrm>
          <a:prstGeom prst="roundRect">
            <a:avLst>
              <a:gd name="adj" fmla="val 6024"/>
            </a:avLst>
          </a:prstGeom>
          <a:solidFill>
            <a:srgbClr val="F3F5F6"/>
          </a:solidFill>
          <a:ln w="12700">
            <a:solidFill>
              <a:srgbClr val="CFD5D9"/>
            </a:solidFill>
            <a:prstDash val="solid"/>
          </a:ln>
        </p:spPr>
      </p:sp>
      <p:sp>
        <p:nvSpPr>
          <p:cNvPr id="8" name="Text 6"/>
          <p:cNvSpPr txBox="1"/>
          <p:nvPr/>
        </p:nvSpPr>
        <p:spPr>
          <a:xfrm>
            <a:off x="6455664" y="2761488"/>
            <a:ext cx="2103120" cy="310896"/>
          </a:xfrm>
          <a:prstGeom prst="rect">
            <a:avLst/>
          </a:prstGeom>
          <a:noFill/>
          <a:ln/>
        </p:spPr>
        <p:txBody>
          <a:bodyPr wrap="square" lIns="0" tIns="0" rIns="0" bIns="0" rtlCol="0" anchor="ctr"/>
          <a:lstStyle/>
          <a:p>
            <a:pPr algn="l" indent="0" marL="0">
              <a:buNone/>
            </a:pPr>
            <a:r>
              <a:rPr lang="en-US" sz="1400" b="1" dirty="0">
                <a:solidFill>
                  <a:srgbClr val="1F2326"/>
                </a:solidFill>
                <a:latin typeface="Calibri" pitchFamily="34" charset="0"/>
                <a:ea typeface="Calibri" pitchFamily="34" charset="-122"/>
                <a:cs typeface="Calibri" pitchFamily="34" charset="-120"/>
              </a:rPr>
              <a:t>Bien</a:t>
            </a:r>
            <a:endParaRPr lang="en-US" sz="1400" dirty="0"/>
          </a:p>
        </p:txBody>
      </p:sp>
      <p:sp>
        <p:nvSpPr>
          <p:cNvPr id="9" name="Text 7"/>
          <p:cNvSpPr txBox="1"/>
          <p:nvPr/>
        </p:nvSpPr>
        <p:spPr>
          <a:xfrm>
            <a:off x="6455664" y="3127248"/>
            <a:ext cx="2103120" cy="918058"/>
          </a:xfrm>
          <a:prstGeom prst="rect">
            <a:avLst/>
          </a:prstGeom>
          <a:noFill/>
          <a:ln/>
        </p:spPr>
        <p:txBody>
          <a:bodyPr wrap="square" lIns="0" tIns="0" rIns="0" bIns="0" rtlCol="0" anchor="t"/>
          <a:lstStyle/>
          <a:p>
            <a:pPr algn="l" indent="0" marL="0">
              <a:lnSpc>
                <a:spcPct val="125000"/>
              </a:lnSpc>
              <a:buNone/>
            </a:pPr>
            <a:r>
              <a:rPr lang="en-US" sz="1150" dirty="0">
                <a:solidFill>
                  <a:srgbClr val="33393D"/>
                </a:solidFill>
                <a:latin typeface="Calibri" pitchFamily="34" charset="0"/>
                <a:ea typeface="Calibri" pitchFamily="34" charset="-122"/>
                <a:cs typeface="Calibri" pitchFamily="34" charset="-120"/>
              </a:rPr>
              <a:t>Clip de fondo: sin sonido, en bucle y sin voz que entender.</a:t>
            </a:r>
            <a:endParaRPr lang="en-US" sz="1150" dirty="0"/>
          </a:p>
        </p:txBody>
      </p:sp>
      <p:sp>
        <p:nvSpPr>
          <p:cNvPr id="10" name="Shape 8"/>
          <p:cNvSpPr/>
          <p:nvPr/>
        </p:nvSpPr>
        <p:spPr>
          <a:xfrm>
            <a:off x="8988552" y="2615184"/>
            <a:ext cx="2578608" cy="1517904"/>
          </a:xfrm>
          <a:prstGeom prst="roundRect">
            <a:avLst>
              <a:gd name="adj" fmla="val 6024"/>
            </a:avLst>
          </a:prstGeom>
          <a:solidFill>
            <a:srgbClr val="FFFFFF"/>
          </a:solidFill>
          <a:ln w="12700">
            <a:solidFill>
              <a:srgbClr val="CFD5D9"/>
            </a:solidFill>
            <a:prstDash val="solid"/>
          </a:ln>
        </p:spPr>
      </p:sp>
      <p:sp>
        <p:nvSpPr>
          <p:cNvPr id="11" name="Text 9"/>
          <p:cNvSpPr txBox="1"/>
          <p:nvPr/>
        </p:nvSpPr>
        <p:spPr>
          <a:xfrm>
            <a:off x="9226296" y="2761488"/>
            <a:ext cx="2103120" cy="310896"/>
          </a:xfrm>
          <a:prstGeom prst="rect">
            <a:avLst/>
          </a:prstGeom>
          <a:noFill/>
          <a:ln/>
        </p:spPr>
        <p:txBody>
          <a:bodyPr wrap="square" lIns="0" tIns="0" rIns="0" bIns="0" rtlCol="0" anchor="ctr"/>
          <a:lstStyle/>
          <a:p>
            <a:pPr algn="l" indent="0" marL="0">
              <a:buNone/>
            </a:pPr>
            <a:r>
              <a:rPr lang="en-US" sz="1400" b="1" dirty="0">
                <a:solidFill>
                  <a:srgbClr val="A8402B"/>
                </a:solidFill>
                <a:latin typeface="Calibri" pitchFamily="34" charset="0"/>
                <a:ea typeface="Calibri" pitchFamily="34" charset="-122"/>
                <a:cs typeface="Calibri" pitchFamily="34" charset="-120"/>
              </a:rPr>
              <a:t>Mal</a:t>
            </a:r>
            <a:endParaRPr lang="en-US" sz="1400" dirty="0"/>
          </a:p>
        </p:txBody>
      </p:sp>
      <p:sp>
        <p:nvSpPr>
          <p:cNvPr id="12" name="Text 10"/>
          <p:cNvSpPr txBox="1"/>
          <p:nvPr/>
        </p:nvSpPr>
        <p:spPr>
          <a:xfrm>
            <a:off x="9226296" y="3127248"/>
            <a:ext cx="2103120" cy="918058"/>
          </a:xfrm>
          <a:prstGeom prst="rect">
            <a:avLst/>
          </a:prstGeom>
          <a:noFill/>
          <a:ln/>
        </p:spPr>
        <p:txBody>
          <a:bodyPr wrap="square" lIns="0" tIns="0" rIns="0" bIns="0" rtlCol="0" anchor="t"/>
          <a:lstStyle/>
          <a:p>
            <a:pPr algn="l" indent="0" marL="0">
              <a:lnSpc>
                <a:spcPct val="125000"/>
              </a:lnSpc>
              <a:buNone/>
            </a:pPr>
            <a:r>
              <a:rPr lang="en-US" sz="1150" dirty="0">
                <a:solidFill>
                  <a:srgbClr val="33393D"/>
                </a:solidFill>
                <a:latin typeface="Calibri" pitchFamily="34" charset="0"/>
                <a:ea typeface="Calibri" pitchFamily="34" charset="-122"/>
                <a:cs typeface="Calibri" pitchFamily="34" charset="-120"/>
              </a:rPr>
              <a:t>Presentación con voz que arranca sola: se bloquea o molesta.</a:t>
            </a:r>
            <a:endParaRPr lang="en-US" sz="1150" dirty="0"/>
          </a:p>
        </p:txBody>
      </p:sp>
      <p:sp>
        <p:nvSpPr>
          <p:cNvPr id="13" name="Shape 11"/>
          <p:cNvSpPr/>
          <p:nvPr/>
        </p:nvSpPr>
        <p:spPr>
          <a:xfrm>
            <a:off x="640080" y="4334256"/>
            <a:ext cx="10927080" cy="1481328"/>
          </a:xfrm>
          <a:prstGeom prst="roundRect">
            <a:avLst>
              <a:gd name="adj" fmla="val 6173"/>
            </a:avLst>
          </a:prstGeom>
          <a:solidFill>
            <a:srgbClr val="F3F5F6"/>
          </a:solidFill>
          <a:ln w="12700">
            <a:solidFill>
              <a:srgbClr val="CFD5D9"/>
            </a:solidFill>
            <a:prstDash val="solid"/>
          </a:ln>
        </p:spPr>
      </p:sp>
      <p:sp>
        <p:nvSpPr>
          <p:cNvPr id="14" name="Text 12"/>
          <p:cNvSpPr txBox="1"/>
          <p:nvPr/>
        </p:nvSpPr>
        <p:spPr>
          <a:xfrm>
            <a:off x="950976" y="4535424"/>
            <a:ext cx="10305288" cy="310896"/>
          </a:xfrm>
          <a:prstGeom prst="rect">
            <a:avLst/>
          </a:prstGeom>
          <a:noFill/>
          <a:ln/>
        </p:spPr>
        <p:txBody>
          <a:bodyPr wrap="square" lIns="0" tIns="0" rIns="0" bIns="0" rtlCol="0" anchor="ctr"/>
          <a:lstStyle/>
          <a:p>
            <a:pPr algn="l" indent="0" marL="0">
              <a:buNone/>
            </a:pPr>
            <a:r>
              <a:rPr lang="en-US" sz="1400" b="1" dirty="0">
                <a:solidFill>
                  <a:srgbClr val="177E89"/>
                </a:solidFill>
                <a:latin typeface="Calibri" pitchFamily="34" charset="0"/>
                <a:ea typeface="Calibri" pitchFamily="34" charset="-122"/>
                <a:cs typeface="Calibri" pitchFamily="34" charset="-120"/>
              </a:rPr>
              <a:t>En tu portafolio</a:t>
            </a:r>
            <a:endParaRPr lang="en-US" sz="1400" dirty="0"/>
          </a:p>
        </p:txBody>
      </p:sp>
      <p:sp>
        <p:nvSpPr>
          <p:cNvPr id="15" name="Text 13"/>
          <p:cNvSpPr txBox="1"/>
          <p:nvPr/>
        </p:nvSpPr>
        <p:spPr>
          <a:xfrm>
            <a:off x="950976" y="4901184"/>
            <a:ext cx="10305288" cy="793699"/>
          </a:xfrm>
          <a:prstGeom prst="rect">
            <a:avLst/>
          </a:prstGeom>
          <a:noFill/>
          <a:ln/>
        </p:spPr>
        <p:txBody>
          <a:bodyPr wrap="square" lIns="0" tIns="0" rIns="0" bIns="0" rtlCol="0" anchor="t"/>
          <a:lstStyle/>
          <a:p>
            <a:pPr algn="l" indent="0" marL="0">
              <a:lnSpc>
                <a:spcPct val="125000"/>
              </a:lnSpc>
              <a:buNone/>
            </a:pPr>
            <a:r>
              <a:rPr lang="en-US" sz="1250" dirty="0">
                <a:solidFill>
                  <a:srgbClr val="33393D"/>
                </a:solidFill>
                <a:latin typeface="Calibri" pitchFamily="34" charset="0"/>
                <a:ea typeface="Calibri" pitchFamily="34" charset="-122"/>
                <a:cs typeface="Calibri" pitchFamily="34" charset="-120"/>
              </a:rPr>
              <a:t>El segundo video de sobre-mi.html tiene autoplay pero no muted: según el navegador, puede quedarse sin arrancar. Además repite el mismo archivo, y eso duplica la descarga.</a:t>
            </a:r>
            <a:endParaRPr lang="en-US" sz="1250" dirty="0"/>
          </a:p>
          <a:p>
            <a:pPr algn="l" indent="0" marL="0">
              <a:lnSpc>
                <a:spcPct val="125000"/>
              </a:lnSpc>
              <a:buNone/>
            </a:pPr>
            <a:r>
              <a:rPr lang="en-US" sz="1250" dirty="0">
                <a:solidFill>
                  <a:srgbClr val="33393D"/>
                </a:solidFill>
                <a:latin typeface="Calibri" pitchFamily="34" charset="0"/>
                <a:ea typeface="Calibri" pitchFamily="34" charset="-122"/>
                <a:cs typeface="Calibri" pitchFamily="34" charset="-120"/>
              </a:rPr>
              <a:t>Hoy dejamos un solo video, con controls, y que cada persona decida cuándo verlo.</a:t>
            </a:r>
            <a:endParaRPr lang="en-US" sz="1250" dirty="0"/>
          </a:p>
        </p:txBody>
      </p:sp>
      <p:sp>
        <p:nvSpPr>
          <p:cNvPr id="16" name="Text 14"/>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22 / 48</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indent="0" marL="0">
              <a:buNone/>
            </a:pPr>
            <a:r>
              <a:rPr lang="en-US" sz="1050" b="1" spc="300" kern="0" dirty="0">
                <a:solidFill>
                  <a:srgbClr val="177E89"/>
                </a:solidFill>
                <a:latin typeface="Calibri" pitchFamily="34" charset="0"/>
                <a:ea typeface="Calibri" pitchFamily="34" charset="-122"/>
                <a:cs typeface="Calibri" pitchFamily="34" charset="-120"/>
              </a:rPr>
              <a:t>03 · ATRIBUTOS</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poster y preload: antes de reproducir</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indent="0" marL="0">
              <a:buNone/>
            </a:pPr>
            <a:r>
              <a:rPr lang="en-US" sz="1250" dirty="0">
                <a:solidFill>
                  <a:srgbClr val="5F676C"/>
                </a:solidFill>
                <a:latin typeface="Calibri" pitchFamily="34" charset="0"/>
                <a:ea typeface="Calibri" pitchFamily="34" charset="-122"/>
                <a:cs typeface="Calibri" pitchFamily="34" charset="-120"/>
              </a:rPr>
              <a:t>Qué ve y qué descarga la persona antes de pulsar el botón.</a:t>
            </a:r>
            <a:endParaRPr lang="en-US" sz="1250" dirty="0"/>
          </a:p>
        </p:txBody>
      </p:sp>
      <p:sp>
        <p:nvSpPr>
          <p:cNvPr id="5" name="Shape 3"/>
          <p:cNvSpPr/>
          <p:nvPr/>
        </p:nvSpPr>
        <p:spPr>
          <a:xfrm>
            <a:off x="640080" y="2615184"/>
            <a:ext cx="5349240" cy="1737360"/>
          </a:xfrm>
          <a:prstGeom prst="roundRect">
            <a:avLst>
              <a:gd name="adj" fmla="val 5263"/>
            </a:avLst>
          </a:prstGeom>
          <a:solidFill>
            <a:srgbClr val="2B2B2B"/>
          </a:solidFill>
          <a:ln w="12700">
            <a:solidFill>
              <a:srgbClr val="2B2B2B"/>
            </a:solidFill>
            <a:prstDash val="solid"/>
          </a:ln>
        </p:spPr>
      </p:sp>
      <p:sp>
        <p:nvSpPr>
          <p:cNvPr id="6" name="Text 4"/>
          <p:cNvSpPr txBox="1"/>
          <p:nvPr/>
        </p:nvSpPr>
        <p:spPr>
          <a:xfrm>
            <a:off x="868680" y="2779776"/>
            <a:ext cx="4892040" cy="1408176"/>
          </a:xfrm>
          <a:prstGeom prst="rect">
            <a:avLst/>
          </a:prstGeom>
          <a:noFill/>
          <a:ln/>
        </p:spPr>
        <p:txBody>
          <a:bodyPr wrap="square" lIns="0" tIns="0" rIns="0" bIns="0" rtlCol="0" anchor="ctr"/>
          <a:lstStyle/>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&lt;video</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controls</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a:t>
            </a:r>
            <a:pPr indent="0" marL="0">
              <a:lnSpc>
                <a:spcPct val="125000"/>
              </a:lnSpc>
              <a:buNone/>
            </a:pPr>
            <a:r>
              <a:rPr lang="en-US" sz="1100" b="1" dirty="0">
                <a:solidFill>
                  <a:srgbClr val="8FE1E8"/>
                </a:solidFill>
                <a:latin typeface="Consolas" pitchFamily="34" charset="0"/>
                <a:ea typeface="Consolas" pitchFamily="34" charset="-122"/>
                <a:cs typeface="Consolas" pitchFamily="34" charset="-120"/>
              </a:rPr>
              <a:t>poster=</a:t>
            </a:r>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"assets/img/poster-presentacion.jpg"</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a:t>
            </a:r>
            <a:pPr indent="0" marL="0">
              <a:lnSpc>
                <a:spcPct val="125000"/>
              </a:lnSpc>
              <a:buNone/>
            </a:pPr>
            <a:r>
              <a:rPr lang="en-US" sz="1100" b="1" dirty="0">
                <a:solidFill>
                  <a:srgbClr val="8FE1E8"/>
                </a:solidFill>
                <a:latin typeface="Consolas" pitchFamily="34" charset="0"/>
                <a:ea typeface="Consolas" pitchFamily="34" charset="-122"/>
                <a:cs typeface="Consolas" pitchFamily="34" charset="-120"/>
              </a:rPr>
              <a:t>preload=</a:t>
            </a:r>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"metadata"</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&gt;</a:t>
            </a:r>
            <a:endParaRPr lang="en-US" sz="1100" dirty="0"/>
          </a:p>
        </p:txBody>
      </p:sp>
      <p:sp>
        <p:nvSpPr>
          <p:cNvPr id="7" name="Shape 5"/>
          <p:cNvSpPr/>
          <p:nvPr/>
        </p:nvSpPr>
        <p:spPr>
          <a:xfrm>
            <a:off x="6217920" y="2615184"/>
            <a:ext cx="5349240" cy="530352"/>
          </a:xfrm>
          <a:prstGeom prst="roundRect">
            <a:avLst>
              <a:gd name="adj" fmla="val 17241"/>
            </a:avLst>
          </a:prstGeom>
          <a:solidFill>
            <a:srgbClr val="FFFFFF"/>
          </a:solidFill>
          <a:ln w="12700">
            <a:solidFill>
              <a:srgbClr val="CFD5D9"/>
            </a:solidFill>
            <a:prstDash val="solid"/>
          </a:ln>
        </p:spPr>
      </p:sp>
      <p:sp>
        <p:nvSpPr>
          <p:cNvPr id="8" name="Text 6"/>
          <p:cNvSpPr txBox="1"/>
          <p:nvPr/>
        </p:nvSpPr>
        <p:spPr>
          <a:xfrm>
            <a:off x="6492240" y="2615184"/>
            <a:ext cx="2057400" cy="530352"/>
          </a:xfrm>
          <a:prstGeom prst="rect">
            <a:avLst/>
          </a:prstGeom>
          <a:noFill/>
          <a:ln/>
        </p:spPr>
        <p:txBody>
          <a:bodyPr wrap="square" lIns="0" tIns="0" rIns="0" bIns="0" rtlCol="0" anchor="ctr"/>
          <a:lstStyle/>
          <a:p>
            <a:pPr indent="0" marL="0">
              <a:buNone/>
            </a:pPr>
            <a:r>
              <a:rPr lang="en-US" sz="1150" b="1" dirty="0">
                <a:solidFill>
                  <a:srgbClr val="177E89"/>
                </a:solidFill>
                <a:latin typeface="Consolas" pitchFamily="34" charset="0"/>
                <a:ea typeface="Consolas" pitchFamily="34" charset="-122"/>
                <a:cs typeface="Consolas" pitchFamily="34" charset="-120"/>
              </a:rPr>
              <a:t>preload="none"</a:t>
            </a:r>
            <a:endParaRPr lang="en-US" sz="1150" dirty="0"/>
          </a:p>
        </p:txBody>
      </p:sp>
      <p:sp>
        <p:nvSpPr>
          <p:cNvPr id="9" name="Text 7"/>
          <p:cNvSpPr txBox="1"/>
          <p:nvPr/>
        </p:nvSpPr>
        <p:spPr>
          <a:xfrm>
            <a:off x="8549640" y="2615184"/>
            <a:ext cx="2743200" cy="530352"/>
          </a:xfrm>
          <a:prstGeom prst="rect">
            <a:avLst/>
          </a:prstGeom>
          <a:noFill/>
          <a:ln/>
        </p:spPr>
        <p:txBody>
          <a:bodyPr wrap="square" lIns="0" tIns="0" rIns="0" bIns="0" rtlCol="0" anchor="ctr"/>
          <a:lstStyle/>
          <a:p>
            <a:pPr indent="0" marL="0">
              <a:buNone/>
            </a:pPr>
            <a:r>
              <a:rPr lang="en-US" sz="1100" dirty="0">
                <a:solidFill>
                  <a:srgbClr val="33393D"/>
                </a:solidFill>
                <a:latin typeface="Calibri" pitchFamily="34" charset="0"/>
                <a:ea typeface="Calibri" pitchFamily="34" charset="-122"/>
                <a:cs typeface="Calibri" pitchFamily="34" charset="-120"/>
              </a:rPr>
              <a:t>No descarga nada hasta que pulsan reproducir.</a:t>
            </a:r>
            <a:endParaRPr lang="en-US" sz="1100" dirty="0"/>
          </a:p>
        </p:txBody>
      </p:sp>
      <p:sp>
        <p:nvSpPr>
          <p:cNvPr id="10" name="Shape 8"/>
          <p:cNvSpPr/>
          <p:nvPr/>
        </p:nvSpPr>
        <p:spPr>
          <a:xfrm>
            <a:off x="6217920" y="3218688"/>
            <a:ext cx="5349240" cy="530352"/>
          </a:xfrm>
          <a:prstGeom prst="roundRect">
            <a:avLst>
              <a:gd name="adj" fmla="val 17241"/>
            </a:avLst>
          </a:prstGeom>
          <a:solidFill>
            <a:srgbClr val="FFFFFF"/>
          </a:solidFill>
          <a:ln w="12700">
            <a:solidFill>
              <a:srgbClr val="CFD5D9"/>
            </a:solidFill>
            <a:prstDash val="solid"/>
          </a:ln>
        </p:spPr>
      </p:sp>
      <p:sp>
        <p:nvSpPr>
          <p:cNvPr id="11" name="Text 9"/>
          <p:cNvSpPr txBox="1"/>
          <p:nvPr/>
        </p:nvSpPr>
        <p:spPr>
          <a:xfrm>
            <a:off x="6492240" y="3218688"/>
            <a:ext cx="2057400" cy="530352"/>
          </a:xfrm>
          <a:prstGeom prst="rect">
            <a:avLst/>
          </a:prstGeom>
          <a:noFill/>
          <a:ln/>
        </p:spPr>
        <p:txBody>
          <a:bodyPr wrap="square" lIns="0" tIns="0" rIns="0" bIns="0" rtlCol="0" anchor="ctr"/>
          <a:lstStyle/>
          <a:p>
            <a:pPr indent="0" marL="0">
              <a:buNone/>
            </a:pPr>
            <a:r>
              <a:rPr lang="en-US" sz="1150" b="1" dirty="0">
                <a:solidFill>
                  <a:srgbClr val="177E89"/>
                </a:solidFill>
                <a:latin typeface="Consolas" pitchFamily="34" charset="0"/>
                <a:ea typeface="Consolas" pitchFamily="34" charset="-122"/>
                <a:cs typeface="Consolas" pitchFamily="34" charset="-120"/>
              </a:rPr>
              <a:t>preload="metadata"</a:t>
            </a:r>
            <a:endParaRPr lang="en-US" sz="1150" dirty="0"/>
          </a:p>
        </p:txBody>
      </p:sp>
      <p:sp>
        <p:nvSpPr>
          <p:cNvPr id="12" name="Text 10"/>
          <p:cNvSpPr txBox="1"/>
          <p:nvPr/>
        </p:nvSpPr>
        <p:spPr>
          <a:xfrm>
            <a:off x="8549640" y="3218688"/>
            <a:ext cx="2743200" cy="530352"/>
          </a:xfrm>
          <a:prstGeom prst="rect">
            <a:avLst/>
          </a:prstGeom>
          <a:noFill/>
          <a:ln/>
        </p:spPr>
        <p:txBody>
          <a:bodyPr wrap="square" lIns="0" tIns="0" rIns="0" bIns="0" rtlCol="0" anchor="ctr"/>
          <a:lstStyle/>
          <a:p>
            <a:pPr indent="0" marL="0">
              <a:buNone/>
            </a:pPr>
            <a:r>
              <a:rPr lang="en-US" sz="1100" dirty="0">
                <a:solidFill>
                  <a:srgbClr val="33393D"/>
                </a:solidFill>
                <a:latin typeface="Calibri" pitchFamily="34" charset="0"/>
                <a:ea typeface="Calibri" pitchFamily="34" charset="-122"/>
                <a:cs typeface="Calibri" pitchFamily="34" charset="-120"/>
              </a:rPr>
              <a:t>Solo la duración y el tamaño. La opción recomendada.</a:t>
            </a:r>
            <a:endParaRPr lang="en-US" sz="1100" dirty="0"/>
          </a:p>
        </p:txBody>
      </p:sp>
      <p:sp>
        <p:nvSpPr>
          <p:cNvPr id="13" name="Shape 11"/>
          <p:cNvSpPr/>
          <p:nvPr/>
        </p:nvSpPr>
        <p:spPr>
          <a:xfrm>
            <a:off x="6217920" y="3822192"/>
            <a:ext cx="5349240" cy="530352"/>
          </a:xfrm>
          <a:prstGeom prst="roundRect">
            <a:avLst>
              <a:gd name="adj" fmla="val 17241"/>
            </a:avLst>
          </a:prstGeom>
          <a:solidFill>
            <a:srgbClr val="FFFFFF"/>
          </a:solidFill>
          <a:ln w="12700">
            <a:solidFill>
              <a:srgbClr val="CFD5D9"/>
            </a:solidFill>
            <a:prstDash val="solid"/>
          </a:ln>
        </p:spPr>
      </p:sp>
      <p:sp>
        <p:nvSpPr>
          <p:cNvPr id="14" name="Text 12"/>
          <p:cNvSpPr txBox="1"/>
          <p:nvPr/>
        </p:nvSpPr>
        <p:spPr>
          <a:xfrm>
            <a:off x="6492240" y="3822192"/>
            <a:ext cx="2057400" cy="530352"/>
          </a:xfrm>
          <a:prstGeom prst="rect">
            <a:avLst/>
          </a:prstGeom>
          <a:noFill/>
          <a:ln/>
        </p:spPr>
        <p:txBody>
          <a:bodyPr wrap="square" lIns="0" tIns="0" rIns="0" bIns="0" rtlCol="0" anchor="ctr"/>
          <a:lstStyle/>
          <a:p>
            <a:pPr indent="0" marL="0">
              <a:buNone/>
            </a:pPr>
            <a:r>
              <a:rPr lang="en-US" sz="1150" b="1" dirty="0">
                <a:solidFill>
                  <a:srgbClr val="177E89"/>
                </a:solidFill>
                <a:latin typeface="Consolas" pitchFamily="34" charset="0"/>
                <a:ea typeface="Consolas" pitchFamily="34" charset="-122"/>
                <a:cs typeface="Consolas" pitchFamily="34" charset="-120"/>
              </a:rPr>
              <a:t>preload="auto"</a:t>
            </a:r>
            <a:endParaRPr lang="en-US" sz="1150" dirty="0"/>
          </a:p>
        </p:txBody>
      </p:sp>
      <p:sp>
        <p:nvSpPr>
          <p:cNvPr id="15" name="Text 13"/>
          <p:cNvSpPr txBox="1"/>
          <p:nvPr/>
        </p:nvSpPr>
        <p:spPr>
          <a:xfrm>
            <a:off x="8549640" y="3822192"/>
            <a:ext cx="2743200" cy="530352"/>
          </a:xfrm>
          <a:prstGeom prst="rect">
            <a:avLst/>
          </a:prstGeom>
          <a:noFill/>
          <a:ln/>
        </p:spPr>
        <p:txBody>
          <a:bodyPr wrap="square" lIns="0" tIns="0" rIns="0" bIns="0" rtlCol="0" anchor="ctr"/>
          <a:lstStyle/>
          <a:p>
            <a:pPr indent="0" marL="0">
              <a:buNone/>
            </a:pPr>
            <a:r>
              <a:rPr lang="en-US" sz="1100" dirty="0">
                <a:solidFill>
                  <a:srgbClr val="33393D"/>
                </a:solidFill>
                <a:latin typeface="Calibri" pitchFamily="34" charset="0"/>
                <a:ea typeface="Calibri" pitchFamily="34" charset="-122"/>
                <a:cs typeface="Calibri" pitchFamily="34" charset="-120"/>
              </a:rPr>
              <a:t>Puede descargar el video entero aunque nadie lo vea.</a:t>
            </a:r>
            <a:endParaRPr lang="en-US" sz="1100" dirty="0"/>
          </a:p>
        </p:txBody>
      </p:sp>
      <p:sp>
        <p:nvSpPr>
          <p:cNvPr id="16" name="Shape 14"/>
          <p:cNvSpPr/>
          <p:nvPr/>
        </p:nvSpPr>
        <p:spPr>
          <a:xfrm>
            <a:off x="640080" y="4553712"/>
            <a:ext cx="10927080" cy="1499616"/>
          </a:xfrm>
          <a:prstGeom prst="roundRect">
            <a:avLst>
              <a:gd name="adj" fmla="val 6098"/>
            </a:avLst>
          </a:prstGeom>
          <a:solidFill>
            <a:srgbClr val="F3F5F6"/>
          </a:solidFill>
          <a:ln w="12700">
            <a:solidFill>
              <a:srgbClr val="CFD5D9"/>
            </a:solidFill>
            <a:prstDash val="solid"/>
          </a:ln>
        </p:spPr>
      </p:sp>
      <p:pic>
        <p:nvPicPr>
          <p:cNvPr id="17" name="Image 0" descr="Imagen de poster del video de presentación">    </p:cNvPr>
          <p:cNvPicPr>
            <a:picLocks noChangeAspect="1"/>
          </p:cNvPicPr>
          <p:nvPr/>
        </p:nvPicPr>
        <p:blipFill>
          <a:blip r:embed="rId1"/>
          <a:stretch>
            <a:fillRect/>
          </a:stretch>
        </p:blipFill>
        <p:spPr>
          <a:xfrm>
            <a:off x="914400" y="4663440"/>
            <a:ext cx="722376" cy="1280160"/>
          </a:xfrm>
          <a:prstGeom prst="rect">
            <a:avLst/>
          </a:prstGeom>
        </p:spPr>
      </p:pic>
      <p:sp>
        <p:nvSpPr>
          <p:cNvPr id="18" name="Text 15"/>
          <p:cNvSpPr txBox="1"/>
          <p:nvPr/>
        </p:nvSpPr>
        <p:spPr>
          <a:xfrm>
            <a:off x="1920240" y="4681728"/>
            <a:ext cx="2743200" cy="310896"/>
          </a:xfrm>
          <a:prstGeom prst="rect">
            <a:avLst/>
          </a:prstGeom>
          <a:noFill/>
          <a:ln/>
        </p:spPr>
        <p:txBody>
          <a:bodyPr wrap="square" lIns="0" tIns="0" rIns="0" bIns="0" rtlCol="0" anchor="ctr"/>
          <a:lstStyle/>
          <a:p>
            <a:pPr indent="0" marL="0">
              <a:buNone/>
            </a:pPr>
            <a:r>
              <a:rPr lang="en-US" sz="1300" b="1" dirty="0">
                <a:solidFill>
                  <a:srgbClr val="177E89"/>
                </a:solidFill>
                <a:latin typeface="Consolas" pitchFamily="34" charset="0"/>
                <a:ea typeface="Consolas" pitchFamily="34" charset="-122"/>
                <a:cs typeface="Consolas" pitchFamily="34" charset="-120"/>
              </a:rPr>
              <a:t>poster</a:t>
            </a:r>
            <a:endParaRPr lang="en-US" sz="1300" dirty="0"/>
          </a:p>
        </p:txBody>
      </p:sp>
      <p:sp>
        <p:nvSpPr>
          <p:cNvPr id="19" name="Text 16"/>
          <p:cNvSpPr txBox="1"/>
          <p:nvPr/>
        </p:nvSpPr>
        <p:spPr>
          <a:xfrm>
            <a:off x="1920240" y="5029200"/>
            <a:ext cx="9281160" cy="914400"/>
          </a:xfrm>
          <a:prstGeom prst="rect">
            <a:avLst/>
          </a:prstGeom>
          <a:noFill/>
          <a:ln/>
        </p:spPr>
        <p:txBody>
          <a:bodyPr wrap="square" lIns="0" tIns="0" rIns="0" bIns="0" rtlCol="0" anchor="t"/>
          <a:lstStyle/>
          <a:p>
            <a:pPr indent="0" marL="0">
              <a:lnSpc>
                <a:spcPct val="125000"/>
              </a:lnSpc>
              <a:buNone/>
            </a:pPr>
            <a:r>
              <a:rPr lang="en-US" sz="1250" dirty="0">
                <a:solidFill>
                  <a:srgbClr val="33393D"/>
                </a:solidFill>
                <a:latin typeface="Calibri" pitchFamily="34" charset="0"/>
                <a:ea typeface="Calibri" pitchFamily="34" charset="-122"/>
                <a:cs typeface="Calibri" pitchFamily="34" charset="-120"/>
              </a:rPr>
              <a:t>Una imagen JPG que se muestra hasta que el video empieza. Sin poster, el navegador enseña el primer fotograma, que muchas veces es negro. La imagen debe tener la misma proporción que el video.</a:t>
            </a:r>
            <a:endParaRPr lang="en-US" sz="1250" dirty="0"/>
          </a:p>
        </p:txBody>
      </p:sp>
      <p:sp>
        <p:nvSpPr>
          <p:cNvPr id="20" name="Text 17"/>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23 / 48</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indent="0" marL="0">
              <a:buNone/>
            </a:pPr>
            <a:r>
              <a:rPr lang="en-US" sz="1050" b="1" spc="300" kern="0" dirty="0">
                <a:solidFill>
                  <a:srgbClr val="177E89"/>
                </a:solidFill>
                <a:latin typeface="Calibri" pitchFamily="34" charset="0"/>
                <a:ea typeface="Calibri" pitchFamily="34" charset="-122"/>
                <a:cs typeface="Calibri" pitchFamily="34" charset="-120"/>
              </a:rPr>
              <a:t>03 · ATRIBUTOS</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width, height y figure</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indent="0" marL="0">
              <a:buNone/>
            </a:pPr>
            <a:r>
              <a:rPr lang="en-US" sz="1250" dirty="0">
                <a:solidFill>
                  <a:srgbClr val="5F676C"/>
                </a:solidFill>
                <a:latin typeface="Calibri" pitchFamily="34" charset="0"/>
                <a:ea typeface="Calibri" pitchFamily="34" charset="-122"/>
                <a:cs typeface="Calibri" pitchFamily="34" charset="-120"/>
              </a:rPr>
              <a:t>El navegador reserva el espacio antes de que el video cargue.</a:t>
            </a:r>
            <a:endParaRPr lang="en-US" sz="1250" dirty="0"/>
          </a:p>
        </p:txBody>
      </p:sp>
      <p:sp>
        <p:nvSpPr>
          <p:cNvPr id="5" name="Shape 3"/>
          <p:cNvSpPr/>
          <p:nvPr/>
        </p:nvSpPr>
        <p:spPr>
          <a:xfrm>
            <a:off x="640080" y="2615184"/>
            <a:ext cx="5760720" cy="2148840"/>
          </a:xfrm>
          <a:prstGeom prst="roundRect">
            <a:avLst>
              <a:gd name="adj" fmla="val 4255"/>
            </a:avLst>
          </a:prstGeom>
          <a:solidFill>
            <a:srgbClr val="2B2B2B"/>
          </a:solidFill>
          <a:ln w="12700">
            <a:solidFill>
              <a:srgbClr val="2B2B2B"/>
            </a:solidFill>
            <a:prstDash val="solid"/>
          </a:ln>
        </p:spPr>
      </p:sp>
      <p:sp>
        <p:nvSpPr>
          <p:cNvPr id="6" name="Text 4"/>
          <p:cNvSpPr txBox="1"/>
          <p:nvPr/>
        </p:nvSpPr>
        <p:spPr>
          <a:xfrm>
            <a:off x="868680" y="2779776"/>
            <a:ext cx="5303520" cy="1819656"/>
          </a:xfrm>
          <a:prstGeom prst="rect">
            <a:avLst/>
          </a:prstGeom>
          <a:noFill/>
          <a:ln/>
        </p:spPr>
        <p:txBody>
          <a:bodyPr wrap="square" lIns="0" tIns="0" rIns="0" bIns="0" rtlCol="0" anchor="ctr"/>
          <a:lstStyle/>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&lt;figure&gt;</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&lt;video controls </a:t>
            </a:r>
            <a:pPr indent="0" marL="0">
              <a:lnSpc>
                <a:spcPct val="125000"/>
              </a:lnSpc>
              <a:buNone/>
            </a:pPr>
            <a:r>
              <a:rPr lang="en-US" sz="1100" b="1" dirty="0">
                <a:solidFill>
                  <a:srgbClr val="8FE1E8"/>
                </a:solidFill>
                <a:latin typeface="Consolas" pitchFamily="34" charset="0"/>
                <a:ea typeface="Consolas" pitchFamily="34" charset="-122"/>
                <a:cs typeface="Consolas" pitchFamily="34" charset="-120"/>
              </a:rPr>
              <a:t>width="315" height="560"</a:t>
            </a:r>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&gt;</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&lt;/video&gt;</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a:t>
            </a:r>
            <a:pPr indent="0" marL="0">
              <a:lnSpc>
                <a:spcPct val="125000"/>
              </a:lnSpc>
              <a:buNone/>
            </a:pPr>
            <a:r>
              <a:rPr lang="en-US" sz="1100" b="1" dirty="0">
                <a:solidFill>
                  <a:srgbClr val="8FE1E8"/>
                </a:solidFill>
                <a:latin typeface="Consolas" pitchFamily="34" charset="0"/>
                <a:ea typeface="Consolas" pitchFamily="34" charset="-122"/>
                <a:cs typeface="Consolas" pitchFamily="34" charset="-120"/>
              </a:rPr>
              <a:t>&lt;figcaption&gt;</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Video de presentación de Dagner Chuman.</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a:t>
            </a:r>
            <a:pPr indent="0" marL="0">
              <a:lnSpc>
                <a:spcPct val="125000"/>
              </a:lnSpc>
              <a:buNone/>
            </a:pPr>
            <a:r>
              <a:rPr lang="en-US" sz="1100" b="1" dirty="0">
                <a:solidFill>
                  <a:srgbClr val="8FE1E8"/>
                </a:solidFill>
                <a:latin typeface="Consolas" pitchFamily="34" charset="0"/>
                <a:ea typeface="Consolas" pitchFamily="34" charset="-122"/>
                <a:cs typeface="Consolas" pitchFamily="34" charset="-120"/>
              </a:rPr>
              <a:t>&lt;/figcaption&gt;</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&lt;/figure&gt;</a:t>
            </a:r>
            <a:endParaRPr lang="en-US" sz="1100" dirty="0"/>
          </a:p>
        </p:txBody>
      </p:sp>
      <p:sp>
        <p:nvSpPr>
          <p:cNvPr id="7" name="Shape 5"/>
          <p:cNvSpPr/>
          <p:nvPr/>
        </p:nvSpPr>
        <p:spPr>
          <a:xfrm>
            <a:off x="6629400" y="2615184"/>
            <a:ext cx="4937760" cy="649224"/>
          </a:xfrm>
          <a:prstGeom prst="roundRect">
            <a:avLst>
              <a:gd name="adj" fmla="val 14085"/>
            </a:avLst>
          </a:prstGeom>
          <a:solidFill>
            <a:srgbClr val="FFFFFF"/>
          </a:solidFill>
          <a:ln w="12700">
            <a:solidFill>
              <a:srgbClr val="CFD5D9"/>
            </a:solidFill>
            <a:prstDash val="solid"/>
          </a:ln>
        </p:spPr>
      </p:sp>
      <p:sp>
        <p:nvSpPr>
          <p:cNvPr id="8" name="Text 6"/>
          <p:cNvSpPr txBox="1"/>
          <p:nvPr/>
        </p:nvSpPr>
        <p:spPr>
          <a:xfrm>
            <a:off x="6903720" y="2615184"/>
            <a:ext cx="1600200" cy="649224"/>
          </a:xfrm>
          <a:prstGeom prst="rect">
            <a:avLst/>
          </a:prstGeom>
          <a:noFill/>
          <a:ln/>
        </p:spPr>
        <p:txBody>
          <a:bodyPr wrap="square" lIns="0" tIns="0" rIns="0" bIns="0" rtlCol="0" anchor="ctr"/>
          <a:lstStyle/>
          <a:p>
            <a:pPr indent="0" marL="0">
              <a:buNone/>
            </a:pPr>
            <a:r>
              <a:rPr lang="en-US" sz="1200" b="1" dirty="0">
                <a:solidFill>
                  <a:srgbClr val="177E89"/>
                </a:solidFill>
                <a:latin typeface="Calibri" pitchFamily="34" charset="0"/>
                <a:ea typeface="Calibri" pitchFamily="34" charset="-122"/>
                <a:cs typeface="Calibri" pitchFamily="34" charset="-120"/>
              </a:rPr>
              <a:t>Reserva el espacio</a:t>
            </a:r>
            <a:endParaRPr lang="en-US" sz="1200" dirty="0"/>
          </a:p>
        </p:txBody>
      </p:sp>
      <p:sp>
        <p:nvSpPr>
          <p:cNvPr id="9" name="Text 7"/>
          <p:cNvSpPr txBox="1"/>
          <p:nvPr/>
        </p:nvSpPr>
        <p:spPr>
          <a:xfrm>
            <a:off x="8503920" y="2615184"/>
            <a:ext cx="2788920" cy="649224"/>
          </a:xfrm>
          <a:prstGeom prst="rect">
            <a:avLst/>
          </a:prstGeom>
          <a:noFill/>
          <a:ln/>
        </p:spPr>
        <p:txBody>
          <a:bodyPr wrap="square" lIns="0" tIns="0" rIns="0" bIns="0" rtlCol="0" anchor="ctr"/>
          <a:lstStyle/>
          <a:p>
            <a:pPr indent="0" marL="0">
              <a:buNone/>
            </a:pPr>
            <a:r>
              <a:rPr lang="en-US" sz="1100" dirty="0">
                <a:solidFill>
                  <a:srgbClr val="33393D"/>
                </a:solidFill>
                <a:latin typeface="Calibri" pitchFamily="34" charset="0"/>
                <a:ea typeface="Calibri" pitchFamily="34" charset="-122"/>
                <a:cs typeface="Calibri" pitchFamily="34" charset="-120"/>
              </a:rPr>
              <a:t>La página no salta cuando el video termina de cargar.</a:t>
            </a:r>
            <a:endParaRPr lang="en-US" sz="1100" dirty="0"/>
          </a:p>
        </p:txBody>
      </p:sp>
      <p:sp>
        <p:nvSpPr>
          <p:cNvPr id="10" name="Shape 8"/>
          <p:cNvSpPr/>
          <p:nvPr/>
        </p:nvSpPr>
        <p:spPr>
          <a:xfrm>
            <a:off x="6629400" y="3364992"/>
            <a:ext cx="4937760" cy="649224"/>
          </a:xfrm>
          <a:prstGeom prst="roundRect">
            <a:avLst>
              <a:gd name="adj" fmla="val 14085"/>
            </a:avLst>
          </a:prstGeom>
          <a:solidFill>
            <a:srgbClr val="FFFFFF"/>
          </a:solidFill>
          <a:ln w="12700">
            <a:solidFill>
              <a:srgbClr val="CFD5D9"/>
            </a:solidFill>
            <a:prstDash val="solid"/>
          </a:ln>
        </p:spPr>
      </p:sp>
      <p:sp>
        <p:nvSpPr>
          <p:cNvPr id="11" name="Text 9"/>
          <p:cNvSpPr txBox="1"/>
          <p:nvPr/>
        </p:nvSpPr>
        <p:spPr>
          <a:xfrm>
            <a:off x="6903720" y="3364992"/>
            <a:ext cx="1600200" cy="649224"/>
          </a:xfrm>
          <a:prstGeom prst="rect">
            <a:avLst/>
          </a:prstGeom>
          <a:noFill/>
          <a:ln/>
        </p:spPr>
        <p:txBody>
          <a:bodyPr wrap="square" lIns="0" tIns="0" rIns="0" bIns="0" rtlCol="0" anchor="ctr"/>
          <a:lstStyle/>
          <a:p>
            <a:pPr indent="0" marL="0">
              <a:buNone/>
            </a:pPr>
            <a:r>
              <a:rPr lang="en-US" sz="1200" b="1" dirty="0">
                <a:solidFill>
                  <a:srgbClr val="177E89"/>
                </a:solidFill>
                <a:latin typeface="Calibri" pitchFamily="34" charset="0"/>
                <a:ea typeface="Calibri" pitchFamily="34" charset="-122"/>
                <a:cs typeface="Calibri" pitchFamily="34" charset="-120"/>
              </a:rPr>
              <a:t>Respeta la proporción</a:t>
            </a:r>
            <a:endParaRPr lang="en-US" sz="1200" dirty="0"/>
          </a:p>
        </p:txBody>
      </p:sp>
      <p:sp>
        <p:nvSpPr>
          <p:cNvPr id="12" name="Text 10"/>
          <p:cNvSpPr txBox="1"/>
          <p:nvPr/>
        </p:nvSpPr>
        <p:spPr>
          <a:xfrm>
            <a:off x="8503920" y="3364992"/>
            <a:ext cx="2788920" cy="649224"/>
          </a:xfrm>
          <a:prstGeom prst="rect">
            <a:avLst/>
          </a:prstGeom>
          <a:noFill/>
          <a:ln/>
        </p:spPr>
        <p:txBody>
          <a:bodyPr wrap="square" lIns="0" tIns="0" rIns="0" bIns="0" rtlCol="0" anchor="ctr"/>
          <a:lstStyle/>
          <a:p>
            <a:pPr indent="0" marL="0">
              <a:buNone/>
            </a:pPr>
            <a:r>
              <a:rPr lang="en-US" sz="1100" dirty="0">
                <a:solidFill>
                  <a:srgbClr val="33393D"/>
                </a:solidFill>
                <a:latin typeface="Calibri" pitchFamily="34" charset="0"/>
                <a:ea typeface="Calibri" pitchFamily="34" charset="-122"/>
                <a:cs typeface="Calibri" pitchFamily="34" charset="-120"/>
              </a:rPr>
              <a:t>315 × 560 es 9:16, vertical. 560 × 315 es 16:9, horizontal.</a:t>
            </a:r>
            <a:endParaRPr lang="en-US" sz="1100" dirty="0"/>
          </a:p>
        </p:txBody>
      </p:sp>
      <p:sp>
        <p:nvSpPr>
          <p:cNvPr id="13" name="Shape 11"/>
          <p:cNvSpPr/>
          <p:nvPr/>
        </p:nvSpPr>
        <p:spPr>
          <a:xfrm>
            <a:off x="6629400" y="4114800"/>
            <a:ext cx="4937760" cy="649224"/>
          </a:xfrm>
          <a:prstGeom prst="roundRect">
            <a:avLst>
              <a:gd name="adj" fmla="val 14085"/>
            </a:avLst>
          </a:prstGeom>
          <a:solidFill>
            <a:srgbClr val="FFFFFF"/>
          </a:solidFill>
          <a:ln w="12700">
            <a:solidFill>
              <a:srgbClr val="CFD5D9"/>
            </a:solidFill>
            <a:prstDash val="solid"/>
          </a:ln>
        </p:spPr>
      </p:sp>
      <p:sp>
        <p:nvSpPr>
          <p:cNvPr id="14" name="Text 12"/>
          <p:cNvSpPr txBox="1"/>
          <p:nvPr/>
        </p:nvSpPr>
        <p:spPr>
          <a:xfrm>
            <a:off x="6903720" y="4114800"/>
            <a:ext cx="1600200" cy="649224"/>
          </a:xfrm>
          <a:prstGeom prst="rect">
            <a:avLst/>
          </a:prstGeom>
          <a:noFill/>
          <a:ln/>
        </p:spPr>
        <p:txBody>
          <a:bodyPr wrap="square" lIns="0" tIns="0" rIns="0" bIns="0" rtlCol="0" anchor="ctr"/>
          <a:lstStyle/>
          <a:p>
            <a:pPr indent="0" marL="0">
              <a:buNone/>
            </a:pPr>
            <a:r>
              <a:rPr lang="en-US" sz="1200" b="1" dirty="0">
                <a:solidFill>
                  <a:srgbClr val="177E89"/>
                </a:solidFill>
                <a:latin typeface="Calibri" pitchFamily="34" charset="0"/>
                <a:ea typeface="Calibri" pitchFamily="34" charset="-122"/>
                <a:cs typeface="Calibri" pitchFamily="34" charset="-120"/>
              </a:rPr>
              <a:t>figure y figcaption</a:t>
            </a:r>
            <a:endParaRPr lang="en-US" sz="1200" dirty="0"/>
          </a:p>
        </p:txBody>
      </p:sp>
      <p:sp>
        <p:nvSpPr>
          <p:cNvPr id="15" name="Text 13"/>
          <p:cNvSpPr txBox="1"/>
          <p:nvPr/>
        </p:nvSpPr>
        <p:spPr>
          <a:xfrm>
            <a:off x="8503920" y="4114800"/>
            <a:ext cx="2788920" cy="649224"/>
          </a:xfrm>
          <a:prstGeom prst="rect">
            <a:avLst/>
          </a:prstGeom>
          <a:noFill/>
          <a:ln/>
        </p:spPr>
        <p:txBody>
          <a:bodyPr wrap="square" lIns="0" tIns="0" rIns="0" bIns="0" rtlCol="0" anchor="ctr"/>
          <a:lstStyle/>
          <a:p>
            <a:pPr indent="0" marL="0">
              <a:buNone/>
            </a:pPr>
            <a:r>
              <a:rPr lang="en-US" sz="1100" dirty="0">
                <a:solidFill>
                  <a:srgbClr val="33393D"/>
                </a:solidFill>
                <a:latin typeface="Calibri" pitchFamily="34" charset="0"/>
                <a:ea typeface="Calibri" pitchFamily="34" charset="-122"/>
                <a:cs typeface="Calibri" pitchFamily="34" charset="-120"/>
              </a:rPr>
              <a:t>El pie del video, igual que en tus imágenes de la sesión 04.</a:t>
            </a:r>
            <a:endParaRPr lang="en-US" sz="1100" dirty="0"/>
          </a:p>
        </p:txBody>
      </p:sp>
      <p:sp>
        <p:nvSpPr>
          <p:cNvPr id="16" name="Shape 14"/>
          <p:cNvSpPr/>
          <p:nvPr/>
        </p:nvSpPr>
        <p:spPr>
          <a:xfrm>
            <a:off x="640080" y="4992624"/>
            <a:ext cx="10927080" cy="713232"/>
          </a:xfrm>
          <a:prstGeom prst="roundRect">
            <a:avLst>
              <a:gd name="adj" fmla="val 12821"/>
            </a:avLst>
          </a:prstGeom>
          <a:solidFill>
            <a:srgbClr val="FFFFFF"/>
          </a:solidFill>
          <a:ln w="12700">
            <a:solidFill>
              <a:srgbClr val="CFD5D9"/>
            </a:solidFill>
            <a:prstDash val="solid"/>
          </a:ln>
        </p:spPr>
      </p:sp>
      <p:sp>
        <p:nvSpPr>
          <p:cNvPr id="17" name="Text 15"/>
          <p:cNvSpPr txBox="1"/>
          <p:nvPr/>
        </p:nvSpPr>
        <p:spPr>
          <a:xfrm>
            <a:off x="950976" y="4992624"/>
            <a:ext cx="10305288" cy="713232"/>
          </a:xfrm>
          <a:prstGeom prst="rect">
            <a:avLst/>
          </a:prstGeom>
          <a:noFill/>
          <a:ln/>
        </p:spPr>
        <p:txBody>
          <a:bodyPr wrap="square" lIns="0" tIns="0" rIns="0" bIns="0" rtlCol="0" anchor="ctr"/>
          <a:lstStyle/>
          <a:p>
            <a:pPr indent="0" marL="0">
              <a:lnSpc>
                <a:spcPct val="120000"/>
              </a:lnSpc>
              <a:buNone/>
            </a:pPr>
            <a:r>
              <a:rPr lang="en-US" sz="1200" b="1" dirty="0">
                <a:solidFill>
                  <a:srgbClr val="A8402B"/>
                </a:solidFill>
                <a:latin typeface="Calibri" pitchFamily="34" charset="0"/>
                <a:ea typeface="Calibri" pitchFamily="34" charset="-122"/>
                <a:cs typeface="Calibri" pitchFamily="34" charset="-120"/>
              </a:rPr>
              <a:t>En tu portafolio:  </a:t>
            </a:r>
            <a:pPr indent="0" marL="0">
              <a:lnSpc>
                <a:spcPct val="120000"/>
              </a:lnSpc>
              <a:buNone/>
            </a:pPr>
            <a:r>
              <a:rPr lang="en-US" sz="1200" dirty="0">
                <a:solidFill>
                  <a:srgbClr val="33393D"/>
                </a:solidFill>
                <a:latin typeface="Calibri" pitchFamily="34" charset="0"/>
                <a:ea typeface="Calibri" pitchFamily="34" charset="-122"/>
                <a:cs typeface="Calibri" pitchFamily="34" charset="-120"/>
              </a:rPr>
              <a:t>el video es vertical (9:16), pero la etiqueta dice width="560" height="315". Por eso se ve pequeño y con franjas vacías a los lados.</a:t>
            </a:r>
            <a:endParaRPr lang="en-US" sz="1200" dirty="0"/>
          </a:p>
        </p:txBody>
      </p:sp>
      <p:sp>
        <p:nvSpPr>
          <p:cNvPr id="18" name="Text 16"/>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24 / 48</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indent="0" marL="0">
              <a:buNone/>
            </a:pPr>
            <a:r>
              <a:rPr lang="en-US" sz="1050" b="1" spc="300" kern="0" dirty="0">
                <a:solidFill>
                  <a:srgbClr val="177E89"/>
                </a:solidFill>
                <a:latin typeface="Calibri" pitchFamily="34" charset="0"/>
                <a:ea typeface="Calibri" pitchFamily="34" charset="-122"/>
                <a:cs typeface="Calibri" pitchFamily="34" charset="-120"/>
              </a:rPr>
              <a:t>03 · RENDIMIENTO</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30 MB para 11 segundos</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indent="0" marL="0">
              <a:buNone/>
            </a:pPr>
            <a:r>
              <a:rPr lang="en-US" sz="1250" dirty="0">
                <a:solidFill>
                  <a:srgbClr val="5F676C"/>
                </a:solidFill>
                <a:latin typeface="Calibri" pitchFamily="34" charset="0"/>
                <a:ea typeface="Calibri" pitchFamily="34" charset="-122"/>
                <a:cs typeface="Calibri" pitchFamily="34" charset="-120"/>
              </a:rPr>
              <a:t>Tu presentacion.mp4 está en 4K vertical y se muestra en un recuadro de 315 × 560.</a:t>
            </a:r>
            <a:endParaRPr lang="en-US" sz="1250" dirty="0"/>
          </a:p>
        </p:txBody>
      </p:sp>
      <p:sp>
        <p:nvSpPr>
          <p:cNvPr id="5" name="Shape 3"/>
          <p:cNvSpPr/>
          <p:nvPr/>
        </p:nvSpPr>
        <p:spPr>
          <a:xfrm>
            <a:off x="640080" y="2615184"/>
            <a:ext cx="4846320" cy="1600200"/>
          </a:xfrm>
          <a:prstGeom prst="roundRect">
            <a:avLst>
              <a:gd name="adj" fmla="val 5714"/>
            </a:avLst>
          </a:prstGeom>
          <a:solidFill>
            <a:srgbClr val="FFFFFF"/>
          </a:solidFill>
          <a:ln w="12700">
            <a:solidFill>
              <a:srgbClr val="CFD5D9"/>
            </a:solidFill>
            <a:prstDash val="solid"/>
          </a:ln>
        </p:spPr>
      </p:sp>
      <p:sp>
        <p:nvSpPr>
          <p:cNvPr id="6" name="Text 4"/>
          <p:cNvSpPr txBox="1"/>
          <p:nvPr/>
        </p:nvSpPr>
        <p:spPr>
          <a:xfrm>
            <a:off x="950976" y="2761488"/>
            <a:ext cx="1828800" cy="237744"/>
          </a:xfrm>
          <a:prstGeom prst="rect">
            <a:avLst/>
          </a:prstGeom>
          <a:noFill/>
          <a:ln/>
        </p:spPr>
        <p:txBody>
          <a:bodyPr wrap="square" lIns="0" tIns="0" rIns="0" bIns="0" rtlCol="0" anchor="ctr"/>
          <a:lstStyle/>
          <a:p>
            <a:pPr indent="0" marL="0">
              <a:buNone/>
            </a:pPr>
            <a:r>
              <a:rPr lang="en-US" sz="1050" b="1" spc="300" kern="0" dirty="0">
                <a:solidFill>
                  <a:srgbClr val="A8402B"/>
                </a:solidFill>
                <a:latin typeface="Calibri" pitchFamily="34" charset="0"/>
                <a:ea typeface="Calibri" pitchFamily="34" charset="-122"/>
                <a:cs typeface="Calibri" pitchFamily="34" charset="-120"/>
              </a:rPr>
              <a:t>ANTES</a:t>
            </a:r>
            <a:endParaRPr lang="en-US" sz="1050" dirty="0"/>
          </a:p>
        </p:txBody>
      </p:sp>
      <p:sp>
        <p:nvSpPr>
          <p:cNvPr id="7" name="Text 5"/>
          <p:cNvSpPr txBox="1"/>
          <p:nvPr/>
        </p:nvSpPr>
        <p:spPr>
          <a:xfrm>
            <a:off x="950976" y="2999232"/>
            <a:ext cx="4206240" cy="731520"/>
          </a:xfrm>
          <a:prstGeom prst="rect">
            <a:avLst/>
          </a:prstGeom>
          <a:noFill/>
          <a:ln/>
        </p:spPr>
        <p:txBody>
          <a:bodyPr wrap="square" lIns="0" tIns="0" rIns="0" bIns="0" rtlCol="0" anchor="ctr"/>
          <a:lstStyle/>
          <a:p>
            <a:pPr indent="0" marL="0">
              <a:buNone/>
            </a:pPr>
            <a:r>
              <a:rPr lang="en-US" sz="4400" b="1" dirty="0">
                <a:solidFill>
                  <a:srgbClr val="A8402B"/>
                </a:solidFill>
                <a:latin typeface="Calibri" pitchFamily="34" charset="0"/>
                <a:ea typeface="Calibri" pitchFamily="34" charset="-122"/>
                <a:cs typeface="Calibri" pitchFamily="34" charset="-120"/>
              </a:rPr>
              <a:t>30,5 MB</a:t>
            </a:r>
            <a:endParaRPr lang="en-US" sz="4400" dirty="0"/>
          </a:p>
        </p:txBody>
      </p:sp>
      <p:sp>
        <p:nvSpPr>
          <p:cNvPr id="8" name="Text 6"/>
          <p:cNvSpPr txBox="1"/>
          <p:nvPr/>
        </p:nvSpPr>
        <p:spPr>
          <a:xfrm>
            <a:off x="950976" y="3749040"/>
            <a:ext cx="4206240" cy="292608"/>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2160 × 3840 px · 60 fotogramas por segundo</a:t>
            </a:r>
            <a:endParaRPr lang="en-US" sz="1200" dirty="0"/>
          </a:p>
        </p:txBody>
      </p:sp>
      <p:sp>
        <p:nvSpPr>
          <p:cNvPr id="9" name="Text 7"/>
          <p:cNvSpPr txBox="1"/>
          <p:nvPr/>
        </p:nvSpPr>
        <p:spPr>
          <a:xfrm>
            <a:off x="5486400" y="2615184"/>
            <a:ext cx="1234440" cy="1600200"/>
          </a:xfrm>
          <a:prstGeom prst="rect">
            <a:avLst/>
          </a:prstGeom>
          <a:noFill/>
          <a:ln/>
        </p:spPr>
        <p:txBody>
          <a:bodyPr wrap="square" lIns="0" tIns="0" rIns="0" bIns="0" rtlCol="0" anchor="ctr"/>
          <a:lstStyle/>
          <a:p>
            <a:pPr algn="ctr" indent="0" marL="0">
              <a:buNone/>
            </a:pPr>
            <a:r>
              <a:rPr lang="en-US" sz="3400" b="1" dirty="0">
                <a:solidFill>
                  <a:srgbClr val="9AA2A7"/>
                </a:solidFill>
                <a:latin typeface="Calibri" pitchFamily="34" charset="0"/>
                <a:ea typeface="Calibri" pitchFamily="34" charset="-122"/>
                <a:cs typeface="Calibri" pitchFamily="34" charset="-120"/>
              </a:rPr>
              <a:t>→</a:t>
            </a:r>
            <a:endParaRPr lang="en-US" sz="3400" dirty="0"/>
          </a:p>
        </p:txBody>
      </p:sp>
      <p:sp>
        <p:nvSpPr>
          <p:cNvPr id="10" name="Shape 8"/>
          <p:cNvSpPr/>
          <p:nvPr/>
        </p:nvSpPr>
        <p:spPr>
          <a:xfrm>
            <a:off x="6720840" y="2615184"/>
            <a:ext cx="4846320" cy="1600200"/>
          </a:xfrm>
          <a:prstGeom prst="roundRect">
            <a:avLst>
              <a:gd name="adj" fmla="val 5714"/>
            </a:avLst>
          </a:prstGeom>
          <a:solidFill>
            <a:srgbClr val="F3F5F6"/>
          </a:solidFill>
          <a:ln w="12700">
            <a:solidFill>
              <a:srgbClr val="CFD5D9"/>
            </a:solidFill>
            <a:prstDash val="solid"/>
          </a:ln>
        </p:spPr>
      </p:sp>
      <p:sp>
        <p:nvSpPr>
          <p:cNvPr id="11" name="Text 9"/>
          <p:cNvSpPr txBox="1"/>
          <p:nvPr/>
        </p:nvSpPr>
        <p:spPr>
          <a:xfrm>
            <a:off x="7031736" y="2761488"/>
            <a:ext cx="1828800" cy="237744"/>
          </a:xfrm>
          <a:prstGeom prst="rect">
            <a:avLst/>
          </a:prstGeom>
          <a:noFill/>
          <a:ln/>
        </p:spPr>
        <p:txBody>
          <a:bodyPr wrap="square" lIns="0" tIns="0" rIns="0" bIns="0" rtlCol="0" anchor="ctr"/>
          <a:lstStyle/>
          <a:p>
            <a:pPr indent="0" marL="0">
              <a:buNone/>
            </a:pPr>
            <a:r>
              <a:rPr lang="en-US" sz="1050" b="1" spc="300" kern="0" dirty="0">
                <a:solidFill>
                  <a:srgbClr val="177E89"/>
                </a:solidFill>
                <a:latin typeface="Calibri" pitchFamily="34" charset="0"/>
                <a:ea typeface="Calibri" pitchFamily="34" charset="-122"/>
                <a:cs typeface="Calibri" pitchFamily="34" charset="-120"/>
              </a:rPr>
              <a:t>DESPUÉS</a:t>
            </a:r>
            <a:endParaRPr lang="en-US" sz="1050" dirty="0"/>
          </a:p>
        </p:txBody>
      </p:sp>
      <p:sp>
        <p:nvSpPr>
          <p:cNvPr id="12" name="Text 10"/>
          <p:cNvSpPr txBox="1"/>
          <p:nvPr/>
        </p:nvSpPr>
        <p:spPr>
          <a:xfrm>
            <a:off x="7031736" y="2999232"/>
            <a:ext cx="4206240" cy="731520"/>
          </a:xfrm>
          <a:prstGeom prst="rect">
            <a:avLst/>
          </a:prstGeom>
          <a:noFill/>
          <a:ln/>
        </p:spPr>
        <p:txBody>
          <a:bodyPr wrap="square" lIns="0" tIns="0" rIns="0" bIns="0" rtlCol="0" anchor="ctr"/>
          <a:lstStyle/>
          <a:p>
            <a:pPr indent="0" marL="0">
              <a:buNone/>
            </a:pPr>
            <a:r>
              <a:rPr lang="en-US" sz="4400" b="1" dirty="0">
                <a:solidFill>
                  <a:srgbClr val="177E89"/>
                </a:solidFill>
                <a:latin typeface="Calibri" pitchFamily="34" charset="0"/>
                <a:ea typeface="Calibri" pitchFamily="34" charset="-122"/>
                <a:cs typeface="Calibri" pitchFamily="34" charset="-120"/>
              </a:rPr>
              <a:t>1,7 MB</a:t>
            </a:r>
            <a:endParaRPr lang="en-US" sz="4400" dirty="0"/>
          </a:p>
        </p:txBody>
      </p:sp>
      <p:sp>
        <p:nvSpPr>
          <p:cNvPr id="13" name="Text 11"/>
          <p:cNvSpPr txBox="1"/>
          <p:nvPr/>
        </p:nvSpPr>
        <p:spPr>
          <a:xfrm>
            <a:off x="7031736" y="3749040"/>
            <a:ext cx="4206240" cy="292608"/>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720 × 1280 px · 30 fotogramas por segundo</a:t>
            </a:r>
            <a:endParaRPr lang="en-US" sz="1200" dirty="0"/>
          </a:p>
        </p:txBody>
      </p:sp>
      <p:sp>
        <p:nvSpPr>
          <p:cNvPr id="14" name="Shape 12"/>
          <p:cNvSpPr/>
          <p:nvPr/>
        </p:nvSpPr>
        <p:spPr>
          <a:xfrm>
            <a:off x="640080" y="4425696"/>
            <a:ext cx="3520440" cy="1188720"/>
          </a:xfrm>
          <a:prstGeom prst="roundRect">
            <a:avLst>
              <a:gd name="adj" fmla="val 7692"/>
            </a:avLst>
          </a:prstGeom>
          <a:solidFill>
            <a:srgbClr val="FFFFFF"/>
          </a:solidFill>
          <a:ln w="12700">
            <a:solidFill>
              <a:srgbClr val="CFD5D9"/>
            </a:solidFill>
            <a:prstDash val="solid"/>
          </a:ln>
        </p:spPr>
      </p:sp>
      <p:sp>
        <p:nvSpPr>
          <p:cNvPr id="15" name="Shape 13"/>
          <p:cNvSpPr/>
          <p:nvPr/>
        </p:nvSpPr>
        <p:spPr>
          <a:xfrm>
            <a:off x="859536" y="4608576"/>
            <a:ext cx="365760" cy="365760"/>
          </a:xfrm>
          <a:prstGeom prst="ellipse">
            <a:avLst/>
          </a:prstGeom>
          <a:solidFill>
            <a:srgbClr val="177E89"/>
          </a:solidFill>
          <a:ln w="12700">
            <a:solidFill>
              <a:srgbClr val="177E89"/>
            </a:solidFill>
            <a:prstDash val="solid"/>
          </a:ln>
        </p:spPr>
      </p:sp>
      <p:sp>
        <p:nvSpPr>
          <p:cNvPr id="16" name="Text 14"/>
          <p:cNvSpPr txBox="1"/>
          <p:nvPr/>
        </p:nvSpPr>
        <p:spPr>
          <a:xfrm>
            <a:off x="859536" y="4608576"/>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7" name="Text 15"/>
          <p:cNvSpPr txBox="1"/>
          <p:nvPr/>
        </p:nvSpPr>
        <p:spPr>
          <a:xfrm>
            <a:off x="1371600" y="4608576"/>
            <a:ext cx="2606040" cy="365760"/>
          </a:xfrm>
          <a:prstGeom prst="rect">
            <a:avLst/>
          </a:prstGeom>
          <a:noFill/>
          <a:ln/>
        </p:spPr>
        <p:txBody>
          <a:bodyPr wrap="square" lIns="0" tIns="0" rIns="0" bIns="0" rtlCol="0" anchor="ctr"/>
          <a:lstStyle/>
          <a:p>
            <a:pPr indent="0" marL="0">
              <a:buNone/>
            </a:pPr>
            <a:r>
              <a:rPr lang="en-US" sz="1300" b="1" dirty="0">
                <a:solidFill>
                  <a:srgbClr val="1F2326"/>
                </a:solidFill>
                <a:latin typeface="Calibri" pitchFamily="34" charset="0"/>
                <a:ea typeface="Calibri" pitchFamily="34" charset="-122"/>
                <a:cs typeface="Calibri" pitchFamily="34" charset="-120"/>
              </a:rPr>
              <a:t>Baja la resolución</a:t>
            </a:r>
            <a:endParaRPr lang="en-US" sz="1300" dirty="0"/>
          </a:p>
        </p:txBody>
      </p:sp>
      <p:sp>
        <p:nvSpPr>
          <p:cNvPr id="18" name="Text 16"/>
          <p:cNvSpPr txBox="1"/>
          <p:nvPr/>
        </p:nvSpPr>
        <p:spPr>
          <a:xfrm>
            <a:off x="886968" y="5065776"/>
            <a:ext cx="3063240" cy="457200"/>
          </a:xfrm>
          <a:prstGeom prst="rect">
            <a:avLst/>
          </a:prstGeom>
          <a:noFill/>
          <a:ln/>
        </p:spPr>
        <p:txBody>
          <a:bodyPr wrap="square" lIns="0" tIns="0" rIns="0" bIns="0" rtlCol="0" anchor="t"/>
          <a:lstStyle/>
          <a:p>
            <a:pPr indent="0" marL="0">
              <a:buNone/>
            </a:pPr>
            <a:r>
              <a:rPr lang="en-US" sz="1150" dirty="0">
                <a:solidFill>
                  <a:srgbClr val="33393D"/>
                </a:solidFill>
                <a:latin typeface="Calibri" pitchFamily="34" charset="0"/>
                <a:ea typeface="Calibri" pitchFamily="34" charset="-122"/>
                <a:cs typeface="Calibri" pitchFamily="34" charset="-120"/>
              </a:rPr>
              <a:t>720 px de ancho sobran para un recuadro de 315.</a:t>
            </a:r>
            <a:endParaRPr lang="en-US" sz="1150" dirty="0"/>
          </a:p>
        </p:txBody>
      </p:sp>
      <p:sp>
        <p:nvSpPr>
          <p:cNvPr id="19" name="Shape 17"/>
          <p:cNvSpPr/>
          <p:nvPr/>
        </p:nvSpPr>
        <p:spPr>
          <a:xfrm>
            <a:off x="4343400" y="4425696"/>
            <a:ext cx="3520440" cy="1188720"/>
          </a:xfrm>
          <a:prstGeom prst="roundRect">
            <a:avLst>
              <a:gd name="adj" fmla="val 7692"/>
            </a:avLst>
          </a:prstGeom>
          <a:solidFill>
            <a:srgbClr val="FFFFFF"/>
          </a:solidFill>
          <a:ln w="12700">
            <a:solidFill>
              <a:srgbClr val="CFD5D9"/>
            </a:solidFill>
            <a:prstDash val="solid"/>
          </a:ln>
        </p:spPr>
      </p:sp>
      <p:sp>
        <p:nvSpPr>
          <p:cNvPr id="20" name="Shape 18"/>
          <p:cNvSpPr/>
          <p:nvPr/>
        </p:nvSpPr>
        <p:spPr>
          <a:xfrm>
            <a:off x="4562856" y="4608576"/>
            <a:ext cx="365760" cy="365760"/>
          </a:xfrm>
          <a:prstGeom prst="ellipse">
            <a:avLst/>
          </a:prstGeom>
          <a:solidFill>
            <a:srgbClr val="177E89"/>
          </a:solidFill>
          <a:ln w="12700">
            <a:solidFill>
              <a:srgbClr val="177E89"/>
            </a:solidFill>
            <a:prstDash val="solid"/>
          </a:ln>
        </p:spPr>
      </p:sp>
      <p:sp>
        <p:nvSpPr>
          <p:cNvPr id="21" name="Text 19"/>
          <p:cNvSpPr txBox="1"/>
          <p:nvPr/>
        </p:nvSpPr>
        <p:spPr>
          <a:xfrm>
            <a:off x="4562856" y="4608576"/>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22" name="Text 20"/>
          <p:cNvSpPr txBox="1"/>
          <p:nvPr/>
        </p:nvSpPr>
        <p:spPr>
          <a:xfrm>
            <a:off x="5074920" y="4608576"/>
            <a:ext cx="2606040" cy="365760"/>
          </a:xfrm>
          <a:prstGeom prst="rect">
            <a:avLst/>
          </a:prstGeom>
          <a:noFill/>
          <a:ln/>
        </p:spPr>
        <p:txBody>
          <a:bodyPr wrap="square" lIns="0" tIns="0" rIns="0" bIns="0" rtlCol="0" anchor="ctr"/>
          <a:lstStyle/>
          <a:p>
            <a:pPr indent="0" marL="0">
              <a:buNone/>
            </a:pPr>
            <a:r>
              <a:rPr lang="en-US" sz="1300" b="1" dirty="0">
                <a:solidFill>
                  <a:srgbClr val="1F2326"/>
                </a:solidFill>
                <a:latin typeface="Calibri" pitchFamily="34" charset="0"/>
                <a:ea typeface="Calibri" pitchFamily="34" charset="-122"/>
                <a:cs typeface="Calibri" pitchFamily="34" charset="-120"/>
              </a:rPr>
              <a:t>Baja los fotogramas</a:t>
            </a:r>
            <a:endParaRPr lang="en-US" sz="1300" dirty="0"/>
          </a:p>
        </p:txBody>
      </p:sp>
      <p:sp>
        <p:nvSpPr>
          <p:cNvPr id="23" name="Text 21"/>
          <p:cNvSpPr txBox="1"/>
          <p:nvPr/>
        </p:nvSpPr>
        <p:spPr>
          <a:xfrm>
            <a:off x="4590288" y="5065776"/>
            <a:ext cx="3063240" cy="457200"/>
          </a:xfrm>
          <a:prstGeom prst="rect">
            <a:avLst/>
          </a:prstGeom>
          <a:noFill/>
          <a:ln/>
        </p:spPr>
        <p:txBody>
          <a:bodyPr wrap="square" lIns="0" tIns="0" rIns="0" bIns="0" rtlCol="0" anchor="t"/>
          <a:lstStyle/>
          <a:p>
            <a:pPr indent="0" marL="0">
              <a:buNone/>
            </a:pPr>
            <a:r>
              <a:rPr lang="en-US" sz="1150" dirty="0">
                <a:solidFill>
                  <a:srgbClr val="33393D"/>
                </a:solidFill>
                <a:latin typeface="Calibri" pitchFamily="34" charset="0"/>
                <a:ea typeface="Calibri" pitchFamily="34" charset="-122"/>
                <a:cs typeface="Calibri" pitchFamily="34" charset="-120"/>
              </a:rPr>
              <a:t>De 60 a 30 por segundo casi no se nota.</a:t>
            </a:r>
            <a:endParaRPr lang="en-US" sz="1150" dirty="0"/>
          </a:p>
        </p:txBody>
      </p:sp>
      <p:sp>
        <p:nvSpPr>
          <p:cNvPr id="24" name="Shape 22"/>
          <p:cNvSpPr/>
          <p:nvPr/>
        </p:nvSpPr>
        <p:spPr>
          <a:xfrm>
            <a:off x="8046720" y="4425696"/>
            <a:ext cx="3520440" cy="1188720"/>
          </a:xfrm>
          <a:prstGeom prst="roundRect">
            <a:avLst>
              <a:gd name="adj" fmla="val 7692"/>
            </a:avLst>
          </a:prstGeom>
          <a:solidFill>
            <a:srgbClr val="FFFFFF"/>
          </a:solidFill>
          <a:ln w="12700">
            <a:solidFill>
              <a:srgbClr val="CFD5D9"/>
            </a:solidFill>
            <a:prstDash val="solid"/>
          </a:ln>
        </p:spPr>
      </p:sp>
      <p:sp>
        <p:nvSpPr>
          <p:cNvPr id="25" name="Shape 23"/>
          <p:cNvSpPr/>
          <p:nvPr/>
        </p:nvSpPr>
        <p:spPr>
          <a:xfrm>
            <a:off x="8266176" y="4608576"/>
            <a:ext cx="365760" cy="365760"/>
          </a:xfrm>
          <a:prstGeom prst="ellipse">
            <a:avLst/>
          </a:prstGeom>
          <a:solidFill>
            <a:srgbClr val="177E89"/>
          </a:solidFill>
          <a:ln w="12700">
            <a:solidFill>
              <a:srgbClr val="177E89"/>
            </a:solidFill>
            <a:prstDash val="solid"/>
          </a:ln>
        </p:spPr>
      </p:sp>
      <p:sp>
        <p:nvSpPr>
          <p:cNvPr id="26" name="Text 24"/>
          <p:cNvSpPr txBox="1"/>
          <p:nvPr/>
        </p:nvSpPr>
        <p:spPr>
          <a:xfrm>
            <a:off x="8266176" y="4608576"/>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7" name="Text 25"/>
          <p:cNvSpPr txBox="1"/>
          <p:nvPr/>
        </p:nvSpPr>
        <p:spPr>
          <a:xfrm>
            <a:off x="8778240" y="4608576"/>
            <a:ext cx="2606040" cy="365760"/>
          </a:xfrm>
          <a:prstGeom prst="rect">
            <a:avLst/>
          </a:prstGeom>
          <a:noFill/>
          <a:ln/>
        </p:spPr>
        <p:txBody>
          <a:bodyPr wrap="square" lIns="0" tIns="0" rIns="0" bIns="0" rtlCol="0" anchor="ctr"/>
          <a:lstStyle/>
          <a:p>
            <a:pPr indent="0" marL="0">
              <a:buNone/>
            </a:pPr>
            <a:r>
              <a:rPr lang="en-US" sz="1300" b="1" dirty="0">
                <a:solidFill>
                  <a:srgbClr val="1F2326"/>
                </a:solidFill>
                <a:latin typeface="Calibri" pitchFamily="34" charset="0"/>
                <a:ea typeface="Calibri" pitchFamily="34" charset="-122"/>
                <a:cs typeface="Calibri" pitchFamily="34" charset="-120"/>
              </a:rPr>
              <a:t>Exporta para web</a:t>
            </a:r>
            <a:endParaRPr lang="en-US" sz="1300" dirty="0"/>
          </a:p>
        </p:txBody>
      </p:sp>
      <p:sp>
        <p:nvSpPr>
          <p:cNvPr id="28" name="Text 26"/>
          <p:cNvSpPr txBox="1"/>
          <p:nvPr/>
        </p:nvSpPr>
        <p:spPr>
          <a:xfrm>
            <a:off x="8293608" y="5065776"/>
            <a:ext cx="3063240" cy="457200"/>
          </a:xfrm>
          <a:prstGeom prst="rect">
            <a:avLst/>
          </a:prstGeom>
          <a:noFill/>
          <a:ln/>
        </p:spPr>
        <p:txBody>
          <a:bodyPr wrap="square" lIns="0" tIns="0" rIns="0" bIns="0" rtlCol="0" anchor="t"/>
          <a:lstStyle/>
          <a:p>
            <a:pPr indent="0" marL="0">
              <a:buNone/>
            </a:pPr>
            <a:r>
              <a:rPr lang="en-US" sz="1150" dirty="0">
                <a:solidFill>
                  <a:srgbClr val="33393D"/>
                </a:solidFill>
                <a:latin typeface="Calibri" pitchFamily="34" charset="0"/>
                <a:ea typeface="Calibri" pitchFamily="34" charset="-122"/>
                <a:cs typeface="Calibri" pitchFamily="34" charset="-120"/>
              </a:rPr>
              <a:t>H.264 en MP4, con la opción Optimizado para web.</a:t>
            </a:r>
            <a:endParaRPr lang="en-US" sz="1150" dirty="0"/>
          </a:p>
        </p:txBody>
      </p:sp>
      <p:sp>
        <p:nvSpPr>
          <p:cNvPr id="29" name="Text 27"/>
          <p:cNvSpPr txBox="1"/>
          <p:nvPr/>
        </p:nvSpPr>
        <p:spPr>
          <a:xfrm>
            <a:off x="640080" y="5852160"/>
            <a:ext cx="10927080" cy="256032"/>
          </a:xfrm>
          <a:prstGeom prst="rect">
            <a:avLst/>
          </a:prstGeom>
          <a:noFill/>
          <a:ln/>
        </p:spPr>
        <p:txBody>
          <a:bodyPr wrap="square" lIns="0" tIns="0" rIns="0" bIns="0" rtlCol="0" anchor="ctr"/>
          <a:lstStyle/>
          <a:p>
            <a:pPr algn="ctr" indent="0" marL="0">
              <a:buNone/>
            </a:pPr>
            <a:r>
              <a:rPr lang="en-US" sz="1150" i="1" dirty="0">
                <a:solidFill>
                  <a:srgbClr val="5F676C"/>
                </a:solidFill>
                <a:latin typeface="Calibri" pitchFamily="34" charset="0"/>
                <a:ea typeface="Calibri" pitchFamily="34" charset="-122"/>
                <a:cs typeface="Calibri" pitchFamily="34" charset="-120"/>
              </a:rPr>
              <a:t>Herramienta gratuita: HandBrake. El paquete de la sesión ya incluye el video optimizado.</a:t>
            </a:r>
            <a:endParaRPr lang="en-US" sz="1150" dirty="0"/>
          </a:p>
        </p:txBody>
      </p:sp>
      <p:sp>
        <p:nvSpPr>
          <p:cNvPr id="30" name="Text 28"/>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25 / 48</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indent="0" marL="0">
              <a:buNone/>
            </a:pPr>
            <a:r>
              <a:rPr lang="en-US" sz="1050" b="1" spc="300" kern="0" dirty="0">
                <a:solidFill>
                  <a:srgbClr val="177E89"/>
                </a:solidFill>
                <a:latin typeface="Calibri" pitchFamily="34" charset="0"/>
                <a:ea typeface="Calibri" pitchFamily="34" charset="-122"/>
                <a:cs typeface="Calibri" pitchFamily="34" charset="-120"/>
              </a:rPr>
              <a:t>03 · RENDIMIENTO</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El iframe de YouTube, limpio</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indent="0" marL="0">
              <a:buNone/>
            </a:pPr>
            <a:r>
              <a:rPr lang="en-US" sz="1250" dirty="0">
                <a:solidFill>
                  <a:srgbClr val="5F676C"/>
                </a:solidFill>
                <a:latin typeface="Calibri" pitchFamily="34" charset="0"/>
                <a:ea typeface="Calibri" pitchFamily="34" charset="-122"/>
                <a:cs typeface="Calibri" pitchFamily="34" charset="-120"/>
              </a:rPr>
              <a:t>El código que entrega YouTube trae atributos que conviene revisar.</a:t>
            </a:r>
            <a:endParaRPr lang="en-US" sz="1250" dirty="0"/>
          </a:p>
        </p:txBody>
      </p:sp>
      <p:sp>
        <p:nvSpPr>
          <p:cNvPr id="5" name="Shape 3"/>
          <p:cNvSpPr/>
          <p:nvPr/>
        </p:nvSpPr>
        <p:spPr>
          <a:xfrm>
            <a:off x="640080" y="2615184"/>
            <a:ext cx="5943600" cy="2514600"/>
          </a:xfrm>
          <a:prstGeom prst="roundRect">
            <a:avLst>
              <a:gd name="adj" fmla="val 3636"/>
            </a:avLst>
          </a:prstGeom>
          <a:solidFill>
            <a:srgbClr val="2B2B2B"/>
          </a:solidFill>
          <a:ln w="12700">
            <a:solidFill>
              <a:srgbClr val="2B2B2B"/>
            </a:solidFill>
            <a:prstDash val="solid"/>
          </a:ln>
        </p:spPr>
      </p:sp>
      <p:sp>
        <p:nvSpPr>
          <p:cNvPr id="6" name="Text 4"/>
          <p:cNvSpPr txBox="1"/>
          <p:nvPr/>
        </p:nvSpPr>
        <p:spPr>
          <a:xfrm>
            <a:off x="868680" y="2779776"/>
            <a:ext cx="5486400" cy="2185416"/>
          </a:xfrm>
          <a:prstGeom prst="rect">
            <a:avLst/>
          </a:prstGeom>
          <a:noFill/>
          <a:ln/>
        </p:spPr>
        <p:txBody>
          <a:bodyPr wrap="square" lIns="0" tIns="0" rIns="0" bIns="0" rtlCol="0" anchor="t"/>
          <a:lstStyle/>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&lt;iframe</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width="560"</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height="315"</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src="https://www.youtube.com/embed/TNhX1uR2vO8"</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a:t>
            </a:r>
            <a:pPr indent="0" marL="0">
              <a:lnSpc>
                <a:spcPct val="125000"/>
              </a:lnSpc>
              <a:buNone/>
            </a:pPr>
            <a:r>
              <a:rPr lang="en-US" sz="1100" b="1" dirty="0">
                <a:solidFill>
                  <a:srgbClr val="8FE1E8"/>
                </a:solidFill>
                <a:latin typeface="Consolas" pitchFamily="34" charset="0"/>
                <a:ea typeface="Consolas" pitchFamily="34" charset="-122"/>
                <a:cs typeface="Consolas" pitchFamily="34" charset="-120"/>
              </a:rPr>
              <a:t>title=</a:t>
            </a:r>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"Reproductor de video de YouTube"</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a:t>
            </a:r>
            <a:pPr indent="0" marL="0">
              <a:lnSpc>
                <a:spcPct val="125000"/>
              </a:lnSpc>
              <a:buNone/>
            </a:pPr>
            <a:r>
              <a:rPr lang="en-US" sz="1100" b="1" dirty="0">
                <a:solidFill>
                  <a:srgbClr val="8FE1E8"/>
                </a:solidFill>
                <a:latin typeface="Consolas" pitchFamily="34" charset="0"/>
                <a:ea typeface="Consolas" pitchFamily="34" charset="-122"/>
                <a:cs typeface="Consolas" pitchFamily="34" charset="-120"/>
              </a:rPr>
              <a:t>loading="lazy"</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allow="…"</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allowfullscreen</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&gt;&lt;/iframe&gt;</a:t>
            </a:r>
            <a:endParaRPr lang="en-US" sz="1100" dirty="0"/>
          </a:p>
        </p:txBody>
      </p:sp>
      <p:sp>
        <p:nvSpPr>
          <p:cNvPr id="7" name="Shape 5"/>
          <p:cNvSpPr/>
          <p:nvPr/>
        </p:nvSpPr>
        <p:spPr>
          <a:xfrm>
            <a:off x="6812280" y="2615184"/>
            <a:ext cx="4754880" cy="566928"/>
          </a:xfrm>
          <a:prstGeom prst="roundRect">
            <a:avLst>
              <a:gd name="adj" fmla="val 16129"/>
            </a:avLst>
          </a:prstGeom>
          <a:solidFill>
            <a:srgbClr val="FFFFFF"/>
          </a:solidFill>
          <a:ln w="12700">
            <a:solidFill>
              <a:srgbClr val="CFD5D9"/>
            </a:solidFill>
            <a:prstDash val="solid"/>
          </a:ln>
        </p:spPr>
      </p:sp>
      <p:sp>
        <p:nvSpPr>
          <p:cNvPr id="8" name="Text 6"/>
          <p:cNvSpPr txBox="1"/>
          <p:nvPr/>
        </p:nvSpPr>
        <p:spPr>
          <a:xfrm>
            <a:off x="7086600" y="2615184"/>
            <a:ext cx="1417320" cy="566928"/>
          </a:xfrm>
          <a:prstGeom prst="rect">
            <a:avLst/>
          </a:prstGeom>
          <a:noFill/>
          <a:ln/>
        </p:spPr>
        <p:txBody>
          <a:bodyPr wrap="square" lIns="0" tIns="0" rIns="0" bIns="0" rtlCol="0" anchor="ctr"/>
          <a:lstStyle/>
          <a:p>
            <a:pPr indent="0" marL="0">
              <a:buNone/>
            </a:pPr>
            <a:r>
              <a:rPr lang="en-US" sz="1100" b="1" dirty="0">
                <a:solidFill>
                  <a:srgbClr val="177E89"/>
                </a:solidFill>
                <a:latin typeface="Consolas" pitchFamily="34" charset="0"/>
                <a:ea typeface="Consolas" pitchFamily="34" charset="-122"/>
                <a:cs typeface="Consolas" pitchFamily="34" charset="-120"/>
              </a:rPr>
              <a:t>title</a:t>
            </a:r>
            <a:endParaRPr lang="en-US" sz="1100" dirty="0"/>
          </a:p>
        </p:txBody>
      </p:sp>
      <p:sp>
        <p:nvSpPr>
          <p:cNvPr id="9" name="Text 7"/>
          <p:cNvSpPr txBox="1"/>
          <p:nvPr/>
        </p:nvSpPr>
        <p:spPr>
          <a:xfrm>
            <a:off x="8503920" y="2615184"/>
            <a:ext cx="2788920" cy="566928"/>
          </a:xfrm>
          <a:prstGeom prst="rect">
            <a:avLst/>
          </a:prstGeom>
          <a:noFill/>
          <a:ln/>
        </p:spPr>
        <p:txBody>
          <a:bodyPr wrap="square" lIns="0" tIns="0" rIns="0" bIns="0" rtlCol="0" anchor="ctr"/>
          <a:lstStyle/>
          <a:p>
            <a:pPr indent="0" marL="0">
              <a:buNone/>
            </a:pPr>
            <a:r>
              <a:rPr lang="en-US" sz="1050" dirty="0">
                <a:solidFill>
                  <a:srgbClr val="33393D"/>
                </a:solidFill>
                <a:latin typeface="Calibri" pitchFamily="34" charset="0"/>
                <a:ea typeface="Calibri" pitchFamily="34" charset="-122"/>
                <a:cs typeface="Calibri" pitchFamily="34" charset="-120"/>
              </a:rPr>
              <a:t>Obligatorio: nombra el contenido para el lector de pantalla.</a:t>
            </a:r>
            <a:endParaRPr lang="en-US" sz="1050" dirty="0"/>
          </a:p>
        </p:txBody>
      </p:sp>
      <p:sp>
        <p:nvSpPr>
          <p:cNvPr id="10" name="Shape 8"/>
          <p:cNvSpPr/>
          <p:nvPr/>
        </p:nvSpPr>
        <p:spPr>
          <a:xfrm>
            <a:off x="6812280" y="3264408"/>
            <a:ext cx="4754880" cy="566928"/>
          </a:xfrm>
          <a:prstGeom prst="roundRect">
            <a:avLst>
              <a:gd name="adj" fmla="val 16129"/>
            </a:avLst>
          </a:prstGeom>
          <a:solidFill>
            <a:srgbClr val="FFFFFF"/>
          </a:solidFill>
          <a:ln w="12700">
            <a:solidFill>
              <a:srgbClr val="CFD5D9"/>
            </a:solidFill>
            <a:prstDash val="solid"/>
          </a:ln>
        </p:spPr>
      </p:sp>
      <p:sp>
        <p:nvSpPr>
          <p:cNvPr id="11" name="Text 9"/>
          <p:cNvSpPr txBox="1"/>
          <p:nvPr/>
        </p:nvSpPr>
        <p:spPr>
          <a:xfrm>
            <a:off x="7086600" y="3264408"/>
            <a:ext cx="1417320" cy="566928"/>
          </a:xfrm>
          <a:prstGeom prst="rect">
            <a:avLst/>
          </a:prstGeom>
          <a:noFill/>
          <a:ln/>
        </p:spPr>
        <p:txBody>
          <a:bodyPr wrap="square" lIns="0" tIns="0" rIns="0" bIns="0" rtlCol="0" anchor="ctr"/>
          <a:lstStyle/>
          <a:p>
            <a:pPr indent="0" marL="0">
              <a:buNone/>
            </a:pPr>
            <a:r>
              <a:rPr lang="en-US" sz="1100" b="1" dirty="0">
                <a:solidFill>
                  <a:srgbClr val="177E89"/>
                </a:solidFill>
                <a:latin typeface="Consolas" pitchFamily="34" charset="0"/>
                <a:ea typeface="Consolas" pitchFamily="34" charset="-122"/>
                <a:cs typeface="Consolas" pitchFamily="34" charset="-120"/>
              </a:rPr>
              <a:t>loading="lazy"</a:t>
            </a:r>
            <a:endParaRPr lang="en-US" sz="1100" dirty="0"/>
          </a:p>
        </p:txBody>
      </p:sp>
      <p:sp>
        <p:nvSpPr>
          <p:cNvPr id="12" name="Text 10"/>
          <p:cNvSpPr txBox="1"/>
          <p:nvPr/>
        </p:nvSpPr>
        <p:spPr>
          <a:xfrm>
            <a:off x="8503920" y="3264408"/>
            <a:ext cx="2788920" cy="566928"/>
          </a:xfrm>
          <a:prstGeom prst="rect">
            <a:avLst/>
          </a:prstGeom>
          <a:noFill/>
          <a:ln/>
        </p:spPr>
        <p:txBody>
          <a:bodyPr wrap="square" lIns="0" tIns="0" rIns="0" bIns="0" rtlCol="0" anchor="ctr"/>
          <a:lstStyle/>
          <a:p>
            <a:pPr indent="0" marL="0">
              <a:buNone/>
            </a:pPr>
            <a:r>
              <a:rPr lang="en-US" sz="1050" dirty="0">
                <a:solidFill>
                  <a:srgbClr val="33393D"/>
                </a:solidFill>
                <a:latin typeface="Calibri" pitchFamily="34" charset="0"/>
                <a:ea typeface="Calibri" pitchFamily="34" charset="-122"/>
                <a:cs typeface="Calibri" pitchFamily="34" charset="-120"/>
              </a:rPr>
              <a:t>No carga el reproductor hasta que te acercas a él.</a:t>
            </a:r>
            <a:endParaRPr lang="en-US" sz="1050" dirty="0"/>
          </a:p>
        </p:txBody>
      </p:sp>
      <p:sp>
        <p:nvSpPr>
          <p:cNvPr id="13" name="Shape 11"/>
          <p:cNvSpPr/>
          <p:nvPr/>
        </p:nvSpPr>
        <p:spPr>
          <a:xfrm>
            <a:off x="6812280" y="3913632"/>
            <a:ext cx="4754880" cy="566928"/>
          </a:xfrm>
          <a:prstGeom prst="roundRect">
            <a:avLst>
              <a:gd name="adj" fmla="val 16129"/>
            </a:avLst>
          </a:prstGeom>
          <a:solidFill>
            <a:srgbClr val="FFFFFF"/>
          </a:solidFill>
          <a:ln w="12700">
            <a:solidFill>
              <a:srgbClr val="CFD5D9"/>
            </a:solidFill>
            <a:prstDash val="solid"/>
          </a:ln>
        </p:spPr>
      </p:sp>
      <p:sp>
        <p:nvSpPr>
          <p:cNvPr id="14" name="Text 12"/>
          <p:cNvSpPr txBox="1"/>
          <p:nvPr/>
        </p:nvSpPr>
        <p:spPr>
          <a:xfrm>
            <a:off x="7086600" y="3913632"/>
            <a:ext cx="1417320" cy="566928"/>
          </a:xfrm>
          <a:prstGeom prst="rect">
            <a:avLst/>
          </a:prstGeom>
          <a:noFill/>
          <a:ln/>
        </p:spPr>
        <p:txBody>
          <a:bodyPr wrap="square" lIns="0" tIns="0" rIns="0" bIns="0" rtlCol="0" anchor="ctr"/>
          <a:lstStyle/>
          <a:p>
            <a:pPr indent="0" marL="0">
              <a:buNone/>
            </a:pPr>
            <a:r>
              <a:rPr lang="en-US" sz="1100" b="1" dirty="0">
                <a:solidFill>
                  <a:srgbClr val="177E89"/>
                </a:solidFill>
                <a:latin typeface="Consolas" pitchFamily="34" charset="0"/>
                <a:ea typeface="Consolas" pitchFamily="34" charset="-122"/>
                <a:cs typeface="Consolas" pitchFamily="34" charset="-120"/>
              </a:rPr>
              <a:t>frameborder</a:t>
            </a:r>
            <a:endParaRPr lang="en-US" sz="1100" dirty="0"/>
          </a:p>
        </p:txBody>
      </p:sp>
      <p:sp>
        <p:nvSpPr>
          <p:cNvPr id="15" name="Text 13"/>
          <p:cNvSpPr txBox="1"/>
          <p:nvPr/>
        </p:nvSpPr>
        <p:spPr>
          <a:xfrm>
            <a:off x="8503920" y="3913632"/>
            <a:ext cx="2788920" cy="566928"/>
          </a:xfrm>
          <a:prstGeom prst="rect">
            <a:avLst/>
          </a:prstGeom>
          <a:noFill/>
          <a:ln/>
        </p:spPr>
        <p:txBody>
          <a:bodyPr wrap="square" lIns="0" tIns="0" rIns="0" bIns="0" rtlCol="0" anchor="ctr"/>
          <a:lstStyle/>
          <a:p>
            <a:pPr indent="0" marL="0">
              <a:buNone/>
            </a:pPr>
            <a:r>
              <a:rPr lang="en-US" sz="1050" dirty="0">
                <a:solidFill>
                  <a:srgbClr val="33393D"/>
                </a:solidFill>
                <a:latin typeface="Calibri" pitchFamily="34" charset="0"/>
                <a:ea typeface="Calibri" pitchFamily="34" charset="-122"/>
                <a:cs typeface="Calibri" pitchFamily="34" charset="-120"/>
              </a:rPr>
              <a:t>Obsoleto: el validador lo marca como error. El borde se quita con CSS.</a:t>
            </a:r>
            <a:endParaRPr lang="en-US" sz="1050" dirty="0"/>
          </a:p>
        </p:txBody>
      </p:sp>
      <p:sp>
        <p:nvSpPr>
          <p:cNvPr id="16" name="Shape 14"/>
          <p:cNvSpPr/>
          <p:nvPr/>
        </p:nvSpPr>
        <p:spPr>
          <a:xfrm>
            <a:off x="6812280" y="4562856"/>
            <a:ext cx="4754880" cy="566928"/>
          </a:xfrm>
          <a:prstGeom prst="roundRect">
            <a:avLst>
              <a:gd name="adj" fmla="val 16129"/>
            </a:avLst>
          </a:prstGeom>
          <a:solidFill>
            <a:srgbClr val="FFFFFF"/>
          </a:solidFill>
          <a:ln w="12700">
            <a:solidFill>
              <a:srgbClr val="CFD5D9"/>
            </a:solidFill>
            <a:prstDash val="solid"/>
          </a:ln>
        </p:spPr>
      </p:sp>
      <p:sp>
        <p:nvSpPr>
          <p:cNvPr id="17" name="Text 15"/>
          <p:cNvSpPr txBox="1"/>
          <p:nvPr/>
        </p:nvSpPr>
        <p:spPr>
          <a:xfrm>
            <a:off x="7086600" y="4562856"/>
            <a:ext cx="1417320" cy="566928"/>
          </a:xfrm>
          <a:prstGeom prst="rect">
            <a:avLst/>
          </a:prstGeom>
          <a:noFill/>
          <a:ln/>
        </p:spPr>
        <p:txBody>
          <a:bodyPr wrap="square" lIns="0" tIns="0" rIns="0" bIns="0" rtlCol="0" anchor="ctr"/>
          <a:lstStyle/>
          <a:p>
            <a:pPr indent="0" marL="0">
              <a:buNone/>
            </a:pPr>
            <a:r>
              <a:rPr lang="en-US" sz="1100" b="1" dirty="0">
                <a:solidFill>
                  <a:srgbClr val="177E89"/>
                </a:solidFill>
                <a:latin typeface="Calibri" pitchFamily="34" charset="0"/>
                <a:ea typeface="Calibri" pitchFamily="34" charset="-122"/>
                <a:cs typeface="Calibri" pitchFamily="34" charset="-120"/>
              </a:rPr>
              <a:t>Texto interior</a:t>
            </a:r>
            <a:endParaRPr lang="en-US" sz="1100" dirty="0"/>
          </a:p>
        </p:txBody>
      </p:sp>
      <p:sp>
        <p:nvSpPr>
          <p:cNvPr id="18" name="Text 16"/>
          <p:cNvSpPr txBox="1"/>
          <p:nvPr/>
        </p:nvSpPr>
        <p:spPr>
          <a:xfrm>
            <a:off x="8503920" y="4562856"/>
            <a:ext cx="2788920" cy="566928"/>
          </a:xfrm>
          <a:prstGeom prst="rect">
            <a:avLst/>
          </a:prstGeom>
          <a:noFill/>
          <a:ln/>
        </p:spPr>
        <p:txBody>
          <a:bodyPr wrap="square" lIns="0" tIns="0" rIns="0" bIns="0" rtlCol="0" anchor="ctr"/>
          <a:lstStyle/>
          <a:p>
            <a:pPr indent="0" marL="0">
              <a:buNone/>
            </a:pPr>
            <a:r>
              <a:rPr lang="en-US" sz="1050" dirty="0">
                <a:solidFill>
                  <a:srgbClr val="33393D"/>
                </a:solidFill>
                <a:latin typeface="Calibri" pitchFamily="34" charset="0"/>
                <a:ea typeface="Calibri" pitchFamily="34" charset="-122"/>
                <a:cs typeface="Calibri" pitchFamily="34" charset="-120"/>
              </a:rPr>
              <a:t>Lo que escribas entre las dos etiquetas nunca se muestra.</a:t>
            </a:r>
            <a:endParaRPr lang="en-US" sz="1050" dirty="0"/>
          </a:p>
        </p:txBody>
      </p:sp>
      <p:sp>
        <p:nvSpPr>
          <p:cNvPr id="19" name="Text 17"/>
          <p:cNvSpPr txBox="1"/>
          <p:nvPr/>
        </p:nvSpPr>
        <p:spPr>
          <a:xfrm>
            <a:off x="640080" y="5577840"/>
            <a:ext cx="10927080" cy="256032"/>
          </a:xfrm>
          <a:prstGeom prst="rect">
            <a:avLst/>
          </a:prstGeom>
          <a:noFill/>
          <a:ln/>
        </p:spPr>
        <p:txBody>
          <a:bodyPr wrap="square" lIns="0" tIns="0" rIns="0" bIns="0" rtlCol="0" anchor="ctr"/>
          <a:lstStyle/>
          <a:p>
            <a:pPr algn="ctr" indent="0" marL="0">
              <a:buNone/>
            </a:pPr>
            <a:r>
              <a:rPr lang="en-US" sz="1150" i="1" dirty="0">
                <a:solidFill>
                  <a:srgbClr val="5F676C"/>
                </a:solidFill>
                <a:latin typeface="Calibri" pitchFamily="34" charset="0"/>
                <a:ea typeface="Calibri" pitchFamily="34" charset="-122"/>
                <a:cs typeface="Calibri" pitchFamily="34" charset="-120"/>
              </a:rPr>
              <a:t>En tu sobre-mi.html: quita frameborder="0" y el texto «Tu navegador no soporta…» que quedó dentro.</a:t>
            </a:r>
            <a:endParaRPr lang="en-US" sz="1150" dirty="0"/>
          </a:p>
        </p:txBody>
      </p:sp>
      <p:sp>
        <p:nvSpPr>
          <p:cNvPr id="20" name="Text 18"/>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26 / 48</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indent="0" marL="0">
              <a:buNone/>
            </a:pPr>
            <a:r>
              <a:rPr lang="en-US" sz="1050" b="1" spc="300" kern="0" dirty="0">
                <a:solidFill>
                  <a:srgbClr val="177E89"/>
                </a:solidFill>
                <a:latin typeface="Calibri" pitchFamily="34" charset="0"/>
                <a:ea typeface="Calibri" pitchFamily="34" charset="-122"/>
                <a:cs typeface="Calibri" pitchFamily="34" charset="-120"/>
              </a:rPr>
              <a:t>03 · RENDIMIENTO</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Rutas que no fallan</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indent="0" marL="0">
              <a:buNone/>
            </a:pPr>
            <a:r>
              <a:rPr lang="en-US" sz="1250" dirty="0">
                <a:solidFill>
                  <a:srgbClr val="5F676C"/>
                </a:solidFill>
                <a:latin typeface="Calibri" pitchFamily="34" charset="0"/>
                <a:ea typeface="Calibri" pitchFamily="34" charset="-122"/>
                <a:cs typeface="Calibri" pitchFamily="34" charset="-120"/>
              </a:rPr>
              <a:t>El mismo archivo, escrito de tres maneras. Solo una funciona en todas partes.</a:t>
            </a:r>
            <a:endParaRPr lang="en-US" sz="1250" dirty="0"/>
          </a:p>
        </p:txBody>
      </p:sp>
      <p:sp>
        <p:nvSpPr>
          <p:cNvPr id="5" name="Shape 3"/>
          <p:cNvSpPr/>
          <p:nvPr/>
        </p:nvSpPr>
        <p:spPr>
          <a:xfrm>
            <a:off x="640080" y="2615184"/>
            <a:ext cx="10927080" cy="576072"/>
          </a:xfrm>
          <a:prstGeom prst="roundRect">
            <a:avLst>
              <a:gd name="adj" fmla="val 15873"/>
            </a:avLst>
          </a:prstGeom>
          <a:solidFill>
            <a:srgbClr val="F3F5F6"/>
          </a:solidFill>
          <a:ln w="12700">
            <a:solidFill>
              <a:srgbClr val="CFD5D9"/>
            </a:solidFill>
            <a:prstDash val="solid"/>
          </a:ln>
        </p:spPr>
      </p:sp>
      <p:sp>
        <p:nvSpPr>
          <p:cNvPr id="6" name="Text 4"/>
          <p:cNvSpPr txBox="1"/>
          <p:nvPr/>
        </p:nvSpPr>
        <p:spPr>
          <a:xfrm>
            <a:off x="914400" y="2615184"/>
            <a:ext cx="4114800" cy="576072"/>
          </a:xfrm>
          <a:prstGeom prst="rect">
            <a:avLst/>
          </a:prstGeom>
          <a:noFill/>
          <a:ln/>
        </p:spPr>
        <p:txBody>
          <a:bodyPr wrap="square" lIns="0" tIns="0" rIns="0" bIns="0" rtlCol="0" anchor="ctr"/>
          <a:lstStyle/>
          <a:p>
            <a:pPr indent="0" marL="0">
              <a:buNone/>
            </a:pPr>
            <a:r>
              <a:rPr lang="en-US" sz="1150" b="1" dirty="0">
                <a:solidFill>
                  <a:srgbClr val="177E89"/>
                </a:solidFill>
                <a:latin typeface="Consolas" pitchFamily="34" charset="0"/>
                <a:ea typeface="Consolas" pitchFamily="34" charset="-122"/>
                <a:cs typeface="Consolas" pitchFamily="34" charset="-120"/>
              </a:rPr>
              <a:t>assets/media/video/presentacion.mp4</a:t>
            </a:r>
            <a:endParaRPr lang="en-US" sz="1150" dirty="0"/>
          </a:p>
        </p:txBody>
      </p:sp>
      <p:sp>
        <p:nvSpPr>
          <p:cNvPr id="7" name="Text 5"/>
          <p:cNvSpPr txBox="1"/>
          <p:nvPr/>
        </p:nvSpPr>
        <p:spPr>
          <a:xfrm>
            <a:off x="5166360" y="2615184"/>
            <a:ext cx="4480560" cy="576072"/>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Relativa: funciona con Live Server, en Netlify y con doble clic.</a:t>
            </a:r>
            <a:endParaRPr lang="en-US" sz="1200" dirty="0"/>
          </a:p>
        </p:txBody>
      </p:sp>
      <p:sp>
        <p:nvSpPr>
          <p:cNvPr id="8" name="Text 6"/>
          <p:cNvSpPr txBox="1"/>
          <p:nvPr/>
        </p:nvSpPr>
        <p:spPr>
          <a:xfrm>
            <a:off x="9738360" y="2615184"/>
            <a:ext cx="1600200" cy="576072"/>
          </a:xfrm>
          <a:prstGeom prst="rect">
            <a:avLst/>
          </a:prstGeom>
          <a:noFill/>
          <a:ln/>
        </p:spPr>
        <p:txBody>
          <a:bodyPr wrap="square" lIns="0" tIns="0" rIns="0" bIns="0" rtlCol="0" anchor="ctr"/>
          <a:lstStyle/>
          <a:p>
            <a:pPr algn="r" indent="0" marL="0">
              <a:buNone/>
            </a:pPr>
            <a:r>
              <a:rPr lang="en-US" sz="1200" b="1" dirty="0">
                <a:solidFill>
                  <a:srgbClr val="177E89"/>
                </a:solidFill>
                <a:latin typeface="Calibri" pitchFamily="34" charset="0"/>
                <a:ea typeface="Calibri" pitchFamily="34" charset="-122"/>
                <a:cs typeface="Calibri" pitchFamily="34" charset="-120"/>
              </a:rPr>
              <a:t>Úsala siempre</a:t>
            </a:r>
            <a:endParaRPr lang="en-US" sz="1200" dirty="0"/>
          </a:p>
        </p:txBody>
      </p:sp>
      <p:sp>
        <p:nvSpPr>
          <p:cNvPr id="9" name="Shape 7"/>
          <p:cNvSpPr/>
          <p:nvPr/>
        </p:nvSpPr>
        <p:spPr>
          <a:xfrm>
            <a:off x="640080" y="3282696"/>
            <a:ext cx="10927080" cy="576072"/>
          </a:xfrm>
          <a:prstGeom prst="roundRect">
            <a:avLst>
              <a:gd name="adj" fmla="val 15873"/>
            </a:avLst>
          </a:prstGeom>
          <a:solidFill>
            <a:srgbClr val="FFFFFF"/>
          </a:solidFill>
          <a:ln w="12700">
            <a:solidFill>
              <a:srgbClr val="CFD5D9"/>
            </a:solidFill>
            <a:prstDash val="solid"/>
          </a:ln>
        </p:spPr>
      </p:sp>
      <p:sp>
        <p:nvSpPr>
          <p:cNvPr id="10" name="Text 8"/>
          <p:cNvSpPr txBox="1"/>
          <p:nvPr/>
        </p:nvSpPr>
        <p:spPr>
          <a:xfrm>
            <a:off x="914400" y="3282696"/>
            <a:ext cx="4114800" cy="576072"/>
          </a:xfrm>
          <a:prstGeom prst="rect">
            <a:avLst/>
          </a:prstGeom>
          <a:noFill/>
          <a:ln/>
        </p:spPr>
        <p:txBody>
          <a:bodyPr wrap="square" lIns="0" tIns="0" rIns="0" bIns="0" rtlCol="0" anchor="ctr"/>
          <a:lstStyle/>
          <a:p>
            <a:pPr indent="0" marL="0">
              <a:buNone/>
            </a:pPr>
            <a:r>
              <a:rPr lang="en-US" sz="1150" b="1" dirty="0">
                <a:solidFill>
                  <a:srgbClr val="5F676C"/>
                </a:solidFill>
                <a:latin typeface="Consolas" pitchFamily="34" charset="0"/>
                <a:ea typeface="Consolas" pitchFamily="34" charset="-122"/>
                <a:cs typeface="Consolas" pitchFamily="34" charset="-120"/>
              </a:rPr>
              <a:t>/assets/media/video/presentacion.mp4</a:t>
            </a:r>
            <a:endParaRPr lang="en-US" sz="1150" dirty="0"/>
          </a:p>
        </p:txBody>
      </p:sp>
      <p:sp>
        <p:nvSpPr>
          <p:cNvPr id="11" name="Text 9"/>
          <p:cNvSpPr txBox="1"/>
          <p:nvPr/>
        </p:nvSpPr>
        <p:spPr>
          <a:xfrm>
            <a:off x="5166360" y="3282696"/>
            <a:ext cx="4480560" cy="576072"/>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Desde la raíz: solo funciona si hay un servidor.</a:t>
            </a:r>
            <a:endParaRPr lang="en-US" sz="1200" dirty="0"/>
          </a:p>
        </p:txBody>
      </p:sp>
      <p:sp>
        <p:nvSpPr>
          <p:cNvPr id="12" name="Text 10"/>
          <p:cNvSpPr txBox="1"/>
          <p:nvPr/>
        </p:nvSpPr>
        <p:spPr>
          <a:xfrm>
            <a:off x="9738360" y="3282696"/>
            <a:ext cx="1600200" cy="576072"/>
          </a:xfrm>
          <a:prstGeom prst="rect">
            <a:avLst/>
          </a:prstGeom>
          <a:noFill/>
          <a:ln/>
        </p:spPr>
        <p:txBody>
          <a:bodyPr wrap="square" lIns="0" tIns="0" rIns="0" bIns="0" rtlCol="0" anchor="ctr"/>
          <a:lstStyle/>
          <a:p>
            <a:pPr algn="r" indent="0" marL="0">
              <a:buNone/>
            </a:pPr>
            <a:r>
              <a:rPr lang="en-US" sz="1200" b="1" dirty="0">
                <a:solidFill>
                  <a:srgbClr val="5F676C"/>
                </a:solidFill>
                <a:latin typeface="Calibri" pitchFamily="34" charset="0"/>
                <a:ea typeface="Calibri" pitchFamily="34" charset="-122"/>
                <a:cs typeface="Calibri" pitchFamily="34" charset="-120"/>
              </a:rPr>
              <a:t>Evítala por ahora</a:t>
            </a:r>
            <a:endParaRPr lang="en-US" sz="1200" dirty="0"/>
          </a:p>
        </p:txBody>
      </p:sp>
      <p:sp>
        <p:nvSpPr>
          <p:cNvPr id="13" name="Shape 11"/>
          <p:cNvSpPr/>
          <p:nvPr/>
        </p:nvSpPr>
        <p:spPr>
          <a:xfrm>
            <a:off x="640080" y="3950208"/>
            <a:ext cx="10927080" cy="576072"/>
          </a:xfrm>
          <a:prstGeom prst="roundRect">
            <a:avLst>
              <a:gd name="adj" fmla="val 15873"/>
            </a:avLst>
          </a:prstGeom>
          <a:solidFill>
            <a:srgbClr val="FFFFFF"/>
          </a:solidFill>
          <a:ln w="12700">
            <a:solidFill>
              <a:srgbClr val="CFD5D9"/>
            </a:solidFill>
            <a:prstDash val="solid"/>
          </a:ln>
        </p:spPr>
      </p:sp>
      <p:sp>
        <p:nvSpPr>
          <p:cNvPr id="14" name="Text 12"/>
          <p:cNvSpPr txBox="1"/>
          <p:nvPr/>
        </p:nvSpPr>
        <p:spPr>
          <a:xfrm>
            <a:off x="914400" y="3950208"/>
            <a:ext cx="4114800" cy="576072"/>
          </a:xfrm>
          <a:prstGeom prst="rect">
            <a:avLst/>
          </a:prstGeom>
          <a:noFill/>
          <a:ln/>
        </p:spPr>
        <p:txBody>
          <a:bodyPr wrap="square" lIns="0" tIns="0" rIns="0" bIns="0" rtlCol="0" anchor="ctr"/>
          <a:lstStyle/>
          <a:p>
            <a:pPr indent="0" marL="0">
              <a:buNone/>
            </a:pPr>
            <a:r>
              <a:rPr lang="en-US" sz="1150" b="1" dirty="0">
                <a:solidFill>
                  <a:srgbClr val="A8402B"/>
                </a:solidFill>
                <a:latin typeface="Consolas" pitchFamily="34" charset="0"/>
                <a:ea typeface="Consolas" pitchFamily="34" charset="-122"/>
                <a:cs typeface="Consolas" pitchFamily="34" charset="-120"/>
              </a:rPr>
              <a:t>C:\Users\SIPAN\…\presentacion.mp4</a:t>
            </a:r>
            <a:endParaRPr lang="en-US" sz="1150" dirty="0"/>
          </a:p>
        </p:txBody>
      </p:sp>
      <p:sp>
        <p:nvSpPr>
          <p:cNvPr id="15" name="Text 13"/>
          <p:cNvSpPr txBox="1"/>
          <p:nvPr/>
        </p:nvSpPr>
        <p:spPr>
          <a:xfrm>
            <a:off x="5166360" y="3950208"/>
            <a:ext cx="4480560" cy="576072"/>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Del disco: solo existe en tu computadora.</a:t>
            </a:r>
            <a:endParaRPr lang="en-US" sz="1200" dirty="0"/>
          </a:p>
        </p:txBody>
      </p:sp>
      <p:sp>
        <p:nvSpPr>
          <p:cNvPr id="16" name="Text 14"/>
          <p:cNvSpPr txBox="1"/>
          <p:nvPr/>
        </p:nvSpPr>
        <p:spPr>
          <a:xfrm>
            <a:off x="9738360" y="3950208"/>
            <a:ext cx="1600200" cy="576072"/>
          </a:xfrm>
          <a:prstGeom prst="rect">
            <a:avLst/>
          </a:prstGeom>
          <a:noFill/>
          <a:ln/>
        </p:spPr>
        <p:txBody>
          <a:bodyPr wrap="square" lIns="0" tIns="0" rIns="0" bIns="0" rtlCol="0" anchor="ctr"/>
          <a:lstStyle/>
          <a:p>
            <a:pPr algn="r" indent="0" marL="0">
              <a:buNone/>
            </a:pPr>
            <a:r>
              <a:rPr lang="en-US" sz="1200" b="1" dirty="0">
                <a:solidFill>
                  <a:srgbClr val="A8402B"/>
                </a:solidFill>
                <a:latin typeface="Calibri" pitchFamily="34" charset="0"/>
                <a:ea typeface="Calibri" pitchFamily="34" charset="-122"/>
                <a:cs typeface="Calibri" pitchFamily="34" charset="-120"/>
              </a:rPr>
              <a:t>Nunca</a:t>
            </a:r>
            <a:endParaRPr lang="en-US" sz="1200" dirty="0"/>
          </a:p>
        </p:txBody>
      </p:sp>
      <p:sp>
        <p:nvSpPr>
          <p:cNvPr id="17" name="Shape 15"/>
          <p:cNvSpPr/>
          <p:nvPr/>
        </p:nvSpPr>
        <p:spPr>
          <a:xfrm>
            <a:off x="640080" y="4718304"/>
            <a:ext cx="10927080" cy="1316736"/>
          </a:xfrm>
          <a:prstGeom prst="roundRect">
            <a:avLst>
              <a:gd name="adj" fmla="val 6944"/>
            </a:avLst>
          </a:prstGeom>
          <a:solidFill>
            <a:srgbClr val="F3F5F6"/>
          </a:solidFill>
          <a:ln w="12700">
            <a:solidFill>
              <a:srgbClr val="CFD5D9"/>
            </a:solidFill>
            <a:prstDash val="solid"/>
          </a:ln>
        </p:spPr>
      </p:sp>
      <p:sp>
        <p:nvSpPr>
          <p:cNvPr id="18" name="Text 16"/>
          <p:cNvSpPr txBox="1"/>
          <p:nvPr/>
        </p:nvSpPr>
        <p:spPr>
          <a:xfrm>
            <a:off x="950976" y="4919472"/>
            <a:ext cx="10305288" cy="310896"/>
          </a:xfrm>
          <a:prstGeom prst="rect">
            <a:avLst/>
          </a:prstGeom>
          <a:noFill/>
          <a:ln/>
        </p:spPr>
        <p:txBody>
          <a:bodyPr wrap="square" lIns="0" tIns="0" rIns="0" bIns="0" rtlCol="0" anchor="ctr"/>
          <a:lstStyle/>
          <a:p>
            <a:pPr algn="l" indent="0" marL="0">
              <a:buNone/>
            </a:pPr>
            <a:r>
              <a:rPr lang="en-US" sz="1400" b="1" dirty="0">
                <a:solidFill>
                  <a:srgbClr val="177E89"/>
                </a:solidFill>
                <a:latin typeface="Calibri" pitchFamily="34" charset="0"/>
                <a:ea typeface="Calibri" pitchFamily="34" charset="-122"/>
                <a:cs typeface="Calibri" pitchFamily="34" charset="-120"/>
              </a:rPr>
              <a:t>En tu portafolio</a:t>
            </a:r>
            <a:endParaRPr lang="en-US" sz="1400" dirty="0"/>
          </a:p>
        </p:txBody>
      </p:sp>
      <p:sp>
        <p:nvSpPr>
          <p:cNvPr id="19" name="Text 17"/>
          <p:cNvSpPr txBox="1"/>
          <p:nvPr/>
        </p:nvSpPr>
        <p:spPr>
          <a:xfrm>
            <a:off x="950976" y="5285232"/>
            <a:ext cx="10305288" cy="629107"/>
          </a:xfrm>
          <a:prstGeom prst="rect">
            <a:avLst/>
          </a:prstGeom>
          <a:noFill/>
          <a:ln/>
        </p:spPr>
        <p:txBody>
          <a:bodyPr wrap="square" lIns="0" tIns="0" rIns="0" bIns="0" rtlCol="0" anchor="t"/>
          <a:lstStyle/>
          <a:p>
            <a:pPr algn="l" indent="0" marL="0">
              <a:lnSpc>
                <a:spcPct val="125000"/>
              </a:lnSpc>
              <a:buNone/>
            </a:pPr>
            <a:r>
              <a:rPr lang="en-US" sz="1250" dirty="0">
                <a:solidFill>
                  <a:srgbClr val="33393D"/>
                </a:solidFill>
                <a:latin typeface="Calibri" pitchFamily="34" charset="0"/>
                <a:ea typeface="Calibri" pitchFamily="34" charset="-122"/>
                <a:cs typeface="Calibri" pitchFamily="34" charset="-120"/>
              </a:rPr>
              <a:t>Los dos videos usan /assets/… y el audio usa assets/…: déjalos todos sin la barra inicial. Si algo no carga, abre DevTools › Network: un 404 en rojo es un archivo que no está donde el HTML lo busca.</a:t>
            </a:r>
            <a:endParaRPr lang="en-US" sz="1250" dirty="0"/>
          </a:p>
        </p:txBody>
      </p:sp>
      <p:sp>
        <p:nvSpPr>
          <p:cNvPr id="20" name="Text 18"/>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27 / 48</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548640" y="1517904"/>
            <a:ext cx="5349240" cy="1024128"/>
          </a:xfrm>
          <a:prstGeom prst="roundRect">
            <a:avLst>
              <a:gd name="adj" fmla="val 50000"/>
            </a:avLst>
          </a:prstGeom>
          <a:solidFill>
            <a:srgbClr val="177E89"/>
          </a:solidFill>
          <a:ln w="12700">
            <a:solidFill>
              <a:srgbClr val="177E89"/>
            </a:solidFill>
            <a:prstDash val="solid"/>
          </a:ln>
        </p:spPr>
      </p:sp>
      <p:sp>
        <p:nvSpPr>
          <p:cNvPr id="3" name="Text 1"/>
          <p:cNvSpPr txBox="1"/>
          <p:nvPr/>
        </p:nvSpPr>
        <p:spPr>
          <a:xfrm>
            <a:off x="274320" y="1517904"/>
            <a:ext cx="4297680" cy="10241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Accesibilidad multimedia</a:t>
            </a:r>
            <a:endParaRPr lang="en-US" sz="2000" dirty="0"/>
          </a:p>
        </p:txBody>
      </p:sp>
      <p:sp>
        <p:nvSpPr>
          <p:cNvPr id="4" name="Text 2"/>
          <p:cNvSpPr txBox="1"/>
          <p:nvPr/>
        </p:nvSpPr>
        <p:spPr>
          <a:xfrm>
            <a:off x="274320" y="2834640"/>
            <a:ext cx="4297680" cy="256032"/>
          </a:xfrm>
          <a:prstGeom prst="rect">
            <a:avLst/>
          </a:prstGeom>
          <a:noFill/>
          <a:ln/>
        </p:spPr>
        <p:txBody>
          <a:bodyPr wrap="square" lIns="0" tIns="0" rIns="0" bIns="0" rtlCol="0" anchor="ctr"/>
          <a:lstStyle/>
          <a:p>
            <a:pPr algn="ctr" indent="0" marL="0">
              <a:buNone/>
            </a:pPr>
            <a:r>
              <a:rPr lang="en-US" sz="1100" b="1" spc="400" kern="0" dirty="0">
                <a:solidFill>
                  <a:srgbClr val="177E89"/>
                </a:solidFill>
                <a:latin typeface="Calibri" pitchFamily="34" charset="0"/>
                <a:ea typeface="Calibri" pitchFamily="34" charset="-122"/>
                <a:cs typeface="Calibri" pitchFamily="34" charset="-120"/>
              </a:rPr>
              <a:t>BLOQUE 04</a:t>
            </a:r>
            <a:endParaRPr lang="en-US" sz="1100" dirty="0"/>
          </a:p>
        </p:txBody>
      </p:sp>
      <p:sp>
        <p:nvSpPr>
          <p:cNvPr id="5" name="Text 3"/>
          <p:cNvSpPr txBox="1"/>
          <p:nvPr/>
        </p:nvSpPr>
        <p:spPr>
          <a:xfrm>
            <a:off x="685800" y="3346704"/>
            <a:ext cx="3657600" cy="237744"/>
          </a:xfrm>
          <a:prstGeom prst="rect">
            <a:avLst/>
          </a:prstGeom>
          <a:noFill/>
          <a:ln/>
        </p:spPr>
        <p:txBody>
          <a:bodyPr wrap="square" lIns="0" tIns="0" rIns="0" bIns="0" rtlCol="0" anchor="ctr"/>
          <a:lstStyle/>
          <a:p>
            <a:pPr indent="0" marL="0">
              <a:buNone/>
            </a:pPr>
            <a:r>
              <a:rPr lang="en-US" sz="1050" b="1" spc="150" kern="0" dirty="0">
                <a:solidFill>
                  <a:srgbClr val="5F676C"/>
                </a:solidFill>
                <a:latin typeface="Calibri" pitchFamily="34" charset="0"/>
                <a:ea typeface="Calibri" pitchFamily="34" charset="-122"/>
                <a:cs typeface="Calibri" pitchFamily="34" charset="-120"/>
              </a:rPr>
              <a:t>En este bloque</a:t>
            </a:r>
            <a:endParaRPr lang="en-US" sz="1050" dirty="0"/>
          </a:p>
        </p:txBody>
      </p:sp>
      <p:sp>
        <p:nvSpPr>
          <p:cNvPr id="6" name="Shape 4"/>
          <p:cNvSpPr/>
          <p:nvPr/>
        </p:nvSpPr>
        <p:spPr>
          <a:xfrm>
            <a:off x="685800" y="3657600"/>
            <a:ext cx="5577840" cy="475488"/>
          </a:xfrm>
          <a:prstGeom prst="roundRect">
            <a:avLst>
              <a:gd name="adj" fmla="val 19231"/>
            </a:avLst>
          </a:prstGeom>
          <a:solidFill>
            <a:srgbClr val="FFFFFF"/>
          </a:solidFill>
          <a:ln w="12700">
            <a:solidFill>
              <a:srgbClr val="CFD5D9"/>
            </a:solidFill>
            <a:prstDash val="solid"/>
          </a:ln>
        </p:spPr>
      </p:sp>
      <p:sp>
        <p:nvSpPr>
          <p:cNvPr id="7" name="Text 5"/>
          <p:cNvSpPr txBox="1"/>
          <p:nvPr/>
        </p:nvSpPr>
        <p:spPr>
          <a:xfrm>
            <a:off x="896112" y="3657600"/>
            <a:ext cx="457200" cy="475488"/>
          </a:xfrm>
          <a:prstGeom prst="rect">
            <a:avLst/>
          </a:prstGeom>
          <a:noFill/>
          <a:ln/>
        </p:spPr>
        <p:txBody>
          <a:bodyPr wrap="square" lIns="0" tIns="0" rIns="0" bIns="0" rtlCol="0" anchor="ctr"/>
          <a:lstStyle/>
          <a:p>
            <a:pPr indent="0" marL="0">
              <a:buNone/>
            </a:pPr>
            <a:r>
              <a:rPr lang="en-US" sz="1200" b="1" dirty="0">
                <a:solidFill>
                  <a:srgbClr val="177E89"/>
                </a:solidFill>
                <a:latin typeface="Calibri" pitchFamily="34" charset="0"/>
                <a:ea typeface="Calibri" pitchFamily="34" charset="-122"/>
                <a:cs typeface="Calibri" pitchFamily="34" charset="-120"/>
              </a:rPr>
              <a:t>01</a:t>
            </a:r>
            <a:endParaRPr lang="en-US" sz="1200" dirty="0"/>
          </a:p>
        </p:txBody>
      </p:sp>
      <p:sp>
        <p:nvSpPr>
          <p:cNvPr id="8" name="Text 6"/>
          <p:cNvSpPr txBox="1"/>
          <p:nvPr/>
        </p:nvSpPr>
        <p:spPr>
          <a:xfrm>
            <a:off x="1481328" y="3657600"/>
            <a:ext cx="4663440" cy="475488"/>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Por qué subtítulos</a:t>
            </a:r>
            <a:endParaRPr lang="en-US" sz="1200" dirty="0"/>
          </a:p>
        </p:txBody>
      </p:sp>
      <p:sp>
        <p:nvSpPr>
          <p:cNvPr id="9" name="Shape 7"/>
          <p:cNvSpPr/>
          <p:nvPr/>
        </p:nvSpPr>
        <p:spPr>
          <a:xfrm>
            <a:off x="685800" y="4206240"/>
            <a:ext cx="5577840" cy="475488"/>
          </a:xfrm>
          <a:prstGeom prst="roundRect">
            <a:avLst>
              <a:gd name="adj" fmla="val 19231"/>
            </a:avLst>
          </a:prstGeom>
          <a:solidFill>
            <a:srgbClr val="FFFFFF"/>
          </a:solidFill>
          <a:ln w="12700">
            <a:solidFill>
              <a:srgbClr val="CFD5D9"/>
            </a:solidFill>
            <a:prstDash val="solid"/>
          </a:ln>
        </p:spPr>
      </p:sp>
      <p:sp>
        <p:nvSpPr>
          <p:cNvPr id="10" name="Text 8"/>
          <p:cNvSpPr txBox="1"/>
          <p:nvPr/>
        </p:nvSpPr>
        <p:spPr>
          <a:xfrm>
            <a:off x="896112" y="4206240"/>
            <a:ext cx="457200" cy="475488"/>
          </a:xfrm>
          <a:prstGeom prst="rect">
            <a:avLst/>
          </a:prstGeom>
          <a:noFill/>
          <a:ln/>
        </p:spPr>
        <p:txBody>
          <a:bodyPr wrap="square" lIns="0" tIns="0" rIns="0" bIns="0" rtlCol="0" anchor="ctr"/>
          <a:lstStyle/>
          <a:p>
            <a:pPr indent="0" marL="0">
              <a:buNone/>
            </a:pPr>
            <a:r>
              <a:rPr lang="en-US" sz="1200" b="1" dirty="0">
                <a:solidFill>
                  <a:srgbClr val="177E89"/>
                </a:solidFill>
                <a:latin typeface="Calibri" pitchFamily="34" charset="0"/>
                <a:ea typeface="Calibri" pitchFamily="34" charset="-122"/>
                <a:cs typeface="Calibri" pitchFamily="34" charset="-120"/>
              </a:rPr>
              <a:t>02</a:t>
            </a:r>
            <a:endParaRPr lang="en-US" sz="1200" dirty="0"/>
          </a:p>
        </p:txBody>
      </p:sp>
      <p:sp>
        <p:nvSpPr>
          <p:cNvPr id="11" name="Text 9"/>
          <p:cNvSpPr txBox="1"/>
          <p:nvPr/>
        </p:nvSpPr>
        <p:spPr>
          <a:xfrm>
            <a:off x="1481328" y="4206240"/>
            <a:ext cx="4663440" cy="475488"/>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La etiqueta track</a:t>
            </a:r>
            <a:endParaRPr lang="en-US" sz="1200" dirty="0"/>
          </a:p>
        </p:txBody>
      </p:sp>
      <p:sp>
        <p:nvSpPr>
          <p:cNvPr id="12" name="Shape 10"/>
          <p:cNvSpPr/>
          <p:nvPr/>
        </p:nvSpPr>
        <p:spPr>
          <a:xfrm>
            <a:off x="685800" y="4754880"/>
            <a:ext cx="5577840" cy="475488"/>
          </a:xfrm>
          <a:prstGeom prst="roundRect">
            <a:avLst>
              <a:gd name="adj" fmla="val 19231"/>
            </a:avLst>
          </a:prstGeom>
          <a:solidFill>
            <a:srgbClr val="FFFFFF"/>
          </a:solidFill>
          <a:ln w="12700">
            <a:solidFill>
              <a:srgbClr val="CFD5D9"/>
            </a:solidFill>
            <a:prstDash val="solid"/>
          </a:ln>
        </p:spPr>
      </p:sp>
      <p:sp>
        <p:nvSpPr>
          <p:cNvPr id="13" name="Text 11"/>
          <p:cNvSpPr txBox="1"/>
          <p:nvPr/>
        </p:nvSpPr>
        <p:spPr>
          <a:xfrm>
            <a:off x="896112" y="4754880"/>
            <a:ext cx="457200" cy="475488"/>
          </a:xfrm>
          <a:prstGeom prst="rect">
            <a:avLst/>
          </a:prstGeom>
          <a:noFill/>
          <a:ln/>
        </p:spPr>
        <p:txBody>
          <a:bodyPr wrap="square" lIns="0" tIns="0" rIns="0" bIns="0" rtlCol="0" anchor="ctr"/>
          <a:lstStyle/>
          <a:p>
            <a:pPr indent="0" marL="0">
              <a:buNone/>
            </a:pPr>
            <a:r>
              <a:rPr lang="en-US" sz="1200" b="1" dirty="0">
                <a:solidFill>
                  <a:srgbClr val="177E89"/>
                </a:solidFill>
                <a:latin typeface="Calibri" pitchFamily="34" charset="0"/>
                <a:ea typeface="Calibri" pitchFamily="34" charset="-122"/>
                <a:cs typeface="Calibri" pitchFamily="34" charset="-120"/>
              </a:rPr>
              <a:t>03</a:t>
            </a:r>
            <a:endParaRPr lang="en-US" sz="1200" dirty="0"/>
          </a:p>
        </p:txBody>
      </p:sp>
      <p:sp>
        <p:nvSpPr>
          <p:cNvPr id="14" name="Text 12"/>
          <p:cNvSpPr txBox="1"/>
          <p:nvPr/>
        </p:nvSpPr>
        <p:spPr>
          <a:xfrm>
            <a:off x="1481328" y="4754880"/>
            <a:ext cx="4663440" cy="475488"/>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El archivo WebVTT</a:t>
            </a:r>
            <a:endParaRPr lang="en-US" sz="1200" dirty="0"/>
          </a:p>
        </p:txBody>
      </p:sp>
      <p:sp>
        <p:nvSpPr>
          <p:cNvPr id="15" name="Shape 13"/>
          <p:cNvSpPr/>
          <p:nvPr/>
        </p:nvSpPr>
        <p:spPr>
          <a:xfrm>
            <a:off x="685800" y="5303520"/>
            <a:ext cx="5577840" cy="475488"/>
          </a:xfrm>
          <a:prstGeom prst="roundRect">
            <a:avLst>
              <a:gd name="adj" fmla="val 19231"/>
            </a:avLst>
          </a:prstGeom>
          <a:solidFill>
            <a:srgbClr val="FFFFFF"/>
          </a:solidFill>
          <a:ln w="12700">
            <a:solidFill>
              <a:srgbClr val="CFD5D9"/>
            </a:solidFill>
            <a:prstDash val="solid"/>
          </a:ln>
        </p:spPr>
      </p:sp>
      <p:sp>
        <p:nvSpPr>
          <p:cNvPr id="16" name="Text 14"/>
          <p:cNvSpPr txBox="1"/>
          <p:nvPr/>
        </p:nvSpPr>
        <p:spPr>
          <a:xfrm>
            <a:off x="896112" y="5303520"/>
            <a:ext cx="457200" cy="475488"/>
          </a:xfrm>
          <a:prstGeom prst="rect">
            <a:avLst/>
          </a:prstGeom>
          <a:noFill/>
          <a:ln/>
        </p:spPr>
        <p:txBody>
          <a:bodyPr wrap="square" lIns="0" tIns="0" rIns="0" bIns="0" rtlCol="0" anchor="ctr"/>
          <a:lstStyle/>
          <a:p>
            <a:pPr indent="0" marL="0">
              <a:buNone/>
            </a:pPr>
            <a:r>
              <a:rPr lang="en-US" sz="1200" b="1" dirty="0">
                <a:solidFill>
                  <a:srgbClr val="177E89"/>
                </a:solidFill>
                <a:latin typeface="Calibri" pitchFamily="34" charset="0"/>
                <a:ea typeface="Calibri" pitchFamily="34" charset="-122"/>
                <a:cs typeface="Calibri" pitchFamily="34" charset="-120"/>
              </a:rPr>
              <a:t>04</a:t>
            </a:r>
            <a:endParaRPr lang="en-US" sz="1200" dirty="0"/>
          </a:p>
        </p:txBody>
      </p:sp>
      <p:sp>
        <p:nvSpPr>
          <p:cNvPr id="17" name="Text 15"/>
          <p:cNvSpPr txBox="1"/>
          <p:nvPr/>
        </p:nvSpPr>
        <p:spPr>
          <a:xfrm>
            <a:off x="1481328" y="5303520"/>
            <a:ext cx="4663440" cy="475488"/>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Transcripción del audio</a:t>
            </a:r>
            <a:endParaRPr lang="en-US" sz="1200" dirty="0"/>
          </a:p>
        </p:txBody>
      </p:sp>
      <p:sp>
        <p:nvSpPr>
          <p:cNvPr id="18" name="Shape 16"/>
          <p:cNvSpPr/>
          <p:nvPr/>
        </p:nvSpPr>
        <p:spPr>
          <a:xfrm>
            <a:off x="685800" y="5852160"/>
            <a:ext cx="5577840" cy="475488"/>
          </a:xfrm>
          <a:prstGeom prst="roundRect">
            <a:avLst>
              <a:gd name="adj" fmla="val 19231"/>
            </a:avLst>
          </a:prstGeom>
          <a:solidFill>
            <a:srgbClr val="FFFFFF"/>
          </a:solidFill>
          <a:ln w="12700">
            <a:solidFill>
              <a:srgbClr val="CFD5D9"/>
            </a:solidFill>
            <a:prstDash val="solid"/>
          </a:ln>
        </p:spPr>
      </p:sp>
      <p:sp>
        <p:nvSpPr>
          <p:cNvPr id="19" name="Text 17"/>
          <p:cNvSpPr txBox="1"/>
          <p:nvPr/>
        </p:nvSpPr>
        <p:spPr>
          <a:xfrm>
            <a:off x="896112" y="5852160"/>
            <a:ext cx="457200" cy="475488"/>
          </a:xfrm>
          <a:prstGeom prst="rect">
            <a:avLst/>
          </a:prstGeom>
          <a:noFill/>
          <a:ln/>
        </p:spPr>
        <p:txBody>
          <a:bodyPr wrap="square" lIns="0" tIns="0" rIns="0" bIns="0" rtlCol="0" anchor="ctr"/>
          <a:lstStyle/>
          <a:p>
            <a:pPr indent="0" marL="0">
              <a:buNone/>
            </a:pPr>
            <a:r>
              <a:rPr lang="en-US" sz="1200" b="1" dirty="0">
                <a:solidFill>
                  <a:srgbClr val="177E89"/>
                </a:solidFill>
                <a:latin typeface="Calibri" pitchFamily="34" charset="0"/>
                <a:ea typeface="Calibri" pitchFamily="34" charset="-122"/>
                <a:cs typeface="Calibri" pitchFamily="34" charset="-120"/>
              </a:rPr>
              <a:t>05</a:t>
            </a:r>
            <a:endParaRPr lang="en-US" sz="1200" dirty="0"/>
          </a:p>
        </p:txBody>
      </p:sp>
      <p:sp>
        <p:nvSpPr>
          <p:cNvPr id="20" name="Text 18"/>
          <p:cNvSpPr txBox="1"/>
          <p:nvPr/>
        </p:nvSpPr>
        <p:spPr>
          <a:xfrm>
            <a:off x="1481328" y="5852160"/>
            <a:ext cx="4663440" cy="475488"/>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Lista de comprobación</a:t>
            </a:r>
            <a:endParaRPr lang="en-US" sz="1200" dirty="0"/>
          </a:p>
        </p:txBody>
      </p:sp>
      <p:sp>
        <p:nvSpPr>
          <p:cNvPr id="21" name="Shape 19"/>
          <p:cNvSpPr/>
          <p:nvPr/>
        </p:nvSpPr>
        <p:spPr>
          <a:xfrm>
            <a:off x="6766560" y="1234440"/>
            <a:ext cx="5166360" cy="5257800"/>
          </a:xfrm>
          <a:prstGeom prst="roundRect">
            <a:avLst>
              <a:gd name="adj" fmla="val 2124"/>
            </a:avLst>
          </a:prstGeom>
          <a:solidFill>
            <a:srgbClr val="FFFFFF"/>
          </a:solidFill>
          <a:ln w="12700">
            <a:solidFill>
              <a:srgbClr val="CFD5D9"/>
            </a:solidFill>
            <a:prstDash val="solid"/>
          </a:ln>
        </p:spPr>
      </p:sp>
      <p:pic>
        <p:nvPicPr>
          <p:cNvPr id="22" name="Image 0" descr="Persona programando frente a un monitor">    </p:cNvPr>
          <p:cNvPicPr>
            <a:picLocks noChangeAspect="1"/>
          </p:cNvPicPr>
          <p:nvPr/>
        </p:nvPicPr>
        <p:blipFill>
          <a:blip r:embed="rId1"/>
          <a:srcRect l="0" r="0" t="0" b="0"/>
          <a:stretch/>
        </p:blipFill>
        <p:spPr>
          <a:xfrm>
            <a:off x="6903720" y="1362456"/>
            <a:ext cx="4892040" cy="5001768"/>
          </a:xfrm>
          <a:prstGeom prst="rect">
            <a:avLst/>
          </a:prstGeom>
        </p:spPr>
      </p:pic>
      <p:sp>
        <p:nvSpPr>
          <p:cNvPr id="23" name="Text 20"/>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28 / 48</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indent="0" marL="0">
              <a:buNone/>
            </a:pPr>
            <a:r>
              <a:rPr lang="en-US" sz="1050" b="1" spc="300" kern="0" dirty="0">
                <a:solidFill>
                  <a:srgbClr val="177E89"/>
                </a:solidFill>
                <a:latin typeface="Calibri" pitchFamily="34" charset="0"/>
                <a:ea typeface="Calibri" pitchFamily="34" charset="-122"/>
                <a:cs typeface="Calibri" pitchFamily="34" charset="-120"/>
              </a:rPr>
              <a:t>04 · ACCESIBILIDAD</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&lt;track&gt;: subtítulos para tu video</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indent="0" marL="0">
              <a:buNone/>
            </a:pPr>
            <a:r>
              <a:rPr lang="en-US" sz="1250" dirty="0">
                <a:solidFill>
                  <a:srgbClr val="5F676C"/>
                </a:solidFill>
                <a:latin typeface="Calibri" pitchFamily="34" charset="0"/>
                <a:ea typeface="Calibri" pitchFamily="34" charset="-122"/>
                <a:cs typeface="Calibri" pitchFamily="34" charset="-120"/>
              </a:rPr>
              <a:t>Sirven a personas sordas y a cualquiera que mire sin sonido. Van dentro de &lt;video&gt;, después de las fuentes.</a:t>
            </a:r>
            <a:endParaRPr lang="en-US" sz="1250" dirty="0"/>
          </a:p>
        </p:txBody>
      </p:sp>
      <p:sp>
        <p:nvSpPr>
          <p:cNvPr id="5" name="Shape 3"/>
          <p:cNvSpPr/>
          <p:nvPr/>
        </p:nvSpPr>
        <p:spPr>
          <a:xfrm>
            <a:off x="640080" y="2615184"/>
            <a:ext cx="6035040" cy="2697480"/>
          </a:xfrm>
          <a:prstGeom prst="roundRect">
            <a:avLst>
              <a:gd name="adj" fmla="val 3390"/>
            </a:avLst>
          </a:prstGeom>
          <a:solidFill>
            <a:srgbClr val="2B2B2B"/>
          </a:solidFill>
          <a:ln w="12700">
            <a:solidFill>
              <a:srgbClr val="2B2B2B"/>
            </a:solidFill>
            <a:prstDash val="solid"/>
          </a:ln>
        </p:spPr>
      </p:sp>
      <p:sp>
        <p:nvSpPr>
          <p:cNvPr id="6" name="Text 4"/>
          <p:cNvSpPr txBox="1"/>
          <p:nvPr/>
        </p:nvSpPr>
        <p:spPr>
          <a:xfrm>
            <a:off x="868680" y="2779776"/>
            <a:ext cx="5577840" cy="2368296"/>
          </a:xfrm>
          <a:prstGeom prst="rect">
            <a:avLst/>
          </a:prstGeom>
          <a:noFill/>
          <a:ln/>
        </p:spPr>
        <p:txBody>
          <a:bodyPr wrap="square" lIns="0" tIns="0" rIns="0" bIns="0" rtlCol="0" anchor="t"/>
          <a:lstStyle/>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&lt;video controls&gt;</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&lt;source src="…/presentacion.mp4" type="video/mp4" /&gt;</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a:t>
            </a:r>
            <a:pPr indent="0" marL="0">
              <a:lnSpc>
                <a:spcPct val="125000"/>
              </a:lnSpc>
              <a:buNone/>
            </a:pPr>
            <a:r>
              <a:rPr lang="en-US" sz="1100" b="1" dirty="0">
                <a:solidFill>
                  <a:srgbClr val="8FE1E8"/>
                </a:solidFill>
                <a:latin typeface="Consolas" pitchFamily="34" charset="0"/>
                <a:ea typeface="Consolas" pitchFamily="34" charset="-122"/>
                <a:cs typeface="Consolas" pitchFamily="34" charset="-120"/>
              </a:rPr>
              <a:t>&lt;track</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kind="subtitles"</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src="assets/media/video/presentacion.es.vtt"</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srclang="es"</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label="Español"</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default</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/&gt;</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&lt;/video&gt;</a:t>
            </a:r>
            <a:endParaRPr lang="en-US" sz="1100" dirty="0"/>
          </a:p>
        </p:txBody>
      </p:sp>
      <p:sp>
        <p:nvSpPr>
          <p:cNvPr id="7" name="Shape 5"/>
          <p:cNvSpPr/>
          <p:nvPr/>
        </p:nvSpPr>
        <p:spPr>
          <a:xfrm>
            <a:off x="6903720" y="2615184"/>
            <a:ext cx="4663440" cy="512064"/>
          </a:xfrm>
          <a:prstGeom prst="roundRect">
            <a:avLst>
              <a:gd name="adj" fmla="val 17857"/>
            </a:avLst>
          </a:prstGeom>
          <a:solidFill>
            <a:srgbClr val="FFFFFF"/>
          </a:solidFill>
          <a:ln w="12700">
            <a:solidFill>
              <a:srgbClr val="CFD5D9"/>
            </a:solidFill>
            <a:prstDash val="solid"/>
          </a:ln>
        </p:spPr>
      </p:sp>
      <p:sp>
        <p:nvSpPr>
          <p:cNvPr id="8" name="Text 6"/>
          <p:cNvSpPr txBox="1"/>
          <p:nvPr/>
        </p:nvSpPr>
        <p:spPr>
          <a:xfrm>
            <a:off x="7178040" y="2615184"/>
            <a:ext cx="1005840" cy="512064"/>
          </a:xfrm>
          <a:prstGeom prst="rect">
            <a:avLst/>
          </a:prstGeom>
          <a:noFill/>
          <a:ln/>
        </p:spPr>
        <p:txBody>
          <a:bodyPr wrap="square" lIns="0" tIns="0" rIns="0" bIns="0" rtlCol="0" anchor="ctr"/>
          <a:lstStyle/>
          <a:p>
            <a:pPr indent="0" marL="0">
              <a:buNone/>
            </a:pPr>
            <a:r>
              <a:rPr lang="en-US" sz="1150" b="1" dirty="0">
                <a:solidFill>
                  <a:srgbClr val="177E89"/>
                </a:solidFill>
                <a:latin typeface="Consolas" pitchFamily="34" charset="0"/>
                <a:ea typeface="Consolas" pitchFamily="34" charset="-122"/>
                <a:cs typeface="Consolas" pitchFamily="34" charset="-120"/>
              </a:rPr>
              <a:t>kind</a:t>
            </a:r>
            <a:endParaRPr lang="en-US" sz="1150" dirty="0"/>
          </a:p>
        </p:txBody>
      </p:sp>
      <p:sp>
        <p:nvSpPr>
          <p:cNvPr id="9" name="Text 7"/>
          <p:cNvSpPr txBox="1"/>
          <p:nvPr/>
        </p:nvSpPr>
        <p:spPr>
          <a:xfrm>
            <a:off x="8183880" y="2615184"/>
            <a:ext cx="3108960" cy="512064"/>
          </a:xfrm>
          <a:prstGeom prst="rect">
            <a:avLst/>
          </a:prstGeom>
          <a:noFill/>
          <a:ln/>
        </p:spPr>
        <p:txBody>
          <a:bodyPr wrap="square" lIns="0" tIns="0" rIns="0" bIns="0" rtlCol="0" anchor="ctr"/>
          <a:lstStyle/>
          <a:p>
            <a:pPr indent="0" marL="0">
              <a:buNone/>
            </a:pPr>
            <a:r>
              <a:rPr lang="en-US" sz="1050" dirty="0">
                <a:solidFill>
                  <a:srgbClr val="33393D"/>
                </a:solidFill>
                <a:latin typeface="Calibri" pitchFamily="34" charset="0"/>
                <a:ea typeface="Calibri" pitchFamily="34" charset="-122"/>
                <a:cs typeface="Calibri" pitchFamily="34" charset="-120"/>
              </a:rPr>
              <a:t>subtitles para el diálogo; captions si además describe sonidos.</a:t>
            </a:r>
            <a:endParaRPr lang="en-US" sz="1050" dirty="0"/>
          </a:p>
        </p:txBody>
      </p:sp>
      <p:sp>
        <p:nvSpPr>
          <p:cNvPr id="10" name="Shape 8"/>
          <p:cNvSpPr/>
          <p:nvPr/>
        </p:nvSpPr>
        <p:spPr>
          <a:xfrm>
            <a:off x="6903720" y="3195828"/>
            <a:ext cx="4663440" cy="512064"/>
          </a:xfrm>
          <a:prstGeom prst="roundRect">
            <a:avLst>
              <a:gd name="adj" fmla="val 17857"/>
            </a:avLst>
          </a:prstGeom>
          <a:solidFill>
            <a:srgbClr val="FFFFFF"/>
          </a:solidFill>
          <a:ln w="12700">
            <a:solidFill>
              <a:srgbClr val="CFD5D9"/>
            </a:solidFill>
            <a:prstDash val="solid"/>
          </a:ln>
        </p:spPr>
      </p:sp>
      <p:sp>
        <p:nvSpPr>
          <p:cNvPr id="11" name="Text 9"/>
          <p:cNvSpPr txBox="1"/>
          <p:nvPr/>
        </p:nvSpPr>
        <p:spPr>
          <a:xfrm>
            <a:off x="7178040" y="3195828"/>
            <a:ext cx="1005840" cy="512064"/>
          </a:xfrm>
          <a:prstGeom prst="rect">
            <a:avLst/>
          </a:prstGeom>
          <a:noFill/>
          <a:ln/>
        </p:spPr>
        <p:txBody>
          <a:bodyPr wrap="square" lIns="0" tIns="0" rIns="0" bIns="0" rtlCol="0" anchor="ctr"/>
          <a:lstStyle/>
          <a:p>
            <a:pPr indent="0" marL="0">
              <a:buNone/>
            </a:pPr>
            <a:r>
              <a:rPr lang="en-US" sz="1150" b="1" dirty="0">
                <a:solidFill>
                  <a:srgbClr val="177E89"/>
                </a:solidFill>
                <a:latin typeface="Consolas" pitchFamily="34" charset="0"/>
                <a:ea typeface="Consolas" pitchFamily="34" charset="-122"/>
                <a:cs typeface="Consolas" pitchFamily="34" charset="-120"/>
              </a:rPr>
              <a:t>src</a:t>
            </a:r>
            <a:endParaRPr lang="en-US" sz="1150" dirty="0"/>
          </a:p>
        </p:txBody>
      </p:sp>
      <p:sp>
        <p:nvSpPr>
          <p:cNvPr id="12" name="Text 10"/>
          <p:cNvSpPr txBox="1"/>
          <p:nvPr/>
        </p:nvSpPr>
        <p:spPr>
          <a:xfrm>
            <a:off x="8183880" y="3195828"/>
            <a:ext cx="3108960" cy="512064"/>
          </a:xfrm>
          <a:prstGeom prst="rect">
            <a:avLst/>
          </a:prstGeom>
          <a:noFill/>
          <a:ln/>
        </p:spPr>
        <p:txBody>
          <a:bodyPr wrap="square" lIns="0" tIns="0" rIns="0" bIns="0" rtlCol="0" anchor="ctr"/>
          <a:lstStyle/>
          <a:p>
            <a:pPr indent="0" marL="0">
              <a:buNone/>
            </a:pPr>
            <a:r>
              <a:rPr lang="en-US" sz="1050" dirty="0">
                <a:solidFill>
                  <a:srgbClr val="33393D"/>
                </a:solidFill>
                <a:latin typeface="Calibri" pitchFamily="34" charset="0"/>
                <a:ea typeface="Calibri" pitchFamily="34" charset="-122"/>
                <a:cs typeface="Calibri" pitchFamily="34" charset="-120"/>
              </a:rPr>
              <a:t>La ruta del archivo de texto .vtt.</a:t>
            </a:r>
            <a:endParaRPr lang="en-US" sz="1050" dirty="0"/>
          </a:p>
        </p:txBody>
      </p:sp>
      <p:sp>
        <p:nvSpPr>
          <p:cNvPr id="13" name="Shape 11"/>
          <p:cNvSpPr/>
          <p:nvPr/>
        </p:nvSpPr>
        <p:spPr>
          <a:xfrm>
            <a:off x="6903720" y="3776472"/>
            <a:ext cx="4663440" cy="512064"/>
          </a:xfrm>
          <a:prstGeom prst="roundRect">
            <a:avLst>
              <a:gd name="adj" fmla="val 17857"/>
            </a:avLst>
          </a:prstGeom>
          <a:solidFill>
            <a:srgbClr val="FFFFFF"/>
          </a:solidFill>
          <a:ln w="12700">
            <a:solidFill>
              <a:srgbClr val="CFD5D9"/>
            </a:solidFill>
            <a:prstDash val="solid"/>
          </a:ln>
        </p:spPr>
      </p:sp>
      <p:sp>
        <p:nvSpPr>
          <p:cNvPr id="14" name="Text 12"/>
          <p:cNvSpPr txBox="1"/>
          <p:nvPr/>
        </p:nvSpPr>
        <p:spPr>
          <a:xfrm>
            <a:off x="7178040" y="3776472"/>
            <a:ext cx="1005840" cy="512064"/>
          </a:xfrm>
          <a:prstGeom prst="rect">
            <a:avLst/>
          </a:prstGeom>
          <a:noFill/>
          <a:ln/>
        </p:spPr>
        <p:txBody>
          <a:bodyPr wrap="square" lIns="0" tIns="0" rIns="0" bIns="0" rtlCol="0" anchor="ctr"/>
          <a:lstStyle/>
          <a:p>
            <a:pPr indent="0" marL="0">
              <a:buNone/>
            </a:pPr>
            <a:r>
              <a:rPr lang="en-US" sz="1150" b="1" dirty="0">
                <a:solidFill>
                  <a:srgbClr val="177E89"/>
                </a:solidFill>
                <a:latin typeface="Consolas" pitchFamily="34" charset="0"/>
                <a:ea typeface="Consolas" pitchFamily="34" charset="-122"/>
                <a:cs typeface="Consolas" pitchFamily="34" charset="-120"/>
              </a:rPr>
              <a:t>srclang</a:t>
            </a:r>
            <a:endParaRPr lang="en-US" sz="1150" dirty="0"/>
          </a:p>
        </p:txBody>
      </p:sp>
      <p:sp>
        <p:nvSpPr>
          <p:cNvPr id="15" name="Text 13"/>
          <p:cNvSpPr txBox="1"/>
          <p:nvPr/>
        </p:nvSpPr>
        <p:spPr>
          <a:xfrm>
            <a:off x="8183880" y="3776472"/>
            <a:ext cx="3108960" cy="512064"/>
          </a:xfrm>
          <a:prstGeom prst="rect">
            <a:avLst/>
          </a:prstGeom>
          <a:noFill/>
          <a:ln/>
        </p:spPr>
        <p:txBody>
          <a:bodyPr wrap="square" lIns="0" tIns="0" rIns="0" bIns="0" rtlCol="0" anchor="ctr"/>
          <a:lstStyle/>
          <a:p>
            <a:pPr indent="0" marL="0">
              <a:buNone/>
            </a:pPr>
            <a:r>
              <a:rPr lang="en-US" sz="1050" dirty="0">
                <a:solidFill>
                  <a:srgbClr val="33393D"/>
                </a:solidFill>
                <a:latin typeface="Calibri" pitchFamily="34" charset="0"/>
                <a:ea typeface="Calibri" pitchFamily="34" charset="-122"/>
                <a:cs typeface="Calibri" pitchFamily="34" charset="-120"/>
              </a:rPr>
              <a:t>El idioma, con su código: es, en, pt.</a:t>
            </a:r>
            <a:endParaRPr lang="en-US" sz="1050" dirty="0"/>
          </a:p>
        </p:txBody>
      </p:sp>
      <p:sp>
        <p:nvSpPr>
          <p:cNvPr id="16" name="Shape 14"/>
          <p:cNvSpPr/>
          <p:nvPr/>
        </p:nvSpPr>
        <p:spPr>
          <a:xfrm>
            <a:off x="6903720" y="4357116"/>
            <a:ext cx="4663440" cy="512064"/>
          </a:xfrm>
          <a:prstGeom prst="roundRect">
            <a:avLst>
              <a:gd name="adj" fmla="val 17857"/>
            </a:avLst>
          </a:prstGeom>
          <a:solidFill>
            <a:srgbClr val="FFFFFF"/>
          </a:solidFill>
          <a:ln w="12700">
            <a:solidFill>
              <a:srgbClr val="CFD5D9"/>
            </a:solidFill>
            <a:prstDash val="solid"/>
          </a:ln>
        </p:spPr>
      </p:sp>
      <p:sp>
        <p:nvSpPr>
          <p:cNvPr id="17" name="Text 15"/>
          <p:cNvSpPr txBox="1"/>
          <p:nvPr/>
        </p:nvSpPr>
        <p:spPr>
          <a:xfrm>
            <a:off x="7178040" y="4357116"/>
            <a:ext cx="1005840" cy="512064"/>
          </a:xfrm>
          <a:prstGeom prst="rect">
            <a:avLst/>
          </a:prstGeom>
          <a:noFill/>
          <a:ln/>
        </p:spPr>
        <p:txBody>
          <a:bodyPr wrap="square" lIns="0" tIns="0" rIns="0" bIns="0" rtlCol="0" anchor="ctr"/>
          <a:lstStyle/>
          <a:p>
            <a:pPr indent="0" marL="0">
              <a:buNone/>
            </a:pPr>
            <a:r>
              <a:rPr lang="en-US" sz="1150" b="1" dirty="0">
                <a:solidFill>
                  <a:srgbClr val="177E89"/>
                </a:solidFill>
                <a:latin typeface="Consolas" pitchFamily="34" charset="0"/>
                <a:ea typeface="Consolas" pitchFamily="34" charset="-122"/>
                <a:cs typeface="Consolas" pitchFamily="34" charset="-120"/>
              </a:rPr>
              <a:t>label</a:t>
            </a:r>
            <a:endParaRPr lang="en-US" sz="1150" dirty="0"/>
          </a:p>
        </p:txBody>
      </p:sp>
      <p:sp>
        <p:nvSpPr>
          <p:cNvPr id="18" name="Text 16"/>
          <p:cNvSpPr txBox="1"/>
          <p:nvPr/>
        </p:nvSpPr>
        <p:spPr>
          <a:xfrm>
            <a:off x="8183880" y="4357116"/>
            <a:ext cx="3108960" cy="512064"/>
          </a:xfrm>
          <a:prstGeom prst="rect">
            <a:avLst/>
          </a:prstGeom>
          <a:noFill/>
          <a:ln/>
        </p:spPr>
        <p:txBody>
          <a:bodyPr wrap="square" lIns="0" tIns="0" rIns="0" bIns="0" rtlCol="0" anchor="ctr"/>
          <a:lstStyle/>
          <a:p>
            <a:pPr indent="0" marL="0">
              <a:buNone/>
            </a:pPr>
            <a:r>
              <a:rPr lang="en-US" sz="1050" dirty="0">
                <a:solidFill>
                  <a:srgbClr val="33393D"/>
                </a:solidFill>
                <a:latin typeface="Calibri" pitchFamily="34" charset="0"/>
                <a:ea typeface="Calibri" pitchFamily="34" charset="-122"/>
                <a:cs typeface="Calibri" pitchFamily="34" charset="-120"/>
              </a:rPr>
              <a:t>El nombre que aparece en el menú de subtítulos.</a:t>
            </a:r>
            <a:endParaRPr lang="en-US" sz="1050" dirty="0"/>
          </a:p>
        </p:txBody>
      </p:sp>
      <p:sp>
        <p:nvSpPr>
          <p:cNvPr id="19" name="Shape 17"/>
          <p:cNvSpPr/>
          <p:nvPr/>
        </p:nvSpPr>
        <p:spPr>
          <a:xfrm>
            <a:off x="6903720" y="4937760"/>
            <a:ext cx="4663440" cy="512064"/>
          </a:xfrm>
          <a:prstGeom prst="roundRect">
            <a:avLst>
              <a:gd name="adj" fmla="val 17857"/>
            </a:avLst>
          </a:prstGeom>
          <a:solidFill>
            <a:srgbClr val="FFFFFF"/>
          </a:solidFill>
          <a:ln w="12700">
            <a:solidFill>
              <a:srgbClr val="CFD5D9"/>
            </a:solidFill>
            <a:prstDash val="solid"/>
          </a:ln>
        </p:spPr>
      </p:sp>
      <p:sp>
        <p:nvSpPr>
          <p:cNvPr id="20" name="Text 18"/>
          <p:cNvSpPr txBox="1"/>
          <p:nvPr/>
        </p:nvSpPr>
        <p:spPr>
          <a:xfrm>
            <a:off x="7178040" y="4937760"/>
            <a:ext cx="1005840" cy="512064"/>
          </a:xfrm>
          <a:prstGeom prst="rect">
            <a:avLst/>
          </a:prstGeom>
          <a:noFill/>
          <a:ln/>
        </p:spPr>
        <p:txBody>
          <a:bodyPr wrap="square" lIns="0" tIns="0" rIns="0" bIns="0" rtlCol="0" anchor="ctr"/>
          <a:lstStyle/>
          <a:p>
            <a:pPr indent="0" marL="0">
              <a:buNone/>
            </a:pPr>
            <a:r>
              <a:rPr lang="en-US" sz="1150" b="1" dirty="0">
                <a:solidFill>
                  <a:srgbClr val="177E89"/>
                </a:solidFill>
                <a:latin typeface="Consolas" pitchFamily="34" charset="0"/>
                <a:ea typeface="Consolas" pitchFamily="34" charset="-122"/>
                <a:cs typeface="Consolas" pitchFamily="34" charset="-120"/>
              </a:rPr>
              <a:t>default</a:t>
            </a:r>
            <a:endParaRPr lang="en-US" sz="1150" dirty="0"/>
          </a:p>
        </p:txBody>
      </p:sp>
      <p:sp>
        <p:nvSpPr>
          <p:cNvPr id="21" name="Text 19"/>
          <p:cNvSpPr txBox="1"/>
          <p:nvPr/>
        </p:nvSpPr>
        <p:spPr>
          <a:xfrm>
            <a:off x="8183880" y="4937760"/>
            <a:ext cx="3108960" cy="512064"/>
          </a:xfrm>
          <a:prstGeom prst="rect">
            <a:avLst/>
          </a:prstGeom>
          <a:noFill/>
          <a:ln/>
        </p:spPr>
        <p:txBody>
          <a:bodyPr wrap="square" lIns="0" tIns="0" rIns="0" bIns="0" rtlCol="0" anchor="ctr"/>
          <a:lstStyle/>
          <a:p>
            <a:pPr indent="0" marL="0">
              <a:buNone/>
            </a:pPr>
            <a:r>
              <a:rPr lang="en-US" sz="1050" dirty="0">
                <a:solidFill>
                  <a:srgbClr val="33393D"/>
                </a:solidFill>
                <a:latin typeface="Calibri" pitchFamily="34" charset="0"/>
                <a:ea typeface="Calibri" pitchFamily="34" charset="-122"/>
                <a:cs typeface="Calibri" pitchFamily="34" charset="-120"/>
              </a:rPr>
              <a:t>Los deja activados desde el inicio.</a:t>
            </a:r>
            <a:endParaRPr lang="en-US" sz="1050" dirty="0"/>
          </a:p>
        </p:txBody>
      </p:sp>
      <p:sp>
        <p:nvSpPr>
          <p:cNvPr id="22" name="Text 20"/>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29 / 48</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indent="0" marL="0">
              <a:buNone/>
            </a:pPr>
            <a:r>
              <a:rPr lang="en-US" sz="1050" b="1" spc="300" kern="0" dirty="0">
                <a:solidFill>
                  <a:srgbClr val="177E89"/>
                </a:solidFill>
                <a:latin typeface="Calibri" pitchFamily="34" charset="0"/>
                <a:ea typeface="Calibri" pitchFamily="34" charset="-122"/>
                <a:cs typeface="Calibri" pitchFamily="34" charset="-120"/>
              </a:rPr>
              <a:t>04 · ACCESIBILIDAD</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WebVTT: un archivo de texto con tiempos</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indent="0" marL="0">
              <a:buNone/>
            </a:pPr>
            <a:r>
              <a:rPr lang="en-US" sz="1250" dirty="0">
                <a:solidFill>
                  <a:srgbClr val="5F676C"/>
                </a:solidFill>
                <a:latin typeface="Calibri" pitchFamily="34" charset="0"/>
                <a:ea typeface="Calibri" pitchFamily="34" charset="-122"/>
                <a:cs typeface="Calibri" pitchFamily="34" charset="-120"/>
              </a:rPr>
              <a:t>Se escribe en VS Code y se guarda con la extensión .vtt.</a:t>
            </a:r>
            <a:endParaRPr lang="en-US" sz="1250" dirty="0"/>
          </a:p>
        </p:txBody>
      </p:sp>
      <p:sp>
        <p:nvSpPr>
          <p:cNvPr id="5" name="Shape 3"/>
          <p:cNvSpPr/>
          <p:nvPr/>
        </p:nvSpPr>
        <p:spPr>
          <a:xfrm>
            <a:off x="640080" y="2615184"/>
            <a:ext cx="5394960" cy="2697480"/>
          </a:xfrm>
          <a:prstGeom prst="roundRect">
            <a:avLst>
              <a:gd name="adj" fmla="val 3390"/>
            </a:avLst>
          </a:prstGeom>
          <a:solidFill>
            <a:srgbClr val="2B2B2B"/>
          </a:solidFill>
          <a:ln w="12700">
            <a:solidFill>
              <a:srgbClr val="2B2B2B"/>
            </a:solidFill>
            <a:prstDash val="solid"/>
          </a:ln>
        </p:spPr>
      </p:sp>
      <p:sp>
        <p:nvSpPr>
          <p:cNvPr id="6" name="Text 4"/>
          <p:cNvSpPr txBox="1"/>
          <p:nvPr/>
        </p:nvSpPr>
        <p:spPr>
          <a:xfrm>
            <a:off x="868680" y="2779776"/>
            <a:ext cx="4937760" cy="2368296"/>
          </a:xfrm>
          <a:prstGeom prst="rect">
            <a:avLst/>
          </a:prstGeom>
          <a:noFill/>
          <a:ln/>
        </p:spPr>
        <p:txBody>
          <a:bodyPr wrap="square" lIns="0" tIns="0" rIns="0" bIns="0" rtlCol="0" anchor="t"/>
          <a:lstStyle/>
          <a:p>
            <a:pPr indent="0" marL="0">
              <a:lnSpc>
                <a:spcPct val="125000"/>
              </a:lnSpc>
              <a:buNone/>
            </a:pPr>
            <a:r>
              <a:rPr lang="en-US" sz="1100" b="1" dirty="0">
                <a:solidFill>
                  <a:srgbClr val="8FE1E8"/>
                </a:solidFill>
                <a:latin typeface="Consolas" pitchFamily="34" charset="0"/>
                <a:ea typeface="Consolas" pitchFamily="34" charset="-122"/>
                <a:cs typeface="Consolas" pitchFamily="34" charset="-120"/>
              </a:rPr>
              <a:t>WEBVTT</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00:00.000 </a:t>
            </a:r>
            <a:pPr indent="0" marL="0">
              <a:lnSpc>
                <a:spcPct val="125000"/>
              </a:lnSpc>
              <a:buNone/>
            </a:pPr>
            <a:r>
              <a:rPr lang="en-US" sz="1100" b="1" dirty="0">
                <a:solidFill>
                  <a:srgbClr val="8FE1E8"/>
                </a:solidFill>
                <a:latin typeface="Consolas" pitchFamily="34" charset="0"/>
                <a:ea typeface="Consolas" pitchFamily="34" charset="-122"/>
                <a:cs typeface="Consolas" pitchFamily="34" charset="-120"/>
              </a:rPr>
              <a:t>--&gt;</a:t>
            </a:r>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00:03.500</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Hola, soy Dagner Chuman.</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00:03.500 </a:t>
            </a:r>
            <a:pPr indent="0" marL="0">
              <a:lnSpc>
                <a:spcPct val="125000"/>
              </a:lnSpc>
              <a:buNone/>
            </a:pPr>
            <a:r>
              <a:rPr lang="en-US" sz="1100" b="1" dirty="0">
                <a:solidFill>
                  <a:srgbClr val="8FE1E8"/>
                </a:solidFill>
                <a:latin typeface="Consolas" pitchFamily="34" charset="0"/>
                <a:ea typeface="Consolas" pitchFamily="34" charset="-122"/>
                <a:cs typeface="Consolas" pitchFamily="34" charset="-120"/>
              </a:rPr>
              <a:t>--&gt;</a:t>
            </a:r>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00:07.500</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Docente e ingeniero enfocado en el desarrollo web.</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00:07.500 </a:t>
            </a:r>
            <a:pPr indent="0" marL="0">
              <a:lnSpc>
                <a:spcPct val="125000"/>
              </a:lnSpc>
              <a:buNone/>
            </a:pPr>
            <a:r>
              <a:rPr lang="en-US" sz="1100" b="1" dirty="0">
                <a:solidFill>
                  <a:srgbClr val="8FE1E8"/>
                </a:solidFill>
                <a:latin typeface="Consolas" pitchFamily="34" charset="0"/>
                <a:ea typeface="Consolas" pitchFamily="34" charset="-122"/>
                <a:cs typeface="Consolas" pitchFamily="34" charset="-120"/>
              </a:rPr>
              <a:t>--&gt;</a:t>
            </a:r>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00:11.000</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Bienvenido a mi portafolio.</a:t>
            </a:r>
            <a:endParaRPr lang="en-US" sz="1100" dirty="0"/>
          </a:p>
        </p:txBody>
      </p:sp>
      <p:sp>
        <p:nvSpPr>
          <p:cNvPr id="7" name="Shape 5"/>
          <p:cNvSpPr/>
          <p:nvPr/>
        </p:nvSpPr>
        <p:spPr>
          <a:xfrm>
            <a:off x="6263640" y="2615184"/>
            <a:ext cx="5303520" cy="603504"/>
          </a:xfrm>
          <a:prstGeom prst="roundRect">
            <a:avLst>
              <a:gd name="adj" fmla="val 15152"/>
            </a:avLst>
          </a:prstGeom>
          <a:solidFill>
            <a:srgbClr val="FFFFFF"/>
          </a:solidFill>
          <a:ln w="12700">
            <a:solidFill>
              <a:srgbClr val="CFD5D9"/>
            </a:solidFill>
            <a:prstDash val="solid"/>
          </a:ln>
        </p:spPr>
      </p:sp>
      <p:sp>
        <p:nvSpPr>
          <p:cNvPr id="8" name="Text 6"/>
          <p:cNvSpPr txBox="1"/>
          <p:nvPr/>
        </p:nvSpPr>
        <p:spPr>
          <a:xfrm>
            <a:off x="6537960" y="2615184"/>
            <a:ext cx="1463040" cy="603504"/>
          </a:xfrm>
          <a:prstGeom prst="rect">
            <a:avLst/>
          </a:prstGeom>
          <a:noFill/>
          <a:ln/>
        </p:spPr>
        <p:txBody>
          <a:bodyPr wrap="square" lIns="0" tIns="0" rIns="0" bIns="0" rtlCol="0" anchor="ctr"/>
          <a:lstStyle/>
          <a:p>
            <a:pPr indent="0" marL="0">
              <a:buNone/>
            </a:pPr>
            <a:r>
              <a:rPr lang="en-US" sz="1250" b="1" dirty="0">
                <a:solidFill>
                  <a:srgbClr val="177E89"/>
                </a:solidFill>
                <a:latin typeface="Calibri" pitchFamily="34" charset="0"/>
                <a:ea typeface="Calibri" pitchFamily="34" charset="-122"/>
                <a:cs typeface="Calibri" pitchFamily="34" charset="-120"/>
              </a:rPr>
              <a:t>Primera línea</a:t>
            </a:r>
            <a:endParaRPr lang="en-US" sz="1250" dirty="0"/>
          </a:p>
        </p:txBody>
      </p:sp>
      <p:sp>
        <p:nvSpPr>
          <p:cNvPr id="9" name="Text 7"/>
          <p:cNvSpPr txBox="1"/>
          <p:nvPr/>
        </p:nvSpPr>
        <p:spPr>
          <a:xfrm>
            <a:off x="8001000" y="2615184"/>
            <a:ext cx="3291840" cy="603504"/>
          </a:xfrm>
          <a:prstGeom prst="rect">
            <a:avLst/>
          </a:prstGeom>
          <a:noFill/>
          <a:ln/>
        </p:spPr>
        <p:txBody>
          <a:bodyPr wrap="square" lIns="0" tIns="0" rIns="0" bIns="0" rtlCol="0" anchor="ctr"/>
          <a:lstStyle/>
          <a:p>
            <a:pPr indent="0" marL="0">
              <a:buNone/>
            </a:pPr>
            <a:r>
              <a:rPr lang="en-US" sz="1150" dirty="0">
                <a:solidFill>
                  <a:srgbClr val="33393D"/>
                </a:solidFill>
                <a:latin typeface="Calibri" pitchFamily="34" charset="0"/>
                <a:ea typeface="Calibri" pitchFamily="34" charset="-122"/>
                <a:cs typeface="Calibri" pitchFamily="34" charset="-120"/>
              </a:rPr>
              <a:t>WEBVTT, en mayúsculas y sola.</a:t>
            </a:r>
            <a:endParaRPr lang="en-US" sz="1150" dirty="0"/>
          </a:p>
        </p:txBody>
      </p:sp>
      <p:sp>
        <p:nvSpPr>
          <p:cNvPr id="10" name="Shape 8"/>
          <p:cNvSpPr/>
          <p:nvPr/>
        </p:nvSpPr>
        <p:spPr>
          <a:xfrm>
            <a:off x="6263640" y="3312871"/>
            <a:ext cx="5303520" cy="603504"/>
          </a:xfrm>
          <a:prstGeom prst="roundRect">
            <a:avLst>
              <a:gd name="adj" fmla="val 15152"/>
            </a:avLst>
          </a:prstGeom>
          <a:solidFill>
            <a:srgbClr val="FFFFFF"/>
          </a:solidFill>
          <a:ln w="12700">
            <a:solidFill>
              <a:srgbClr val="CFD5D9"/>
            </a:solidFill>
            <a:prstDash val="solid"/>
          </a:ln>
        </p:spPr>
      </p:sp>
      <p:sp>
        <p:nvSpPr>
          <p:cNvPr id="11" name="Text 9"/>
          <p:cNvSpPr txBox="1"/>
          <p:nvPr/>
        </p:nvSpPr>
        <p:spPr>
          <a:xfrm>
            <a:off x="6537960" y="3312871"/>
            <a:ext cx="1463040" cy="603504"/>
          </a:xfrm>
          <a:prstGeom prst="rect">
            <a:avLst/>
          </a:prstGeom>
          <a:noFill/>
          <a:ln/>
        </p:spPr>
        <p:txBody>
          <a:bodyPr wrap="square" lIns="0" tIns="0" rIns="0" bIns="0" rtlCol="0" anchor="ctr"/>
          <a:lstStyle/>
          <a:p>
            <a:pPr indent="0" marL="0">
              <a:buNone/>
            </a:pPr>
            <a:r>
              <a:rPr lang="en-US" sz="1250" b="1" dirty="0">
                <a:solidFill>
                  <a:srgbClr val="177E89"/>
                </a:solidFill>
                <a:latin typeface="Calibri" pitchFamily="34" charset="0"/>
                <a:ea typeface="Calibri" pitchFamily="34" charset="-122"/>
                <a:cs typeface="Calibri" pitchFamily="34" charset="-120"/>
              </a:rPr>
              <a:t>Tiempos</a:t>
            </a:r>
            <a:endParaRPr lang="en-US" sz="1250" dirty="0"/>
          </a:p>
        </p:txBody>
      </p:sp>
      <p:sp>
        <p:nvSpPr>
          <p:cNvPr id="12" name="Text 10"/>
          <p:cNvSpPr txBox="1"/>
          <p:nvPr/>
        </p:nvSpPr>
        <p:spPr>
          <a:xfrm>
            <a:off x="8001000" y="3312871"/>
            <a:ext cx="3291840" cy="603504"/>
          </a:xfrm>
          <a:prstGeom prst="rect">
            <a:avLst/>
          </a:prstGeom>
          <a:noFill/>
          <a:ln/>
        </p:spPr>
        <p:txBody>
          <a:bodyPr wrap="square" lIns="0" tIns="0" rIns="0" bIns="0" rtlCol="0" anchor="ctr"/>
          <a:lstStyle/>
          <a:p>
            <a:pPr indent="0" marL="0">
              <a:buNone/>
            </a:pPr>
            <a:r>
              <a:rPr lang="en-US" sz="1150" dirty="0">
                <a:solidFill>
                  <a:srgbClr val="33393D"/>
                </a:solidFill>
                <a:latin typeface="Calibri" pitchFamily="34" charset="0"/>
                <a:ea typeface="Calibri" pitchFamily="34" charset="-122"/>
                <a:cs typeface="Calibri" pitchFamily="34" charset="-120"/>
              </a:rPr>
              <a:t>minutos:segundos.milésimas, con --&gt; en medio.</a:t>
            </a:r>
            <a:endParaRPr lang="en-US" sz="1150" dirty="0"/>
          </a:p>
        </p:txBody>
      </p:sp>
      <p:sp>
        <p:nvSpPr>
          <p:cNvPr id="13" name="Shape 11"/>
          <p:cNvSpPr/>
          <p:nvPr/>
        </p:nvSpPr>
        <p:spPr>
          <a:xfrm>
            <a:off x="6263640" y="4010558"/>
            <a:ext cx="5303520" cy="603504"/>
          </a:xfrm>
          <a:prstGeom prst="roundRect">
            <a:avLst>
              <a:gd name="adj" fmla="val 15152"/>
            </a:avLst>
          </a:prstGeom>
          <a:solidFill>
            <a:srgbClr val="FFFFFF"/>
          </a:solidFill>
          <a:ln w="12700">
            <a:solidFill>
              <a:srgbClr val="CFD5D9"/>
            </a:solidFill>
            <a:prstDash val="solid"/>
          </a:ln>
        </p:spPr>
      </p:sp>
      <p:sp>
        <p:nvSpPr>
          <p:cNvPr id="14" name="Text 12"/>
          <p:cNvSpPr txBox="1"/>
          <p:nvPr/>
        </p:nvSpPr>
        <p:spPr>
          <a:xfrm>
            <a:off x="6537960" y="4010558"/>
            <a:ext cx="1463040" cy="603504"/>
          </a:xfrm>
          <a:prstGeom prst="rect">
            <a:avLst/>
          </a:prstGeom>
          <a:noFill/>
          <a:ln/>
        </p:spPr>
        <p:txBody>
          <a:bodyPr wrap="square" lIns="0" tIns="0" rIns="0" bIns="0" rtlCol="0" anchor="ctr"/>
          <a:lstStyle/>
          <a:p>
            <a:pPr indent="0" marL="0">
              <a:buNone/>
            </a:pPr>
            <a:r>
              <a:rPr lang="en-US" sz="1250" b="1" dirty="0">
                <a:solidFill>
                  <a:srgbClr val="177E89"/>
                </a:solidFill>
                <a:latin typeface="Calibri" pitchFamily="34" charset="0"/>
                <a:ea typeface="Calibri" pitchFamily="34" charset="-122"/>
                <a:cs typeface="Calibri" pitchFamily="34" charset="-120"/>
              </a:rPr>
              <a:t>Texto</a:t>
            </a:r>
            <a:endParaRPr lang="en-US" sz="1250" dirty="0"/>
          </a:p>
        </p:txBody>
      </p:sp>
      <p:sp>
        <p:nvSpPr>
          <p:cNvPr id="15" name="Text 13"/>
          <p:cNvSpPr txBox="1"/>
          <p:nvPr/>
        </p:nvSpPr>
        <p:spPr>
          <a:xfrm>
            <a:off x="8001000" y="4010558"/>
            <a:ext cx="3291840" cy="603504"/>
          </a:xfrm>
          <a:prstGeom prst="rect">
            <a:avLst/>
          </a:prstGeom>
          <a:noFill/>
          <a:ln/>
        </p:spPr>
        <p:txBody>
          <a:bodyPr wrap="square" lIns="0" tIns="0" rIns="0" bIns="0" rtlCol="0" anchor="ctr"/>
          <a:lstStyle/>
          <a:p>
            <a:pPr indent="0" marL="0">
              <a:buNone/>
            </a:pPr>
            <a:r>
              <a:rPr lang="en-US" sz="1150" dirty="0">
                <a:solidFill>
                  <a:srgbClr val="33393D"/>
                </a:solidFill>
                <a:latin typeface="Calibri" pitchFamily="34" charset="0"/>
                <a:ea typeface="Calibri" pitchFamily="34" charset="-122"/>
                <a:cs typeface="Calibri" pitchFamily="34" charset="-120"/>
              </a:rPr>
              <a:t>Una o dos líneas cortas por bloque.</a:t>
            </a:r>
            <a:endParaRPr lang="en-US" sz="1150" dirty="0"/>
          </a:p>
        </p:txBody>
      </p:sp>
      <p:sp>
        <p:nvSpPr>
          <p:cNvPr id="16" name="Shape 14"/>
          <p:cNvSpPr/>
          <p:nvPr/>
        </p:nvSpPr>
        <p:spPr>
          <a:xfrm>
            <a:off x="6263640" y="4708246"/>
            <a:ext cx="5303520" cy="603504"/>
          </a:xfrm>
          <a:prstGeom prst="roundRect">
            <a:avLst>
              <a:gd name="adj" fmla="val 15152"/>
            </a:avLst>
          </a:prstGeom>
          <a:solidFill>
            <a:srgbClr val="FFFFFF"/>
          </a:solidFill>
          <a:ln w="12700">
            <a:solidFill>
              <a:srgbClr val="CFD5D9"/>
            </a:solidFill>
            <a:prstDash val="solid"/>
          </a:ln>
        </p:spPr>
      </p:sp>
      <p:sp>
        <p:nvSpPr>
          <p:cNvPr id="17" name="Text 15"/>
          <p:cNvSpPr txBox="1"/>
          <p:nvPr/>
        </p:nvSpPr>
        <p:spPr>
          <a:xfrm>
            <a:off x="6537960" y="4708246"/>
            <a:ext cx="1463040" cy="603504"/>
          </a:xfrm>
          <a:prstGeom prst="rect">
            <a:avLst/>
          </a:prstGeom>
          <a:noFill/>
          <a:ln/>
        </p:spPr>
        <p:txBody>
          <a:bodyPr wrap="square" lIns="0" tIns="0" rIns="0" bIns="0" rtlCol="0" anchor="ctr"/>
          <a:lstStyle/>
          <a:p>
            <a:pPr indent="0" marL="0">
              <a:buNone/>
            </a:pPr>
            <a:r>
              <a:rPr lang="en-US" sz="1250" b="1" dirty="0">
                <a:solidFill>
                  <a:srgbClr val="177E89"/>
                </a:solidFill>
                <a:latin typeface="Calibri" pitchFamily="34" charset="0"/>
                <a:ea typeface="Calibri" pitchFamily="34" charset="-122"/>
                <a:cs typeface="Calibri" pitchFamily="34" charset="-120"/>
              </a:rPr>
              <a:t>Línea en blanco</a:t>
            </a:r>
            <a:endParaRPr lang="en-US" sz="1250" dirty="0"/>
          </a:p>
        </p:txBody>
      </p:sp>
      <p:sp>
        <p:nvSpPr>
          <p:cNvPr id="18" name="Text 16"/>
          <p:cNvSpPr txBox="1"/>
          <p:nvPr/>
        </p:nvSpPr>
        <p:spPr>
          <a:xfrm>
            <a:off x="8001000" y="4708246"/>
            <a:ext cx="3291840" cy="603504"/>
          </a:xfrm>
          <a:prstGeom prst="rect">
            <a:avLst/>
          </a:prstGeom>
          <a:noFill/>
          <a:ln/>
        </p:spPr>
        <p:txBody>
          <a:bodyPr wrap="square" lIns="0" tIns="0" rIns="0" bIns="0" rtlCol="0" anchor="ctr"/>
          <a:lstStyle/>
          <a:p>
            <a:pPr indent="0" marL="0">
              <a:buNone/>
            </a:pPr>
            <a:r>
              <a:rPr lang="en-US" sz="1150" dirty="0">
                <a:solidFill>
                  <a:srgbClr val="33393D"/>
                </a:solidFill>
                <a:latin typeface="Calibri" pitchFamily="34" charset="0"/>
                <a:ea typeface="Calibri" pitchFamily="34" charset="-122"/>
                <a:cs typeface="Calibri" pitchFamily="34" charset="-120"/>
              </a:rPr>
              <a:t>Separa un bloque del siguiente.</a:t>
            </a:r>
            <a:endParaRPr lang="en-US" sz="1150" dirty="0"/>
          </a:p>
        </p:txBody>
      </p:sp>
      <p:sp>
        <p:nvSpPr>
          <p:cNvPr id="19" name="Shape 17"/>
          <p:cNvSpPr/>
          <p:nvPr/>
        </p:nvSpPr>
        <p:spPr>
          <a:xfrm>
            <a:off x="640080" y="5468112"/>
            <a:ext cx="10927080" cy="566928"/>
          </a:xfrm>
          <a:prstGeom prst="roundRect">
            <a:avLst>
              <a:gd name="adj" fmla="val 16129"/>
            </a:avLst>
          </a:prstGeom>
          <a:solidFill>
            <a:srgbClr val="FFFFFF"/>
          </a:solidFill>
          <a:ln w="12700">
            <a:solidFill>
              <a:srgbClr val="CFD5D9"/>
            </a:solidFill>
            <a:prstDash val="solid"/>
          </a:ln>
        </p:spPr>
      </p:sp>
      <p:sp>
        <p:nvSpPr>
          <p:cNvPr id="20" name="Text 18"/>
          <p:cNvSpPr txBox="1"/>
          <p:nvPr/>
        </p:nvSpPr>
        <p:spPr>
          <a:xfrm>
            <a:off x="950976" y="5468112"/>
            <a:ext cx="10305288" cy="566928"/>
          </a:xfrm>
          <a:prstGeom prst="rect">
            <a:avLst/>
          </a:prstGeom>
          <a:noFill/>
          <a:ln/>
        </p:spPr>
        <p:txBody>
          <a:bodyPr wrap="square" lIns="0" tIns="0" rIns="0" bIns="0" rtlCol="0" anchor="ctr"/>
          <a:lstStyle/>
          <a:p>
            <a:pPr indent="0" marL="0">
              <a:lnSpc>
                <a:spcPct val="120000"/>
              </a:lnSpc>
              <a:buNone/>
            </a:pPr>
            <a:r>
              <a:rPr lang="en-US" sz="1200" b="1" dirty="0">
                <a:solidFill>
                  <a:srgbClr val="A8402B"/>
                </a:solidFill>
                <a:latin typeface="Calibri" pitchFamily="34" charset="0"/>
                <a:ea typeface="Calibri" pitchFamily="34" charset="-122"/>
                <a:cs typeface="Calibri" pitchFamily="34" charset="-120"/>
              </a:rPr>
              <a:t>Ojo:  </a:t>
            </a:r>
            <a:pPr indent="0" marL="0">
              <a:lnSpc>
                <a:spcPct val="120000"/>
              </a:lnSpc>
              <a:buNone/>
            </a:pPr>
            <a:r>
              <a:rPr lang="en-US" sz="1200" dirty="0">
                <a:solidFill>
                  <a:srgbClr val="33393D"/>
                </a:solidFill>
                <a:latin typeface="Calibri" pitchFamily="34" charset="0"/>
                <a:ea typeface="Calibri" pitchFamily="34" charset="-122"/>
                <a:cs typeface="Calibri" pitchFamily="34" charset="-120"/>
              </a:rPr>
              <a:t>los subtítulos solo cargan con servidor. Abre la página con Live Server, no con doble clic.</a:t>
            </a:r>
            <a:endParaRPr lang="en-US" sz="1200" dirty="0"/>
          </a:p>
        </p:txBody>
      </p:sp>
      <p:sp>
        <p:nvSpPr>
          <p:cNvPr id="21" name="Text 19"/>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30 / 48</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indent="0" marL="0">
              <a:buNone/>
            </a:pPr>
            <a:r>
              <a:rPr lang="en-US" sz="1050" b="1" spc="300" kern="0" dirty="0">
                <a:solidFill>
                  <a:srgbClr val="177E89"/>
                </a:solidFill>
                <a:latin typeface="Calibri" pitchFamily="34" charset="0"/>
                <a:ea typeface="Calibri" pitchFamily="34" charset="-122"/>
                <a:cs typeface="Calibri" pitchFamily="34" charset="-120"/>
              </a:rPr>
              <a:t>04 · ACCESIBILIDAD</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El audio necesita transcripción</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indent="0" marL="0">
              <a:buNone/>
            </a:pPr>
            <a:r>
              <a:rPr lang="en-US" sz="1250" dirty="0">
                <a:solidFill>
                  <a:srgbClr val="5F676C"/>
                </a:solidFill>
                <a:latin typeface="Calibri" pitchFamily="34" charset="0"/>
                <a:ea typeface="Calibri" pitchFamily="34" charset="-122"/>
                <a:cs typeface="Calibri" pitchFamily="34" charset="-120"/>
              </a:rPr>
              <a:t>Un &lt;audio&gt; no muestra subtítulos: el texto va escrito en la página.</a:t>
            </a:r>
            <a:endParaRPr lang="en-US" sz="1250" dirty="0"/>
          </a:p>
        </p:txBody>
      </p:sp>
      <p:sp>
        <p:nvSpPr>
          <p:cNvPr id="5" name="Shape 3"/>
          <p:cNvSpPr/>
          <p:nvPr/>
        </p:nvSpPr>
        <p:spPr>
          <a:xfrm>
            <a:off x="640080" y="2615184"/>
            <a:ext cx="5760720" cy="2011680"/>
          </a:xfrm>
          <a:prstGeom prst="roundRect">
            <a:avLst>
              <a:gd name="adj" fmla="val 4545"/>
            </a:avLst>
          </a:prstGeom>
          <a:solidFill>
            <a:srgbClr val="2B2B2B"/>
          </a:solidFill>
          <a:ln w="12700">
            <a:solidFill>
              <a:srgbClr val="2B2B2B"/>
            </a:solidFill>
            <a:prstDash val="solid"/>
          </a:ln>
        </p:spPr>
      </p:sp>
      <p:sp>
        <p:nvSpPr>
          <p:cNvPr id="6" name="Text 4"/>
          <p:cNvSpPr txBox="1"/>
          <p:nvPr/>
        </p:nvSpPr>
        <p:spPr>
          <a:xfrm>
            <a:off x="868680" y="2779776"/>
            <a:ext cx="5303520" cy="1682496"/>
          </a:xfrm>
          <a:prstGeom prst="rect">
            <a:avLst/>
          </a:prstGeom>
          <a:noFill/>
          <a:ln/>
        </p:spPr>
        <p:txBody>
          <a:bodyPr wrap="square" lIns="0" tIns="0" rIns="0" bIns="0" rtlCol="0" anchor="ctr"/>
          <a:lstStyle/>
          <a:p>
            <a:pPr indent="0" marL="0">
              <a:lnSpc>
                <a:spcPct val="125000"/>
              </a:lnSpc>
              <a:buNone/>
            </a:pPr>
            <a:r>
              <a:rPr lang="en-US" sz="1100" b="1" dirty="0">
                <a:solidFill>
                  <a:srgbClr val="8FE1E8"/>
                </a:solidFill>
                <a:latin typeface="Consolas" pitchFamily="34" charset="0"/>
                <a:ea typeface="Consolas" pitchFamily="34" charset="-122"/>
                <a:cs typeface="Consolas" pitchFamily="34" charset="-120"/>
              </a:rPr>
              <a:t>&lt;details&gt;</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a:t>
            </a:r>
            <a:pPr indent="0" marL="0">
              <a:lnSpc>
                <a:spcPct val="125000"/>
              </a:lnSpc>
              <a:buNone/>
            </a:pPr>
            <a:r>
              <a:rPr lang="en-US" sz="1100" b="1" dirty="0">
                <a:solidFill>
                  <a:srgbClr val="8FE1E8"/>
                </a:solidFill>
                <a:latin typeface="Consolas" pitchFamily="34" charset="0"/>
                <a:ea typeface="Consolas" pitchFamily="34" charset="-122"/>
                <a:cs typeface="Consolas" pitchFamily="34" charset="-120"/>
              </a:rPr>
              <a:t>&lt;summary&gt;</a:t>
            </a:r>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Transcripción del audio</a:t>
            </a:r>
            <a:pPr indent="0" marL="0">
              <a:lnSpc>
                <a:spcPct val="125000"/>
              </a:lnSpc>
              <a:buNone/>
            </a:pPr>
            <a:r>
              <a:rPr lang="en-US" sz="1100" b="1" dirty="0">
                <a:solidFill>
                  <a:srgbClr val="8FE1E8"/>
                </a:solidFill>
                <a:latin typeface="Consolas" pitchFamily="34" charset="0"/>
                <a:ea typeface="Consolas" pitchFamily="34" charset="-122"/>
                <a:cs typeface="Consolas" pitchFamily="34" charset="-120"/>
              </a:rPr>
              <a:t>&lt;/summary&gt;</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&lt;p&gt;</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Hola, soy Dagner Chuman. Docente e ingeniero</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enfocado en el desarrollo web…</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&lt;/p&gt;</a:t>
            </a:r>
            <a:endParaRPr lang="en-US" sz="1100" dirty="0"/>
          </a:p>
          <a:p>
            <a:pPr indent="0" marL="0">
              <a:lnSpc>
                <a:spcPct val="125000"/>
              </a:lnSpc>
              <a:buNone/>
            </a:pPr>
            <a:r>
              <a:rPr lang="en-US" sz="1100" b="1" dirty="0">
                <a:solidFill>
                  <a:srgbClr val="8FE1E8"/>
                </a:solidFill>
                <a:latin typeface="Consolas" pitchFamily="34" charset="0"/>
                <a:ea typeface="Consolas" pitchFamily="34" charset="-122"/>
                <a:cs typeface="Consolas" pitchFamily="34" charset="-120"/>
              </a:rPr>
              <a:t>&lt;/details&gt;</a:t>
            </a:r>
            <a:endParaRPr lang="en-US" sz="1100" dirty="0"/>
          </a:p>
        </p:txBody>
      </p:sp>
      <p:sp>
        <p:nvSpPr>
          <p:cNvPr id="7" name="Shape 5"/>
          <p:cNvSpPr/>
          <p:nvPr/>
        </p:nvSpPr>
        <p:spPr>
          <a:xfrm>
            <a:off x="6629400" y="2615184"/>
            <a:ext cx="4937760" cy="2011680"/>
          </a:xfrm>
          <a:prstGeom prst="roundRect">
            <a:avLst>
              <a:gd name="adj" fmla="val 4545"/>
            </a:avLst>
          </a:prstGeom>
          <a:solidFill>
            <a:srgbClr val="F3F5F6"/>
          </a:solidFill>
          <a:ln w="12700">
            <a:solidFill>
              <a:srgbClr val="CFD5D9"/>
            </a:solidFill>
            <a:prstDash val="solid"/>
          </a:ln>
        </p:spPr>
      </p:sp>
      <p:sp>
        <p:nvSpPr>
          <p:cNvPr id="8" name="Text 6"/>
          <p:cNvSpPr txBox="1"/>
          <p:nvPr/>
        </p:nvSpPr>
        <p:spPr>
          <a:xfrm>
            <a:off x="6940296" y="2816352"/>
            <a:ext cx="4315968" cy="310896"/>
          </a:xfrm>
          <a:prstGeom prst="rect">
            <a:avLst/>
          </a:prstGeom>
          <a:noFill/>
          <a:ln/>
        </p:spPr>
        <p:txBody>
          <a:bodyPr wrap="square" lIns="0" tIns="0" rIns="0" bIns="0" rtlCol="0" anchor="ctr"/>
          <a:lstStyle/>
          <a:p>
            <a:pPr algn="l" indent="0" marL="0">
              <a:buNone/>
            </a:pPr>
            <a:r>
              <a:rPr lang="en-US" sz="1400" b="1" dirty="0">
                <a:solidFill>
                  <a:srgbClr val="1F2326"/>
                </a:solidFill>
                <a:latin typeface="Calibri" pitchFamily="34" charset="0"/>
                <a:ea typeface="Calibri" pitchFamily="34" charset="-122"/>
                <a:cs typeface="Calibri" pitchFamily="34" charset="-120"/>
              </a:rPr>
              <a:t>details y summary</a:t>
            </a:r>
            <a:endParaRPr lang="en-US" sz="1400" dirty="0"/>
          </a:p>
        </p:txBody>
      </p:sp>
      <p:sp>
        <p:nvSpPr>
          <p:cNvPr id="9" name="Text 7"/>
          <p:cNvSpPr txBox="1"/>
          <p:nvPr/>
        </p:nvSpPr>
        <p:spPr>
          <a:xfrm>
            <a:off x="6940296" y="3182112"/>
            <a:ext cx="4315968" cy="1324051"/>
          </a:xfrm>
          <a:prstGeom prst="rect">
            <a:avLst/>
          </a:prstGeom>
          <a:noFill/>
          <a:ln/>
        </p:spPr>
        <p:txBody>
          <a:bodyPr wrap="square" lIns="0" tIns="0" rIns="0" bIns="0" rtlCol="0" anchor="t"/>
          <a:lstStyle/>
          <a:p>
            <a:pPr algn="l" indent="0" marL="0">
              <a:lnSpc>
                <a:spcPct val="125000"/>
              </a:lnSpc>
              <a:buNone/>
            </a:pPr>
            <a:r>
              <a:rPr lang="en-US" sz="1200" dirty="0">
                <a:solidFill>
                  <a:srgbClr val="33393D"/>
                </a:solidFill>
                <a:latin typeface="Calibri" pitchFamily="34" charset="0"/>
                <a:ea typeface="Calibri" pitchFamily="34" charset="-122"/>
                <a:cs typeface="Calibri" pitchFamily="34" charset="-120"/>
              </a:rPr>
              <a:t>Un bloque que se abre y se cierra con un clic, sin JavaScript. El texto queda disponible sin estorbar a quien no lo necesita.</a:t>
            </a:r>
            <a:endParaRPr lang="en-US" sz="1200" dirty="0"/>
          </a:p>
        </p:txBody>
      </p:sp>
      <p:sp>
        <p:nvSpPr>
          <p:cNvPr id="10" name="Shape 8"/>
          <p:cNvSpPr/>
          <p:nvPr/>
        </p:nvSpPr>
        <p:spPr>
          <a:xfrm>
            <a:off x="640080" y="4846320"/>
            <a:ext cx="10927080" cy="1188720"/>
          </a:xfrm>
          <a:prstGeom prst="roundRect">
            <a:avLst>
              <a:gd name="adj" fmla="val 7692"/>
            </a:avLst>
          </a:prstGeom>
          <a:solidFill>
            <a:srgbClr val="F3F5F6"/>
          </a:solidFill>
          <a:ln w="12700">
            <a:solidFill>
              <a:srgbClr val="CFD5D9"/>
            </a:solidFill>
            <a:prstDash val="solid"/>
          </a:ln>
        </p:spPr>
      </p:sp>
      <p:sp>
        <p:nvSpPr>
          <p:cNvPr id="11" name="Text 9"/>
          <p:cNvSpPr txBox="1"/>
          <p:nvPr/>
        </p:nvSpPr>
        <p:spPr>
          <a:xfrm>
            <a:off x="950976" y="5047488"/>
            <a:ext cx="10305288" cy="310896"/>
          </a:xfrm>
          <a:prstGeom prst="rect">
            <a:avLst/>
          </a:prstGeom>
          <a:noFill/>
          <a:ln/>
        </p:spPr>
        <p:txBody>
          <a:bodyPr wrap="square" lIns="0" tIns="0" rIns="0" bIns="0" rtlCol="0" anchor="ctr"/>
          <a:lstStyle/>
          <a:p>
            <a:pPr algn="l" indent="0" marL="0">
              <a:buNone/>
            </a:pPr>
            <a:r>
              <a:rPr lang="en-US" sz="1400" b="1" dirty="0">
                <a:solidFill>
                  <a:srgbClr val="177E89"/>
                </a:solidFill>
                <a:latin typeface="Calibri" pitchFamily="34" charset="0"/>
                <a:ea typeface="Calibri" pitchFamily="34" charset="-122"/>
                <a:cs typeface="Calibri" pitchFamily="34" charset="-120"/>
              </a:rPr>
              <a:t>También lo leen los buscadores</a:t>
            </a:r>
            <a:endParaRPr lang="en-US" sz="1400" dirty="0"/>
          </a:p>
        </p:txBody>
      </p:sp>
      <p:sp>
        <p:nvSpPr>
          <p:cNvPr id="12" name="Text 10"/>
          <p:cNvSpPr txBox="1"/>
          <p:nvPr/>
        </p:nvSpPr>
        <p:spPr>
          <a:xfrm>
            <a:off x="950976" y="5413248"/>
            <a:ext cx="10305288" cy="501091"/>
          </a:xfrm>
          <a:prstGeom prst="rect">
            <a:avLst/>
          </a:prstGeom>
          <a:noFill/>
          <a:ln/>
        </p:spPr>
        <p:txBody>
          <a:bodyPr wrap="square" lIns="0" tIns="0" rIns="0" bIns="0" rtlCol="0" anchor="t"/>
          <a:lstStyle/>
          <a:p>
            <a:pPr algn="l" indent="0" marL="0">
              <a:lnSpc>
                <a:spcPct val="125000"/>
              </a:lnSpc>
              <a:buNone/>
            </a:pPr>
            <a:r>
              <a:rPr lang="en-US" sz="1250" dirty="0">
                <a:solidFill>
                  <a:srgbClr val="33393D"/>
                </a:solidFill>
                <a:latin typeface="Calibri" pitchFamily="34" charset="0"/>
                <a:ea typeface="Calibri" pitchFamily="34" charset="-122"/>
                <a:cs typeface="Calibri" pitchFamily="34" charset="-120"/>
              </a:rPr>
              <a:t>Un buscador no escucha tu audio ni mira tu video, pero sí lee el texto de la transcripción y de los subtítulos.</a:t>
            </a:r>
            <a:endParaRPr lang="en-US" sz="1250" dirty="0"/>
          </a:p>
        </p:txBody>
      </p:sp>
      <p:sp>
        <p:nvSpPr>
          <p:cNvPr id="13" name="Text 11"/>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31 / 48</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indent="0" marL="0">
              <a:buNone/>
            </a:pPr>
            <a:r>
              <a:rPr lang="en-US" sz="1050" b="1" spc="300" kern="0" dirty="0">
                <a:solidFill>
                  <a:srgbClr val="177E89"/>
                </a:solidFill>
                <a:latin typeface="Calibri" pitchFamily="34" charset="0"/>
                <a:ea typeface="Calibri" pitchFamily="34" charset="-122"/>
                <a:cs typeface="Calibri" pitchFamily="34" charset="-120"/>
              </a:rPr>
              <a:t>04 · ACCESIBILIDAD</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Lista de comprobación</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indent="0" marL="0">
              <a:buNone/>
            </a:pPr>
            <a:r>
              <a:rPr lang="en-US" sz="1250" dirty="0">
                <a:solidFill>
                  <a:srgbClr val="5F676C"/>
                </a:solidFill>
                <a:latin typeface="Calibri" pitchFamily="34" charset="0"/>
                <a:ea typeface="Calibri" pitchFamily="34" charset="-122"/>
                <a:cs typeface="Calibri" pitchFamily="34" charset="-120"/>
              </a:rPr>
              <a:t>Antes de dar por terminado cualquier video o audio, recorre estos seis puntos.</a:t>
            </a:r>
            <a:endParaRPr lang="en-US" sz="1250" dirty="0"/>
          </a:p>
        </p:txBody>
      </p:sp>
      <p:sp>
        <p:nvSpPr>
          <p:cNvPr id="5" name="Shape 3"/>
          <p:cNvSpPr/>
          <p:nvPr/>
        </p:nvSpPr>
        <p:spPr>
          <a:xfrm>
            <a:off x="640080" y="2615184"/>
            <a:ext cx="10927080" cy="530352"/>
          </a:xfrm>
          <a:prstGeom prst="roundRect">
            <a:avLst>
              <a:gd name="adj" fmla="val 17241"/>
            </a:avLst>
          </a:prstGeom>
          <a:solidFill>
            <a:srgbClr val="FFFFFF"/>
          </a:solidFill>
          <a:ln w="12700">
            <a:solidFill>
              <a:srgbClr val="CFD5D9"/>
            </a:solidFill>
            <a:prstDash val="solid"/>
          </a:ln>
        </p:spPr>
      </p:sp>
      <p:sp>
        <p:nvSpPr>
          <p:cNvPr id="6" name="Shape 4"/>
          <p:cNvSpPr/>
          <p:nvPr/>
        </p:nvSpPr>
        <p:spPr>
          <a:xfrm>
            <a:off x="978408" y="2624328"/>
            <a:ext cx="512064" cy="512064"/>
          </a:xfrm>
          <a:prstGeom prst="ellipse">
            <a:avLst/>
          </a:prstGeom>
          <a:solidFill>
            <a:srgbClr val="177E89"/>
          </a:solidFill>
          <a:ln w="12700">
            <a:solidFill>
              <a:srgbClr val="177E89"/>
            </a:solidFill>
            <a:prstDash val="solid"/>
          </a:ln>
        </p:spPr>
      </p:sp>
      <p:sp>
        <p:nvSpPr>
          <p:cNvPr id="7" name="Text 5"/>
          <p:cNvSpPr txBox="1"/>
          <p:nvPr/>
        </p:nvSpPr>
        <p:spPr>
          <a:xfrm>
            <a:off x="978408" y="2624328"/>
            <a:ext cx="512064"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691640" y="2615184"/>
            <a:ext cx="3520440" cy="530352"/>
          </a:xfrm>
          <a:prstGeom prst="rect">
            <a:avLst/>
          </a:prstGeom>
          <a:noFill/>
          <a:ln/>
        </p:spPr>
        <p:txBody>
          <a:bodyPr wrap="square" lIns="0" tIns="0" rIns="0" bIns="0" rtlCol="0" anchor="ctr"/>
          <a:lstStyle/>
          <a:p>
            <a:pPr indent="0" marL="0">
              <a:buNone/>
            </a:pPr>
            <a:r>
              <a:rPr lang="en-US" sz="1350" b="1" dirty="0">
                <a:solidFill>
                  <a:srgbClr val="1F2326"/>
                </a:solidFill>
                <a:latin typeface="Calibri" pitchFamily="34" charset="0"/>
                <a:ea typeface="Calibri" pitchFamily="34" charset="-122"/>
                <a:cs typeface="Calibri" pitchFamily="34" charset="-120"/>
              </a:rPr>
              <a:t>¿Pesa lo razonable?</a:t>
            </a:r>
            <a:endParaRPr lang="en-US" sz="1350" dirty="0"/>
          </a:p>
        </p:txBody>
      </p:sp>
      <p:sp>
        <p:nvSpPr>
          <p:cNvPr id="9" name="Text 7"/>
          <p:cNvSpPr txBox="1"/>
          <p:nvPr/>
        </p:nvSpPr>
        <p:spPr>
          <a:xfrm>
            <a:off x="5349240" y="2615184"/>
            <a:ext cx="5943600" cy="530352"/>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Comprimido y a la resolución en que se muestra.</a:t>
            </a:r>
            <a:endParaRPr lang="en-US" sz="1200" dirty="0"/>
          </a:p>
        </p:txBody>
      </p:sp>
      <p:sp>
        <p:nvSpPr>
          <p:cNvPr id="10" name="Shape 8"/>
          <p:cNvSpPr/>
          <p:nvPr/>
        </p:nvSpPr>
        <p:spPr>
          <a:xfrm>
            <a:off x="640080" y="3223260"/>
            <a:ext cx="10927080" cy="530352"/>
          </a:xfrm>
          <a:prstGeom prst="roundRect">
            <a:avLst>
              <a:gd name="adj" fmla="val 17241"/>
            </a:avLst>
          </a:prstGeom>
          <a:solidFill>
            <a:srgbClr val="FFFFFF"/>
          </a:solidFill>
          <a:ln w="12700">
            <a:solidFill>
              <a:srgbClr val="CFD5D9"/>
            </a:solidFill>
            <a:prstDash val="solid"/>
          </a:ln>
        </p:spPr>
      </p:sp>
      <p:sp>
        <p:nvSpPr>
          <p:cNvPr id="11" name="Shape 9"/>
          <p:cNvSpPr/>
          <p:nvPr/>
        </p:nvSpPr>
        <p:spPr>
          <a:xfrm>
            <a:off x="978408" y="3232404"/>
            <a:ext cx="512064" cy="512064"/>
          </a:xfrm>
          <a:prstGeom prst="ellipse">
            <a:avLst/>
          </a:prstGeom>
          <a:solidFill>
            <a:srgbClr val="177E89"/>
          </a:solidFill>
          <a:ln w="12700">
            <a:solidFill>
              <a:srgbClr val="177E89"/>
            </a:solidFill>
            <a:prstDash val="solid"/>
          </a:ln>
        </p:spPr>
      </p:sp>
      <p:sp>
        <p:nvSpPr>
          <p:cNvPr id="12" name="Text 10"/>
          <p:cNvSpPr txBox="1"/>
          <p:nvPr/>
        </p:nvSpPr>
        <p:spPr>
          <a:xfrm>
            <a:off x="978408" y="3232404"/>
            <a:ext cx="512064"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1691640" y="3223260"/>
            <a:ext cx="3520440" cy="530352"/>
          </a:xfrm>
          <a:prstGeom prst="rect">
            <a:avLst/>
          </a:prstGeom>
          <a:noFill/>
          <a:ln/>
        </p:spPr>
        <p:txBody>
          <a:bodyPr wrap="square" lIns="0" tIns="0" rIns="0" bIns="0" rtlCol="0" anchor="ctr"/>
          <a:lstStyle/>
          <a:p>
            <a:pPr indent="0" marL="0">
              <a:buNone/>
            </a:pPr>
            <a:r>
              <a:rPr lang="en-US" sz="1350" b="1" dirty="0">
                <a:solidFill>
                  <a:srgbClr val="1F2326"/>
                </a:solidFill>
                <a:latin typeface="Calibri" pitchFamily="34" charset="0"/>
                <a:ea typeface="Calibri" pitchFamily="34" charset="-122"/>
                <a:cs typeface="Calibri" pitchFamily="34" charset="-120"/>
              </a:rPr>
              <a:t>¿Tiene dos fuentes?</a:t>
            </a:r>
            <a:endParaRPr lang="en-US" sz="1350" dirty="0"/>
          </a:p>
        </p:txBody>
      </p:sp>
      <p:sp>
        <p:nvSpPr>
          <p:cNvPr id="14" name="Text 12"/>
          <p:cNvSpPr txBox="1"/>
          <p:nvPr/>
        </p:nvSpPr>
        <p:spPr>
          <a:xfrm>
            <a:off x="5349240" y="3223260"/>
            <a:ext cx="5943600" cy="530352"/>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source con su type; MP4 o MP3 siempre presente.</a:t>
            </a:r>
            <a:endParaRPr lang="en-US" sz="1200" dirty="0"/>
          </a:p>
        </p:txBody>
      </p:sp>
      <p:sp>
        <p:nvSpPr>
          <p:cNvPr id="15" name="Shape 13"/>
          <p:cNvSpPr/>
          <p:nvPr/>
        </p:nvSpPr>
        <p:spPr>
          <a:xfrm>
            <a:off x="640080" y="3831336"/>
            <a:ext cx="10927080" cy="530352"/>
          </a:xfrm>
          <a:prstGeom prst="roundRect">
            <a:avLst>
              <a:gd name="adj" fmla="val 17241"/>
            </a:avLst>
          </a:prstGeom>
          <a:solidFill>
            <a:srgbClr val="FFFFFF"/>
          </a:solidFill>
          <a:ln w="12700">
            <a:solidFill>
              <a:srgbClr val="CFD5D9"/>
            </a:solidFill>
            <a:prstDash val="solid"/>
          </a:ln>
        </p:spPr>
      </p:sp>
      <p:sp>
        <p:nvSpPr>
          <p:cNvPr id="16" name="Shape 14"/>
          <p:cNvSpPr/>
          <p:nvPr/>
        </p:nvSpPr>
        <p:spPr>
          <a:xfrm>
            <a:off x="978408" y="3840480"/>
            <a:ext cx="512064" cy="512064"/>
          </a:xfrm>
          <a:prstGeom prst="ellipse">
            <a:avLst/>
          </a:prstGeom>
          <a:solidFill>
            <a:srgbClr val="177E89"/>
          </a:solidFill>
          <a:ln w="12700">
            <a:solidFill>
              <a:srgbClr val="177E89"/>
            </a:solidFill>
            <a:prstDash val="solid"/>
          </a:ln>
        </p:spPr>
      </p:sp>
      <p:sp>
        <p:nvSpPr>
          <p:cNvPr id="17" name="Text 15"/>
          <p:cNvSpPr txBox="1"/>
          <p:nvPr/>
        </p:nvSpPr>
        <p:spPr>
          <a:xfrm>
            <a:off x="978408" y="3840480"/>
            <a:ext cx="512064"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1691640" y="3831336"/>
            <a:ext cx="3520440" cy="530352"/>
          </a:xfrm>
          <a:prstGeom prst="rect">
            <a:avLst/>
          </a:prstGeom>
          <a:noFill/>
          <a:ln/>
        </p:spPr>
        <p:txBody>
          <a:bodyPr wrap="square" lIns="0" tIns="0" rIns="0" bIns="0" rtlCol="0" anchor="ctr"/>
          <a:lstStyle/>
          <a:p>
            <a:pPr indent="0" marL="0">
              <a:buNone/>
            </a:pPr>
            <a:r>
              <a:rPr lang="en-US" sz="1350" b="1" dirty="0">
                <a:solidFill>
                  <a:srgbClr val="1F2326"/>
                </a:solidFill>
                <a:latin typeface="Calibri" pitchFamily="34" charset="0"/>
                <a:ea typeface="Calibri" pitchFamily="34" charset="-122"/>
                <a:cs typeface="Calibri" pitchFamily="34" charset="-120"/>
              </a:rPr>
              <a:t>¿Se puede controlar?</a:t>
            </a:r>
            <a:endParaRPr lang="en-US" sz="1350" dirty="0"/>
          </a:p>
        </p:txBody>
      </p:sp>
      <p:sp>
        <p:nvSpPr>
          <p:cNvPr id="19" name="Text 17"/>
          <p:cNvSpPr txBox="1"/>
          <p:nvPr/>
        </p:nvSpPr>
        <p:spPr>
          <a:xfrm>
            <a:off x="5349240" y="3831336"/>
            <a:ext cx="5943600" cy="530352"/>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controls o controles propios, y nada suena solo.</a:t>
            </a:r>
            <a:endParaRPr lang="en-US" sz="1200" dirty="0"/>
          </a:p>
        </p:txBody>
      </p:sp>
      <p:sp>
        <p:nvSpPr>
          <p:cNvPr id="20" name="Shape 18"/>
          <p:cNvSpPr/>
          <p:nvPr/>
        </p:nvSpPr>
        <p:spPr>
          <a:xfrm>
            <a:off x="640080" y="4439412"/>
            <a:ext cx="10927080" cy="530352"/>
          </a:xfrm>
          <a:prstGeom prst="roundRect">
            <a:avLst>
              <a:gd name="adj" fmla="val 17241"/>
            </a:avLst>
          </a:prstGeom>
          <a:solidFill>
            <a:srgbClr val="FFFFFF"/>
          </a:solidFill>
          <a:ln w="12700">
            <a:solidFill>
              <a:srgbClr val="CFD5D9"/>
            </a:solidFill>
            <a:prstDash val="solid"/>
          </a:ln>
        </p:spPr>
      </p:sp>
      <p:sp>
        <p:nvSpPr>
          <p:cNvPr id="21" name="Shape 19"/>
          <p:cNvSpPr/>
          <p:nvPr/>
        </p:nvSpPr>
        <p:spPr>
          <a:xfrm>
            <a:off x="978408" y="4448556"/>
            <a:ext cx="512064" cy="512064"/>
          </a:xfrm>
          <a:prstGeom prst="ellipse">
            <a:avLst/>
          </a:prstGeom>
          <a:solidFill>
            <a:srgbClr val="177E89"/>
          </a:solidFill>
          <a:ln w="12700">
            <a:solidFill>
              <a:srgbClr val="177E89"/>
            </a:solidFill>
            <a:prstDash val="solid"/>
          </a:ln>
        </p:spPr>
      </p:sp>
      <p:sp>
        <p:nvSpPr>
          <p:cNvPr id="22" name="Text 20"/>
          <p:cNvSpPr txBox="1"/>
          <p:nvPr/>
        </p:nvSpPr>
        <p:spPr>
          <a:xfrm>
            <a:off x="978408" y="4448556"/>
            <a:ext cx="512064"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txBox="1"/>
          <p:nvPr/>
        </p:nvSpPr>
        <p:spPr>
          <a:xfrm>
            <a:off x="1691640" y="4439412"/>
            <a:ext cx="3520440" cy="530352"/>
          </a:xfrm>
          <a:prstGeom prst="rect">
            <a:avLst/>
          </a:prstGeom>
          <a:noFill/>
          <a:ln/>
        </p:spPr>
        <p:txBody>
          <a:bodyPr wrap="square" lIns="0" tIns="0" rIns="0" bIns="0" rtlCol="0" anchor="ctr"/>
          <a:lstStyle/>
          <a:p>
            <a:pPr indent="0" marL="0">
              <a:buNone/>
            </a:pPr>
            <a:r>
              <a:rPr lang="en-US" sz="1350" b="1" dirty="0">
                <a:solidFill>
                  <a:srgbClr val="1F2326"/>
                </a:solidFill>
                <a:latin typeface="Calibri" pitchFamily="34" charset="0"/>
                <a:ea typeface="Calibri" pitchFamily="34" charset="-122"/>
                <a:cs typeface="Calibri" pitchFamily="34" charset="-120"/>
              </a:rPr>
              <a:t>¿Se entiende sin sonido?</a:t>
            </a:r>
            <a:endParaRPr lang="en-US" sz="1350" dirty="0"/>
          </a:p>
        </p:txBody>
      </p:sp>
      <p:sp>
        <p:nvSpPr>
          <p:cNvPr id="24" name="Text 22"/>
          <p:cNvSpPr txBox="1"/>
          <p:nvPr/>
        </p:nvSpPr>
        <p:spPr>
          <a:xfrm>
            <a:off x="5349240" y="4439412"/>
            <a:ext cx="5943600" cy="530352"/>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track en el video y transcripción en el audio.</a:t>
            </a:r>
            <a:endParaRPr lang="en-US" sz="1200" dirty="0"/>
          </a:p>
        </p:txBody>
      </p:sp>
      <p:sp>
        <p:nvSpPr>
          <p:cNvPr id="25" name="Shape 23"/>
          <p:cNvSpPr/>
          <p:nvPr/>
        </p:nvSpPr>
        <p:spPr>
          <a:xfrm>
            <a:off x="640080" y="5047488"/>
            <a:ext cx="10927080" cy="530352"/>
          </a:xfrm>
          <a:prstGeom prst="roundRect">
            <a:avLst>
              <a:gd name="adj" fmla="val 17241"/>
            </a:avLst>
          </a:prstGeom>
          <a:solidFill>
            <a:srgbClr val="FFFFFF"/>
          </a:solidFill>
          <a:ln w="12700">
            <a:solidFill>
              <a:srgbClr val="CFD5D9"/>
            </a:solidFill>
            <a:prstDash val="solid"/>
          </a:ln>
        </p:spPr>
      </p:sp>
      <p:sp>
        <p:nvSpPr>
          <p:cNvPr id="26" name="Shape 24"/>
          <p:cNvSpPr/>
          <p:nvPr/>
        </p:nvSpPr>
        <p:spPr>
          <a:xfrm>
            <a:off x="978408" y="5056632"/>
            <a:ext cx="512064" cy="512064"/>
          </a:xfrm>
          <a:prstGeom prst="ellipse">
            <a:avLst/>
          </a:prstGeom>
          <a:solidFill>
            <a:srgbClr val="177E89"/>
          </a:solidFill>
          <a:ln w="12700">
            <a:solidFill>
              <a:srgbClr val="177E89"/>
            </a:solidFill>
            <a:prstDash val="solid"/>
          </a:ln>
        </p:spPr>
      </p:sp>
      <p:sp>
        <p:nvSpPr>
          <p:cNvPr id="27" name="Text 25"/>
          <p:cNvSpPr txBox="1"/>
          <p:nvPr/>
        </p:nvSpPr>
        <p:spPr>
          <a:xfrm>
            <a:off x="978408" y="5056632"/>
            <a:ext cx="512064"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Text 26"/>
          <p:cNvSpPr txBox="1"/>
          <p:nvPr/>
        </p:nvSpPr>
        <p:spPr>
          <a:xfrm>
            <a:off x="1691640" y="5047488"/>
            <a:ext cx="3520440" cy="530352"/>
          </a:xfrm>
          <a:prstGeom prst="rect">
            <a:avLst/>
          </a:prstGeom>
          <a:noFill/>
          <a:ln/>
        </p:spPr>
        <p:txBody>
          <a:bodyPr wrap="square" lIns="0" tIns="0" rIns="0" bIns="0" rtlCol="0" anchor="ctr"/>
          <a:lstStyle/>
          <a:p>
            <a:pPr indent="0" marL="0">
              <a:buNone/>
            </a:pPr>
            <a:r>
              <a:rPr lang="en-US" sz="1350" b="1" dirty="0">
                <a:solidFill>
                  <a:srgbClr val="1F2326"/>
                </a:solidFill>
                <a:latin typeface="Calibri" pitchFamily="34" charset="0"/>
                <a:ea typeface="Calibri" pitchFamily="34" charset="-122"/>
                <a:cs typeface="Calibri" pitchFamily="34" charset="-120"/>
              </a:rPr>
              <a:t>¿Las rutas son relativas?</a:t>
            </a:r>
            <a:endParaRPr lang="en-US" sz="1350" dirty="0"/>
          </a:p>
        </p:txBody>
      </p:sp>
      <p:sp>
        <p:nvSpPr>
          <p:cNvPr id="29" name="Text 27"/>
          <p:cNvSpPr txBox="1"/>
          <p:nvPr/>
        </p:nvSpPr>
        <p:spPr>
          <a:xfrm>
            <a:off x="5349240" y="5047488"/>
            <a:ext cx="5943600" cy="530352"/>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Sin barra inicial y sin C:\.</a:t>
            </a:r>
            <a:endParaRPr lang="en-US" sz="1200" dirty="0"/>
          </a:p>
        </p:txBody>
      </p:sp>
      <p:sp>
        <p:nvSpPr>
          <p:cNvPr id="30" name="Shape 28"/>
          <p:cNvSpPr/>
          <p:nvPr/>
        </p:nvSpPr>
        <p:spPr>
          <a:xfrm>
            <a:off x="640080" y="5655564"/>
            <a:ext cx="10927080" cy="530352"/>
          </a:xfrm>
          <a:prstGeom prst="roundRect">
            <a:avLst>
              <a:gd name="adj" fmla="val 17241"/>
            </a:avLst>
          </a:prstGeom>
          <a:solidFill>
            <a:srgbClr val="FFFFFF"/>
          </a:solidFill>
          <a:ln w="12700">
            <a:solidFill>
              <a:srgbClr val="CFD5D9"/>
            </a:solidFill>
            <a:prstDash val="solid"/>
          </a:ln>
        </p:spPr>
      </p:sp>
      <p:sp>
        <p:nvSpPr>
          <p:cNvPr id="31" name="Shape 29"/>
          <p:cNvSpPr/>
          <p:nvPr/>
        </p:nvSpPr>
        <p:spPr>
          <a:xfrm>
            <a:off x="978408" y="5664708"/>
            <a:ext cx="512064" cy="512064"/>
          </a:xfrm>
          <a:prstGeom prst="ellipse">
            <a:avLst/>
          </a:prstGeom>
          <a:solidFill>
            <a:srgbClr val="177E89"/>
          </a:solidFill>
          <a:ln w="12700">
            <a:solidFill>
              <a:srgbClr val="177E89"/>
            </a:solidFill>
            <a:prstDash val="solid"/>
          </a:ln>
        </p:spPr>
      </p:sp>
      <p:sp>
        <p:nvSpPr>
          <p:cNvPr id="32" name="Text 30"/>
          <p:cNvSpPr txBox="1"/>
          <p:nvPr/>
        </p:nvSpPr>
        <p:spPr>
          <a:xfrm>
            <a:off x="978408" y="5664708"/>
            <a:ext cx="512064"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3" name="Text 31"/>
          <p:cNvSpPr txBox="1"/>
          <p:nvPr/>
        </p:nvSpPr>
        <p:spPr>
          <a:xfrm>
            <a:off x="1691640" y="5655564"/>
            <a:ext cx="3520440" cy="530352"/>
          </a:xfrm>
          <a:prstGeom prst="rect">
            <a:avLst/>
          </a:prstGeom>
          <a:noFill/>
          <a:ln/>
        </p:spPr>
        <p:txBody>
          <a:bodyPr wrap="square" lIns="0" tIns="0" rIns="0" bIns="0" rtlCol="0" anchor="ctr"/>
          <a:lstStyle/>
          <a:p>
            <a:pPr indent="0" marL="0">
              <a:buNone/>
            </a:pPr>
            <a:r>
              <a:rPr lang="en-US" sz="1350" b="1" dirty="0">
                <a:solidFill>
                  <a:srgbClr val="1F2326"/>
                </a:solidFill>
                <a:latin typeface="Calibri" pitchFamily="34" charset="0"/>
                <a:ea typeface="Calibri" pitchFamily="34" charset="-122"/>
                <a:cs typeface="Calibri" pitchFamily="34" charset="-120"/>
              </a:rPr>
              <a:t>¿Pasa el validador W3C?</a:t>
            </a:r>
            <a:endParaRPr lang="en-US" sz="1350" dirty="0"/>
          </a:p>
        </p:txBody>
      </p:sp>
      <p:sp>
        <p:nvSpPr>
          <p:cNvPr id="34" name="Text 32"/>
          <p:cNvSpPr txBox="1"/>
          <p:nvPr/>
        </p:nvSpPr>
        <p:spPr>
          <a:xfrm>
            <a:off x="5349240" y="5655564"/>
            <a:ext cx="5943600" cy="530352"/>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Sin errores antes de publicar.</a:t>
            </a:r>
            <a:endParaRPr lang="en-US" sz="1200" dirty="0"/>
          </a:p>
        </p:txBody>
      </p:sp>
      <p:sp>
        <p:nvSpPr>
          <p:cNvPr id="35" name="Text 33"/>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32 / 48</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3127248" y="2651760"/>
            <a:ext cx="5943600" cy="960120"/>
          </a:xfrm>
          <a:prstGeom prst="roundRect">
            <a:avLst>
              <a:gd name="adj" fmla="val 50000"/>
            </a:avLst>
          </a:prstGeom>
          <a:solidFill>
            <a:srgbClr val="177E89"/>
          </a:solidFill>
          <a:ln w="12700">
            <a:solidFill>
              <a:srgbClr val="177E89"/>
            </a:solidFill>
            <a:prstDash val="solid"/>
          </a:ln>
        </p:spPr>
      </p:sp>
      <p:sp>
        <p:nvSpPr>
          <p:cNvPr id="3" name="Text 1"/>
          <p:cNvSpPr txBox="1"/>
          <p:nvPr/>
        </p:nvSpPr>
        <p:spPr>
          <a:xfrm>
            <a:off x="3127248" y="2651760"/>
            <a:ext cx="5943600" cy="9601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DESCANSO · 15 MINUTOS</a:t>
            </a:r>
            <a:endParaRPr lang="en-US" sz="2000" dirty="0"/>
          </a:p>
        </p:txBody>
      </p:sp>
      <p:pic>
        <p:nvPicPr>
          <p:cNvPr id="4" name="Image 0" descr="Indicador de espera">    </p:cNvPr>
          <p:cNvPicPr>
            <a:picLocks noChangeAspect="1"/>
          </p:cNvPicPr>
          <p:nvPr/>
        </p:nvPicPr>
        <p:blipFill>
          <a:blip r:embed="rId1"/>
          <a:stretch>
            <a:fillRect/>
          </a:stretch>
        </p:blipFill>
        <p:spPr>
          <a:xfrm>
            <a:off x="5550408" y="3977640"/>
            <a:ext cx="1097280" cy="1097280"/>
          </a:xfrm>
          <a:prstGeom prst="rect">
            <a:avLst/>
          </a:prstGeom>
        </p:spPr>
      </p:pic>
      <p:sp>
        <p:nvSpPr>
          <p:cNvPr id="5" name="Text 2"/>
          <p:cNvSpPr txBox="1"/>
          <p:nvPr/>
        </p:nvSpPr>
        <p:spPr>
          <a:xfrm>
            <a:off x="1371600" y="5321808"/>
            <a:ext cx="9445752" cy="310896"/>
          </a:xfrm>
          <a:prstGeom prst="rect">
            <a:avLst/>
          </a:prstGeom>
          <a:noFill/>
          <a:ln/>
        </p:spPr>
        <p:txBody>
          <a:bodyPr wrap="square" lIns="0" tIns="0" rIns="0" bIns="0" rtlCol="0" anchor="ctr"/>
          <a:lstStyle/>
          <a:p>
            <a:pPr algn="ctr" indent="0" marL="0">
              <a:buNone/>
            </a:pPr>
            <a:r>
              <a:rPr lang="en-US" sz="1200" dirty="0">
                <a:solidFill>
                  <a:srgbClr val="5F676C"/>
                </a:solidFill>
                <a:latin typeface="Calibri" pitchFamily="34" charset="0"/>
                <a:ea typeface="Calibri" pitchFamily="34" charset="-122"/>
                <a:cs typeface="Calibri" pitchFamily="34" charset="-120"/>
              </a:rPr>
              <a:t>Al volver construimos tus propios controles de video. Ten abierto tu sobre-mi.html.</a:t>
            </a:r>
            <a:endParaRPr lang="en-US" sz="1200" dirty="0"/>
          </a:p>
        </p:txBody>
      </p:sp>
      <p:sp>
        <p:nvSpPr>
          <p:cNvPr id="6" name="Text 3"/>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33 / 48</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Instrumental: aplicación del conocimiento con ejercicios y demostraciones">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34 / 48</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indent="0" marL="0">
              <a:buNone/>
            </a:pPr>
            <a:r>
              <a:rPr lang="en-US" sz="1050" b="1" spc="300" kern="0" dirty="0">
                <a:solidFill>
                  <a:srgbClr val="177E89"/>
                </a:solidFill>
                <a:latin typeface="Calibri" pitchFamily="34" charset="0"/>
                <a:ea typeface="Calibri" pitchFamily="34" charset="-122"/>
                <a:cs typeface="Calibri" pitchFamily="34" charset="-120"/>
              </a:rPr>
              <a:t>05 · CONTROLES</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Controles propios: HTML que ya conoces</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indent="0" marL="0">
              <a:buNone/>
            </a:pPr>
            <a:r>
              <a:rPr lang="en-US" sz="1250" dirty="0">
                <a:solidFill>
                  <a:srgbClr val="5F676C"/>
                </a:solidFill>
                <a:latin typeface="Calibri" pitchFamily="34" charset="0"/>
                <a:ea typeface="Calibri" pitchFamily="34" charset="-122"/>
                <a:cs typeface="Calibri" pitchFamily="34" charset="-120"/>
              </a:rPr>
              <a:t>Botones, una etiqueta y un control deslizante. Lo nuevo es conectarlos con el video.</a:t>
            </a:r>
            <a:endParaRPr lang="en-US" sz="1250" dirty="0"/>
          </a:p>
        </p:txBody>
      </p:sp>
      <p:sp>
        <p:nvSpPr>
          <p:cNvPr id="5" name="Shape 3"/>
          <p:cNvSpPr/>
          <p:nvPr/>
        </p:nvSpPr>
        <p:spPr>
          <a:xfrm>
            <a:off x="640080" y="2615184"/>
            <a:ext cx="6629400" cy="2514600"/>
          </a:xfrm>
          <a:prstGeom prst="roundRect">
            <a:avLst>
              <a:gd name="adj" fmla="val 3636"/>
            </a:avLst>
          </a:prstGeom>
          <a:solidFill>
            <a:srgbClr val="2B2B2B"/>
          </a:solidFill>
          <a:ln w="12700">
            <a:solidFill>
              <a:srgbClr val="2B2B2B"/>
            </a:solidFill>
            <a:prstDash val="solid"/>
          </a:ln>
        </p:spPr>
      </p:sp>
      <p:sp>
        <p:nvSpPr>
          <p:cNvPr id="6" name="Text 4"/>
          <p:cNvSpPr txBox="1"/>
          <p:nvPr/>
        </p:nvSpPr>
        <p:spPr>
          <a:xfrm>
            <a:off x="868680" y="2779776"/>
            <a:ext cx="6172200" cy="2185416"/>
          </a:xfrm>
          <a:prstGeom prst="rect">
            <a:avLst/>
          </a:prstGeom>
          <a:noFill/>
          <a:ln/>
        </p:spPr>
        <p:txBody>
          <a:bodyPr wrap="square" lIns="0" tIns="0" rIns="0" bIns="0" rtlCol="0" anchor="t"/>
          <a:lstStyle/>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&lt;div id="controles-video" role="group"</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aria-label="Controles del video" </a:t>
            </a:r>
            <a:pPr indent="0" marL="0">
              <a:lnSpc>
                <a:spcPct val="125000"/>
              </a:lnSpc>
              <a:buNone/>
            </a:pPr>
            <a:r>
              <a:rPr lang="en-US" sz="1100" b="1" dirty="0">
                <a:solidFill>
                  <a:srgbClr val="8FE1E8"/>
                </a:solidFill>
                <a:latin typeface="Consolas" pitchFamily="34" charset="0"/>
                <a:ea typeface="Consolas" pitchFamily="34" charset="-122"/>
                <a:cs typeface="Consolas" pitchFamily="34" charset="-120"/>
              </a:rPr>
              <a:t>hidden</a:t>
            </a:r>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&gt;</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&lt;button type="button" </a:t>
            </a:r>
            <a:pPr indent="0" marL="0">
              <a:lnSpc>
                <a:spcPct val="125000"/>
              </a:lnSpc>
              <a:buNone/>
            </a:pPr>
            <a:r>
              <a:rPr lang="en-US" sz="1100" b="1" dirty="0">
                <a:solidFill>
                  <a:srgbClr val="8FE1E8"/>
                </a:solidFill>
                <a:latin typeface="Consolas" pitchFamily="34" charset="0"/>
                <a:ea typeface="Consolas" pitchFamily="34" charset="-122"/>
                <a:cs typeface="Consolas" pitchFamily="34" charset="-120"/>
              </a:rPr>
              <a:t>id="btn-reproducir"</a:t>
            </a:r>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&gt;Reproducir&lt;/button&gt;</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&lt;button type="button" </a:t>
            </a:r>
            <a:pPr indent="0" marL="0">
              <a:lnSpc>
                <a:spcPct val="125000"/>
              </a:lnSpc>
              <a:buNone/>
            </a:pPr>
            <a:r>
              <a:rPr lang="en-US" sz="1100" b="1" dirty="0">
                <a:solidFill>
                  <a:srgbClr val="8FE1E8"/>
                </a:solidFill>
                <a:latin typeface="Consolas" pitchFamily="34" charset="0"/>
                <a:ea typeface="Consolas" pitchFamily="34" charset="-122"/>
                <a:cs typeface="Consolas" pitchFamily="34" charset="-120"/>
              </a:rPr>
              <a:t>id="btn-silenciar"</a:t>
            </a:r>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&gt;Silenciar&lt;/button&gt;</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&lt;label for="barra-progreso"&gt;Avance&lt;/label&gt;</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&lt;input type="range" </a:t>
            </a:r>
            <a:pPr indent="0" marL="0">
              <a:lnSpc>
                <a:spcPct val="125000"/>
              </a:lnSpc>
              <a:buNone/>
            </a:pPr>
            <a:r>
              <a:rPr lang="en-US" sz="1100" b="1" dirty="0">
                <a:solidFill>
                  <a:srgbClr val="8FE1E8"/>
                </a:solidFill>
                <a:latin typeface="Consolas" pitchFamily="34" charset="0"/>
                <a:ea typeface="Consolas" pitchFamily="34" charset="-122"/>
                <a:cs typeface="Consolas" pitchFamily="34" charset="-120"/>
              </a:rPr>
              <a:t>id="barra-progreso"</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min="0" max="100" value="0" step="0.1" /&gt;</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&lt;span </a:t>
            </a:r>
            <a:pPr indent="0" marL="0">
              <a:lnSpc>
                <a:spcPct val="125000"/>
              </a:lnSpc>
              <a:buNone/>
            </a:pPr>
            <a:r>
              <a:rPr lang="en-US" sz="1100" b="1" dirty="0">
                <a:solidFill>
                  <a:srgbClr val="8FE1E8"/>
                </a:solidFill>
                <a:latin typeface="Consolas" pitchFamily="34" charset="0"/>
                <a:ea typeface="Consolas" pitchFamily="34" charset="-122"/>
                <a:cs typeface="Consolas" pitchFamily="34" charset="-120"/>
              </a:rPr>
              <a:t>id="tiempo"</a:t>
            </a:r>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&gt;0:00 / 0:00&lt;/span&gt;</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&lt;/div&gt;</a:t>
            </a:r>
            <a:endParaRPr lang="en-US" sz="1100" dirty="0"/>
          </a:p>
        </p:txBody>
      </p:sp>
      <p:sp>
        <p:nvSpPr>
          <p:cNvPr id="7" name="Shape 5"/>
          <p:cNvSpPr/>
          <p:nvPr/>
        </p:nvSpPr>
        <p:spPr>
          <a:xfrm>
            <a:off x="7452360" y="2615184"/>
            <a:ext cx="4114800" cy="777240"/>
          </a:xfrm>
          <a:prstGeom prst="roundRect">
            <a:avLst>
              <a:gd name="adj" fmla="val 11765"/>
            </a:avLst>
          </a:prstGeom>
          <a:solidFill>
            <a:srgbClr val="FFFFFF"/>
          </a:solidFill>
          <a:ln w="12700">
            <a:solidFill>
              <a:srgbClr val="CFD5D9"/>
            </a:solidFill>
            <a:prstDash val="solid"/>
          </a:ln>
        </p:spPr>
      </p:sp>
      <p:sp>
        <p:nvSpPr>
          <p:cNvPr id="8" name="Text 6"/>
          <p:cNvSpPr txBox="1"/>
          <p:nvPr/>
        </p:nvSpPr>
        <p:spPr>
          <a:xfrm>
            <a:off x="7726680" y="2615184"/>
            <a:ext cx="1005840" cy="777240"/>
          </a:xfrm>
          <a:prstGeom prst="rect">
            <a:avLst/>
          </a:prstGeom>
          <a:noFill/>
          <a:ln/>
        </p:spPr>
        <p:txBody>
          <a:bodyPr wrap="square" lIns="0" tIns="0" rIns="0" bIns="0" rtlCol="0" anchor="ctr"/>
          <a:lstStyle/>
          <a:p>
            <a:pPr indent="0" marL="0">
              <a:buNone/>
            </a:pPr>
            <a:r>
              <a:rPr lang="en-US" sz="1200" b="1" dirty="0">
                <a:solidFill>
                  <a:srgbClr val="177E89"/>
                </a:solidFill>
                <a:latin typeface="Calibri" pitchFamily="34" charset="0"/>
                <a:ea typeface="Calibri" pitchFamily="34" charset="-122"/>
                <a:cs typeface="Calibri" pitchFamily="34" charset="-120"/>
              </a:rPr>
              <a:t>HTML</a:t>
            </a:r>
            <a:endParaRPr lang="en-US" sz="1200" dirty="0"/>
          </a:p>
        </p:txBody>
      </p:sp>
      <p:sp>
        <p:nvSpPr>
          <p:cNvPr id="9" name="Text 7"/>
          <p:cNvSpPr txBox="1"/>
          <p:nvPr/>
        </p:nvSpPr>
        <p:spPr>
          <a:xfrm>
            <a:off x="8732520" y="2615184"/>
            <a:ext cx="2560320" cy="777240"/>
          </a:xfrm>
          <a:prstGeom prst="rect">
            <a:avLst/>
          </a:prstGeom>
          <a:noFill/>
          <a:ln/>
        </p:spPr>
        <p:txBody>
          <a:bodyPr wrap="square" lIns="0" tIns="0" rIns="0" bIns="0" rtlCol="0" anchor="ctr"/>
          <a:lstStyle/>
          <a:p>
            <a:pPr indent="0" marL="0">
              <a:buNone/>
            </a:pPr>
            <a:r>
              <a:rPr lang="en-US" sz="1050" dirty="0">
                <a:solidFill>
                  <a:srgbClr val="33393D"/>
                </a:solidFill>
                <a:latin typeface="Calibri" pitchFamily="34" charset="0"/>
                <a:ea typeface="Calibri" pitchFamily="34" charset="-122"/>
                <a:cs typeface="Calibri" pitchFamily="34" charset="-120"/>
              </a:rPr>
              <a:t>Pone las piezas: botones con texto que el lector de pantalla anuncia.</a:t>
            </a:r>
            <a:endParaRPr lang="en-US" sz="1050" dirty="0"/>
          </a:p>
        </p:txBody>
      </p:sp>
      <p:sp>
        <p:nvSpPr>
          <p:cNvPr id="10" name="Shape 8"/>
          <p:cNvSpPr/>
          <p:nvPr/>
        </p:nvSpPr>
        <p:spPr>
          <a:xfrm>
            <a:off x="7452360" y="3483864"/>
            <a:ext cx="4114800" cy="777240"/>
          </a:xfrm>
          <a:prstGeom prst="roundRect">
            <a:avLst>
              <a:gd name="adj" fmla="val 11765"/>
            </a:avLst>
          </a:prstGeom>
          <a:solidFill>
            <a:srgbClr val="FFFFFF"/>
          </a:solidFill>
          <a:ln w="12700">
            <a:solidFill>
              <a:srgbClr val="CFD5D9"/>
            </a:solidFill>
            <a:prstDash val="solid"/>
          </a:ln>
        </p:spPr>
      </p:sp>
      <p:sp>
        <p:nvSpPr>
          <p:cNvPr id="11" name="Text 9"/>
          <p:cNvSpPr txBox="1"/>
          <p:nvPr/>
        </p:nvSpPr>
        <p:spPr>
          <a:xfrm>
            <a:off x="7726680" y="3483864"/>
            <a:ext cx="1005840" cy="777240"/>
          </a:xfrm>
          <a:prstGeom prst="rect">
            <a:avLst/>
          </a:prstGeom>
          <a:noFill/>
          <a:ln/>
        </p:spPr>
        <p:txBody>
          <a:bodyPr wrap="square" lIns="0" tIns="0" rIns="0" bIns="0" rtlCol="0" anchor="ctr"/>
          <a:lstStyle/>
          <a:p>
            <a:pPr indent="0" marL="0">
              <a:buNone/>
            </a:pPr>
            <a:r>
              <a:rPr lang="en-US" sz="1200" b="1" dirty="0">
                <a:solidFill>
                  <a:srgbClr val="177E89"/>
                </a:solidFill>
                <a:latin typeface="Calibri" pitchFamily="34" charset="0"/>
                <a:ea typeface="Calibri" pitchFamily="34" charset="-122"/>
                <a:cs typeface="Calibri" pitchFamily="34" charset="-120"/>
              </a:rPr>
              <a:t>JavaScript</a:t>
            </a:r>
            <a:endParaRPr lang="en-US" sz="1200" dirty="0"/>
          </a:p>
        </p:txBody>
      </p:sp>
      <p:sp>
        <p:nvSpPr>
          <p:cNvPr id="12" name="Text 10"/>
          <p:cNvSpPr txBox="1"/>
          <p:nvPr/>
        </p:nvSpPr>
        <p:spPr>
          <a:xfrm>
            <a:off x="8732520" y="3483864"/>
            <a:ext cx="2560320" cy="777240"/>
          </a:xfrm>
          <a:prstGeom prst="rect">
            <a:avLst/>
          </a:prstGeom>
          <a:noFill/>
          <a:ln/>
        </p:spPr>
        <p:txBody>
          <a:bodyPr wrap="square" lIns="0" tIns="0" rIns="0" bIns="0" rtlCol="0" anchor="ctr"/>
          <a:lstStyle/>
          <a:p>
            <a:pPr indent="0" marL="0">
              <a:buNone/>
            </a:pPr>
            <a:r>
              <a:rPr lang="en-US" sz="1050" dirty="0">
                <a:solidFill>
                  <a:srgbClr val="33393D"/>
                </a:solidFill>
                <a:latin typeface="Calibri" pitchFamily="34" charset="0"/>
                <a:ea typeface="Calibri" pitchFamily="34" charset="-122"/>
                <a:cs typeface="Calibri" pitchFamily="34" charset="-120"/>
              </a:rPr>
              <a:t>Las conecta con el video. Va en un archivo aparte: reproductor.js.</a:t>
            </a:r>
            <a:endParaRPr lang="en-US" sz="1050" dirty="0"/>
          </a:p>
        </p:txBody>
      </p:sp>
      <p:sp>
        <p:nvSpPr>
          <p:cNvPr id="13" name="Shape 11"/>
          <p:cNvSpPr/>
          <p:nvPr/>
        </p:nvSpPr>
        <p:spPr>
          <a:xfrm>
            <a:off x="7452360" y="4352544"/>
            <a:ext cx="4114800" cy="777240"/>
          </a:xfrm>
          <a:prstGeom prst="roundRect">
            <a:avLst>
              <a:gd name="adj" fmla="val 11765"/>
            </a:avLst>
          </a:prstGeom>
          <a:solidFill>
            <a:srgbClr val="FFFFFF"/>
          </a:solidFill>
          <a:ln w="12700">
            <a:solidFill>
              <a:srgbClr val="CFD5D9"/>
            </a:solidFill>
            <a:prstDash val="solid"/>
          </a:ln>
        </p:spPr>
      </p:sp>
      <p:sp>
        <p:nvSpPr>
          <p:cNvPr id="14" name="Text 12"/>
          <p:cNvSpPr txBox="1"/>
          <p:nvPr/>
        </p:nvSpPr>
        <p:spPr>
          <a:xfrm>
            <a:off x="7726680" y="4352544"/>
            <a:ext cx="1005840" cy="777240"/>
          </a:xfrm>
          <a:prstGeom prst="rect">
            <a:avLst/>
          </a:prstGeom>
          <a:noFill/>
          <a:ln/>
        </p:spPr>
        <p:txBody>
          <a:bodyPr wrap="square" lIns="0" tIns="0" rIns="0" bIns="0" rtlCol="0" anchor="ctr"/>
          <a:lstStyle/>
          <a:p>
            <a:pPr indent="0" marL="0">
              <a:buNone/>
            </a:pPr>
            <a:r>
              <a:rPr lang="en-US" sz="1200" b="1" dirty="0">
                <a:solidFill>
                  <a:srgbClr val="177E89"/>
                </a:solidFill>
                <a:latin typeface="Calibri" pitchFamily="34" charset="0"/>
                <a:ea typeface="Calibri" pitchFamily="34" charset="-122"/>
                <a:cs typeface="Calibri" pitchFamily="34" charset="-120"/>
              </a:rPr>
              <a:t>CSS</a:t>
            </a:r>
            <a:endParaRPr lang="en-US" sz="1200" dirty="0"/>
          </a:p>
        </p:txBody>
      </p:sp>
      <p:sp>
        <p:nvSpPr>
          <p:cNvPr id="15" name="Text 13"/>
          <p:cNvSpPr txBox="1"/>
          <p:nvPr/>
        </p:nvSpPr>
        <p:spPr>
          <a:xfrm>
            <a:off x="8732520" y="4352544"/>
            <a:ext cx="2560320" cy="777240"/>
          </a:xfrm>
          <a:prstGeom prst="rect">
            <a:avLst/>
          </a:prstGeom>
          <a:noFill/>
          <a:ln/>
        </p:spPr>
        <p:txBody>
          <a:bodyPr wrap="square" lIns="0" tIns="0" rIns="0" bIns="0" rtlCol="0" anchor="ctr"/>
          <a:lstStyle/>
          <a:p>
            <a:pPr indent="0" marL="0">
              <a:buNone/>
            </a:pPr>
            <a:r>
              <a:rPr lang="en-US" sz="1050" dirty="0">
                <a:solidFill>
                  <a:srgbClr val="33393D"/>
                </a:solidFill>
                <a:latin typeface="Calibri" pitchFamily="34" charset="0"/>
                <a:ea typeface="Calibri" pitchFamily="34" charset="-122"/>
                <a:cs typeface="Calibri" pitchFamily="34" charset="-120"/>
              </a:rPr>
              <a:t>Las viste. Llega en la sesión 08; hoy se ven como botones del navegador.</a:t>
            </a:r>
            <a:endParaRPr lang="en-US" sz="1050" dirty="0"/>
          </a:p>
        </p:txBody>
      </p:sp>
      <p:sp>
        <p:nvSpPr>
          <p:cNvPr id="16" name="Shape 14"/>
          <p:cNvSpPr/>
          <p:nvPr/>
        </p:nvSpPr>
        <p:spPr>
          <a:xfrm>
            <a:off x="640080" y="5321808"/>
            <a:ext cx="10927080" cy="713232"/>
          </a:xfrm>
          <a:prstGeom prst="roundRect">
            <a:avLst>
              <a:gd name="adj" fmla="val 12821"/>
            </a:avLst>
          </a:prstGeom>
          <a:solidFill>
            <a:srgbClr val="F3F5F6"/>
          </a:solidFill>
          <a:ln w="12700">
            <a:solidFill>
              <a:srgbClr val="CFD5D9"/>
            </a:solidFill>
            <a:prstDash val="solid"/>
          </a:ln>
        </p:spPr>
      </p:sp>
      <p:sp>
        <p:nvSpPr>
          <p:cNvPr id="17" name="Text 15"/>
          <p:cNvSpPr txBox="1"/>
          <p:nvPr/>
        </p:nvSpPr>
        <p:spPr>
          <a:xfrm>
            <a:off x="950976" y="5321808"/>
            <a:ext cx="10305288" cy="713232"/>
          </a:xfrm>
          <a:prstGeom prst="rect">
            <a:avLst/>
          </a:prstGeom>
          <a:noFill/>
          <a:ln/>
        </p:spPr>
        <p:txBody>
          <a:bodyPr wrap="square" lIns="0" tIns="0" rIns="0" bIns="0" rtlCol="0" anchor="ctr"/>
          <a:lstStyle/>
          <a:p>
            <a:pPr indent="0" marL="0">
              <a:lnSpc>
                <a:spcPct val="120000"/>
              </a:lnSpc>
              <a:buNone/>
            </a:pPr>
            <a:r>
              <a:rPr lang="en-US" sz="1200" b="1" dirty="0">
                <a:solidFill>
                  <a:srgbClr val="177E89"/>
                </a:solidFill>
                <a:latin typeface="Calibri" pitchFamily="34" charset="0"/>
                <a:ea typeface="Calibri" pitchFamily="34" charset="-122"/>
                <a:cs typeface="Calibri" pitchFamily="34" charset="-120"/>
              </a:rPr>
              <a:t>Por qué hidden:  </a:t>
            </a:r>
            <a:pPr indent="0" marL="0">
              <a:lnSpc>
                <a:spcPct val="120000"/>
              </a:lnSpc>
              <a:buNone/>
            </a:pPr>
            <a:r>
              <a:rPr lang="en-US" sz="1200" dirty="0">
                <a:solidFill>
                  <a:srgbClr val="33393D"/>
                </a:solidFill>
                <a:latin typeface="Calibri" pitchFamily="34" charset="0"/>
                <a:ea typeface="Calibri" pitchFamily="34" charset="-122"/>
                <a:cs typeface="Calibri" pitchFamily="34" charset="-120"/>
              </a:rPr>
              <a:t>los botones nacen ocultos y el script los muestra. Si el script no carga, el video conserva los controles del navegador y sigue funcionando.</a:t>
            </a:r>
            <a:endParaRPr lang="en-US" sz="1200" dirty="0"/>
          </a:p>
        </p:txBody>
      </p:sp>
      <p:sp>
        <p:nvSpPr>
          <p:cNvPr id="18" name="Text 16"/>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35 / 48</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indent="0" marL="0">
              <a:buNone/>
            </a:pPr>
            <a:r>
              <a:rPr lang="en-US" sz="1050" b="1" spc="300" kern="0" dirty="0">
                <a:solidFill>
                  <a:srgbClr val="177E89"/>
                </a:solidFill>
                <a:latin typeface="Calibri" pitchFamily="34" charset="0"/>
                <a:ea typeface="Calibri" pitchFamily="34" charset="-122"/>
                <a:cs typeface="Calibri" pitchFamily="34" charset="-120"/>
              </a:rPr>
              <a:t>05 · CONTROLES</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El script en cuatro ideas</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indent="0" marL="0">
              <a:buNone/>
            </a:pPr>
            <a:r>
              <a:rPr lang="en-US" sz="1250" dirty="0">
                <a:solidFill>
                  <a:srgbClr val="5F676C"/>
                </a:solidFill>
                <a:latin typeface="Calibri" pitchFamily="34" charset="0"/>
                <a:ea typeface="Calibri" pitchFamily="34" charset="-122"/>
                <a:cs typeface="Calibri" pitchFamily="34" charset="-120"/>
              </a:rPr>
              <a:t>No necesitas saber JavaScript: hoy lo copias, lo lees y cambias solo los textos.</a:t>
            </a:r>
            <a:endParaRPr lang="en-US" sz="1250" dirty="0"/>
          </a:p>
        </p:txBody>
      </p:sp>
      <p:sp>
        <p:nvSpPr>
          <p:cNvPr id="5" name="Shape 3"/>
          <p:cNvSpPr/>
          <p:nvPr/>
        </p:nvSpPr>
        <p:spPr>
          <a:xfrm>
            <a:off x="640080" y="2615184"/>
            <a:ext cx="6126480" cy="3291840"/>
          </a:xfrm>
          <a:prstGeom prst="roundRect">
            <a:avLst>
              <a:gd name="adj" fmla="val 2778"/>
            </a:avLst>
          </a:prstGeom>
          <a:solidFill>
            <a:srgbClr val="2B2B2B"/>
          </a:solidFill>
          <a:ln w="12700">
            <a:solidFill>
              <a:srgbClr val="2B2B2B"/>
            </a:solidFill>
            <a:prstDash val="solid"/>
          </a:ln>
        </p:spPr>
      </p:sp>
      <p:sp>
        <p:nvSpPr>
          <p:cNvPr id="6" name="Text 4"/>
          <p:cNvSpPr txBox="1"/>
          <p:nvPr/>
        </p:nvSpPr>
        <p:spPr>
          <a:xfrm>
            <a:off x="868680" y="2779776"/>
            <a:ext cx="5669280" cy="2962656"/>
          </a:xfrm>
          <a:prstGeom prst="rect">
            <a:avLst/>
          </a:prstGeom>
          <a:noFill/>
          <a:ln/>
        </p:spPr>
        <p:txBody>
          <a:bodyPr wrap="square" lIns="0" tIns="0" rIns="0" bIns="0" rtlCol="0" anchor="t"/>
          <a:lstStyle/>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const video =</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document.</a:t>
            </a:r>
            <a:pPr indent="0" marL="0">
              <a:lnSpc>
                <a:spcPct val="125000"/>
              </a:lnSpc>
              <a:buNone/>
            </a:pPr>
            <a:r>
              <a:rPr lang="en-US" sz="1100" b="1" dirty="0">
                <a:solidFill>
                  <a:srgbClr val="8FE1E8"/>
                </a:solidFill>
                <a:latin typeface="Consolas" pitchFamily="34" charset="0"/>
                <a:ea typeface="Consolas" pitchFamily="34" charset="-122"/>
                <a:cs typeface="Consolas" pitchFamily="34" charset="-120"/>
              </a:rPr>
              <a:t>getElementById</a:t>
            </a:r>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("video-presentacion");</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const btnReproducir =</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document.</a:t>
            </a:r>
            <a:pPr indent="0" marL="0">
              <a:lnSpc>
                <a:spcPct val="125000"/>
              </a:lnSpc>
              <a:buNone/>
            </a:pPr>
            <a:r>
              <a:rPr lang="en-US" sz="1100" b="1" dirty="0">
                <a:solidFill>
                  <a:srgbClr val="8FE1E8"/>
                </a:solidFill>
                <a:latin typeface="Consolas" pitchFamily="34" charset="0"/>
                <a:ea typeface="Consolas" pitchFamily="34" charset="-122"/>
                <a:cs typeface="Consolas" pitchFamily="34" charset="-120"/>
              </a:rPr>
              <a:t>getElementById</a:t>
            </a:r>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("btn-reproducir");</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video.</a:t>
            </a:r>
            <a:pPr indent="0" marL="0">
              <a:lnSpc>
                <a:spcPct val="125000"/>
              </a:lnSpc>
              <a:buNone/>
            </a:pPr>
            <a:r>
              <a:rPr lang="en-US" sz="1100" b="1" dirty="0">
                <a:solidFill>
                  <a:srgbClr val="8FE1E8"/>
                </a:solidFill>
                <a:latin typeface="Consolas" pitchFamily="34" charset="0"/>
                <a:ea typeface="Consolas" pitchFamily="34" charset="-122"/>
                <a:cs typeface="Consolas" pitchFamily="34" charset="-120"/>
              </a:rPr>
              <a:t>removeAttribute</a:t>
            </a:r>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("controls");</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btnReproducir.</a:t>
            </a:r>
            <a:pPr indent="0" marL="0">
              <a:lnSpc>
                <a:spcPct val="125000"/>
              </a:lnSpc>
              <a:buNone/>
            </a:pPr>
            <a:r>
              <a:rPr lang="en-US" sz="1100" b="1" dirty="0">
                <a:solidFill>
                  <a:srgbClr val="8FE1E8"/>
                </a:solidFill>
                <a:latin typeface="Consolas" pitchFamily="34" charset="0"/>
                <a:ea typeface="Consolas" pitchFamily="34" charset="-122"/>
                <a:cs typeface="Consolas" pitchFamily="34" charset="-120"/>
              </a:rPr>
              <a:t>addEventListener</a:t>
            </a:r>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("click", () =&gt; {</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if (video.paused) {</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video.</a:t>
            </a:r>
            <a:pPr indent="0" marL="0">
              <a:lnSpc>
                <a:spcPct val="125000"/>
              </a:lnSpc>
              <a:buNone/>
            </a:pPr>
            <a:r>
              <a:rPr lang="en-US" sz="1100" b="1" dirty="0">
                <a:solidFill>
                  <a:srgbClr val="8FE1E8"/>
                </a:solidFill>
                <a:latin typeface="Consolas" pitchFamily="34" charset="0"/>
                <a:ea typeface="Consolas" pitchFamily="34" charset="-122"/>
                <a:cs typeface="Consolas" pitchFamily="34" charset="-120"/>
              </a:rPr>
              <a:t>play()</a:t>
            </a:r>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 else {</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video.</a:t>
            </a:r>
            <a:pPr indent="0" marL="0">
              <a:lnSpc>
                <a:spcPct val="125000"/>
              </a:lnSpc>
              <a:buNone/>
            </a:pPr>
            <a:r>
              <a:rPr lang="en-US" sz="1100" b="1" dirty="0">
                <a:solidFill>
                  <a:srgbClr val="8FE1E8"/>
                </a:solidFill>
                <a:latin typeface="Consolas" pitchFamily="34" charset="0"/>
                <a:ea typeface="Consolas" pitchFamily="34" charset="-122"/>
                <a:cs typeface="Consolas" pitchFamily="34" charset="-120"/>
              </a:rPr>
              <a:t>pause()</a:t>
            </a:r>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  }</a:t>
            </a:r>
            <a:endParaRPr lang="en-US" sz="1100" dirty="0"/>
          </a:p>
          <a:p>
            <a:pPr indent="0" marL="0">
              <a:lnSpc>
                <a:spcPct val="125000"/>
              </a:lnSpc>
              <a:buNone/>
            </a:pPr>
            <a:r>
              <a:rPr lang="en-US" sz="1100" dirty="0">
                <a:solidFill>
                  <a:srgbClr val="E5E7EB"/>
                </a:solidFill>
                <a:latin typeface="Consolas" pitchFamily="34" charset="0"/>
                <a:ea typeface="Consolas" pitchFamily="34" charset="-122"/>
                <a:cs typeface="Consolas" pitchFamily="34" charset="-120"/>
              </a:rPr>
              <a:t>});</a:t>
            </a:r>
            <a:endParaRPr lang="en-US" sz="1100" dirty="0"/>
          </a:p>
        </p:txBody>
      </p:sp>
      <p:sp>
        <p:nvSpPr>
          <p:cNvPr id="7" name="Shape 5"/>
          <p:cNvSpPr/>
          <p:nvPr/>
        </p:nvSpPr>
        <p:spPr>
          <a:xfrm>
            <a:off x="6995160" y="2615184"/>
            <a:ext cx="4572000" cy="676656"/>
          </a:xfrm>
          <a:prstGeom prst="roundRect">
            <a:avLst>
              <a:gd name="adj" fmla="val 13514"/>
            </a:avLst>
          </a:prstGeom>
          <a:solidFill>
            <a:srgbClr val="FFFFFF"/>
          </a:solidFill>
          <a:ln w="12700">
            <a:solidFill>
              <a:srgbClr val="CFD5D9"/>
            </a:solidFill>
            <a:prstDash val="solid"/>
          </a:ln>
        </p:spPr>
      </p:sp>
      <p:sp>
        <p:nvSpPr>
          <p:cNvPr id="8" name="Text 6"/>
          <p:cNvSpPr txBox="1"/>
          <p:nvPr/>
        </p:nvSpPr>
        <p:spPr>
          <a:xfrm>
            <a:off x="7269480" y="2615184"/>
            <a:ext cx="1783080" cy="676656"/>
          </a:xfrm>
          <a:prstGeom prst="rect">
            <a:avLst/>
          </a:prstGeom>
          <a:noFill/>
          <a:ln/>
        </p:spPr>
        <p:txBody>
          <a:bodyPr wrap="square" lIns="0" tIns="0" rIns="0" bIns="0" rtlCol="0" anchor="ctr"/>
          <a:lstStyle/>
          <a:p>
            <a:pPr indent="0" marL="0">
              <a:buNone/>
            </a:pPr>
            <a:r>
              <a:rPr lang="en-US" sz="1100" b="1" dirty="0">
                <a:solidFill>
                  <a:srgbClr val="177E89"/>
                </a:solidFill>
                <a:latin typeface="Consolas" pitchFamily="34" charset="0"/>
                <a:ea typeface="Consolas" pitchFamily="34" charset="-122"/>
                <a:cs typeface="Consolas" pitchFamily="34" charset="-120"/>
              </a:rPr>
              <a:t>getElementById</a:t>
            </a:r>
            <a:endParaRPr lang="en-US" sz="1100" dirty="0"/>
          </a:p>
        </p:txBody>
      </p:sp>
      <p:sp>
        <p:nvSpPr>
          <p:cNvPr id="9" name="Text 7"/>
          <p:cNvSpPr txBox="1"/>
          <p:nvPr/>
        </p:nvSpPr>
        <p:spPr>
          <a:xfrm>
            <a:off x="9052560" y="2615184"/>
            <a:ext cx="2240280" cy="676656"/>
          </a:xfrm>
          <a:prstGeom prst="rect">
            <a:avLst/>
          </a:prstGeom>
          <a:noFill/>
          <a:ln/>
        </p:spPr>
        <p:txBody>
          <a:bodyPr wrap="square" lIns="0" tIns="0" rIns="0" bIns="0" rtlCol="0" anchor="ctr"/>
          <a:lstStyle/>
          <a:p>
            <a:pPr indent="0" marL="0">
              <a:buNone/>
            </a:pPr>
            <a:r>
              <a:rPr lang="en-US" sz="1050" dirty="0">
                <a:solidFill>
                  <a:srgbClr val="33393D"/>
                </a:solidFill>
                <a:latin typeface="Calibri" pitchFamily="34" charset="0"/>
                <a:ea typeface="Calibri" pitchFamily="34" charset="-122"/>
                <a:cs typeface="Calibri" pitchFamily="34" charset="-120"/>
              </a:rPr>
              <a:t>Busca en la página la etiqueta que tiene ese id.</a:t>
            </a:r>
            <a:endParaRPr lang="en-US" sz="1050" dirty="0"/>
          </a:p>
        </p:txBody>
      </p:sp>
      <p:sp>
        <p:nvSpPr>
          <p:cNvPr id="10" name="Shape 8"/>
          <p:cNvSpPr/>
          <p:nvPr/>
        </p:nvSpPr>
        <p:spPr>
          <a:xfrm>
            <a:off x="6995160" y="3410712"/>
            <a:ext cx="4572000" cy="676656"/>
          </a:xfrm>
          <a:prstGeom prst="roundRect">
            <a:avLst>
              <a:gd name="adj" fmla="val 13514"/>
            </a:avLst>
          </a:prstGeom>
          <a:solidFill>
            <a:srgbClr val="FFFFFF"/>
          </a:solidFill>
          <a:ln w="12700">
            <a:solidFill>
              <a:srgbClr val="CFD5D9"/>
            </a:solidFill>
            <a:prstDash val="solid"/>
          </a:ln>
        </p:spPr>
      </p:sp>
      <p:sp>
        <p:nvSpPr>
          <p:cNvPr id="11" name="Text 9"/>
          <p:cNvSpPr txBox="1"/>
          <p:nvPr/>
        </p:nvSpPr>
        <p:spPr>
          <a:xfrm>
            <a:off x="7269480" y="3410712"/>
            <a:ext cx="1783080" cy="676656"/>
          </a:xfrm>
          <a:prstGeom prst="rect">
            <a:avLst/>
          </a:prstGeom>
          <a:noFill/>
          <a:ln/>
        </p:spPr>
        <p:txBody>
          <a:bodyPr wrap="square" lIns="0" tIns="0" rIns="0" bIns="0" rtlCol="0" anchor="ctr"/>
          <a:lstStyle/>
          <a:p>
            <a:pPr indent="0" marL="0">
              <a:buNone/>
            </a:pPr>
            <a:r>
              <a:rPr lang="en-US" sz="1100" b="1" dirty="0">
                <a:solidFill>
                  <a:srgbClr val="177E89"/>
                </a:solidFill>
                <a:latin typeface="Consolas" pitchFamily="34" charset="0"/>
                <a:ea typeface="Consolas" pitchFamily="34" charset="-122"/>
                <a:cs typeface="Consolas" pitchFamily="34" charset="-120"/>
              </a:rPr>
              <a:t>removeAttribute</a:t>
            </a:r>
            <a:endParaRPr lang="en-US" sz="1100" dirty="0"/>
          </a:p>
        </p:txBody>
      </p:sp>
      <p:sp>
        <p:nvSpPr>
          <p:cNvPr id="12" name="Text 10"/>
          <p:cNvSpPr txBox="1"/>
          <p:nvPr/>
        </p:nvSpPr>
        <p:spPr>
          <a:xfrm>
            <a:off x="9052560" y="3410712"/>
            <a:ext cx="2240280" cy="676656"/>
          </a:xfrm>
          <a:prstGeom prst="rect">
            <a:avLst/>
          </a:prstGeom>
          <a:noFill/>
          <a:ln/>
        </p:spPr>
        <p:txBody>
          <a:bodyPr wrap="square" lIns="0" tIns="0" rIns="0" bIns="0" rtlCol="0" anchor="ctr"/>
          <a:lstStyle/>
          <a:p>
            <a:pPr indent="0" marL="0">
              <a:buNone/>
            </a:pPr>
            <a:r>
              <a:rPr lang="en-US" sz="1050" dirty="0">
                <a:solidFill>
                  <a:srgbClr val="33393D"/>
                </a:solidFill>
                <a:latin typeface="Calibri" pitchFamily="34" charset="0"/>
                <a:ea typeface="Calibri" pitchFamily="34" charset="-122"/>
                <a:cs typeface="Calibri" pitchFamily="34" charset="-120"/>
              </a:rPr>
              <a:t>Quita controls: desaparecen los botones del navegador.</a:t>
            </a:r>
            <a:endParaRPr lang="en-US" sz="1050" dirty="0"/>
          </a:p>
        </p:txBody>
      </p:sp>
      <p:sp>
        <p:nvSpPr>
          <p:cNvPr id="13" name="Shape 11"/>
          <p:cNvSpPr/>
          <p:nvPr/>
        </p:nvSpPr>
        <p:spPr>
          <a:xfrm>
            <a:off x="6995160" y="4206240"/>
            <a:ext cx="4572000" cy="676656"/>
          </a:xfrm>
          <a:prstGeom prst="roundRect">
            <a:avLst>
              <a:gd name="adj" fmla="val 13514"/>
            </a:avLst>
          </a:prstGeom>
          <a:solidFill>
            <a:srgbClr val="FFFFFF"/>
          </a:solidFill>
          <a:ln w="12700">
            <a:solidFill>
              <a:srgbClr val="CFD5D9"/>
            </a:solidFill>
            <a:prstDash val="solid"/>
          </a:ln>
        </p:spPr>
      </p:sp>
      <p:sp>
        <p:nvSpPr>
          <p:cNvPr id="14" name="Text 12"/>
          <p:cNvSpPr txBox="1"/>
          <p:nvPr/>
        </p:nvSpPr>
        <p:spPr>
          <a:xfrm>
            <a:off x="7269480" y="4206240"/>
            <a:ext cx="1783080" cy="676656"/>
          </a:xfrm>
          <a:prstGeom prst="rect">
            <a:avLst/>
          </a:prstGeom>
          <a:noFill/>
          <a:ln/>
        </p:spPr>
        <p:txBody>
          <a:bodyPr wrap="square" lIns="0" tIns="0" rIns="0" bIns="0" rtlCol="0" anchor="ctr"/>
          <a:lstStyle/>
          <a:p>
            <a:pPr indent="0" marL="0">
              <a:buNone/>
            </a:pPr>
            <a:r>
              <a:rPr lang="en-US" sz="1100" b="1" dirty="0">
                <a:solidFill>
                  <a:srgbClr val="177E89"/>
                </a:solidFill>
                <a:latin typeface="Consolas" pitchFamily="34" charset="0"/>
                <a:ea typeface="Consolas" pitchFamily="34" charset="-122"/>
                <a:cs typeface="Consolas" pitchFamily="34" charset="-120"/>
              </a:rPr>
              <a:t>addEventListener</a:t>
            </a:r>
            <a:endParaRPr lang="en-US" sz="1100" dirty="0"/>
          </a:p>
        </p:txBody>
      </p:sp>
      <p:sp>
        <p:nvSpPr>
          <p:cNvPr id="15" name="Text 13"/>
          <p:cNvSpPr txBox="1"/>
          <p:nvPr/>
        </p:nvSpPr>
        <p:spPr>
          <a:xfrm>
            <a:off x="9052560" y="4206240"/>
            <a:ext cx="2240280" cy="676656"/>
          </a:xfrm>
          <a:prstGeom prst="rect">
            <a:avLst/>
          </a:prstGeom>
          <a:noFill/>
          <a:ln/>
        </p:spPr>
        <p:txBody>
          <a:bodyPr wrap="square" lIns="0" tIns="0" rIns="0" bIns="0" rtlCol="0" anchor="ctr"/>
          <a:lstStyle/>
          <a:p>
            <a:pPr indent="0" marL="0">
              <a:buNone/>
            </a:pPr>
            <a:r>
              <a:rPr lang="en-US" sz="1050" dirty="0">
                <a:solidFill>
                  <a:srgbClr val="33393D"/>
                </a:solidFill>
                <a:latin typeface="Calibri" pitchFamily="34" charset="0"/>
                <a:ea typeface="Calibri" pitchFamily="34" charset="-122"/>
                <a:cs typeface="Calibri" pitchFamily="34" charset="-120"/>
              </a:rPr>
              <a:t>«Cuando hagan clic aquí, ejecuta esto».</a:t>
            </a:r>
            <a:endParaRPr lang="en-US" sz="1050" dirty="0"/>
          </a:p>
        </p:txBody>
      </p:sp>
      <p:sp>
        <p:nvSpPr>
          <p:cNvPr id="16" name="Shape 14"/>
          <p:cNvSpPr/>
          <p:nvPr/>
        </p:nvSpPr>
        <p:spPr>
          <a:xfrm>
            <a:off x="6995160" y="5001768"/>
            <a:ext cx="4572000" cy="676656"/>
          </a:xfrm>
          <a:prstGeom prst="roundRect">
            <a:avLst>
              <a:gd name="adj" fmla="val 13514"/>
            </a:avLst>
          </a:prstGeom>
          <a:solidFill>
            <a:srgbClr val="FFFFFF"/>
          </a:solidFill>
          <a:ln w="12700">
            <a:solidFill>
              <a:srgbClr val="CFD5D9"/>
            </a:solidFill>
            <a:prstDash val="solid"/>
          </a:ln>
        </p:spPr>
      </p:sp>
      <p:sp>
        <p:nvSpPr>
          <p:cNvPr id="17" name="Text 15"/>
          <p:cNvSpPr txBox="1"/>
          <p:nvPr/>
        </p:nvSpPr>
        <p:spPr>
          <a:xfrm>
            <a:off x="7269480" y="5001768"/>
            <a:ext cx="1783080" cy="676656"/>
          </a:xfrm>
          <a:prstGeom prst="rect">
            <a:avLst/>
          </a:prstGeom>
          <a:noFill/>
          <a:ln/>
        </p:spPr>
        <p:txBody>
          <a:bodyPr wrap="square" lIns="0" tIns="0" rIns="0" bIns="0" rtlCol="0" anchor="ctr"/>
          <a:lstStyle/>
          <a:p>
            <a:pPr indent="0" marL="0">
              <a:buNone/>
            </a:pPr>
            <a:r>
              <a:rPr lang="en-US" sz="1100" b="1" dirty="0">
                <a:solidFill>
                  <a:srgbClr val="177E89"/>
                </a:solidFill>
                <a:latin typeface="Consolas" pitchFamily="34" charset="0"/>
                <a:ea typeface="Consolas" pitchFamily="34" charset="-122"/>
                <a:cs typeface="Consolas" pitchFamily="34" charset="-120"/>
              </a:rPr>
              <a:t>play() · pause()</a:t>
            </a:r>
            <a:endParaRPr lang="en-US" sz="1100" dirty="0"/>
          </a:p>
        </p:txBody>
      </p:sp>
      <p:sp>
        <p:nvSpPr>
          <p:cNvPr id="18" name="Text 16"/>
          <p:cNvSpPr txBox="1"/>
          <p:nvPr/>
        </p:nvSpPr>
        <p:spPr>
          <a:xfrm>
            <a:off x="9052560" y="5001768"/>
            <a:ext cx="2240280" cy="676656"/>
          </a:xfrm>
          <a:prstGeom prst="rect">
            <a:avLst/>
          </a:prstGeom>
          <a:noFill/>
          <a:ln/>
        </p:spPr>
        <p:txBody>
          <a:bodyPr wrap="square" lIns="0" tIns="0" rIns="0" bIns="0" rtlCol="0" anchor="ctr"/>
          <a:lstStyle/>
          <a:p>
            <a:pPr indent="0" marL="0">
              <a:buNone/>
            </a:pPr>
            <a:r>
              <a:rPr lang="en-US" sz="1050" dirty="0">
                <a:solidFill>
                  <a:srgbClr val="33393D"/>
                </a:solidFill>
                <a:latin typeface="Calibri" pitchFamily="34" charset="0"/>
                <a:ea typeface="Calibri" pitchFamily="34" charset="-122"/>
                <a:cs typeface="Calibri" pitchFamily="34" charset="-120"/>
              </a:rPr>
              <a:t>Las órdenes que acepta un video o un audio.</a:t>
            </a:r>
            <a:endParaRPr lang="en-US" sz="1050" dirty="0"/>
          </a:p>
        </p:txBody>
      </p:sp>
      <p:sp>
        <p:nvSpPr>
          <p:cNvPr id="19" name="Text 17"/>
          <p:cNvSpPr txBox="1"/>
          <p:nvPr/>
        </p:nvSpPr>
        <p:spPr>
          <a:xfrm>
            <a:off x="640080" y="6053328"/>
            <a:ext cx="10927080" cy="256032"/>
          </a:xfrm>
          <a:prstGeom prst="rect">
            <a:avLst/>
          </a:prstGeom>
          <a:noFill/>
          <a:ln/>
        </p:spPr>
        <p:txBody>
          <a:bodyPr wrap="square" lIns="0" tIns="0" rIns="0" bIns="0" rtlCol="0" anchor="ctr"/>
          <a:lstStyle/>
          <a:p>
            <a:pPr algn="ctr" indent="0" marL="0">
              <a:buNone/>
            </a:pPr>
            <a:r>
              <a:rPr lang="en-US" sz="1150" i="1" dirty="0">
                <a:solidFill>
                  <a:srgbClr val="5F676C"/>
                </a:solidFill>
                <a:latin typeface="Calibri" pitchFamily="34" charset="0"/>
                <a:ea typeface="Calibri" pitchFamily="34" charset="-122"/>
                <a:cs typeface="Calibri" pitchFamily="34" charset="-120"/>
              </a:rPr>
              <a:t>El archivo completo, con la barra de avance y el contador de tiempo, está en assets/js/reproductor.js.</a:t>
            </a:r>
            <a:endParaRPr lang="en-US" sz="1150" dirty="0"/>
          </a:p>
        </p:txBody>
      </p:sp>
      <p:sp>
        <p:nvSpPr>
          <p:cNvPr id="20" name="Text 18"/>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36 / 48</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indent="0" marL="0">
              <a:buNone/>
            </a:pPr>
            <a:r>
              <a:rPr lang="en-US" sz="1050" b="1" spc="300" kern="0" dirty="0">
                <a:solidFill>
                  <a:srgbClr val="177E89"/>
                </a:solidFill>
                <a:latin typeface="Calibri" pitchFamily="34" charset="0"/>
                <a:ea typeface="Calibri" pitchFamily="34" charset="-122"/>
                <a:cs typeface="Calibri" pitchFamily="34" charset="-120"/>
              </a:rPr>
              <a:t>05 · PRÁCTICA</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Construimos juntos: tu video de presentación</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indent="0" marL="0">
              <a:buNone/>
            </a:pPr>
            <a:r>
              <a:rPr lang="en-US" sz="1250" dirty="0">
                <a:solidFill>
                  <a:srgbClr val="5F676C"/>
                </a:solidFill>
                <a:latin typeface="Calibri" pitchFamily="34" charset="0"/>
                <a:ea typeface="Calibri" pitchFamily="34" charset="-122"/>
                <a:cs typeface="Calibri" pitchFamily="34" charset="-120"/>
              </a:rPr>
              <a:t>Escríbelo conmigo, línea por línea. No lo copies y pegues.</a:t>
            </a:r>
            <a:endParaRPr lang="en-US" sz="1250" dirty="0"/>
          </a:p>
        </p:txBody>
      </p:sp>
      <p:sp>
        <p:nvSpPr>
          <p:cNvPr id="6" name="Shape 3"/>
          <p:cNvSpPr/>
          <p:nvPr/>
        </p:nvSpPr>
        <p:spPr>
          <a:xfrm>
            <a:off x="640080" y="2615184"/>
            <a:ext cx="6492240" cy="3419856"/>
          </a:xfrm>
          <a:prstGeom prst="roundRect">
            <a:avLst>
              <a:gd name="adj" fmla="val 2674"/>
            </a:avLst>
          </a:prstGeom>
          <a:solidFill>
            <a:srgbClr val="2B2B2B"/>
          </a:solidFill>
          <a:ln w="12700">
            <a:solidFill>
              <a:srgbClr val="2B2B2B"/>
            </a:solidFill>
            <a:prstDash val="solid"/>
          </a:ln>
        </p:spPr>
      </p:sp>
      <p:sp>
        <p:nvSpPr>
          <p:cNvPr id="7" name="Text 4"/>
          <p:cNvSpPr txBox="1"/>
          <p:nvPr/>
        </p:nvSpPr>
        <p:spPr>
          <a:xfrm>
            <a:off x="868680" y="2779776"/>
            <a:ext cx="6035040" cy="3090672"/>
          </a:xfrm>
          <a:prstGeom prst="rect">
            <a:avLst/>
          </a:prstGeom>
          <a:noFill/>
          <a:ln/>
        </p:spPr>
        <p:txBody>
          <a:bodyPr wrap="square" lIns="0" tIns="0" rIns="0" bIns="0" rtlCol="0" anchor="t"/>
          <a:lstStyle/>
          <a:p>
            <a:pPr indent="0" marL="0">
              <a:lnSpc>
                <a:spcPct val="125000"/>
              </a:lnSpc>
              <a:buNone/>
            </a:pPr>
            <a:r>
              <a:rPr lang="en-US" sz="1050" dirty="0">
                <a:solidFill>
                  <a:srgbClr val="E5E7EB"/>
                </a:solidFill>
                <a:latin typeface="Consolas" pitchFamily="34" charset="0"/>
                <a:ea typeface="Consolas" pitchFamily="34" charset="-122"/>
                <a:cs typeface="Consolas" pitchFamily="34" charset="-120"/>
              </a:rPr>
              <a:t>&lt;figure&gt;</a:t>
            </a:r>
            <a:endParaRPr lang="en-US" sz="1050" dirty="0"/>
          </a:p>
          <a:p>
            <a:pPr indent="0" marL="0">
              <a:lnSpc>
                <a:spcPct val="125000"/>
              </a:lnSpc>
              <a:buNone/>
            </a:pPr>
            <a:r>
              <a:rPr lang="en-US" sz="1050" dirty="0">
                <a:solidFill>
                  <a:srgbClr val="E5E7EB"/>
                </a:solidFill>
                <a:latin typeface="Consolas" pitchFamily="34" charset="0"/>
                <a:ea typeface="Consolas" pitchFamily="34" charset="-122"/>
                <a:cs typeface="Consolas" pitchFamily="34" charset="-120"/>
              </a:rPr>
              <a:t>  &lt;video id="video-presentacion" width="315" height="560"</a:t>
            </a:r>
            <a:endParaRPr lang="en-US" sz="1050" dirty="0"/>
          </a:p>
          <a:p>
            <a:pPr indent="0" marL="0">
              <a:lnSpc>
                <a:spcPct val="125000"/>
              </a:lnSpc>
              <a:buNone/>
            </a:pPr>
            <a:r>
              <a:rPr lang="en-US" sz="1050" dirty="0">
                <a:solidFill>
                  <a:srgbClr val="E5E7EB"/>
                </a:solidFill>
                <a:latin typeface="Consolas" pitchFamily="34" charset="0"/>
                <a:ea typeface="Consolas" pitchFamily="34" charset="-122"/>
                <a:cs typeface="Consolas" pitchFamily="34" charset="-120"/>
              </a:rPr>
              <a:t>    poster="assets/img/poster-presentacion.jpg"</a:t>
            </a:r>
            <a:endParaRPr lang="en-US" sz="1050" dirty="0"/>
          </a:p>
          <a:p>
            <a:pPr indent="0" marL="0">
              <a:lnSpc>
                <a:spcPct val="125000"/>
              </a:lnSpc>
              <a:buNone/>
            </a:pPr>
            <a:r>
              <a:rPr lang="en-US" sz="1050" dirty="0">
                <a:solidFill>
                  <a:srgbClr val="E5E7EB"/>
                </a:solidFill>
                <a:latin typeface="Consolas" pitchFamily="34" charset="0"/>
                <a:ea typeface="Consolas" pitchFamily="34" charset="-122"/>
                <a:cs typeface="Consolas" pitchFamily="34" charset="-120"/>
              </a:rPr>
              <a:t>    preload="metadata" controls playsinline&gt;</a:t>
            </a:r>
            <a:endParaRPr lang="en-US" sz="1050" dirty="0"/>
          </a:p>
          <a:p>
            <a:pPr indent="0" marL="0">
              <a:lnSpc>
                <a:spcPct val="125000"/>
              </a:lnSpc>
              <a:buNone/>
            </a:pPr>
            <a:r>
              <a:rPr lang="en-US" sz="1050" dirty="0">
                <a:solidFill>
                  <a:srgbClr val="E5E7EB"/>
                </a:solidFill>
                <a:latin typeface="Consolas" pitchFamily="34" charset="0"/>
                <a:ea typeface="Consolas" pitchFamily="34" charset="-122"/>
                <a:cs typeface="Consolas" pitchFamily="34" charset="-120"/>
              </a:rPr>
              <a:t>    &lt;source src="assets/media/video/presentacion.webm"</a:t>
            </a:r>
            <a:endParaRPr lang="en-US" sz="1050" dirty="0"/>
          </a:p>
          <a:p>
            <a:pPr indent="0" marL="0">
              <a:lnSpc>
                <a:spcPct val="125000"/>
              </a:lnSpc>
              <a:buNone/>
            </a:pPr>
            <a:r>
              <a:rPr lang="en-US" sz="1050" dirty="0">
                <a:solidFill>
                  <a:srgbClr val="E5E7EB"/>
                </a:solidFill>
                <a:latin typeface="Consolas" pitchFamily="34" charset="0"/>
                <a:ea typeface="Consolas" pitchFamily="34" charset="-122"/>
                <a:cs typeface="Consolas" pitchFamily="34" charset="-120"/>
              </a:rPr>
              <a:t>      type="video/webm" /&gt;</a:t>
            </a:r>
            <a:endParaRPr lang="en-US" sz="1050" dirty="0"/>
          </a:p>
          <a:p>
            <a:pPr indent="0" marL="0">
              <a:lnSpc>
                <a:spcPct val="125000"/>
              </a:lnSpc>
              <a:buNone/>
            </a:pPr>
            <a:r>
              <a:rPr lang="en-US" sz="1050" dirty="0">
                <a:solidFill>
                  <a:srgbClr val="E5E7EB"/>
                </a:solidFill>
                <a:latin typeface="Consolas" pitchFamily="34" charset="0"/>
                <a:ea typeface="Consolas" pitchFamily="34" charset="-122"/>
                <a:cs typeface="Consolas" pitchFamily="34" charset="-120"/>
              </a:rPr>
              <a:t>    &lt;source src="assets/media/video/presentacion.mp4"</a:t>
            </a:r>
            <a:endParaRPr lang="en-US" sz="1050" dirty="0"/>
          </a:p>
          <a:p>
            <a:pPr indent="0" marL="0">
              <a:lnSpc>
                <a:spcPct val="125000"/>
              </a:lnSpc>
              <a:buNone/>
            </a:pPr>
            <a:r>
              <a:rPr lang="en-US" sz="1050" dirty="0">
                <a:solidFill>
                  <a:srgbClr val="E5E7EB"/>
                </a:solidFill>
                <a:latin typeface="Consolas" pitchFamily="34" charset="0"/>
                <a:ea typeface="Consolas" pitchFamily="34" charset="-122"/>
                <a:cs typeface="Consolas" pitchFamily="34" charset="-120"/>
              </a:rPr>
              <a:t>      type="video/mp4" /&gt;</a:t>
            </a:r>
            <a:endParaRPr lang="en-US" sz="1050" dirty="0"/>
          </a:p>
          <a:p>
            <a:pPr indent="0" marL="0">
              <a:lnSpc>
                <a:spcPct val="125000"/>
              </a:lnSpc>
              <a:buNone/>
            </a:pPr>
            <a:r>
              <a:rPr lang="en-US" sz="1050" dirty="0">
                <a:solidFill>
                  <a:srgbClr val="E5E7EB"/>
                </a:solidFill>
                <a:latin typeface="Consolas" pitchFamily="34" charset="0"/>
                <a:ea typeface="Consolas" pitchFamily="34" charset="-122"/>
                <a:cs typeface="Consolas" pitchFamily="34" charset="-120"/>
              </a:rPr>
              <a:t>    &lt;track kind="subtitles" srclang="es" label="Español"</a:t>
            </a:r>
            <a:endParaRPr lang="en-US" sz="1050" dirty="0"/>
          </a:p>
          <a:p>
            <a:pPr indent="0" marL="0">
              <a:lnSpc>
                <a:spcPct val="125000"/>
              </a:lnSpc>
              <a:buNone/>
            </a:pPr>
            <a:r>
              <a:rPr lang="en-US" sz="1050" dirty="0">
                <a:solidFill>
                  <a:srgbClr val="E5E7EB"/>
                </a:solidFill>
                <a:latin typeface="Consolas" pitchFamily="34" charset="0"/>
                <a:ea typeface="Consolas" pitchFamily="34" charset="-122"/>
                <a:cs typeface="Consolas" pitchFamily="34" charset="-120"/>
              </a:rPr>
              <a:t>      src="assets/media/video/presentacion.es.vtt" default /&gt;</a:t>
            </a:r>
            <a:endParaRPr lang="en-US" sz="1050" dirty="0"/>
          </a:p>
          <a:p>
            <a:pPr indent="0" marL="0">
              <a:lnSpc>
                <a:spcPct val="125000"/>
              </a:lnSpc>
              <a:buNone/>
            </a:pPr>
            <a:r>
              <a:rPr lang="en-US" sz="1050" dirty="0">
                <a:solidFill>
                  <a:srgbClr val="E5E7EB"/>
                </a:solidFill>
                <a:latin typeface="Consolas" pitchFamily="34" charset="0"/>
                <a:ea typeface="Consolas" pitchFamily="34" charset="-122"/>
                <a:cs typeface="Consolas" pitchFamily="34" charset="-120"/>
              </a:rPr>
              <a:t>  &lt;/video&gt;</a:t>
            </a:r>
            <a:endParaRPr lang="en-US" sz="1050" dirty="0"/>
          </a:p>
          <a:p>
            <a:pPr indent="0" marL="0">
              <a:lnSpc>
                <a:spcPct val="125000"/>
              </a:lnSpc>
              <a:buNone/>
            </a:pPr>
            <a:r>
              <a:rPr lang="en-US" sz="1050" dirty="0">
                <a:solidFill>
                  <a:srgbClr val="E5E7EB"/>
                </a:solidFill>
                <a:latin typeface="Consolas" pitchFamily="34" charset="0"/>
                <a:ea typeface="Consolas" pitchFamily="34" charset="-122"/>
                <a:cs typeface="Consolas" pitchFamily="34" charset="-120"/>
              </a:rPr>
              <a:t>  </a:t>
            </a:r>
            <a:pPr indent="0" marL="0">
              <a:lnSpc>
                <a:spcPct val="125000"/>
              </a:lnSpc>
              <a:buNone/>
            </a:pPr>
            <a:r>
              <a:rPr lang="en-US" sz="1050" dirty="0">
                <a:solidFill>
                  <a:srgbClr val="9AA39E"/>
                </a:solidFill>
                <a:latin typeface="Consolas" pitchFamily="34" charset="0"/>
                <a:ea typeface="Consolas" pitchFamily="34" charset="-122"/>
                <a:cs typeface="Consolas" pitchFamily="34" charset="-120"/>
              </a:rPr>
              <a:t>&lt;!-- aquí va el div de controles --&gt;</a:t>
            </a:r>
            <a:endParaRPr lang="en-US" sz="1050" dirty="0"/>
          </a:p>
          <a:p>
            <a:pPr indent="0" marL="0">
              <a:lnSpc>
                <a:spcPct val="125000"/>
              </a:lnSpc>
              <a:buNone/>
            </a:pPr>
            <a:r>
              <a:rPr lang="en-US" sz="1050" dirty="0">
                <a:solidFill>
                  <a:srgbClr val="E5E7EB"/>
                </a:solidFill>
                <a:latin typeface="Consolas" pitchFamily="34" charset="0"/>
                <a:ea typeface="Consolas" pitchFamily="34" charset="-122"/>
                <a:cs typeface="Consolas" pitchFamily="34" charset="-120"/>
              </a:rPr>
              <a:t>  &lt;figcaption&gt;Video de presentación de Dagner Chuman.&lt;/figcaption&gt;</a:t>
            </a:r>
            <a:endParaRPr lang="en-US" sz="1050" dirty="0"/>
          </a:p>
          <a:p>
            <a:pPr indent="0" marL="0">
              <a:lnSpc>
                <a:spcPct val="125000"/>
              </a:lnSpc>
              <a:buNone/>
            </a:pPr>
            <a:r>
              <a:rPr lang="en-US" sz="1050" dirty="0">
                <a:solidFill>
                  <a:srgbClr val="E5E7EB"/>
                </a:solidFill>
                <a:latin typeface="Consolas" pitchFamily="34" charset="0"/>
                <a:ea typeface="Consolas" pitchFamily="34" charset="-122"/>
                <a:cs typeface="Consolas" pitchFamily="34" charset="-120"/>
              </a:rPr>
              <a:t>&lt;/figure&gt;</a:t>
            </a:r>
            <a:endParaRPr lang="en-US" sz="1050" dirty="0"/>
          </a:p>
        </p:txBody>
      </p:sp>
      <p:sp>
        <p:nvSpPr>
          <p:cNvPr id="8" name="Shape 5"/>
          <p:cNvSpPr/>
          <p:nvPr/>
        </p:nvSpPr>
        <p:spPr>
          <a:xfrm>
            <a:off x="7315200" y="2615184"/>
            <a:ext cx="4251960" cy="512064"/>
          </a:xfrm>
          <a:prstGeom prst="roundRect">
            <a:avLst>
              <a:gd name="adj" fmla="val 17857"/>
            </a:avLst>
          </a:prstGeom>
          <a:solidFill>
            <a:srgbClr val="FFFFFF"/>
          </a:solidFill>
          <a:ln w="12700">
            <a:solidFill>
              <a:srgbClr val="CFD5D9"/>
            </a:solidFill>
            <a:prstDash val="solid"/>
          </a:ln>
        </p:spPr>
      </p:sp>
      <p:sp>
        <p:nvSpPr>
          <p:cNvPr id="9" name="Shape 6"/>
          <p:cNvSpPr/>
          <p:nvPr/>
        </p:nvSpPr>
        <p:spPr>
          <a:xfrm>
            <a:off x="7479792" y="2706624"/>
            <a:ext cx="329184" cy="329184"/>
          </a:xfrm>
          <a:prstGeom prst="ellipse">
            <a:avLst/>
          </a:prstGeom>
          <a:solidFill>
            <a:srgbClr val="177E89"/>
          </a:solidFill>
          <a:ln w="12700">
            <a:solidFill>
              <a:srgbClr val="177E89"/>
            </a:solidFill>
            <a:prstDash val="solid"/>
          </a:ln>
        </p:spPr>
      </p:sp>
      <p:sp>
        <p:nvSpPr>
          <p:cNvPr id="10" name="Text 7"/>
          <p:cNvSpPr txBox="1"/>
          <p:nvPr/>
        </p:nvSpPr>
        <p:spPr>
          <a:xfrm>
            <a:off x="7479792" y="2706624"/>
            <a:ext cx="329184"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1" name="Text 8"/>
          <p:cNvSpPr txBox="1"/>
          <p:nvPr/>
        </p:nvSpPr>
        <p:spPr>
          <a:xfrm>
            <a:off x="7973568" y="2615184"/>
            <a:ext cx="1097280" cy="512064"/>
          </a:xfrm>
          <a:prstGeom prst="rect">
            <a:avLst/>
          </a:prstGeom>
          <a:noFill/>
          <a:ln/>
        </p:spPr>
        <p:txBody>
          <a:bodyPr wrap="square" lIns="0" tIns="0" rIns="0" bIns="0" rtlCol="0" anchor="ctr"/>
          <a:lstStyle/>
          <a:p>
            <a:pPr indent="0" marL="0">
              <a:buNone/>
            </a:pPr>
            <a:r>
              <a:rPr lang="en-US" sz="1250" b="1" dirty="0">
                <a:solidFill>
                  <a:srgbClr val="1F2326"/>
                </a:solidFill>
                <a:latin typeface="Calibri" pitchFamily="34" charset="0"/>
                <a:ea typeface="Calibri" pitchFamily="34" charset="-122"/>
                <a:cs typeface="Calibri" pitchFamily="34" charset="-120"/>
              </a:rPr>
              <a:t>Limpia</a:t>
            </a:r>
            <a:endParaRPr lang="en-US" sz="1250" dirty="0"/>
          </a:p>
        </p:txBody>
      </p:sp>
      <p:sp>
        <p:nvSpPr>
          <p:cNvPr id="12" name="Text 9"/>
          <p:cNvSpPr txBox="1"/>
          <p:nvPr/>
        </p:nvSpPr>
        <p:spPr>
          <a:xfrm>
            <a:off x="9070848" y="2615184"/>
            <a:ext cx="2331720" cy="512064"/>
          </a:xfrm>
          <a:prstGeom prst="rect">
            <a:avLst/>
          </a:prstGeom>
          <a:noFill/>
          <a:ln/>
        </p:spPr>
        <p:txBody>
          <a:bodyPr wrap="square" lIns="0" tIns="0" rIns="0" bIns="0" rtlCol="0" anchor="ctr"/>
          <a:lstStyle/>
          <a:p>
            <a:pPr indent="0" marL="0">
              <a:buNone/>
            </a:pPr>
            <a:r>
              <a:rPr lang="en-US" sz="1050" dirty="0">
                <a:solidFill>
                  <a:srgbClr val="33393D"/>
                </a:solidFill>
                <a:latin typeface="Calibri" pitchFamily="34" charset="0"/>
                <a:ea typeface="Calibri" pitchFamily="34" charset="-122"/>
                <a:cs typeface="Calibri" pitchFamily="34" charset="-120"/>
              </a:rPr>
              <a:t>Borra el video repetido y el &lt;style&gt; vacío.</a:t>
            </a:r>
            <a:endParaRPr lang="en-US" sz="1050" dirty="0"/>
          </a:p>
        </p:txBody>
      </p:sp>
      <p:sp>
        <p:nvSpPr>
          <p:cNvPr id="13" name="Shape 10"/>
          <p:cNvSpPr/>
          <p:nvPr/>
        </p:nvSpPr>
        <p:spPr>
          <a:xfrm>
            <a:off x="7315200" y="3196742"/>
            <a:ext cx="4251960" cy="512064"/>
          </a:xfrm>
          <a:prstGeom prst="roundRect">
            <a:avLst>
              <a:gd name="adj" fmla="val 17857"/>
            </a:avLst>
          </a:prstGeom>
          <a:solidFill>
            <a:srgbClr val="FFFFFF"/>
          </a:solidFill>
          <a:ln w="12700">
            <a:solidFill>
              <a:srgbClr val="CFD5D9"/>
            </a:solidFill>
            <a:prstDash val="solid"/>
          </a:ln>
        </p:spPr>
      </p:sp>
      <p:sp>
        <p:nvSpPr>
          <p:cNvPr id="14" name="Shape 11"/>
          <p:cNvSpPr/>
          <p:nvPr/>
        </p:nvSpPr>
        <p:spPr>
          <a:xfrm>
            <a:off x="7479792" y="3288182"/>
            <a:ext cx="329184" cy="329184"/>
          </a:xfrm>
          <a:prstGeom prst="ellipse">
            <a:avLst/>
          </a:prstGeom>
          <a:solidFill>
            <a:srgbClr val="177E89"/>
          </a:solidFill>
          <a:ln w="12700">
            <a:solidFill>
              <a:srgbClr val="177E89"/>
            </a:solidFill>
            <a:prstDash val="solid"/>
          </a:ln>
        </p:spPr>
      </p:sp>
      <p:sp>
        <p:nvSpPr>
          <p:cNvPr id="15" name="Text 12"/>
          <p:cNvSpPr txBox="1"/>
          <p:nvPr/>
        </p:nvSpPr>
        <p:spPr>
          <a:xfrm>
            <a:off x="7479792" y="3288182"/>
            <a:ext cx="329184"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6" name="Text 13"/>
          <p:cNvSpPr txBox="1"/>
          <p:nvPr/>
        </p:nvSpPr>
        <p:spPr>
          <a:xfrm>
            <a:off x="7973568" y="3196742"/>
            <a:ext cx="1097280" cy="512064"/>
          </a:xfrm>
          <a:prstGeom prst="rect">
            <a:avLst/>
          </a:prstGeom>
          <a:noFill/>
          <a:ln/>
        </p:spPr>
        <p:txBody>
          <a:bodyPr wrap="square" lIns="0" tIns="0" rIns="0" bIns="0" rtlCol="0" anchor="ctr"/>
          <a:lstStyle/>
          <a:p>
            <a:pPr indent="0" marL="0">
              <a:buNone/>
            </a:pPr>
            <a:r>
              <a:rPr lang="en-US" sz="1250" b="1" dirty="0">
                <a:solidFill>
                  <a:srgbClr val="1F2326"/>
                </a:solidFill>
                <a:latin typeface="Calibri" pitchFamily="34" charset="0"/>
                <a:ea typeface="Calibri" pitchFamily="34" charset="-122"/>
                <a:cs typeface="Calibri" pitchFamily="34" charset="-120"/>
              </a:rPr>
              <a:t>Envuelve</a:t>
            </a:r>
            <a:endParaRPr lang="en-US" sz="1250" dirty="0"/>
          </a:p>
        </p:txBody>
      </p:sp>
      <p:sp>
        <p:nvSpPr>
          <p:cNvPr id="17" name="Text 14"/>
          <p:cNvSpPr txBox="1"/>
          <p:nvPr/>
        </p:nvSpPr>
        <p:spPr>
          <a:xfrm>
            <a:off x="9070848" y="3196742"/>
            <a:ext cx="2331720" cy="512064"/>
          </a:xfrm>
          <a:prstGeom prst="rect">
            <a:avLst/>
          </a:prstGeom>
          <a:noFill/>
          <a:ln/>
        </p:spPr>
        <p:txBody>
          <a:bodyPr wrap="square" lIns="0" tIns="0" rIns="0" bIns="0" rtlCol="0" anchor="ctr"/>
          <a:lstStyle/>
          <a:p>
            <a:pPr indent="0" marL="0">
              <a:buNone/>
            </a:pPr>
            <a:r>
              <a:rPr lang="en-US" sz="1050" dirty="0">
                <a:solidFill>
                  <a:srgbClr val="33393D"/>
                </a:solidFill>
                <a:latin typeface="Calibri" pitchFamily="34" charset="0"/>
                <a:ea typeface="Calibri" pitchFamily="34" charset="-122"/>
                <a:cs typeface="Calibri" pitchFamily="34" charset="-120"/>
              </a:rPr>
              <a:t>figure y figcaption alrededor del video.</a:t>
            </a:r>
            <a:endParaRPr lang="en-US" sz="1050" dirty="0"/>
          </a:p>
        </p:txBody>
      </p:sp>
      <p:sp>
        <p:nvSpPr>
          <p:cNvPr id="18" name="Shape 15"/>
          <p:cNvSpPr/>
          <p:nvPr/>
        </p:nvSpPr>
        <p:spPr>
          <a:xfrm>
            <a:off x="7315200" y="3778301"/>
            <a:ext cx="4251960" cy="512064"/>
          </a:xfrm>
          <a:prstGeom prst="roundRect">
            <a:avLst>
              <a:gd name="adj" fmla="val 17857"/>
            </a:avLst>
          </a:prstGeom>
          <a:solidFill>
            <a:srgbClr val="FFFFFF"/>
          </a:solidFill>
          <a:ln w="12700">
            <a:solidFill>
              <a:srgbClr val="CFD5D9"/>
            </a:solidFill>
            <a:prstDash val="solid"/>
          </a:ln>
        </p:spPr>
      </p:sp>
      <p:sp>
        <p:nvSpPr>
          <p:cNvPr id="19" name="Shape 16"/>
          <p:cNvSpPr/>
          <p:nvPr/>
        </p:nvSpPr>
        <p:spPr>
          <a:xfrm>
            <a:off x="7479792" y="3869741"/>
            <a:ext cx="329184" cy="329184"/>
          </a:xfrm>
          <a:prstGeom prst="ellipse">
            <a:avLst/>
          </a:prstGeom>
          <a:solidFill>
            <a:srgbClr val="177E89"/>
          </a:solidFill>
          <a:ln w="12700">
            <a:solidFill>
              <a:srgbClr val="177E89"/>
            </a:solidFill>
            <a:prstDash val="solid"/>
          </a:ln>
        </p:spPr>
      </p:sp>
      <p:sp>
        <p:nvSpPr>
          <p:cNvPr id="20" name="Text 17"/>
          <p:cNvSpPr txBox="1"/>
          <p:nvPr/>
        </p:nvSpPr>
        <p:spPr>
          <a:xfrm>
            <a:off x="7479792" y="3869741"/>
            <a:ext cx="329184"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21" name="Text 18"/>
          <p:cNvSpPr txBox="1"/>
          <p:nvPr/>
        </p:nvSpPr>
        <p:spPr>
          <a:xfrm>
            <a:off x="7973568" y="3778301"/>
            <a:ext cx="1097280" cy="512064"/>
          </a:xfrm>
          <a:prstGeom prst="rect">
            <a:avLst/>
          </a:prstGeom>
          <a:noFill/>
          <a:ln/>
        </p:spPr>
        <p:txBody>
          <a:bodyPr wrap="square" lIns="0" tIns="0" rIns="0" bIns="0" rtlCol="0" anchor="ctr"/>
          <a:lstStyle/>
          <a:p>
            <a:pPr indent="0" marL="0">
              <a:buNone/>
            </a:pPr>
            <a:r>
              <a:rPr lang="en-US" sz="1250" b="1" dirty="0">
                <a:solidFill>
                  <a:srgbClr val="1F2326"/>
                </a:solidFill>
                <a:latin typeface="Calibri" pitchFamily="34" charset="0"/>
                <a:ea typeface="Calibri" pitchFamily="34" charset="-122"/>
                <a:cs typeface="Calibri" pitchFamily="34" charset="-120"/>
              </a:rPr>
              <a:t>Fuentes</a:t>
            </a:r>
            <a:endParaRPr lang="en-US" sz="1250" dirty="0"/>
          </a:p>
        </p:txBody>
      </p:sp>
      <p:sp>
        <p:nvSpPr>
          <p:cNvPr id="22" name="Text 19"/>
          <p:cNvSpPr txBox="1"/>
          <p:nvPr/>
        </p:nvSpPr>
        <p:spPr>
          <a:xfrm>
            <a:off x="9070848" y="3778301"/>
            <a:ext cx="2331720" cy="512064"/>
          </a:xfrm>
          <a:prstGeom prst="rect">
            <a:avLst/>
          </a:prstGeom>
          <a:noFill/>
          <a:ln/>
        </p:spPr>
        <p:txBody>
          <a:bodyPr wrap="square" lIns="0" tIns="0" rIns="0" bIns="0" rtlCol="0" anchor="ctr"/>
          <a:lstStyle/>
          <a:p>
            <a:pPr indent="0" marL="0">
              <a:buNone/>
            </a:pPr>
            <a:r>
              <a:rPr lang="en-US" sz="1050" dirty="0">
                <a:solidFill>
                  <a:srgbClr val="33393D"/>
                </a:solidFill>
                <a:latin typeface="Calibri" pitchFamily="34" charset="0"/>
                <a:ea typeface="Calibri" pitchFamily="34" charset="-122"/>
                <a:cs typeface="Calibri" pitchFamily="34" charset="-120"/>
              </a:rPr>
              <a:t>Dos source con su type; quita el src.</a:t>
            </a:r>
            <a:endParaRPr lang="en-US" sz="1050" dirty="0"/>
          </a:p>
        </p:txBody>
      </p:sp>
      <p:sp>
        <p:nvSpPr>
          <p:cNvPr id="23" name="Shape 20"/>
          <p:cNvSpPr/>
          <p:nvPr/>
        </p:nvSpPr>
        <p:spPr>
          <a:xfrm>
            <a:off x="7315200" y="4359859"/>
            <a:ext cx="4251960" cy="512064"/>
          </a:xfrm>
          <a:prstGeom prst="roundRect">
            <a:avLst>
              <a:gd name="adj" fmla="val 17857"/>
            </a:avLst>
          </a:prstGeom>
          <a:solidFill>
            <a:srgbClr val="FFFFFF"/>
          </a:solidFill>
          <a:ln w="12700">
            <a:solidFill>
              <a:srgbClr val="CFD5D9"/>
            </a:solidFill>
            <a:prstDash val="solid"/>
          </a:ln>
        </p:spPr>
      </p:sp>
      <p:sp>
        <p:nvSpPr>
          <p:cNvPr id="24" name="Shape 21"/>
          <p:cNvSpPr/>
          <p:nvPr/>
        </p:nvSpPr>
        <p:spPr>
          <a:xfrm>
            <a:off x="7479792" y="4451299"/>
            <a:ext cx="329184" cy="329184"/>
          </a:xfrm>
          <a:prstGeom prst="ellipse">
            <a:avLst/>
          </a:prstGeom>
          <a:solidFill>
            <a:srgbClr val="177E89"/>
          </a:solidFill>
          <a:ln w="12700">
            <a:solidFill>
              <a:srgbClr val="177E89"/>
            </a:solidFill>
            <a:prstDash val="solid"/>
          </a:ln>
        </p:spPr>
      </p:sp>
      <p:sp>
        <p:nvSpPr>
          <p:cNvPr id="25" name="Text 22"/>
          <p:cNvSpPr txBox="1"/>
          <p:nvPr/>
        </p:nvSpPr>
        <p:spPr>
          <a:xfrm>
            <a:off x="7479792" y="4451299"/>
            <a:ext cx="329184"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26" name="Text 23"/>
          <p:cNvSpPr txBox="1"/>
          <p:nvPr/>
        </p:nvSpPr>
        <p:spPr>
          <a:xfrm>
            <a:off x="7973568" y="4359859"/>
            <a:ext cx="1097280" cy="512064"/>
          </a:xfrm>
          <a:prstGeom prst="rect">
            <a:avLst/>
          </a:prstGeom>
          <a:noFill/>
          <a:ln/>
        </p:spPr>
        <p:txBody>
          <a:bodyPr wrap="square" lIns="0" tIns="0" rIns="0" bIns="0" rtlCol="0" anchor="ctr"/>
          <a:lstStyle/>
          <a:p>
            <a:pPr indent="0" marL="0">
              <a:buNone/>
            </a:pPr>
            <a:r>
              <a:rPr lang="en-US" sz="1250" b="1" dirty="0">
                <a:solidFill>
                  <a:srgbClr val="1F2326"/>
                </a:solidFill>
                <a:latin typeface="Calibri" pitchFamily="34" charset="0"/>
                <a:ea typeface="Calibri" pitchFamily="34" charset="-122"/>
                <a:cs typeface="Calibri" pitchFamily="34" charset="-120"/>
              </a:rPr>
              <a:t>Atributos</a:t>
            </a:r>
            <a:endParaRPr lang="en-US" sz="1250" dirty="0"/>
          </a:p>
        </p:txBody>
      </p:sp>
      <p:sp>
        <p:nvSpPr>
          <p:cNvPr id="27" name="Text 24"/>
          <p:cNvSpPr txBox="1"/>
          <p:nvPr/>
        </p:nvSpPr>
        <p:spPr>
          <a:xfrm>
            <a:off x="9070848" y="4359859"/>
            <a:ext cx="2331720" cy="512064"/>
          </a:xfrm>
          <a:prstGeom prst="rect">
            <a:avLst/>
          </a:prstGeom>
          <a:noFill/>
          <a:ln/>
        </p:spPr>
        <p:txBody>
          <a:bodyPr wrap="square" lIns="0" tIns="0" rIns="0" bIns="0" rtlCol="0" anchor="ctr"/>
          <a:lstStyle/>
          <a:p>
            <a:pPr indent="0" marL="0">
              <a:buNone/>
            </a:pPr>
            <a:r>
              <a:rPr lang="en-US" sz="1050" dirty="0">
                <a:solidFill>
                  <a:srgbClr val="33393D"/>
                </a:solidFill>
                <a:latin typeface="Calibri" pitchFamily="34" charset="0"/>
                <a:ea typeface="Calibri" pitchFamily="34" charset="-122"/>
                <a:cs typeface="Calibri" pitchFamily="34" charset="-120"/>
              </a:rPr>
              <a:t>poster, preload y la proporción real.</a:t>
            </a:r>
            <a:endParaRPr lang="en-US" sz="1050" dirty="0"/>
          </a:p>
        </p:txBody>
      </p:sp>
      <p:sp>
        <p:nvSpPr>
          <p:cNvPr id="28" name="Shape 25"/>
          <p:cNvSpPr/>
          <p:nvPr/>
        </p:nvSpPr>
        <p:spPr>
          <a:xfrm>
            <a:off x="7315200" y="4941418"/>
            <a:ext cx="4251960" cy="512064"/>
          </a:xfrm>
          <a:prstGeom prst="roundRect">
            <a:avLst>
              <a:gd name="adj" fmla="val 17857"/>
            </a:avLst>
          </a:prstGeom>
          <a:solidFill>
            <a:srgbClr val="FFFFFF"/>
          </a:solidFill>
          <a:ln w="12700">
            <a:solidFill>
              <a:srgbClr val="CFD5D9"/>
            </a:solidFill>
            <a:prstDash val="solid"/>
          </a:ln>
        </p:spPr>
      </p:sp>
      <p:sp>
        <p:nvSpPr>
          <p:cNvPr id="29" name="Shape 26"/>
          <p:cNvSpPr/>
          <p:nvPr/>
        </p:nvSpPr>
        <p:spPr>
          <a:xfrm>
            <a:off x="7479792" y="5032858"/>
            <a:ext cx="329184" cy="329184"/>
          </a:xfrm>
          <a:prstGeom prst="ellipse">
            <a:avLst/>
          </a:prstGeom>
          <a:solidFill>
            <a:srgbClr val="177E89"/>
          </a:solidFill>
          <a:ln w="12700">
            <a:solidFill>
              <a:srgbClr val="177E89"/>
            </a:solidFill>
            <a:prstDash val="solid"/>
          </a:ln>
        </p:spPr>
      </p:sp>
      <p:sp>
        <p:nvSpPr>
          <p:cNvPr id="30" name="Text 27"/>
          <p:cNvSpPr txBox="1"/>
          <p:nvPr/>
        </p:nvSpPr>
        <p:spPr>
          <a:xfrm>
            <a:off x="7479792" y="5032858"/>
            <a:ext cx="329184"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31" name="Text 28"/>
          <p:cNvSpPr txBox="1"/>
          <p:nvPr/>
        </p:nvSpPr>
        <p:spPr>
          <a:xfrm>
            <a:off x="7973568" y="4941418"/>
            <a:ext cx="1097280" cy="512064"/>
          </a:xfrm>
          <a:prstGeom prst="rect">
            <a:avLst/>
          </a:prstGeom>
          <a:noFill/>
          <a:ln/>
        </p:spPr>
        <p:txBody>
          <a:bodyPr wrap="square" lIns="0" tIns="0" rIns="0" bIns="0" rtlCol="0" anchor="ctr"/>
          <a:lstStyle/>
          <a:p>
            <a:pPr indent="0" marL="0">
              <a:buNone/>
            </a:pPr>
            <a:r>
              <a:rPr lang="en-US" sz="1250" b="1" dirty="0">
                <a:solidFill>
                  <a:srgbClr val="1F2326"/>
                </a:solidFill>
                <a:latin typeface="Calibri" pitchFamily="34" charset="0"/>
                <a:ea typeface="Calibri" pitchFamily="34" charset="-122"/>
                <a:cs typeface="Calibri" pitchFamily="34" charset="-120"/>
              </a:rPr>
              <a:t>Subtítulos</a:t>
            </a:r>
            <a:endParaRPr lang="en-US" sz="1250" dirty="0"/>
          </a:p>
        </p:txBody>
      </p:sp>
      <p:sp>
        <p:nvSpPr>
          <p:cNvPr id="32" name="Text 29"/>
          <p:cNvSpPr txBox="1"/>
          <p:nvPr/>
        </p:nvSpPr>
        <p:spPr>
          <a:xfrm>
            <a:off x="9070848" y="4941418"/>
            <a:ext cx="2331720" cy="512064"/>
          </a:xfrm>
          <a:prstGeom prst="rect">
            <a:avLst/>
          </a:prstGeom>
          <a:noFill/>
          <a:ln/>
        </p:spPr>
        <p:txBody>
          <a:bodyPr wrap="square" lIns="0" tIns="0" rIns="0" bIns="0" rtlCol="0" anchor="ctr"/>
          <a:lstStyle/>
          <a:p>
            <a:pPr indent="0" marL="0">
              <a:buNone/>
            </a:pPr>
            <a:r>
              <a:rPr lang="en-US" sz="1050" dirty="0">
                <a:solidFill>
                  <a:srgbClr val="33393D"/>
                </a:solidFill>
                <a:latin typeface="Calibri" pitchFamily="34" charset="0"/>
                <a:ea typeface="Calibri" pitchFamily="34" charset="-122"/>
                <a:cs typeface="Calibri" pitchFamily="34" charset="-120"/>
              </a:rPr>
              <a:t>Crea el .vtt y añade track.</a:t>
            </a:r>
            <a:endParaRPr lang="en-US" sz="1050" dirty="0"/>
          </a:p>
        </p:txBody>
      </p:sp>
      <p:sp>
        <p:nvSpPr>
          <p:cNvPr id="33" name="Shape 30"/>
          <p:cNvSpPr/>
          <p:nvPr/>
        </p:nvSpPr>
        <p:spPr>
          <a:xfrm>
            <a:off x="7315200" y="5522976"/>
            <a:ext cx="4251960" cy="512064"/>
          </a:xfrm>
          <a:prstGeom prst="roundRect">
            <a:avLst>
              <a:gd name="adj" fmla="val 17857"/>
            </a:avLst>
          </a:prstGeom>
          <a:solidFill>
            <a:srgbClr val="FFFFFF"/>
          </a:solidFill>
          <a:ln w="12700">
            <a:solidFill>
              <a:srgbClr val="CFD5D9"/>
            </a:solidFill>
            <a:prstDash val="solid"/>
          </a:ln>
        </p:spPr>
      </p:sp>
      <p:sp>
        <p:nvSpPr>
          <p:cNvPr id="34" name="Shape 31"/>
          <p:cNvSpPr/>
          <p:nvPr/>
        </p:nvSpPr>
        <p:spPr>
          <a:xfrm>
            <a:off x="7479792" y="5614416"/>
            <a:ext cx="329184" cy="329184"/>
          </a:xfrm>
          <a:prstGeom prst="ellipse">
            <a:avLst/>
          </a:prstGeom>
          <a:solidFill>
            <a:srgbClr val="177E89"/>
          </a:solidFill>
          <a:ln w="12700">
            <a:solidFill>
              <a:srgbClr val="177E89"/>
            </a:solidFill>
            <a:prstDash val="solid"/>
          </a:ln>
        </p:spPr>
      </p:sp>
      <p:sp>
        <p:nvSpPr>
          <p:cNvPr id="35" name="Text 32"/>
          <p:cNvSpPr txBox="1"/>
          <p:nvPr/>
        </p:nvSpPr>
        <p:spPr>
          <a:xfrm>
            <a:off x="7479792" y="5614416"/>
            <a:ext cx="329184"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6</a:t>
            </a:r>
            <a:endParaRPr lang="en-US" sz="1050" dirty="0"/>
          </a:p>
        </p:txBody>
      </p:sp>
      <p:sp>
        <p:nvSpPr>
          <p:cNvPr id="36" name="Text 33"/>
          <p:cNvSpPr txBox="1"/>
          <p:nvPr/>
        </p:nvSpPr>
        <p:spPr>
          <a:xfrm>
            <a:off x="7973568" y="5522976"/>
            <a:ext cx="1097280" cy="512064"/>
          </a:xfrm>
          <a:prstGeom prst="rect">
            <a:avLst/>
          </a:prstGeom>
          <a:noFill/>
          <a:ln/>
        </p:spPr>
        <p:txBody>
          <a:bodyPr wrap="square" lIns="0" tIns="0" rIns="0" bIns="0" rtlCol="0" anchor="ctr"/>
          <a:lstStyle/>
          <a:p>
            <a:pPr indent="0" marL="0">
              <a:buNone/>
            </a:pPr>
            <a:r>
              <a:rPr lang="en-US" sz="1250" b="1" dirty="0">
                <a:solidFill>
                  <a:srgbClr val="1F2326"/>
                </a:solidFill>
                <a:latin typeface="Calibri" pitchFamily="34" charset="0"/>
                <a:ea typeface="Calibri" pitchFamily="34" charset="-122"/>
                <a:cs typeface="Calibri" pitchFamily="34" charset="-120"/>
              </a:rPr>
              <a:t>Controles</a:t>
            </a:r>
            <a:endParaRPr lang="en-US" sz="1250" dirty="0"/>
          </a:p>
        </p:txBody>
      </p:sp>
      <p:sp>
        <p:nvSpPr>
          <p:cNvPr id="37" name="Text 34"/>
          <p:cNvSpPr txBox="1"/>
          <p:nvPr/>
        </p:nvSpPr>
        <p:spPr>
          <a:xfrm>
            <a:off x="9070848" y="5522976"/>
            <a:ext cx="2331720" cy="512064"/>
          </a:xfrm>
          <a:prstGeom prst="rect">
            <a:avLst/>
          </a:prstGeom>
          <a:noFill/>
          <a:ln/>
        </p:spPr>
        <p:txBody>
          <a:bodyPr wrap="square" lIns="0" tIns="0" rIns="0" bIns="0" rtlCol="0" anchor="ctr"/>
          <a:lstStyle/>
          <a:p>
            <a:pPr indent="0" marL="0">
              <a:buNone/>
            </a:pPr>
            <a:r>
              <a:rPr lang="en-US" sz="1050" dirty="0">
                <a:solidFill>
                  <a:srgbClr val="33393D"/>
                </a:solidFill>
                <a:latin typeface="Calibri" pitchFamily="34" charset="0"/>
                <a:ea typeface="Calibri" pitchFamily="34" charset="-122"/>
                <a:cs typeface="Calibri" pitchFamily="34" charset="-120"/>
              </a:rPr>
              <a:t>El div de botones y el script con defer.</a:t>
            </a:r>
            <a:endParaRPr lang="en-US" sz="1050" dirty="0"/>
          </a:p>
        </p:txBody>
      </p:sp>
      <p:sp>
        <p:nvSpPr>
          <p:cNvPr id="38" name="Text 35"/>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37 / 48</a:t>
            </a:r>
            <a:endParaRPr lang="en-US" sz="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indent="0" marL="0">
              <a:buNone/>
            </a:pPr>
            <a:r>
              <a:rPr lang="en-US" sz="1050" b="1" spc="300" kern="0" dirty="0">
                <a:solidFill>
                  <a:srgbClr val="177E89"/>
                </a:solidFill>
                <a:latin typeface="Calibri" pitchFamily="34" charset="0"/>
                <a:ea typeface="Calibri" pitchFamily="34" charset="-122"/>
                <a:cs typeface="Calibri" pitchFamily="34" charset="-120"/>
              </a:rPr>
              <a:t>05 · PRÁCTICA</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Ahora tú: completa y mejora</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indent="0" marL="0">
              <a:buNone/>
            </a:pPr>
            <a:r>
              <a:rPr lang="en-US" sz="1250" dirty="0">
                <a:solidFill>
                  <a:srgbClr val="5F676C"/>
                </a:solidFill>
                <a:latin typeface="Calibri" pitchFamily="34" charset="0"/>
                <a:ea typeface="Calibri" pitchFamily="34" charset="-122"/>
                <a:cs typeface="Calibri" pitchFamily="34" charset="-120"/>
              </a:rPr>
              <a:t>Tienes 25 minutos. Trabaja sobre la página que acabamos de empezar.</a:t>
            </a:r>
            <a:endParaRPr lang="en-US" sz="1250" dirty="0"/>
          </a:p>
        </p:txBody>
      </p:sp>
      <p:sp>
        <p:nvSpPr>
          <p:cNvPr id="5" name="Shape 3"/>
          <p:cNvSpPr/>
          <p:nvPr/>
        </p:nvSpPr>
        <p:spPr>
          <a:xfrm>
            <a:off x="640080" y="2615184"/>
            <a:ext cx="3520440" cy="1572768"/>
          </a:xfrm>
          <a:prstGeom prst="roundRect">
            <a:avLst>
              <a:gd name="adj" fmla="val 5814"/>
            </a:avLst>
          </a:prstGeom>
          <a:solidFill>
            <a:srgbClr val="FFFFFF"/>
          </a:solidFill>
          <a:ln w="12700">
            <a:solidFill>
              <a:srgbClr val="CFD5D9"/>
            </a:solidFill>
            <a:prstDash val="solid"/>
          </a:ln>
        </p:spPr>
      </p:sp>
      <p:sp>
        <p:nvSpPr>
          <p:cNvPr id="6" name="Shape 4"/>
          <p:cNvSpPr/>
          <p:nvPr/>
        </p:nvSpPr>
        <p:spPr>
          <a:xfrm>
            <a:off x="886968" y="2843784"/>
            <a:ext cx="402336" cy="402336"/>
          </a:xfrm>
          <a:prstGeom prst="ellipse">
            <a:avLst/>
          </a:prstGeom>
          <a:solidFill>
            <a:srgbClr val="177E89"/>
          </a:solidFill>
          <a:ln w="12700">
            <a:solidFill>
              <a:srgbClr val="177E89"/>
            </a:solidFill>
            <a:prstDash val="solid"/>
          </a:ln>
        </p:spPr>
      </p:sp>
      <p:sp>
        <p:nvSpPr>
          <p:cNvPr id="7" name="Text 5"/>
          <p:cNvSpPr txBox="1"/>
          <p:nvPr/>
        </p:nvSpPr>
        <p:spPr>
          <a:xfrm>
            <a:off x="886968" y="2843784"/>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1444752" y="2843784"/>
            <a:ext cx="2514600" cy="402336"/>
          </a:xfrm>
          <a:prstGeom prst="rect">
            <a:avLst/>
          </a:prstGeom>
          <a:noFill/>
          <a:ln/>
        </p:spPr>
        <p:txBody>
          <a:bodyPr wrap="square" lIns="0" tIns="0" rIns="0" bIns="0" rtlCol="0" anchor="ctr"/>
          <a:lstStyle/>
          <a:p>
            <a:pPr indent="0" marL="0">
              <a:buNone/>
            </a:pPr>
            <a:r>
              <a:rPr lang="en-US" sz="1300" b="1" dirty="0">
                <a:solidFill>
                  <a:srgbClr val="1F2326"/>
                </a:solidFill>
                <a:latin typeface="Calibri" pitchFamily="34" charset="0"/>
                <a:ea typeface="Calibri" pitchFamily="34" charset="-122"/>
                <a:cs typeface="Calibri" pitchFamily="34" charset="-120"/>
              </a:rPr>
              <a:t>Corrige las rutas</a:t>
            </a:r>
            <a:endParaRPr lang="en-US" sz="1300" dirty="0"/>
          </a:p>
        </p:txBody>
      </p:sp>
      <p:sp>
        <p:nvSpPr>
          <p:cNvPr id="9" name="Text 7"/>
          <p:cNvSpPr txBox="1"/>
          <p:nvPr/>
        </p:nvSpPr>
        <p:spPr>
          <a:xfrm>
            <a:off x="914400" y="3383280"/>
            <a:ext cx="2971800" cy="676656"/>
          </a:xfrm>
          <a:prstGeom prst="rect">
            <a:avLst/>
          </a:prstGeom>
          <a:noFill/>
          <a:ln/>
        </p:spPr>
        <p:txBody>
          <a:bodyPr wrap="square" lIns="0" tIns="0" rIns="0" bIns="0" rtlCol="0" anchor="t"/>
          <a:lstStyle/>
          <a:p>
            <a:pPr indent="0" marL="0">
              <a:lnSpc>
                <a:spcPct val="120000"/>
              </a:lnSpc>
              <a:buNone/>
            </a:pPr>
            <a:r>
              <a:rPr lang="en-US" sz="1150" dirty="0">
                <a:solidFill>
                  <a:srgbClr val="33393D"/>
                </a:solidFill>
                <a:latin typeface="Calibri" pitchFamily="34" charset="0"/>
                <a:ea typeface="Calibri" pitchFamily="34" charset="-122"/>
                <a:cs typeface="Calibri" pitchFamily="34" charset="-120"/>
              </a:rPr>
              <a:t>Todas relativas y sin la barra inicial: assets/media/…</a:t>
            </a:r>
            <a:endParaRPr lang="en-US" sz="1150" dirty="0"/>
          </a:p>
        </p:txBody>
      </p:sp>
      <p:sp>
        <p:nvSpPr>
          <p:cNvPr id="10" name="Shape 8"/>
          <p:cNvSpPr/>
          <p:nvPr/>
        </p:nvSpPr>
        <p:spPr>
          <a:xfrm>
            <a:off x="4343400" y="2615184"/>
            <a:ext cx="3520440" cy="1572768"/>
          </a:xfrm>
          <a:prstGeom prst="roundRect">
            <a:avLst>
              <a:gd name="adj" fmla="val 5814"/>
            </a:avLst>
          </a:prstGeom>
          <a:solidFill>
            <a:srgbClr val="FFFFFF"/>
          </a:solidFill>
          <a:ln w="12700">
            <a:solidFill>
              <a:srgbClr val="CFD5D9"/>
            </a:solidFill>
            <a:prstDash val="solid"/>
          </a:ln>
        </p:spPr>
      </p:sp>
      <p:sp>
        <p:nvSpPr>
          <p:cNvPr id="11" name="Shape 9"/>
          <p:cNvSpPr/>
          <p:nvPr/>
        </p:nvSpPr>
        <p:spPr>
          <a:xfrm>
            <a:off x="4590288" y="2843784"/>
            <a:ext cx="402336" cy="402336"/>
          </a:xfrm>
          <a:prstGeom prst="ellipse">
            <a:avLst/>
          </a:prstGeom>
          <a:solidFill>
            <a:srgbClr val="177E89"/>
          </a:solidFill>
          <a:ln w="12700">
            <a:solidFill>
              <a:srgbClr val="177E89"/>
            </a:solidFill>
            <a:prstDash val="solid"/>
          </a:ln>
        </p:spPr>
      </p:sp>
      <p:sp>
        <p:nvSpPr>
          <p:cNvPr id="12" name="Text 10"/>
          <p:cNvSpPr txBox="1"/>
          <p:nvPr/>
        </p:nvSpPr>
        <p:spPr>
          <a:xfrm>
            <a:off x="4590288" y="2843784"/>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5148072" y="2843784"/>
            <a:ext cx="2514600" cy="402336"/>
          </a:xfrm>
          <a:prstGeom prst="rect">
            <a:avLst/>
          </a:prstGeom>
          <a:noFill/>
          <a:ln/>
        </p:spPr>
        <p:txBody>
          <a:bodyPr wrap="square" lIns="0" tIns="0" rIns="0" bIns="0" rtlCol="0" anchor="ctr"/>
          <a:lstStyle/>
          <a:p>
            <a:pPr indent="0" marL="0">
              <a:buNone/>
            </a:pPr>
            <a:r>
              <a:rPr lang="en-US" sz="1300" b="1" dirty="0">
                <a:solidFill>
                  <a:srgbClr val="1F2326"/>
                </a:solidFill>
                <a:latin typeface="Calibri" pitchFamily="34" charset="0"/>
                <a:ea typeface="Calibri" pitchFamily="34" charset="-122"/>
                <a:cs typeface="Calibri" pitchFamily="34" charset="-120"/>
              </a:rPr>
              <a:t>Arregla el audio</a:t>
            </a:r>
            <a:endParaRPr lang="en-US" sz="1300" dirty="0"/>
          </a:p>
        </p:txBody>
      </p:sp>
      <p:sp>
        <p:nvSpPr>
          <p:cNvPr id="14" name="Text 12"/>
          <p:cNvSpPr txBox="1"/>
          <p:nvPr/>
        </p:nvSpPr>
        <p:spPr>
          <a:xfrm>
            <a:off x="4617720" y="3383280"/>
            <a:ext cx="2971800" cy="676656"/>
          </a:xfrm>
          <a:prstGeom prst="rect">
            <a:avLst/>
          </a:prstGeom>
          <a:noFill/>
          <a:ln/>
        </p:spPr>
        <p:txBody>
          <a:bodyPr wrap="square" lIns="0" tIns="0" rIns="0" bIns="0" rtlCol="0" anchor="t"/>
          <a:lstStyle/>
          <a:p>
            <a:pPr indent="0" marL="0">
              <a:lnSpc>
                <a:spcPct val="120000"/>
              </a:lnSpc>
              <a:buNone/>
            </a:pPr>
            <a:r>
              <a:rPr lang="en-US" sz="1150" dirty="0">
                <a:solidFill>
                  <a:srgbClr val="33393D"/>
                </a:solidFill>
                <a:latin typeface="Calibri" pitchFamily="34" charset="0"/>
                <a:ea typeface="Calibri" pitchFamily="34" charset="-122"/>
                <a:cs typeface="Calibri" pitchFamily="34" charset="-120"/>
              </a:rPr>
              <a:t>Copia presentacion.mp3 y presentacion.ogg a assets/media/audio y usa dos source.</a:t>
            </a:r>
            <a:endParaRPr lang="en-US" sz="1150" dirty="0"/>
          </a:p>
        </p:txBody>
      </p:sp>
      <p:sp>
        <p:nvSpPr>
          <p:cNvPr id="15" name="Shape 13"/>
          <p:cNvSpPr/>
          <p:nvPr/>
        </p:nvSpPr>
        <p:spPr>
          <a:xfrm>
            <a:off x="8046720" y="2615184"/>
            <a:ext cx="3520440" cy="1572768"/>
          </a:xfrm>
          <a:prstGeom prst="roundRect">
            <a:avLst>
              <a:gd name="adj" fmla="val 5814"/>
            </a:avLst>
          </a:prstGeom>
          <a:solidFill>
            <a:srgbClr val="FFFFFF"/>
          </a:solidFill>
          <a:ln w="12700">
            <a:solidFill>
              <a:srgbClr val="CFD5D9"/>
            </a:solidFill>
            <a:prstDash val="solid"/>
          </a:ln>
        </p:spPr>
      </p:sp>
      <p:sp>
        <p:nvSpPr>
          <p:cNvPr id="16" name="Shape 14"/>
          <p:cNvSpPr/>
          <p:nvPr/>
        </p:nvSpPr>
        <p:spPr>
          <a:xfrm>
            <a:off x="8293608" y="2843784"/>
            <a:ext cx="402336" cy="402336"/>
          </a:xfrm>
          <a:prstGeom prst="ellipse">
            <a:avLst/>
          </a:prstGeom>
          <a:solidFill>
            <a:srgbClr val="177E89"/>
          </a:solidFill>
          <a:ln w="12700">
            <a:solidFill>
              <a:srgbClr val="177E89"/>
            </a:solidFill>
            <a:prstDash val="solid"/>
          </a:ln>
        </p:spPr>
      </p:sp>
      <p:sp>
        <p:nvSpPr>
          <p:cNvPr id="17" name="Text 15"/>
          <p:cNvSpPr txBox="1"/>
          <p:nvPr/>
        </p:nvSpPr>
        <p:spPr>
          <a:xfrm>
            <a:off x="8293608" y="2843784"/>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txBox="1"/>
          <p:nvPr/>
        </p:nvSpPr>
        <p:spPr>
          <a:xfrm>
            <a:off x="8851392" y="2843784"/>
            <a:ext cx="2514600" cy="402336"/>
          </a:xfrm>
          <a:prstGeom prst="rect">
            <a:avLst/>
          </a:prstGeom>
          <a:noFill/>
          <a:ln/>
        </p:spPr>
        <p:txBody>
          <a:bodyPr wrap="square" lIns="0" tIns="0" rIns="0" bIns="0" rtlCol="0" anchor="ctr"/>
          <a:lstStyle/>
          <a:p>
            <a:pPr indent="0" marL="0">
              <a:buNone/>
            </a:pPr>
            <a:r>
              <a:rPr lang="en-US" sz="1300" b="1" dirty="0">
                <a:solidFill>
                  <a:srgbClr val="1F2326"/>
                </a:solidFill>
                <a:latin typeface="Calibri" pitchFamily="34" charset="0"/>
                <a:ea typeface="Calibri" pitchFamily="34" charset="-122"/>
                <a:cs typeface="Calibri" pitchFamily="34" charset="-120"/>
              </a:rPr>
              <a:t>Añade la transcripción</a:t>
            </a:r>
            <a:endParaRPr lang="en-US" sz="1300" dirty="0"/>
          </a:p>
        </p:txBody>
      </p:sp>
      <p:sp>
        <p:nvSpPr>
          <p:cNvPr id="19" name="Text 17"/>
          <p:cNvSpPr txBox="1"/>
          <p:nvPr/>
        </p:nvSpPr>
        <p:spPr>
          <a:xfrm>
            <a:off x="8321040" y="3383280"/>
            <a:ext cx="2971800" cy="676656"/>
          </a:xfrm>
          <a:prstGeom prst="rect">
            <a:avLst/>
          </a:prstGeom>
          <a:noFill/>
          <a:ln/>
        </p:spPr>
        <p:txBody>
          <a:bodyPr wrap="square" lIns="0" tIns="0" rIns="0" bIns="0" rtlCol="0" anchor="t"/>
          <a:lstStyle/>
          <a:p>
            <a:pPr indent="0" marL="0">
              <a:lnSpc>
                <a:spcPct val="120000"/>
              </a:lnSpc>
              <a:buNone/>
            </a:pPr>
            <a:r>
              <a:rPr lang="en-US" sz="1150" dirty="0">
                <a:solidFill>
                  <a:srgbClr val="33393D"/>
                </a:solidFill>
                <a:latin typeface="Calibri" pitchFamily="34" charset="0"/>
                <a:ea typeface="Calibri" pitchFamily="34" charset="-122"/>
                <a:cs typeface="Calibri" pitchFamily="34" charset="-120"/>
              </a:rPr>
              <a:t>Un details con su summary, debajo del audio.</a:t>
            </a:r>
            <a:endParaRPr lang="en-US" sz="1150" dirty="0"/>
          </a:p>
        </p:txBody>
      </p:sp>
      <p:sp>
        <p:nvSpPr>
          <p:cNvPr id="20" name="Shape 18"/>
          <p:cNvSpPr/>
          <p:nvPr/>
        </p:nvSpPr>
        <p:spPr>
          <a:xfrm>
            <a:off x="640080" y="4352544"/>
            <a:ext cx="3520440" cy="1572768"/>
          </a:xfrm>
          <a:prstGeom prst="roundRect">
            <a:avLst>
              <a:gd name="adj" fmla="val 5814"/>
            </a:avLst>
          </a:prstGeom>
          <a:solidFill>
            <a:srgbClr val="FFFFFF"/>
          </a:solidFill>
          <a:ln w="12700">
            <a:solidFill>
              <a:srgbClr val="CFD5D9"/>
            </a:solidFill>
            <a:prstDash val="solid"/>
          </a:ln>
        </p:spPr>
      </p:sp>
      <p:sp>
        <p:nvSpPr>
          <p:cNvPr id="21" name="Shape 19"/>
          <p:cNvSpPr/>
          <p:nvPr/>
        </p:nvSpPr>
        <p:spPr>
          <a:xfrm>
            <a:off x="886968" y="4581144"/>
            <a:ext cx="402336" cy="402336"/>
          </a:xfrm>
          <a:prstGeom prst="ellipse">
            <a:avLst/>
          </a:prstGeom>
          <a:solidFill>
            <a:srgbClr val="177E89"/>
          </a:solidFill>
          <a:ln w="12700">
            <a:solidFill>
              <a:srgbClr val="177E89"/>
            </a:solidFill>
            <a:prstDash val="solid"/>
          </a:ln>
        </p:spPr>
      </p:sp>
      <p:sp>
        <p:nvSpPr>
          <p:cNvPr id="22" name="Text 20"/>
          <p:cNvSpPr txBox="1"/>
          <p:nvPr/>
        </p:nvSpPr>
        <p:spPr>
          <a:xfrm>
            <a:off x="886968" y="4581144"/>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21"/>
          <p:cNvSpPr txBox="1"/>
          <p:nvPr/>
        </p:nvSpPr>
        <p:spPr>
          <a:xfrm>
            <a:off x="1444752" y="4581144"/>
            <a:ext cx="2514600" cy="402336"/>
          </a:xfrm>
          <a:prstGeom prst="rect">
            <a:avLst/>
          </a:prstGeom>
          <a:noFill/>
          <a:ln/>
        </p:spPr>
        <p:txBody>
          <a:bodyPr wrap="square" lIns="0" tIns="0" rIns="0" bIns="0" rtlCol="0" anchor="ctr"/>
          <a:lstStyle/>
          <a:p>
            <a:pPr indent="0" marL="0">
              <a:buNone/>
            </a:pPr>
            <a:r>
              <a:rPr lang="en-US" sz="1300" b="1" dirty="0">
                <a:solidFill>
                  <a:srgbClr val="1F2326"/>
                </a:solidFill>
                <a:latin typeface="Calibri" pitchFamily="34" charset="0"/>
                <a:ea typeface="Calibri" pitchFamily="34" charset="-122"/>
                <a:cs typeface="Calibri" pitchFamily="34" charset="-120"/>
              </a:rPr>
              <a:t>Limpia el iframe</a:t>
            </a:r>
            <a:endParaRPr lang="en-US" sz="1300" dirty="0"/>
          </a:p>
        </p:txBody>
      </p:sp>
      <p:sp>
        <p:nvSpPr>
          <p:cNvPr id="24" name="Text 22"/>
          <p:cNvSpPr txBox="1"/>
          <p:nvPr/>
        </p:nvSpPr>
        <p:spPr>
          <a:xfrm>
            <a:off x="914400" y="5120640"/>
            <a:ext cx="2971800" cy="676656"/>
          </a:xfrm>
          <a:prstGeom prst="rect">
            <a:avLst/>
          </a:prstGeom>
          <a:noFill/>
          <a:ln/>
        </p:spPr>
        <p:txBody>
          <a:bodyPr wrap="square" lIns="0" tIns="0" rIns="0" bIns="0" rtlCol="0" anchor="t"/>
          <a:lstStyle/>
          <a:p>
            <a:pPr indent="0" marL="0">
              <a:lnSpc>
                <a:spcPct val="120000"/>
              </a:lnSpc>
              <a:buNone/>
            </a:pPr>
            <a:r>
              <a:rPr lang="en-US" sz="1150" dirty="0">
                <a:solidFill>
                  <a:srgbClr val="33393D"/>
                </a:solidFill>
                <a:latin typeface="Calibri" pitchFamily="34" charset="0"/>
                <a:ea typeface="Calibri" pitchFamily="34" charset="-122"/>
                <a:cs typeface="Calibri" pitchFamily="34" charset="-120"/>
              </a:rPr>
              <a:t>Quita frameborder, escribe un title descriptivo y añade loading="lazy".</a:t>
            </a:r>
            <a:endParaRPr lang="en-US" sz="1150" dirty="0"/>
          </a:p>
        </p:txBody>
      </p:sp>
      <p:sp>
        <p:nvSpPr>
          <p:cNvPr id="25" name="Shape 23"/>
          <p:cNvSpPr/>
          <p:nvPr/>
        </p:nvSpPr>
        <p:spPr>
          <a:xfrm>
            <a:off x="4343400" y="4352544"/>
            <a:ext cx="3520440" cy="1572768"/>
          </a:xfrm>
          <a:prstGeom prst="roundRect">
            <a:avLst>
              <a:gd name="adj" fmla="val 5814"/>
            </a:avLst>
          </a:prstGeom>
          <a:solidFill>
            <a:srgbClr val="FFFFFF"/>
          </a:solidFill>
          <a:ln w="12700">
            <a:solidFill>
              <a:srgbClr val="CFD5D9"/>
            </a:solidFill>
            <a:prstDash val="solid"/>
          </a:ln>
        </p:spPr>
      </p:sp>
      <p:sp>
        <p:nvSpPr>
          <p:cNvPr id="26" name="Shape 24"/>
          <p:cNvSpPr/>
          <p:nvPr/>
        </p:nvSpPr>
        <p:spPr>
          <a:xfrm>
            <a:off x="4590288" y="4581144"/>
            <a:ext cx="402336" cy="402336"/>
          </a:xfrm>
          <a:prstGeom prst="ellipse">
            <a:avLst/>
          </a:prstGeom>
          <a:solidFill>
            <a:srgbClr val="177E89"/>
          </a:solidFill>
          <a:ln w="12700">
            <a:solidFill>
              <a:srgbClr val="177E89"/>
            </a:solidFill>
            <a:prstDash val="solid"/>
          </a:ln>
        </p:spPr>
      </p:sp>
      <p:sp>
        <p:nvSpPr>
          <p:cNvPr id="27" name="Text 25"/>
          <p:cNvSpPr txBox="1"/>
          <p:nvPr/>
        </p:nvSpPr>
        <p:spPr>
          <a:xfrm>
            <a:off x="4590288" y="4581144"/>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8" name="Text 26"/>
          <p:cNvSpPr txBox="1"/>
          <p:nvPr/>
        </p:nvSpPr>
        <p:spPr>
          <a:xfrm>
            <a:off x="5148072" y="4581144"/>
            <a:ext cx="2514600" cy="402336"/>
          </a:xfrm>
          <a:prstGeom prst="rect">
            <a:avLst/>
          </a:prstGeom>
          <a:noFill/>
          <a:ln/>
        </p:spPr>
        <p:txBody>
          <a:bodyPr wrap="square" lIns="0" tIns="0" rIns="0" bIns="0" rtlCol="0" anchor="ctr"/>
          <a:lstStyle/>
          <a:p>
            <a:pPr indent="0" marL="0">
              <a:buNone/>
            </a:pPr>
            <a:r>
              <a:rPr lang="en-US" sz="1300" b="1" dirty="0">
                <a:solidFill>
                  <a:srgbClr val="1F2326"/>
                </a:solidFill>
                <a:latin typeface="Calibri" pitchFamily="34" charset="0"/>
                <a:ea typeface="Calibri" pitchFamily="34" charset="-122"/>
                <a:cs typeface="Calibri" pitchFamily="34" charset="-120"/>
              </a:rPr>
              <a:t>Valida en W3C</a:t>
            </a:r>
            <a:endParaRPr lang="en-US" sz="1300" dirty="0"/>
          </a:p>
        </p:txBody>
      </p:sp>
      <p:sp>
        <p:nvSpPr>
          <p:cNvPr id="29" name="Text 27"/>
          <p:cNvSpPr txBox="1"/>
          <p:nvPr/>
        </p:nvSpPr>
        <p:spPr>
          <a:xfrm>
            <a:off x="4617720" y="5120640"/>
            <a:ext cx="2971800" cy="676656"/>
          </a:xfrm>
          <a:prstGeom prst="rect">
            <a:avLst/>
          </a:prstGeom>
          <a:noFill/>
          <a:ln/>
        </p:spPr>
        <p:txBody>
          <a:bodyPr wrap="square" lIns="0" tIns="0" rIns="0" bIns="0" rtlCol="0" anchor="t"/>
          <a:lstStyle/>
          <a:p>
            <a:pPr indent="0" marL="0">
              <a:lnSpc>
                <a:spcPct val="120000"/>
              </a:lnSpc>
              <a:buNone/>
            </a:pPr>
            <a:r>
              <a:rPr lang="en-US" sz="1150" dirty="0">
                <a:solidFill>
                  <a:srgbClr val="33393D"/>
                </a:solidFill>
                <a:latin typeface="Calibri" pitchFamily="34" charset="0"/>
                <a:ea typeface="Calibri" pitchFamily="34" charset="-122"/>
                <a:cs typeface="Calibri" pitchFamily="34" charset="-120"/>
              </a:rPr>
              <a:t>Sin errores de estructura antes de continuar.</a:t>
            </a:r>
            <a:endParaRPr lang="en-US" sz="1150" dirty="0"/>
          </a:p>
        </p:txBody>
      </p:sp>
      <p:sp>
        <p:nvSpPr>
          <p:cNvPr id="30" name="Shape 28"/>
          <p:cNvSpPr/>
          <p:nvPr/>
        </p:nvSpPr>
        <p:spPr>
          <a:xfrm>
            <a:off x="8046720" y="4352544"/>
            <a:ext cx="3520440" cy="1572768"/>
          </a:xfrm>
          <a:prstGeom prst="roundRect">
            <a:avLst>
              <a:gd name="adj" fmla="val 5814"/>
            </a:avLst>
          </a:prstGeom>
          <a:solidFill>
            <a:srgbClr val="FFFFFF"/>
          </a:solidFill>
          <a:ln w="12700">
            <a:solidFill>
              <a:srgbClr val="CFD5D9"/>
            </a:solidFill>
            <a:prstDash val="solid"/>
          </a:ln>
        </p:spPr>
      </p:sp>
      <p:sp>
        <p:nvSpPr>
          <p:cNvPr id="31" name="Shape 29"/>
          <p:cNvSpPr/>
          <p:nvPr/>
        </p:nvSpPr>
        <p:spPr>
          <a:xfrm>
            <a:off x="8293608" y="4581144"/>
            <a:ext cx="402336" cy="402336"/>
          </a:xfrm>
          <a:prstGeom prst="ellipse">
            <a:avLst/>
          </a:prstGeom>
          <a:solidFill>
            <a:srgbClr val="177E89"/>
          </a:solidFill>
          <a:ln w="12700">
            <a:solidFill>
              <a:srgbClr val="177E89"/>
            </a:solidFill>
            <a:prstDash val="solid"/>
          </a:ln>
        </p:spPr>
      </p:sp>
      <p:sp>
        <p:nvSpPr>
          <p:cNvPr id="32" name="Text 30"/>
          <p:cNvSpPr txBox="1"/>
          <p:nvPr/>
        </p:nvSpPr>
        <p:spPr>
          <a:xfrm>
            <a:off x="8293608" y="4581144"/>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3" name="Text 31"/>
          <p:cNvSpPr txBox="1"/>
          <p:nvPr/>
        </p:nvSpPr>
        <p:spPr>
          <a:xfrm>
            <a:off x="8851392" y="4581144"/>
            <a:ext cx="2514600" cy="402336"/>
          </a:xfrm>
          <a:prstGeom prst="rect">
            <a:avLst/>
          </a:prstGeom>
          <a:noFill/>
          <a:ln/>
        </p:spPr>
        <p:txBody>
          <a:bodyPr wrap="square" lIns="0" tIns="0" rIns="0" bIns="0" rtlCol="0" anchor="ctr"/>
          <a:lstStyle/>
          <a:p>
            <a:pPr indent="0" marL="0">
              <a:buNone/>
            </a:pPr>
            <a:r>
              <a:rPr lang="en-US" sz="1300" b="1" dirty="0">
                <a:solidFill>
                  <a:srgbClr val="1F2326"/>
                </a:solidFill>
                <a:latin typeface="Calibri" pitchFamily="34" charset="0"/>
                <a:ea typeface="Calibri" pitchFamily="34" charset="-122"/>
                <a:cs typeface="Calibri" pitchFamily="34" charset="-120"/>
              </a:rPr>
              <a:t>Publica en Netlify</a:t>
            </a:r>
            <a:endParaRPr lang="en-US" sz="1300" dirty="0"/>
          </a:p>
        </p:txBody>
      </p:sp>
      <p:sp>
        <p:nvSpPr>
          <p:cNvPr id="34" name="Text 32"/>
          <p:cNvSpPr txBox="1"/>
          <p:nvPr/>
        </p:nvSpPr>
        <p:spPr>
          <a:xfrm>
            <a:off x="8321040" y="5120640"/>
            <a:ext cx="2971800" cy="676656"/>
          </a:xfrm>
          <a:prstGeom prst="rect">
            <a:avLst/>
          </a:prstGeom>
          <a:noFill/>
          <a:ln/>
        </p:spPr>
        <p:txBody>
          <a:bodyPr wrap="square" lIns="0" tIns="0" rIns="0" bIns="0" rtlCol="0" anchor="t"/>
          <a:lstStyle/>
          <a:p>
            <a:pPr indent="0" marL="0">
              <a:lnSpc>
                <a:spcPct val="120000"/>
              </a:lnSpc>
              <a:buNone/>
            </a:pPr>
            <a:r>
              <a:rPr lang="en-US" sz="1150" dirty="0">
                <a:solidFill>
                  <a:srgbClr val="33393D"/>
                </a:solidFill>
                <a:latin typeface="Calibri" pitchFamily="34" charset="0"/>
                <a:ea typeface="Calibri" pitchFamily="34" charset="-122"/>
                <a:cs typeface="Calibri" pitchFamily="34" charset="-120"/>
              </a:rPr>
              <a:t>Comprueba el video, los subtítulos y el audio en la URL pública.</a:t>
            </a:r>
            <a:endParaRPr lang="en-US" sz="1150" dirty="0"/>
          </a:p>
        </p:txBody>
      </p:sp>
      <p:sp>
        <p:nvSpPr>
          <p:cNvPr id="35" name="Text 33"/>
          <p:cNvSpPr txBox="1"/>
          <p:nvPr/>
        </p:nvSpPr>
        <p:spPr>
          <a:xfrm>
            <a:off x="640080" y="6053328"/>
            <a:ext cx="10927080" cy="256032"/>
          </a:xfrm>
          <a:prstGeom prst="rect">
            <a:avLst/>
          </a:prstGeom>
          <a:noFill/>
          <a:ln/>
        </p:spPr>
        <p:txBody>
          <a:bodyPr wrap="square" lIns="0" tIns="0" rIns="0" bIns="0" rtlCol="0" anchor="ctr"/>
          <a:lstStyle/>
          <a:p>
            <a:pPr algn="ctr" indent="0" marL="0">
              <a:buNone/>
            </a:pPr>
            <a:r>
              <a:rPr lang="en-US" sz="1150" i="1" dirty="0">
                <a:solidFill>
                  <a:srgbClr val="5F676C"/>
                </a:solidFill>
                <a:latin typeface="Calibri" pitchFamily="34" charset="0"/>
                <a:ea typeface="Calibri" pitchFamily="34" charset="-122"/>
                <a:cs typeface="Calibri" pitchFamily="34" charset="-120"/>
              </a:rPr>
              <a:t>Si terminas antes: añade un botón Reiniciar que ponga video.currentTime en 0.</a:t>
            </a:r>
            <a:endParaRPr lang="en-US" sz="1150" dirty="0"/>
          </a:p>
        </p:txBody>
      </p:sp>
      <p:sp>
        <p:nvSpPr>
          <p:cNvPr id="36" name="Text 34"/>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38 / 48</a:t>
            </a:r>
            <a:endParaRPr lang="en-US" sz="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indent="0" marL="0">
              <a:buNone/>
            </a:pPr>
            <a:r>
              <a:rPr lang="en-US" sz="1050" b="1" spc="300" kern="0" dirty="0">
                <a:solidFill>
                  <a:srgbClr val="177E89"/>
                </a:solidFill>
                <a:latin typeface="Calibri" pitchFamily="34" charset="0"/>
                <a:ea typeface="Calibri" pitchFamily="34" charset="-122"/>
                <a:cs typeface="Calibri" pitchFamily="34" charset="-120"/>
              </a:rPr>
              <a:t>06 · FIGMA</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De vuelta a Figma: corrige los Pasos 2 al 6</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indent="0" marL="0">
              <a:buNone/>
            </a:pPr>
            <a:r>
              <a:rPr lang="en-US" sz="1250" dirty="0">
                <a:solidFill>
                  <a:srgbClr val="5F676C"/>
                </a:solidFill>
                <a:latin typeface="Calibri" pitchFamily="34" charset="0"/>
                <a:ea typeface="Calibri" pitchFamily="34" charset="-122"/>
                <a:cs typeface="Calibri" pitchFamily="34" charset="-120"/>
              </a:rPr>
              <a:t>Cinco fallos frecuentes en la cabecera. Compáralos con tu archivo antes de construir el Hero.</a:t>
            </a:r>
            <a:endParaRPr lang="en-US" sz="1250" dirty="0"/>
          </a:p>
        </p:txBody>
      </p:sp>
      <p:sp>
        <p:nvSpPr>
          <p:cNvPr id="6" name="Text 3"/>
          <p:cNvSpPr txBox="1"/>
          <p:nvPr/>
        </p:nvSpPr>
        <p:spPr>
          <a:xfrm>
            <a:off x="914400" y="2587752"/>
            <a:ext cx="2743200" cy="219456"/>
          </a:xfrm>
          <a:prstGeom prst="rect">
            <a:avLst/>
          </a:prstGeom>
          <a:noFill/>
          <a:ln/>
        </p:spPr>
        <p:txBody>
          <a:bodyPr wrap="square" lIns="0" tIns="0" rIns="0" bIns="0" rtlCol="0" anchor="ctr"/>
          <a:lstStyle/>
          <a:p>
            <a:pPr indent="0" marL="0">
              <a:buNone/>
            </a:pPr>
            <a:r>
              <a:rPr lang="en-US" sz="950" b="1" spc="150" kern="0" dirty="0">
                <a:solidFill>
                  <a:srgbClr val="5F676C"/>
                </a:solidFill>
                <a:latin typeface="Calibri" pitchFamily="34" charset="0"/>
                <a:ea typeface="Calibri" pitchFamily="34" charset="-122"/>
                <a:cs typeface="Calibri" pitchFamily="34" charset="-120"/>
              </a:rPr>
              <a:t>Capa</a:t>
            </a:r>
            <a:endParaRPr lang="en-US" sz="950" dirty="0"/>
          </a:p>
        </p:txBody>
      </p:sp>
      <p:sp>
        <p:nvSpPr>
          <p:cNvPr id="7" name="Text 4"/>
          <p:cNvSpPr txBox="1"/>
          <p:nvPr/>
        </p:nvSpPr>
        <p:spPr>
          <a:xfrm>
            <a:off x="2697480" y="2587752"/>
            <a:ext cx="2743200" cy="219456"/>
          </a:xfrm>
          <a:prstGeom prst="rect">
            <a:avLst/>
          </a:prstGeom>
          <a:noFill/>
          <a:ln/>
        </p:spPr>
        <p:txBody>
          <a:bodyPr wrap="square" lIns="0" tIns="0" rIns="0" bIns="0" rtlCol="0" anchor="ctr"/>
          <a:lstStyle/>
          <a:p>
            <a:pPr indent="0" marL="0">
              <a:buNone/>
            </a:pPr>
            <a:r>
              <a:rPr lang="en-US" sz="950" b="1" spc="150" kern="0" dirty="0">
                <a:solidFill>
                  <a:srgbClr val="5F676C"/>
                </a:solidFill>
                <a:latin typeface="Calibri" pitchFamily="34" charset="0"/>
                <a:ea typeface="Calibri" pitchFamily="34" charset="-122"/>
                <a:cs typeface="Calibri" pitchFamily="34" charset="-120"/>
              </a:rPr>
              <a:t>El fallo</a:t>
            </a:r>
            <a:endParaRPr lang="en-US" sz="950" dirty="0"/>
          </a:p>
        </p:txBody>
      </p:sp>
      <p:sp>
        <p:nvSpPr>
          <p:cNvPr id="8" name="Text 5"/>
          <p:cNvSpPr txBox="1"/>
          <p:nvPr/>
        </p:nvSpPr>
        <p:spPr>
          <a:xfrm>
            <a:off x="6675120" y="2587752"/>
            <a:ext cx="2743200" cy="219456"/>
          </a:xfrm>
          <a:prstGeom prst="rect">
            <a:avLst/>
          </a:prstGeom>
          <a:noFill/>
          <a:ln/>
        </p:spPr>
        <p:txBody>
          <a:bodyPr wrap="square" lIns="0" tIns="0" rIns="0" bIns="0" rtlCol="0" anchor="ctr"/>
          <a:lstStyle/>
          <a:p>
            <a:pPr indent="0" marL="0">
              <a:buNone/>
            </a:pPr>
            <a:r>
              <a:rPr lang="en-US" sz="950" b="1" spc="150" kern="0" dirty="0">
                <a:solidFill>
                  <a:srgbClr val="5F676C"/>
                </a:solidFill>
                <a:latin typeface="Calibri" pitchFamily="34" charset="0"/>
                <a:ea typeface="Calibri" pitchFamily="34" charset="-122"/>
                <a:cs typeface="Calibri" pitchFamily="34" charset="-120"/>
              </a:rPr>
              <a:t>La corrección</a:t>
            </a:r>
            <a:endParaRPr lang="en-US" sz="950" dirty="0"/>
          </a:p>
        </p:txBody>
      </p:sp>
      <p:sp>
        <p:nvSpPr>
          <p:cNvPr id="9" name="Shape 6"/>
          <p:cNvSpPr/>
          <p:nvPr/>
        </p:nvSpPr>
        <p:spPr>
          <a:xfrm>
            <a:off x="640080" y="2834640"/>
            <a:ext cx="10927080" cy="557784"/>
          </a:xfrm>
          <a:prstGeom prst="roundRect">
            <a:avLst>
              <a:gd name="adj" fmla="val 16393"/>
            </a:avLst>
          </a:prstGeom>
          <a:solidFill>
            <a:srgbClr val="FFFFFF"/>
          </a:solidFill>
          <a:ln w="12700">
            <a:solidFill>
              <a:srgbClr val="CFD5D9"/>
            </a:solidFill>
            <a:prstDash val="solid"/>
          </a:ln>
        </p:spPr>
      </p:sp>
      <p:sp>
        <p:nvSpPr>
          <p:cNvPr id="10" name="Text 7"/>
          <p:cNvSpPr txBox="1"/>
          <p:nvPr/>
        </p:nvSpPr>
        <p:spPr>
          <a:xfrm>
            <a:off x="914400" y="2834640"/>
            <a:ext cx="1828800" cy="557784"/>
          </a:xfrm>
          <a:prstGeom prst="rect">
            <a:avLst/>
          </a:prstGeom>
          <a:noFill/>
          <a:ln/>
        </p:spPr>
        <p:txBody>
          <a:bodyPr wrap="square" lIns="0" tIns="0" rIns="0" bIns="0" rtlCol="0" anchor="ctr"/>
          <a:lstStyle/>
          <a:p>
            <a:pPr indent="0" marL="0">
              <a:buNone/>
            </a:pPr>
            <a:r>
              <a:rPr lang="en-US" sz="1200" b="1" dirty="0">
                <a:solidFill>
                  <a:srgbClr val="177E89"/>
                </a:solidFill>
                <a:latin typeface="Calibri" pitchFamily="34" charset="0"/>
                <a:ea typeface="Calibri" pitchFamily="34" charset="-122"/>
                <a:cs typeface="Calibri" pitchFamily="34" charset="-120"/>
              </a:rPr>
              <a:t>Paso 2 · Header</a:t>
            </a:r>
            <a:endParaRPr lang="en-US" sz="1200" dirty="0"/>
          </a:p>
        </p:txBody>
      </p:sp>
      <p:sp>
        <p:nvSpPr>
          <p:cNvPr id="11" name="Text 8"/>
          <p:cNvSpPr txBox="1"/>
          <p:nvPr/>
        </p:nvSpPr>
        <p:spPr>
          <a:xfrm>
            <a:off x="2697480" y="2834640"/>
            <a:ext cx="3794760" cy="557784"/>
          </a:xfrm>
          <a:prstGeom prst="rect">
            <a:avLst/>
          </a:prstGeom>
          <a:noFill/>
          <a:ln/>
        </p:spPr>
        <p:txBody>
          <a:bodyPr wrap="square" lIns="0" tIns="0" rIns="0" bIns="0" rtlCol="0" anchor="ctr"/>
          <a:lstStyle/>
          <a:p>
            <a:pPr indent="0" marL="0">
              <a:buNone/>
            </a:pPr>
            <a:r>
              <a:rPr lang="en-US" sz="1050" dirty="0">
                <a:solidFill>
                  <a:srgbClr val="A8402B"/>
                </a:solidFill>
                <a:latin typeface="Calibri" pitchFamily="34" charset="0"/>
                <a:ea typeface="Calibri" pitchFamily="34" charset="-122"/>
                <a:cs typeface="Calibri" pitchFamily="34" charset="-120"/>
              </a:rPr>
              <a:t>Mide 160 de alto: el doble de lo necesario.</a:t>
            </a:r>
            <a:endParaRPr lang="en-US" sz="1050" dirty="0"/>
          </a:p>
        </p:txBody>
      </p:sp>
      <p:sp>
        <p:nvSpPr>
          <p:cNvPr id="12" name="Text 9"/>
          <p:cNvSpPr txBox="1"/>
          <p:nvPr/>
        </p:nvSpPr>
        <p:spPr>
          <a:xfrm>
            <a:off x="6675120" y="2834640"/>
            <a:ext cx="4709160" cy="557784"/>
          </a:xfrm>
          <a:prstGeom prst="rect">
            <a:avLst/>
          </a:prstGeom>
          <a:noFill/>
          <a:ln/>
        </p:spPr>
        <p:txBody>
          <a:bodyPr wrap="square" lIns="0" tIns="0" rIns="0" bIns="0" rtlCol="0" anchor="ctr"/>
          <a:lstStyle/>
          <a:p>
            <a:pPr indent="0" marL="0">
              <a:buNone/>
            </a:pPr>
            <a:r>
              <a:rPr lang="en-US" sz="1050" dirty="0">
                <a:solidFill>
                  <a:srgbClr val="33393D"/>
                </a:solidFill>
                <a:latin typeface="Calibri" pitchFamily="34" charset="0"/>
                <a:ea typeface="Calibri" pitchFamily="34" charset="-122"/>
                <a:cs typeface="Calibri" pitchFamily="34" charset="-120"/>
              </a:rPr>
              <a:t>H: Altura fija 80. Espacio: Auto.</a:t>
            </a:r>
            <a:endParaRPr lang="en-US" sz="1050" dirty="0"/>
          </a:p>
        </p:txBody>
      </p:sp>
      <p:sp>
        <p:nvSpPr>
          <p:cNvPr id="13" name="Shape 10"/>
          <p:cNvSpPr/>
          <p:nvPr/>
        </p:nvSpPr>
        <p:spPr>
          <a:xfrm>
            <a:off x="640080" y="3465576"/>
            <a:ext cx="10927080" cy="557784"/>
          </a:xfrm>
          <a:prstGeom prst="roundRect">
            <a:avLst>
              <a:gd name="adj" fmla="val 16393"/>
            </a:avLst>
          </a:prstGeom>
          <a:solidFill>
            <a:srgbClr val="FFFFFF"/>
          </a:solidFill>
          <a:ln w="12700">
            <a:solidFill>
              <a:srgbClr val="CFD5D9"/>
            </a:solidFill>
            <a:prstDash val="solid"/>
          </a:ln>
        </p:spPr>
      </p:sp>
      <p:sp>
        <p:nvSpPr>
          <p:cNvPr id="14" name="Text 11"/>
          <p:cNvSpPr txBox="1"/>
          <p:nvPr/>
        </p:nvSpPr>
        <p:spPr>
          <a:xfrm>
            <a:off x="914400" y="3465576"/>
            <a:ext cx="1828800" cy="557784"/>
          </a:xfrm>
          <a:prstGeom prst="rect">
            <a:avLst/>
          </a:prstGeom>
          <a:noFill/>
          <a:ln/>
        </p:spPr>
        <p:txBody>
          <a:bodyPr wrap="square" lIns="0" tIns="0" rIns="0" bIns="0" rtlCol="0" anchor="ctr"/>
          <a:lstStyle/>
          <a:p>
            <a:pPr indent="0" marL="0">
              <a:buNone/>
            </a:pPr>
            <a:r>
              <a:rPr lang="en-US" sz="1200" b="1" dirty="0">
                <a:solidFill>
                  <a:srgbClr val="177E89"/>
                </a:solidFill>
                <a:latin typeface="Calibri" pitchFamily="34" charset="0"/>
                <a:ea typeface="Calibri" pitchFamily="34" charset="-122"/>
                <a:cs typeface="Calibri" pitchFamily="34" charset="-120"/>
              </a:rPr>
              <a:t>Paso 3 · Nombre</a:t>
            </a:r>
            <a:endParaRPr lang="en-US" sz="1200" dirty="0"/>
          </a:p>
        </p:txBody>
      </p:sp>
      <p:sp>
        <p:nvSpPr>
          <p:cNvPr id="15" name="Text 12"/>
          <p:cNvSpPr txBox="1"/>
          <p:nvPr/>
        </p:nvSpPr>
        <p:spPr>
          <a:xfrm>
            <a:off x="2697480" y="3465576"/>
            <a:ext cx="3794760" cy="557784"/>
          </a:xfrm>
          <a:prstGeom prst="rect">
            <a:avLst/>
          </a:prstGeom>
          <a:noFill/>
          <a:ln/>
        </p:spPr>
        <p:txBody>
          <a:bodyPr wrap="square" lIns="0" tIns="0" rIns="0" bIns="0" rtlCol="0" anchor="ctr"/>
          <a:lstStyle/>
          <a:p>
            <a:pPr indent="0" marL="0">
              <a:buNone/>
            </a:pPr>
            <a:r>
              <a:rPr lang="en-US" sz="1050" dirty="0">
                <a:solidFill>
                  <a:srgbClr val="A8402B"/>
                </a:solidFill>
                <a:latin typeface="Calibri" pitchFamily="34" charset="0"/>
                <a:ea typeface="Calibri" pitchFamily="34" charset="-122"/>
                <a:cs typeface="Calibri" pitchFamily="34" charset="-120"/>
              </a:rPr>
              <a:t>Fuente Imprima Regular de 20 px.</a:t>
            </a:r>
            <a:endParaRPr lang="en-US" sz="1050" dirty="0"/>
          </a:p>
        </p:txBody>
      </p:sp>
      <p:sp>
        <p:nvSpPr>
          <p:cNvPr id="16" name="Text 13"/>
          <p:cNvSpPr txBox="1"/>
          <p:nvPr/>
        </p:nvSpPr>
        <p:spPr>
          <a:xfrm>
            <a:off x="6675120" y="3465576"/>
            <a:ext cx="4709160" cy="557784"/>
          </a:xfrm>
          <a:prstGeom prst="rect">
            <a:avLst/>
          </a:prstGeom>
          <a:noFill/>
          <a:ln/>
        </p:spPr>
        <p:txBody>
          <a:bodyPr wrap="square" lIns="0" tIns="0" rIns="0" bIns="0" rtlCol="0" anchor="ctr"/>
          <a:lstStyle/>
          <a:p>
            <a:pPr indent="0" marL="0">
              <a:buNone/>
            </a:pPr>
            <a:r>
              <a:rPr lang="en-US" sz="1050" dirty="0">
                <a:solidFill>
                  <a:srgbClr val="33393D"/>
                </a:solidFill>
                <a:latin typeface="Calibri" pitchFamily="34" charset="0"/>
                <a:ea typeface="Calibri" pitchFamily="34" charset="-122"/>
                <a:cs typeface="Calibri" pitchFamily="34" charset="-120"/>
              </a:rPr>
              <a:t>Outfit Bold de 18 px, color #0B0F19.</a:t>
            </a:r>
            <a:endParaRPr lang="en-US" sz="1050" dirty="0"/>
          </a:p>
        </p:txBody>
      </p:sp>
      <p:sp>
        <p:nvSpPr>
          <p:cNvPr id="17" name="Shape 14"/>
          <p:cNvSpPr/>
          <p:nvPr/>
        </p:nvSpPr>
        <p:spPr>
          <a:xfrm>
            <a:off x="640080" y="4096512"/>
            <a:ext cx="10927080" cy="557784"/>
          </a:xfrm>
          <a:prstGeom prst="roundRect">
            <a:avLst>
              <a:gd name="adj" fmla="val 16393"/>
            </a:avLst>
          </a:prstGeom>
          <a:solidFill>
            <a:srgbClr val="FFFFFF"/>
          </a:solidFill>
          <a:ln w="12700">
            <a:solidFill>
              <a:srgbClr val="CFD5D9"/>
            </a:solidFill>
            <a:prstDash val="solid"/>
          </a:ln>
        </p:spPr>
      </p:sp>
      <p:sp>
        <p:nvSpPr>
          <p:cNvPr id="18" name="Text 15"/>
          <p:cNvSpPr txBox="1"/>
          <p:nvPr/>
        </p:nvSpPr>
        <p:spPr>
          <a:xfrm>
            <a:off x="914400" y="4096512"/>
            <a:ext cx="1828800" cy="557784"/>
          </a:xfrm>
          <a:prstGeom prst="rect">
            <a:avLst/>
          </a:prstGeom>
          <a:noFill/>
          <a:ln/>
        </p:spPr>
        <p:txBody>
          <a:bodyPr wrap="square" lIns="0" tIns="0" rIns="0" bIns="0" rtlCol="0" anchor="ctr"/>
          <a:lstStyle/>
          <a:p>
            <a:pPr indent="0" marL="0">
              <a:buNone/>
            </a:pPr>
            <a:r>
              <a:rPr lang="en-US" sz="1200" b="1" dirty="0">
                <a:solidFill>
                  <a:srgbClr val="177E89"/>
                </a:solidFill>
                <a:latin typeface="Calibri" pitchFamily="34" charset="0"/>
                <a:ea typeface="Calibri" pitchFamily="34" charset="-122"/>
                <a:cs typeface="Calibri" pitchFamily="34" charset="-120"/>
              </a:rPr>
              <a:t>Paso 4 · nav</a:t>
            </a:r>
            <a:endParaRPr lang="en-US" sz="1200" dirty="0"/>
          </a:p>
        </p:txBody>
      </p:sp>
      <p:sp>
        <p:nvSpPr>
          <p:cNvPr id="19" name="Text 16"/>
          <p:cNvSpPr txBox="1"/>
          <p:nvPr/>
        </p:nvSpPr>
        <p:spPr>
          <a:xfrm>
            <a:off x="2697480" y="4096512"/>
            <a:ext cx="3794760" cy="557784"/>
          </a:xfrm>
          <a:prstGeom prst="rect">
            <a:avLst/>
          </a:prstGeom>
          <a:noFill/>
          <a:ln/>
        </p:spPr>
        <p:txBody>
          <a:bodyPr wrap="square" lIns="0" tIns="0" rIns="0" bIns="0" rtlCol="0" anchor="ctr"/>
          <a:lstStyle/>
          <a:p>
            <a:pPr indent="0" marL="0">
              <a:buNone/>
            </a:pPr>
            <a:r>
              <a:rPr lang="en-US" sz="1050" dirty="0">
                <a:solidFill>
                  <a:srgbClr val="A8402B"/>
                </a:solidFill>
                <a:latin typeface="Calibri" pitchFamily="34" charset="0"/>
                <a:ea typeface="Calibri" pitchFamily="34" charset="-122"/>
                <a:cs typeface="Calibri" pitchFamily="34" charset="-120"/>
              </a:rPr>
              <a:t>Textos de ancho fijo: nav mide 1369 px y tapa la barra. Tiene relleno blanco y espaciado 10.</a:t>
            </a:r>
            <a:endParaRPr lang="en-US" sz="1050" dirty="0"/>
          </a:p>
        </p:txBody>
      </p:sp>
      <p:sp>
        <p:nvSpPr>
          <p:cNvPr id="20" name="Text 17"/>
          <p:cNvSpPr txBox="1"/>
          <p:nvPr/>
        </p:nvSpPr>
        <p:spPr>
          <a:xfrm>
            <a:off x="6675120" y="4096512"/>
            <a:ext cx="4709160" cy="557784"/>
          </a:xfrm>
          <a:prstGeom prst="rect">
            <a:avLst/>
          </a:prstGeom>
          <a:noFill/>
          <a:ln/>
        </p:spPr>
        <p:txBody>
          <a:bodyPr wrap="square" lIns="0" tIns="0" rIns="0" bIns="0" rtlCol="0" anchor="ctr"/>
          <a:lstStyle/>
          <a:p>
            <a:pPr indent="0" marL="0">
              <a:buNone/>
            </a:pPr>
            <a:r>
              <a:rPr lang="en-US" sz="1050" dirty="0">
                <a:solidFill>
                  <a:srgbClr val="33393D"/>
                </a:solidFill>
                <a:latin typeface="Calibri" pitchFamily="34" charset="0"/>
                <a:ea typeface="Calibri" pitchFamily="34" charset="-122"/>
                <a:cs typeface="Calibri" pitchFamily="34" charset="-120"/>
              </a:rPr>
              <a:t>Textos: Ajuste automático de ancho. nav: sin relleno, Espaciado 0 y Espacio 32.</a:t>
            </a:r>
            <a:endParaRPr lang="en-US" sz="1050" dirty="0"/>
          </a:p>
        </p:txBody>
      </p:sp>
      <p:sp>
        <p:nvSpPr>
          <p:cNvPr id="21" name="Shape 18"/>
          <p:cNvSpPr/>
          <p:nvPr/>
        </p:nvSpPr>
        <p:spPr>
          <a:xfrm>
            <a:off x="640080" y="4727448"/>
            <a:ext cx="10927080" cy="557784"/>
          </a:xfrm>
          <a:prstGeom prst="roundRect">
            <a:avLst>
              <a:gd name="adj" fmla="val 16393"/>
            </a:avLst>
          </a:prstGeom>
          <a:solidFill>
            <a:srgbClr val="FFFFFF"/>
          </a:solidFill>
          <a:ln w="12700">
            <a:solidFill>
              <a:srgbClr val="CFD5D9"/>
            </a:solidFill>
            <a:prstDash val="solid"/>
          </a:ln>
        </p:spPr>
      </p:sp>
      <p:sp>
        <p:nvSpPr>
          <p:cNvPr id="22" name="Text 19"/>
          <p:cNvSpPr txBox="1"/>
          <p:nvPr/>
        </p:nvSpPr>
        <p:spPr>
          <a:xfrm>
            <a:off x="914400" y="4727448"/>
            <a:ext cx="1828800" cy="557784"/>
          </a:xfrm>
          <a:prstGeom prst="rect">
            <a:avLst/>
          </a:prstGeom>
          <a:noFill/>
          <a:ln/>
        </p:spPr>
        <p:txBody>
          <a:bodyPr wrap="square" lIns="0" tIns="0" rIns="0" bIns="0" rtlCol="0" anchor="ctr"/>
          <a:lstStyle/>
          <a:p>
            <a:pPr indent="0" marL="0">
              <a:buNone/>
            </a:pPr>
            <a:r>
              <a:rPr lang="en-US" sz="1200" b="1" dirty="0">
                <a:solidFill>
                  <a:srgbClr val="177E89"/>
                </a:solidFill>
                <a:latin typeface="Calibri" pitchFamily="34" charset="0"/>
                <a:ea typeface="Calibri" pitchFamily="34" charset="-122"/>
                <a:cs typeface="Calibri" pitchFamily="34" charset="-120"/>
              </a:rPr>
              <a:t>Paso 5 · btn-header</a:t>
            </a:r>
            <a:endParaRPr lang="en-US" sz="1200" dirty="0"/>
          </a:p>
        </p:txBody>
      </p:sp>
      <p:sp>
        <p:nvSpPr>
          <p:cNvPr id="23" name="Text 20"/>
          <p:cNvSpPr txBox="1"/>
          <p:nvPr/>
        </p:nvSpPr>
        <p:spPr>
          <a:xfrm>
            <a:off x="2697480" y="4727448"/>
            <a:ext cx="3794760" cy="557784"/>
          </a:xfrm>
          <a:prstGeom prst="rect">
            <a:avLst/>
          </a:prstGeom>
          <a:noFill/>
          <a:ln/>
        </p:spPr>
        <p:txBody>
          <a:bodyPr wrap="square" lIns="0" tIns="0" rIns="0" bIns="0" rtlCol="0" anchor="ctr"/>
          <a:lstStyle/>
          <a:p>
            <a:pPr indent="0" marL="0">
              <a:buNone/>
            </a:pPr>
            <a:r>
              <a:rPr lang="en-US" sz="1050" dirty="0">
                <a:solidFill>
                  <a:srgbClr val="A8402B"/>
                </a:solidFill>
                <a:latin typeface="Calibri" pitchFamily="34" charset="0"/>
                <a:ea typeface="Calibri" pitchFamily="34" charset="-122"/>
                <a:cs typeface="Calibri" pitchFamily="34" charset="-120"/>
              </a:rPr>
              <a:t>El botón todavía no existe y el menú no se centra.</a:t>
            </a:r>
            <a:endParaRPr lang="en-US" sz="1050" dirty="0"/>
          </a:p>
        </p:txBody>
      </p:sp>
      <p:sp>
        <p:nvSpPr>
          <p:cNvPr id="24" name="Text 21"/>
          <p:cNvSpPr txBox="1"/>
          <p:nvPr/>
        </p:nvSpPr>
        <p:spPr>
          <a:xfrm>
            <a:off x="6675120" y="4727448"/>
            <a:ext cx="4709160" cy="557784"/>
          </a:xfrm>
          <a:prstGeom prst="rect">
            <a:avLst/>
          </a:prstGeom>
          <a:noFill/>
          <a:ln/>
        </p:spPr>
        <p:txBody>
          <a:bodyPr wrap="square" lIns="0" tIns="0" rIns="0" bIns="0" rtlCol="0" anchor="ctr"/>
          <a:lstStyle/>
          <a:p>
            <a:pPr indent="0" marL="0">
              <a:buNone/>
            </a:pPr>
            <a:r>
              <a:rPr lang="en-US" sz="1050" dirty="0">
                <a:solidFill>
                  <a:srgbClr val="33393D"/>
                </a:solidFill>
                <a:latin typeface="Calibri" pitchFamily="34" charset="0"/>
                <a:ea typeface="Calibri" pitchFamily="34" charset="-122"/>
                <a:cs typeface="Calibri" pitchFamily="34" charset="-120"/>
              </a:rPr>
              <a:t>Marco con Shift + A: Espaciado 14 y 24, Radio 8, Trazo #374151. Texto: Contacto.</a:t>
            </a:r>
            <a:endParaRPr lang="en-US" sz="1050" dirty="0"/>
          </a:p>
        </p:txBody>
      </p:sp>
      <p:sp>
        <p:nvSpPr>
          <p:cNvPr id="25" name="Shape 22"/>
          <p:cNvSpPr/>
          <p:nvPr/>
        </p:nvSpPr>
        <p:spPr>
          <a:xfrm>
            <a:off x="640080" y="5358384"/>
            <a:ext cx="10927080" cy="557784"/>
          </a:xfrm>
          <a:prstGeom prst="roundRect">
            <a:avLst>
              <a:gd name="adj" fmla="val 16393"/>
            </a:avLst>
          </a:prstGeom>
          <a:solidFill>
            <a:srgbClr val="FFFFFF"/>
          </a:solidFill>
          <a:ln w="12700">
            <a:solidFill>
              <a:srgbClr val="CFD5D9"/>
            </a:solidFill>
            <a:prstDash val="solid"/>
          </a:ln>
        </p:spPr>
      </p:sp>
      <p:sp>
        <p:nvSpPr>
          <p:cNvPr id="26" name="Text 23"/>
          <p:cNvSpPr txBox="1"/>
          <p:nvPr/>
        </p:nvSpPr>
        <p:spPr>
          <a:xfrm>
            <a:off x="914400" y="5358384"/>
            <a:ext cx="1828800" cy="557784"/>
          </a:xfrm>
          <a:prstGeom prst="rect">
            <a:avLst/>
          </a:prstGeom>
          <a:noFill/>
          <a:ln/>
        </p:spPr>
        <p:txBody>
          <a:bodyPr wrap="square" lIns="0" tIns="0" rIns="0" bIns="0" rtlCol="0" anchor="ctr"/>
          <a:lstStyle/>
          <a:p>
            <a:pPr indent="0" marL="0">
              <a:buNone/>
            </a:pPr>
            <a:r>
              <a:rPr lang="en-US" sz="1200" b="1" dirty="0">
                <a:solidFill>
                  <a:srgbClr val="177E89"/>
                </a:solidFill>
                <a:latin typeface="Calibri" pitchFamily="34" charset="0"/>
                <a:ea typeface="Calibri" pitchFamily="34" charset="-122"/>
                <a:cs typeface="Calibri" pitchFamily="34" charset="-120"/>
              </a:rPr>
              <a:t>Paso 6 · hero-section</a:t>
            </a:r>
            <a:endParaRPr lang="en-US" sz="1200" dirty="0"/>
          </a:p>
        </p:txBody>
      </p:sp>
      <p:sp>
        <p:nvSpPr>
          <p:cNvPr id="27" name="Text 24"/>
          <p:cNvSpPr txBox="1"/>
          <p:nvPr/>
        </p:nvSpPr>
        <p:spPr>
          <a:xfrm>
            <a:off x="2697480" y="5358384"/>
            <a:ext cx="3794760" cy="557784"/>
          </a:xfrm>
          <a:prstGeom prst="rect">
            <a:avLst/>
          </a:prstGeom>
          <a:noFill/>
          <a:ln/>
        </p:spPr>
        <p:txBody>
          <a:bodyPr wrap="square" lIns="0" tIns="0" rIns="0" bIns="0" rtlCol="0" anchor="ctr"/>
          <a:lstStyle/>
          <a:p>
            <a:pPr indent="0" marL="0">
              <a:buNone/>
            </a:pPr>
            <a:r>
              <a:rPr lang="en-US" sz="1050" dirty="0">
                <a:solidFill>
                  <a:srgbClr val="A8402B"/>
                </a:solidFill>
                <a:latin typeface="Calibri" pitchFamily="34" charset="0"/>
                <a:ea typeface="Calibri" pitchFamily="34" charset="-122"/>
                <a:cs typeface="Calibri" pitchFamily="34" charset="-120"/>
              </a:rPr>
              <a:t>Está flotando fuera del marco principal.</a:t>
            </a:r>
            <a:endParaRPr lang="en-US" sz="1050" dirty="0"/>
          </a:p>
        </p:txBody>
      </p:sp>
      <p:sp>
        <p:nvSpPr>
          <p:cNvPr id="28" name="Text 25"/>
          <p:cNvSpPr txBox="1"/>
          <p:nvPr/>
        </p:nvSpPr>
        <p:spPr>
          <a:xfrm>
            <a:off x="6675120" y="5358384"/>
            <a:ext cx="4709160" cy="557784"/>
          </a:xfrm>
          <a:prstGeom prst="rect">
            <a:avLst/>
          </a:prstGeom>
          <a:noFill/>
          <a:ln/>
        </p:spPr>
        <p:txBody>
          <a:bodyPr wrap="square" lIns="0" tIns="0" rIns="0" bIns="0" rtlCol="0" anchor="ctr"/>
          <a:lstStyle/>
          <a:p>
            <a:pPr indent="0" marL="0">
              <a:buNone/>
            </a:pPr>
            <a:r>
              <a:rPr lang="en-US" sz="1050" dirty="0">
                <a:solidFill>
                  <a:srgbClr val="33393D"/>
                </a:solidFill>
                <a:latin typeface="Calibri" pitchFamily="34" charset="0"/>
                <a:ea typeface="Calibri" pitchFamily="34" charset="-122"/>
                <a:cs typeface="Calibri" pitchFamily="34" charset="-120"/>
              </a:rPr>
              <a:t>Arrástralo dentro, debajo de Header. W: Llenar el contenedor.</a:t>
            </a:r>
            <a:endParaRPr lang="en-US" sz="1050" dirty="0"/>
          </a:p>
        </p:txBody>
      </p:sp>
      <p:sp>
        <p:nvSpPr>
          <p:cNvPr id="29" name="Text 26"/>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39 / 48</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indent="0" marL="0">
              <a:buNone/>
            </a:pPr>
            <a:r>
              <a:rPr lang="en-US" sz="1050" b="1" spc="300" kern="0" dirty="0">
                <a:solidFill>
                  <a:srgbClr val="177E89"/>
                </a:solidFill>
                <a:latin typeface="Calibri" pitchFamily="34" charset="0"/>
                <a:ea typeface="Calibri" pitchFamily="34" charset="-122"/>
                <a:cs typeface="Calibri" pitchFamily="34" charset="-120"/>
              </a:rPr>
              <a:t>06 · FIGMA</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En Figma hoy: el Hero (Pasos 7 al 9)</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indent="0" marL="0">
              <a:buNone/>
            </a:pPr>
            <a:r>
              <a:rPr lang="en-US" sz="1250" dirty="0">
                <a:solidFill>
                  <a:srgbClr val="5F676C"/>
                </a:solidFill>
                <a:latin typeface="Calibri" pitchFamily="34" charset="0"/>
                <a:ea typeface="Calibri" pitchFamily="34" charset="-122"/>
                <a:cs typeface="Calibri" pitchFamily="34" charset="-120"/>
              </a:rPr>
              <a:t>Retomas tu diseño donde lo dejaste. Cada paso, clic por clic, está en la Guía de Figma de la sesión.</a:t>
            </a:r>
            <a:endParaRPr lang="en-US" sz="1250" dirty="0"/>
          </a:p>
        </p:txBody>
      </p:sp>
      <p:sp>
        <p:nvSpPr>
          <p:cNvPr id="5" name="Shape 3"/>
          <p:cNvSpPr/>
          <p:nvPr/>
        </p:nvSpPr>
        <p:spPr>
          <a:xfrm>
            <a:off x="640080" y="2615184"/>
            <a:ext cx="3520440" cy="1572768"/>
          </a:xfrm>
          <a:prstGeom prst="roundRect">
            <a:avLst>
              <a:gd name="adj" fmla="val 5814"/>
            </a:avLst>
          </a:prstGeom>
          <a:solidFill>
            <a:srgbClr val="FFFFFF"/>
          </a:solidFill>
          <a:ln w="12700">
            <a:solidFill>
              <a:srgbClr val="CFD5D9"/>
            </a:solidFill>
            <a:prstDash val="solid"/>
          </a:ln>
        </p:spPr>
      </p:sp>
      <p:sp>
        <p:nvSpPr>
          <p:cNvPr id="6" name="Shape 4"/>
          <p:cNvSpPr/>
          <p:nvPr/>
        </p:nvSpPr>
        <p:spPr>
          <a:xfrm>
            <a:off x="886968" y="2843784"/>
            <a:ext cx="402336" cy="402336"/>
          </a:xfrm>
          <a:prstGeom prst="ellipse">
            <a:avLst/>
          </a:prstGeom>
          <a:solidFill>
            <a:srgbClr val="177E89"/>
          </a:solidFill>
          <a:ln w="12700">
            <a:solidFill>
              <a:srgbClr val="177E89"/>
            </a:solidFill>
            <a:prstDash val="solid"/>
          </a:ln>
        </p:spPr>
      </p:sp>
      <p:sp>
        <p:nvSpPr>
          <p:cNvPr id="7" name="Text 5"/>
          <p:cNvSpPr txBox="1"/>
          <p:nvPr/>
        </p:nvSpPr>
        <p:spPr>
          <a:xfrm>
            <a:off x="886968" y="2843784"/>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1444752" y="2843784"/>
            <a:ext cx="2514600" cy="402336"/>
          </a:xfrm>
          <a:prstGeom prst="rect">
            <a:avLst/>
          </a:prstGeom>
          <a:noFill/>
          <a:ln/>
        </p:spPr>
        <p:txBody>
          <a:bodyPr wrap="square" lIns="0" tIns="0" rIns="0" bIns="0" rtlCol="0" anchor="ctr"/>
          <a:lstStyle/>
          <a:p>
            <a:pPr indent="0" marL="0">
              <a:buNone/>
            </a:pPr>
            <a:r>
              <a:rPr lang="en-US" sz="1300" b="1" dirty="0">
                <a:solidFill>
                  <a:srgbClr val="1F2326"/>
                </a:solidFill>
                <a:latin typeface="Calibri" pitchFamily="34" charset="0"/>
                <a:ea typeface="Calibri" pitchFamily="34" charset="-122"/>
                <a:cs typeface="Calibri" pitchFamily="34" charset="-120"/>
              </a:rPr>
              <a:t>Paso 7 · hero-left</a:t>
            </a:r>
            <a:endParaRPr lang="en-US" sz="1300" dirty="0"/>
          </a:p>
        </p:txBody>
      </p:sp>
      <p:sp>
        <p:nvSpPr>
          <p:cNvPr id="9" name="Text 7"/>
          <p:cNvSpPr txBox="1"/>
          <p:nvPr/>
        </p:nvSpPr>
        <p:spPr>
          <a:xfrm>
            <a:off x="914400" y="3383280"/>
            <a:ext cx="2971800" cy="676656"/>
          </a:xfrm>
          <a:prstGeom prst="rect">
            <a:avLst/>
          </a:prstGeom>
          <a:noFill/>
          <a:ln/>
        </p:spPr>
        <p:txBody>
          <a:bodyPr wrap="square" lIns="0" tIns="0" rIns="0" bIns="0" rtlCol="0" anchor="t"/>
          <a:lstStyle/>
          <a:p>
            <a:pPr indent="0" marL="0">
              <a:lnSpc>
                <a:spcPct val="120000"/>
              </a:lnSpc>
              <a:buNone/>
            </a:pPr>
            <a:r>
              <a:rPr lang="en-US" sz="1150" dirty="0">
                <a:solidFill>
                  <a:srgbClr val="33393D"/>
                </a:solidFill>
                <a:latin typeface="Calibri" pitchFamily="34" charset="0"/>
                <a:ea typeface="Calibri" pitchFamily="34" charset="-122"/>
                <a:cs typeface="Calibri" pitchFamily="34" charset="-120"/>
              </a:rPr>
              <a:t>Marco vertical dentro de hero-section: Ancho fijo 696 y Espacio 32.</a:t>
            </a:r>
            <a:endParaRPr lang="en-US" sz="1150" dirty="0"/>
          </a:p>
        </p:txBody>
      </p:sp>
      <p:sp>
        <p:nvSpPr>
          <p:cNvPr id="10" name="Shape 8"/>
          <p:cNvSpPr/>
          <p:nvPr/>
        </p:nvSpPr>
        <p:spPr>
          <a:xfrm>
            <a:off x="4343400" y="2615184"/>
            <a:ext cx="3520440" cy="1572768"/>
          </a:xfrm>
          <a:prstGeom prst="roundRect">
            <a:avLst>
              <a:gd name="adj" fmla="val 5814"/>
            </a:avLst>
          </a:prstGeom>
          <a:solidFill>
            <a:srgbClr val="FFFFFF"/>
          </a:solidFill>
          <a:ln w="12700">
            <a:solidFill>
              <a:srgbClr val="CFD5D9"/>
            </a:solidFill>
            <a:prstDash val="solid"/>
          </a:ln>
        </p:spPr>
      </p:sp>
      <p:sp>
        <p:nvSpPr>
          <p:cNvPr id="11" name="Shape 9"/>
          <p:cNvSpPr/>
          <p:nvPr/>
        </p:nvSpPr>
        <p:spPr>
          <a:xfrm>
            <a:off x="4590288" y="2843784"/>
            <a:ext cx="402336" cy="402336"/>
          </a:xfrm>
          <a:prstGeom prst="ellipse">
            <a:avLst/>
          </a:prstGeom>
          <a:solidFill>
            <a:srgbClr val="177E89"/>
          </a:solidFill>
          <a:ln w="12700">
            <a:solidFill>
              <a:srgbClr val="177E89"/>
            </a:solidFill>
            <a:prstDash val="solid"/>
          </a:ln>
        </p:spPr>
      </p:sp>
      <p:sp>
        <p:nvSpPr>
          <p:cNvPr id="12" name="Text 10"/>
          <p:cNvSpPr txBox="1"/>
          <p:nvPr/>
        </p:nvSpPr>
        <p:spPr>
          <a:xfrm>
            <a:off x="4590288" y="2843784"/>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5148072" y="2843784"/>
            <a:ext cx="2514600" cy="402336"/>
          </a:xfrm>
          <a:prstGeom prst="rect">
            <a:avLst/>
          </a:prstGeom>
          <a:noFill/>
          <a:ln/>
        </p:spPr>
        <p:txBody>
          <a:bodyPr wrap="square" lIns="0" tIns="0" rIns="0" bIns="0" rtlCol="0" anchor="ctr"/>
          <a:lstStyle/>
          <a:p>
            <a:pPr indent="0" marL="0">
              <a:buNone/>
            </a:pPr>
            <a:r>
              <a:rPr lang="en-US" sz="1300" b="1" dirty="0">
                <a:solidFill>
                  <a:srgbClr val="1F2326"/>
                </a:solidFill>
                <a:latin typeface="Calibri" pitchFamily="34" charset="0"/>
                <a:ea typeface="Calibri" pitchFamily="34" charset="-122"/>
                <a:cs typeface="Calibri" pitchFamily="34" charset="-120"/>
              </a:rPr>
              <a:t>Paso 7 · Textos</a:t>
            </a:r>
            <a:endParaRPr lang="en-US" sz="1300" dirty="0"/>
          </a:p>
        </p:txBody>
      </p:sp>
      <p:sp>
        <p:nvSpPr>
          <p:cNvPr id="14" name="Text 12"/>
          <p:cNvSpPr txBox="1"/>
          <p:nvPr/>
        </p:nvSpPr>
        <p:spPr>
          <a:xfrm>
            <a:off x="4617720" y="3383280"/>
            <a:ext cx="2971800" cy="676656"/>
          </a:xfrm>
          <a:prstGeom prst="rect">
            <a:avLst/>
          </a:prstGeom>
          <a:noFill/>
          <a:ln/>
        </p:spPr>
        <p:txBody>
          <a:bodyPr wrap="square" lIns="0" tIns="0" rIns="0" bIns="0" rtlCol="0" anchor="t"/>
          <a:lstStyle/>
          <a:p>
            <a:pPr indent="0" marL="0">
              <a:lnSpc>
                <a:spcPct val="120000"/>
              </a:lnSpc>
              <a:buNone/>
            </a:pPr>
            <a:r>
              <a:rPr lang="en-US" sz="1150" dirty="0">
                <a:solidFill>
                  <a:srgbClr val="33393D"/>
                </a:solidFill>
                <a:latin typeface="Calibri" pitchFamily="34" charset="0"/>
                <a:ea typeface="Calibri" pitchFamily="34" charset="-122"/>
                <a:cs typeface="Calibri" pitchFamily="34" charset="-120"/>
              </a:rPr>
              <a:t>Título en Outfit ExtraBold 64, altura 110 %. Párrafo en Geist Regular 18, altura 160 %.</a:t>
            </a:r>
            <a:endParaRPr lang="en-US" sz="1150" dirty="0"/>
          </a:p>
        </p:txBody>
      </p:sp>
      <p:sp>
        <p:nvSpPr>
          <p:cNvPr id="15" name="Shape 13"/>
          <p:cNvSpPr/>
          <p:nvPr/>
        </p:nvSpPr>
        <p:spPr>
          <a:xfrm>
            <a:off x="8046720" y="2615184"/>
            <a:ext cx="3520440" cy="1572768"/>
          </a:xfrm>
          <a:prstGeom prst="roundRect">
            <a:avLst>
              <a:gd name="adj" fmla="val 5814"/>
            </a:avLst>
          </a:prstGeom>
          <a:solidFill>
            <a:srgbClr val="FFFFFF"/>
          </a:solidFill>
          <a:ln w="12700">
            <a:solidFill>
              <a:srgbClr val="CFD5D9"/>
            </a:solidFill>
            <a:prstDash val="solid"/>
          </a:ln>
        </p:spPr>
      </p:sp>
      <p:sp>
        <p:nvSpPr>
          <p:cNvPr id="16" name="Shape 14"/>
          <p:cNvSpPr/>
          <p:nvPr/>
        </p:nvSpPr>
        <p:spPr>
          <a:xfrm>
            <a:off x="8293608" y="2843784"/>
            <a:ext cx="402336" cy="402336"/>
          </a:xfrm>
          <a:prstGeom prst="ellipse">
            <a:avLst/>
          </a:prstGeom>
          <a:solidFill>
            <a:srgbClr val="177E89"/>
          </a:solidFill>
          <a:ln w="12700">
            <a:solidFill>
              <a:srgbClr val="177E89"/>
            </a:solidFill>
            <a:prstDash val="solid"/>
          </a:ln>
        </p:spPr>
      </p:sp>
      <p:sp>
        <p:nvSpPr>
          <p:cNvPr id="17" name="Text 15"/>
          <p:cNvSpPr txBox="1"/>
          <p:nvPr/>
        </p:nvSpPr>
        <p:spPr>
          <a:xfrm>
            <a:off x="8293608" y="2843784"/>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txBox="1"/>
          <p:nvPr/>
        </p:nvSpPr>
        <p:spPr>
          <a:xfrm>
            <a:off x="8851392" y="2843784"/>
            <a:ext cx="2514600" cy="402336"/>
          </a:xfrm>
          <a:prstGeom prst="rect">
            <a:avLst/>
          </a:prstGeom>
          <a:noFill/>
          <a:ln/>
        </p:spPr>
        <p:txBody>
          <a:bodyPr wrap="square" lIns="0" tIns="0" rIns="0" bIns="0" rtlCol="0" anchor="ctr"/>
          <a:lstStyle/>
          <a:p>
            <a:pPr indent="0" marL="0">
              <a:buNone/>
            </a:pPr>
            <a:r>
              <a:rPr lang="en-US" sz="1300" b="1" dirty="0">
                <a:solidFill>
                  <a:srgbClr val="1F2326"/>
                </a:solidFill>
                <a:latin typeface="Calibri" pitchFamily="34" charset="0"/>
                <a:ea typeface="Calibri" pitchFamily="34" charset="-122"/>
                <a:cs typeface="Calibri" pitchFamily="34" charset="-120"/>
              </a:rPr>
              <a:t>Paso 8 · Botones</a:t>
            </a:r>
            <a:endParaRPr lang="en-US" sz="1300" dirty="0"/>
          </a:p>
        </p:txBody>
      </p:sp>
      <p:sp>
        <p:nvSpPr>
          <p:cNvPr id="19" name="Text 17"/>
          <p:cNvSpPr txBox="1"/>
          <p:nvPr/>
        </p:nvSpPr>
        <p:spPr>
          <a:xfrm>
            <a:off x="8321040" y="3383280"/>
            <a:ext cx="2971800" cy="676656"/>
          </a:xfrm>
          <a:prstGeom prst="rect">
            <a:avLst/>
          </a:prstGeom>
          <a:noFill/>
          <a:ln/>
        </p:spPr>
        <p:txBody>
          <a:bodyPr wrap="square" lIns="0" tIns="0" rIns="0" bIns="0" rtlCol="0" anchor="t"/>
          <a:lstStyle/>
          <a:p>
            <a:pPr indent="0" marL="0">
              <a:lnSpc>
                <a:spcPct val="120000"/>
              </a:lnSpc>
              <a:buNone/>
            </a:pPr>
            <a:r>
              <a:rPr lang="en-US" sz="1150" dirty="0">
                <a:solidFill>
                  <a:srgbClr val="33393D"/>
                </a:solidFill>
                <a:latin typeface="Calibri" pitchFamily="34" charset="0"/>
                <a:ea typeface="Calibri" pitchFamily="34" charset="-122"/>
                <a:cs typeface="Calibri" pitchFamily="34" charset="-120"/>
              </a:rPr>
              <a:t>hero-actions con Espacio 16. Botón azul #06B6C4; el segundo, con Trazo #374151.</a:t>
            </a:r>
            <a:endParaRPr lang="en-US" sz="1150" dirty="0"/>
          </a:p>
        </p:txBody>
      </p:sp>
      <p:sp>
        <p:nvSpPr>
          <p:cNvPr id="20" name="Shape 18"/>
          <p:cNvSpPr/>
          <p:nvPr/>
        </p:nvSpPr>
        <p:spPr>
          <a:xfrm>
            <a:off x="640080" y="4352544"/>
            <a:ext cx="3520440" cy="1572768"/>
          </a:xfrm>
          <a:prstGeom prst="roundRect">
            <a:avLst>
              <a:gd name="adj" fmla="val 5814"/>
            </a:avLst>
          </a:prstGeom>
          <a:solidFill>
            <a:srgbClr val="FFFFFF"/>
          </a:solidFill>
          <a:ln w="12700">
            <a:solidFill>
              <a:srgbClr val="CFD5D9"/>
            </a:solidFill>
            <a:prstDash val="solid"/>
          </a:ln>
        </p:spPr>
      </p:sp>
      <p:sp>
        <p:nvSpPr>
          <p:cNvPr id="21" name="Shape 19"/>
          <p:cNvSpPr/>
          <p:nvPr/>
        </p:nvSpPr>
        <p:spPr>
          <a:xfrm>
            <a:off x="886968" y="4581144"/>
            <a:ext cx="402336" cy="402336"/>
          </a:xfrm>
          <a:prstGeom prst="ellipse">
            <a:avLst/>
          </a:prstGeom>
          <a:solidFill>
            <a:srgbClr val="177E89"/>
          </a:solidFill>
          <a:ln w="12700">
            <a:solidFill>
              <a:srgbClr val="177E89"/>
            </a:solidFill>
            <a:prstDash val="solid"/>
          </a:ln>
        </p:spPr>
      </p:sp>
      <p:sp>
        <p:nvSpPr>
          <p:cNvPr id="22" name="Text 20"/>
          <p:cNvSpPr txBox="1"/>
          <p:nvPr/>
        </p:nvSpPr>
        <p:spPr>
          <a:xfrm>
            <a:off x="886968" y="4581144"/>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21"/>
          <p:cNvSpPr txBox="1"/>
          <p:nvPr/>
        </p:nvSpPr>
        <p:spPr>
          <a:xfrm>
            <a:off x="1444752" y="4581144"/>
            <a:ext cx="2514600" cy="402336"/>
          </a:xfrm>
          <a:prstGeom prst="rect">
            <a:avLst/>
          </a:prstGeom>
          <a:noFill/>
          <a:ln/>
        </p:spPr>
        <p:txBody>
          <a:bodyPr wrap="square" lIns="0" tIns="0" rIns="0" bIns="0" rtlCol="0" anchor="ctr"/>
          <a:lstStyle/>
          <a:p>
            <a:pPr indent="0" marL="0">
              <a:buNone/>
            </a:pPr>
            <a:r>
              <a:rPr lang="en-US" sz="1300" b="1" dirty="0">
                <a:solidFill>
                  <a:srgbClr val="1F2326"/>
                </a:solidFill>
                <a:latin typeface="Calibri" pitchFamily="34" charset="0"/>
                <a:ea typeface="Calibri" pitchFamily="34" charset="-122"/>
                <a:cs typeface="Calibri" pitchFamily="34" charset="-120"/>
              </a:rPr>
              <a:t>Paso 9 · hero-right</a:t>
            </a:r>
            <a:endParaRPr lang="en-US" sz="1300" dirty="0"/>
          </a:p>
        </p:txBody>
      </p:sp>
      <p:sp>
        <p:nvSpPr>
          <p:cNvPr id="24" name="Text 22"/>
          <p:cNvSpPr txBox="1"/>
          <p:nvPr/>
        </p:nvSpPr>
        <p:spPr>
          <a:xfrm>
            <a:off x="914400" y="5120640"/>
            <a:ext cx="2971800" cy="676656"/>
          </a:xfrm>
          <a:prstGeom prst="rect">
            <a:avLst/>
          </a:prstGeom>
          <a:noFill/>
          <a:ln/>
        </p:spPr>
        <p:txBody>
          <a:bodyPr wrap="square" lIns="0" tIns="0" rIns="0" bIns="0" rtlCol="0" anchor="t"/>
          <a:lstStyle/>
          <a:p>
            <a:pPr indent="0" marL="0">
              <a:lnSpc>
                <a:spcPct val="120000"/>
              </a:lnSpc>
              <a:buNone/>
            </a:pPr>
            <a:r>
              <a:rPr lang="en-US" sz="1150" dirty="0">
                <a:solidFill>
                  <a:srgbClr val="33393D"/>
                </a:solidFill>
                <a:latin typeface="Calibri" pitchFamily="34" charset="0"/>
                <a:ea typeface="Calibri" pitchFamily="34" charset="-122"/>
                <a:cs typeface="Calibri" pitchFamily="34" charset="-120"/>
              </a:rPr>
              <a:t>Tarjeta de 520 × 404: Radio 12, Trazo #E5E7EB y Recortar contenido.</a:t>
            </a:r>
            <a:endParaRPr lang="en-US" sz="1150" dirty="0"/>
          </a:p>
        </p:txBody>
      </p:sp>
      <p:sp>
        <p:nvSpPr>
          <p:cNvPr id="25" name="Shape 23"/>
          <p:cNvSpPr/>
          <p:nvPr/>
        </p:nvSpPr>
        <p:spPr>
          <a:xfrm>
            <a:off x="4343400" y="4352544"/>
            <a:ext cx="3520440" cy="1572768"/>
          </a:xfrm>
          <a:prstGeom prst="roundRect">
            <a:avLst>
              <a:gd name="adj" fmla="val 5814"/>
            </a:avLst>
          </a:prstGeom>
          <a:solidFill>
            <a:srgbClr val="FFFFFF"/>
          </a:solidFill>
          <a:ln w="12700">
            <a:solidFill>
              <a:srgbClr val="CFD5D9"/>
            </a:solidFill>
            <a:prstDash val="solid"/>
          </a:ln>
        </p:spPr>
      </p:sp>
      <p:sp>
        <p:nvSpPr>
          <p:cNvPr id="26" name="Shape 24"/>
          <p:cNvSpPr/>
          <p:nvPr/>
        </p:nvSpPr>
        <p:spPr>
          <a:xfrm>
            <a:off x="4590288" y="4581144"/>
            <a:ext cx="402336" cy="402336"/>
          </a:xfrm>
          <a:prstGeom prst="ellipse">
            <a:avLst/>
          </a:prstGeom>
          <a:solidFill>
            <a:srgbClr val="177E89"/>
          </a:solidFill>
          <a:ln w="12700">
            <a:solidFill>
              <a:srgbClr val="177E89"/>
            </a:solidFill>
            <a:prstDash val="solid"/>
          </a:ln>
        </p:spPr>
      </p:sp>
      <p:sp>
        <p:nvSpPr>
          <p:cNvPr id="27" name="Text 25"/>
          <p:cNvSpPr txBox="1"/>
          <p:nvPr/>
        </p:nvSpPr>
        <p:spPr>
          <a:xfrm>
            <a:off x="4590288" y="4581144"/>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8" name="Text 26"/>
          <p:cNvSpPr txBox="1"/>
          <p:nvPr/>
        </p:nvSpPr>
        <p:spPr>
          <a:xfrm>
            <a:off x="5148072" y="4581144"/>
            <a:ext cx="2514600" cy="402336"/>
          </a:xfrm>
          <a:prstGeom prst="rect">
            <a:avLst/>
          </a:prstGeom>
          <a:noFill/>
          <a:ln/>
        </p:spPr>
        <p:txBody>
          <a:bodyPr wrap="square" lIns="0" tIns="0" rIns="0" bIns="0" rtlCol="0" anchor="ctr"/>
          <a:lstStyle/>
          <a:p>
            <a:pPr indent="0" marL="0">
              <a:buNone/>
            </a:pPr>
            <a:r>
              <a:rPr lang="en-US" sz="1300" b="1" dirty="0">
                <a:solidFill>
                  <a:srgbClr val="1F2326"/>
                </a:solidFill>
                <a:latin typeface="Calibri" pitchFamily="34" charset="0"/>
                <a:ea typeface="Calibri" pitchFamily="34" charset="-122"/>
                <a:cs typeface="Calibri" pitchFamily="34" charset="-120"/>
              </a:rPr>
              <a:t>Paso 9 · Cabecera</a:t>
            </a:r>
            <a:endParaRPr lang="en-US" sz="1300" dirty="0"/>
          </a:p>
        </p:txBody>
      </p:sp>
      <p:sp>
        <p:nvSpPr>
          <p:cNvPr id="29" name="Text 27"/>
          <p:cNvSpPr txBox="1"/>
          <p:nvPr/>
        </p:nvSpPr>
        <p:spPr>
          <a:xfrm>
            <a:off x="4617720" y="5120640"/>
            <a:ext cx="2971800" cy="676656"/>
          </a:xfrm>
          <a:prstGeom prst="rect">
            <a:avLst/>
          </a:prstGeom>
          <a:noFill/>
          <a:ln/>
        </p:spPr>
        <p:txBody>
          <a:bodyPr wrap="square" lIns="0" tIns="0" rIns="0" bIns="0" rtlCol="0" anchor="t"/>
          <a:lstStyle/>
          <a:p>
            <a:pPr indent="0" marL="0">
              <a:lnSpc>
                <a:spcPct val="120000"/>
              </a:lnSpc>
              <a:buNone/>
            </a:pPr>
            <a:r>
              <a:rPr lang="en-US" sz="1150" dirty="0">
                <a:solidFill>
                  <a:srgbClr val="33393D"/>
                </a:solidFill>
                <a:latin typeface="Calibri" pitchFamily="34" charset="0"/>
                <a:ea typeface="Calibri" pitchFamily="34" charset="-122"/>
                <a:cs typeface="Calibri" pitchFamily="34" charset="-120"/>
              </a:rPr>
              <a:t>Marco horizontal con Espacio Auto: tres círculos de 10 × 10 y el nombre del archivo.</a:t>
            </a:r>
            <a:endParaRPr lang="en-US" sz="1150" dirty="0"/>
          </a:p>
        </p:txBody>
      </p:sp>
      <p:sp>
        <p:nvSpPr>
          <p:cNvPr id="30" name="Shape 28"/>
          <p:cNvSpPr/>
          <p:nvPr/>
        </p:nvSpPr>
        <p:spPr>
          <a:xfrm>
            <a:off x="8046720" y="4352544"/>
            <a:ext cx="3520440" cy="1572768"/>
          </a:xfrm>
          <a:prstGeom prst="roundRect">
            <a:avLst>
              <a:gd name="adj" fmla="val 5814"/>
            </a:avLst>
          </a:prstGeom>
          <a:solidFill>
            <a:srgbClr val="FFFFFF"/>
          </a:solidFill>
          <a:ln w="12700">
            <a:solidFill>
              <a:srgbClr val="CFD5D9"/>
            </a:solidFill>
            <a:prstDash val="solid"/>
          </a:ln>
        </p:spPr>
      </p:sp>
      <p:sp>
        <p:nvSpPr>
          <p:cNvPr id="31" name="Shape 29"/>
          <p:cNvSpPr/>
          <p:nvPr/>
        </p:nvSpPr>
        <p:spPr>
          <a:xfrm>
            <a:off x="8293608" y="4581144"/>
            <a:ext cx="402336" cy="402336"/>
          </a:xfrm>
          <a:prstGeom prst="ellipse">
            <a:avLst/>
          </a:prstGeom>
          <a:solidFill>
            <a:srgbClr val="177E89"/>
          </a:solidFill>
          <a:ln w="12700">
            <a:solidFill>
              <a:srgbClr val="177E89"/>
            </a:solidFill>
            <a:prstDash val="solid"/>
          </a:ln>
        </p:spPr>
      </p:sp>
      <p:sp>
        <p:nvSpPr>
          <p:cNvPr id="32" name="Text 30"/>
          <p:cNvSpPr txBox="1"/>
          <p:nvPr/>
        </p:nvSpPr>
        <p:spPr>
          <a:xfrm>
            <a:off x="8293608" y="4581144"/>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3" name="Text 31"/>
          <p:cNvSpPr txBox="1"/>
          <p:nvPr/>
        </p:nvSpPr>
        <p:spPr>
          <a:xfrm>
            <a:off x="8851392" y="4581144"/>
            <a:ext cx="2514600" cy="402336"/>
          </a:xfrm>
          <a:prstGeom prst="rect">
            <a:avLst/>
          </a:prstGeom>
          <a:noFill/>
          <a:ln/>
        </p:spPr>
        <p:txBody>
          <a:bodyPr wrap="square" lIns="0" tIns="0" rIns="0" bIns="0" rtlCol="0" anchor="ctr"/>
          <a:lstStyle/>
          <a:p>
            <a:pPr indent="0" marL="0">
              <a:buNone/>
            </a:pPr>
            <a:r>
              <a:rPr lang="en-US" sz="1300" b="1" dirty="0">
                <a:solidFill>
                  <a:srgbClr val="1F2326"/>
                </a:solidFill>
                <a:latin typeface="Calibri" pitchFamily="34" charset="0"/>
                <a:ea typeface="Calibri" pitchFamily="34" charset="-122"/>
                <a:cs typeface="Calibri" pitchFamily="34" charset="-120"/>
              </a:rPr>
              <a:t>Paso 9 · Código</a:t>
            </a:r>
            <a:endParaRPr lang="en-US" sz="1300" dirty="0"/>
          </a:p>
        </p:txBody>
      </p:sp>
      <p:sp>
        <p:nvSpPr>
          <p:cNvPr id="34" name="Text 32"/>
          <p:cNvSpPr txBox="1"/>
          <p:nvPr/>
        </p:nvSpPr>
        <p:spPr>
          <a:xfrm>
            <a:off x="8321040" y="5120640"/>
            <a:ext cx="2971800" cy="676656"/>
          </a:xfrm>
          <a:prstGeom prst="rect">
            <a:avLst/>
          </a:prstGeom>
          <a:noFill/>
          <a:ln/>
        </p:spPr>
        <p:txBody>
          <a:bodyPr wrap="square" lIns="0" tIns="0" rIns="0" bIns="0" rtlCol="0" anchor="t"/>
          <a:lstStyle/>
          <a:p>
            <a:pPr indent="0" marL="0">
              <a:lnSpc>
                <a:spcPct val="120000"/>
              </a:lnSpc>
              <a:buNone/>
            </a:pPr>
            <a:r>
              <a:rPr lang="en-US" sz="1150" dirty="0">
                <a:solidFill>
                  <a:srgbClr val="33393D"/>
                </a:solidFill>
                <a:latin typeface="Calibri" pitchFamily="34" charset="0"/>
                <a:ea typeface="Calibri" pitchFamily="34" charset="-122"/>
                <a:cs typeface="Calibri" pitchFamily="34" charset="-120"/>
              </a:rPr>
              <a:t>Marco vertical con Espaciado 24. Texto en Geist Mono 14, altura 160 %.</a:t>
            </a:r>
            <a:endParaRPr lang="en-US" sz="1150" dirty="0"/>
          </a:p>
        </p:txBody>
      </p:sp>
      <p:sp>
        <p:nvSpPr>
          <p:cNvPr id="35" name="Text 33"/>
          <p:cNvSpPr txBox="1"/>
          <p:nvPr/>
        </p:nvSpPr>
        <p:spPr>
          <a:xfrm>
            <a:off x="640080" y="6053328"/>
            <a:ext cx="10927080" cy="256032"/>
          </a:xfrm>
          <a:prstGeom prst="rect">
            <a:avLst/>
          </a:prstGeom>
          <a:noFill/>
          <a:ln/>
        </p:spPr>
        <p:txBody>
          <a:bodyPr wrap="square" lIns="0" tIns="0" rIns="0" bIns="0" rtlCol="0" anchor="ctr"/>
          <a:lstStyle/>
          <a:p>
            <a:pPr algn="ctr" indent="0" marL="0">
              <a:buNone/>
            </a:pPr>
            <a:r>
              <a:rPr lang="en-US" sz="1150" i="1" dirty="0">
                <a:solidFill>
                  <a:srgbClr val="5F676C"/>
                </a:solidFill>
                <a:latin typeface="Calibri" pitchFamily="34" charset="0"/>
                <a:ea typeface="Calibri" pitchFamily="34" charset="-122"/>
                <a:cs typeface="Calibri" pitchFamily="34" charset="-120"/>
              </a:rPr>
              <a:t>Lo que no termines en clase queda como tarea. En la sesión 08 lees estas medidas para escribir el CSS.</a:t>
            </a:r>
            <a:endParaRPr lang="en-US" sz="1150" dirty="0"/>
          </a:p>
        </p:txBody>
      </p:sp>
      <p:sp>
        <p:nvSpPr>
          <p:cNvPr id="36" name="Text 34"/>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40 / 48</a:t>
            </a:r>
            <a:endParaRPr lang="en-US"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pic>
        <p:nvPicPr>
          <p:cNvPr id="2" name="Image 0" descr="Nivelador: nivel de comprensión del estudiante">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41 / 48</a:t>
            </a:r>
            <a:endParaRPr lang="en-US" sz="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indent="0" marL="0">
              <a:buNone/>
            </a:pPr>
            <a:r>
              <a:rPr lang="en-US" sz="1050" b="1" spc="300" kern="0" dirty="0">
                <a:solidFill>
                  <a:srgbClr val="177E89"/>
                </a:solidFill>
                <a:latin typeface="Calibri" pitchFamily="34" charset="0"/>
                <a:ea typeface="Calibri" pitchFamily="34" charset="-122"/>
                <a:cs typeface="Calibri" pitchFamily="34" charset="-120"/>
              </a:rPr>
              <a:t>NIVELADOR</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Autoevaluación</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indent="0" marL="0">
              <a:buNone/>
            </a:pPr>
            <a:r>
              <a:rPr lang="en-US" sz="1250" dirty="0">
                <a:solidFill>
                  <a:srgbClr val="5F676C"/>
                </a:solidFill>
                <a:latin typeface="Calibri" pitchFamily="34" charset="0"/>
                <a:ea typeface="Calibri" pitchFamily="34" charset="-122"/>
                <a:cs typeface="Calibri" pitchFamily="34" charset="-120"/>
              </a:rPr>
              <a:t>Marca mentalmente cada punto. Si dudas en alguno, pregunta ahora.</a:t>
            </a:r>
            <a:endParaRPr lang="en-US" sz="1250" dirty="0"/>
          </a:p>
        </p:txBody>
      </p:sp>
      <p:sp>
        <p:nvSpPr>
          <p:cNvPr id="5" name="Shape 3"/>
          <p:cNvSpPr/>
          <p:nvPr/>
        </p:nvSpPr>
        <p:spPr>
          <a:xfrm>
            <a:off x="640080" y="2615184"/>
            <a:ext cx="10927080" cy="402336"/>
          </a:xfrm>
          <a:prstGeom prst="roundRect">
            <a:avLst>
              <a:gd name="adj" fmla="val 22727"/>
            </a:avLst>
          </a:prstGeom>
          <a:solidFill>
            <a:srgbClr val="FFFFFF"/>
          </a:solidFill>
          <a:ln w="12700">
            <a:solidFill>
              <a:srgbClr val="CFD5D9"/>
            </a:solidFill>
            <a:prstDash val="solid"/>
          </a:ln>
        </p:spPr>
      </p:sp>
      <p:sp>
        <p:nvSpPr>
          <p:cNvPr id="6" name="Shape 4"/>
          <p:cNvSpPr/>
          <p:nvPr/>
        </p:nvSpPr>
        <p:spPr>
          <a:xfrm>
            <a:off x="914400" y="2688336"/>
            <a:ext cx="292608" cy="256032"/>
          </a:xfrm>
          <a:prstGeom prst="roundRect">
            <a:avLst>
              <a:gd name="adj" fmla="val 21429"/>
            </a:avLst>
          </a:prstGeom>
          <a:solidFill>
            <a:srgbClr val="FFFFFF"/>
          </a:solidFill>
          <a:ln w="19050">
            <a:solidFill>
              <a:srgbClr val="177E89"/>
            </a:solidFill>
            <a:prstDash val="solid"/>
          </a:ln>
        </p:spPr>
      </p:sp>
      <p:sp>
        <p:nvSpPr>
          <p:cNvPr id="7" name="Text 5"/>
          <p:cNvSpPr txBox="1"/>
          <p:nvPr/>
        </p:nvSpPr>
        <p:spPr>
          <a:xfrm>
            <a:off x="1371600" y="2615184"/>
            <a:ext cx="9921240" cy="402336"/>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Sé unir un label con su campo usando for e id.</a:t>
            </a:r>
            <a:endParaRPr lang="en-US" sz="1200" dirty="0"/>
          </a:p>
        </p:txBody>
      </p:sp>
      <p:sp>
        <p:nvSpPr>
          <p:cNvPr id="8" name="Shape 6"/>
          <p:cNvSpPr/>
          <p:nvPr/>
        </p:nvSpPr>
        <p:spPr>
          <a:xfrm>
            <a:off x="640080" y="3070555"/>
            <a:ext cx="10927080" cy="402336"/>
          </a:xfrm>
          <a:prstGeom prst="roundRect">
            <a:avLst>
              <a:gd name="adj" fmla="val 22727"/>
            </a:avLst>
          </a:prstGeom>
          <a:solidFill>
            <a:srgbClr val="FFFFFF"/>
          </a:solidFill>
          <a:ln w="12700">
            <a:solidFill>
              <a:srgbClr val="CFD5D9"/>
            </a:solidFill>
            <a:prstDash val="solid"/>
          </a:ln>
        </p:spPr>
      </p:sp>
      <p:sp>
        <p:nvSpPr>
          <p:cNvPr id="9" name="Shape 7"/>
          <p:cNvSpPr/>
          <p:nvPr/>
        </p:nvSpPr>
        <p:spPr>
          <a:xfrm>
            <a:off x="914400" y="3143707"/>
            <a:ext cx="292608" cy="256032"/>
          </a:xfrm>
          <a:prstGeom prst="roundRect">
            <a:avLst>
              <a:gd name="adj" fmla="val 21429"/>
            </a:avLst>
          </a:prstGeom>
          <a:solidFill>
            <a:srgbClr val="FFFFFF"/>
          </a:solidFill>
          <a:ln w="19050">
            <a:solidFill>
              <a:srgbClr val="177E89"/>
            </a:solidFill>
            <a:prstDash val="solid"/>
          </a:ln>
        </p:spPr>
      </p:sp>
      <p:sp>
        <p:nvSpPr>
          <p:cNvPr id="10" name="Text 8"/>
          <p:cNvSpPr txBox="1"/>
          <p:nvPr/>
        </p:nvSpPr>
        <p:spPr>
          <a:xfrm>
            <a:off x="1371600" y="3070555"/>
            <a:ext cx="9921240" cy="402336"/>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Sé qué validan required, minlength y pattern.</a:t>
            </a:r>
            <a:endParaRPr lang="en-US" sz="1200" dirty="0"/>
          </a:p>
        </p:txBody>
      </p:sp>
      <p:sp>
        <p:nvSpPr>
          <p:cNvPr id="11" name="Shape 9"/>
          <p:cNvSpPr/>
          <p:nvPr/>
        </p:nvSpPr>
        <p:spPr>
          <a:xfrm>
            <a:off x="640080" y="3525926"/>
            <a:ext cx="10927080" cy="402336"/>
          </a:xfrm>
          <a:prstGeom prst="roundRect">
            <a:avLst>
              <a:gd name="adj" fmla="val 22727"/>
            </a:avLst>
          </a:prstGeom>
          <a:solidFill>
            <a:srgbClr val="FFFFFF"/>
          </a:solidFill>
          <a:ln w="12700">
            <a:solidFill>
              <a:srgbClr val="CFD5D9"/>
            </a:solidFill>
            <a:prstDash val="solid"/>
          </a:ln>
        </p:spPr>
      </p:sp>
      <p:sp>
        <p:nvSpPr>
          <p:cNvPr id="12" name="Shape 10"/>
          <p:cNvSpPr/>
          <p:nvPr/>
        </p:nvSpPr>
        <p:spPr>
          <a:xfrm>
            <a:off x="914400" y="3599078"/>
            <a:ext cx="292608" cy="256032"/>
          </a:xfrm>
          <a:prstGeom prst="roundRect">
            <a:avLst>
              <a:gd name="adj" fmla="val 21429"/>
            </a:avLst>
          </a:prstGeom>
          <a:solidFill>
            <a:srgbClr val="FFFFFF"/>
          </a:solidFill>
          <a:ln w="19050">
            <a:solidFill>
              <a:srgbClr val="177E89"/>
            </a:solidFill>
            <a:prstDash val="solid"/>
          </a:ln>
        </p:spPr>
      </p:sp>
      <p:sp>
        <p:nvSpPr>
          <p:cNvPr id="13" name="Text 11"/>
          <p:cNvSpPr txBox="1"/>
          <p:nvPr/>
        </p:nvSpPr>
        <p:spPr>
          <a:xfrm>
            <a:off x="1371600" y="3525926"/>
            <a:ext cx="9921240" cy="402336"/>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Sé la diferencia entre un contenedor (.mp4) y un códec (H.264).</a:t>
            </a:r>
            <a:endParaRPr lang="en-US" sz="1200" dirty="0"/>
          </a:p>
        </p:txBody>
      </p:sp>
      <p:sp>
        <p:nvSpPr>
          <p:cNvPr id="14" name="Shape 12"/>
          <p:cNvSpPr/>
          <p:nvPr/>
        </p:nvSpPr>
        <p:spPr>
          <a:xfrm>
            <a:off x="640080" y="3981298"/>
            <a:ext cx="10927080" cy="402336"/>
          </a:xfrm>
          <a:prstGeom prst="roundRect">
            <a:avLst>
              <a:gd name="adj" fmla="val 22727"/>
            </a:avLst>
          </a:prstGeom>
          <a:solidFill>
            <a:srgbClr val="FFFFFF"/>
          </a:solidFill>
          <a:ln w="12700">
            <a:solidFill>
              <a:srgbClr val="CFD5D9"/>
            </a:solidFill>
            <a:prstDash val="solid"/>
          </a:ln>
        </p:spPr>
      </p:sp>
      <p:sp>
        <p:nvSpPr>
          <p:cNvPr id="15" name="Shape 13"/>
          <p:cNvSpPr/>
          <p:nvPr/>
        </p:nvSpPr>
        <p:spPr>
          <a:xfrm>
            <a:off x="914400" y="4054450"/>
            <a:ext cx="292608" cy="256032"/>
          </a:xfrm>
          <a:prstGeom prst="roundRect">
            <a:avLst>
              <a:gd name="adj" fmla="val 21429"/>
            </a:avLst>
          </a:prstGeom>
          <a:solidFill>
            <a:srgbClr val="FFFFFF"/>
          </a:solidFill>
          <a:ln w="19050">
            <a:solidFill>
              <a:srgbClr val="177E89"/>
            </a:solidFill>
            <a:prstDash val="solid"/>
          </a:ln>
        </p:spPr>
      </p:sp>
      <p:sp>
        <p:nvSpPr>
          <p:cNvPr id="16" name="Text 14"/>
          <p:cNvSpPr txBox="1"/>
          <p:nvPr/>
        </p:nvSpPr>
        <p:spPr>
          <a:xfrm>
            <a:off x="1371600" y="3981298"/>
            <a:ext cx="9921240" cy="402336"/>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Puedo ofrecer dos fuentes con &lt;source&gt; y su type.</a:t>
            </a:r>
            <a:endParaRPr lang="en-US" sz="1200" dirty="0"/>
          </a:p>
        </p:txBody>
      </p:sp>
      <p:sp>
        <p:nvSpPr>
          <p:cNvPr id="17" name="Shape 15"/>
          <p:cNvSpPr/>
          <p:nvPr/>
        </p:nvSpPr>
        <p:spPr>
          <a:xfrm>
            <a:off x="640080" y="4436669"/>
            <a:ext cx="10927080" cy="402336"/>
          </a:xfrm>
          <a:prstGeom prst="roundRect">
            <a:avLst>
              <a:gd name="adj" fmla="val 22727"/>
            </a:avLst>
          </a:prstGeom>
          <a:solidFill>
            <a:srgbClr val="FFFFFF"/>
          </a:solidFill>
          <a:ln w="12700">
            <a:solidFill>
              <a:srgbClr val="CFD5D9"/>
            </a:solidFill>
            <a:prstDash val="solid"/>
          </a:ln>
        </p:spPr>
      </p:sp>
      <p:sp>
        <p:nvSpPr>
          <p:cNvPr id="18" name="Shape 16"/>
          <p:cNvSpPr/>
          <p:nvPr/>
        </p:nvSpPr>
        <p:spPr>
          <a:xfrm>
            <a:off x="914400" y="4509821"/>
            <a:ext cx="292608" cy="256032"/>
          </a:xfrm>
          <a:prstGeom prst="roundRect">
            <a:avLst>
              <a:gd name="adj" fmla="val 21429"/>
            </a:avLst>
          </a:prstGeom>
          <a:solidFill>
            <a:srgbClr val="FFFFFF"/>
          </a:solidFill>
          <a:ln w="19050">
            <a:solidFill>
              <a:srgbClr val="177E89"/>
            </a:solidFill>
            <a:prstDash val="solid"/>
          </a:ln>
        </p:spPr>
      </p:sp>
      <p:sp>
        <p:nvSpPr>
          <p:cNvPr id="19" name="Text 17"/>
          <p:cNvSpPr txBox="1"/>
          <p:nvPr/>
        </p:nvSpPr>
        <p:spPr>
          <a:xfrm>
            <a:off x="1371600" y="4436669"/>
            <a:ext cx="9921240" cy="402336"/>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Sé por qué un video con autoplay necesita muted.</a:t>
            </a:r>
            <a:endParaRPr lang="en-US" sz="1200" dirty="0"/>
          </a:p>
        </p:txBody>
      </p:sp>
      <p:sp>
        <p:nvSpPr>
          <p:cNvPr id="20" name="Shape 18"/>
          <p:cNvSpPr/>
          <p:nvPr/>
        </p:nvSpPr>
        <p:spPr>
          <a:xfrm>
            <a:off x="640080" y="4892040"/>
            <a:ext cx="10927080" cy="402336"/>
          </a:xfrm>
          <a:prstGeom prst="roundRect">
            <a:avLst>
              <a:gd name="adj" fmla="val 22727"/>
            </a:avLst>
          </a:prstGeom>
          <a:solidFill>
            <a:srgbClr val="FFFFFF"/>
          </a:solidFill>
          <a:ln w="12700">
            <a:solidFill>
              <a:srgbClr val="CFD5D9"/>
            </a:solidFill>
            <a:prstDash val="solid"/>
          </a:ln>
        </p:spPr>
      </p:sp>
      <p:sp>
        <p:nvSpPr>
          <p:cNvPr id="21" name="Shape 19"/>
          <p:cNvSpPr/>
          <p:nvPr/>
        </p:nvSpPr>
        <p:spPr>
          <a:xfrm>
            <a:off x="914400" y="4965192"/>
            <a:ext cx="292608" cy="256032"/>
          </a:xfrm>
          <a:prstGeom prst="roundRect">
            <a:avLst>
              <a:gd name="adj" fmla="val 21429"/>
            </a:avLst>
          </a:prstGeom>
          <a:solidFill>
            <a:srgbClr val="FFFFFF"/>
          </a:solidFill>
          <a:ln w="19050">
            <a:solidFill>
              <a:srgbClr val="177E89"/>
            </a:solidFill>
            <a:prstDash val="solid"/>
          </a:ln>
        </p:spPr>
      </p:sp>
      <p:sp>
        <p:nvSpPr>
          <p:cNvPr id="22" name="Text 20"/>
          <p:cNvSpPr txBox="1"/>
          <p:nvPr/>
        </p:nvSpPr>
        <p:spPr>
          <a:xfrm>
            <a:off x="1371600" y="4892040"/>
            <a:ext cx="9921240" cy="402336"/>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Puedo comprimir un video y crear su imagen de poster.</a:t>
            </a:r>
            <a:endParaRPr lang="en-US" sz="1200" dirty="0"/>
          </a:p>
        </p:txBody>
      </p:sp>
      <p:sp>
        <p:nvSpPr>
          <p:cNvPr id="23" name="Shape 21"/>
          <p:cNvSpPr/>
          <p:nvPr/>
        </p:nvSpPr>
        <p:spPr>
          <a:xfrm>
            <a:off x="640080" y="5347411"/>
            <a:ext cx="10927080" cy="402336"/>
          </a:xfrm>
          <a:prstGeom prst="roundRect">
            <a:avLst>
              <a:gd name="adj" fmla="val 22727"/>
            </a:avLst>
          </a:prstGeom>
          <a:solidFill>
            <a:srgbClr val="FFFFFF"/>
          </a:solidFill>
          <a:ln w="12700">
            <a:solidFill>
              <a:srgbClr val="CFD5D9"/>
            </a:solidFill>
            <a:prstDash val="solid"/>
          </a:ln>
        </p:spPr>
      </p:sp>
      <p:sp>
        <p:nvSpPr>
          <p:cNvPr id="24" name="Shape 22"/>
          <p:cNvSpPr/>
          <p:nvPr/>
        </p:nvSpPr>
        <p:spPr>
          <a:xfrm>
            <a:off x="914400" y="5420563"/>
            <a:ext cx="292608" cy="256032"/>
          </a:xfrm>
          <a:prstGeom prst="roundRect">
            <a:avLst>
              <a:gd name="adj" fmla="val 21429"/>
            </a:avLst>
          </a:prstGeom>
          <a:solidFill>
            <a:srgbClr val="FFFFFF"/>
          </a:solidFill>
          <a:ln w="19050">
            <a:solidFill>
              <a:srgbClr val="177E89"/>
            </a:solidFill>
            <a:prstDash val="solid"/>
          </a:ln>
        </p:spPr>
      </p:sp>
      <p:sp>
        <p:nvSpPr>
          <p:cNvPr id="25" name="Text 23"/>
          <p:cNvSpPr txBox="1"/>
          <p:nvPr/>
        </p:nvSpPr>
        <p:spPr>
          <a:xfrm>
            <a:off x="1371600" y="5347411"/>
            <a:ext cx="9921240" cy="402336"/>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Sé escribir un archivo .vtt y enlazarlo con &lt;track&gt;.</a:t>
            </a:r>
            <a:endParaRPr lang="en-US" sz="1200" dirty="0"/>
          </a:p>
        </p:txBody>
      </p:sp>
      <p:sp>
        <p:nvSpPr>
          <p:cNvPr id="26" name="Shape 24"/>
          <p:cNvSpPr/>
          <p:nvPr/>
        </p:nvSpPr>
        <p:spPr>
          <a:xfrm>
            <a:off x="640080" y="5802782"/>
            <a:ext cx="10927080" cy="402336"/>
          </a:xfrm>
          <a:prstGeom prst="roundRect">
            <a:avLst>
              <a:gd name="adj" fmla="val 22727"/>
            </a:avLst>
          </a:prstGeom>
          <a:solidFill>
            <a:srgbClr val="FFFFFF"/>
          </a:solidFill>
          <a:ln w="12700">
            <a:solidFill>
              <a:srgbClr val="CFD5D9"/>
            </a:solidFill>
            <a:prstDash val="solid"/>
          </a:ln>
        </p:spPr>
      </p:sp>
      <p:sp>
        <p:nvSpPr>
          <p:cNvPr id="27" name="Shape 25"/>
          <p:cNvSpPr/>
          <p:nvPr/>
        </p:nvSpPr>
        <p:spPr>
          <a:xfrm>
            <a:off x="914400" y="5875934"/>
            <a:ext cx="292608" cy="256032"/>
          </a:xfrm>
          <a:prstGeom prst="roundRect">
            <a:avLst>
              <a:gd name="adj" fmla="val 21429"/>
            </a:avLst>
          </a:prstGeom>
          <a:solidFill>
            <a:srgbClr val="FFFFFF"/>
          </a:solidFill>
          <a:ln w="19050">
            <a:solidFill>
              <a:srgbClr val="177E89"/>
            </a:solidFill>
            <a:prstDash val="solid"/>
          </a:ln>
        </p:spPr>
      </p:sp>
      <p:sp>
        <p:nvSpPr>
          <p:cNvPr id="28" name="Text 26"/>
          <p:cNvSpPr txBox="1"/>
          <p:nvPr/>
        </p:nvSpPr>
        <p:spPr>
          <a:xfrm>
            <a:off x="1371600" y="5802782"/>
            <a:ext cx="9921240" cy="402336"/>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Puedo explicar qué hace cada parte de reproductor.js.</a:t>
            </a:r>
            <a:endParaRPr lang="en-US" sz="1200" dirty="0"/>
          </a:p>
        </p:txBody>
      </p:sp>
      <p:sp>
        <p:nvSpPr>
          <p:cNvPr id="29" name="Text 27"/>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42 / 48</a:t>
            </a:r>
            <a:endParaRPr lang="en-US" sz="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indent="0" marL="0">
              <a:buNone/>
            </a:pPr>
            <a:r>
              <a:rPr lang="en-US" sz="1050" b="1" spc="300" kern="0" dirty="0">
                <a:solidFill>
                  <a:srgbClr val="177E89"/>
                </a:solidFill>
                <a:latin typeface="Calibri" pitchFamily="34" charset="0"/>
                <a:ea typeface="Calibri" pitchFamily="34" charset="-122"/>
                <a:cs typeface="Calibri" pitchFamily="34" charset="-120"/>
              </a:rPr>
              <a:t>NIVELADOR</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Espacio de consultas</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indent="0" marL="0">
              <a:buNone/>
            </a:pPr>
            <a:r>
              <a:rPr lang="en-US" sz="1250" dirty="0">
                <a:solidFill>
                  <a:srgbClr val="5F676C"/>
                </a:solidFill>
                <a:latin typeface="Calibri" pitchFamily="34" charset="0"/>
                <a:ea typeface="Calibri" pitchFamily="34" charset="-122"/>
                <a:cs typeface="Calibri" pitchFamily="34" charset="-120"/>
              </a:rPr>
              <a:t>¿Qué parte quedó menos clara?</a:t>
            </a:r>
            <a:endParaRPr lang="en-US" sz="1250" dirty="0"/>
          </a:p>
        </p:txBody>
      </p:sp>
      <p:sp>
        <p:nvSpPr>
          <p:cNvPr id="5" name="Shape 3"/>
          <p:cNvSpPr/>
          <p:nvPr/>
        </p:nvSpPr>
        <p:spPr>
          <a:xfrm>
            <a:off x="640080" y="2724912"/>
            <a:ext cx="2628900" cy="1892808"/>
          </a:xfrm>
          <a:prstGeom prst="roundRect">
            <a:avLst>
              <a:gd name="adj" fmla="val 4831"/>
            </a:avLst>
          </a:prstGeom>
          <a:solidFill>
            <a:srgbClr val="F3F5F6"/>
          </a:solidFill>
          <a:ln w="12700">
            <a:solidFill>
              <a:srgbClr val="CFD5D9"/>
            </a:solidFill>
            <a:prstDash val="solid"/>
          </a:ln>
        </p:spPr>
      </p:sp>
      <p:sp>
        <p:nvSpPr>
          <p:cNvPr id="6" name="Text 4"/>
          <p:cNvSpPr txBox="1"/>
          <p:nvPr/>
        </p:nvSpPr>
        <p:spPr>
          <a:xfrm>
            <a:off x="822960" y="2980944"/>
            <a:ext cx="2263140" cy="365760"/>
          </a:xfrm>
          <a:prstGeom prst="rect">
            <a:avLst/>
          </a:prstGeom>
          <a:noFill/>
          <a:ln/>
        </p:spPr>
        <p:txBody>
          <a:bodyPr wrap="square" lIns="0" tIns="0" rIns="0" bIns="0" rtlCol="0" anchor="ctr"/>
          <a:lstStyle/>
          <a:p>
            <a:pPr algn="ctr" indent="0" marL="0">
              <a:buNone/>
            </a:pPr>
            <a:r>
              <a:rPr lang="en-US" sz="1600" b="1" dirty="0">
                <a:solidFill>
                  <a:srgbClr val="177E89"/>
                </a:solidFill>
                <a:latin typeface="Calibri" pitchFamily="34" charset="0"/>
                <a:ea typeface="Calibri" pitchFamily="34" charset="-122"/>
                <a:cs typeface="Calibri" pitchFamily="34" charset="-120"/>
              </a:rPr>
              <a:t>¿Formulario?</a:t>
            </a:r>
            <a:endParaRPr lang="en-US" sz="1600" dirty="0"/>
          </a:p>
        </p:txBody>
      </p:sp>
      <p:sp>
        <p:nvSpPr>
          <p:cNvPr id="7" name="Text 5"/>
          <p:cNvSpPr txBox="1"/>
          <p:nvPr/>
        </p:nvSpPr>
        <p:spPr>
          <a:xfrm>
            <a:off x="868680" y="3456432"/>
            <a:ext cx="2171700" cy="822960"/>
          </a:xfrm>
          <a:prstGeom prst="rect">
            <a:avLst/>
          </a:prstGeom>
          <a:noFill/>
          <a:ln/>
        </p:spPr>
        <p:txBody>
          <a:bodyPr wrap="square" lIns="0" tIns="0" rIns="0" bIns="0" rtlCol="0" anchor="t"/>
          <a:lstStyle/>
          <a:p>
            <a:pPr algn="ctr" indent="0" marL="0">
              <a:lnSpc>
                <a:spcPct val="125000"/>
              </a:lnSpc>
              <a:buNone/>
            </a:pPr>
            <a:r>
              <a:rPr lang="en-US" sz="1200" dirty="0">
                <a:solidFill>
                  <a:srgbClr val="33393D"/>
                </a:solidFill>
                <a:latin typeface="Calibri" pitchFamily="34" charset="0"/>
                <a:ea typeface="Calibri" pitchFamily="34" charset="-122"/>
                <a:cs typeface="Calibri" pitchFamily="34" charset="-120"/>
              </a:rPr>
              <a:t>¿A dónde llegan los datos que envío?</a:t>
            </a:r>
            <a:endParaRPr lang="en-US" sz="1200" dirty="0"/>
          </a:p>
        </p:txBody>
      </p:sp>
      <p:sp>
        <p:nvSpPr>
          <p:cNvPr id="8" name="Shape 6"/>
          <p:cNvSpPr/>
          <p:nvPr/>
        </p:nvSpPr>
        <p:spPr>
          <a:xfrm>
            <a:off x="3406140" y="2724912"/>
            <a:ext cx="2628900" cy="1892808"/>
          </a:xfrm>
          <a:prstGeom prst="roundRect">
            <a:avLst>
              <a:gd name="adj" fmla="val 4831"/>
            </a:avLst>
          </a:prstGeom>
          <a:solidFill>
            <a:srgbClr val="F3F5F6"/>
          </a:solidFill>
          <a:ln w="12700">
            <a:solidFill>
              <a:srgbClr val="CFD5D9"/>
            </a:solidFill>
            <a:prstDash val="solid"/>
          </a:ln>
        </p:spPr>
      </p:sp>
      <p:sp>
        <p:nvSpPr>
          <p:cNvPr id="9" name="Text 7"/>
          <p:cNvSpPr txBox="1"/>
          <p:nvPr/>
        </p:nvSpPr>
        <p:spPr>
          <a:xfrm>
            <a:off x="3589020" y="2980944"/>
            <a:ext cx="2263140" cy="365760"/>
          </a:xfrm>
          <a:prstGeom prst="rect">
            <a:avLst/>
          </a:prstGeom>
          <a:noFill/>
          <a:ln/>
        </p:spPr>
        <p:txBody>
          <a:bodyPr wrap="square" lIns="0" tIns="0" rIns="0" bIns="0" rtlCol="0" anchor="ctr"/>
          <a:lstStyle/>
          <a:p>
            <a:pPr algn="ctr" indent="0" marL="0">
              <a:buNone/>
            </a:pPr>
            <a:r>
              <a:rPr lang="en-US" sz="1600" b="1" dirty="0">
                <a:solidFill>
                  <a:srgbClr val="177E89"/>
                </a:solidFill>
                <a:latin typeface="Calibri" pitchFamily="34" charset="0"/>
                <a:ea typeface="Calibri" pitchFamily="34" charset="-122"/>
                <a:cs typeface="Calibri" pitchFamily="34" charset="-120"/>
              </a:rPr>
              <a:t>¿Autoplay?</a:t>
            </a:r>
            <a:endParaRPr lang="en-US" sz="1600" dirty="0"/>
          </a:p>
        </p:txBody>
      </p:sp>
      <p:sp>
        <p:nvSpPr>
          <p:cNvPr id="10" name="Text 8"/>
          <p:cNvSpPr txBox="1"/>
          <p:nvPr/>
        </p:nvSpPr>
        <p:spPr>
          <a:xfrm>
            <a:off x="3634740" y="3456432"/>
            <a:ext cx="2171700" cy="822960"/>
          </a:xfrm>
          <a:prstGeom prst="rect">
            <a:avLst/>
          </a:prstGeom>
          <a:noFill/>
          <a:ln/>
        </p:spPr>
        <p:txBody>
          <a:bodyPr wrap="square" lIns="0" tIns="0" rIns="0" bIns="0" rtlCol="0" anchor="t"/>
          <a:lstStyle/>
          <a:p>
            <a:pPr algn="ctr" indent="0" marL="0">
              <a:lnSpc>
                <a:spcPct val="125000"/>
              </a:lnSpc>
              <a:buNone/>
            </a:pPr>
            <a:r>
              <a:rPr lang="en-US" sz="1200" dirty="0">
                <a:solidFill>
                  <a:srgbClr val="33393D"/>
                </a:solidFill>
                <a:latin typeface="Calibri" pitchFamily="34" charset="0"/>
                <a:ea typeface="Calibri" pitchFamily="34" charset="-122"/>
                <a:cs typeface="Calibri" pitchFamily="34" charset="-120"/>
              </a:rPr>
              <a:t>¿Por qué mi video no arranca solo?</a:t>
            </a:r>
            <a:endParaRPr lang="en-US" sz="1200" dirty="0"/>
          </a:p>
        </p:txBody>
      </p:sp>
      <p:sp>
        <p:nvSpPr>
          <p:cNvPr id="11" name="Shape 9"/>
          <p:cNvSpPr/>
          <p:nvPr/>
        </p:nvSpPr>
        <p:spPr>
          <a:xfrm>
            <a:off x="6172200" y="2724912"/>
            <a:ext cx="2628900" cy="1892808"/>
          </a:xfrm>
          <a:prstGeom prst="roundRect">
            <a:avLst>
              <a:gd name="adj" fmla="val 4831"/>
            </a:avLst>
          </a:prstGeom>
          <a:solidFill>
            <a:srgbClr val="F3F5F6"/>
          </a:solidFill>
          <a:ln w="12700">
            <a:solidFill>
              <a:srgbClr val="CFD5D9"/>
            </a:solidFill>
            <a:prstDash val="solid"/>
          </a:ln>
        </p:spPr>
      </p:sp>
      <p:sp>
        <p:nvSpPr>
          <p:cNvPr id="12" name="Text 10"/>
          <p:cNvSpPr txBox="1"/>
          <p:nvPr/>
        </p:nvSpPr>
        <p:spPr>
          <a:xfrm>
            <a:off x="6355080" y="2980944"/>
            <a:ext cx="2263140" cy="365760"/>
          </a:xfrm>
          <a:prstGeom prst="rect">
            <a:avLst/>
          </a:prstGeom>
          <a:noFill/>
          <a:ln/>
        </p:spPr>
        <p:txBody>
          <a:bodyPr wrap="square" lIns="0" tIns="0" rIns="0" bIns="0" rtlCol="0" anchor="ctr"/>
          <a:lstStyle/>
          <a:p>
            <a:pPr algn="ctr" indent="0" marL="0">
              <a:buNone/>
            </a:pPr>
            <a:r>
              <a:rPr lang="en-US" sz="1600" b="1" dirty="0">
                <a:solidFill>
                  <a:srgbClr val="177E89"/>
                </a:solidFill>
                <a:latin typeface="Calibri" pitchFamily="34" charset="0"/>
                <a:ea typeface="Calibri" pitchFamily="34" charset="-122"/>
                <a:cs typeface="Calibri" pitchFamily="34" charset="-120"/>
              </a:rPr>
              <a:t>¿Subtítulos?</a:t>
            </a:r>
            <a:endParaRPr lang="en-US" sz="1600" dirty="0"/>
          </a:p>
        </p:txBody>
      </p:sp>
      <p:sp>
        <p:nvSpPr>
          <p:cNvPr id="13" name="Text 11"/>
          <p:cNvSpPr txBox="1"/>
          <p:nvPr/>
        </p:nvSpPr>
        <p:spPr>
          <a:xfrm>
            <a:off x="6400800" y="3456432"/>
            <a:ext cx="2171700" cy="822960"/>
          </a:xfrm>
          <a:prstGeom prst="rect">
            <a:avLst/>
          </a:prstGeom>
          <a:noFill/>
          <a:ln/>
        </p:spPr>
        <p:txBody>
          <a:bodyPr wrap="square" lIns="0" tIns="0" rIns="0" bIns="0" rtlCol="0" anchor="t"/>
          <a:lstStyle/>
          <a:p>
            <a:pPr algn="ctr" indent="0" marL="0">
              <a:lnSpc>
                <a:spcPct val="125000"/>
              </a:lnSpc>
              <a:buNone/>
            </a:pPr>
            <a:r>
              <a:rPr lang="en-US" sz="1200" dirty="0">
                <a:solidFill>
                  <a:srgbClr val="33393D"/>
                </a:solidFill>
                <a:latin typeface="Calibri" pitchFamily="34" charset="0"/>
                <a:ea typeface="Calibri" pitchFamily="34" charset="-122"/>
                <a:cs typeface="Calibri" pitchFamily="34" charset="-120"/>
              </a:rPr>
              <a:t>¿Por qué no aparecen al abrir con doble clic?</a:t>
            </a:r>
            <a:endParaRPr lang="en-US" sz="1200" dirty="0"/>
          </a:p>
        </p:txBody>
      </p:sp>
      <p:sp>
        <p:nvSpPr>
          <p:cNvPr id="14" name="Shape 12"/>
          <p:cNvSpPr/>
          <p:nvPr/>
        </p:nvSpPr>
        <p:spPr>
          <a:xfrm>
            <a:off x="8938260" y="2724912"/>
            <a:ext cx="2628900" cy="1892808"/>
          </a:xfrm>
          <a:prstGeom prst="roundRect">
            <a:avLst>
              <a:gd name="adj" fmla="val 4831"/>
            </a:avLst>
          </a:prstGeom>
          <a:solidFill>
            <a:srgbClr val="F3F5F6"/>
          </a:solidFill>
          <a:ln w="12700">
            <a:solidFill>
              <a:srgbClr val="CFD5D9"/>
            </a:solidFill>
            <a:prstDash val="solid"/>
          </a:ln>
        </p:spPr>
      </p:sp>
      <p:sp>
        <p:nvSpPr>
          <p:cNvPr id="15" name="Text 13"/>
          <p:cNvSpPr txBox="1"/>
          <p:nvPr/>
        </p:nvSpPr>
        <p:spPr>
          <a:xfrm>
            <a:off x="9121140" y="2980944"/>
            <a:ext cx="2263140" cy="365760"/>
          </a:xfrm>
          <a:prstGeom prst="rect">
            <a:avLst/>
          </a:prstGeom>
          <a:noFill/>
          <a:ln/>
        </p:spPr>
        <p:txBody>
          <a:bodyPr wrap="square" lIns="0" tIns="0" rIns="0" bIns="0" rtlCol="0" anchor="ctr"/>
          <a:lstStyle/>
          <a:p>
            <a:pPr algn="ctr" indent="0" marL="0">
              <a:buNone/>
            </a:pPr>
            <a:r>
              <a:rPr lang="en-US" sz="1600" b="1" dirty="0">
                <a:solidFill>
                  <a:srgbClr val="177E89"/>
                </a:solidFill>
                <a:latin typeface="Calibri" pitchFamily="34" charset="0"/>
                <a:ea typeface="Calibri" pitchFamily="34" charset="-122"/>
                <a:cs typeface="Calibri" pitchFamily="34" charset="-120"/>
              </a:rPr>
              <a:t>¿Y móvil?</a:t>
            </a:r>
            <a:endParaRPr lang="en-US" sz="1600" dirty="0"/>
          </a:p>
        </p:txBody>
      </p:sp>
      <p:sp>
        <p:nvSpPr>
          <p:cNvPr id="16" name="Text 14"/>
          <p:cNvSpPr txBox="1"/>
          <p:nvPr/>
        </p:nvSpPr>
        <p:spPr>
          <a:xfrm>
            <a:off x="9166860" y="3456432"/>
            <a:ext cx="2171700" cy="822960"/>
          </a:xfrm>
          <a:prstGeom prst="rect">
            <a:avLst/>
          </a:prstGeom>
          <a:noFill/>
          <a:ln/>
        </p:spPr>
        <p:txBody>
          <a:bodyPr wrap="square" lIns="0" tIns="0" rIns="0" bIns="0" rtlCol="0" anchor="t"/>
          <a:lstStyle/>
          <a:p>
            <a:pPr algn="ctr" indent="0" marL="0">
              <a:lnSpc>
                <a:spcPct val="125000"/>
              </a:lnSpc>
              <a:buNone/>
            </a:pPr>
            <a:r>
              <a:rPr lang="en-US" sz="1200" dirty="0">
                <a:solidFill>
                  <a:srgbClr val="33393D"/>
                </a:solidFill>
                <a:latin typeface="Calibri" pitchFamily="34" charset="0"/>
                <a:ea typeface="Calibri" pitchFamily="34" charset="-122"/>
                <a:cs typeface="Calibri" pitchFamily="34" charset="-120"/>
              </a:rPr>
              <a:t>¿Qué pasa con un video ancho en un celular?</a:t>
            </a:r>
            <a:endParaRPr lang="en-US" sz="1200" dirty="0"/>
          </a:p>
        </p:txBody>
      </p:sp>
      <p:sp>
        <p:nvSpPr>
          <p:cNvPr id="17" name="Shape 15"/>
          <p:cNvSpPr/>
          <p:nvPr/>
        </p:nvSpPr>
        <p:spPr>
          <a:xfrm>
            <a:off x="640080" y="4855464"/>
            <a:ext cx="10927080" cy="1170432"/>
          </a:xfrm>
          <a:prstGeom prst="roundRect">
            <a:avLst>
              <a:gd name="adj" fmla="val 7813"/>
            </a:avLst>
          </a:prstGeom>
          <a:solidFill>
            <a:srgbClr val="FFFFFF"/>
          </a:solidFill>
          <a:ln w="12700">
            <a:solidFill>
              <a:srgbClr val="CFD5D9"/>
            </a:solidFill>
            <a:prstDash val="solid"/>
          </a:ln>
        </p:spPr>
      </p:sp>
      <p:sp>
        <p:nvSpPr>
          <p:cNvPr id="18" name="Text 16"/>
          <p:cNvSpPr txBox="1"/>
          <p:nvPr/>
        </p:nvSpPr>
        <p:spPr>
          <a:xfrm>
            <a:off x="950976" y="5010912"/>
            <a:ext cx="10305288" cy="310896"/>
          </a:xfrm>
          <a:prstGeom prst="rect">
            <a:avLst/>
          </a:prstGeom>
          <a:noFill/>
          <a:ln/>
        </p:spPr>
        <p:txBody>
          <a:bodyPr wrap="square" lIns="0" tIns="0" rIns="0" bIns="0" rtlCol="0" anchor="ctr"/>
          <a:lstStyle/>
          <a:p>
            <a:pPr algn="l" indent="0" marL="0">
              <a:buNone/>
            </a:pPr>
            <a:r>
              <a:rPr lang="en-US" sz="1400" b="1" dirty="0">
                <a:solidFill>
                  <a:srgbClr val="1F2326"/>
                </a:solidFill>
                <a:latin typeface="Calibri" pitchFamily="34" charset="0"/>
                <a:ea typeface="Calibri" pitchFamily="34" charset="-122"/>
                <a:cs typeface="Calibri" pitchFamily="34" charset="-120"/>
              </a:rPr>
              <a:t>Sobre el envío del formulario</a:t>
            </a:r>
            <a:endParaRPr lang="en-US" sz="1400" dirty="0"/>
          </a:p>
        </p:txBody>
      </p:sp>
      <p:sp>
        <p:nvSpPr>
          <p:cNvPr id="19" name="Text 17"/>
          <p:cNvSpPr txBox="1"/>
          <p:nvPr/>
        </p:nvSpPr>
        <p:spPr>
          <a:xfrm>
            <a:off x="950976" y="5376672"/>
            <a:ext cx="10305288" cy="555955"/>
          </a:xfrm>
          <a:prstGeom prst="rect">
            <a:avLst/>
          </a:prstGeom>
          <a:noFill/>
          <a:ln/>
        </p:spPr>
        <p:txBody>
          <a:bodyPr wrap="square" lIns="0" tIns="0" rIns="0" bIns="0" rtlCol="0" anchor="t"/>
          <a:lstStyle/>
          <a:p>
            <a:pPr algn="l" indent="0" marL="0">
              <a:lnSpc>
                <a:spcPct val="125000"/>
              </a:lnSpc>
              <a:buNone/>
            </a:pPr>
            <a:r>
              <a:rPr lang="en-US" sz="1200" dirty="0">
                <a:solidFill>
                  <a:srgbClr val="33393D"/>
                </a:solidFill>
                <a:latin typeface="Calibri" pitchFamily="34" charset="0"/>
                <a:ea typeface="Calibri" pitchFamily="34" charset="-122"/>
                <a:cs typeface="Calibri" pitchFamily="34" charset="-120"/>
              </a:rPr>
              <a:t>Tu sitio es estático: no hay un programa que reciba los datos. Con method="get" los ves en la barra de direcciones, y eso basta para comprobar cada name. Recibirlos de verdad necesita un servicio aparte.</a:t>
            </a:r>
            <a:endParaRPr lang="en-US" sz="1200" dirty="0"/>
          </a:p>
        </p:txBody>
      </p:sp>
      <p:sp>
        <p:nvSpPr>
          <p:cNvPr id="20" name="Text 18"/>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43 / 48</a:t>
            </a:r>
            <a:endParaRPr lang="en-US" sz="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pic>
        <p:nvPicPr>
          <p:cNvPr id="2" name="Image 0" descr="Funcional: aplicar lo aprendido">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44 / 48</a:t>
            </a:r>
            <a:endParaRPr lang="en-US" sz="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indent="0" marL="0">
              <a:buNone/>
            </a:pPr>
            <a:r>
              <a:rPr lang="en-US" sz="1050" b="1" spc="300" kern="0" dirty="0">
                <a:solidFill>
                  <a:srgbClr val="177E89"/>
                </a:solidFill>
                <a:latin typeface="Calibri" pitchFamily="34" charset="0"/>
                <a:ea typeface="Calibri" pitchFamily="34" charset="-122"/>
                <a:cs typeface="Calibri" pitchFamily="34" charset="-120"/>
              </a:rPr>
              <a:t>ACTIVIDAD</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Tarea de la sesión</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indent="0" marL="0">
              <a:buNone/>
            </a:pPr>
            <a:r>
              <a:rPr lang="en-US" sz="1250" dirty="0">
                <a:solidFill>
                  <a:srgbClr val="5F676C"/>
                </a:solidFill>
                <a:latin typeface="Calibri" pitchFamily="34" charset="0"/>
                <a:ea typeface="Calibri" pitchFamily="34" charset="-122"/>
                <a:cs typeface="Calibri" pitchFamily="34" charset="-120"/>
              </a:rPr>
              <a:t>Forma parte del 40 % de participación en clases [P].</a:t>
            </a:r>
            <a:endParaRPr lang="en-US" sz="1250" dirty="0"/>
          </a:p>
        </p:txBody>
      </p:sp>
      <p:sp>
        <p:nvSpPr>
          <p:cNvPr id="5" name="Shape 3"/>
          <p:cNvSpPr/>
          <p:nvPr/>
        </p:nvSpPr>
        <p:spPr>
          <a:xfrm>
            <a:off x="640080" y="2615184"/>
            <a:ext cx="5349240" cy="3410712"/>
          </a:xfrm>
          <a:prstGeom prst="roundRect">
            <a:avLst>
              <a:gd name="adj" fmla="val 2681"/>
            </a:avLst>
          </a:prstGeom>
          <a:solidFill>
            <a:srgbClr val="F3F5F6"/>
          </a:solidFill>
          <a:ln w="12700">
            <a:solidFill>
              <a:srgbClr val="CFD5D9"/>
            </a:solidFill>
            <a:prstDash val="solid"/>
          </a:ln>
        </p:spPr>
      </p:sp>
      <p:sp>
        <p:nvSpPr>
          <p:cNvPr id="6" name="Text 4"/>
          <p:cNvSpPr txBox="1"/>
          <p:nvPr/>
        </p:nvSpPr>
        <p:spPr>
          <a:xfrm>
            <a:off x="950976" y="2816352"/>
            <a:ext cx="4727448" cy="310896"/>
          </a:xfrm>
          <a:prstGeom prst="rect">
            <a:avLst/>
          </a:prstGeom>
          <a:noFill/>
          <a:ln/>
        </p:spPr>
        <p:txBody>
          <a:bodyPr wrap="square" lIns="0" tIns="0" rIns="0" bIns="0" rtlCol="0" anchor="ctr"/>
          <a:lstStyle/>
          <a:p>
            <a:pPr algn="l" indent="0" marL="0">
              <a:buNone/>
            </a:pPr>
            <a:r>
              <a:rPr lang="en-US" sz="1500" b="1" dirty="0">
                <a:solidFill>
                  <a:srgbClr val="1F2326"/>
                </a:solidFill>
                <a:latin typeface="Calibri" pitchFamily="34" charset="0"/>
                <a:ea typeface="Calibri" pitchFamily="34" charset="-122"/>
                <a:cs typeface="Calibri" pitchFamily="34" charset="-120"/>
              </a:rPr>
              <a:t>Consigna</a:t>
            </a:r>
            <a:endParaRPr lang="en-US" sz="1500" dirty="0"/>
          </a:p>
        </p:txBody>
      </p:sp>
      <p:sp>
        <p:nvSpPr>
          <p:cNvPr id="7" name="Text 5"/>
          <p:cNvSpPr txBox="1"/>
          <p:nvPr/>
        </p:nvSpPr>
        <p:spPr>
          <a:xfrm>
            <a:off x="950976" y="3182112"/>
            <a:ext cx="4727448" cy="2723083"/>
          </a:xfrm>
          <a:prstGeom prst="rect">
            <a:avLst/>
          </a:prstGeom>
          <a:noFill/>
          <a:ln/>
        </p:spPr>
        <p:txBody>
          <a:bodyPr wrap="square" lIns="0" tIns="0" rIns="0" bIns="0" rtlCol="0" anchor="t"/>
          <a:lstStyle/>
          <a:p>
            <a:pPr marL="177800" indent="-177800">
              <a:spcAft>
                <a:spcPts val="700"/>
              </a:spcAft>
              <a:buSzPct val="100000"/>
              <a:buChar char="•"/>
            </a:pPr>
            <a:r>
              <a:rPr lang="en-US" sz="1150" dirty="0">
                <a:solidFill>
                  <a:srgbClr val="33393D"/>
                </a:solidFill>
                <a:latin typeface="Calibri" pitchFamily="34" charset="0"/>
                <a:ea typeface="Calibri" pitchFamily="34" charset="-122"/>
                <a:cs typeface="Calibri" pitchFamily="34" charset="-120"/>
              </a:rPr>
              <a:t>Completa tu formulario de contacto: cinco campos o más, cada uno con label y validación.</a:t>
            </a:r>
            <a:endParaRPr lang="en-US" sz="1150" dirty="0"/>
          </a:p>
          <a:p>
            <a:pPr marL="177800" indent="-177800">
              <a:spcAft>
                <a:spcPts val="700"/>
              </a:spcAft>
              <a:buSzPct val="100000"/>
              <a:buChar char="•"/>
            </a:pPr>
            <a:r>
              <a:rPr lang="en-US" sz="1150" dirty="0">
                <a:solidFill>
                  <a:srgbClr val="33393D"/>
                </a:solidFill>
                <a:latin typeface="Calibri" pitchFamily="34" charset="0"/>
                <a:ea typeface="Calibri" pitchFamily="34" charset="-122"/>
                <a:cs typeface="Calibri" pitchFamily="34" charset="-120"/>
              </a:rPr>
              <a:t>Graba tu video de presentación (30 segundos como máximo), comprímelo a menos de 3 MB y crea su poster.</a:t>
            </a:r>
            <a:endParaRPr lang="en-US" sz="1150" dirty="0"/>
          </a:p>
          <a:p>
            <a:pPr marL="177800" indent="-177800">
              <a:spcAft>
                <a:spcPts val="700"/>
              </a:spcAft>
              <a:buSzPct val="100000"/>
              <a:buChar char="•"/>
            </a:pPr>
            <a:r>
              <a:rPr lang="en-US" sz="1150" dirty="0">
                <a:solidFill>
                  <a:srgbClr val="33393D"/>
                </a:solidFill>
                <a:latin typeface="Calibri" pitchFamily="34" charset="0"/>
                <a:ea typeface="Calibri" pitchFamily="34" charset="-122"/>
                <a:cs typeface="Calibri" pitchFamily="34" charset="-120"/>
              </a:rPr>
              <a:t>Publícalo con dos source, subtítulos .vtt y controles personalizados.</a:t>
            </a:r>
            <a:endParaRPr lang="en-US" sz="1150" dirty="0"/>
          </a:p>
          <a:p>
            <a:pPr marL="177800" indent="-177800">
              <a:spcAft>
                <a:spcPts val="700"/>
              </a:spcAft>
              <a:buSzPct val="100000"/>
              <a:buChar char="•"/>
            </a:pPr>
            <a:r>
              <a:rPr lang="en-US" sz="1150" dirty="0">
                <a:solidFill>
                  <a:srgbClr val="33393D"/>
                </a:solidFill>
                <a:latin typeface="Calibri" pitchFamily="34" charset="0"/>
                <a:ea typeface="Calibri" pitchFamily="34" charset="-122"/>
                <a:cs typeface="Calibri" pitchFamily="34" charset="-120"/>
              </a:rPr>
              <a:t>Añade tu audio en dos formatos, con su transcripción.</a:t>
            </a:r>
            <a:endParaRPr lang="en-US" sz="1150" dirty="0"/>
          </a:p>
          <a:p>
            <a:pPr marL="177800" indent="-177800">
              <a:spcAft>
                <a:spcPts val="700"/>
              </a:spcAft>
              <a:buSzPct val="100000"/>
              <a:buChar char="•"/>
            </a:pPr>
            <a:r>
              <a:rPr lang="en-US" sz="1150" dirty="0">
                <a:solidFill>
                  <a:srgbClr val="33393D"/>
                </a:solidFill>
                <a:latin typeface="Calibri" pitchFamily="34" charset="0"/>
                <a:ea typeface="Calibri" pitchFamily="34" charset="-122"/>
                <a:cs typeface="Calibri" pitchFamily="34" charset="-120"/>
              </a:rPr>
              <a:t>En Figma: termina los Pasos 7 al 9 con la Guía de Figma de la sesión.</a:t>
            </a:r>
            <a:endParaRPr lang="en-US" sz="1150" dirty="0"/>
          </a:p>
          <a:p>
            <a:pPr marL="177800" indent="-177800">
              <a:spcAft>
                <a:spcPts val="700"/>
              </a:spcAft>
              <a:buSzPct val="100000"/>
              <a:buChar char="•"/>
            </a:pPr>
            <a:r>
              <a:rPr lang="en-US" sz="1150" dirty="0">
                <a:solidFill>
                  <a:srgbClr val="33393D"/>
                </a:solidFill>
                <a:latin typeface="Calibri" pitchFamily="34" charset="0"/>
                <a:ea typeface="Calibri" pitchFamily="34" charset="-122"/>
                <a:cs typeface="Calibri" pitchFamily="34" charset="-120"/>
              </a:rPr>
              <a:t>Valida sin errores y publica en Netlify.</a:t>
            </a:r>
            <a:endParaRPr lang="en-US" sz="1150" dirty="0"/>
          </a:p>
        </p:txBody>
      </p:sp>
      <p:sp>
        <p:nvSpPr>
          <p:cNvPr id="8" name="Shape 6"/>
          <p:cNvSpPr/>
          <p:nvPr/>
        </p:nvSpPr>
        <p:spPr>
          <a:xfrm>
            <a:off x="6217920" y="2615184"/>
            <a:ext cx="5349240" cy="3410712"/>
          </a:xfrm>
          <a:prstGeom prst="roundRect">
            <a:avLst>
              <a:gd name="adj" fmla="val 2681"/>
            </a:avLst>
          </a:prstGeom>
          <a:solidFill>
            <a:srgbClr val="FFFFFF"/>
          </a:solidFill>
          <a:ln w="12700">
            <a:solidFill>
              <a:srgbClr val="CFD5D9"/>
            </a:solidFill>
            <a:prstDash val="solid"/>
          </a:ln>
        </p:spPr>
      </p:sp>
      <p:sp>
        <p:nvSpPr>
          <p:cNvPr id="9" name="Text 7"/>
          <p:cNvSpPr txBox="1"/>
          <p:nvPr/>
        </p:nvSpPr>
        <p:spPr>
          <a:xfrm>
            <a:off x="6528816" y="2816352"/>
            <a:ext cx="4754880" cy="310896"/>
          </a:xfrm>
          <a:prstGeom prst="rect">
            <a:avLst/>
          </a:prstGeom>
          <a:noFill/>
          <a:ln/>
        </p:spPr>
        <p:txBody>
          <a:bodyPr wrap="square" lIns="0" tIns="0" rIns="0" bIns="0" rtlCol="0" anchor="ctr"/>
          <a:lstStyle/>
          <a:p>
            <a:pPr indent="0" marL="0">
              <a:buNone/>
            </a:pPr>
            <a:r>
              <a:rPr lang="en-US" sz="1500" b="1" dirty="0">
                <a:solidFill>
                  <a:srgbClr val="177E89"/>
                </a:solidFill>
                <a:latin typeface="Calibri" pitchFamily="34" charset="0"/>
                <a:ea typeface="Calibri" pitchFamily="34" charset="-122"/>
                <a:cs typeface="Calibri" pitchFamily="34" charset="-120"/>
              </a:rPr>
              <a:t>Indicaciones de entrega</a:t>
            </a:r>
            <a:endParaRPr lang="en-US" sz="1500" dirty="0"/>
          </a:p>
        </p:txBody>
      </p:sp>
      <p:sp>
        <p:nvSpPr>
          <p:cNvPr id="10" name="Shape 8"/>
          <p:cNvSpPr/>
          <p:nvPr/>
        </p:nvSpPr>
        <p:spPr>
          <a:xfrm>
            <a:off x="6583680" y="3328416"/>
            <a:ext cx="384048" cy="384048"/>
          </a:xfrm>
          <a:prstGeom prst="ellipse">
            <a:avLst/>
          </a:prstGeom>
          <a:solidFill>
            <a:srgbClr val="177E89"/>
          </a:solidFill>
          <a:ln w="12700">
            <a:solidFill>
              <a:srgbClr val="177E89"/>
            </a:solidFill>
            <a:prstDash val="solid"/>
          </a:ln>
        </p:spPr>
      </p:sp>
      <p:sp>
        <p:nvSpPr>
          <p:cNvPr id="11" name="Text 9"/>
          <p:cNvSpPr txBox="1"/>
          <p:nvPr/>
        </p:nvSpPr>
        <p:spPr>
          <a:xfrm>
            <a:off x="6583680" y="332841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2" name="Text 10"/>
          <p:cNvSpPr txBox="1"/>
          <p:nvPr/>
        </p:nvSpPr>
        <p:spPr>
          <a:xfrm>
            <a:off x="7132320" y="3328416"/>
            <a:ext cx="4206240" cy="384048"/>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Subir la URL publicada al Aula Virtual.</a:t>
            </a:r>
            <a:endParaRPr lang="en-US" sz="1200" dirty="0"/>
          </a:p>
        </p:txBody>
      </p:sp>
      <p:sp>
        <p:nvSpPr>
          <p:cNvPr id="13" name="Shape 11"/>
          <p:cNvSpPr/>
          <p:nvPr/>
        </p:nvSpPr>
        <p:spPr>
          <a:xfrm>
            <a:off x="6583680" y="3968496"/>
            <a:ext cx="384048" cy="384048"/>
          </a:xfrm>
          <a:prstGeom prst="ellipse">
            <a:avLst/>
          </a:prstGeom>
          <a:solidFill>
            <a:srgbClr val="177E89"/>
          </a:solidFill>
          <a:ln w="12700">
            <a:solidFill>
              <a:srgbClr val="177E89"/>
            </a:solidFill>
            <a:prstDash val="solid"/>
          </a:ln>
        </p:spPr>
      </p:sp>
      <p:sp>
        <p:nvSpPr>
          <p:cNvPr id="14" name="Text 12"/>
          <p:cNvSpPr txBox="1"/>
          <p:nvPr/>
        </p:nvSpPr>
        <p:spPr>
          <a:xfrm>
            <a:off x="6583680" y="396849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5" name="Text 13"/>
          <p:cNvSpPr txBox="1"/>
          <p:nvPr/>
        </p:nvSpPr>
        <p:spPr>
          <a:xfrm>
            <a:off x="7132320" y="3968496"/>
            <a:ext cx="4206240" cy="384048"/>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Adjuntar captura del validador W3C sin errores.</a:t>
            </a:r>
            <a:endParaRPr lang="en-US" sz="1200" dirty="0"/>
          </a:p>
        </p:txBody>
      </p:sp>
      <p:sp>
        <p:nvSpPr>
          <p:cNvPr id="16" name="Shape 14"/>
          <p:cNvSpPr/>
          <p:nvPr/>
        </p:nvSpPr>
        <p:spPr>
          <a:xfrm>
            <a:off x="6583680" y="4608576"/>
            <a:ext cx="384048" cy="384048"/>
          </a:xfrm>
          <a:prstGeom prst="ellipse">
            <a:avLst/>
          </a:prstGeom>
          <a:solidFill>
            <a:srgbClr val="177E89"/>
          </a:solidFill>
          <a:ln w="12700">
            <a:solidFill>
              <a:srgbClr val="177E89"/>
            </a:solidFill>
            <a:prstDash val="solid"/>
          </a:ln>
        </p:spPr>
      </p:sp>
      <p:sp>
        <p:nvSpPr>
          <p:cNvPr id="17" name="Text 15"/>
          <p:cNvSpPr txBox="1"/>
          <p:nvPr/>
        </p:nvSpPr>
        <p:spPr>
          <a:xfrm>
            <a:off x="6583680" y="460857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18" name="Text 16"/>
          <p:cNvSpPr txBox="1"/>
          <p:nvPr/>
        </p:nvSpPr>
        <p:spPr>
          <a:xfrm>
            <a:off x="7132320" y="4608576"/>
            <a:ext cx="4206240" cy="384048"/>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El envío es obligatorio dentro del plazo establecido.</a:t>
            </a:r>
            <a:endParaRPr lang="en-US" sz="1200" dirty="0"/>
          </a:p>
        </p:txBody>
      </p:sp>
      <p:sp>
        <p:nvSpPr>
          <p:cNvPr id="19" name="Shape 17"/>
          <p:cNvSpPr/>
          <p:nvPr/>
        </p:nvSpPr>
        <p:spPr>
          <a:xfrm>
            <a:off x="6583680" y="5248656"/>
            <a:ext cx="384048" cy="384048"/>
          </a:xfrm>
          <a:prstGeom prst="ellipse">
            <a:avLst/>
          </a:prstGeom>
          <a:solidFill>
            <a:srgbClr val="177E89"/>
          </a:solidFill>
          <a:ln w="12700">
            <a:solidFill>
              <a:srgbClr val="177E89"/>
            </a:solidFill>
            <a:prstDash val="solid"/>
          </a:ln>
        </p:spPr>
      </p:sp>
      <p:sp>
        <p:nvSpPr>
          <p:cNvPr id="20" name="Text 18"/>
          <p:cNvSpPr txBox="1"/>
          <p:nvPr/>
        </p:nvSpPr>
        <p:spPr>
          <a:xfrm>
            <a:off x="6583680" y="524865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1" name="Text 19"/>
          <p:cNvSpPr txBox="1"/>
          <p:nvPr/>
        </p:nvSpPr>
        <p:spPr>
          <a:xfrm>
            <a:off x="7132320" y="5248656"/>
            <a:ext cx="4206240" cy="384048"/>
          </a:xfrm>
          <a:prstGeom prst="rect">
            <a:avLst/>
          </a:prstGeom>
          <a:noFill/>
          <a:ln/>
        </p:spPr>
        <p:txBody>
          <a:bodyPr wrap="square" lIns="0" tIns="0" rIns="0" bIns="0" rtlCol="0" anchor="ctr"/>
          <a:lstStyle/>
          <a:p>
            <a:pPr indent="0" marL="0">
              <a:buNone/>
            </a:pPr>
            <a:r>
              <a:rPr lang="en-US" sz="1200" dirty="0">
                <a:solidFill>
                  <a:srgbClr val="33393D"/>
                </a:solidFill>
                <a:latin typeface="Calibri" pitchFamily="34" charset="0"/>
                <a:ea typeface="Calibri" pitchFamily="34" charset="-122"/>
                <a:cs typeface="Calibri" pitchFamily="34" charset="-120"/>
              </a:rPr>
              <a:t>Se registra en ClassDojo como participación en clase.</a:t>
            </a:r>
            <a:endParaRPr lang="en-US" sz="1200" dirty="0"/>
          </a:p>
        </p:txBody>
      </p:sp>
      <p:sp>
        <p:nvSpPr>
          <p:cNvPr id="22" name="Text 20"/>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45 / 48</a:t>
            </a:r>
            <a:endParaRPr lang="en-US" sz="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pic>
        <p:nvPicPr>
          <p:cNvPr id="2" name="Image 0" descr="Orientador: conclusión del tema">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46 / 48</a:t>
            </a:r>
            <a:endParaRPr lang="en-US" sz="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indent="0" marL="0">
              <a:buNone/>
            </a:pPr>
            <a:r>
              <a:rPr lang="en-US" sz="1050" b="1" spc="300" kern="0" dirty="0">
                <a:solidFill>
                  <a:srgbClr val="177E89"/>
                </a:solidFill>
                <a:latin typeface="Calibri" pitchFamily="34" charset="0"/>
                <a:ea typeface="Calibri" pitchFamily="34" charset="-122"/>
                <a:cs typeface="Calibri" pitchFamily="34" charset="-120"/>
              </a:rPr>
              <a:t>RESUMEN</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Puntos clave de la sesión</a:t>
            </a:r>
            <a:endParaRPr lang="en-US" sz="2800" dirty="0"/>
          </a:p>
        </p:txBody>
      </p:sp>
      <p:sp>
        <p:nvSpPr>
          <p:cNvPr id="4" name="Shape 2"/>
          <p:cNvSpPr/>
          <p:nvPr/>
        </p:nvSpPr>
        <p:spPr>
          <a:xfrm>
            <a:off x="795528" y="2697480"/>
            <a:ext cx="329184" cy="329184"/>
          </a:xfrm>
          <a:prstGeom prst="ellipse">
            <a:avLst/>
          </a:prstGeom>
          <a:solidFill>
            <a:srgbClr val="177E89"/>
          </a:solidFill>
          <a:ln w="12700">
            <a:solidFill>
              <a:srgbClr val="177E89"/>
            </a:solidFill>
            <a:prstDash val="solid"/>
          </a:ln>
        </p:spPr>
      </p:sp>
      <p:sp>
        <p:nvSpPr>
          <p:cNvPr id="5" name="Text 3"/>
          <p:cNvSpPr txBox="1"/>
          <p:nvPr/>
        </p:nvSpPr>
        <p:spPr>
          <a:xfrm>
            <a:off x="795528" y="269748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Symbol" pitchFamily="34" charset="0"/>
                <a:ea typeface="Segoe UI Symbol" pitchFamily="34" charset="-122"/>
                <a:cs typeface="Segoe UI Symbol" pitchFamily="34" charset="-120"/>
              </a:rPr>
              <a:t>✓</a:t>
            </a:r>
            <a:endParaRPr lang="en-US" sz="1100" dirty="0"/>
          </a:p>
        </p:txBody>
      </p:sp>
      <p:sp>
        <p:nvSpPr>
          <p:cNvPr id="6" name="Text 4"/>
          <p:cNvSpPr txBox="1"/>
          <p:nvPr/>
        </p:nvSpPr>
        <p:spPr>
          <a:xfrm>
            <a:off x="1353312" y="2651760"/>
            <a:ext cx="10012680" cy="374904"/>
          </a:xfrm>
          <a:prstGeom prst="rect">
            <a:avLst/>
          </a:prstGeom>
          <a:noFill/>
          <a:ln/>
        </p:spPr>
        <p:txBody>
          <a:bodyPr wrap="square" lIns="0" tIns="0" rIns="0" bIns="0" rtlCol="0" anchor="ctr"/>
          <a:lstStyle/>
          <a:p>
            <a:pPr indent="0" marL="0">
              <a:buNone/>
            </a:pPr>
            <a:r>
              <a:rPr lang="en-US" sz="1250" dirty="0">
                <a:solidFill>
                  <a:srgbClr val="33393D"/>
                </a:solidFill>
                <a:latin typeface="Calibri" pitchFamily="34" charset="0"/>
                <a:ea typeface="Calibri" pitchFamily="34" charset="-122"/>
                <a:cs typeface="Calibri" pitchFamily="34" charset="-120"/>
              </a:rPr>
              <a:t>Cada campo lleva su label, unido con for e id, y un name para viajar en el envío.</a:t>
            </a:r>
            <a:endParaRPr lang="en-US" sz="1250" dirty="0"/>
          </a:p>
        </p:txBody>
      </p:sp>
      <p:sp>
        <p:nvSpPr>
          <p:cNvPr id="7" name="Shape 5"/>
          <p:cNvSpPr/>
          <p:nvPr/>
        </p:nvSpPr>
        <p:spPr>
          <a:xfrm>
            <a:off x="795528" y="3090672"/>
            <a:ext cx="329184" cy="329184"/>
          </a:xfrm>
          <a:prstGeom prst="ellipse">
            <a:avLst/>
          </a:prstGeom>
          <a:solidFill>
            <a:srgbClr val="177E89"/>
          </a:solidFill>
          <a:ln w="12700">
            <a:solidFill>
              <a:srgbClr val="177E89"/>
            </a:solidFill>
            <a:prstDash val="solid"/>
          </a:ln>
        </p:spPr>
      </p:sp>
      <p:sp>
        <p:nvSpPr>
          <p:cNvPr id="8" name="Text 6"/>
          <p:cNvSpPr txBox="1"/>
          <p:nvPr/>
        </p:nvSpPr>
        <p:spPr>
          <a:xfrm>
            <a:off x="795528" y="309067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Symbol" pitchFamily="34" charset="0"/>
                <a:ea typeface="Segoe UI Symbol" pitchFamily="34" charset="-122"/>
                <a:cs typeface="Segoe UI Symbol" pitchFamily="34" charset="-120"/>
              </a:rPr>
              <a:t>✓</a:t>
            </a:r>
            <a:endParaRPr lang="en-US" sz="1100" dirty="0"/>
          </a:p>
        </p:txBody>
      </p:sp>
      <p:sp>
        <p:nvSpPr>
          <p:cNvPr id="9" name="Text 7"/>
          <p:cNvSpPr txBox="1"/>
          <p:nvPr/>
        </p:nvSpPr>
        <p:spPr>
          <a:xfrm>
            <a:off x="1353312" y="3044952"/>
            <a:ext cx="10012680" cy="374904"/>
          </a:xfrm>
          <a:prstGeom prst="rect">
            <a:avLst/>
          </a:prstGeom>
          <a:noFill/>
          <a:ln/>
        </p:spPr>
        <p:txBody>
          <a:bodyPr wrap="square" lIns="0" tIns="0" rIns="0" bIns="0" rtlCol="0" anchor="ctr"/>
          <a:lstStyle/>
          <a:p>
            <a:pPr indent="0" marL="0">
              <a:buNone/>
            </a:pPr>
            <a:r>
              <a:rPr lang="en-US" sz="1250" dirty="0">
                <a:solidFill>
                  <a:srgbClr val="33393D"/>
                </a:solidFill>
                <a:latin typeface="Calibri" pitchFamily="34" charset="0"/>
                <a:ea typeface="Calibri" pitchFamily="34" charset="-122"/>
                <a:cs typeface="Calibri" pitchFamily="34" charset="-120"/>
              </a:rPr>
              <a:t>required, minlength y pattern validan sin una línea de JavaScript.</a:t>
            </a:r>
            <a:endParaRPr lang="en-US" sz="1250" dirty="0"/>
          </a:p>
        </p:txBody>
      </p:sp>
      <p:sp>
        <p:nvSpPr>
          <p:cNvPr id="10" name="Shape 8"/>
          <p:cNvSpPr/>
          <p:nvPr/>
        </p:nvSpPr>
        <p:spPr>
          <a:xfrm>
            <a:off x="795528" y="3483864"/>
            <a:ext cx="329184" cy="329184"/>
          </a:xfrm>
          <a:prstGeom prst="ellipse">
            <a:avLst/>
          </a:prstGeom>
          <a:solidFill>
            <a:srgbClr val="177E89"/>
          </a:solidFill>
          <a:ln w="12700">
            <a:solidFill>
              <a:srgbClr val="177E89"/>
            </a:solidFill>
            <a:prstDash val="solid"/>
          </a:ln>
        </p:spPr>
      </p:sp>
      <p:sp>
        <p:nvSpPr>
          <p:cNvPr id="11" name="Text 9"/>
          <p:cNvSpPr txBox="1"/>
          <p:nvPr/>
        </p:nvSpPr>
        <p:spPr>
          <a:xfrm>
            <a:off x="795528" y="348386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Symbol" pitchFamily="34" charset="0"/>
                <a:ea typeface="Segoe UI Symbol" pitchFamily="34" charset="-122"/>
                <a:cs typeface="Segoe UI Symbol" pitchFamily="34" charset="-120"/>
              </a:rPr>
              <a:t>✓</a:t>
            </a:r>
            <a:endParaRPr lang="en-US" sz="1100" dirty="0"/>
          </a:p>
        </p:txBody>
      </p:sp>
      <p:sp>
        <p:nvSpPr>
          <p:cNvPr id="12" name="Text 10"/>
          <p:cNvSpPr txBox="1"/>
          <p:nvPr/>
        </p:nvSpPr>
        <p:spPr>
          <a:xfrm>
            <a:off x="1353312" y="3438144"/>
            <a:ext cx="10012680" cy="374904"/>
          </a:xfrm>
          <a:prstGeom prst="rect">
            <a:avLst/>
          </a:prstGeom>
          <a:noFill/>
          <a:ln/>
        </p:spPr>
        <p:txBody>
          <a:bodyPr wrap="square" lIns="0" tIns="0" rIns="0" bIns="0" rtlCol="0" anchor="ctr"/>
          <a:lstStyle/>
          <a:p>
            <a:pPr indent="0" marL="0">
              <a:buNone/>
            </a:pPr>
            <a:r>
              <a:rPr lang="en-US" sz="1250" dirty="0">
                <a:solidFill>
                  <a:srgbClr val="33393D"/>
                </a:solidFill>
                <a:latin typeface="Calibri" pitchFamily="34" charset="0"/>
                <a:ea typeface="Calibri" pitchFamily="34" charset="-122"/>
                <a:cs typeface="Calibri" pitchFamily="34" charset="-120"/>
              </a:rPr>
              <a:t>Un video es un contenedor (.mp4) con un códec dentro (H.264); &lt;source&gt; ofrece varias fuentes.</a:t>
            </a:r>
            <a:endParaRPr lang="en-US" sz="1250" dirty="0"/>
          </a:p>
        </p:txBody>
      </p:sp>
      <p:sp>
        <p:nvSpPr>
          <p:cNvPr id="13" name="Shape 11"/>
          <p:cNvSpPr/>
          <p:nvPr/>
        </p:nvSpPr>
        <p:spPr>
          <a:xfrm>
            <a:off x="795528" y="3877056"/>
            <a:ext cx="329184" cy="329184"/>
          </a:xfrm>
          <a:prstGeom prst="ellipse">
            <a:avLst/>
          </a:prstGeom>
          <a:solidFill>
            <a:srgbClr val="177E89"/>
          </a:solidFill>
          <a:ln w="12700">
            <a:solidFill>
              <a:srgbClr val="177E89"/>
            </a:solidFill>
            <a:prstDash val="solid"/>
          </a:ln>
        </p:spPr>
      </p:sp>
      <p:sp>
        <p:nvSpPr>
          <p:cNvPr id="14" name="Text 12"/>
          <p:cNvSpPr txBox="1"/>
          <p:nvPr/>
        </p:nvSpPr>
        <p:spPr>
          <a:xfrm>
            <a:off x="795528" y="387705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Symbol" pitchFamily="34" charset="0"/>
                <a:ea typeface="Segoe UI Symbol" pitchFamily="34" charset="-122"/>
                <a:cs typeface="Segoe UI Symbol" pitchFamily="34" charset="-120"/>
              </a:rPr>
              <a:t>✓</a:t>
            </a:r>
            <a:endParaRPr lang="en-US" sz="1100" dirty="0"/>
          </a:p>
        </p:txBody>
      </p:sp>
      <p:sp>
        <p:nvSpPr>
          <p:cNvPr id="15" name="Text 13"/>
          <p:cNvSpPr txBox="1"/>
          <p:nvPr/>
        </p:nvSpPr>
        <p:spPr>
          <a:xfrm>
            <a:off x="1353312" y="3831336"/>
            <a:ext cx="10012680" cy="374904"/>
          </a:xfrm>
          <a:prstGeom prst="rect">
            <a:avLst/>
          </a:prstGeom>
          <a:noFill/>
          <a:ln/>
        </p:spPr>
        <p:txBody>
          <a:bodyPr wrap="square" lIns="0" tIns="0" rIns="0" bIns="0" rtlCol="0" anchor="ctr"/>
          <a:lstStyle/>
          <a:p>
            <a:pPr indent="0" marL="0">
              <a:buNone/>
            </a:pPr>
            <a:r>
              <a:rPr lang="en-US" sz="1250" dirty="0">
                <a:solidFill>
                  <a:srgbClr val="33393D"/>
                </a:solidFill>
                <a:latin typeface="Calibri" pitchFamily="34" charset="0"/>
                <a:ea typeface="Calibri" pitchFamily="34" charset="-122"/>
                <a:cs typeface="Calibri" pitchFamily="34" charset="-120"/>
              </a:rPr>
              <a:t>autoplay solo funciona con muted: nada debe sonar sin que la persona lo pida.</a:t>
            </a:r>
            <a:endParaRPr lang="en-US" sz="1250" dirty="0"/>
          </a:p>
        </p:txBody>
      </p:sp>
      <p:sp>
        <p:nvSpPr>
          <p:cNvPr id="16" name="Shape 14"/>
          <p:cNvSpPr/>
          <p:nvPr/>
        </p:nvSpPr>
        <p:spPr>
          <a:xfrm>
            <a:off x="795528" y="4270248"/>
            <a:ext cx="329184" cy="329184"/>
          </a:xfrm>
          <a:prstGeom prst="ellipse">
            <a:avLst/>
          </a:prstGeom>
          <a:solidFill>
            <a:srgbClr val="177E89"/>
          </a:solidFill>
          <a:ln w="12700">
            <a:solidFill>
              <a:srgbClr val="177E89"/>
            </a:solidFill>
            <a:prstDash val="solid"/>
          </a:ln>
        </p:spPr>
      </p:sp>
      <p:sp>
        <p:nvSpPr>
          <p:cNvPr id="17" name="Text 15"/>
          <p:cNvSpPr txBox="1"/>
          <p:nvPr/>
        </p:nvSpPr>
        <p:spPr>
          <a:xfrm>
            <a:off x="795528" y="427024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Symbol" pitchFamily="34" charset="0"/>
                <a:ea typeface="Segoe UI Symbol" pitchFamily="34" charset="-122"/>
                <a:cs typeface="Segoe UI Symbol" pitchFamily="34" charset="-120"/>
              </a:rPr>
              <a:t>✓</a:t>
            </a:r>
            <a:endParaRPr lang="en-US" sz="1100" dirty="0"/>
          </a:p>
        </p:txBody>
      </p:sp>
      <p:sp>
        <p:nvSpPr>
          <p:cNvPr id="18" name="Text 16"/>
          <p:cNvSpPr txBox="1"/>
          <p:nvPr/>
        </p:nvSpPr>
        <p:spPr>
          <a:xfrm>
            <a:off x="1353312" y="4224528"/>
            <a:ext cx="10012680" cy="374904"/>
          </a:xfrm>
          <a:prstGeom prst="rect">
            <a:avLst/>
          </a:prstGeom>
          <a:noFill/>
          <a:ln/>
        </p:spPr>
        <p:txBody>
          <a:bodyPr wrap="square" lIns="0" tIns="0" rIns="0" bIns="0" rtlCol="0" anchor="ctr"/>
          <a:lstStyle/>
          <a:p>
            <a:pPr indent="0" marL="0">
              <a:buNone/>
            </a:pPr>
            <a:r>
              <a:rPr lang="en-US" sz="1250" dirty="0">
                <a:solidFill>
                  <a:srgbClr val="33393D"/>
                </a:solidFill>
                <a:latin typeface="Calibri" pitchFamily="34" charset="0"/>
                <a:ea typeface="Calibri" pitchFamily="34" charset="-122"/>
                <a:cs typeface="Calibri" pitchFamily="34" charset="-120"/>
              </a:rPr>
              <a:t>poster y preload="metadata" cuidan lo que se ve y lo que se descarga antes de reproducir.</a:t>
            </a:r>
            <a:endParaRPr lang="en-US" sz="1250" dirty="0"/>
          </a:p>
        </p:txBody>
      </p:sp>
      <p:sp>
        <p:nvSpPr>
          <p:cNvPr id="19" name="Shape 17"/>
          <p:cNvSpPr/>
          <p:nvPr/>
        </p:nvSpPr>
        <p:spPr>
          <a:xfrm>
            <a:off x="795528" y="4663440"/>
            <a:ext cx="329184" cy="329184"/>
          </a:xfrm>
          <a:prstGeom prst="ellipse">
            <a:avLst/>
          </a:prstGeom>
          <a:solidFill>
            <a:srgbClr val="177E89"/>
          </a:solidFill>
          <a:ln w="12700">
            <a:solidFill>
              <a:srgbClr val="177E89"/>
            </a:solidFill>
            <a:prstDash val="solid"/>
          </a:ln>
        </p:spPr>
      </p:sp>
      <p:sp>
        <p:nvSpPr>
          <p:cNvPr id="20" name="Text 18"/>
          <p:cNvSpPr txBox="1"/>
          <p:nvPr/>
        </p:nvSpPr>
        <p:spPr>
          <a:xfrm>
            <a:off x="795528" y="466344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Symbol" pitchFamily="34" charset="0"/>
                <a:ea typeface="Segoe UI Symbol" pitchFamily="34" charset="-122"/>
                <a:cs typeface="Segoe UI Symbol" pitchFamily="34" charset="-120"/>
              </a:rPr>
              <a:t>✓</a:t>
            </a:r>
            <a:endParaRPr lang="en-US" sz="1100" dirty="0"/>
          </a:p>
        </p:txBody>
      </p:sp>
      <p:sp>
        <p:nvSpPr>
          <p:cNvPr id="21" name="Text 19"/>
          <p:cNvSpPr txBox="1"/>
          <p:nvPr/>
        </p:nvSpPr>
        <p:spPr>
          <a:xfrm>
            <a:off x="1353312" y="4617720"/>
            <a:ext cx="10012680" cy="374904"/>
          </a:xfrm>
          <a:prstGeom prst="rect">
            <a:avLst/>
          </a:prstGeom>
          <a:noFill/>
          <a:ln/>
        </p:spPr>
        <p:txBody>
          <a:bodyPr wrap="square" lIns="0" tIns="0" rIns="0" bIns="0" rtlCol="0" anchor="ctr"/>
          <a:lstStyle/>
          <a:p>
            <a:pPr indent="0" marL="0">
              <a:buNone/>
            </a:pPr>
            <a:r>
              <a:rPr lang="en-US" sz="1250" dirty="0">
                <a:solidFill>
                  <a:srgbClr val="33393D"/>
                </a:solidFill>
                <a:latin typeface="Calibri" pitchFamily="34" charset="0"/>
                <a:ea typeface="Calibri" pitchFamily="34" charset="-122"/>
                <a:cs typeface="Calibri" pitchFamily="34" charset="-120"/>
              </a:rPr>
              <a:t>Un video se comprime antes de subirlo: 720 px de ancho y 30 fps bastan para la web.</a:t>
            </a:r>
            <a:endParaRPr lang="en-US" sz="1250" dirty="0"/>
          </a:p>
        </p:txBody>
      </p:sp>
      <p:sp>
        <p:nvSpPr>
          <p:cNvPr id="22" name="Shape 20"/>
          <p:cNvSpPr/>
          <p:nvPr/>
        </p:nvSpPr>
        <p:spPr>
          <a:xfrm>
            <a:off x="795528" y="5056632"/>
            <a:ext cx="329184" cy="329184"/>
          </a:xfrm>
          <a:prstGeom prst="ellipse">
            <a:avLst/>
          </a:prstGeom>
          <a:solidFill>
            <a:srgbClr val="177E89"/>
          </a:solidFill>
          <a:ln w="12700">
            <a:solidFill>
              <a:srgbClr val="177E89"/>
            </a:solidFill>
            <a:prstDash val="solid"/>
          </a:ln>
        </p:spPr>
      </p:sp>
      <p:sp>
        <p:nvSpPr>
          <p:cNvPr id="23" name="Text 21"/>
          <p:cNvSpPr txBox="1"/>
          <p:nvPr/>
        </p:nvSpPr>
        <p:spPr>
          <a:xfrm>
            <a:off x="795528" y="505663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Symbol" pitchFamily="34" charset="0"/>
                <a:ea typeface="Segoe UI Symbol" pitchFamily="34" charset="-122"/>
                <a:cs typeface="Segoe UI Symbol" pitchFamily="34" charset="-120"/>
              </a:rPr>
              <a:t>✓</a:t>
            </a:r>
            <a:endParaRPr lang="en-US" sz="1100" dirty="0"/>
          </a:p>
        </p:txBody>
      </p:sp>
      <p:sp>
        <p:nvSpPr>
          <p:cNvPr id="24" name="Text 22"/>
          <p:cNvSpPr txBox="1"/>
          <p:nvPr/>
        </p:nvSpPr>
        <p:spPr>
          <a:xfrm>
            <a:off x="1353312" y="5010912"/>
            <a:ext cx="10012680" cy="374904"/>
          </a:xfrm>
          <a:prstGeom prst="rect">
            <a:avLst/>
          </a:prstGeom>
          <a:noFill/>
          <a:ln/>
        </p:spPr>
        <p:txBody>
          <a:bodyPr wrap="square" lIns="0" tIns="0" rIns="0" bIns="0" rtlCol="0" anchor="ctr"/>
          <a:lstStyle/>
          <a:p>
            <a:pPr indent="0" marL="0">
              <a:buNone/>
            </a:pPr>
            <a:r>
              <a:rPr lang="en-US" sz="1250" dirty="0">
                <a:solidFill>
                  <a:srgbClr val="33393D"/>
                </a:solidFill>
                <a:latin typeface="Calibri" pitchFamily="34" charset="0"/>
                <a:ea typeface="Calibri" pitchFamily="34" charset="-122"/>
                <a:cs typeface="Calibri" pitchFamily="34" charset="-120"/>
              </a:rPr>
              <a:t>&lt;track&gt; y un archivo .vtt añaden subtítulos; el audio lleva su transcripción en la página.</a:t>
            </a:r>
            <a:endParaRPr lang="en-US" sz="1250" dirty="0"/>
          </a:p>
        </p:txBody>
      </p:sp>
      <p:sp>
        <p:nvSpPr>
          <p:cNvPr id="25" name="Shape 23"/>
          <p:cNvSpPr/>
          <p:nvPr/>
        </p:nvSpPr>
        <p:spPr>
          <a:xfrm>
            <a:off x="795528" y="5449824"/>
            <a:ext cx="329184" cy="329184"/>
          </a:xfrm>
          <a:prstGeom prst="ellipse">
            <a:avLst/>
          </a:prstGeom>
          <a:solidFill>
            <a:srgbClr val="177E89"/>
          </a:solidFill>
          <a:ln w="12700">
            <a:solidFill>
              <a:srgbClr val="177E89"/>
            </a:solidFill>
            <a:prstDash val="solid"/>
          </a:ln>
        </p:spPr>
      </p:sp>
      <p:sp>
        <p:nvSpPr>
          <p:cNvPr id="26" name="Text 24"/>
          <p:cNvSpPr txBox="1"/>
          <p:nvPr/>
        </p:nvSpPr>
        <p:spPr>
          <a:xfrm>
            <a:off x="795528" y="544982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Symbol" pitchFamily="34" charset="0"/>
                <a:ea typeface="Segoe UI Symbol" pitchFamily="34" charset="-122"/>
                <a:cs typeface="Segoe UI Symbol" pitchFamily="34" charset="-120"/>
              </a:rPr>
              <a:t>✓</a:t>
            </a:r>
            <a:endParaRPr lang="en-US" sz="1100" dirty="0"/>
          </a:p>
        </p:txBody>
      </p:sp>
      <p:sp>
        <p:nvSpPr>
          <p:cNvPr id="27" name="Text 25"/>
          <p:cNvSpPr txBox="1"/>
          <p:nvPr/>
        </p:nvSpPr>
        <p:spPr>
          <a:xfrm>
            <a:off x="1353312" y="5404104"/>
            <a:ext cx="10012680" cy="374904"/>
          </a:xfrm>
          <a:prstGeom prst="rect">
            <a:avLst/>
          </a:prstGeom>
          <a:noFill/>
          <a:ln/>
        </p:spPr>
        <p:txBody>
          <a:bodyPr wrap="square" lIns="0" tIns="0" rIns="0" bIns="0" rtlCol="0" anchor="ctr"/>
          <a:lstStyle/>
          <a:p>
            <a:pPr indent="0" marL="0">
              <a:buNone/>
            </a:pPr>
            <a:r>
              <a:rPr lang="en-US" sz="1250" dirty="0">
                <a:solidFill>
                  <a:srgbClr val="33393D"/>
                </a:solidFill>
                <a:latin typeface="Calibri" pitchFamily="34" charset="0"/>
                <a:ea typeface="Calibri" pitchFamily="34" charset="-122"/>
                <a:cs typeface="Calibri" pitchFamily="34" charset="-120"/>
              </a:rPr>
              <a:t>Las rutas van relativas, y todo archivo que el HTML menciona debe existir en la carpeta.</a:t>
            </a:r>
            <a:endParaRPr lang="en-US" sz="1250" dirty="0"/>
          </a:p>
        </p:txBody>
      </p:sp>
      <p:sp>
        <p:nvSpPr>
          <p:cNvPr id="28" name="Shape 26"/>
          <p:cNvSpPr/>
          <p:nvPr/>
        </p:nvSpPr>
        <p:spPr>
          <a:xfrm>
            <a:off x="795528" y="5843016"/>
            <a:ext cx="329184" cy="329184"/>
          </a:xfrm>
          <a:prstGeom prst="ellipse">
            <a:avLst/>
          </a:prstGeom>
          <a:solidFill>
            <a:srgbClr val="177E89"/>
          </a:solidFill>
          <a:ln w="12700">
            <a:solidFill>
              <a:srgbClr val="177E89"/>
            </a:solidFill>
            <a:prstDash val="solid"/>
          </a:ln>
        </p:spPr>
      </p:sp>
      <p:sp>
        <p:nvSpPr>
          <p:cNvPr id="29" name="Text 27"/>
          <p:cNvSpPr txBox="1"/>
          <p:nvPr/>
        </p:nvSpPr>
        <p:spPr>
          <a:xfrm>
            <a:off x="795528" y="58430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Segoe UI Symbol" pitchFamily="34" charset="0"/>
                <a:ea typeface="Segoe UI Symbol" pitchFamily="34" charset="-122"/>
                <a:cs typeface="Segoe UI Symbol" pitchFamily="34" charset="-120"/>
              </a:rPr>
              <a:t>✓</a:t>
            </a:r>
            <a:endParaRPr lang="en-US" sz="1100" dirty="0"/>
          </a:p>
        </p:txBody>
      </p:sp>
      <p:sp>
        <p:nvSpPr>
          <p:cNvPr id="30" name="Text 28"/>
          <p:cNvSpPr txBox="1"/>
          <p:nvPr/>
        </p:nvSpPr>
        <p:spPr>
          <a:xfrm>
            <a:off x="1353312" y="5797296"/>
            <a:ext cx="10012680" cy="374904"/>
          </a:xfrm>
          <a:prstGeom prst="rect">
            <a:avLst/>
          </a:prstGeom>
          <a:noFill/>
          <a:ln/>
        </p:spPr>
        <p:txBody>
          <a:bodyPr wrap="square" lIns="0" tIns="0" rIns="0" bIns="0" rtlCol="0" anchor="ctr"/>
          <a:lstStyle/>
          <a:p>
            <a:pPr indent="0" marL="0">
              <a:buNone/>
            </a:pPr>
            <a:r>
              <a:rPr lang="en-US" sz="1250" dirty="0">
                <a:solidFill>
                  <a:srgbClr val="33393D"/>
                </a:solidFill>
                <a:latin typeface="Calibri" pitchFamily="34" charset="0"/>
                <a:ea typeface="Calibri" pitchFamily="34" charset="-122"/>
                <a:cs typeface="Calibri" pitchFamily="34" charset="-120"/>
              </a:rPr>
              <a:t>Los controles propios son botones HTML conectados al video con unas líneas de JavaScript.</a:t>
            </a:r>
            <a:endParaRPr lang="en-US" sz="1250" dirty="0"/>
          </a:p>
        </p:txBody>
      </p:sp>
      <p:sp>
        <p:nvSpPr>
          <p:cNvPr id="31" name="Text 29"/>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47 / 48</a:t>
            </a:r>
            <a:endParaRPr lang="en-US" sz="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indent="0" marL="0">
              <a:buNone/>
            </a:pPr>
            <a:r>
              <a:rPr lang="en-US" sz="1050" b="1" spc="300" kern="0" dirty="0">
                <a:solidFill>
                  <a:srgbClr val="177E89"/>
                </a:solidFill>
                <a:latin typeface="Calibri" pitchFamily="34" charset="0"/>
                <a:ea typeface="Calibri" pitchFamily="34" charset="-122"/>
                <a:cs typeface="Calibri" pitchFamily="34" charset="-120"/>
              </a:rPr>
              <a:t>ORIENTADOR</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Hacia dónde vamos</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indent="0" marL="0">
              <a:buNone/>
            </a:pPr>
            <a:r>
              <a:rPr lang="en-US" sz="1250" dirty="0">
                <a:solidFill>
                  <a:srgbClr val="5F676C"/>
                </a:solidFill>
                <a:latin typeface="Calibri" pitchFamily="34" charset="0"/>
                <a:ea typeface="Calibri" pitchFamily="34" charset="-122"/>
                <a:cs typeface="Calibri" pitchFamily="34" charset="-120"/>
              </a:rPr>
              <a:t>Tu página ya tiene estructura, imágenes y multimedia. Lo que viene.</a:t>
            </a:r>
            <a:endParaRPr lang="en-US" sz="1250" dirty="0"/>
          </a:p>
        </p:txBody>
      </p:sp>
      <p:sp>
        <p:nvSpPr>
          <p:cNvPr id="5" name="Shape 3"/>
          <p:cNvSpPr/>
          <p:nvPr/>
        </p:nvSpPr>
        <p:spPr>
          <a:xfrm>
            <a:off x="1051560" y="3895344"/>
            <a:ext cx="10104120" cy="0"/>
          </a:xfrm>
          <a:prstGeom prst="line">
            <a:avLst/>
          </a:prstGeom>
          <a:noFill/>
          <a:ln w="31750">
            <a:solidFill>
              <a:srgbClr val="CFD5D9"/>
            </a:solidFill>
            <a:prstDash val="solid"/>
          </a:ln>
        </p:spPr>
      </p:sp>
      <p:sp>
        <p:nvSpPr>
          <p:cNvPr id="6" name="Shape 4"/>
          <p:cNvSpPr/>
          <p:nvPr/>
        </p:nvSpPr>
        <p:spPr>
          <a:xfrm>
            <a:off x="1984248" y="3817620"/>
            <a:ext cx="155448" cy="155448"/>
          </a:xfrm>
          <a:prstGeom prst="ellipse">
            <a:avLst/>
          </a:prstGeom>
          <a:solidFill>
            <a:srgbClr val="177E89"/>
          </a:solidFill>
          <a:ln w="12700">
            <a:solidFill>
              <a:srgbClr val="177E89"/>
            </a:solidFill>
            <a:prstDash val="solid"/>
          </a:ln>
        </p:spPr>
      </p:sp>
      <p:sp>
        <p:nvSpPr>
          <p:cNvPr id="7" name="Text 5"/>
          <p:cNvSpPr txBox="1"/>
          <p:nvPr/>
        </p:nvSpPr>
        <p:spPr>
          <a:xfrm>
            <a:off x="1051560" y="2962656"/>
            <a:ext cx="2020824" cy="237744"/>
          </a:xfrm>
          <a:prstGeom prst="rect">
            <a:avLst/>
          </a:prstGeom>
          <a:noFill/>
          <a:ln/>
        </p:spPr>
        <p:txBody>
          <a:bodyPr wrap="square" lIns="0" tIns="0" rIns="0" bIns="0" rtlCol="0" anchor="ctr"/>
          <a:lstStyle/>
          <a:p>
            <a:pPr algn="ctr" indent="0" marL="0">
              <a:buNone/>
            </a:pPr>
            <a:r>
              <a:rPr lang="en-US" sz="950" b="1" spc="250" kern="0" dirty="0">
                <a:solidFill>
                  <a:srgbClr val="5F676C"/>
                </a:solidFill>
                <a:latin typeface="Calibri" pitchFamily="34" charset="0"/>
                <a:ea typeface="Calibri" pitchFamily="34" charset="-122"/>
                <a:cs typeface="Calibri" pitchFamily="34" charset="-120"/>
              </a:rPr>
              <a:t>SESIÓN 06</a:t>
            </a:r>
            <a:endParaRPr lang="en-US" sz="950" dirty="0"/>
          </a:p>
        </p:txBody>
      </p:sp>
      <p:sp>
        <p:nvSpPr>
          <p:cNvPr id="8" name="Text 6"/>
          <p:cNvSpPr txBox="1"/>
          <p:nvPr/>
        </p:nvSpPr>
        <p:spPr>
          <a:xfrm>
            <a:off x="1051560" y="3218688"/>
            <a:ext cx="2020824" cy="365760"/>
          </a:xfrm>
          <a:prstGeom prst="rect">
            <a:avLst/>
          </a:prstGeom>
          <a:noFill/>
          <a:ln/>
        </p:spPr>
        <p:txBody>
          <a:bodyPr wrap="square" lIns="0" tIns="0" rIns="0" bIns="0" rtlCol="0" anchor="ctr"/>
          <a:lstStyle/>
          <a:p>
            <a:pPr algn="ctr" indent="0" marL="0">
              <a:buNone/>
            </a:pPr>
            <a:r>
              <a:rPr lang="en-US" sz="1500" b="1" dirty="0">
                <a:solidFill>
                  <a:srgbClr val="1F2326"/>
                </a:solidFill>
                <a:latin typeface="Calibri" pitchFamily="34" charset="0"/>
                <a:ea typeface="Calibri" pitchFamily="34" charset="-122"/>
                <a:cs typeface="Calibri" pitchFamily="34" charset="-120"/>
              </a:rPr>
              <a:t>Formularios</a:t>
            </a:r>
            <a:endParaRPr lang="en-US" sz="1500" dirty="0"/>
          </a:p>
        </p:txBody>
      </p:sp>
      <p:sp>
        <p:nvSpPr>
          <p:cNvPr id="9" name="Text 7"/>
          <p:cNvSpPr txBox="1"/>
          <p:nvPr/>
        </p:nvSpPr>
        <p:spPr>
          <a:xfrm>
            <a:off x="1143000" y="4133088"/>
            <a:ext cx="1837944" cy="457200"/>
          </a:xfrm>
          <a:prstGeom prst="rect">
            <a:avLst/>
          </a:prstGeom>
          <a:noFill/>
          <a:ln/>
        </p:spPr>
        <p:txBody>
          <a:bodyPr wrap="square" lIns="0" tIns="0" rIns="0" bIns="0" rtlCol="0" anchor="t"/>
          <a:lstStyle/>
          <a:p>
            <a:pPr algn="ctr" indent="0" marL="0">
              <a:buNone/>
            </a:pPr>
            <a:r>
              <a:rPr lang="en-US" sz="1050" dirty="0">
                <a:solidFill>
                  <a:srgbClr val="5F676C"/>
                </a:solidFill>
                <a:latin typeface="Calibri" pitchFamily="34" charset="0"/>
                <a:ea typeface="Calibri" pitchFamily="34" charset="-122"/>
                <a:cs typeface="Calibri" pitchFamily="34" charset="-120"/>
              </a:rPr>
              <a:t>Campos, validación y el Taller TA1.</a:t>
            </a:r>
            <a:endParaRPr lang="en-US" sz="1050" dirty="0"/>
          </a:p>
        </p:txBody>
      </p:sp>
      <p:sp>
        <p:nvSpPr>
          <p:cNvPr id="10" name="Shape 8"/>
          <p:cNvSpPr/>
          <p:nvPr/>
        </p:nvSpPr>
        <p:spPr>
          <a:xfrm>
            <a:off x="3963924" y="3776472"/>
            <a:ext cx="237744" cy="237744"/>
          </a:xfrm>
          <a:prstGeom prst="ellipse">
            <a:avLst/>
          </a:prstGeom>
          <a:solidFill>
            <a:srgbClr val="177E89"/>
          </a:solidFill>
          <a:ln w="12700">
            <a:solidFill>
              <a:srgbClr val="177E89"/>
            </a:solidFill>
            <a:prstDash val="solid"/>
          </a:ln>
        </p:spPr>
      </p:sp>
      <p:sp>
        <p:nvSpPr>
          <p:cNvPr id="11" name="Text 9"/>
          <p:cNvSpPr txBox="1"/>
          <p:nvPr/>
        </p:nvSpPr>
        <p:spPr>
          <a:xfrm>
            <a:off x="3072384" y="2962656"/>
            <a:ext cx="2020824" cy="237744"/>
          </a:xfrm>
          <a:prstGeom prst="rect">
            <a:avLst/>
          </a:prstGeom>
          <a:noFill/>
          <a:ln/>
        </p:spPr>
        <p:txBody>
          <a:bodyPr wrap="square" lIns="0" tIns="0" rIns="0" bIns="0" rtlCol="0" anchor="ctr"/>
          <a:lstStyle/>
          <a:p>
            <a:pPr algn="ctr" indent="0" marL="0">
              <a:buNone/>
            </a:pPr>
            <a:r>
              <a:rPr lang="en-US" sz="950" b="1" spc="250" kern="0" dirty="0">
                <a:solidFill>
                  <a:srgbClr val="5F676C"/>
                </a:solidFill>
                <a:latin typeface="Calibri" pitchFamily="34" charset="0"/>
                <a:ea typeface="Calibri" pitchFamily="34" charset="-122"/>
                <a:cs typeface="Calibri" pitchFamily="34" charset="-120"/>
              </a:rPr>
              <a:t>SESIÓN 07</a:t>
            </a:r>
            <a:endParaRPr lang="en-US" sz="950" dirty="0"/>
          </a:p>
        </p:txBody>
      </p:sp>
      <p:sp>
        <p:nvSpPr>
          <p:cNvPr id="12" name="Text 10"/>
          <p:cNvSpPr txBox="1"/>
          <p:nvPr/>
        </p:nvSpPr>
        <p:spPr>
          <a:xfrm>
            <a:off x="3072384" y="3218688"/>
            <a:ext cx="2020824" cy="365760"/>
          </a:xfrm>
          <a:prstGeom prst="rect">
            <a:avLst/>
          </a:prstGeom>
          <a:noFill/>
          <a:ln/>
        </p:spPr>
        <p:txBody>
          <a:bodyPr wrap="square" lIns="0" tIns="0" rIns="0" bIns="0" rtlCol="0" anchor="ctr"/>
          <a:lstStyle/>
          <a:p>
            <a:pPr algn="ctr" indent="0" marL="0">
              <a:buNone/>
            </a:pPr>
            <a:r>
              <a:rPr lang="en-US" sz="1500" b="1" dirty="0">
                <a:solidFill>
                  <a:srgbClr val="177E89"/>
                </a:solidFill>
                <a:latin typeface="Calibri" pitchFamily="34" charset="0"/>
                <a:ea typeface="Calibri" pitchFamily="34" charset="-122"/>
                <a:cs typeface="Calibri" pitchFamily="34" charset="-120"/>
              </a:rPr>
              <a:t>Multimedia</a:t>
            </a:r>
            <a:endParaRPr lang="en-US" sz="1500" dirty="0"/>
          </a:p>
        </p:txBody>
      </p:sp>
      <p:sp>
        <p:nvSpPr>
          <p:cNvPr id="13" name="Text 11"/>
          <p:cNvSpPr txBox="1"/>
          <p:nvPr/>
        </p:nvSpPr>
        <p:spPr>
          <a:xfrm>
            <a:off x="3163824" y="4133088"/>
            <a:ext cx="1837944" cy="457200"/>
          </a:xfrm>
          <a:prstGeom prst="rect">
            <a:avLst/>
          </a:prstGeom>
          <a:noFill/>
          <a:ln/>
        </p:spPr>
        <p:txBody>
          <a:bodyPr wrap="square" lIns="0" tIns="0" rIns="0" bIns="0" rtlCol="0" anchor="t"/>
          <a:lstStyle/>
          <a:p>
            <a:pPr algn="ctr" indent="0" marL="0">
              <a:buNone/>
            </a:pPr>
            <a:r>
              <a:rPr lang="en-US" sz="1050" dirty="0">
                <a:solidFill>
                  <a:srgbClr val="5F676C"/>
                </a:solidFill>
                <a:latin typeface="Calibri" pitchFamily="34" charset="0"/>
                <a:ea typeface="Calibri" pitchFamily="34" charset="-122"/>
                <a:cs typeface="Calibri" pitchFamily="34" charset="-120"/>
              </a:rPr>
              <a:t>Video y audio listos para publicar.</a:t>
            </a:r>
            <a:endParaRPr lang="en-US" sz="1050" dirty="0"/>
          </a:p>
        </p:txBody>
      </p:sp>
      <p:sp>
        <p:nvSpPr>
          <p:cNvPr id="14" name="Shape 12"/>
          <p:cNvSpPr/>
          <p:nvPr/>
        </p:nvSpPr>
        <p:spPr>
          <a:xfrm>
            <a:off x="6025896" y="3817620"/>
            <a:ext cx="155448" cy="155448"/>
          </a:xfrm>
          <a:prstGeom prst="ellipse">
            <a:avLst/>
          </a:prstGeom>
          <a:solidFill>
            <a:srgbClr val="177E89"/>
          </a:solidFill>
          <a:ln w="12700">
            <a:solidFill>
              <a:srgbClr val="177E89"/>
            </a:solidFill>
            <a:prstDash val="solid"/>
          </a:ln>
        </p:spPr>
      </p:sp>
      <p:sp>
        <p:nvSpPr>
          <p:cNvPr id="15" name="Text 13"/>
          <p:cNvSpPr txBox="1"/>
          <p:nvPr/>
        </p:nvSpPr>
        <p:spPr>
          <a:xfrm>
            <a:off x="5093208" y="2962656"/>
            <a:ext cx="2020824" cy="237744"/>
          </a:xfrm>
          <a:prstGeom prst="rect">
            <a:avLst/>
          </a:prstGeom>
          <a:noFill/>
          <a:ln/>
        </p:spPr>
        <p:txBody>
          <a:bodyPr wrap="square" lIns="0" tIns="0" rIns="0" bIns="0" rtlCol="0" anchor="ctr"/>
          <a:lstStyle/>
          <a:p>
            <a:pPr algn="ctr" indent="0" marL="0">
              <a:buNone/>
            </a:pPr>
            <a:r>
              <a:rPr lang="en-US" sz="950" b="1" spc="250" kern="0" dirty="0">
                <a:solidFill>
                  <a:srgbClr val="5F676C"/>
                </a:solidFill>
                <a:latin typeface="Calibri" pitchFamily="34" charset="0"/>
                <a:ea typeface="Calibri" pitchFamily="34" charset="-122"/>
                <a:cs typeface="Calibri" pitchFamily="34" charset="-120"/>
              </a:rPr>
              <a:t>SESIÓN 08</a:t>
            </a:r>
            <a:endParaRPr lang="en-US" sz="950" dirty="0"/>
          </a:p>
        </p:txBody>
      </p:sp>
      <p:sp>
        <p:nvSpPr>
          <p:cNvPr id="16" name="Text 14"/>
          <p:cNvSpPr txBox="1"/>
          <p:nvPr/>
        </p:nvSpPr>
        <p:spPr>
          <a:xfrm>
            <a:off x="5093208" y="3218688"/>
            <a:ext cx="2020824" cy="365760"/>
          </a:xfrm>
          <a:prstGeom prst="rect">
            <a:avLst/>
          </a:prstGeom>
          <a:noFill/>
          <a:ln/>
        </p:spPr>
        <p:txBody>
          <a:bodyPr wrap="square" lIns="0" tIns="0" rIns="0" bIns="0" rtlCol="0" anchor="ctr"/>
          <a:lstStyle/>
          <a:p>
            <a:pPr algn="ctr" indent="0" marL="0">
              <a:buNone/>
            </a:pPr>
            <a:r>
              <a:rPr lang="en-US" sz="1500" b="1" dirty="0">
                <a:solidFill>
                  <a:srgbClr val="1F2326"/>
                </a:solidFill>
                <a:latin typeface="Calibri" pitchFamily="34" charset="0"/>
                <a:ea typeface="Calibri" pitchFamily="34" charset="-122"/>
                <a:cs typeface="Calibri" pitchFamily="34" charset="-120"/>
              </a:rPr>
              <a:t>CSS3</a:t>
            </a:r>
            <a:endParaRPr lang="en-US" sz="1500" dirty="0"/>
          </a:p>
        </p:txBody>
      </p:sp>
      <p:sp>
        <p:nvSpPr>
          <p:cNvPr id="17" name="Text 15"/>
          <p:cNvSpPr txBox="1"/>
          <p:nvPr/>
        </p:nvSpPr>
        <p:spPr>
          <a:xfrm>
            <a:off x="5184648" y="4133088"/>
            <a:ext cx="1837944" cy="457200"/>
          </a:xfrm>
          <a:prstGeom prst="rect">
            <a:avLst/>
          </a:prstGeom>
          <a:noFill/>
          <a:ln/>
        </p:spPr>
        <p:txBody>
          <a:bodyPr wrap="square" lIns="0" tIns="0" rIns="0" bIns="0" rtlCol="0" anchor="t"/>
          <a:lstStyle/>
          <a:p>
            <a:pPr algn="ctr" indent="0" marL="0">
              <a:buNone/>
            </a:pPr>
            <a:r>
              <a:rPr lang="en-US" sz="1050" dirty="0">
                <a:solidFill>
                  <a:srgbClr val="5F676C"/>
                </a:solidFill>
                <a:latin typeface="Calibri" pitchFamily="34" charset="0"/>
                <a:ea typeface="Calibri" pitchFamily="34" charset="-122"/>
                <a:cs typeface="Calibri" pitchFamily="34" charset="-120"/>
              </a:rPr>
              <a:t>Por fin le damos estilo a todo.</a:t>
            </a:r>
            <a:endParaRPr lang="en-US" sz="1050" dirty="0"/>
          </a:p>
        </p:txBody>
      </p:sp>
      <p:sp>
        <p:nvSpPr>
          <p:cNvPr id="18" name="Shape 16"/>
          <p:cNvSpPr/>
          <p:nvPr/>
        </p:nvSpPr>
        <p:spPr>
          <a:xfrm>
            <a:off x="8046720" y="3817620"/>
            <a:ext cx="155448" cy="155448"/>
          </a:xfrm>
          <a:prstGeom prst="ellipse">
            <a:avLst/>
          </a:prstGeom>
          <a:solidFill>
            <a:srgbClr val="177E89"/>
          </a:solidFill>
          <a:ln w="12700">
            <a:solidFill>
              <a:srgbClr val="177E89"/>
            </a:solidFill>
            <a:prstDash val="solid"/>
          </a:ln>
        </p:spPr>
      </p:sp>
      <p:sp>
        <p:nvSpPr>
          <p:cNvPr id="19" name="Text 17"/>
          <p:cNvSpPr txBox="1"/>
          <p:nvPr/>
        </p:nvSpPr>
        <p:spPr>
          <a:xfrm>
            <a:off x="7114032" y="2962656"/>
            <a:ext cx="2020824" cy="237744"/>
          </a:xfrm>
          <a:prstGeom prst="rect">
            <a:avLst/>
          </a:prstGeom>
          <a:noFill/>
          <a:ln/>
        </p:spPr>
        <p:txBody>
          <a:bodyPr wrap="square" lIns="0" tIns="0" rIns="0" bIns="0" rtlCol="0" anchor="ctr"/>
          <a:lstStyle/>
          <a:p>
            <a:pPr algn="ctr" indent="0" marL="0">
              <a:buNone/>
            </a:pPr>
            <a:r>
              <a:rPr lang="en-US" sz="950" b="1" spc="250" kern="0" dirty="0">
                <a:solidFill>
                  <a:srgbClr val="5F676C"/>
                </a:solidFill>
                <a:latin typeface="Calibri" pitchFamily="34" charset="0"/>
                <a:ea typeface="Calibri" pitchFamily="34" charset="-122"/>
                <a:cs typeface="Calibri" pitchFamily="34" charset="-120"/>
              </a:rPr>
              <a:t>SESIÓN 09</a:t>
            </a:r>
            <a:endParaRPr lang="en-US" sz="950" dirty="0"/>
          </a:p>
        </p:txBody>
      </p:sp>
      <p:sp>
        <p:nvSpPr>
          <p:cNvPr id="20" name="Text 18"/>
          <p:cNvSpPr txBox="1"/>
          <p:nvPr/>
        </p:nvSpPr>
        <p:spPr>
          <a:xfrm>
            <a:off x="7114032" y="3218688"/>
            <a:ext cx="2020824" cy="365760"/>
          </a:xfrm>
          <a:prstGeom prst="rect">
            <a:avLst/>
          </a:prstGeom>
          <a:noFill/>
          <a:ln/>
        </p:spPr>
        <p:txBody>
          <a:bodyPr wrap="square" lIns="0" tIns="0" rIns="0" bIns="0" rtlCol="0" anchor="ctr"/>
          <a:lstStyle/>
          <a:p>
            <a:pPr algn="ctr" indent="0" marL="0">
              <a:buNone/>
            </a:pPr>
            <a:r>
              <a:rPr lang="en-US" sz="1500" b="1" dirty="0">
                <a:solidFill>
                  <a:srgbClr val="1F2326"/>
                </a:solidFill>
                <a:latin typeface="Calibri" pitchFamily="34" charset="0"/>
                <a:ea typeface="Calibri" pitchFamily="34" charset="-122"/>
                <a:cs typeface="Calibri" pitchFamily="34" charset="-120"/>
              </a:rPr>
              <a:t>Propiedades</a:t>
            </a:r>
            <a:endParaRPr lang="en-US" sz="1500" dirty="0"/>
          </a:p>
        </p:txBody>
      </p:sp>
      <p:sp>
        <p:nvSpPr>
          <p:cNvPr id="21" name="Text 19"/>
          <p:cNvSpPr txBox="1"/>
          <p:nvPr/>
        </p:nvSpPr>
        <p:spPr>
          <a:xfrm>
            <a:off x="7205472" y="4133088"/>
            <a:ext cx="1837944" cy="457200"/>
          </a:xfrm>
          <a:prstGeom prst="rect">
            <a:avLst/>
          </a:prstGeom>
          <a:noFill/>
          <a:ln/>
        </p:spPr>
        <p:txBody>
          <a:bodyPr wrap="square" lIns="0" tIns="0" rIns="0" bIns="0" rtlCol="0" anchor="t"/>
          <a:lstStyle/>
          <a:p>
            <a:pPr algn="ctr" indent="0" marL="0">
              <a:buNone/>
            </a:pPr>
            <a:r>
              <a:rPr lang="en-US" sz="1050" dirty="0">
                <a:solidFill>
                  <a:srgbClr val="5F676C"/>
                </a:solidFill>
                <a:latin typeface="Calibri" pitchFamily="34" charset="0"/>
                <a:ea typeface="Calibri" pitchFamily="34" charset="-122"/>
                <a:cs typeface="Calibri" pitchFamily="34" charset="-120"/>
              </a:rPr>
              <a:t>Color, tipografía, fondos y bordes.</a:t>
            </a:r>
            <a:endParaRPr lang="en-US" sz="1050" dirty="0"/>
          </a:p>
        </p:txBody>
      </p:sp>
      <p:sp>
        <p:nvSpPr>
          <p:cNvPr id="22" name="Shape 20"/>
          <p:cNvSpPr/>
          <p:nvPr/>
        </p:nvSpPr>
        <p:spPr>
          <a:xfrm>
            <a:off x="10067544" y="3817620"/>
            <a:ext cx="155448" cy="155448"/>
          </a:xfrm>
          <a:prstGeom prst="ellipse">
            <a:avLst/>
          </a:prstGeom>
          <a:solidFill>
            <a:srgbClr val="177E89"/>
          </a:solidFill>
          <a:ln w="12700">
            <a:solidFill>
              <a:srgbClr val="177E89"/>
            </a:solidFill>
            <a:prstDash val="solid"/>
          </a:ln>
        </p:spPr>
      </p:sp>
      <p:sp>
        <p:nvSpPr>
          <p:cNvPr id="23" name="Text 21"/>
          <p:cNvSpPr txBox="1"/>
          <p:nvPr/>
        </p:nvSpPr>
        <p:spPr>
          <a:xfrm>
            <a:off x="9134856" y="2962656"/>
            <a:ext cx="2020824" cy="237744"/>
          </a:xfrm>
          <a:prstGeom prst="rect">
            <a:avLst/>
          </a:prstGeom>
          <a:noFill/>
          <a:ln/>
        </p:spPr>
        <p:txBody>
          <a:bodyPr wrap="square" lIns="0" tIns="0" rIns="0" bIns="0" rtlCol="0" anchor="ctr"/>
          <a:lstStyle/>
          <a:p>
            <a:pPr algn="ctr" indent="0" marL="0">
              <a:buNone/>
            </a:pPr>
            <a:r>
              <a:rPr lang="en-US" sz="950" b="1" spc="250" kern="0" dirty="0">
                <a:solidFill>
                  <a:srgbClr val="5F676C"/>
                </a:solidFill>
                <a:latin typeface="Calibri" pitchFamily="34" charset="0"/>
                <a:ea typeface="Calibri" pitchFamily="34" charset="-122"/>
                <a:cs typeface="Calibri" pitchFamily="34" charset="-120"/>
              </a:rPr>
              <a:t>SESIÓN 10</a:t>
            </a:r>
            <a:endParaRPr lang="en-US" sz="950" dirty="0"/>
          </a:p>
        </p:txBody>
      </p:sp>
      <p:sp>
        <p:nvSpPr>
          <p:cNvPr id="24" name="Text 22"/>
          <p:cNvSpPr txBox="1"/>
          <p:nvPr/>
        </p:nvSpPr>
        <p:spPr>
          <a:xfrm>
            <a:off x="9134856" y="3218688"/>
            <a:ext cx="2020824" cy="365760"/>
          </a:xfrm>
          <a:prstGeom prst="rect">
            <a:avLst/>
          </a:prstGeom>
          <a:noFill/>
          <a:ln/>
        </p:spPr>
        <p:txBody>
          <a:bodyPr wrap="square" lIns="0" tIns="0" rIns="0" bIns="0" rtlCol="0" anchor="ctr"/>
          <a:lstStyle/>
          <a:p>
            <a:pPr algn="ctr" indent="0" marL="0">
              <a:buNone/>
            </a:pPr>
            <a:r>
              <a:rPr lang="en-US" sz="1500" b="1" dirty="0">
                <a:solidFill>
                  <a:srgbClr val="1F2326"/>
                </a:solidFill>
                <a:latin typeface="Calibri" pitchFamily="34" charset="0"/>
                <a:ea typeface="Calibri" pitchFamily="34" charset="-122"/>
                <a:cs typeface="Calibri" pitchFamily="34" charset="-120"/>
              </a:rPr>
              <a:t>Maquetación</a:t>
            </a:r>
            <a:endParaRPr lang="en-US" sz="1500" dirty="0"/>
          </a:p>
        </p:txBody>
      </p:sp>
      <p:sp>
        <p:nvSpPr>
          <p:cNvPr id="25" name="Text 23"/>
          <p:cNvSpPr txBox="1"/>
          <p:nvPr/>
        </p:nvSpPr>
        <p:spPr>
          <a:xfrm>
            <a:off x="9226296" y="4133088"/>
            <a:ext cx="1837944" cy="457200"/>
          </a:xfrm>
          <a:prstGeom prst="rect">
            <a:avLst/>
          </a:prstGeom>
          <a:noFill/>
          <a:ln/>
        </p:spPr>
        <p:txBody>
          <a:bodyPr wrap="square" lIns="0" tIns="0" rIns="0" bIns="0" rtlCol="0" anchor="t"/>
          <a:lstStyle/>
          <a:p>
            <a:pPr algn="ctr" indent="0" marL="0">
              <a:buNone/>
            </a:pPr>
            <a:r>
              <a:rPr lang="en-US" sz="1050" dirty="0">
                <a:solidFill>
                  <a:srgbClr val="5F676C"/>
                </a:solidFill>
                <a:latin typeface="Calibri" pitchFamily="34" charset="0"/>
                <a:ea typeface="Calibri" pitchFamily="34" charset="-122"/>
                <a:cs typeface="Calibri" pitchFamily="34" charset="-120"/>
              </a:rPr>
              <a:t>Modelo de caja, flexbox y grid.</a:t>
            </a:r>
            <a:endParaRPr lang="en-US" sz="1050" dirty="0"/>
          </a:p>
        </p:txBody>
      </p:sp>
      <p:sp>
        <p:nvSpPr>
          <p:cNvPr id="26" name="Shape 24"/>
          <p:cNvSpPr/>
          <p:nvPr/>
        </p:nvSpPr>
        <p:spPr>
          <a:xfrm>
            <a:off x="640080" y="5340096"/>
            <a:ext cx="10927080" cy="694944"/>
          </a:xfrm>
          <a:prstGeom prst="roundRect">
            <a:avLst>
              <a:gd name="adj" fmla="val 13158"/>
            </a:avLst>
          </a:prstGeom>
          <a:solidFill>
            <a:srgbClr val="F3F5F6"/>
          </a:solidFill>
          <a:ln w="12700">
            <a:solidFill>
              <a:srgbClr val="CFD5D9"/>
            </a:solidFill>
            <a:prstDash val="solid"/>
          </a:ln>
        </p:spPr>
      </p:sp>
      <p:sp>
        <p:nvSpPr>
          <p:cNvPr id="27" name="Text 25"/>
          <p:cNvSpPr txBox="1"/>
          <p:nvPr/>
        </p:nvSpPr>
        <p:spPr>
          <a:xfrm>
            <a:off x="950976" y="5340096"/>
            <a:ext cx="10305288" cy="694944"/>
          </a:xfrm>
          <a:prstGeom prst="rect">
            <a:avLst/>
          </a:prstGeom>
          <a:noFill/>
          <a:ln/>
        </p:spPr>
        <p:txBody>
          <a:bodyPr wrap="square" lIns="0" tIns="0" rIns="0" bIns="0" rtlCol="0" anchor="ctr"/>
          <a:lstStyle/>
          <a:p>
            <a:pPr indent="0" marL="0">
              <a:buNone/>
            </a:pPr>
            <a:r>
              <a:rPr lang="en-US" sz="1250" dirty="0">
                <a:solidFill>
                  <a:srgbClr val="33393D"/>
                </a:solidFill>
                <a:latin typeface="Calibri" pitchFamily="34" charset="0"/>
                <a:ea typeface="Calibri" pitchFamily="34" charset="-122"/>
                <a:cs typeface="Calibri" pitchFamily="34" charset="-120"/>
              </a:rPr>
              <a:t>Para la sesión 08: trae tu portafolio publicado y tu Figma corregido hasta el Paso 9. Empezamos a pasar el diseño a CSS.</a:t>
            </a:r>
            <a:endParaRPr lang="en-US" sz="1250" dirty="0"/>
          </a:p>
        </p:txBody>
      </p:sp>
      <p:sp>
        <p:nvSpPr>
          <p:cNvPr id="28" name="Text 26"/>
          <p:cNvSpPr txBox="1"/>
          <p:nvPr/>
        </p:nvSpPr>
        <p:spPr>
          <a:xfrm>
            <a:off x="640080" y="6181344"/>
            <a:ext cx="4572000" cy="237744"/>
          </a:xfrm>
          <a:prstGeom prst="rect">
            <a:avLst/>
          </a:prstGeom>
          <a:noFill/>
          <a:ln/>
        </p:spPr>
        <p:txBody>
          <a:bodyPr wrap="square" lIns="0" tIns="0" rIns="0" bIns="0" rtlCol="0" anchor="ctr"/>
          <a:lstStyle/>
          <a:p>
            <a:pPr indent="0" marL="0">
              <a:buNone/>
            </a:pPr>
            <a:r>
              <a:rPr lang="en-US" sz="1050" dirty="0">
                <a:solidFill>
                  <a:srgbClr val="5F676C"/>
                </a:solidFill>
                <a:latin typeface="Calibri" pitchFamily="34" charset="0"/>
                <a:ea typeface="Calibri" pitchFamily="34" charset="-122"/>
                <a:cs typeface="Calibri" pitchFamily="34" charset="-120"/>
              </a:rPr>
              <a:t>Ing. Dagner Anibal Chuman Lluen</a:t>
            </a:r>
            <a:endParaRPr lang="en-US" sz="1050" dirty="0"/>
          </a:p>
        </p:txBody>
      </p:sp>
      <p:sp>
        <p:nvSpPr>
          <p:cNvPr id="29" name="Text 27"/>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48 / 48</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Centro de Informática USS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Sesión 07 · Multimedia avanzada en HTML5</dc:title>
  <dc:subject>Curso de Diseño Web</dc:subject>
  <dc:creator>Ing. Dagner Anibal Chuman Lluen</dc:creator>
  <cp:lastModifiedBy>Ing. Dagner Anibal Chuman Lluen</cp:lastModifiedBy>
  <cp:revision>1</cp:revision>
  <dcterms:created xsi:type="dcterms:W3CDTF">2026-10-06T06:00:58Z</dcterms:created>
  <dcterms:modified xsi:type="dcterms:W3CDTF">2026-10-06T06:00:58Z</dcterms:modified>
</cp:coreProperties>
</file>