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jp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jp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jp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jp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jp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jp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jp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1-1.jpg"/><Relationship Id="rId2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2-1.jpg"/><Relationship Id="rId2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3-1.jp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porta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4630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EPTU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conceptu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EPTUAL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conceptu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TRUMENT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instrument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TRUMENTAL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instrument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VELADO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nivelad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VELADOR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nivelad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NCION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funcion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NCIONAL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funcion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IENTADO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orientad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IENTADOR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orientad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ndicador de esp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0368" y="1737360"/>
            <a:ext cx="1737360" cy="1737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127248" y="3639312"/>
            <a:ext cx="5943600" cy="841248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127248" y="3639312"/>
            <a:ext cx="5943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ESPERANDO A LOS COMPAÑEROS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4700016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15 · comenzamos en unos minutos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5120640"/>
            <a:ext cx="9445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tu portafolio publicado y tu archivo de Figma. Hoy lo revisamos todo y lo dejamos listo para entregar.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718304" y="5861304"/>
            <a:ext cx="2761488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718304" y="5861304"/>
            <a:ext cx="27614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DISEÑO WEB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49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0482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DISEÑO WEB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432304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integrador: pruebas y despliegue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356616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3566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15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26110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Validadores · enlaces · &lt;head&gt; completo · teclado · 404 · Netlify Forms · Lighthouse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8097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508406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Dagner Anibal Chuman Lluen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366760" y="2286000"/>
            <a:ext cx="3291840" cy="1691640"/>
          </a:xfrm>
          <a:prstGeom prst="roundRect">
            <a:avLst>
              <a:gd name="adj" fmla="val 5405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450592"/>
            <a:ext cx="283464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&lt;title&gt;Sobre mí · Dagner Chuman&lt;/title&gt;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 rel="icon" href="…" /&gt;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&lt;meta property="og:image"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content="https://…" /&gt;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49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¿Cómo te sientes hoy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49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¿Qué es CINFO? Conceptual, Instrumental, Nivelador, Funcional y Orienta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49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nocimientos previos y definiciones cla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49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dónde venimos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portafolio tiene sus cinco páginas, se adapta al celular y la página Cursos usa Bootstrap.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tienes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3182112"/>
            <a:ext cx="4727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páginas con HTML semántico y CSS propio.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adaptable a 390, 820 y 1440 px.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con tu tema en la página Cursos.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sitio publicado en Netlify.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615184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2881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sumas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28816" y="3182112"/>
            <a:ext cx="4727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Pruebas: validadores, enlaces y teclado.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completo: título, icono y vista previa.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página 404 y una de gracias.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 que guardan los mensajes.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Lighthouse: medir antes de entregar.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736592"/>
            <a:ext cx="10927080" cy="1298448"/>
          </a:xfrm>
          <a:prstGeom prst="roundRect">
            <a:avLst>
              <a:gd name="adj" fmla="val 7042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0976" y="4736592"/>
            <a:ext cx="103052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hace distinta a esta sesión 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aparece ninguna propiedad nueva de CSS. Hoy revisas tu sitio como lo haría un cliente, completas lo que falta para publicarlo bien y lo entregas como proyecto integrador.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49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LOGROS DE APRENDIZAJE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vas a lograr hoy?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615184"/>
            <a:ext cx="109270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2670048"/>
            <a:ext cx="512064" cy="51206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2670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615184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2615184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el HTML y el CSS y revisar enlaces, imágenes y nombres de archivo.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319272"/>
            <a:ext cx="109270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8408" y="3374136"/>
            <a:ext cx="512064" cy="51206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78408" y="33741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31927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3319272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un 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título, descripción, icono y Open Graph.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109270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8408" y="4078224"/>
            <a:ext cx="512064" cy="51206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8408" y="40782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02336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023360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Navegar todo el sitio con el teclado y revisar el contraste.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727448"/>
            <a:ext cx="109270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4782312"/>
            <a:ext cx="512064" cy="51206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47823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472744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114800" y="4727448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Desplegar en Netlify con una 404 propia y un formulario que guarda mensajes.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431536"/>
            <a:ext cx="109270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8408" y="5486400"/>
            <a:ext cx="512064" cy="51206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8408" y="5486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691640" y="543153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114800" y="5431536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un informe de Lighthouse y corregir lo que marca.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49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reparten las 4 horas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578608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615184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615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664208" y="25786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el sitio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2578608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lista de pruebas, los validadores y los nombres de archivo.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195560" y="257860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049524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3086100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30861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664208" y="304952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&lt;head&gt; completo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3049524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Título, descripción, icono y vista previa al compartir.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195560" y="304952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3557016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664208" y="352044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teclado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3520440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Saltar al contenido, la página actual y el contraste.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195560" y="352044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991356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4027932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0120" y="40279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664208" y="399135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y formularios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3991356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404, la página de gracias y Netlify Forms.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195560" y="399135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462272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0120" y="4498848"/>
            <a:ext cx="347472" cy="347472"/>
          </a:xfrm>
          <a:prstGeom prst="ellipse">
            <a:avLst/>
          </a:prstGeom>
          <a:solidFill>
            <a:srgbClr val="5F676C"/>
          </a:solidFill>
          <a:ln w="12700">
            <a:solidFill>
              <a:srgbClr val="5F676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60120" y="4498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1664208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Descanso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195560" y="446227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4933188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0120" y="4969764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60120" y="49697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1664208" y="493318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Figma: revisión final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5349240" y="4933188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Nombres, el icono, la vista previa y el enlace de solo lectura.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0195560" y="493318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" y="5404104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0120" y="5440680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60120" y="5440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664208" y="54041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y medir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5349240" y="5404104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Netlify, Lighthouse y el proyecto integrador.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0195560" y="540410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49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1517904"/>
            <a:ext cx="5120640" cy="1024128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1517904"/>
            <a:ext cx="4206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el sitio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28346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46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bloque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36576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36576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lista de pruebas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420624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42062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42062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validadores del W3C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75488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7548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7548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Enlaces y nombres de archivo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1234440"/>
            <a:ext cx="5166360" cy="5257800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pic>
        <p:nvPicPr>
          <p:cNvPr id="16" name="Image 0" descr="Persona programando frente a un 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362456"/>
            <a:ext cx="4892040" cy="500176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49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PROBAR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lista de pruebas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entregar, recorre el sitio con esta lista. Cada prueba toma pocos minutos.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58775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25877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qué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178040" y="258775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 si…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10927080" cy="429768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834640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válido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2834640"/>
            <a:ext cx="3794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validator.w3.org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2834640"/>
            <a:ext cx="4297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siete páginas sin errores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328416"/>
            <a:ext cx="10927080" cy="429768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328416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válido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3328416"/>
            <a:ext cx="3794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jigsaw.w3.org/css-validator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178040" y="3328416"/>
            <a:ext cx="4297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seis hojas sin errores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822192"/>
            <a:ext cx="10927080" cy="429768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822192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246120" y="3822192"/>
            <a:ext cx="3794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 en cada enlace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178040" y="3822192"/>
            <a:ext cx="4297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lleva a una página en blanco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315968"/>
            <a:ext cx="10927080" cy="429768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4315968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246120" y="4315968"/>
            <a:ext cx="3794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Revisa cada &lt;img&gt;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4315968"/>
            <a:ext cx="4297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alt, width y height; menos de 300 KB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809744"/>
            <a:ext cx="10927080" cy="429768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" y="4809744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Teclado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3246120" y="4809744"/>
            <a:ext cx="3794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 · Shift + Tab · Enter · Esc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4809744"/>
            <a:ext cx="4297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Llegas a todo y siempre ves el foco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5303520"/>
            <a:ext cx="10927080" cy="429768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8680" y="5303520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3246120" y="5303520"/>
            <a:ext cx="3794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F12 › icono del celular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5303520"/>
            <a:ext cx="4297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390, 820 y 1440 px sin barra horizontal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0080" y="5797296"/>
            <a:ext cx="10927080" cy="429768"/>
          </a:xfrm>
          <a:prstGeom prst="roundRect">
            <a:avLst>
              <a:gd name="adj" fmla="val 21277"/>
            </a:avLst>
          </a:prstGeom>
          <a:solidFill>
            <a:srgbClr val="E6F8FA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68680" y="5797296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3246120" y="5797296"/>
            <a:ext cx="3794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F12 › Lighthouse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7178040" y="5797296"/>
            <a:ext cx="4297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 y SEO de 90 o más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49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PROBAR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validadores del W3C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cada archivo y corrige los errores en orden: arreglar el primero suele borrar los siguientes.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10927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61518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tag … open elements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2615184"/>
            <a:ext cx="7086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cerrar una etiqueta antes de esa línea.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191256"/>
            <a:ext cx="10927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19125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Duplicate ID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3191256"/>
            <a:ext cx="7086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elementos tienen el mismo 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cada 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único en la página.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767328"/>
            <a:ext cx="10927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7673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 … alt attribute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3767328"/>
            <a:ext cx="7086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una imagen le falta el texto alternativo 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</a:t>
            </a:r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343400"/>
            <a:ext cx="10927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343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attribute of label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4343400"/>
            <a:ext cx="7086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una etiqueta no coincide con el 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su campo.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919472"/>
            <a:ext cx="10927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49194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 Error (CSS)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206240" y="4919472"/>
            <a:ext cx="7086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una llave, un punto y coma o los dos puntos.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989320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cursos.html se valida tu HTML y tus hojas (también tema-bootstrap.css), no el CSS de Bootstrap.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49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PROBAR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distingue mayúsculas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tu computadora, Foto.JPG y foto.jpg pueden ser el mismo archivo. En el servidor, no.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5877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tu carpeta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3611880" y="258775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HTML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818120" y="258775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Netlify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10927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8346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foto-carnet.jpg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83464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src="assets/img/foto-carnet.jpg"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2834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401568"/>
            <a:ext cx="10927080" cy="502920"/>
          </a:xfrm>
          <a:prstGeom prst="roundRect">
            <a:avLst>
              <a:gd name="adj" fmla="val 18182"/>
            </a:avLst>
          </a:prstGeom>
          <a:solidFill>
            <a:srgbClr val="FDECEC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40156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Foto-Carnet.jpg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340156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src="assets/img/foto-carnet.jpg"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818120" y="34015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rota: la mayúscula no coincide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968496"/>
            <a:ext cx="10927080" cy="502920"/>
          </a:xfrm>
          <a:prstGeom prst="roundRect">
            <a:avLst>
              <a:gd name="adj" fmla="val 18182"/>
            </a:avLst>
          </a:prstGeom>
          <a:solidFill>
            <a:srgbClr val="FFF7E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96849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proyectos.html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611880" y="3968496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href="mis proyectos.html"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818120" y="396849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veces: el espacio pasa a %20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535424"/>
            <a:ext cx="10927080" cy="502920"/>
          </a:xfrm>
          <a:prstGeom prst="roundRect">
            <a:avLst>
              <a:gd name="adj" fmla="val 18182"/>
            </a:avLst>
          </a:prstGeom>
          <a:solidFill>
            <a:srgbClr val="FFF7E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453542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diseño.png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611880" y="4535424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src="diseño.png"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818120" y="453542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fallar: evita la ñ y las tildes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257800"/>
            <a:ext cx="10927080" cy="731520"/>
          </a:xfrm>
          <a:prstGeom prst="roundRect">
            <a:avLst>
              <a:gd name="adj" fmla="val 12500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50976" y="5257800"/>
            <a:ext cx="10305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del curso, desde la sesión 01: </a:t>
            </a:r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nombres en minúsculas, con guiones y sin espacios ni tildes. Y cada </a:t>
            </a:r>
            <a:pPr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href="#…"</a:t>
            </a:r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su </a:t>
            </a:r>
            <a:pPr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la página.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49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1517904"/>
            <a:ext cx="5120640" cy="1024128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1517904"/>
            <a:ext cx="4206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&lt;head&gt; completo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28346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46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bloque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36576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36576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título por página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420624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42062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42062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descripción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75488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7548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7548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icono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530352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53035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530352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vista previa al compartir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1234440"/>
            <a:ext cx="5166360" cy="5257800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pic>
        <p:nvPicPr>
          <p:cNvPr id="19" name="Image 0" descr="Persona programando frente a un 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362456"/>
            <a:ext cx="4892040" cy="50017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49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EL &lt;HEAD&gt;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título distinto en cada página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lo propio de la página y después tu nombre. Es el texto de la pestaña y del enlace en Google.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860308" y="2615184"/>
            <a:ext cx="8486624" cy="2971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6" name="Image 0" descr="/tmp/claude-0/-home-user-sesiones-dagner/2613c8c1-437c-54f4-94d9-b62c29473bbd/scratchpad/deck/img/s15-pesta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3460" y="2688336"/>
            <a:ext cx="8340320" cy="28254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5779008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la sesión 14, cuatro páginas se llamaban «Portafolio - Dagner Chuman»: con varias pestañas no se distinguían.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49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EL &lt;HEAD&gt;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queda el &lt;head&gt; de index.html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ve en la página, pero decide cómo aparece tu sitio en la pestaña, en Google y al compartirlo.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6309360" cy="3529584"/>
          </a:xfrm>
          <a:prstGeom prst="roundRect">
            <a:avLst>
              <a:gd name="adj" fmla="val 2591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5852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&lt;title&gt;</a:t>
            </a:r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Dagner Chuman · Docente e Ingeniero Web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&lt;/title&gt;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&lt;meta name="</a:t>
            </a:r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content="Portafolio de …" /&gt;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 rel="</a:t>
            </a:r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icon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type="image/png" sizes="32x32"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href="assets/img/favicon-32.png" /&gt;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 rel="</a:t>
            </a:r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apple-touch-icon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href="assets/img/apple-touch-icon.png" /&gt;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&lt;meta property="</a:t>
            </a:r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og:title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content="Dagner Chuman · …" /&gt;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&lt;meta property="</a:t>
            </a:r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og:description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content="Portafolio de …" /&gt;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&lt;meta property="</a:t>
            </a:r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og:image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content="</a:t>
            </a:r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https://mi-portafolio-dagner.netlify.app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/…png" /&gt;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&lt;meta property="</a:t>
            </a:r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og:url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content="https://…netlify.app/" /&gt;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132320" y="2615184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96912" y="2715768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6912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790688" y="261518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979408" y="2615184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Distinto en cada página.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0" y="3214116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96912" y="3314700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96912" y="33147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790688" y="3214116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979408" y="321411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Unos 150 caracteres.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0" y="3813048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96912" y="3913632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96912" y="3913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790688" y="381304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979408" y="381304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pestaña: 32 × 32.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32320" y="4411980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96912" y="4512564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96912" y="45125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790688" y="441198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apple-touch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979408" y="441198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celular: 180 × 180.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132320" y="5010912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96912" y="5111496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96912" y="5111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790688" y="501091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og: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979408" y="501091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tarjeta al compartir.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132320" y="5609844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96912" y="5710428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296912" y="57104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790688" y="560984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og:image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8979408" y="5609844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dirección completa.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49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EL &lt;HEAD&gt;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Graph: la vista previa al compartir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LinkedIn y Facebook leen las etiquetas og: y arman una tarjeta con imagen, título y texto.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6949440" cy="3513856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6" name="Image 0" descr="/tmp/claude-0/-home-user-sesiones-dagner/2613c8c1-437c-54f4-94d9-b62c29473bbd/scratchpad/deck/img/s15-compart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688336"/>
            <a:ext cx="6803136" cy="33675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18120" y="2615184"/>
            <a:ext cx="3749040" cy="3566160"/>
          </a:xfrm>
          <a:prstGeom prst="roundRect">
            <a:avLst>
              <a:gd name="adj" fmla="val 2564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46720" y="274320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reglas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3154680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imagen mide </a:t>
            </a:r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 × 630</a:t>
            </a:r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og:image</a:t>
            </a:r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og:url</a:t>
            </a:r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llevan la dirección completa, con </a:t>
            </a:r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</a:t>
            </a:r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la aplicación no está en tu sitio.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tu sitio se llama distinto en Netlify, cambia el nombre en las dos.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49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EL &lt;HEAD&gt;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imágenes nuevas en assets/img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salen de marcos de tu Figma (bloque 05).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109270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61518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favicon-32.png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261518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× 32 · la pestaña del navegador y los marcadores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2615184"/>
            <a:ext cx="32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61518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él, el navegador pide /favicon.ico y da un 404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364992"/>
            <a:ext cx="109270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36499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apple-touch-icon.png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36499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× 180 · el acceso directo en el celular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3364992"/>
            <a:ext cx="32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3364992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esquinas redondas: las pone el celular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109270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11480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og-portafolio.png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411480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 × 630 · la tarjeta al compartir el enlace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4114800"/>
            <a:ext cx="32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411480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 600 KB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07062" y="4892040"/>
            <a:ext cx="2393115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21" name="Image 0" descr="/tmp/claude-0/-home-user-sesiones-dagner/2613c8c1-437c-54f4-94d9-b62c29473bbd/scratchpad/deck/img/s15-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0214" y="4965192"/>
            <a:ext cx="2246811" cy="1179576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49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1517904"/>
            <a:ext cx="5120640" cy="1024128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1517904"/>
            <a:ext cx="4206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teclado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28346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46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bloque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36576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36576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Saltar al contenido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420624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42062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42062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página actual: aria-current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75488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7548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7548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contraste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1234440"/>
            <a:ext cx="5166360" cy="5257800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pic>
        <p:nvPicPr>
          <p:cNvPr id="16" name="Image 0" descr="Persona programando frente a un 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362456"/>
            <a:ext cx="4892040" cy="500176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49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EL TECLADO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Saltar al contenido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teclado, cada página empieza por el menú. Un enlace escondido lleva directo al contenido.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10927080" cy="1044702"/>
          </a:xfrm>
          <a:prstGeom prst="roundRect">
            <a:avLst>
              <a:gd name="adj" fmla="val 8753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6" name="Image 0" descr="/tmp/claude-0/-home-user-sesiones-dagner/2613c8c1-437c-54f4-94d9-b62c29473bbd/scratchpad/deck/img/s15-sal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688336"/>
            <a:ext cx="10780776" cy="89839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3794760"/>
            <a:ext cx="5349240" cy="2377440"/>
          </a:xfrm>
          <a:prstGeom prst="roundRect">
            <a:avLst>
              <a:gd name="adj" fmla="val 3846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3959352"/>
            <a:ext cx="489204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 class="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saltar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href="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#contenido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Saltar al contenido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&lt;/a&gt;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&lt;header&gt; … &lt;/header&gt;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&lt;main id="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contenido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 … &lt;/main&gt;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17920" y="3794760"/>
            <a:ext cx="5349240" cy="2377440"/>
          </a:xfrm>
          <a:prstGeom prst="roundRect">
            <a:avLst>
              <a:gd name="adj" fmla="val 3846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46520" y="3959352"/>
            <a:ext cx="489204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.saltar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position: absolute;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top: -100px;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fuera de la vista */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z-index: 200;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…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.saltar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:focus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top: 16px;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49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EL TECLADO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página actual: aria-current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el enlace de la página en la que estás. El lector de pantalla dice «Sobre mí, página actual».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10927080" cy="991855"/>
          </a:xfrm>
          <a:prstGeom prst="roundRect">
            <a:avLst>
              <a:gd name="adj" fmla="val 9219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6" name="Image 0" descr="/tmp/claude-0/-home-user-sesiones-dagner/2613c8c1-437c-54f4-94d9-b62c29473bbd/scratchpad/deck/img/s15-act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688336"/>
            <a:ext cx="10780776" cy="84555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3794760"/>
            <a:ext cx="5349240" cy="2377440"/>
          </a:xfrm>
          <a:prstGeom prst="roundRect">
            <a:avLst>
              <a:gd name="adj" fmla="val 3846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3959352"/>
            <a:ext cx="489204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en sobre-mi.html, en la cabecera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y en el pie --&gt;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 href="sobre-mi.html"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aria-current="page"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&gt;Sobre mí&lt;/a&gt;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&lt;/li&gt;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17920" y="3794760"/>
            <a:ext cx="5349240" cy="2377440"/>
          </a:xfrm>
          <a:prstGeom prst="roundRect">
            <a:avLst>
              <a:gd name="adj" fmla="val 3846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46520" y="3959352"/>
            <a:ext cx="489204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el mismo subrayado del hover */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 a:hover,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 a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[aria-current="page"]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var(--color-text-primary);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background-size: 100% 2px;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49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EL TECLADO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contraste: lo que marca Lighthouse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norma WCAG pide 4.5 a 1 para el texto normal y 3 a 1 para el texto grande (24px, o 18.66px en negrita).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109270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679192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06B6C4"/>
          </a:solidFill>
          <a:ln w="12700">
            <a:solidFill>
              <a:srgbClr val="06B6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6791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Proyectos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261518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Blanco sobre el cian del manual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261518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FFFFFF sobre 06B6C4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418320" y="261518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2.47 a 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61320" y="261518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163824"/>
            <a:ext cx="109270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227832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2278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Proyectos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316382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menú en reposo sobre blanco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316382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9CA3AF sobre FFFFFF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418320" y="316382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2.54 a 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561320" y="316382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12464"/>
            <a:ext cx="109270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776472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06B6C4"/>
          </a:solidFill>
          <a:ln w="12700">
            <a:solidFill>
              <a:srgbClr val="06B6C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37764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Proyectos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017520" y="371246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oscuro sobre el mismo cian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371246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0B0F19 sobre 06B6C4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9418320" y="371246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7.75 a 1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561320" y="371246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261104"/>
            <a:ext cx="109270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4325112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43251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Proyectos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017520" y="426110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Blanco sobre un cian más oscuro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040880" y="426110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FFFFFF sobre 0E7490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9418320" y="426110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5.36 a 1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561320" y="426110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4809744"/>
            <a:ext cx="109270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" y="4873752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" y="48737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Proyectos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3017520" y="480974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menú con un gris más oscuro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040880" y="480974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6B7280 sobre FFFFFF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9418320" y="480974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4.83 a 1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0561320" y="480974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" y="5440680"/>
            <a:ext cx="10927080" cy="713232"/>
          </a:xfrm>
          <a:prstGeom prst="roundRect">
            <a:avLst>
              <a:gd name="adj" fmla="val 1282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50976" y="5440680"/>
            <a:ext cx="10305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 el manual: </a:t>
            </a:r>
            <a:pPr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portafolio del curso conserva sus colores. En un proyecto tuyo, elige una opción que pase y cámbiala en la variable de CSS y en la de Figma.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49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1517904"/>
            <a:ext cx="5120640" cy="1024128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1517904"/>
            <a:ext cx="4206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y formularios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28346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46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bloque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36576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36576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página 404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420624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42062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42062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desde la raíz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75488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7548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7548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página de gracias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530352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53035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530352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Forms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1234440"/>
            <a:ext cx="5166360" cy="5257800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pic>
        <p:nvPicPr>
          <p:cNvPr id="19" name="Image 0" descr="Persona programando frente a un 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362456"/>
            <a:ext cx="4892040" cy="50017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49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AVISO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página 404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alguien escribe mal una dirección, Netlify muestra el 404.html de la raíz del sitio.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618074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6" name="Image 0" descr="/tmp/claude-0/-home-user-sesiones-dagner/2613c8c1-437c-54f4-94d9-b62c29473bbd/scratchpad/deck/img/s15-p-4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688336"/>
            <a:ext cx="5471770" cy="34198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840591" y="2615184"/>
            <a:ext cx="1726569" cy="3566160"/>
          </a:xfrm>
          <a:prstGeom prst="roundRect">
            <a:avLst>
              <a:gd name="adj" fmla="val 5296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8" name="Image 1" descr="La página 404 en un celul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3743" y="2688336"/>
            <a:ext cx="1580265" cy="34198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49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AVISO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desde la raíz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404 puede aparecer en cualquier carpeta. Por eso sus rutas empiezan con /.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assets/css/global.css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3182112"/>
            <a:ext cx="4727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/proyectos/viejo.html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busca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/proyectos/assets/css/global.css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carpeta no existe: la 404 se ve sin estilos.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615184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2881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/assets/css/global.css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28816" y="3182112"/>
            <a:ext cx="4727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inicial empieza siempre desde la raíz del sitio.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en cualquier carpeta.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en todas las rutas de la 404: CSS, imágenes y enlaces.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526280"/>
            <a:ext cx="6583680" cy="1645920"/>
          </a:xfrm>
          <a:prstGeom prst="roundRect">
            <a:avLst>
              <a:gd name="adj" fmla="val 5556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4690872"/>
            <a:ext cx="612648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&lt;meta name="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robots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content="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noindex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/&gt;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 rel="stylesheet" href="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assets/css/global.css" /&gt;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index.html"&gt;Volver al inicio&lt;/a&gt;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06640" y="4526280"/>
            <a:ext cx="4160520" cy="1645920"/>
          </a:xfrm>
          <a:prstGeom prst="roundRect">
            <a:avLst>
              <a:gd name="adj" fmla="val 5556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17536" y="4526280"/>
            <a:ext cx="35387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doble clic se ve sin estilos: </a:t>
            </a:r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tu computadora, </a:t>
            </a:r>
            <a:pPr indent="0" marL="0">
              <a:buNone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la raíz del disco. Pruébala publicada.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49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AVISO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página de gracias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después de enviar un formulario. Comparte el estilo con la 404.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618074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6" name="Image 0" descr="/tmp/claude-0/-home-user-sesiones-dagner/2613c8c1-437c-54f4-94d9-b62c29473bbd/scratchpad/deck/img/s15-p-graci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688336"/>
            <a:ext cx="5471770" cy="34198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75120" y="2615184"/>
            <a:ext cx="4892040" cy="3566160"/>
          </a:xfrm>
          <a:prstGeom prst="roundRect">
            <a:avLst>
              <a:gd name="adj" fmla="val 2564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03720" y="2779776"/>
            <a:ext cx="443484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 class="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pagina-aviso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el pie queda abajo */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.pagina-aviso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min-height: 100vh;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flex-direction: column;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.pagina-aviso main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flex: 1;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49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FORMULARIOS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Forms: mensajes sin servidor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atributos en &lt;form&gt; y un name en cada campo. Netlify guarda cada mensaje en su panel.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6309360" cy="3529584"/>
          </a:xfrm>
          <a:prstGeom prst="roundRect">
            <a:avLst>
              <a:gd name="adj" fmla="val 2591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5852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class="form-grid"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name="contacto"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action="/gracias.html"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method="post"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data-netlify="true"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type="text" id="nombre"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name="nombre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required /&gt;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type="email" id="correo"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name="correo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required /&gt;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…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132320" y="2615184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96912" y="2715768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6912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790688" y="2615184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025128" y="261518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nombre en el panel.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0" y="3214116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96912" y="3314700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96912" y="33147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790688" y="3214116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data-netlify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9025128" y="321411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lo detecta al publicar.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0" y="3813048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96912" y="3913632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96912" y="3913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790688" y="3813048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025128" y="381304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post: datos ocultos.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32320" y="4411980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96912" y="4512564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96912" y="45125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790688" y="441198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025128" y="441198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página de gracias, con /.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132320" y="5010912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96912" y="5111496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96912" y="5111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790688" y="5010912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9025128" y="501091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name, no se guarda.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132320" y="5609844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96912" y="5710428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296912" y="57104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790688" y="5609844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9025128" y="560984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› Enable form detection.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49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27248" y="2651760"/>
            <a:ext cx="5943600" cy="960120"/>
          </a:xfrm>
          <a:prstGeom prst="roundRect">
            <a:avLst>
              <a:gd name="adj" fmla="val 49524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127248" y="265176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DESCANSO · 15 MINUTOS</a:t>
            </a:r>
            <a:endParaRPr lang="en-US" sz="2000" dirty="0"/>
          </a:p>
        </p:txBody>
      </p:sp>
      <p:pic>
        <p:nvPicPr>
          <p:cNvPr id="4" name="Image 0" descr="Indicador de esp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0408" y="397764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5321808"/>
            <a:ext cx="9445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volver revisamos el Figma completo, publicamos la versión final y la medimos con Lighthouse.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49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nstrumental: aplicación del conocimiento con ejercicios y demostracio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49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FIGMA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Figma hoy: revisión final y entrega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clic está en la Guía de Figma de la sesión 15.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4475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nombres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capa se llama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 12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Rectangle 3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Sin capas ocultas ni vacías.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028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028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4807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 una captura de tu sitio sobre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mi-portafolio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Opacidad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50%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360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9360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85139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favicon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de 512 × 512 con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Exporta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32w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sufijo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-32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696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44475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apple-touch-icon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sin Radio de esquina. Exporta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180w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4340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028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9028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14807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og-portafolio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61772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de 1200 × 630 con el Hero en pequeño. Exporta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1x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4672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9360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9360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85139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persona con el enlace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algn="l" indent="0" marL="0">
              <a:buNone/>
            </a:pPr>
            <a:r>
              <a:rPr lang="en-US" sz="115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ver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Después, </a:t>
            </a:r>
            <a:pPr algn="l" indent="0" marL="0">
              <a:buNone/>
            </a:pPr>
            <a:r>
              <a:rPr lang="en-US" sz="115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6053328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tu Figma está en inglés: Export, Share, Anyone with the link, can view, Copy link, Present.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49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PUBLICAR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la versión final en Netlify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caminos. Los dos dejan el sitio en la misma dirección.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Arrastrar la carpeta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3182112"/>
            <a:ext cx="47274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tu sitio en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app.netlify.com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›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Arrastra la carpeta que tiene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directamente dentro.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 a que diga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615184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2881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Desde GitHub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28816" y="3182112"/>
            <a:ext cx="47274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project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›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an existing project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›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directory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la carpeta de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ahí, cada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publica solo.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846320"/>
            <a:ext cx="10927080" cy="1005840"/>
          </a:xfrm>
          <a:prstGeom prst="roundRect">
            <a:avLst>
              <a:gd name="adj" fmla="val 909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0976" y="4846320"/>
            <a:ext cx="10305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nombre del sitio: </a:t>
            </a:r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inventa uno como </a:t>
            </a:r>
            <a:pPr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funny-panda-12ab34</a:t>
            </a:r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Cámbialo con </a:t>
            </a:r>
            <a:pPr indent="0" marL="0">
              <a:buNone/>
            </a:pPr>
            <a:r>
              <a:rPr lang="en-US" sz="120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site name</a:t>
            </a:r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(en el panel nuevo, </a:t>
            </a:r>
            <a:pPr indent="0" marL="0">
              <a:buNone/>
            </a:pPr>
            <a:r>
              <a:rPr lang="en-US" sz="120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project name</a:t>
            </a:r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y usa ese mismo nombre en </a:t>
            </a:r>
            <a:pPr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og:image</a:t>
            </a:r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og:url</a:t>
            </a:r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49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MEDIR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Lighthouse: cuatro notas de 0 a 100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F12 › Lighthouse › Mobile › Analyze page load. Hazlo en una ventana de incógnito.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72085" y="2615184"/>
            <a:ext cx="1026307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6" name="Image 0" descr="/tmp/claude-0/-home-user-sesiones-dagner/2613c8c1-437c-54f4-94d9-b62c29473bbd/scratchpad/deck/img/s15-lighthou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237" y="2688336"/>
            <a:ext cx="10116766" cy="9509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3931920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39319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3429000" y="3931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172200" y="3931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tarda en verse y en responder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4453128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8680" y="44531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3429000" y="44531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44531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Contraste, alt, etiquetas, orden de los títulos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0080" y="4974336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8680" y="497433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3429000" y="49743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6172200" y="497433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HTTPS, errores en la consola, imágenes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0080" y="5495544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68680" y="549554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3429000" y="549554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Buscadores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6172200" y="549554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&lt;title&gt;, description, lang, enlaces con texto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5989320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notas cambian unos puntos entre mediciones. Lee sobre todo la lista de fallas debajo de cada una.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49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PRÁCTICA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Construimos juntos: el &lt;head&gt; y el teclado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3 y 4 de la guía de código, en las cinco páginas.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6309360" cy="3529584"/>
          </a:xfrm>
          <a:prstGeom prst="roundRect">
            <a:avLst>
              <a:gd name="adj" fmla="val 2591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5852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…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&lt;title&gt;</a:t>
            </a:r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Sobre mí · Dagner Chuman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&lt;/title&gt;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name="description" content="…" /&gt;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&lt;link rel="icon" … href="assets/img/favicon-32.png" /&gt;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property="og:title" content="Sobre mí · …" /&gt;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…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 class="</a:t>
            </a:r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saltar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href="#contenido"&gt;Saltar al contenido&lt;/a&gt;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… &lt;a href="sobre-mi.html" </a:t>
            </a:r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aria-current="page"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&gt;Sobre mí&lt;/a&gt; …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&lt;main </a:t>
            </a:r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id="contenido"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132320" y="2615184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96912" y="2715768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6912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790688" y="261518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887968" y="261518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por página.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0" y="3214116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96912" y="3314700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96912" y="33147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790688" y="321411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887968" y="3214116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Unos 150 caracteres.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0" y="3813048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96912" y="3913632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96912" y="3913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790688" y="381304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Iconos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887968" y="381304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y apple-touch-icon.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32320" y="4411980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96912" y="4512564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96912" y="45125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790688" y="441198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og: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887968" y="441198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dirección completa.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132320" y="5010912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96912" y="5111496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96912" y="5111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790688" y="501091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Saltar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887968" y="501091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 y bloque 11.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132320" y="5609844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96912" y="5710428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296912" y="57104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790688" y="560984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8887968" y="560984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aria-current en menú y pie.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49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PRÁCTICA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tú: aviso, formularios y publicación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Tienes 30 minutos. Pasos 5 al 8 de la guía de código.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4475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404.html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de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sobre-mi.html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rutas que empiezan con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noindex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028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028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4807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gracias.html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normales,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noindex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el mensaje de gracias.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360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9360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85139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method="post"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action="/gracias.html"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data-netlify="true"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696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44475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Arrastra la carpeta en </a:t>
            </a:r>
            <a:pPr algn="l" indent="0" marL="0">
              <a:buNone/>
            </a:pPr>
            <a:r>
              <a:rPr lang="en-US" sz="115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Activa la detección en </a:t>
            </a:r>
            <a:pPr algn="l" indent="0" marL="0">
              <a:buNone/>
            </a:pPr>
            <a:r>
              <a:rPr lang="en-US" sz="115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4340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028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9028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14807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61772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un mensaje; escribe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/hola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aparece tu 404.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4672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9360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9360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85139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en incógnito. Guarda la captura para la entrega.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6053328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terminas antes: valida las siete páginas y recorre todo el sitio solo con el teclado.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49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PRÁCTICA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Compruébalo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sitio completo, publicado, en escritorio y en el celular.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618074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6" name="Image 0" descr="/tmp/claude-0/-home-user-sesiones-dagner/2613c8c1-437c-54f4-94d9-b62c29473bbd/scratchpad/deck/img/s15-p-ind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688336"/>
            <a:ext cx="5471770" cy="34198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840591" y="2615184"/>
            <a:ext cx="1726569" cy="3566160"/>
          </a:xfrm>
          <a:prstGeom prst="roundRect">
            <a:avLst>
              <a:gd name="adj" fmla="val 5296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8" name="Image 1" descr="La página de inicio en un celul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3743" y="2688336"/>
            <a:ext cx="1580265" cy="34198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49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entregas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portafolio reúne todo el curso. Se entrega publicado, con su diseño en Figma.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3721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44752" y="2843784"/>
            <a:ext cx="44119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dirección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83280"/>
            <a:ext cx="48234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https://tu-nombre.netlify.app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 las cinco páginas, la 404 y la de gracias.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95060" y="2615184"/>
            <a:ext cx="53721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194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194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999732" y="2843784"/>
            <a:ext cx="44119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Figma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69380" y="3383280"/>
            <a:ext cx="48234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enlace con permiso </a:t>
            </a:r>
            <a:pPr algn="l" indent="0" marL="0">
              <a:buNone/>
            </a:pPr>
            <a:r>
              <a:rPr lang="en-US" sz="115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ver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197096"/>
            <a:ext cx="53721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6968" y="4425696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86968" y="4425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444752" y="4425696"/>
            <a:ext cx="44119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carpeta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965192"/>
            <a:ext cx="48234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.zip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 el nombre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apellido-nombre-portafolio.zip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95060" y="4197096"/>
            <a:ext cx="53721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1948" y="4425696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1948" y="4425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999732" y="4425696"/>
            <a:ext cx="44119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69380" y="4965192"/>
            <a:ext cx="48234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captura de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publicado, en modo Mobile, con las cuatro notas.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989320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fecha y el lugar de entrega los indica tu docente en el Aula Virtual.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49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califica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criterios, 20 puntos.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58775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3520440" y="2587752"/>
            <a:ext cx="7452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Logrado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0972800" y="258775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10927080" cy="429768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834640"/>
            <a:ext cx="2514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834640"/>
            <a:ext cx="7315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semántico, un solo h1 y las siete páginas sin errores en el validador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0" y="2834640"/>
            <a:ext cx="685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328416"/>
            <a:ext cx="10927080" cy="429768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328416"/>
            <a:ext cx="2514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Fidelidad al diseño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3328416"/>
            <a:ext cx="7315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Colores, letra, medidas y espacios iguales a Figma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0" y="3328416"/>
            <a:ext cx="685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822192"/>
            <a:ext cx="10927080" cy="429768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822192"/>
            <a:ext cx="2514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adaptable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3822192"/>
            <a:ext cx="7315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390, 820 y 1440 px sin barra horizontal ni imágenes deformadas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0" y="3822192"/>
            <a:ext cx="685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315968"/>
            <a:ext cx="10927080" cy="429768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4315968"/>
            <a:ext cx="2514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520440" y="4315968"/>
            <a:ext cx="7315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Hover, transiciones, acordeón y ventana; con mouse y con teclado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0" y="4315968"/>
            <a:ext cx="685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809744"/>
            <a:ext cx="10927080" cy="429768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" y="4809744"/>
            <a:ext cx="2514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 y pruebas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520440" y="4809744"/>
            <a:ext cx="7315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alt, foco visible, saltar al contenido, aria-current; Lighthouse 90+ en Accesibilidad y SEO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0" y="4809744"/>
            <a:ext cx="685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303520"/>
            <a:ext cx="10927080" cy="429768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8680" y="5303520"/>
            <a:ext cx="2514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520440" y="5303520"/>
            <a:ext cx="7315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Netlify, enlaces, 404 propia, formulario que guarda, icono y vista previa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0" y="5303520"/>
            <a:ext cx="685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5797296"/>
            <a:ext cx="10927080" cy="429768"/>
          </a:xfrm>
          <a:prstGeom prst="roundRect">
            <a:avLst>
              <a:gd name="adj" fmla="val 21277"/>
            </a:avLst>
          </a:prstGeom>
          <a:solidFill>
            <a:srgbClr val="E6F8FA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68680" y="5797296"/>
            <a:ext cx="2514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3520440" y="5797296"/>
            <a:ext cx="7315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35" name="Text 33"/>
          <p:cNvSpPr txBox="1"/>
          <p:nvPr/>
        </p:nvSpPr>
        <p:spPr>
          <a:xfrm>
            <a:off x="10972800" y="5797296"/>
            <a:ext cx="685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49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1517904"/>
            <a:ext cx="5120640" cy="1024128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1517904"/>
            <a:ext cx="4206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· Codificar con IA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28346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EXTRA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46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bloque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36576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36576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fórmula del buen prompt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420624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42062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42062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 prompt y buen prompt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75488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7548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7548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de hoy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530352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53035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530352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con IA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1234440"/>
            <a:ext cx="5166360" cy="5257800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pic>
        <p:nvPicPr>
          <p:cNvPr id="19" name="Image 0" descr="Persona programando frente a un 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362456"/>
            <a:ext cx="4892040" cy="50017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49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· IA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fórmula del buen prompt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con ChatGPT, Gemini, Claude o Copilot. Escríbelo en español y en un solo mensaje.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4475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debe ser la IA. Actúa como docente de CSS que explica a principiantes.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028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028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4807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tienes y qué usas. Mi portafolio usa HTML y CSS propio, con variables en </a:t>
            </a:r>
            <a:pPr algn="l" indent="0" marL="0">
              <a:buNone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</a:t>
            </a:r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Este es mi código: …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360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9360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85139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cosa, concreta. Escribe la regla </a:t>
            </a:r>
            <a:pPr algn="l" indent="0" marL="0">
              <a:buNone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:hover</a:t>
            </a:r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botón </a:t>
            </a:r>
            <a:pPr algn="l" indent="0" marL="0">
              <a:buNone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.btn-primary</a:t>
            </a:r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696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44475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debe hacer. Usa mis variables, no cambies el HTML y no uses JavaScript.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4340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028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9028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14807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61772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quieres la respuesta. Solo el CSS y una línea de explicación por propiedad.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4672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9360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9360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85139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la respuesta en el validador, en el navegador y contra tu Figma antes de usarla.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49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· IA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 prompt y buen prompt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15 · Proyecto integrador: pruebas y despliegue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3246120" cy="2377440"/>
          </a:xfrm>
          <a:prstGeom prst="roundRect">
            <a:avLst>
              <a:gd name="adj" fmla="val 3846"/>
            </a:avLst>
          </a:prstGeom>
          <a:solidFill>
            <a:srgbClr val="FDECEC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432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no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154680"/>
            <a:ext cx="2834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«Revisa mi página.»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69080" y="2615184"/>
            <a:ext cx="7498080" cy="2377440"/>
          </a:xfrm>
          <a:prstGeom prst="roundRect">
            <a:avLst>
              <a:gd name="adj" fmla="val 3846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97680" y="2779776"/>
            <a:ext cx="704088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Actúa como auditor de accesibilidad web. Revisa este HTML de mi portafolio: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[pega index.html]. Lista hasta 8 problemas ordenados de más a menos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importante, con la línea, por qué afecta a una persona y el cambio mínimo.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reescribas la página completa.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0698480" y="26517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DD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SÍ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5138928"/>
            <a:ext cx="3520440" cy="960120"/>
          </a:xfrm>
          <a:prstGeom prst="roundRect">
            <a:avLst>
              <a:gd name="adj" fmla="val 9524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5422392"/>
            <a:ext cx="384048" cy="3840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5422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5138928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 un rol con un criterio claro: la accesibilidad.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43400" y="5138928"/>
            <a:ext cx="3520440" cy="960120"/>
          </a:xfrm>
          <a:prstGeom prst="roundRect">
            <a:avLst>
              <a:gd name="adj" fmla="val 9524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44568" y="5422392"/>
            <a:ext cx="384048" cy="3840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44568" y="5422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074920" y="5138928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 la respuesta y pide prioridades.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5138928"/>
            <a:ext cx="3520440" cy="960120"/>
          </a:xfrm>
          <a:prstGeom prst="roundRect">
            <a:avLst>
              <a:gd name="adj" fmla="val 9524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47888" y="5422392"/>
            <a:ext cx="384048" cy="3840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47888" y="5422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778240" y="5138928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deja hacer y entender los cambios.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49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· IA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de hoy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lo que está entre corchetes por tu código. Los prompts completos están en la guía Extra de IA.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109270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61518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&lt;head&gt; completo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2615184"/>
            <a:ext cx="7726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el &lt;head&gt; de sobre-mi.html con el &lt;title&gt; "Sobre mí · Dagner Chuman", una description de unos 150 caracteres, el favicon, el apple-touch-icon…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3438144"/>
            <a:ext cx="109270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43814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del validador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3438144"/>
            <a:ext cx="7726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validador del W3C me da este error: [pega el mensaje] en este fragmento: [pega 10 líneas]. Explícame qué significa y cómo lo corrijo.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4261104"/>
            <a:ext cx="109270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426110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contraste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4261104"/>
            <a:ext cx="7726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marca que el texto de este botón no tiene contraste suficiente: [pega el HTML y el CSS]. Propón dos colores que pasen 4.5 a 1 y calcula el…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5084064"/>
            <a:ext cx="109270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508406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Forms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5084064"/>
            <a:ext cx="7726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formulario de contacto debe guardar los mensajes en Netlify y llevar a /gracias.html. Revisa este &lt;form&gt; [pega] y dime qué atributos faltan.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49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· IA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con IA y la revisión final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propone; tú decides con el manual y la guía de la sesión.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3492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con IA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3182112"/>
            <a:ext cx="47274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final con IA: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Antes de compartir, usa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layers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los marcos que todavía digan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Rectangle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y revisa que respeten los nombres del manual.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para compartir: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image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genera una ilustración a partir de una frase. Si la usas en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og-portafolio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cuida que no tape el título y que siga tus colores.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de IA en Figma: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asistente de IA conectado a Figma (por ejemplo, con el servidor MCP de Figma) puede leer y construir diseños. El archivo de muestra «Mi portafolio (Copia) ·…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615184"/>
            <a:ext cx="5349240" cy="2743200"/>
          </a:xfrm>
          <a:prstGeom prst="roundRect">
            <a:avLst>
              <a:gd name="adj" fmla="val 3333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2881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usar lo que te dio la IA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28816" y="3182112"/>
            <a:ext cx="47274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pegaste contraseñas, tokens ni datos de tus compañeros.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direcciones que escribió la IA son las de tu sitio.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HTML corregido pasa el validador.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Probaste el sitio publicado, no solo en tu computadora.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5486400"/>
            <a:ext cx="10927080" cy="621792"/>
          </a:xfrm>
          <a:prstGeom prst="roundRect">
            <a:avLst>
              <a:gd name="adj" fmla="val 14706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0976" y="5486400"/>
            <a:ext cx="10305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bitácora de prompts: </a:t>
            </a:r>
            <a:pPr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 el prompt, lo que te dio, lo que corregiste y cómo lo comprobaste. Va en tu proyecto integrador.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49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ivelador: nivel de comprensión del estudia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49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NIVELADOR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mentalmente cada punto. Si dudas en alguno, pregunta ahora.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883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0" y="26151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Valido mis páginas y mis hojas en los validadores del W3C.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0723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1455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30723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por qué una imagen se ve en mi computadora y no en Netlify.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5295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6027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71600" y="35295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página tiene su propio título y su descripción.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867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0599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371600" y="39867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qué hacen las etiquetas og: y por qué og:image lleva https://.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4439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5171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371600" y="44439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Tab muestra «Saltar al contenido».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9011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9743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371600" y="49011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la página actual con aria-current="page".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3583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54315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371600" y="53583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por qué la 404 usa rutas que empiezan con /.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58155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58887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371600" y="58155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formulario guarda los mensajes en Netlify.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49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NIVELADOR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de consultas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parte quedó menos clara?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724912"/>
            <a:ext cx="2633472" cy="1892808"/>
          </a:xfrm>
          <a:prstGeom prst="roundRect">
            <a:avLst>
              <a:gd name="adj" fmla="val 483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98094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¿Sin estilos?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56432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404 se ve en blanco y negro.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0712" y="2724912"/>
            <a:ext cx="2633472" cy="1892808"/>
          </a:xfrm>
          <a:prstGeom prst="roundRect">
            <a:avLst>
              <a:gd name="adj" fmla="val 483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93592" y="298094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¿Sin mensajes?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39312" y="3456432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el formulario y Forms está vacío.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81344" y="2724912"/>
            <a:ext cx="2633472" cy="1892808"/>
          </a:xfrm>
          <a:prstGeom prst="roundRect">
            <a:avLst>
              <a:gd name="adj" fmla="val 483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64224" y="298094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¿Sin imagen?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9944" y="3456432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no muestra la vista previa.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51976" y="2724912"/>
            <a:ext cx="2633472" cy="1892808"/>
          </a:xfrm>
          <a:prstGeom prst="roundRect">
            <a:avLst>
              <a:gd name="adj" fmla="val 483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34856" y="298094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¿Page not found?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180576" y="3456432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no encuentra mi página de inicio.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55464"/>
            <a:ext cx="1092708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50976" y="5010912"/>
            <a:ext cx="10305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algo falla solo en Netlify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50976" y="5376672"/>
            <a:ext cx="1030528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en este orden: mayúsculas y tildes en los nombres de archivo, que 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esté en la raíz de lo que subiste, las rutas con 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404 y que la detección de formularios esté activa antes de publicar.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49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uncional: aplicar lo aprendi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49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de la sesión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parte del 40 % de participación en clases [P].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349240" cy="3410712"/>
          </a:xfrm>
          <a:prstGeom prst="roundRect">
            <a:avLst>
              <a:gd name="adj" fmla="val 268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3182112"/>
            <a:ext cx="4727448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el &lt;head&gt; de las cinco páginas: título, descripción, iconos y og:.</a:t>
            </a:r>
            <a:endParaRPr lang="en-US" sz="11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«Saltar al contenido» y aria-current en el menú y el pie.</a:t>
            </a:r>
            <a:endParaRPr lang="en-US" sz="11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404.html y gracias.html; conecta los dos formularios con Netlify.</a:t>
            </a:r>
            <a:endParaRPr lang="en-US" sz="11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Figma: revisa los nombres y exporta el icono y la vista previa.</a:t>
            </a:r>
            <a:endParaRPr lang="en-US" sz="11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Publica, prueba el formulario y mide con Lighthouse.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2615184"/>
            <a:ext cx="5349240" cy="3410712"/>
          </a:xfrm>
          <a:prstGeom prst="roundRect">
            <a:avLst>
              <a:gd name="adj" fmla="val 268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28816" y="281635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Indicaciones de entrega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0" y="3328416"/>
            <a:ext cx="384048" cy="3840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332841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el proyecto integrador: dirección, Figma, .zip y captura.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0" y="3968496"/>
            <a:ext cx="384048" cy="3840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396849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Subirlo al Aula Virtual en la fecha que indica tu docente.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4608576"/>
            <a:ext cx="384048" cy="3840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4608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460857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envío es obligatorio dentro del plazo establecido.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0" y="5248656"/>
            <a:ext cx="384048" cy="3840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0" y="5248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524865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 en ClassDojo como participación en clase.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49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rientador: conclusión del te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49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clave de la sesión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5528" y="2697480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2651760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entregar: validadores, enlaces, imágenes, teclado, pantallas y Lighthouse.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95528" y="3136392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5528" y="3136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3090672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distingue mayúsculas: nombres en minúsculas, con guiones, sin tildes.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528" y="3575304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3575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529584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página tiene su </a:t>
            </a:r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&lt;title&gt;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su </a:t>
            </a:r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5528" y="4014216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3968496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icono va con </a:t>
            </a:r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rel="icon"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rel="apple-touch-icon"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la tarjeta, con </a:t>
            </a:r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og: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5528" y="4453128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" y="4453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407408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og:image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og:url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llevan la dirección completa.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5528" y="4892040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5528" y="4892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353312" y="4846320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«Saltar al contenido» y </a:t>
            </a:r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aria-current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hacen el sitio usable con el teclado.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95528" y="5330952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5528" y="5330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353312" y="5285232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404 usa rutas desde la raíz, con </a:t>
            </a:r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y </a:t>
            </a:r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noindex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95528" y="5769864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5528" y="5769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353312" y="5724144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Forms guarda los mensajes con </a:t>
            </a:r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data-netlify="true"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un </a:t>
            </a:r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campo.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49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dónde vamos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curso termina. Lo que viene.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051560" y="3895344"/>
            <a:ext cx="10104120" cy="0"/>
          </a:xfrm>
          <a:prstGeom prst="line">
            <a:avLst/>
          </a:prstGeom>
          <a:noFill/>
          <a:ln w="3175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36851" y="3817620"/>
            <a:ext cx="155448" cy="1554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962656"/>
            <a:ext cx="25260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218688"/>
            <a:ext cx="2526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4133088"/>
            <a:ext cx="23431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y su sistema de grillas.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62881" y="3817620"/>
            <a:ext cx="155448" cy="1554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77590" y="2962656"/>
            <a:ext cx="25260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14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577590" y="3218688"/>
            <a:ext cx="2526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69030" y="4133088"/>
            <a:ext cx="23431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Componentes, utilidades y tema.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247763" y="3776472"/>
            <a:ext cx="237744" cy="23774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03620" y="2962656"/>
            <a:ext cx="25260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15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103620" y="3218688"/>
            <a:ext cx="2526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195060" y="4133088"/>
            <a:ext cx="23431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 despliegue.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814941" y="3817620"/>
            <a:ext cx="155448" cy="1554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29650" y="2962656"/>
            <a:ext cx="25260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8629650" y="3218688"/>
            <a:ext cx="2526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721090" y="4133088"/>
            <a:ext cx="23431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final en el Aula Virtual (30 %).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5340096"/>
            <a:ext cx="10927080" cy="694944"/>
          </a:xfrm>
          <a:prstGeom prst="roundRect">
            <a:avLst>
              <a:gd name="adj" fmla="val 13158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50976" y="5340096"/>
            <a:ext cx="103052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sesión 16: el examen final evalúa las sesiones 1 a 16 en el Aula Virtual. Repasa las guías y resuelve el simulacro.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18134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Dagner Anibal Chuman Lluen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/ 49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Centro de Informática USS · Protech XP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15 · Proyecto integrador: pruebas y despliegue</dc:title>
  <dc:subject>Curso de Diseño Web</dc:subject>
  <dc:creator>Ing. Dagner Anibal Chuman Lluen</dc:creator>
  <cp:lastModifiedBy>Ing. Dagner Anibal Chuman Lluen</cp:lastModifiedBy>
  <cp:revision>1</cp:revision>
  <dcterms:created xsi:type="dcterms:W3CDTF">2026-10-09T15:36:01Z</dcterms:created>
  <dcterms:modified xsi:type="dcterms:W3CDTF">2026-10-09T15:36:01Z</dcterms:modified>
</cp:coreProperties>
</file>