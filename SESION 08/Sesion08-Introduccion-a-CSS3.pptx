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5302bdd0-dba7-53e7-af1e-826ab1121f24}">
          <p14:sldIdLst>
            <p14:sldId id="256"/>
            <p14:sldId id="257"/>
            <p14:sldId id="258"/>
            <p14:sldId id="259"/>
          </p14:sldIdLst>
        </p14:section>
        <p14:section name="Conceptual" id="{8eda1c05-c863-bfdc-e7cf-9c1cc2f49a20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Instrumental" id="{f7638fe1-20b3-e55d-e6b1-dee4108b47fc}">
          <p14:sldIdLst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</p14:sldIdLst>
        </p14:section>
        <p14:section name="Nivelador" id="{b74e8cf9-01a3-8c45-2956-5557016adcdb}">
          <p14:sldIdLst>
            <p14:sldId id="296"/>
            <p14:sldId id="297"/>
            <p14:sldId id="298"/>
          </p14:sldIdLst>
        </p14:section>
        <p14:section name="Funcional" id="{17e48fb1-f906-dad9-2016-aed4c42aa5bd}">
          <p14:sldIdLst>
            <p14:sldId id="299"/>
            <p14:sldId id="300"/>
          </p14:sldIdLst>
        </p14:section>
        <p14:section name="Orientador" id="{3dc9ac69-64cc-8b65-859d-220da44020c0}">
          <p14:sldIdLst>
            <p14:sldId id="301"/>
            <p14:sldId id="302"/>
            <p14:sldId id="30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Preguntas de arranque: ¿por qué todas las páginas de un sitio se parecen entre sí? ¿Dónde creen que está guardado ese aspecto?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 minutos para el bloque de Figma: unos 25 para avanzar en los Pasos 10 al 14 con la Guía de Figma y 15 para el diccionario y la lectura de medidas.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Unos 15 minutos para el diccionario y las dos tablas siguientes. Proyectar Figma con la capa Header seleccionada e ir señalando cada control mientras se lee la fila correspondiente.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Crear assets/css/global.css. Tras cada bloque, guardar y mirar el navegador: primero cambia la fuente, luego desaparecen los márgenes, luego el fondo. Enlazar el archivo antes de empezar para ver cada cambio.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display: flex aparece aquí como anticipo. No detenerse a explicarlo: se estudia en la sesión 10. Lo importante hoy es leer cada selector en voz alta antes de escribirlo.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jp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jp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jp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jp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jp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9-1.jpg"/><Relationship Id="rId2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0-1.jpg"/><Relationship Id="rId2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1-1.jpg"/><Relationship Id="rId2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2-1.jpg"/><Relationship Id="rId2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3-1.jp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rabajo/plantilla/assets/portada-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4630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EPTU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rabajo/plantilla/assets/band-conceptu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EPTUAL_LIB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rabajo/plantilla/assets/band-conceptu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TRUMENT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rabajo/plantilla/assets/band-instrument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TRUMENTAL_LIB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rabajo/plantilla/assets/band-instrument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VELADO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rabajo/plantilla/assets/band-nivelado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VELADOR_LIB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rabajo/plantilla/assets/band-nivelado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NCION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rabajo/plantilla/assets/band-funcion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NCIONAL_LIB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rabajo/plantilla/assets/band-funcion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RIENTADO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rabajo/plantilla/assets/band-orientado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RIENTADOR_LIB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rabajo/plantilla/assets/band-orientado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ndicador de espe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0368" y="1737360"/>
            <a:ext cx="1737360" cy="1737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127248" y="3639312"/>
            <a:ext cx="5943600" cy="841248"/>
          </a:xfrm>
          <a:prstGeom prst="roundRect">
            <a:avLst>
              <a:gd name="adj" fmla="val 50000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127248" y="3639312"/>
            <a:ext cx="5943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ESPERANDO A LOS COMPAÑEROS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4700016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08 · comenzamos en unos minutos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5120640"/>
            <a:ext cx="9445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tu carpeta mi-portafolio en Visual Studio Code y tu archivo de Figma corregido. Hoy tu portafolio recibe sus primeros estilos.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718304" y="5861304"/>
            <a:ext cx="2761488" cy="4663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718304" y="5861304"/>
            <a:ext cx="27614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DISEÑO WEB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48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0482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DISEÑO WEB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432304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CSS3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85800" y="356616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35661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08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26110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Sintaxis · selectores · unidades de medida · herencia y cascada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80974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508406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Dagner Anibal Chuman Lluen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366760" y="2286000"/>
            <a:ext cx="3200400" cy="1600200"/>
          </a:xfrm>
          <a:prstGeom prst="roundRect">
            <a:avLst>
              <a:gd name="adj" fmla="val 5714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0" y="2450592"/>
            <a:ext cx="274320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#06B6C4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font-size: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2rem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48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¿Cómo te sientes hoy?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48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¿Qué es CINFO? Conceptual, Instrumental, Nivelador, Funcional y Orientad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48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nceptual: conocimientos previos y definiciones cla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48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dónde venimos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portafolio tiene toda su estructura y su contenido. Le falta el aspecto que diseñaste en Figma.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" y="2816352"/>
            <a:ext cx="4727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tienes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3182112"/>
            <a:ext cx="4727448" cy="1232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páginas HTML con estructura semántica.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de contacto, video, audio y controles propios.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Figma, la cabecera corregida y el Hero diseñado.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2615184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28816" y="2816352"/>
            <a:ext cx="4727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sumas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28816" y="3182112"/>
            <a:ext cx="4727448" cy="1232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reglas CSS y conectarlas con link.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el selector y la unidad adecuados.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 las medidas de Figma a declaraciones CSS.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736592"/>
            <a:ext cx="10927080" cy="1298448"/>
          </a:xfrm>
          <a:prstGeom prst="roundRect">
            <a:avLst>
              <a:gd name="adj" fmla="val 7042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0976" y="4937760"/>
            <a:ext cx="10305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hace distinta a esta sesión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50976" y="5303520"/>
            <a:ext cx="10305288" cy="610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hoy tu HTML decía qué es cada cosa. Desde hoy el CSS dice cómo se ve. Van en archivos distintos por una razón: puedes cambiar todo el aspecto del sitio sin tocar una sola etiqueta.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48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LOGROS DE APRENDIZAJE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vas a lograr hoy?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615184"/>
            <a:ext cx="109270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2670048"/>
            <a:ext cx="512064" cy="51206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2670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615184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2615184"/>
            <a:ext cx="7178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Enlazar hojas de estilo externas en el orden correcto.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319272"/>
            <a:ext cx="109270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8408" y="3374136"/>
            <a:ext cx="512064" cy="51206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78408" y="33741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31927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3319272"/>
            <a:ext cx="7178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Apuntar a la etiqueta exacta con selectores de tipo, clase, atributo y combinadores.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109270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8408" y="4078224"/>
            <a:ext cx="512064" cy="51206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78408" y="40782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02336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4023360"/>
            <a:ext cx="7178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entre px, rem, em y % según el caso.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727448"/>
            <a:ext cx="109270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8408" y="4782312"/>
            <a:ext cx="512064" cy="51206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8408" y="47823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691640" y="472744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Predecir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114800" y="4727448"/>
            <a:ext cx="7178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qué regla gana por cascada, especificidad y herencia.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431536"/>
            <a:ext cx="109270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78408" y="5486400"/>
            <a:ext cx="512064" cy="51206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78408" y="5486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691640" y="5431536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Traducir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114800" y="5431536"/>
            <a:ext cx="7178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una medida en Figma y escribirla como declaración CSS.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48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reparten las 4 horas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615184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651760"/>
            <a:ext cx="384048" cy="3840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664208" y="261518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CSS y cómo se conecta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202936" y="261518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formas de aplicar estilos y un archivo por función.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195560" y="261518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129077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3165653"/>
            <a:ext cx="384048" cy="3840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316565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664208" y="3129077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Sintaxis y selectores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202936" y="3129077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Reglas, declaraciones y cómo apuntar a cada etiqueta.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195560" y="3129077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642970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3679546"/>
            <a:ext cx="384048" cy="3840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0120" y="367954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664208" y="364297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de medida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202936" y="364297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px, rem, em, porcentaje y colores.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195560" y="364297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156862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" y="4193438"/>
            <a:ext cx="384048" cy="3840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0120" y="419343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664208" y="415686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Cascada y herencia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202936" y="415686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regla gana y qué pasa de padres a hijos.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195560" y="415686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670755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0120" y="4707331"/>
            <a:ext cx="384048" cy="384048"/>
          </a:xfrm>
          <a:prstGeom prst="ellipse">
            <a:avLst/>
          </a:prstGeom>
          <a:solidFill>
            <a:srgbClr val="5F676C"/>
          </a:solidFill>
          <a:ln w="12700">
            <a:solidFill>
              <a:srgbClr val="5F676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60120" y="470733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664208" y="4670755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Descanso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0195560" y="4670755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" y="5184648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0120" y="5221224"/>
            <a:ext cx="384048" cy="3840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60120" y="5221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1664208" y="518464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Figma: completa y lee tu diseño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5202936" y="518464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 10 al 14 del manual y el diccionario de Figma a CSS.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0195560" y="518464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" y="5698541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0120" y="5735117"/>
            <a:ext cx="384048" cy="3840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60120" y="573511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1664208" y="5698541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diseño al código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5202936" y="5698541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global.css, header.css y contenido.css en tu portafolio.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10195560" y="5698541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48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1517904"/>
            <a:ext cx="5349240" cy="1024128"/>
          </a:xfrm>
          <a:prstGeom prst="roundRect">
            <a:avLst>
              <a:gd name="adj" fmla="val 50000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1517904"/>
            <a:ext cx="42976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CSS y cómo se conecta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28346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01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3467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bloque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365760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365760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365760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y presentación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420624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420624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481328" y="420624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formas de aplicar CSS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75488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475488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475488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etiqueta link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530352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530352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530352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archivo por función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585216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96112" y="585216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481328" y="585216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orden de los archivos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66560" y="1234440"/>
            <a:ext cx="5166360" cy="5257800"/>
          </a:xfrm>
          <a:prstGeom prst="roundRect">
            <a:avLst>
              <a:gd name="adj" fmla="val 212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pic>
        <p:nvPicPr>
          <p:cNvPr id="22" name="Image 0" descr="Persona programando frente a un moni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03720" y="1362456"/>
            <a:ext cx="4892040" cy="5001768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48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QUÉ ES CSS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HTML, con y sin CSS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dice qué es cada cosa. CSS dice cómo se ve.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349240" cy="3099816"/>
          </a:xfrm>
          <a:prstGeom prst="roundRect">
            <a:avLst>
              <a:gd name="adj" fmla="val 2360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6" name="Image 0" descr="Sin CSS: solo la estructu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660904"/>
            <a:ext cx="5257800" cy="295717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5797296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CSS: solo la estructura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17920" y="2615184"/>
            <a:ext cx="5349240" cy="3099816"/>
          </a:xfrm>
          <a:prstGeom prst="roundRect">
            <a:avLst>
              <a:gd name="adj" fmla="val 2360"/>
            </a:avLst>
          </a:prstGeom>
          <a:solidFill>
            <a:srgbClr val="FFFFFF"/>
          </a:solidFill>
          <a:ln w="19050">
            <a:solidFill>
              <a:srgbClr val="177E89"/>
            </a:solidFill>
            <a:prstDash val="solid"/>
          </a:ln>
        </p:spPr>
      </p:sp>
      <p:pic>
        <p:nvPicPr>
          <p:cNvPr id="9" name="Image 1" descr="Con CSS: el diseño de Figm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660904"/>
            <a:ext cx="5257800" cy="295717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217920" y="5797296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CSS: el diseño de Figma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48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QUÉ ES CSS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formas de aplicar CSS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funcionan. Solo una se mantiene bien cuando el sitio crece.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2761488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4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línea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3163824"/>
            <a:ext cx="3063240" cy="914400"/>
          </a:xfrm>
          <a:prstGeom prst="roundRect">
            <a:avLst>
              <a:gd name="adj" fmla="val 10000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3328416"/>
            <a:ext cx="2606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 style="color: red"&gt;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Hola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&lt;/p&gt;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4187952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atributo style de cada etiqueta. Mezcla contenido y presentación, y no se reutiliza.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4974336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4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Evítala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43400" y="2615184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9432" y="2761488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0" y="3163824"/>
            <a:ext cx="3063240" cy="914400"/>
          </a:xfrm>
          <a:prstGeom prst="roundRect">
            <a:avLst>
              <a:gd name="adj" fmla="val 10000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0600" y="3328416"/>
            <a:ext cx="2606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&lt;style&gt;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 { color: red; }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&lt;/style&gt;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99432" y="4187952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etiqueta style dentro del head. Solo sirve para esa página.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99432" y="4974336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para pruebas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46720" y="2615184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02752" y="2761488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275320" y="3163824"/>
            <a:ext cx="3063240" cy="914400"/>
          </a:xfrm>
          <a:prstGeom prst="roundRect">
            <a:avLst>
              <a:gd name="adj" fmla="val 10000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03920" y="3328416"/>
            <a:ext cx="2606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&lt;link rel="stylesheet"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href="assets/css/global.css"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302752" y="4187952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archivo .css aparte. Un mismo archivo da estilo a todas las páginas.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302752" y="4974336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 usamos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5559552"/>
            <a:ext cx="109270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50976" y="5559552"/>
            <a:ext cx="10305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oro del curso: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estilos van en archivos .css organizados por función. Nada de style="…" dentro de las etiquetas.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48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QUÉ ES CSS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&lt;link&gt;: conectar la hoja de estilos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dentro del &lt;head&gt;, una línea por cada archivo.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6400800" cy="2514600"/>
          </a:xfrm>
          <a:prstGeom prst="roundRect">
            <a:avLst>
              <a:gd name="adj" fmla="val 3636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779776"/>
            <a:ext cx="5943600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…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&lt;!-- 1. Tokens y Reset Global --&gt;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&lt;link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rel="stylesheet" href="assets/css/global.css" /&gt;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&lt;!-- 2. Componentes comunes (Header / Footer) --&gt;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&lt;link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rel="stylesheet" href="assets/css/header.css" /&gt;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&lt;!-- 3. Estilos específicos de esta página --&gt;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&lt;link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rel="stylesheet" href="assets/css/index.css" /&gt;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223760" y="2615184"/>
            <a:ext cx="4343400" cy="740664"/>
          </a:xfrm>
          <a:prstGeom prst="roundRect">
            <a:avLst>
              <a:gd name="adj" fmla="val 12346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0" y="2615184"/>
            <a:ext cx="16002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rel="stylesheet"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098280" y="2615184"/>
            <a:ext cx="21945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que el archivo enlazado es una hoja de estilos.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223760" y="3502152"/>
            <a:ext cx="4343400" cy="740664"/>
          </a:xfrm>
          <a:prstGeom prst="roundRect">
            <a:avLst>
              <a:gd name="adj" fmla="val 12346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0" y="3502152"/>
            <a:ext cx="16002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href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098280" y="3502152"/>
            <a:ext cx="21945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ruta del archivo: relativa, como las de tus imágenes.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223760" y="4389120"/>
            <a:ext cx="4343400" cy="740664"/>
          </a:xfrm>
          <a:prstGeom prst="roundRect">
            <a:avLst>
              <a:gd name="adj" fmla="val 12346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0" y="4389120"/>
            <a:ext cx="16002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orden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098280" y="4389120"/>
            <a:ext cx="21945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 general a lo particular. La razón está en la cascada.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5358384"/>
            <a:ext cx="10927080" cy="676656"/>
          </a:xfrm>
          <a:prstGeom prst="roundRect">
            <a:avLst>
              <a:gd name="adj" fmla="val 13514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0976" y="5358384"/>
            <a:ext cx="103052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se aplica ningún estilo: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siempre es la ruta del href. Compruébala en DevTools › Network: el archivo .css debe responder 200, no 404.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48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QUÉ ES CSS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archivo por función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página carga solo lo que necesita.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4023360" cy="3419856"/>
          </a:xfrm>
          <a:prstGeom prst="roundRect">
            <a:avLst>
              <a:gd name="adj" fmla="val 2674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779776"/>
            <a:ext cx="356616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mi-portafolio-dagner/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assets/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css/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global.css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header.css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index.css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contenido.css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img/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js/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media/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index.html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sobre-mi.html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mis-proyectos.html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contactame.html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92040" y="2615184"/>
            <a:ext cx="66751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166360" y="2615184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global.css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2615184"/>
            <a:ext cx="2401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Tokens, fuentes y reset.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076334" y="2615184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442094" y="2615184"/>
            <a:ext cx="18964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páginas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92040" y="3264408"/>
            <a:ext cx="66751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66360" y="3264408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header.css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3264408"/>
            <a:ext cx="2401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Cabecera y pie de página.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076334" y="3264408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442094" y="3264408"/>
            <a:ext cx="18964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páginas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92040" y="3913632"/>
            <a:ext cx="66751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66360" y="391363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index.css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3913632"/>
            <a:ext cx="2401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Section.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9076334" y="3913632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442094" y="3913632"/>
            <a:ext cx="18964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Inicio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92040" y="4562856"/>
            <a:ext cx="66751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166360" y="4562856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contenido.css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675120" y="4562856"/>
            <a:ext cx="2401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las páginas interiores.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076334" y="4562856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442094" y="4562856"/>
            <a:ext cx="18964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mí, Proyectos, Contacto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92040" y="5285232"/>
            <a:ext cx="6675120" cy="749808"/>
          </a:xfrm>
          <a:prstGeom prst="roundRect">
            <a:avLst>
              <a:gd name="adj" fmla="val 12195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202936" y="5394960"/>
            <a:ext cx="6053328" cy="574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Figma, cada archivo sale de unas capas: header.css de Header y footer-wrapper, index.css de hero-section, y contenido.css de las tres secciones.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48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1517904"/>
            <a:ext cx="5349240" cy="1024128"/>
          </a:xfrm>
          <a:prstGeom prst="roundRect">
            <a:avLst>
              <a:gd name="adj" fmla="val 50000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1517904"/>
            <a:ext cx="42976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Sintaxis y selectores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28346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02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3467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bloque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365760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365760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365760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de una regla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420624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420624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481328" y="420624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Selectores básicos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75488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475488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475488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o id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530352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530352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530352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 y combinadores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585216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96112" y="585216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481328" y="585216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Pseudo-clases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66560" y="1234440"/>
            <a:ext cx="5166360" cy="5257800"/>
          </a:xfrm>
          <a:prstGeom prst="roundRect">
            <a:avLst>
              <a:gd name="adj" fmla="val 212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pic>
        <p:nvPicPr>
          <p:cNvPr id="22" name="Image 0" descr="Persona programando frente a un moni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03720" y="1362456"/>
            <a:ext cx="4892040" cy="5001768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48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SINTAXIS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de una regla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selector y, entre llaves, una lista de declaraciones.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120640" cy="1783080"/>
          </a:xfrm>
          <a:prstGeom prst="roundRect">
            <a:avLst>
              <a:gd name="adj" fmla="val 5128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779776"/>
            <a:ext cx="466344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80px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background-color: #FFFFFF;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526280"/>
            <a:ext cx="5120640" cy="658368"/>
          </a:xfrm>
          <a:prstGeom prst="roundRect">
            <a:avLst>
              <a:gd name="adj" fmla="val 13889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469087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Así se escribe un comentario en CSS */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89320" y="2615184"/>
            <a:ext cx="5577840" cy="562356"/>
          </a:xfrm>
          <a:prstGeom prst="roundRect">
            <a:avLst>
              <a:gd name="adj" fmla="val 1626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2615184"/>
            <a:ext cx="132588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589520" y="2615184"/>
            <a:ext cx="370332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header: a qué etiquetas se aplica la regla.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89320" y="3284525"/>
            <a:ext cx="5577840" cy="562356"/>
          </a:xfrm>
          <a:prstGeom prst="roundRect">
            <a:avLst>
              <a:gd name="adj" fmla="val 1626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3284525"/>
            <a:ext cx="132588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589520" y="3284525"/>
            <a:ext cx="370332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height: la característica que cambias.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89320" y="3953866"/>
            <a:ext cx="5577840" cy="562356"/>
          </a:xfrm>
          <a:prstGeom prst="roundRect">
            <a:avLst>
              <a:gd name="adj" fmla="val 1626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63640" y="3953866"/>
            <a:ext cx="132588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589520" y="3953866"/>
            <a:ext cx="370332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80px: cuánto o cómo. Va después de los dos puntos.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89320" y="4623206"/>
            <a:ext cx="5577840" cy="562356"/>
          </a:xfrm>
          <a:prstGeom prst="roundRect">
            <a:avLst>
              <a:gd name="adj" fmla="val 1626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63640" y="4623206"/>
            <a:ext cx="132588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Declaración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589520" y="4623206"/>
            <a:ext cx="370332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 y valor juntos, cerrados con punto y coma.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5413248"/>
            <a:ext cx="109270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50976" y="5413248"/>
            <a:ext cx="10305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A84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frecuente: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olvidar un punto y coma. La declaración siguiente deja de funcionar y el navegador no avisa.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48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SINTAXIS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Selectores básicos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formas de decir a quién se aplica la regla.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109270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615184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468880" y="2615184"/>
            <a:ext cx="45884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Universal: todas las etiquetas.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057339" y="2615184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423099" y="2615184"/>
            <a:ext cx="391546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{ margin: 0; }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264408"/>
            <a:ext cx="109270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26440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3264408"/>
            <a:ext cx="45884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tipo: todas las etiquetas con ese nombre.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057339" y="3264408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423099" y="3264408"/>
            <a:ext cx="391546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 { line-height: 1.2; }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913632"/>
            <a:ext cx="109270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3913632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.btn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468880" y="3913632"/>
            <a:ext cx="45884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clase: las que tengan class="btn".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057339" y="3913632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423099" y="3913632"/>
            <a:ext cx="391546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.btn { font-weight: 600; }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562856"/>
            <a:ext cx="109270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456285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#tiempo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468880" y="4562856"/>
            <a:ext cx="45884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id: la única con id="tiempo".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057339" y="4562856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423099" y="4562856"/>
            <a:ext cx="391546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#tiempo { font-size: 14px; }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5212080"/>
            <a:ext cx="109270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" y="52120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h1, h2, h3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2468880" y="5212080"/>
            <a:ext cx="45884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Agrupado: varias a la vez, separadas por coma.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057339" y="5212080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423099" y="5212080"/>
            <a:ext cx="391546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h1, h2, h3 { color: #0B0F19; }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48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SINTAXIS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o id: cuál usar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se escriben en el HTML. Cambia cuántas veces pueden aparecer.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" y="2816352"/>
            <a:ext cx="4727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3182112"/>
            <a:ext cx="4727448" cy="1095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repite en todas las etiquetas que quieras.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etiqueta puede llevar varias, separadas por espacio.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CSS se escribe con punto: .btn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2615184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28816" y="2816352"/>
            <a:ext cx="4727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28816" y="3182112"/>
            <a:ext cx="4727448" cy="1095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único: una sola etiqueta por página.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usan los enlaces internos, las etiquetas label y JavaScript.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CSS se escribe con numeral: #tiempo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572000"/>
            <a:ext cx="10927080" cy="749808"/>
          </a:xfrm>
          <a:prstGeom prst="roundRect">
            <a:avLst>
              <a:gd name="adj" fmla="val 12195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4736592"/>
            <a:ext cx="10469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href="mis-proyectos.html" 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class="btn btn-primary"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&gt;Ver Proyectos&lt;/a&gt;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577840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dar estilo, usa clases. Los id que creaste en la sesión 07 siguen siendo para el script.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48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SINTAXIS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 y combinadores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cabecera tiene dos enlaces a Contacto. ¿Cómo le damos estilo solo al botón?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760720" cy="2514600"/>
          </a:xfrm>
          <a:prstGeom prst="roundRect">
            <a:avLst>
              <a:gd name="adj" fmla="val 3636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779776"/>
            <a:ext cx="5303520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&lt;header&gt;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&lt;h1&gt;&lt;a href="index.html"&gt;Dagner Chuman&lt;/a&gt;&lt;/h1&gt;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&lt;nav aria-label="Navegacion principal"&gt;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&lt;ul&gt;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&lt;li&gt;&lt;a href="contactame.html"&gt;Contacto&lt;/a&gt;&lt;/li&gt;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&lt;/ul&gt;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&lt;/nav&gt;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 href="contactame.html"&gt;Contacto&lt;/a&gt;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&lt;/header&gt;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629400" y="2615184"/>
            <a:ext cx="49377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0" y="268833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 h1 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296265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Descendiente (espacio): el enlace que está dentro del h1 de la cabecera, a cualquier profundidad.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629400" y="3483864"/>
            <a:ext cx="49377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0" y="355701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 &gt; a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383133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Hijo directo (&gt;): solo el enlace que cuelga de header. El del menú queda fuera.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629400" y="4352544"/>
            <a:ext cx="49377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0" y="442569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a[href="contactame.html"]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470001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atributo: los enlaces con ese valor exacto en href.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5303520"/>
            <a:ext cx="10927080" cy="731520"/>
          </a:xfrm>
          <a:prstGeom prst="roundRect">
            <a:avLst>
              <a:gd name="adj" fmla="val 12500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5468112"/>
            <a:ext cx="10469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 &gt; a[href="contactame.html"]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… }     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solo el botón de la derecha */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48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SINTAXIS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Pseudo-clases y pseudo-elementos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Seleccionan un estado o una parte de la etiqueta, no la etiqueta entera.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1092708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615184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:hover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2615184"/>
            <a:ext cx="43507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Pseudo-clase: mientras el cursor está encima.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276795" y="2615184"/>
            <a:ext cx="320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642555" y="2615184"/>
            <a:ext cx="369600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a:hover { color: #0B0F19; }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300984"/>
            <a:ext cx="1092708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300984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:root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3300984"/>
            <a:ext cx="43507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Pseudo-clase: la raíz del documento. Ahí viven tus variables.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276795" y="3300984"/>
            <a:ext cx="320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642555" y="3300984"/>
            <a:ext cx="369600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:root { --radius-sm: 8px; }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986784"/>
            <a:ext cx="1092708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3986784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::before  ::after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926080" y="3986784"/>
            <a:ext cx="43507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Pseudo-elementos: contenido que el CSS añade antes o después.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276795" y="3986784"/>
            <a:ext cx="320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642555" y="3986784"/>
            <a:ext cx="369600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*::before { margin: 0; }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754880"/>
            <a:ext cx="5760720" cy="1280160"/>
          </a:xfrm>
          <a:prstGeom prst="roundRect">
            <a:avLst>
              <a:gd name="adj" fmla="val 7143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680" y="4919472"/>
            <a:ext cx="53035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nav[aria-label="Navegacion principal"] a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:hover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var(--color-text-primary);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29400" y="4754880"/>
            <a:ext cx="4937760" cy="1280160"/>
          </a:xfrm>
          <a:prstGeom prst="roundRect">
            <a:avLst>
              <a:gd name="adj" fmla="val 7143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40296" y="4910328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distinguirlos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940296" y="5276088"/>
            <a:ext cx="4315968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signo de dos puntos (:) indica un estado. Dos seguidos (::) indican una parte de la etiqueta.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48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1517904"/>
            <a:ext cx="5349240" cy="1024128"/>
          </a:xfrm>
          <a:prstGeom prst="roundRect">
            <a:avLst>
              <a:gd name="adj" fmla="val 50000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1517904"/>
            <a:ext cx="42976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de medida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28346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03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3467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bloque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365760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365760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365760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Fijas y relativas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420624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420624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481328" y="420624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px: la medida de Figma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75488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475488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475488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 y em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530352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530352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530352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Porcentaje y ventana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585216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96112" y="585216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481328" y="585216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66560" y="1234440"/>
            <a:ext cx="5166360" cy="5257800"/>
          </a:xfrm>
          <a:prstGeom prst="roundRect">
            <a:avLst>
              <a:gd name="adj" fmla="val 212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pic>
        <p:nvPicPr>
          <p:cNvPr id="22" name="Image 0" descr="Persona programando frente a un moni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03720" y="1362456"/>
            <a:ext cx="4892040" cy="5001768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48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UNIDADES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Unidades: fijas y relativas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unidad relativa se calcula a partir de otra medida. Por eso se adapta.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1092708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615184"/>
            <a:ext cx="1463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2377440" y="2615184"/>
            <a:ext cx="463600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Píxel. Medida fija: no depende de nada.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013448" y="2615184"/>
            <a:ext cx="320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79208" y="2615184"/>
            <a:ext cx="39593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Bordes, radios y medidas de Figma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163824"/>
            <a:ext cx="1092708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163824"/>
            <a:ext cx="1463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377440" y="3163824"/>
            <a:ext cx="463600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Relativa al tamaño de letra de la raíz: 16px por defecto.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013448" y="3163824"/>
            <a:ext cx="320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379208" y="3163824"/>
            <a:ext cx="39593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Textos y espaciados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712464"/>
            <a:ext cx="1092708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3712464"/>
            <a:ext cx="1463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377440" y="3712464"/>
            <a:ext cx="463600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Relativa al tamaño de letra de la propia etiqueta.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013448" y="3712464"/>
            <a:ext cx="320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379208" y="3712464"/>
            <a:ext cx="39593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letter-spacing, relleno de botones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261104"/>
            <a:ext cx="1092708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4261104"/>
            <a:ext cx="1463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2377440" y="4261104"/>
            <a:ext cx="463600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Relativa a la medida del contenedor.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013448" y="4261104"/>
            <a:ext cx="320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379208" y="4261104"/>
            <a:ext cx="39593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Anchos fluidos: max-width: 100%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4809744"/>
            <a:ext cx="1092708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" y="4809744"/>
            <a:ext cx="1463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vw · vh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2377440" y="4809744"/>
            <a:ext cx="463600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Relativa al ancho o al alto de la ventana.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013448" y="4809744"/>
            <a:ext cx="320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379208" y="4809744"/>
            <a:ext cx="39593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Secciones a pantalla completa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5358384"/>
            <a:ext cx="1092708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14400" y="5358384"/>
            <a:ext cx="1463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 unidad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2377440" y="5358384"/>
            <a:ext cx="463600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multiplicador. Solo en algunas propiedades.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013448" y="5358384"/>
            <a:ext cx="320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379208" y="5358384"/>
            <a:ext cx="39593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line-height: 1.6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48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UNIDADES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 y em en tu portafolio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dos multiplican un tamaño de letra. Cambia cuál.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6492240" cy="1828800"/>
          </a:xfrm>
          <a:prstGeom prst="roundRect">
            <a:avLst>
              <a:gd name="adj" fmla="val 5000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779776"/>
            <a:ext cx="603504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        { font-size: 16px; }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h2     { font-size: 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2.25rem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      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36px de Figma ÷ 16 */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aside h2    { font-size: 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1.375rem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     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22px de Figma ÷ 16 */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       { padding: 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6.25rem 1.5rem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 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100px y 24px */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.hero-title { letter-spacing: 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-0.02em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 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2 % de su letra */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0" y="2615184"/>
            <a:ext cx="4251960" cy="868680"/>
          </a:xfrm>
          <a:prstGeom prst="roundRect">
            <a:avLst>
              <a:gd name="adj" fmla="val 10526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52944" y="270662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552944" y="3072384"/>
            <a:ext cx="37764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 siempre a la raíz. Vale lo mismo en toda la página.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0" y="3575304"/>
            <a:ext cx="4251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52944" y="36667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552944" y="4032504"/>
            <a:ext cx="37764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 a su propia etiqueta. Si la letra crece, crece con ella.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4663440"/>
            <a:ext cx="10927080" cy="1371600"/>
          </a:xfrm>
          <a:prstGeom prst="roundRect">
            <a:avLst>
              <a:gd name="adj" fmla="val 6667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50976" y="4864608"/>
            <a:ext cx="10305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te da píxeles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50976" y="5230368"/>
            <a:ext cx="10305288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pasarlos a rem, divide entre 16: el título de cada sección mide 36 px en Figma, y 36 ÷ 16 = 2.25rem. En el portafolio usamos px en la cabecera y en el Hero, tal como vienen del diseño, y rem en las páginas interiores.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48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UNIDADES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Colores: los tokens de tu diseño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color se puede escribir de varias formas. Figma te lo entrega en hexadecimal.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109270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61518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#06B6C4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749040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Hexadecimal: rojo, verde y azul en pares, de 00 a FF.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154680"/>
            <a:ext cx="109270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315468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rgba(6, 182, 196, 0.35)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3154680"/>
            <a:ext cx="7543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color con 35 % de opacidad. Lo usa la sombra del botón.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694176"/>
            <a:ext cx="109270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69417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transparent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3694176"/>
            <a:ext cx="7543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Palabra clave: sin color.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370832"/>
            <a:ext cx="1419933" cy="868680"/>
          </a:xfrm>
          <a:prstGeom prst="roundRect">
            <a:avLst>
              <a:gd name="adj" fmla="val 10526"/>
            </a:avLst>
          </a:prstGeom>
          <a:solidFill>
            <a:srgbClr val="06B6C4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5312664"/>
            <a:ext cx="151137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--color-primary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550408"/>
            <a:ext cx="14199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7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#06B6C4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24605" y="4370832"/>
            <a:ext cx="1419933" cy="868680"/>
          </a:xfrm>
          <a:prstGeom prst="roundRect">
            <a:avLst>
              <a:gd name="adj" fmla="val 10526"/>
            </a:avLst>
          </a:prstGeom>
          <a:solidFill>
            <a:srgbClr val="F9FAFB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178885" y="5312664"/>
            <a:ext cx="151137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--color-bg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2224605" y="5550408"/>
            <a:ext cx="14199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7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#F9FAFB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809129" y="4370832"/>
            <a:ext cx="1419933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763409" y="5312664"/>
            <a:ext cx="151137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--color-surface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3809129" y="5550408"/>
            <a:ext cx="14199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7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#FFFFFF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393654" y="4370832"/>
            <a:ext cx="1419933" cy="868680"/>
          </a:xfrm>
          <a:prstGeom prst="roundRect">
            <a:avLst>
              <a:gd name="adj" fmla="val 10526"/>
            </a:avLst>
          </a:prstGeom>
          <a:solidFill>
            <a:srgbClr val="0B0F19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47934" y="5312664"/>
            <a:ext cx="151137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--color-text-primary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5393654" y="5550408"/>
            <a:ext cx="14199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7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#0B0F19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978178" y="4370832"/>
            <a:ext cx="1419933" cy="868680"/>
          </a:xfrm>
          <a:prstGeom prst="roundRect">
            <a:avLst>
              <a:gd name="adj" fmla="val 10526"/>
            </a:avLst>
          </a:prstGeom>
          <a:solidFill>
            <a:srgbClr val="374151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32458" y="5312664"/>
            <a:ext cx="151137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--color-text-secondary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6978178" y="5550408"/>
            <a:ext cx="14199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7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#374151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562703" y="4370832"/>
            <a:ext cx="1419933" cy="868680"/>
          </a:xfrm>
          <a:prstGeom prst="roundRect">
            <a:avLst>
              <a:gd name="adj" fmla="val 10526"/>
            </a:avLst>
          </a:prstGeom>
          <a:solidFill>
            <a:srgbClr val="9CA3A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516983" y="5312664"/>
            <a:ext cx="151137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--color-text-muted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8562703" y="5550408"/>
            <a:ext cx="14199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7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#9CA3AF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0147227" y="4370832"/>
            <a:ext cx="1419933" cy="868680"/>
          </a:xfrm>
          <a:prstGeom prst="roundRect">
            <a:avLst>
              <a:gd name="adj" fmla="val 10526"/>
            </a:avLst>
          </a:prstGeom>
          <a:solidFill>
            <a:srgbClr val="E5E7EB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101507" y="5312664"/>
            <a:ext cx="151137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--color-border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10147227" y="5550408"/>
            <a:ext cx="14199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7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#E5E7EB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48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1517904"/>
            <a:ext cx="5349240" cy="1024128"/>
          </a:xfrm>
          <a:prstGeom prst="roundRect">
            <a:avLst>
              <a:gd name="adj" fmla="val 50000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1517904"/>
            <a:ext cx="42976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Cascada y herencia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28346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04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3467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bloque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365760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365760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365760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dos reglas chocan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420624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420624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481328" y="420624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Especificidad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75488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475488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475488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orden de los archivos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530352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530352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530352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Herencia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585216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96112" y="585216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481328" y="585216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66560" y="1234440"/>
            <a:ext cx="5166360" cy="5257800"/>
          </a:xfrm>
          <a:prstGeom prst="roundRect">
            <a:avLst>
              <a:gd name="adj" fmla="val 212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pic>
        <p:nvPicPr>
          <p:cNvPr id="22" name="Image 0" descr="Persona programando frente a un moni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03720" y="1362456"/>
            <a:ext cx="4892040" cy="5001768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48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CASCADA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dos reglas chocan, gana una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navegador decide en este orden. Solo pasa al siguiente criterio si hay empate.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1092708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8408" y="2706624"/>
            <a:ext cx="512064" cy="51206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78408" y="27066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615184"/>
            <a:ext cx="1828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2615184"/>
            <a:ext cx="7635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estilos ganan a los que el navegador trae por defecto.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401568"/>
            <a:ext cx="1092708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78408" y="3493008"/>
            <a:ext cx="512064" cy="51206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78408" y="3493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3401568"/>
            <a:ext cx="1828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Especificidad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3401568"/>
            <a:ext cx="7635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 el selector más preciso: un id pesa más que una clase, y una clase más que una etiqueta.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187952"/>
            <a:ext cx="1092708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8408" y="4279392"/>
            <a:ext cx="512064" cy="51206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78408" y="42793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4187952"/>
            <a:ext cx="1828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3657600" y="4187952"/>
            <a:ext cx="7635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todo lo anterior empata, gana la regla que aparece más abajo.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047488"/>
            <a:ext cx="10927080" cy="987552"/>
          </a:xfrm>
          <a:prstGeom prst="roundRect">
            <a:avLst>
              <a:gd name="adj" fmla="val 9259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680" y="5212080"/>
            <a:ext cx="10469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     { color: inherit; }                     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global.css */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a { color: var(--color-text-primary); }   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contenido.css: gana por especificidad */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48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CASCADA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Especificidad: el marcador de cada selector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casillas: id, clases y etiquetas. Se compara de izquierda a derecha.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4315968" y="2596896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4992624" y="2596896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669280" y="2596896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0080" y="2852928"/>
            <a:ext cx="1092708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285292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15968" y="2935224"/>
            <a:ext cx="621792" cy="338328"/>
          </a:xfrm>
          <a:prstGeom prst="roundRect">
            <a:avLst>
              <a:gd name="adj" fmla="val 1891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15968" y="2935224"/>
            <a:ext cx="621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2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92624" y="2935224"/>
            <a:ext cx="621792" cy="338328"/>
          </a:xfrm>
          <a:prstGeom prst="roundRect">
            <a:avLst>
              <a:gd name="adj" fmla="val 1891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92624" y="2935224"/>
            <a:ext cx="621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2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0" y="2935224"/>
            <a:ext cx="621792" cy="338328"/>
          </a:xfrm>
          <a:prstGeom prst="roundRect">
            <a:avLst>
              <a:gd name="adj" fmla="val 18919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0" y="2935224"/>
            <a:ext cx="621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285292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etiqueta.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429000"/>
            <a:ext cx="1092708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34290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15968" y="3511296"/>
            <a:ext cx="621792" cy="338328"/>
          </a:xfrm>
          <a:prstGeom prst="roundRect">
            <a:avLst>
              <a:gd name="adj" fmla="val 1891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315968" y="3511296"/>
            <a:ext cx="621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2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992624" y="3511296"/>
            <a:ext cx="621792" cy="338328"/>
          </a:xfrm>
          <a:prstGeom prst="roundRect">
            <a:avLst>
              <a:gd name="adj" fmla="val 1891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92624" y="3511296"/>
            <a:ext cx="621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2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669280" y="3511296"/>
            <a:ext cx="621792" cy="338328"/>
          </a:xfrm>
          <a:prstGeom prst="roundRect">
            <a:avLst>
              <a:gd name="adj" fmla="val 18919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69280" y="3511296"/>
            <a:ext cx="621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0" y="34290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etiquetas.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4005072"/>
            <a:ext cx="1092708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4400" y="400507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.btn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15968" y="4087368"/>
            <a:ext cx="621792" cy="338328"/>
          </a:xfrm>
          <a:prstGeom prst="roundRect">
            <a:avLst>
              <a:gd name="adj" fmla="val 1891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315968" y="4087368"/>
            <a:ext cx="621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2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992624" y="4087368"/>
            <a:ext cx="621792" cy="338328"/>
          </a:xfrm>
          <a:prstGeom prst="roundRect">
            <a:avLst>
              <a:gd name="adj" fmla="val 18919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992624" y="4087368"/>
            <a:ext cx="621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669280" y="4087368"/>
            <a:ext cx="621792" cy="338328"/>
          </a:xfrm>
          <a:prstGeom prst="roundRect">
            <a:avLst>
              <a:gd name="adj" fmla="val 1891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669280" y="4087368"/>
            <a:ext cx="621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2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583680" y="400507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clase gana a cualquier cantidad de etiquetas.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0080" y="4581144"/>
            <a:ext cx="1092708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14400" y="458114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nav[aria-label="…"] a:hover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315968" y="4663440"/>
            <a:ext cx="621792" cy="338328"/>
          </a:xfrm>
          <a:prstGeom prst="roundRect">
            <a:avLst>
              <a:gd name="adj" fmla="val 1891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315968" y="4663440"/>
            <a:ext cx="621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2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992624" y="4663440"/>
            <a:ext cx="621792" cy="338328"/>
          </a:xfrm>
          <a:prstGeom prst="roundRect">
            <a:avLst>
              <a:gd name="adj" fmla="val 18919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992624" y="4663440"/>
            <a:ext cx="621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669280" y="4663440"/>
            <a:ext cx="621792" cy="338328"/>
          </a:xfrm>
          <a:prstGeom prst="roundRect">
            <a:avLst>
              <a:gd name="adj" fmla="val 18919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669280" y="4663440"/>
            <a:ext cx="621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6583680" y="458114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atributos y las pseudo-clases cuentan como clases.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40080" y="5157216"/>
            <a:ext cx="1092708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14400" y="515721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#tiempo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315968" y="5239512"/>
            <a:ext cx="621792" cy="338328"/>
          </a:xfrm>
          <a:prstGeom prst="roundRect">
            <a:avLst>
              <a:gd name="adj" fmla="val 18919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315968" y="5239512"/>
            <a:ext cx="621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992624" y="5239512"/>
            <a:ext cx="621792" cy="338328"/>
          </a:xfrm>
          <a:prstGeom prst="roundRect">
            <a:avLst>
              <a:gd name="adj" fmla="val 1891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992624" y="5239512"/>
            <a:ext cx="621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2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5669280" y="5239512"/>
            <a:ext cx="621792" cy="338328"/>
          </a:xfrm>
          <a:prstGeom prst="roundRect">
            <a:avLst>
              <a:gd name="adj" fmla="val 1891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669280" y="5239512"/>
            <a:ext cx="621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2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6583680" y="515721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id gana a cualquier cantidad de clases.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40080" y="5760720"/>
            <a:ext cx="1092708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50976" y="5760720"/>
            <a:ext cx="10305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A84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del marcador: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style="…" gana a todos los selectores y !important se salta las reglas. Evita los dos.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48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CASCADA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global.css va primero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misma especificidad gana la regla que llega al final: en el mismo archivo o en uno enlazado más abajo.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31546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816352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816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816352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global.css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334670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general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362102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Tokens, reset y base de todo el sitio.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794760" y="2615184"/>
            <a:ext cx="731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526280" y="2615184"/>
            <a:ext cx="31546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2816352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54880" y="2816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2816352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header.css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782312" y="334670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común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782312" y="362102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Cabecera y pie, iguales en cada página.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0" y="2615184"/>
            <a:ext cx="731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8412480" y="2615184"/>
            <a:ext cx="3154680" cy="1508760"/>
          </a:xfrm>
          <a:prstGeom prst="roundRect">
            <a:avLst>
              <a:gd name="adj" fmla="val 6061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41080" y="2816352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41080" y="2816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189720" y="2816352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index.css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668512" y="334670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particular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668512" y="362102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solo existe en esta página.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4370832"/>
            <a:ext cx="10927080" cy="987552"/>
          </a:xfrm>
          <a:prstGeom prst="roundRect">
            <a:avLst>
              <a:gd name="adj" fmla="val 9259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68680" y="4535424"/>
            <a:ext cx="10469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h2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font-size: 2.25rem; }    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dos etiquetas: 0-0-2 */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aside h2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font-size: 1.375rem; }   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también 0-0-2, pero está más abajo en contenido.css: gana */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5623560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orden solo decide cuando la especificidad empata. Lo general va primero para que lo particular pueda ajustarlo.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48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CASCADA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Herencia: lo que pasa de padres a hijos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Algunas propiedades bajan solas a las etiquetas que están dentro. Otras no.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349240" cy="1572768"/>
          </a:xfrm>
          <a:prstGeom prst="roundRect">
            <a:avLst>
              <a:gd name="adj" fmla="val 5814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" y="2816352"/>
            <a:ext cx="4727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heredan: las de texto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3182112"/>
            <a:ext cx="4727448" cy="885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 · font-family · font-size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line-height · text-align · letter-spacing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2615184"/>
            <a:ext cx="53492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28816" y="2816352"/>
            <a:ext cx="4727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84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heredan: las de caja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28816" y="3182112"/>
            <a:ext cx="4727448" cy="885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 · padding · border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 · width · height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389120"/>
            <a:ext cx="5349240" cy="1645920"/>
          </a:xfrm>
          <a:prstGeom prst="roundRect">
            <a:avLst>
              <a:gd name="adj" fmla="val 5556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4553712"/>
            <a:ext cx="489204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 {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var(--color-text-secondary);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font-family: var(--font-body);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line-height: 1.6;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4389120"/>
            <a:ext cx="5349240" cy="1645920"/>
          </a:xfrm>
          <a:prstGeom prst="roundRect">
            <a:avLst>
              <a:gd name="adj" fmla="val 5556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28816" y="4553712"/>
            <a:ext cx="4727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excepciones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528816" y="4919472"/>
            <a:ext cx="4727448" cy="1016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enlaces, los botones y los campos de formulario traen estilos propios del navegador, y una regla directa siempre gana a lo heredado. Hay que pedírselo: color: inherit en los enlaces y font: inherit en botones y campos.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48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CASCADA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CSS: los tokens de Figma en el código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declaran una vez en :root y, como se heredan, sirven en toda la página.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852160" cy="3017520"/>
          </a:xfrm>
          <a:prstGeom prst="roundRect">
            <a:avLst>
              <a:gd name="adj" fmla="val 3030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779776"/>
            <a:ext cx="5394960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:root {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--color-primary: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#06B6C4;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--color-text-primary: #0B0F19;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--font-heading: 'Outfit', sans-serif;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--radius-sm: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8px;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.btn-primary {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background-color: 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var(--color-primary)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border-radius: 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var(--radius-sm)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720840" y="2615184"/>
            <a:ext cx="484632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995160" y="2615184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--nombre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595360" y="2615184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declara con dos guiones delante.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720840" y="3255264"/>
            <a:ext cx="484632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95160" y="3255264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var(--nombre)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595360" y="3255264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 en el valor de cualquier propiedad.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720840" y="3895344"/>
            <a:ext cx="484632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95160" y="3895344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:root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595360" y="3895344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raíz: todas las etiquetas heredan de ella.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20840" y="4590288"/>
            <a:ext cx="4846320" cy="1042416"/>
          </a:xfrm>
          <a:prstGeom prst="roundRect">
            <a:avLst>
              <a:gd name="adj" fmla="val 8772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31736" y="4718304"/>
            <a:ext cx="4224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vale la pena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031736" y="5084064"/>
            <a:ext cx="4224528" cy="471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cambia el color de la marca, editas una línea y se actualiza todo el sitio.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48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27248" y="2651760"/>
            <a:ext cx="5943600" cy="960120"/>
          </a:xfrm>
          <a:prstGeom prst="roundRect">
            <a:avLst>
              <a:gd name="adj" fmla="val 50000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127248" y="265176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DESCANSO · 15 MINUTOS</a:t>
            </a:r>
            <a:endParaRPr lang="en-US" sz="2000" dirty="0"/>
          </a:p>
        </p:txBody>
      </p:sp>
      <p:pic>
        <p:nvPicPr>
          <p:cNvPr id="4" name="Image 0" descr="Indicador de espe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0408" y="397764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5321808"/>
            <a:ext cx="9445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volver abrimos Figma para completar la página y leer sus medidas. Ten abiertos tu carpeta y tu archivo de Figma.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48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nstrumental: aplicación del conocimiento con ejercicios y demostracion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48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FIGMA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Figma hoy: completa la página (Pasos 10 al 14)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secciones que empiezan igual, el pie de página y las imágenes. Cada paso está en la Guía de Figma de la sesión.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696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8696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444752" y="284378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secciones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vertical, W Llenar el contenedor, Espaciado 100 y 80, Espacio 48 y Relleno #FFFFFF.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4340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9028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9028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148072" y="284378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10 · Sobre mí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61772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Outfit ExtraBold 36. Dos columnas con Espacio 64: texto y gráfico de 480 × 264.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04672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9360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9360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851392" y="284378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11 · Proyectos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32104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projects-grid con Espacio 24. Dos tarjetas de 628 × 475 con imagen de 628 × 220.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4008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8696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8696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1444752" y="458114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12 · Contacto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91440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columnas con Espacio 64. A la derecha, tres filas de 520 × 84 con Radio 8.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34340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9028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59028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5148072" y="458114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13 · Pie de página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461772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footer-wrapper: Altura fija 182, Espaciado 48 y 80, Trazo solo superior.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804672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29360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29360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8851392" y="458114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14 · Imágenes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832104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Relleno, cambia Sólido por Imagen. Solo hay dos: las de los proyectos.</a:t>
            </a:r>
            <a:endParaRPr lang="en-US" sz="1150" dirty="0"/>
          </a:p>
        </p:txBody>
      </p:sp>
      <p:sp>
        <p:nvSpPr>
          <p:cNvPr id="36" name="Text 33"/>
          <p:cNvSpPr txBox="1"/>
          <p:nvPr/>
        </p:nvSpPr>
        <p:spPr>
          <a:xfrm>
            <a:off x="640080" y="6053328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termines en clase queda como tarea.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48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FIGMA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Diccionario: de Figma a CSS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control del panel derecho de Figma tiene su propiedad en CSS.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" y="2615184"/>
            <a:ext cx="534924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6112" y="2615184"/>
            <a:ext cx="1783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Disposición automática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2697480" y="2615184"/>
            <a:ext cx="365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3108960" y="2615184"/>
            <a:ext cx="2697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display: flex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3163824"/>
            <a:ext cx="534924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96112" y="3163824"/>
            <a:ext cx="1783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→ o ↓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2697480" y="3163824"/>
            <a:ext cx="365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108960" y="3163824"/>
            <a:ext cx="2697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flex-direction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" y="3712464"/>
            <a:ext cx="534924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96112" y="3712464"/>
            <a:ext cx="1783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]-[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2697480" y="3712464"/>
            <a:ext cx="365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3108960" y="3712464"/>
            <a:ext cx="2697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0080" y="4261104"/>
            <a:ext cx="534924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96112" y="4261104"/>
            <a:ext cx="1783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Espacio: Auto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2697480" y="4261104"/>
            <a:ext cx="365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3108960" y="4261104"/>
            <a:ext cx="2697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justify-content: space-between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40080" y="4809744"/>
            <a:ext cx="534924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96112" y="4809744"/>
            <a:ext cx="1783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Espaciado [ ]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2697480" y="4809744"/>
            <a:ext cx="365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3108960" y="4809744"/>
            <a:ext cx="2697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40080" y="5358384"/>
            <a:ext cx="534924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96112" y="5358384"/>
            <a:ext cx="1783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Alineación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2697480" y="5358384"/>
            <a:ext cx="365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3108960" y="5358384"/>
            <a:ext cx="2697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align-items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217920" y="2615184"/>
            <a:ext cx="534924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473952" y="2615184"/>
            <a:ext cx="1783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 fijo · Altura fija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8275320" y="2615184"/>
            <a:ext cx="365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8686800" y="2615184"/>
            <a:ext cx="2697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width · height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217920" y="3163824"/>
            <a:ext cx="534924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3163824"/>
            <a:ext cx="1783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Llenar el contenedor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8275320" y="3163824"/>
            <a:ext cx="365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8686800" y="3163824"/>
            <a:ext cx="2697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flex: 1  ·  width: 100%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217920" y="3712464"/>
            <a:ext cx="534924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3712464"/>
            <a:ext cx="1783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Relleno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8275320" y="3712464"/>
            <a:ext cx="365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8686800" y="3712464"/>
            <a:ext cx="2697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background-color · color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6217920" y="4261104"/>
            <a:ext cx="534924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4261104"/>
            <a:ext cx="1783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Trazo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8275320" y="4261104"/>
            <a:ext cx="365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8686800" y="4261104"/>
            <a:ext cx="2697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6217920" y="4809744"/>
            <a:ext cx="534924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6473952" y="4809744"/>
            <a:ext cx="1783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de esquina</a:t>
            </a:r>
            <a:endParaRPr lang="en-US" sz="1200" dirty="0"/>
          </a:p>
        </p:txBody>
      </p:sp>
      <p:sp>
        <p:nvSpPr>
          <p:cNvPr id="48" name="Text 45"/>
          <p:cNvSpPr txBox="1"/>
          <p:nvPr/>
        </p:nvSpPr>
        <p:spPr>
          <a:xfrm>
            <a:off x="8275320" y="4809744"/>
            <a:ext cx="365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9" name="Text 46"/>
          <p:cNvSpPr txBox="1"/>
          <p:nvPr/>
        </p:nvSpPr>
        <p:spPr>
          <a:xfrm>
            <a:off x="8686800" y="4809744"/>
            <a:ext cx="2697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border-radius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6217920" y="5358384"/>
            <a:ext cx="534924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6473952" y="5358384"/>
            <a:ext cx="1783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Recortar contenido</a:t>
            </a:r>
            <a:endParaRPr lang="en-US" sz="1200" dirty="0"/>
          </a:p>
        </p:txBody>
      </p:sp>
      <p:sp>
        <p:nvSpPr>
          <p:cNvPr id="52" name="Text 49"/>
          <p:cNvSpPr txBox="1"/>
          <p:nvPr/>
        </p:nvSpPr>
        <p:spPr>
          <a:xfrm>
            <a:off x="8275320" y="5358384"/>
            <a:ext cx="365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3" name="Text 50"/>
          <p:cNvSpPr txBox="1"/>
          <p:nvPr/>
        </p:nvSpPr>
        <p:spPr>
          <a:xfrm>
            <a:off x="8686800" y="5358384"/>
            <a:ext cx="2697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overflow: hidden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640080" y="6016752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al contenido no suele necesitar propiedad: dentro de un contenedor flex, cada elemento mide lo que su contenido.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48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FIGMA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cabecera: del panel al código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 la capa Header (Paso 2 del manual) y lee el panel derecho de arriba abajo.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896112" y="25877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Figma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440680" y="25877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header.css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1092708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2834640"/>
            <a:ext cx="4114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H: Altura fija 80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2834640"/>
            <a:ext cx="365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2834640"/>
            <a:ext cx="5943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height: 80px;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383280"/>
            <a:ext cx="1092708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96112" y="3383280"/>
            <a:ext cx="4114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Relleno #FFFFFF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3383280"/>
            <a:ext cx="365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3383280"/>
            <a:ext cx="5943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background-color: var(--color-surface);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1092708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3931920"/>
            <a:ext cx="4114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Trazo inferior #E5E7EB, grosor 1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3931920"/>
            <a:ext cx="365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3931920"/>
            <a:ext cx="5943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border-bottom: 1px solid var(--color-border);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480560"/>
            <a:ext cx="1092708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96112" y="4480560"/>
            <a:ext cx="4114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→ y Alineación al centro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0" y="4480560"/>
            <a:ext cx="365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4480560"/>
            <a:ext cx="5943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display: flex;   align-items: center;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5029200"/>
            <a:ext cx="1092708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96112" y="5029200"/>
            <a:ext cx="4114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Espacio: Auto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0" y="5029200"/>
            <a:ext cx="365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40680" y="5029200"/>
            <a:ext cx="5943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justify-content: space-between;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5577840"/>
            <a:ext cx="1092708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96112" y="5577840"/>
            <a:ext cx="4114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Espaciado 0 · 80 · 0 · 80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0" y="5577840"/>
            <a:ext cx="365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40680" y="5577840"/>
            <a:ext cx="5943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padding: 0 80px;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48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FIGMA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Hero: las medidas que usarás en la tarea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 6 al 9 del manual. Si tu CSS no coincide con tu Figma, manda Figma.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896112" y="25877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Figma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440680" y="25877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index.css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1092708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2834640"/>
            <a:ext cx="4114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hero-section · Espacio 64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2834640"/>
            <a:ext cx="365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2834640"/>
            <a:ext cx="5943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gap: 64px;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383280"/>
            <a:ext cx="1092708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96112" y="3383280"/>
            <a:ext cx="4114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hero-section · Espaciado 160 · 80 · 100 · 80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3383280"/>
            <a:ext cx="365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3383280"/>
            <a:ext cx="5943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padding: 160px 80px 100px 80px;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1092708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3931920"/>
            <a:ext cx="4114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hero-left · Ancho 696 y Espacio 32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3931920"/>
            <a:ext cx="365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3931920"/>
            <a:ext cx="5943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max-width: 696px;   gap: 32px;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480560"/>
            <a:ext cx="1092708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96112" y="4480560"/>
            <a:ext cx="4114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· Outfit ExtraBold 64, altura 110 %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0" y="4480560"/>
            <a:ext cx="365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4480560"/>
            <a:ext cx="5943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font-size: 64px;   line-height: 1.1;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5029200"/>
            <a:ext cx="1092708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96112" y="5029200"/>
            <a:ext cx="4114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· Espaciado 14 y 24, Radio 8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0" y="5029200"/>
            <a:ext cx="365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40680" y="5029200"/>
            <a:ext cx="5943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padding: 14px 24px;   border-radius: 8px;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5577840"/>
            <a:ext cx="1092708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96112" y="5577840"/>
            <a:ext cx="4114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hero-right · Ancho 520, Radio 12, Recortar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0" y="5577840"/>
            <a:ext cx="365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40680" y="5577840"/>
            <a:ext cx="5943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max-width: 520px;   overflow: hidden;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6163056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 lleva el mismo orden que Figma: arriba, derecha, abajo, izquierda.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48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FIGMA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valores que se repiten se vuelven variables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colores, las fuentes y los radios que usas una y otra vez en Figma se guardan una sola vez en CSS.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6309360" cy="425196"/>
          </a:xfrm>
          <a:prstGeom prst="roundRect">
            <a:avLst>
              <a:gd name="adj" fmla="val 21505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692908"/>
            <a:ext cx="402336" cy="269748"/>
          </a:xfrm>
          <a:prstGeom prst="roundRect">
            <a:avLst>
              <a:gd name="adj" fmla="val 16949"/>
            </a:avLst>
          </a:prstGeom>
          <a:solidFill>
            <a:srgbClr val="06B6C4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89888" y="2615184"/>
            <a:ext cx="251460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--color-primary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2615184"/>
            <a:ext cx="100584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#06B6C4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2615184"/>
            <a:ext cx="18745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Botones y acentos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104388"/>
            <a:ext cx="6309360" cy="425196"/>
          </a:xfrm>
          <a:prstGeom prst="roundRect">
            <a:avLst>
              <a:gd name="adj" fmla="val 21505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182112"/>
            <a:ext cx="402336" cy="269748"/>
          </a:xfrm>
          <a:prstGeom prst="roundRect">
            <a:avLst>
              <a:gd name="adj" fmla="val 16949"/>
            </a:avLst>
          </a:prstGeom>
          <a:solidFill>
            <a:srgbClr val="F9FAFB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89888" y="3104388"/>
            <a:ext cx="251460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--color-bg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3104388"/>
            <a:ext cx="100584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#F9FAFB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983480" y="3104388"/>
            <a:ext cx="18745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de la página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593592"/>
            <a:ext cx="6309360" cy="425196"/>
          </a:xfrm>
          <a:prstGeom prst="roundRect">
            <a:avLst>
              <a:gd name="adj" fmla="val 21505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3671316"/>
            <a:ext cx="402336" cy="269748"/>
          </a:xfrm>
          <a:prstGeom prst="roundRect">
            <a:avLst>
              <a:gd name="adj" fmla="val 1694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389888" y="3593592"/>
            <a:ext cx="251460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--color-surface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931920" y="3593592"/>
            <a:ext cx="100584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#FFFFFF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983480" y="3593592"/>
            <a:ext cx="18745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Cabecera y tarjetas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082796"/>
            <a:ext cx="6309360" cy="425196"/>
          </a:xfrm>
          <a:prstGeom prst="roundRect">
            <a:avLst>
              <a:gd name="adj" fmla="val 21505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4160520"/>
            <a:ext cx="402336" cy="269748"/>
          </a:xfrm>
          <a:prstGeom prst="roundRect">
            <a:avLst>
              <a:gd name="adj" fmla="val 16949"/>
            </a:avLst>
          </a:prstGeom>
          <a:solidFill>
            <a:srgbClr val="0B0F19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389888" y="4082796"/>
            <a:ext cx="251460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--color-text-primary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931920" y="4082796"/>
            <a:ext cx="100584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#0B0F19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983480" y="4082796"/>
            <a:ext cx="18745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4572000"/>
            <a:ext cx="6309360" cy="425196"/>
          </a:xfrm>
          <a:prstGeom prst="roundRect">
            <a:avLst>
              <a:gd name="adj" fmla="val 21505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4649724"/>
            <a:ext cx="402336" cy="269748"/>
          </a:xfrm>
          <a:prstGeom prst="roundRect">
            <a:avLst>
              <a:gd name="adj" fmla="val 16949"/>
            </a:avLst>
          </a:prstGeom>
          <a:solidFill>
            <a:srgbClr val="374151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389888" y="4572000"/>
            <a:ext cx="251460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--color-text-secondary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931920" y="4572000"/>
            <a:ext cx="100584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#374151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983480" y="4572000"/>
            <a:ext cx="18745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Párrafos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5061204"/>
            <a:ext cx="6309360" cy="425196"/>
          </a:xfrm>
          <a:prstGeom prst="roundRect">
            <a:avLst>
              <a:gd name="adj" fmla="val 21505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" y="5138928"/>
            <a:ext cx="402336" cy="269748"/>
          </a:xfrm>
          <a:prstGeom prst="roundRect">
            <a:avLst>
              <a:gd name="adj" fmla="val 16949"/>
            </a:avLst>
          </a:prstGeom>
          <a:solidFill>
            <a:srgbClr val="9CA3A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389888" y="5061204"/>
            <a:ext cx="251460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--color-text-muted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3931920" y="5061204"/>
            <a:ext cx="100584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#9CA3AF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983480" y="5061204"/>
            <a:ext cx="18745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en reposo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5550408"/>
            <a:ext cx="6309360" cy="425196"/>
          </a:xfrm>
          <a:prstGeom prst="roundRect">
            <a:avLst>
              <a:gd name="adj" fmla="val 21505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2960" y="5628132"/>
            <a:ext cx="402336" cy="269748"/>
          </a:xfrm>
          <a:prstGeom prst="roundRect">
            <a:avLst>
              <a:gd name="adj" fmla="val 16949"/>
            </a:avLst>
          </a:prstGeom>
          <a:solidFill>
            <a:srgbClr val="E5E7EB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389888" y="5550408"/>
            <a:ext cx="251460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--color-border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3931920" y="5550408"/>
            <a:ext cx="100584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#E5E7EB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983480" y="5550408"/>
            <a:ext cx="18745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Bordes sutiles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178040" y="2615184"/>
            <a:ext cx="4389120" cy="425196"/>
          </a:xfrm>
          <a:prstGeom prst="roundRect">
            <a:avLst>
              <a:gd name="adj" fmla="val 21505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379208" y="2615184"/>
            <a:ext cx="173736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--font-heading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9144000" y="2615184"/>
            <a:ext cx="132588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'Outfit'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10515600" y="2615184"/>
            <a:ext cx="9601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178040" y="3104388"/>
            <a:ext cx="4389120" cy="425196"/>
          </a:xfrm>
          <a:prstGeom prst="roundRect">
            <a:avLst>
              <a:gd name="adj" fmla="val 21505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379208" y="3104388"/>
            <a:ext cx="173736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--font-body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9144000" y="3104388"/>
            <a:ext cx="132588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'Geist'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10515600" y="3104388"/>
            <a:ext cx="9601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178040" y="3593592"/>
            <a:ext cx="4389120" cy="425196"/>
          </a:xfrm>
          <a:prstGeom prst="roundRect">
            <a:avLst>
              <a:gd name="adj" fmla="val 21505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379208" y="3593592"/>
            <a:ext cx="173736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--font-code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9144000" y="3593592"/>
            <a:ext cx="132588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'Geist Mono'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10515600" y="3593592"/>
            <a:ext cx="9601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178040" y="4082796"/>
            <a:ext cx="4389120" cy="425196"/>
          </a:xfrm>
          <a:prstGeom prst="roundRect">
            <a:avLst>
              <a:gd name="adj" fmla="val 21505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379208" y="4082796"/>
            <a:ext cx="173736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--radius-sm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9144000" y="4082796"/>
            <a:ext cx="132588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8px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10515600" y="4082796"/>
            <a:ext cx="9601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Botones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178040" y="4572000"/>
            <a:ext cx="4389120" cy="425196"/>
          </a:xfrm>
          <a:prstGeom prst="roundRect">
            <a:avLst>
              <a:gd name="adj" fmla="val 21505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7379208" y="4572000"/>
            <a:ext cx="173736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--radius-md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9144000" y="4572000"/>
            <a:ext cx="132588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12px</a:t>
            </a:r>
            <a:endParaRPr lang="en-US" sz="1100" dirty="0"/>
          </a:p>
        </p:txBody>
      </p:sp>
      <p:sp>
        <p:nvSpPr>
          <p:cNvPr id="59" name="Text 57"/>
          <p:cNvSpPr txBox="1"/>
          <p:nvPr/>
        </p:nvSpPr>
        <p:spPr>
          <a:xfrm>
            <a:off x="10515600" y="4572000"/>
            <a:ext cx="9601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Tarjetas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7178040" y="5120640"/>
            <a:ext cx="4389120" cy="914400"/>
          </a:xfrm>
          <a:prstGeom prst="roundRect">
            <a:avLst>
              <a:gd name="adj" fmla="val 10000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7415784" y="5239512"/>
            <a:ext cx="3913632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Figma: selecciona una capa y copia cada valor desde las secciones Relleno, Tipografía y Radio de esquina.</a:t>
            </a:r>
            <a:endParaRPr lang="en-US" sz="1100" dirty="0"/>
          </a:p>
        </p:txBody>
      </p:sp>
      <p:sp>
        <p:nvSpPr>
          <p:cNvPr id="62" name="Text 6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48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PRÁCTICA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Construimos juntos: global.css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Escríbelo conmigo, línea por línea. No lo copies y pegues.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" y="2615184"/>
            <a:ext cx="6309360" cy="3529584"/>
          </a:xfrm>
          <a:prstGeom prst="roundRect">
            <a:avLst>
              <a:gd name="adj" fmla="val 2591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2779776"/>
            <a:ext cx="5852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@import url('https://fonts.googleapis.com/…');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:root {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--color-bg: #F9FAFB;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…el resto de los tokens */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*, *::before, *::after {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box-sizing: border-box;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margin: 0;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0;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 {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background-color: var(--color-bg);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font-family: var(--font-body);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132320" y="2615184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296912" y="2715768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296912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7790688" y="2615184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Carpeta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8750808" y="2615184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assets/css y, dentro, global.css.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132320" y="3215030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296912" y="3315614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296912" y="331561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7790688" y="3215030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8750808" y="321503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@import siempre en la primera línea.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132320" y="3814877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296912" y="3915461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296912" y="391546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7790688" y="3814877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8750808" y="3814877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:root con las variables de Figma.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132320" y="4414723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296912" y="4515307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296912" y="451530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7790688" y="4414723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8750808" y="4414723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márgenes ni rellenos por defecto.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132320" y="5014570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296912" y="5115154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296912" y="511515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7790688" y="5014570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250" dirty="0"/>
          </a:p>
        </p:txBody>
      </p:sp>
      <p:sp>
        <p:nvSpPr>
          <p:cNvPr id="32" name="Text 29"/>
          <p:cNvSpPr txBox="1"/>
          <p:nvPr/>
        </p:nvSpPr>
        <p:spPr>
          <a:xfrm>
            <a:off x="8750808" y="501457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body, títulos, enlaces y listas.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132320" y="5614416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296912" y="5715000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296912" y="5715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7790688" y="5614416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Enlaza</a:t>
            </a:r>
            <a:endParaRPr lang="en-US" sz="1250" dirty="0"/>
          </a:p>
        </p:txBody>
      </p:sp>
      <p:sp>
        <p:nvSpPr>
          <p:cNvPr id="37" name="Text 34"/>
          <p:cNvSpPr txBox="1"/>
          <p:nvPr/>
        </p:nvSpPr>
        <p:spPr>
          <a:xfrm>
            <a:off x="8750808" y="5614416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en el head y comprueba el fondo.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48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PRÁCTICA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Construimos juntos: header.css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regla usa un selector distinto de los que acabas de aprender.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" y="2615184"/>
            <a:ext cx="6309360" cy="3529584"/>
          </a:xfrm>
          <a:prstGeom prst="roundRect">
            <a:avLst>
              <a:gd name="adj" fmla="val 2591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2779776"/>
            <a:ext cx="5852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 {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height: 80px;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background-color: var(--color-surface);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border-bottom: 1px solid var(--color-border);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flex;       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anticipo de la sesión 10 */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align-items: center;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justify-content: space-between;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0 80px;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position: sticky;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top: 0;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 h1 a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… }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nav[aria-label="Navegacion principal"] a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… }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nav[aria-label="Navegacion principal"] a:hover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… }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 &gt; a[href="contactame.html"]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… }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footer nav ul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… }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132320" y="2615184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296912" y="2715768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296912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7790688" y="2615184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8750808" y="2615184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header: alto, fondo y borde inferior.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132320" y="3215030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296912" y="3315614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296912" y="331561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7790688" y="3215030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Logotipo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8750808" y="321503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h1 a: descendiente.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132320" y="3814877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296912" y="3915461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296912" y="391546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7790688" y="3814877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8750808" y="3814877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nav[aria-label]: de atributo.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132320" y="4414723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296912" y="4515307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296912" y="451530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7790688" y="4414723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8750808" y="4414723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a:hover: pseudo-clase.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132320" y="5014570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296912" y="5115154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296912" y="511515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7790688" y="5014570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</a:t>
            </a:r>
            <a:endParaRPr lang="en-US" sz="1250" dirty="0"/>
          </a:p>
        </p:txBody>
      </p:sp>
      <p:sp>
        <p:nvSpPr>
          <p:cNvPr id="32" name="Text 29"/>
          <p:cNvSpPr txBox="1"/>
          <p:nvPr/>
        </p:nvSpPr>
        <p:spPr>
          <a:xfrm>
            <a:off x="8750808" y="501457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&gt; a: hijo directo.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132320" y="5614416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296912" y="5715000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296912" y="5715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7790688" y="5614416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</a:t>
            </a:r>
            <a:endParaRPr lang="en-US" sz="1250" dirty="0"/>
          </a:p>
        </p:txBody>
      </p:sp>
      <p:sp>
        <p:nvSpPr>
          <p:cNvPr id="37" name="Text 34"/>
          <p:cNvSpPr txBox="1"/>
          <p:nvPr/>
        </p:nvSpPr>
        <p:spPr>
          <a:xfrm>
            <a:off x="8750808" y="5614416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 y footer nav ul.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48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PRÁCTICA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Comprueba la cascada en DevTools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derecho sobre un enlace del contenido › Inspeccionar › pestaña Styles.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852160" cy="3200400"/>
          </a:xfrm>
          <a:prstGeom prst="roundRect">
            <a:avLst>
              <a:gd name="adj" fmla="val 2857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779776"/>
            <a:ext cx="5394960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a {                       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contenido.css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var(--color-text-primary);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text-decoration: underline;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{                               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global.css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5000"/>
              </a:lnSpc>
              <a:buNone/>
            </a:pPr>
            <a:r>
              <a:rPr lang="en-US" sz="1100" strike="sngStrike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text-decoration: none;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5000"/>
              </a:lnSpc>
              <a:buNone/>
            </a:pPr>
            <a:r>
              <a:rPr lang="en-US" sz="1100" strike="sngStrike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color: inherit;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Inherited from body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font-family: var(--font-body);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720840" y="2615184"/>
            <a:ext cx="484632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995160" y="2615184"/>
            <a:ext cx="1600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Arriba, la que gana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595360" y="2615184"/>
            <a:ext cx="2697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reglas salen ordenadas de mayor a menor prioridad.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720840" y="3450031"/>
            <a:ext cx="484632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95160" y="3450031"/>
            <a:ext cx="1600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Tachado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595360" y="3450031"/>
            <a:ext cx="2697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declaración vencida por otra más específica o posterior.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720840" y="4284878"/>
            <a:ext cx="484632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95160" y="4284878"/>
            <a:ext cx="1600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Inherited from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595360" y="4284878"/>
            <a:ext cx="2697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la etiqueta recibió por herencia.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20840" y="5119726"/>
            <a:ext cx="484632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95160" y="5119726"/>
            <a:ext cx="1600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Casillas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595360" y="5119726"/>
            <a:ext cx="2697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Desmarca una declaración para ver la página sin ella.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961888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DevTools no modifica tus archivos: al recargar la página todo vuelve a su estado.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48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PRÁCTICA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tú: lleva los estilos a las otras páginas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Tienes 25 minutos. Usa los selectores y las unidades de hoy.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44752" y="284378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Enlaza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global.css, header.css y contenido.css, en ese orden, en las tres páginas interiores.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028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028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148072" y="284378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 de lectura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 max-width: 800px, margin: 0 auto y padding: 6.25rem 1.5rem.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9360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9360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851392" y="284378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descendiente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h2 a 2.25rem (los 36 px de Figma) y márgenes en rem para main p y main section.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696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696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444752" y="458114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agrupado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aside, article, fieldset como tarjetas: fondo, borde y radio con variables.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4340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9028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9028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148072" y="458114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61772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input, select, textarea con font: inherit y width: 100%. La casilla, con input[type="checkbox"].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4672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9360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9360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851392" y="458114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Multimedia y cierre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img, video, iframe con max-width: 100%. Valida en W3C y publica.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6053328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terminas antes: pinta el botón de envío con button[type="submit"] y var(--color-primary).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48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ivelador: nivel de comprensión del estudian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48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NIVELADOR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Autoevaluación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mentalmente cada punto. Si dudas en alguno, pregunta ahora.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688336"/>
            <a:ext cx="29260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177E8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0" y="2615184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 enlazar una hoja de estilos externa y en qué orden van.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070555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143707"/>
            <a:ext cx="29260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177E8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71600" y="3070555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Distingo selector, propiedad, valor y declaración.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525926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3599078"/>
            <a:ext cx="29260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177E8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71600" y="3525926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Puedo elegir entre un selector de tipo, de clase y de id.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981298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054450"/>
            <a:ext cx="29260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177E8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371600" y="3981298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 leer un selector con espacio, con &gt; y con [atributo].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436669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4509821"/>
            <a:ext cx="29260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177E8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371600" y="4436669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 cuándo usar px, rem, em y %.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892040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4965192"/>
            <a:ext cx="29260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177E8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371600" y="4892040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Puedo predecir qué regla gana contando su especificidad.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5347411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5420563"/>
            <a:ext cx="29260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177E8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371600" y="5347411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 qué propiedades se heredan y cuáles no.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5802782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" y="5875934"/>
            <a:ext cx="29260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177E8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371600" y="5802782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Puedo leer una medida en Figma y escribirla como declaración CSS.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48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NIVELADOR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de consultas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parte quedó menos clara?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724912"/>
            <a:ext cx="2628900" cy="1892808"/>
          </a:xfrm>
          <a:prstGeom prst="roundRect">
            <a:avLst>
              <a:gd name="adj" fmla="val 4831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980944"/>
            <a:ext cx="22631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¿Clase o id?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456432"/>
            <a:ext cx="21717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conviene crear una clase nueva?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06140" y="2724912"/>
            <a:ext cx="2628900" cy="1892808"/>
          </a:xfrm>
          <a:prstGeom prst="roundRect">
            <a:avLst>
              <a:gd name="adj" fmla="val 4831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89020" y="2980944"/>
            <a:ext cx="22631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¿px o rem?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634740" y="3456432"/>
            <a:ext cx="21717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uso para el tamaño de un título?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2724912"/>
            <a:ext cx="2628900" cy="1892808"/>
          </a:xfrm>
          <a:prstGeom prst="roundRect">
            <a:avLst>
              <a:gd name="adj" fmla="val 4831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55080" y="2980944"/>
            <a:ext cx="22631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¿No se aplica?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3456432"/>
            <a:ext cx="21717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Escribí la regla y la página no cambia.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38260" y="2724912"/>
            <a:ext cx="2628900" cy="1892808"/>
          </a:xfrm>
          <a:prstGeom prst="roundRect">
            <a:avLst>
              <a:gd name="adj" fmla="val 4831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1140" y="2980944"/>
            <a:ext cx="22631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flexbox?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166860" y="3456432"/>
            <a:ext cx="21717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 display: flex en la cabecera?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55464"/>
            <a:ext cx="1092708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50976" y="5010912"/>
            <a:ext cx="10305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una regla no se aplica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50976" y="5376672"/>
            <a:ext cx="10305288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en este orden: la ruta del link, el punto y coma de la línea anterior, el nombre del selector y, al final, si otra regla más específica la está venciendo. DevTools te la muestra tachada.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48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uncional: aplicar lo aprendi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/ 48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de la sesión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parte del 40 % de participación en clases [P].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349240" cy="3410712"/>
          </a:xfrm>
          <a:prstGeom prst="roundRect">
            <a:avLst>
              <a:gd name="adj" fmla="val 2681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" y="2816352"/>
            <a:ext cx="4727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3182112"/>
            <a:ext cx="4727448" cy="272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Maqueta el Hero Section de tu página de inicio siguiendo la guía (Pasos 6 y 7).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Comprueba cada medida contra tu Figma: título de 64, Espacio 32 y Espaciado 160 · 80 · 100 · 80.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variables var(--…) para todos los colores, fuentes y radios.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DevTools con una declaración tachada y explica por qué perdió.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Figma: termina los Pasos 10 al 14 con la Guía de Figma de la sesión.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sin errores y publica en Netlify.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2615184"/>
            <a:ext cx="5349240" cy="3410712"/>
          </a:xfrm>
          <a:prstGeom prst="roundRect">
            <a:avLst>
              <a:gd name="adj" fmla="val 268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28816" y="281635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Indicaciones de entrega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83680" y="3328416"/>
            <a:ext cx="384048" cy="3840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332841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la URL publicada al Aula Virtual.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0" y="3968496"/>
            <a:ext cx="384048" cy="3840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0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396849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Adjuntar captura del validador W3C sin errores.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0" y="4608576"/>
            <a:ext cx="384048" cy="3840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0" y="4608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460857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envío es obligatorio dentro del plazo establecido.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83680" y="5248656"/>
            <a:ext cx="384048" cy="3840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0" y="5248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524865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registra en ClassDojo como participación en clase.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/ 48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rientador: conclusión del tem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/ 48</a:t>
            </a:r>
            <a:endParaRPr lang="en-US" sz="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clave de la sesión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95528" y="2697480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5528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353312" y="2651760"/>
            <a:ext cx="10012680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define qué es cada contenido; CSS define cómo se ve, en archivos aparte.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95528" y="3134563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5528" y="313456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3088843"/>
            <a:ext cx="10012680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regla es un selector más una lista de declaraciones del tipo propiedad: valor;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5528" y="3571646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357164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525926"/>
            <a:ext cx="10012680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selector decide a quién se aplica: tipo, clase, id, atributo y sus combinaciones.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95528" y="4008730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5528" y="400873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3963010"/>
            <a:ext cx="10012680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 es una medida fija; rem, em y % se calculan a partir de otra medida.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5528" y="4445813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5528" y="444581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400093"/>
            <a:ext cx="10012680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dos reglas chocan deciden la especificidad y, si empatan, el orden.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95528" y="4882896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5528" y="4882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353312" y="4837176"/>
            <a:ext cx="10012680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propiedades de texto se heredan; las de caja, no.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95528" y="5319979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95528" y="531997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353312" y="5274259"/>
            <a:ext cx="10012680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control de Figma tiene su propiedad en CSS; sus colores y fuentes se guardan como variables en :root.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95528" y="5757062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95528" y="575706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353312" y="5711342"/>
            <a:ext cx="10012680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estilos se reparten en archivos por función y se enlazan de lo general a lo particular.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/ 48</a:t>
            </a:r>
            <a:endParaRPr lang="en-US" sz="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ORIENTADOR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Hacia dónde vamos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portafolio ya tiene estructura, multimedia y sus primeros estilos. Lo que viene.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051560" y="3895344"/>
            <a:ext cx="10104120" cy="0"/>
          </a:xfrm>
          <a:prstGeom prst="line">
            <a:avLst/>
          </a:prstGeom>
          <a:noFill/>
          <a:ln w="31750">
            <a:solidFill>
              <a:srgbClr val="CFD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84248" y="3817620"/>
            <a:ext cx="155448" cy="1554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962656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5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07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218688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Multimedia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4133088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y audio listos para publicar.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963924" y="3776472"/>
            <a:ext cx="237744" cy="23774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72384" y="2962656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5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08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072384" y="3218688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163824" y="4133088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Sintaxis, selectores y cascada.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25896" y="3817620"/>
            <a:ext cx="155448" cy="1554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93208" y="2962656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5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09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093208" y="3218688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Propiedades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184648" y="4133088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Color, tipografía, fondos y bordes.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46720" y="3817620"/>
            <a:ext cx="155448" cy="1554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14032" y="2962656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5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7114032" y="3218688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Maquetación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205472" y="4133088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caja, flexbox y grid.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067544" y="3817620"/>
            <a:ext cx="155448" cy="1554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34856" y="2962656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5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9134856" y="3218688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Animaciones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226296" y="4133088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Transformaciones y transiciones.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5340096"/>
            <a:ext cx="10927080" cy="694944"/>
          </a:xfrm>
          <a:prstGeom prst="roundRect">
            <a:avLst>
              <a:gd name="adj" fmla="val 13158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50976" y="5340096"/>
            <a:ext cx="103052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sesión 09: trae tu Hero Section terminado. Con color, tipografía, bordes y rellenos daremos estilo a Sobre mí, Proyectos y Contacto.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18134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Dagner Anibal Chuman Lluen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/ 48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Centro de Informática USS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08 · Introducción a CSS3</dc:title>
  <dc:subject>Curso de Diseño Web</dc:subject>
  <dc:creator>Ing. Dagner Anibal Chuman Lluen</dc:creator>
  <cp:lastModifiedBy>Ing. Dagner Anibal Chuman Lluen</cp:lastModifiedBy>
  <cp:revision>1</cp:revision>
  <dcterms:created xsi:type="dcterms:W3CDTF">2026-10-06T06:01:05Z</dcterms:created>
  <dcterms:modified xsi:type="dcterms:W3CDTF">2026-10-06T06:01:05Z</dcterms:modified>
</cp:coreProperties>
</file>