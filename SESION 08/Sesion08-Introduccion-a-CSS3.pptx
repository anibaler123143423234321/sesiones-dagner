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27251b59-9245-4a7f-dc57-38a6d4f6d5f5}">
          <p14:sldIdLst>
            <p14:sldId id="256"/>
            <p14:sldId id="257"/>
            <p14:sldId id="258"/>
            <p14:sldId id="259"/>
          </p14:sldIdLst>
        </p14:section>
        <p14:section name="Conceptual" id="{7e427f9f-1aa1-fee8-65c9-334e97fc1568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Instrumental" id="{0e420aba-248f-9ed2-a8ae-c6e5e3b1bea4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Nivelador" id="{5d068a7f-ef76-2852-8fe0-8bae44bd5d1a}">
          <p14:sldIdLst>
            <p14:sldId id="295"/>
            <p14:sldId id="296"/>
            <p14:sldId id="297"/>
          </p14:sldIdLst>
        </p14:section>
        <p14:section name="Funcional" id="{c25a9266-0894-960f-f72f-604ae53d2c7e}">
          <p14:sldIdLst>
            <p14:sldId id="298"/>
            <p14:sldId id="299"/>
          </p14:sldIdLst>
        </p14:section>
        <p14:section name="Orientador" id="{a5246749-d42d-0a19-d9b0-f7ece10d09de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de arranque: ¿por qué todas las páginas de un sitio se parecen entre sí? ¿Dónde creen que está guardado ese aspecto?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minutos para este bloque. Proyectar Figma con la capa Header seleccionada e ir señalando cada control mientras se lee la fila correspondiente.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Crear assets/css/global.css. Tras cada bloque, guardar y mirar el navegador: primero cambia la fuente, luego desaparecen los márgenes, luego el fondo. Enlazar el archivo antes de empezar para ver cada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display: flex aparece aquí como anticipo. No detenerse a explicarlo: se estudia en la sesión 10. Lo importante hoy es leer cada selector en voz alta antes de escribirlo.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jp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jp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jp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jp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jp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jp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jp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portada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463040"/>
          </a:xfrm>
          <a:prstGeom prst="rect">
            <a:avLst/>
          </a:prstGeom>
        </p:spPr>
      </p:pic>
      <p:pic>
        <p:nvPicPr>
          <p:cNvPr id="3" name="Image 1" descr="/home/claude/trabajo/plantilla/assets/punt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5897880"/>
            <a:ext cx="1828800" cy="82296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rabajo/plantilla/assets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73736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27248" y="3767328"/>
            <a:ext cx="5943600" cy="841248"/>
          </a:xfrm>
          <a:prstGeom prst="roundRect">
            <a:avLst>
              <a:gd name="adj" fmla="val 50000"/>
            </a:avLst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3127248" y="3639312"/>
            <a:ext cx="5943600" cy="84124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127248" y="3639312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ESPERANDO A LOS COMPAÑEROS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4700016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08 · comenzamos en unos minutos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5120640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tu carpeta mi-portafolio en Visual Studio Code y tu archivo de Figma corregido. Hoy tu portafolio recibe sus primeros estilos.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718304" y="5861304"/>
            <a:ext cx="2761488" cy="466344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9050">
            <a:solidFill>
              <a:srgbClr val="72EF2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18304" y="5861304"/>
            <a:ext cx="27614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47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482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432304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a CSS3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3675888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356616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5661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08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26110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Sintaxis · selectores · unidades de medida · herencia y cascada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8097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0840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366760" y="2286000"/>
            <a:ext cx="3200400" cy="1600200"/>
          </a:xfrm>
          <a:prstGeom prst="roundRect">
            <a:avLst>
              <a:gd name="adj" fmla="val 571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2450592"/>
            <a:ext cx="274320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#06B6C4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2rem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47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Cómo te sientes hoy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47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Qué es CINFO? Conceptual, Instrumental, Nivelador, Funcional y Orient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47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ceptual: conocimientos previos y definiciones cla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47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venimos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 tiene toda su estructura y su contenido. Le falta el aspecto que diseñaste en Figma.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232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páginas HTML con estructura semántica.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contacto, video, audio y controles propios.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Figma, la cabecera corregida y el Hero diseñado.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sumas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232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reglas CSS y conectarlas con link.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el selector y la unidad adecuados.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las medidas de Figma a declaraciones CSS.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736592"/>
            <a:ext cx="10927080" cy="1298448"/>
          </a:xfrm>
          <a:prstGeom prst="roundRect">
            <a:avLst>
              <a:gd name="adj" fmla="val 7042"/>
            </a:avLst>
          </a:prstGeom>
          <a:solidFill>
            <a:srgbClr val="EAFAFB"/>
          </a:solidFill>
          <a:ln w="12700">
            <a:solidFill>
              <a:srgbClr val="BFEA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937760"/>
            <a:ext cx="10305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 distinta a esta sesión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5303520"/>
            <a:ext cx="10305288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hoy tu HTML decía qué es cada cosa. Desde hoy el CSS dice cómo se ve. Van en archivos distintos por una razón: puedes cambiar todo el aspecto del sitio sin tocar una sola etiqueta.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47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LOGROS DE APRENDIZAJE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vas a lograr hoy?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615184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670048"/>
            <a:ext cx="512064" cy="51206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1518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615184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Enlazar hojas de estilo externas en el orden correcto.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319272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3374136"/>
            <a:ext cx="512064" cy="51206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78408" y="3374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92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319272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Apuntar a la etiqueta exacta con selectores de tipo, clase, atributo y combinadores.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4078224"/>
            <a:ext cx="512064" cy="51206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4078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023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4023360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entre px, rem, em y % según el caso.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727448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" y="4782312"/>
            <a:ext cx="512064" cy="51206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8408" y="47823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472744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727448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qué regla gana por cascada, especificidad y herencia.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431536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" y="5486400"/>
            <a:ext cx="512064" cy="51206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" y="54864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543153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5431536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una medida en Figma y escribirla como declaración CSS.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47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reparten las 4 horas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615184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651760"/>
            <a:ext cx="384048" cy="384048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2615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CSS y cómo se conecta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202936" y="261518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formas de aplicar estilos y un archivo por función.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195560" y="26151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129077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165653"/>
            <a:ext cx="384048" cy="384048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16565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664208" y="3129077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Sintaxis y selectores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202936" y="3129077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Reglas, declaraciones y cómo apuntar a cada etiqueta.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195560" y="3129077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4297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679546"/>
            <a:ext cx="384048" cy="384048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36795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664208" y="364297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medida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02936" y="364297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px, rem, em, porcentaje y colores.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195560" y="364297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156862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193438"/>
            <a:ext cx="384048" cy="384048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1934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64208" y="415686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Cascada y herencia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02936" y="415686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regla gana y qué pasa de padres a hijos.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195560" y="415686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70755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2F4F3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0120" y="4707331"/>
            <a:ext cx="384048" cy="384048"/>
          </a:xfrm>
          <a:prstGeom prst="ellipse">
            <a:avLst/>
          </a:prstGeom>
          <a:solidFill>
            <a:srgbClr val="6E7673"/>
          </a:solidFill>
          <a:ln w="12700">
            <a:solidFill>
              <a:srgbClr val="6E767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60120" y="470733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664208" y="4670755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195560" y="4670755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518464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120" y="5221224"/>
            <a:ext cx="384048" cy="384048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0120" y="5221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664208" y="51846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el diseño en Figma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202936" y="518464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panel derecho de Figma a las declaraciones CSS.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195560" y="51846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5698541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0120" y="5735117"/>
            <a:ext cx="384048" cy="384048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0120" y="573511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1664208" y="5698541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diseño al código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202936" y="5698541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global.css, header.css y contenido.css en tu portafolio.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5698541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47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664208"/>
            <a:ext cx="5623560" cy="1024128"/>
          </a:xfrm>
          <a:prstGeom prst="roundRect">
            <a:avLst>
              <a:gd name="adj" fmla="val 50000"/>
            </a:avLst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1517904"/>
            <a:ext cx="5349240" cy="102412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151790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CSS y cómo se conecta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65760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y presentación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420624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formas de aplicar CSS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475488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etiqueta link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530352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archivo por función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585216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585216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81328" y="585216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de los archivos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3894"/>
            </a:avLst>
          </a:prstGeom>
          <a:solidFill>
            <a:srgbClr val="FFFFFF"/>
          </a:solidFill>
          <a:ln w="28575">
            <a:solidFill>
              <a:srgbClr val="36C4CC"/>
            </a:solidFill>
            <a:prstDash val="solid"/>
          </a:ln>
        </p:spPr>
      </p:sp>
      <p:pic>
        <p:nvPicPr>
          <p:cNvPr id="23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528816" y="978408"/>
            <a:ext cx="804672" cy="804672"/>
          </a:xfrm>
          <a:prstGeom prst="ellipse">
            <a:avLst/>
          </a:prstGeom>
          <a:solidFill>
            <a:srgbClr val="72EF2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47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QUÉ ES CSS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HTML, con y sin CSS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dice qué es cada cosa. CSS dice cómo se ve.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3099816"/>
          </a:xfrm>
          <a:prstGeom prst="roundRect">
            <a:avLst>
              <a:gd name="adj" fmla="val 2360"/>
            </a:avLst>
          </a:prstGeom>
          <a:solidFill>
            <a:srgbClr val="FFFFFF"/>
          </a:solidFill>
          <a:ln w="19050">
            <a:solidFill>
              <a:srgbClr val="E1E5E3"/>
            </a:solidFill>
            <a:prstDash val="solid"/>
          </a:ln>
        </p:spPr>
      </p:sp>
      <p:pic>
        <p:nvPicPr>
          <p:cNvPr id="6" name="Image 0" descr="Sin CSS: solo la estruct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660904"/>
            <a:ext cx="5257800" cy="29571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97296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CSS: solo la estructura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2615184"/>
            <a:ext cx="5349240" cy="3099816"/>
          </a:xfrm>
          <a:prstGeom prst="roundRect">
            <a:avLst>
              <a:gd name="adj" fmla="val 2360"/>
            </a:avLst>
          </a:prstGeom>
          <a:solidFill>
            <a:srgbClr val="FFFFFF"/>
          </a:solidFill>
          <a:ln w="19050">
            <a:solidFill>
              <a:srgbClr val="72EF29"/>
            </a:solidFill>
            <a:prstDash val="solid"/>
          </a:ln>
        </p:spPr>
      </p:sp>
      <p:pic>
        <p:nvPicPr>
          <p:cNvPr id="9" name="Image 1" descr="Con CSS: el diseño de Fig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660904"/>
            <a:ext cx="5257800" cy="295717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17920" y="5797296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CSS: el diseño de Figma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47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QUÉ ES CSS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formas de aplicar CSS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funcionan. Solo una se mantiene bien cuando el sitio crece.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BF4F2"/>
          </a:solidFill>
          <a:ln w="12700">
            <a:solidFill>
              <a:srgbClr val="F0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761488"/>
            <a:ext cx="3008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línea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3163824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3328416"/>
            <a:ext cx="2606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 style="color: red"&gt;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Hola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&lt;/p&gt;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187952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atributo style de cada etiqueta. Mezcla contenido y presentación, y no se reutiliza.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974336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Evítala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2615184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9432" y="2761488"/>
            <a:ext cx="3008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8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0" y="3163824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3328416"/>
            <a:ext cx="2606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&lt;style&gt;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 { color: red;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&lt;/style&gt;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4187952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etiqueta style dentro del head. Solo sirve para esa página.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4974336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8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para pruebas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46720" y="2615184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2752" y="2761488"/>
            <a:ext cx="3008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75320" y="3163824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03920" y="3328416"/>
            <a:ext cx="2606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rel="stylesheet"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href="assets/css/global.css"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4187952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archivo .css aparte. Un mismo archivo da estilo a todas las páginas.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302752" y="4974336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usamos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559552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0976" y="5559552"/>
            <a:ext cx="10305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 del curso: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estilos van en archivos .css organizados por función. Nada de style="…" dentro de las etiquetas.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47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QUÉ ES CSS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&lt;link&gt;: conectar la hoja de estilos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dentro del &lt;head&gt;, una línea por cada archivo.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400800" cy="2514600"/>
          </a:xfrm>
          <a:prstGeom prst="roundRect">
            <a:avLst>
              <a:gd name="adj" fmla="val 363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94360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&lt;!-- 1. Tokens y Reset Global --&gt;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rel="stylesheet" href="assets/css/global.css" /&gt;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&lt;!-- 2. Componentes comunes (Header / Footer) --&gt;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rel="stylesheet" href="assets/css/header.css" /&gt;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&lt;!-- 3. Estilos específicos de esta página --&gt;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rel="stylesheet" href="assets/css/index.css" /&gt;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&lt;/head&gt;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223760" y="2615184"/>
            <a:ext cx="4343400" cy="740664"/>
          </a:xfrm>
          <a:prstGeom prst="roundRect">
            <a:avLst>
              <a:gd name="adj" fmla="val 12346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0" y="2615184"/>
            <a:ext cx="16002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rel="stylesheet"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098280" y="2615184"/>
            <a:ext cx="219456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que el archivo enlazado es una hoja de estilos.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223760" y="3502152"/>
            <a:ext cx="434340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0" y="3502152"/>
            <a:ext cx="16002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href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3502152"/>
            <a:ext cx="219456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del archivo: relativa, como las de tus imágenes.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23760" y="4389120"/>
            <a:ext cx="4343400" cy="740664"/>
          </a:xfrm>
          <a:prstGeom prst="roundRect">
            <a:avLst>
              <a:gd name="adj" fmla="val 12346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0" y="4389120"/>
            <a:ext cx="16002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4389120"/>
            <a:ext cx="219456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 general a lo particular. La razón está en la cascada.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5358384"/>
            <a:ext cx="10927080" cy="676656"/>
          </a:xfrm>
          <a:prstGeom prst="roundRect">
            <a:avLst>
              <a:gd name="adj" fmla="val 13514"/>
            </a:avLst>
          </a:prstGeom>
          <a:solidFill>
            <a:srgbClr val="EAFAFB"/>
          </a:solidFill>
          <a:ln w="12700">
            <a:solidFill>
              <a:srgbClr val="BFEA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0976" y="5358384"/>
            <a:ext cx="10305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aplica ningún estilo: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siempre es la ruta del href. Compruébala en DevTools › Network: el archivo .css debe responder 200, no 404.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47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QUÉ ES CSS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archivo por función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página carga solo lo que necesita.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4023360" cy="3419856"/>
          </a:xfrm>
          <a:prstGeom prst="roundRect">
            <a:avLst>
              <a:gd name="adj" fmla="val 267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356616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mi-portafolio-dagner/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assets/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css/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global.css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header.css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index.css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contenido.css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img/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js/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media/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index.html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sobre-mi.html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mis-proyectos.html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contactame.html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92040" y="2615184"/>
            <a:ext cx="6675120" cy="566928"/>
          </a:xfrm>
          <a:prstGeom prst="roundRect">
            <a:avLst>
              <a:gd name="adj" fmla="val 16129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66360" y="2615184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global.css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15184"/>
            <a:ext cx="2401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fuentes y reset.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076334" y="2615184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442094" y="2615184"/>
            <a:ext cx="18964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páginas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92040" y="3264408"/>
            <a:ext cx="6675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6360" y="3264408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header.css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264408"/>
            <a:ext cx="2401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 y pie de página.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076334" y="3264408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442094" y="3264408"/>
            <a:ext cx="18964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páginas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92040" y="3913632"/>
            <a:ext cx="6675120" cy="566928"/>
          </a:xfrm>
          <a:prstGeom prst="roundRect">
            <a:avLst>
              <a:gd name="adj" fmla="val 16129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66360" y="39136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index.css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3913632"/>
            <a:ext cx="2401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Section.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076334" y="3913632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442094" y="3913632"/>
            <a:ext cx="18964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Inicio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92040" y="4562856"/>
            <a:ext cx="6675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66360" y="4562856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contenido.css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675120" y="4562856"/>
            <a:ext cx="2401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las páginas interiores.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076334" y="4562856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442094" y="4562856"/>
            <a:ext cx="18964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mí, Proyectos, Contacto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5285232"/>
            <a:ext cx="6675120" cy="749808"/>
          </a:xfrm>
          <a:prstGeom prst="roundRect">
            <a:avLst>
              <a:gd name="adj" fmla="val 12195"/>
            </a:avLst>
          </a:prstGeom>
          <a:solidFill>
            <a:srgbClr val="EAFAFB"/>
          </a:solidFill>
          <a:ln w="12700">
            <a:solidFill>
              <a:srgbClr val="BFEA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02936" y="5394960"/>
            <a:ext cx="6053328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Figma, cada archivo sale de unas capas: header.css de Header y footer-wrapper, index.css de hero-section, y contenido.css de las tres secciones.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47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664208"/>
            <a:ext cx="5623560" cy="1024128"/>
          </a:xfrm>
          <a:prstGeom prst="roundRect">
            <a:avLst>
              <a:gd name="adj" fmla="val 50000"/>
            </a:avLst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1517904"/>
            <a:ext cx="5349240" cy="102412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151790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Sintaxis y selectores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65760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una regla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420624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Selectores básicos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475488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o id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530352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y combinadores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585216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585216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81328" y="585216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Pseudo-clases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3894"/>
            </a:avLst>
          </a:prstGeom>
          <a:solidFill>
            <a:srgbClr val="FFFFFF"/>
          </a:solidFill>
          <a:ln w="28575">
            <a:solidFill>
              <a:srgbClr val="36C4CC"/>
            </a:solidFill>
            <a:prstDash val="solid"/>
          </a:ln>
        </p:spPr>
      </p:sp>
      <p:pic>
        <p:nvPicPr>
          <p:cNvPr id="23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528816" y="978408"/>
            <a:ext cx="804672" cy="804672"/>
          </a:xfrm>
          <a:prstGeom prst="ellipse">
            <a:avLst/>
          </a:prstGeom>
          <a:solidFill>
            <a:srgbClr val="72EF2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47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SINTAXIS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una regla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selector y, entre llaves, una lista de declaraciones.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120640" cy="1783080"/>
          </a:xfrm>
          <a:prstGeom prst="roundRect">
            <a:avLst>
              <a:gd name="adj" fmla="val 5128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46634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height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80px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background-color: #FFFFFF;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526280"/>
            <a:ext cx="5120640" cy="658368"/>
          </a:xfrm>
          <a:prstGeom prst="roundRect">
            <a:avLst>
              <a:gd name="adj" fmla="val 13889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690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Así se escribe un comentario en CSS */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89320" y="2615184"/>
            <a:ext cx="5577840" cy="562356"/>
          </a:xfrm>
          <a:prstGeom prst="roundRect">
            <a:avLst>
              <a:gd name="adj" fmla="val 16260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2615184"/>
            <a:ext cx="132588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2615184"/>
            <a:ext cx="370332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header: a qué etiquetas se aplica la regla.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89320" y="3284525"/>
            <a:ext cx="5577840" cy="562356"/>
          </a:xfrm>
          <a:prstGeom prst="roundRect">
            <a:avLst>
              <a:gd name="adj" fmla="val 16260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3284525"/>
            <a:ext cx="132588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284525"/>
            <a:ext cx="370332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height: la característica que cambias.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89320" y="3953866"/>
            <a:ext cx="5577840" cy="562356"/>
          </a:xfrm>
          <a:prstGeom prst="roundRect">
            <a:avLst>
              <a:gd name="adj" fmla="val 16260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3953866"/>
            <a:ext cx="132588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3953866"/>
            <a:ext cx="370332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80px: cuánto o cómo. Va después de los dos puntos.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89320" y="4623206"/>
            <a:ext cx="5577840" cy="562356"/>
          </a:xfrm>
          <a:prstGeom prst="roundRect">
            <a:avLst>
              <a:gd name="adj" fmla="val 16260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4623206"/>
            <a:ext cx="132588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Declaración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4623206"/>
            <a:ext cx="370332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 y valor juntos, cerrados con punto y coma.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413248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BF4F2"/>
          </a:solidFill>
          <a:ln w="12700">
            <a:solidFill>
              <a:srgbClr val="F0D8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0976" y="5413248"/>
            <a:ext cx="10305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frecuente: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un punto y coma. La declaración siguiente deja de funcionar y el navegador no avisa.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47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SINTAXIS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Selectores básicos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formas de decir a quién se aplica la regla.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615184"/>
            <a:ext cx="4588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Universal: todas las etiquetas.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057339" y="2615184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423099" y="2615184"/>
            <a:ext cx="39154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{ margin: 0; 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264408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264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3264408"/>
            <a:ext cx="4588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tipo: todas las etiquetas con ese nombre.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57339" y="3264408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423099" y="3264408"/>
            <a:ext cx="39154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h2 { line-height: 1.2; }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913632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3913632"/>
            <a:ext cx="4588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clase: las que tengan class="btn".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057339" y="3913632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23099" y="3913632"/>
            <a:ext cx="39154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 { font-weight: 600; }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562856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56285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#tiempo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68880" y="4562856"/>
            <a:ext cx="4588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id: la única con id="tiempo".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57339" y="4562856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423099" y="4562856"/>
            <a:ext cx="39154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#tiempo { font-size: 14px; }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212080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21208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h1, h2, h3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2468880" y="5212080"/>
            <a:ext cx="4588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Agrupado: varias a la vez, separadas por coma.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7339" y="5212080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423099" y="5212080"/>
            <a:ext cx="39154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h1, h2, h3 { color: #0B0F19; }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47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SINTAXIS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o id: cuál usar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se escriben en el HTML. Cambia cuántas veces pueden aparecer.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09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repite en todas las etiquetas que quieras.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etiqueta puede llevar varias, separadas por espacio.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CSS se escribe con punto: .btn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EAFAFB"/>
          </a:solidFill>
          <a:ln w="12700">
            <a:solidFill>
              <a:srgbClr val="BFEA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9A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09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único: una sola etiqueta por página.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usan los enlaces internos, las etiquetas label y JavaScript.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CSS se escribe con numeral: #tiempo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10927080" cy="749808"/>
          </a:xfrm>
          <a:prstGeom prst="roundRect">
            <a:avLst>
              <a:gd name="adj" fmla="val 1219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4736592"/>
            <a:ext cx="10469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 href="mis-proyectos.html"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class="btn btn-primary"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&gt;Ver Proyectos&lt;/a&gt;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57784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dar estilo, usa clases. Los id que creaste en la sesión 07 siguen siendo para el script.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47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SINTAXIS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y combinadores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cabecera tiene dos enlaces a Contacto. ¿Cómo le damos estilo solo al botón?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760720" cy="2514600"/>
          </a:xfrm>
          <a:prstGeom prst="roundRect">
            <a:avLst>
              <a:gd name="adj" fmla="val 363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3035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&lt;header&gt;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&lt;h1&gt;&lt;a href="index.html"&gt;Dagner Chuman&lt;/a&gt;&lt;/h1&gt;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&lt;nav aria-label="Navegacion principal"&gt;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&lt;ul&gt;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&lt;li&gt;&lt;a href="contactame.html"&gt;Contacto&lt;/a&gt;&lt;/li&gt;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&lt;/ul&gt;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&lt;/nav&gt;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 href="contactame.html"&gt;Contacto&lt;/a&gt;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&lt;/header&gt;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629400" y="2615184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0" y="26883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h1 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9626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Descendiente (espacio): el enlace que está dentro del h1 de la cabecera, a cualquier profundidad.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629400" y="3483864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0" y="355701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&gt; 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Hijo directo (&gt;): solo el enlace que cuelga de header. El del menú queda fuera.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29400" y="4352544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0" y="44256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a[href="contactame.html"]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atributo: los enlaces con ese valor exacto en href.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5303520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468112"/>
            <a:ext cx="10469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&gt; a[href="contactame.html"]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… }    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solo el botón de la derecha */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47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SINTAXIS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Pseudo-clases y pseudo-elementos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Seleccionan un estado o una parte de la etiqueta, no la etiqueta entera.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2615184"/>
            <a:ext cx="43507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Pseudo-clase: mientras el cursor está encima.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276795" y="2615184"/>
            <a:ext cx="320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642555" y="2615184"/>
            <a:ext cx="36960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a:hover { color: #0B0F19; 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3009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300984"/>
            <a:ext cx="43507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Pseudo-clase: la raíz del documento. Ahí viven tus variables.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276795" y="3300984"/>
            <a:ext cx="320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642555" y="3300984"/>
            <a:ext cx="36960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 { --radius-sm: 8px; }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98678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9867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::before  ::after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3986784"/>
            <a:ext cx="43507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Pseudo-elementos: contenido que el CSS añade antes o después.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276795" y="3986784"/>
            <a:ext cx="320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642555" y="3986784"/>
            <a:ext cx="36960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*::before { margin: 0; }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5760720" cy="1280160"/>
          </a:xfrm>
          <a:prstGeom prst="roundRect">
            <a:avLst>
              <a:gd name="adj" fmla="val 7143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919472"/>
            <a:ext cx="5303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nav[aria-label="Navegacion principal"] a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var(--color-text-primary);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9400" y="4754880"/>
            <a:ext cx="4937760" cy="1280160"/>
          </a:xfrm>
          <a:prstGeom prst="roundRect">
            <a:avLst>
              <a:gd name="adj" fmla="val 7143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40296" y="4910328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distinguirlos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5276088"/>
            <a:ext cx="4315968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signo de dos puntos (:) indica un estado. Dos seguidos (::) indican una parte de la etiqueta.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47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664208"/>
            <a:ext cx="5623560" cy="1024128"/>
          </a:xfrm>
          <a:prstGeom prst="roundRect">
            <a:avLst>
              <a:gd name="adj" fmla="val 50000"/>
            </a:avLst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1517904"/>
            <a:ext cx="5349240" cy="102412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151790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medida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65760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Fijas y relativas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420624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px: la medida de Figma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475488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 y em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530352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y ventana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585216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585216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81328" y="585216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3894"/>
            </a:avLst>
          </a:prstGeom>
          <a:solidFill>
            <a:srgbClr val="FFFFFF"/>
          </a:solidFill>
          <a:ln w="28575">
            <a:solidFill>
              <a:srgbClr val="36C4CC"/>
            </a:solidFill>
            <a:prstDash val="solid"/>
          </a:ln>
        </p:spPr>
      </p:sp>
      <p:pic>
        <p:nvPicPr>
          <p:cNvPr id="23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528816" y="978408"/>
            <a:ext cx="804672" cy="804672"/>
          </a:xfrm>
          <a:prstGeom prst="ellipse">
            <a:avLst/>
          </a:prstGeom>
          <a:solidFill>
            <a:srgbClr val="72EF2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47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UNIDADES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Unidades: fijas y relativas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relativa se calcula a partir de otra medida. Por eso se adapta.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px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2615184"/>
            <a:ext cx="46360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Píxel. Medida fija: no depende de nada.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013448" y="2615184"/>
            <a:ext cx="320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79208" y="2615184"/>
            <a:ext cx="39593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Bordes, radios y medidas de Figma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63824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163824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163824"/>
            <a:ext cx="46360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 al tamaño de letra de la raíz: 16px por defecto.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13448" y="3163824"/>
            <a:ext cx="320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79208" y="3163824"/>
            <a:ext cx="39593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Textos y espaciados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712464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712464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712464"/>
            <a:ext cx="46360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 al tamaño de letra de la propia etiqueta.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013448" y="3712464"/>
            <a:ext cx="320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379208" y="3712464"/>
            <a:ext cx="39593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letter-spacing, relleno de botones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261104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261104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261104"/>
            <a:ext cx="46360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 a la medida del contenedor.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13448" y="4261104"/>
            <a:ext cx="320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79208" y="4261104"/>
            <a:ext cx="39593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Anchos fluidos: max-width: 100%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809744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809744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vw · vh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377440" y="4809744"/>
            <a:ext cx="46360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 al ancho o al alto de la ventana.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4809744"/>
            <a:ext cx="320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379208" y="4809744"/>
            <a:ext cx="39593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Secciones a pantalla completa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358384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" y="5358384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 unidad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5358384"/>
            <a:ext cx="46360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multiplicador. Solo en algunas propiedades.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5358384"/>
            <a:ext cx="320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79208" y="5358384"/>
            <a:ext cx="39593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line-height: 1.6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47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UNIDADES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 y em en tu portafolio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multiplican un tamaño de letra. Cambia cuál.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492240" cy="1828800"/>
          </a:xfrm>
          <a:prstGeom prst="roundRect">
            <a:avLst>
              <a:gd name="adj" fmla="val 500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603504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       { font-size: 16px; }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h2     { font-size: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2.25rem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}     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36px de Figma ÷ 16 */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aside h2    { font-size: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1.375rem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}    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22px de Figma ÷ 16 */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       { padding: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6.25rem 1.5rem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}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100px y 24px */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.hero-title { letter-spacing: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-0.02em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}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2 % de su letra */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0" y="2615184"/>
            <a:ext cx="4251960" cy="868680"/>
          </a:xfrm>
          <a:prstGeom prst="roundRect">
            <a:avLst>
              <a:gd name="adj" fmla="val 10526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52944" y="2706624"/>
            <a:ext cx="3776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552944" y="3072384"/>
            <a:ext cx="37764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siempre a la raíz. Vale lo mismo en toda la página.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0" y="3575304"/>
            <a:ext cx="4251960" cy="868680"/>
          </a:xfrm>
          <a:prstGeom prst="roundRect">
            <a:avLst>
              <a:gd name="adj" fmla="val 10526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52944" y="3666744"/>
            <a:ext cx="3776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52944" y="4032504"/>
            <a:ext cx="37764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a su propia etiqueta. Si la letra crece, crece con ella.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663440"/>
            <a:ext cx="10927080" cy="1371600"/>
          </a:xfrm>
          <a:prstGeom prst="roundRect">
            <a:avLst>
              <a:gd name="adj" fmla="val 6667"/>
            </a:avLst>
          </a:prstGeom>
          <a:solidFill>
            <a:srgbClr val="EAFAFB"/>
          </a:solidFill>
          <a:ln w="12700">
            <a:solidFill>
              <a:srgbClr val="BFEA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50976" y="4864608"/>
            <a:ext cx="10305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 da píxeles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5230368"/>
            <a:ext cx="10305288" cy="683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pasarlos a rem, divide entre 16: el título de cada sección mide 36 px en Figma, y 36 ÷ 16 = 2.25rem. En el portafolio usamos px en la cabecera y en el Hero, tal como vienen del diseño, y rem en las páginas interiores.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47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UNIDADES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Colores: los tokens de tu diseño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color se puede escribir de varias formas. Figma te lo entrega en hexadecimal.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#06B6C4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Hexadecimal: rojo, verde y azul en pares, de 00 a FF.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15468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rgba(6, 182, 196, 0.35)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3154680"/>
            <a:ext cx="7543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color con 35 % de opacidad. Lo usa la sombra del botón.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94176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6941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transparent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3694176"/>
            <a:ext cx="7543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 clave: sin color.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70832"/>
            <a:ext cx="1419933" cy="868680"/>
          </a:xfrm>
          <a:prstGeom prst="roundRect">
            <a:avLst>
              <a:gd name="adj" fmla="val 10526"/>
            </a:avLst>
          </a:prstGeom>
          <a:solidFill>
            <a:srgbClr val="06B6C4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5312664"/>
            <a:ext cx="15113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--color-primary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550408"/>
            <a:ext cx="14199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6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#06B6C4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24605" y="4370832"/>
            <a:ext cx="1419933" cy="868680"/>
          </a:xfrm>
          <a:prstGeom prst="roundRect">
            <a:avLst>
              <a:gd name="adj" fmla="val 10526"/>
            </a:avLst>
          </a:prstGeom>
          <a:solidFill>
            <a:srgbClr val="F9FAFB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178885" y="5312664"/>
            <a:ext cx="15113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--color-bg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2224605" y="5550408"/>
            <a:ext cx="14199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6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#F9FAFB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809129" y="4370832"/>
            <a:ext cx="1419933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63409" y="5312664"/>
            <a:ext cx="15113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--color-surface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809129" y="5550408"/>
            <a:ext cx="14199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6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#FFFFFF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393654" y="4370832"/>
            <a:ext cx="1419933" cy="868680"/>
          </a:xfrm>
          <a:prstGeom prst="roundRect">
            <a:avLst>
              <a:gd name="adj" fmla="val 10526"/>
            </a:avLst>
          </a:prstGeom>
          <a:solidFill>
            <a:srgbClr val="0B0F19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47934" y="5312664"/>
            <a:ext cx="15113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--color-text-primary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393654" y="5550408"/>
            <a:ext cx="14199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6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#0B0F19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78178" y="4370832"/>
            <a:ext cx="1419933" cy="868680"/>
          </a:xfrm>
          <a:prstGeom prst="roundRect">
            <a:avLst>
              <a:gd name="adj" fmla="val 10526"/>
            </a:avLst>
          </a:prstGeom>
          <a:solidFill>
            <a:srgbClr val="374151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32458" y="5312664"/>
            <a:ext cx="15113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--color-text-secondary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978178" y="5550408"/>
            <a:ext cx="14199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6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#374151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562703" y="4370832"/>
            <a:ext cx="1419933" cy="868680"/>
          </a:xfrm>
          <a:prstGeom prst="roundRect">
            <a:avLst>
              <a:gd name="adj" fmla="val 10526"/>
            </a:avLst>
          </a:prstGeom>
          <a:solidFill>
            <a:srgbClr val="9CA3A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516983" y="5312664"/>
            <a:ext cx="15113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--color-text-muted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8562703" y="5550408"/>
            <a:ext cx="14199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6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#9CA3AF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0147227" y="4370832"/>
            <a:ext cx="1419933" cy="868680"/>
          </a:xfrm>
          <a:prstGeom prst="roundRect">
            <a:avLst>
              <a:gd name="adj" fmla="val 10526"/>
            </a:avLst>
          </a:prstGeom>
          <a:solidFill>
            <a:srgbClr val="E5E7EB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101507" y="5312664"/>
            <a:ext cx="15113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--color-border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0147227" y="5550408"/>
            <a:ext cx="14199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6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#E5E7EB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47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664208"/>
            <a:ext cx="5623560" cy="1024128"/>
          </a:xfrm>
          <a:prstGeom prst="roundRect">
            <a:avLst>
              <a:gd name="adj" fmla="val 50000"/>
            </a:avLst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1517904"/>
            <a:ext cx="5349240" cy="102412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151790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Cascada y herencia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65760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dos reglas chocan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420624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Especificidad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475488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de los archivos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530352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Herencia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5852160"/>
            <a:ext cx="5577840" cy="475488"/>
          </a:xfrm>
          <a:prstGeom prst="roundRect">
            <a:avLst>
              <a:gd name="adj" fmla="val 50000"/>
            </a:avLst>
          </a:prstGeom>
          <a:solidFill>
            <a:srgbClr val="F0FCE8"/>
          </a:solidFill>
          <a:ln w="12700">
            <a:solidFill>
              <a:srgbClr val="F0FC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5852160"/>
            <a:ext cx="667512" cy="475488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81328" y="585216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CSS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3894"/>
            </a:avLst>
          </a:prstGeom>
          <a:solidFill>
            <a:srgbClr val="FFFFFF"/>
          </a:solidFill>
          <a:ln w="28575">
            <a:solidFill>
              <a:srgbClr val="36C4CC"/>
            </a:solidFill>
            <a:prstDash val="solid"/>
          </a:ln>
        </p:spPr>
      </p:sp>
      <p:pic>
        <p:nvPicPr>
          <p:cNvPr id="23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528816" y="978408"/>
            <a:ext cx="804672" cy="804672"/>
          </a:xfrm>
          <a:prstGeom prst="ellipse">
            <a:avLst/>
          </a:prstGeom>
          <a:solidFill>
            <a:srgbClr val="72EF2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47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CASCADA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dos reglas chocan, gana una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navegador decide en este orden. Solo pasa al siguiente criterio si hay empate.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694944"/>
          </a:xfrm>
          <a:prstGeom prst="roundRect">
            <a:avLst>
              <a:gd name="adj" fmla="val 1315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706624"/>
            <a:ext cx="512064" cy="512064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8408" y="2706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615184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615184"/>
            <a:ext cx="7635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estilos ganan a los que el navegador trae por defecto.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401568"/>
            <a:ext cx="10927080" cy="694944"/>
          </a:xfrm>
          <a:prstGeom prst="roundRect">
            <a:avLst>
              <a:gd name="adj" fmla="val 1315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3493008"/>
            <a:ext cx="512064" cy="51206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8408" y="34930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3401568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Especificidad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401568"/>
            <a:ext cx="7635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el selector más preciso: un id pesa más que una clase, y una clase más que una etiqueta.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87952"/>
            <a:ext cx="10927080" cy="694944"/>
          </a:xfrm>
          <a:prstGeom prst="roundRect">
            <a:avLst>
              <a:gd name="adj" fmla="val 1315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8408" y="4279392"/>
            <a:ext cx="512064" cy="512064"/>
          </a:xfrm>
          <a:prstGeom prst="ellipse">
            <a:avLst/>
          </a:prstGeom>
          <a:solidFill>
            <a:srgbClr val="4FB817"/>
          </a:solidFill>
          <a:ln w="12700">
            <a:solidFill>
              <a:srgbClr val="4FB81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8408" y="42793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4187952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4187952"/>
            <a:ext cx="7635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todo lo anterior empata, gana la regla que aparece más abajo.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047488"/>
            <a:ext cx="10927080" cy="987552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212080"/>
            <a:ext cx="10469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     { color: inherit; }                    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global.css */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a { color: var(--color-text-primary); }  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contenido.css: gana por especificidad */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47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CASCADA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Especificidad: el marcador de cada selector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casillas: id, clases y etiquetas. Se compara de izquierda a derecha.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315968" y="25968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992624" y="25968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25968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852928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8529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2935224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15968" y="2935224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EB5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92624" y="2935224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92624" y="2935224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EB5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0" y="2935224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0" y="2935224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8529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etiqueta.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429000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15968" y="3511296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15968" y="3511296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EB5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992624" y="3511296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92624" y="3511296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EB5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0" y="3511296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3511296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34290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etiquetas.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005072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0050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15968" y="4087368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4087368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EB5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992624" y="4087368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992624" y="4087368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669280" y="4087368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4087368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EB5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0" y="400507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clase gana a cualquier cantidad de etiquetas.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4581144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4400" y="458114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nav[aria-label="…"] a:hover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315968" y="4663440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15968" y="4663440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EB5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992624" y="4663440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992624" y="4663440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0" y="4663440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69280" y="4663440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0" y="45811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atributos y las pseudo-clases cuentan como clases.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0080" y="5157216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14400" y="515721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#tiempo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315968" y="5239512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315968" y="5239512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992624" y="5239512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992624" y="5239512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EB5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669280" y="5239512"/>
            <a:ext cx="621792" cy="338328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669280" y="5239512"/>
            <a:ext cx="621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EB5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515721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id gana a cualquier cantidad de clases.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40080" y="5760720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BF4F2"/>
          </a:solidFill>
          <a:ln w="12700">
            <a:solidFill>
              <a:srgbClr val="F0D8D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50976" y="5760720"/>
            <a:ext cx="10305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marcador: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style="…" gana a todos los selectores y !important se salta las reglas. Evita los dos.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47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CASCADA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global.css va primero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misma especificidad gana la regla que llega al final: en el mismo archivo o en uno enlazado más abajo.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154680" cy="1508760"/>
          </a:xfrm>
          <a:prstGeom prst="roundRect">
            <a:avLst>
              <a:gd name="adj" fmla="val 606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816352"/>
            <a:ext cx="402336" cy="402336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81635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global.css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34670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general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6210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reset y base de todo el sitio.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2615184"/>
            <a:ext cx="731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526280" y="2615184"/>
            <a:ext cx="3154680" cy="1508760"/>
          </a:xfrm>
          <a:prstGeom prst="roundRect">
            <a:avLst>
              <a:gd name="adj" fmla="val 606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2816352"/>
            <a:ext cx="402336" cy="402336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81635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header.css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782312" y="334670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común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782312" y="36210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 y pie, iguales en cada página.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2615184"/>
            <a:ext cx="731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8412480" y="2615184"/>
            <a:ext cx="3154680" cy="1508760"/>
          </a:xfrm>
          <a:prstGeom prst="roundRect">
            <a:avLst>
              <a:gd name="adj" fmla="val 6061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41080" y="2816352"/>
            <a:ext cx="402336" cy="402336"/>
          </a:xfrm>
          <a:prstGeom prst="ellipse">
            <a:avLst/>
          </a:prstGeom>
          <a:solidFill>
            <a:srgbClr val="4FB817"/>
          </a:solidFill>
          <a:ln w="12700">
            <a:solidFill>
              <a:srgbClr val="4FB81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41080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281635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index.css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68512" y="334670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particular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668512" y="36210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solo existe en esta página.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370832"/>
            <a:ext cx="10927080" cy="987552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4535424"/>
            <a:ext cx="10469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h2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font-size: 2.25rem; }   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dos etiquetas: 0-0-2 */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aside h2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font-size: 1.375rem; }  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también 0-0-2, pero está más abajo en contenido.css: gana */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62356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solo decide cuando la especificidad empata. Lo general va primero para que lo particular pueda ajustarlo.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47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CASCADA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Herencia: lo que pasa de padres a hijos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Algunas propiedades bajan solas a las etiquetas que están dentro. Otras no.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1572768"/>
          </a:xfrm>
          <a:prstGeom prst="roundRect">
            <a:avLst>
              <a:gd name="adj" fmla="val 5814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heredan: las de texto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885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· font-family · font-size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line-height · text-align · letter-spacing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1572768"/>
          </a:xfrm>
          <a:prstGeom prst="roundRect">
            <a:avLst>
              <a:gd name="adj" fmla="val 5814"/>
            </a:avLst>
          </a:prstGeom>
          <a:solidFill>
            <a:srgbClr val="FBF4F2"/>
          </a:solidFill>
          <a:ln w="12700">
            <a:solidFill>
              <a:srgbClr val="F0D8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heredan: las de caja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885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 · padding · border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· width · height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4553712"/>
            <a:ext cx="48920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var(--color-text-secondary);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font-family: var(--font-body);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line-height: 1.6;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438912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EAFAFB"/>
          </a:solidFill>
          <a:ln w="12700">
            <a:solidFill>
              <a:srgbClr val="BFEA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28816" y="455371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excepciones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28816" y="4919472"/>
            <a:ext cx="4727448" cy="1016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enlaces, los botones y los campos de formulario traen estilos propios del navegador, y una regla directa siempre gana a lo heredado. Hay que pedírselo: color: inherit en los enlaces y font: inherit en botones y campos.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47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CASCADA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CSS: los tokens de Figma en el código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declaran una vez en :root y, como se heredan, sirven en toda la página.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852160" cy="3017520"/>
          </a:xfrm>
          <a:prstGeom prst="roundRect">
            <a:avLst>
              <a:gd name="adj" fmla="val 303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394960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 {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--color-primary: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#06B6C4;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--color-text-primary: #0B0F19;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--font-heading: 'Outfit', sans-serif;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--radius-sm: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8px;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 {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background-color: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var(--color-primary)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border-radius: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var(--radius-sm)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20840" y="2615184"/>
            <a:ext cx="4846320" cy="548640"/>
          </a:xfrm>
          <a:prstGeom prst="roundRect">
            <a:avLst>
              <a:gd name="adj" fmla="val 16667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95160" y="261518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--nombre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61518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con dos guiones delante.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720840" y="3255264"/>
            <a:ext cx="484632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95160" y="325526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var(--nombre)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325526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 en el valor de cualquier propiedad.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3895344"/>
            <a:ext cx="4846320" cy="548640"/>
          </a:xfrm>
          <a:prstGeom prst="roundRect">
            <a:avLst>
              <a:gd name="adj" fmla="val 16667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389534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38953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raíz: todas las etiquetas heredan de ella.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4590288"/>
            <a:ext cx="4846320" cy="1042416"/>
          </a:xfrm>
          <a:prstGeom prst="roundRect">
            <a:avLst>
              <a:gd name="adj" fmla="val 8772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31736" y="4718304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vale la pena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031736" y="5084064"/>
            <a:ext cx="4224528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cambia el color de la marca, editas una línea y se actualiza todo el sitio.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47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27248" y="2779776"/>
            <a:ext cx="5943600" cy="960120"/>
          </a:xfrm>
          <a:prstGeom prst="roundRect">
            <a:avLst>
              <a:gd name="adj" fmla="val 50000"/>
            </a:avLst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127248" y="2651760"/>
            <a:ext cx="5943600" cy="960120"/>
          </a:xfrm>
          <a:prstGeom prst="roundRect">
            <a:avLst>
              <a:gd name="adj" fmla="val 50000"/>
            </a:avLst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127248" y="2651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 · 15 MINUTOS</a:t>
            </a:r>
            <a:endParaRPr lang="en-US" sz="2000" dirty="0"/>
          </a:p>
        </p:txBody>
      </p:sp>
      <p:pic>
        <p:nvPicPr>
          <p:cNvPr id="5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397764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5321808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volver abrimos Figma para leer las medidas de la cabecera. Ten abiertos tu carpeta y tu archivo de Figma.</a:t>
            </a:r>
            <a:endParaRPr lang="en-US" sz="1200" dirty="0"/>
          </a:p>
        </p:txBody>
      </p:sp>
      <p:pic>
        <p:nvPicPr>
          <p:cNvPr id="7" name="Image 1" descr="/home/claude/trabajo/plantilla/assets/punt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5897880"/>
            <a:ext cx="182880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47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strumental: aplicación del conocimiento con ejercicios y demostraci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47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Diccionario: de Figma a CSS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control del panel derecho de Figma tiene su propiedad en CSS.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40080" y="261518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" y="261518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Disposición automática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697480" y="261518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61518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display: flex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316382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6112" y="316382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→ o ↓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697480" y="316382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108960" y="316382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flex-direction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371246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6112" y="371246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]-[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697480" y="371246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108960" y="371246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426110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96112" y="426110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Espacio: Auto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2697480" y="426110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108960" y="426110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justify-content: space-between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0080" y="480974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6112" y="480974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Espaciado [ ]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697480" y="480974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108960" y="480974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535838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6112" y="535838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Alineación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697480" y="535838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108960" y="535838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align-items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217920" y="261518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73952" y="261518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 fijo · Altura fija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8275320" y="261518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686800" y="261518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 · height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217920" y="316382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316382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Llenar el contenedor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275320" y="316382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686800" y="316382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flex: 1  ·  width: 100%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217920" y="371246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371246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275320" y="371246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686800" y="371246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background-color · color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217920" y="426110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426110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Trazo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275320" y="426110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686800" y="426110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217920" y="480974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473952" y="480974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de esquina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275320" y="480974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686800" y="480974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border-radius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6217920" y="5358384"/>
            <a:ext cx="534924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473952" y="5358384"/>
            <a:ext cx="1783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Recortar contenido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5358384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8686800" y="5358384"/>
            <a:ext cx="2697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overflow: hidden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40080" y="6016752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al contenido no suele necesitar propiedad: dentro de un contenedor flex, cada elemento mide lo que su contenido.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47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cabecera: del panel al código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 la capa Header (Paso 2 del manual) y lee el panel derecho de arriba abajo.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25877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25877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header.css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83464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H: Altura fija 80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83464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83464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height: 80px;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38328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 #FFFFFF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38328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38328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background-color: var(--color-surface);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93192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Trazo inferior #E5E7EB, grosor 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93192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93192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border-bottom: 1px solid var(--color-border);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48056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448056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→ y Alineación al centro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448056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48056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display: flex;   align-items: center;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6112" y="502920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Espacio: Auto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502920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502920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justify-content: space-between;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57784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" y="557784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Espaciado 0 · 80 · 0 · 80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557784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557784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padding: 0 80px;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47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Hero: las medidas que usarás en la tarea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6 al 9 del manual. Si tu CSS no coincide con tu Figma, manda Figma.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25877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25877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index.css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83464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hero-section · Espacio 64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83464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83464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gap: 64px;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38328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hero-section · Espaciado 160 · 80 · 100 · 80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38328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38328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padding: 160px 80px 100px 80px;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93192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hero-left · Ancho 696 y Espacio 32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93192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93192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max-width: 696px;   gap: 32px;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48056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448056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 · Outfit ExtraBold 64, altura 110 %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448056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48056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font-size: 64px;   line-height: 1.1;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6112" y="502920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· Espaciado 14 y 24, Radio 8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502920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502920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padding: 14px 24px;   border-radius: 8px;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57784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" y="557784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hero-right · Ancho 520, Radio 12, Recortar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557784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557784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max-width: 520px;   overflow: hidden;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163056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lleva el mismo orden que Figma: arriba, derecha, abajo, izquierda.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47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valores que se repiten se vuelven variables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colores, las fuentes y los radios que usas una y otra vez en Figma se guardan una sola vez en CSS.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425196"/>
          </a:xfrm>
          <a:prstGeom prst="roundRect">
            <a:avLst>
              <a:gd name="adj" fmla="val 21505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92908"/>
            <a:ext cx="402336" cy="269748"/>
          </a:xfrm>
          <a:prstGeom prst="roundRect">
            <a:avLst>
              <a:gd name="adj" fmla="val 16949"/>
            </a:avLst>
          </a:prstGeom>
          <a:solidFill>
            <a:srgbClr val="06B6C4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89888" y="2615184"/>
            <a:ext cx="25146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2615184"/>
            <a:ext cx="10058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#06B6C4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2615184"/>
            <a:ext cx="18745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 y acentos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104388"/>
            <a:ext cx="6309360" cy="425196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182112"/>
            <a:ext cx="402336" cy="269748"/>
          </a:xfrm>
          <a:prstGeom prst="roundRect">
            <a:avLst>
              <a:gd name="adj" fmla="val 16949"/>
            </a:avLst>
          </a:prstGeom>
          <a:solidFill>
            <a:srgbClr val="F9FAFB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89888" y="3104388"/>
            <a:ext cx="25146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--color-bg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3104388"/>
            <a:ext cx="10058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#F9FAFB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983480" y="3104388"/>
            <a:ext cx="18745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la página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93592"/>
            <a:ext cx="6309360" cy="425196"/>
          </a:xfrm>
          <a:prstGeom prst="roundRect">
            <a:avLst>
              <a:gd name="adj" fmla="val 21505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671316"/>
            <a:ext cx="402336" cy="269748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89888" y="3593592"/>
            <a:ext cx="25146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--color-surface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593592"/>
            <a:ext cx="10058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#FFFFFF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3593592"/>
            <a:ext cx="18745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 y tarjetas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082796"/>
            <a:ext cx="6309360" cy="425196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160520"/>
            <a:ext cx="402336" cy="269748"/>
          </a:xfrm>
          <a:prstGeom prst="roundRect">
            <a:avLst>
              <a:gd name="adj" fmla="val 16949"/>
            </a:avLst>
          </a:prstGeom>
          <a:solidFill>
            <a:srgbClr val="0B0F19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89888" y="4082796"/>
            <a:ext cx="25146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--color-text-primary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931920" y="4082796"/>
            <a:ext cx="10058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#0B0F19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4082796"/>
            <a:ext cx="18745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572000"/>
            <a:ext cx="6309360" cy="425196"/>
          </a:xfrm>
          <a:prstGeom prst="roundRect">
            <a:avLst>
              <a:gd name="adj" fmla="val 21505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649724"/>
            <a:ext cx="402336" cy="269748"/>
          </a:xfrm>
          <a:prstGeom prst="roundRect">
            <a:avLst>
              <a:gd name="adj" fmla="val 16949"/>
            </a:avLst>
          </a:prstGeom>
          <a:solidFill>
            <a:srgbClr val="374151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89888" y="4572000"/>
            <a:ext cx="25146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--color-text-secondary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931920" y="4572000"/>
            <a:ext cx="10058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#374151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4572000"/>
            <a:ext cx="18745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Párrafos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061204"/>
            <a:ext cx="6309360" cy="425196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138928"/>
            <a:ext cx="402336" cy="269748"/>
          </a:xfrm>
          <a:prstGeom prst="roundRect">
            <a:avLst>
              <a:gd name="adj" fmla="val 16949"/>
            </a:avLst>
          </a:prstGeom>
          <a:solidFill>
            <a:srgbClr val="9CA3AF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89888" y="5061204"/>
            <a:ext cx="25146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--color-text-muted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931920" y="5061204"/>
            <a:ext cx="10058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#9CA3AF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5061204"/>
            <a:ext cx="18745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en reposo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5550408"/>
            <a:ext cx="6309360" cy="425196"/>
          </a:xfrm>
          <a:prstGeom prst="roundRect">
            <a:avLst>
              <a:gd name="adj" fmla="val 21505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5628132"/>
            <a:ext cx="402336" cy="269748"/>
          </a:xfrm>
          <a:prstGeom prst="roundRect">
            <a:avLst>
              <a:gd name="adj" fmla="val 16949"/>
            </a:avLst>
          </a:prstGeom>
          <a:solidFill>
            <a:srgbClr val="E5E7EB"/>
          </a:solidFill>
          <a:ln w="12700">
            <a:solidFill>
              <a:srgbClr val="E1E5E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389888" y="5550408"/>
            <a:ext cx="25146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--color-border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931920" y="5550408"/>
            <a:ext cx="10058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#E5E7EB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5550408"/>
            <a:ext cx="18745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Bordes sutiles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178040" y="2615184"/>
            <a:ext cx="4389120" cy="425196"/>
          </a:xfrm>
          <a:prstGeom prst="roundRect">
            <a:avLst>
              <a:gd name="adj" fmla="val 21505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379208" y="2615184"/>
            <a:ext cx="173736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--font-heading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144000" y="2615184"/>
            <a:ext cx="13258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'Outfit'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515600" y="2615184"/>
            <a:ext cx="9601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178040" y="3104388"/>
            <a:ext cx="4389120" cy="425196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79208" y="3104388"/>
            <a:ext cx="173736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--font-body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144000" y="3104388"/>
            <a:ext cx="13258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'Geist'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10515600" y="3104388"/>
            <a:ext cx="9601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178040" y="3593592"/>
            <a:ext cx="4389120" cy="425196"/>
          </a:xfrm>
          <a:prstGeom prst="roundRect">
            <a:avLst>
              <a:gd name="adj" fmla="val 21505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79208" y="3593592"/>
            <a:ext cx="173736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--font-code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144000" y="3593592"/>
            <a:ext cx="13258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'Geist Mono'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10515600" y="3593592"/>
            <a:ext cx="9601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178040" y="4082796"/>
            <a:ext cx="4389120" cy="425196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379208" y="4082796"/>
            <a:ext cx="173736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--radius-sm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9144000" y="4082796"/>
            <a:ext cx="13258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8px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515600" y="4082796"/>
            <a:ext cx="9601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178040" y="4572000"/>
            <a:ext cx="4389120" cy="425196"/>
          </a:xfrm>
          <a:prstGeom prst="roundRect">
            <a:avLst>
              <a:gd name="adj" fmla="val 21505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379208" y="4572000"/>
            <a:ext cx="173736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B8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--radius-md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9144000" y="4572000"/>
            <a:ext cx="13258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2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12px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0515600" y="4572000"/>
            <a:ext cx="96012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7178040" y="5120640"/>
            <a:ext cx="4389120" cy="914400"/>
          </a:xfrm>
          <a:prstGeom prst="roundRect">
            <a:avLst>
              <a:gd name="adj" fmla="val 10000"/>
            </a:avLst>
          </a:prstGeom>
          <a:solidFill>
            <a:srgbClr val="EAFAFB"/>
          </a:solidFill>
          <a:ln w="12700">
            <a:solidFill>
              <a:srgbClr val="BFEAEE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415784" y="5239512"/>
            <a:ext cx="3913632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Figma: selecciona una capa y copia cada valor desde las secciones Relleno, Tipografía y Radio de esquina.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47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juntos: global.css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Escríbelo conmigo, línea por línea. No lo copies y pegues.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@import url('https://fonts.googleapis.com/…');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--color-bg: #F9FAFB;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…el resto de los tokens */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*, *::before, *::after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box-sizing: border-box;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background-color: var(--color-bg);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font-family: var(--font-body);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790688" y="2615184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750808" y="261518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assets/css y, dentro, global.css.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132320" y="321503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96912" y="3315614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96912" y="33156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790688" y="3215030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750808" y="321503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@import siempre en la primera línea.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32320" y="3814877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96912" y="3915461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96912" y="391546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7790688" y="3814877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750808" y="3814877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:root con las variables de Figma.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132320" y="4414723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296912" y="4515307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96912" y="45153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790688" y="4414723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8750808" y="4414723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márgenes ni rellenos por defecto.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132320" y="501457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296912" y="5115154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296912" y="51151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7790688" y="5014570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8750808" y="501457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body, títulos, enlaces y listas.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132320" y="56144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96912" y="5715000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96912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7790688" y="5614416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Enlaza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8750808" y="561441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en el head y comprueba el fondo.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47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juntos: header.css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regla usa un selector distinto de los que acabas de aprender.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height: 80px;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background-color: var(--color-surface);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border-bottom: 1px solid var(--color-border);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display: flex;        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anticipo de la sesión 10 */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align-items: center;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justify-content: space-between;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 80px;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position: sticky;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top: 0;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h1 a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…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nav[aria-label="Navegacion principal"] a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…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nav[aria-label="Navegacion principal"] a:hover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…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&gt; a[href="contactame.html"]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…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footer nav ul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… 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790688" y="2615184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750808" y="261518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header: alto, fondo y borde inferior.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132320" y="321503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96912" y="3315614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96912" y="33156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790688" y="3215030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Logotipo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750808" y="321503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h1 a: descendiente.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32320" y="3814877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96912" y="3915461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96912" y="391546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7790688" y="3814877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750808" y="3814877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nav[aria-label]: de atributo.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132320" y="4414723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296912" y="4515307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96912" y="45153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790688" y="4414723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8750808" y="4414723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a:hover: pseudo-clase.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132320" y="501457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296912" y="5115154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296912" y="51151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7790688" y="5014570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8750808" y="501457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&gt; a: hijo directo.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132320" y="56144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96912" y="5715000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96912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7790688" y="5614416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8750808" y="561441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 y footer nav ul.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47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la cascada en DevTools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derecho sobre un enlace del contenido › Inspeccionar › pestaña Styles.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852160" cy="3200400"/>
          </a:xfrm>
          <a:prstGeom prst="roundRect">
            <a:avLst>
              <a:gd name="adj" fmla="val 2857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394960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a {                      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contenido.css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var(--color-text-primary);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text-decoration: underline;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{                              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global.css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100" strike="sngStrike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text-decoration: none;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100" strike="sngStrike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inherit;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72EF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Inherited from body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font-family: var(--font-body);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20840" y="2615184"/>
            <a:ext cx="4846320" cy="694944"/>
          </a:xfrm>
          <a:prstGeom prst="roundRect">
            <a:avLst>
              <a:gd name="adj" fmla="val 1315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95160" y="2615184"/>
            <a:ext cx="1600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Arriba, la que gana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615184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salen ordenadas de mayor a menor prioridad.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720840" y="3450031"/>
            <a:ext cx="4846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95160" y="3450031"/>
            <a:ext cx="1600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Tachado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3450031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declaración vencida por otra más específica o posterior.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4284878"/>
            <a:ext cx="4846320" cy="694944"/>
          </a:xfrm>
          <a:prstGeom prst="roundRect">
            <a:avLst>
              <a:gd name="adj" fmla="val 13158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4284878"/>
            <a:ext cx="1600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Inherited from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4284878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etiqueta recibió por herencia.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5119726"/>
            <a:ext cx="4846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95160" y="5119726"/>
            <a:ext cx="1600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Casillas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595360" y="511972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Desmarca una declaración para ver la página sin ella.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96188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no modifica tus archivos: al recargar la página todo vuelve a su estado.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47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tú: lleva los estilos a las otras páginas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25 minutos. Usa los selectores y las unidades de hoy.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6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Enlaza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global.css, header.css y contenido.css, en ese orden, en las tres páginas interiores.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de lectura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con max-width: 800px, margin: 0 auto y padding: 6.25rem 1.5rem.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4FB817"/>
          </a:solidFill>
          <a:ln w="12700">
            <a:solidFill>
              <a:srgbClr val="4FB81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descendiente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h2 a 2.25rem (los 36 px de Figma) y márgenes en rem para main p y main section.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5AD3DA"/>
          </a:solidFill>
          <a:ln w="12700">
            <a:solidFill>
              <a:srgbClr val="5AD3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agrupado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aside, article, fieldset como tarjetas: fondo, borde y radio con variables.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63ED12"/>
          </a:solidFill>
          <a:ln w="12700">
            <a:solidFill>
              <a:srgbClr val="63ED1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input, select, textarea con font: inherit y width: 100%. La casilla, con input[type="checkbox"].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7E5A94"/>
          </a:solidFill>
          <a:ln w="12700">
            <a:solidFill>
              <a:srgbClr val="7E5A9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5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Multimedia y cierre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img, video, iframe con max-width: 100%. Valida en W3C y publica.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terminas antes: pinta el botón de envío con button[type="submit"] y var(--color-primary).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47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ivelador: nivel de comprensión del estudia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47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Autoevaluación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mentalmente cada punto. Si dudas en alguno, pregunta ahora.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88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36C4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2615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enlazar una hoja de estilos externa y en qué orden van.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070555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143707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36C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3070555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Distingo selector, propiedad, valor y declaración.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25926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599078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36C4C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71600" y="3525926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Puedo elegir entre un selector de tipo, de clase y de id.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981298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54450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36C4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0" y="3981298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leer un selector con espacio, con &gt; y con [atributo].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436669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509821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36C4C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4436669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cuándo usar px, rem, em y %.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892040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965192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36C4C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71600" y="4892040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Puedo predecir qué regla gana contando su especificidad.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347411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420563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36C4C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71600" y="5347411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qué propiedades se heredan y cuáles no.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802782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5875934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36C4C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371600" y="5802782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Puedo leer una medida en Figma y escribirla como declaración CSS.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47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de consultas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parte quedó menos clara?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724912"/>
            <a:ext cx="2628900" cy="1892808"/>
          </a:xfrm>
          <a:prstGeom prst="roundRect">
            <a:avLst>
              <a:gd name="adj" fmla="val 4831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980944"/>
            <a:ext cx="22631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¿Clase o id?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56432"/>
            <a:ext cx="21717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conviene crear una clase nueva?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2724912"/>
            <a:ext cx="2628900" cy="1892808"/>
          </a:xfrm>
          <a:prstGeom prst="roundRect">
            <a:avLst>
              <a:gd name="adj" fmla="val 4831"/>
            </a:avLst>
          </a:prstGeom>
          <a:solidFill>
            <a:srgbClr val="EAFAFB"/>
          </a:solidFill>
          <a:ln w="12700">
            <a:solidFill>
              <a:srgbClr val="BFEA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2980944"/>
            <a:ext cx="22631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¿px o rem?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4740" y="3456432"/>
            <a:ext cx="21717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uso para el tamaño de un título?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2724912"/>
            <a:ext cx="2628900" cy="1892808"/>
          </a:xfrm>
          <a:prstGeom prst="roundRect">
            <a:avLst>
              <a:gd name="adj" fmla="val 4831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2980944"/>
            <a:ext cx="22631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¿No se aplica?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456432"/>
            <a:ext cx="21717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Escribí la regla y la página no cambia.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2724912"/>
            <a:ext cx="2628900" cy="1892808"/>
          </a:xfrm>
          <a:prstGeom prst="roundRect">
            <a:avLst>
              <a:gd name="adj" fmla="val 4831"/>
            </a:avLst>
          </a:prstGeom>
          <a:solidFill>
            <a:srgbClr val="EAFAFB"/>
          </a:solidFill>
          <a:ln w="12700">
            <a:solidFill>
              <a:srgbClr val="BFEA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2980944"/>
            <a:ext cx="22631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flexbox?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166860" y="3456432"/>
            <a:ext cx="21717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display: flex en la cabecera?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55464"/>
            <a:ext cx="10927080" cy="1170432"/>
          </a:xfrm>
          <a:prstGeom prst="roundRect">
            <a:avLst>
              <a:gd name="adj" fmla="val 7813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0976" y="5010912"/>
            <a:ext cx="10305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una regla no se aplica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5376672"/>
            <a:ext cx="10305288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en este orden: la ruta del link, el punto y coma de la línea anterior, el nombre del selector y, al final, si otra regla más específica la está venciendo. DevTools te la muestra tachada.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47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uncional: aplicar lo apren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47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de la sesión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parte del 40 % de participación en clases [P].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3410712"/>
          </a:xfrm>
          <a:prstGeom prst="roundRect">
            <a:avLst>
              <a:gd name="adj" fmla="val 2681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272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Maqueta el Hero Section de tu página de inicio siguiendo la guía (Pasos 6 y 7).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cada medida contra tu Figma: título de 64, Espacio 32 y Espaciado 160 · 80 · 100 · 80.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variables var(--…) para todos los colores, fuentes y radios.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DevTools con una declaración tachada y explica por qué perdió.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sin errores y publica en Netlify.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3410712"/>
          </a:xfrm>
          <a:prstGeom prst="roundRect">
            <a:avLst>
              <a:gd name="adj" fmla="val 2681"/>
            </a:avLst>
          </a:prstGeom>
          <a:solidFill>
            <a:srgbClr val="F7FDF4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de entrega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0" y="3328416"/>
            <a:ext cx="384048" cy="384048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332841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la URL publicada al Aula Virtual.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0" y="3968496"/>
            <a:ext cx="384048" cy="384048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396849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Adjuntar captura del validador W3C sin errores.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0" y="4608576"/>
            <a:ext cx="384048" cy="384048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460857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envío es obligatorio dentro del plazo establecido.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0" y="5248656"/>
            <a:ext cx="384048" cy="384048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524865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en ClassDojo como participación en clase.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47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entador: conclusión del te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47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clave de la sesión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5528" y="2697480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2651760"/>
            <a:ext cx="10012680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define qué es cada contenido; CSS define cómo se ve, en archivos aparte.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95528" y="3134563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31345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3088843"/>
            <a:ext cx="10012680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regla es un selector más una lista de declaraciones del tipo propiedad: valor;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571646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57164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3525926"/>
            <a:ext cx="10012680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selector decide a quién se aplica: tipo, clase, id, atributo y sus combinaciones.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4008730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400873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3963010"/>
            <a:ext cx="10012680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 es una medida fija; rem, em y % se calculan a partir de otra medida.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445813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444581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400093"/>
            <a:ext cx="10012680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dos reglas chocan deciden la especificidad y, si empatan, el orden.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" y="4882896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" y="4882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4837176"/>
            <a:ext cx="10012680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propiedades de texto se heredan; las de caja, no.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95528" y="5319979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531997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53312" y="5274259"/>
            <a:ext cx="10012680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control de Figma tiene su propiedad en CSS; sus colores y fuentes se guardan como variables en :root.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95528" y="5757062"/>
            <a:ext cx="329184" cy="32918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575706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5711342"/>
            <a:ext cx="10012680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estilos se reparten en archivos por función y se enlazan de lo general a lo particular.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47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E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vamos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 ya tiene estructura, multimedia y sus primeros estilos. Lo que viene.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51560" y="3895344"/>
            <a:ext cx="10104120" cy="0"/>
          </a:xfrm>
          <a:prstGeom prst="line">
            <a:avLst/>
          </a:prstGeom>
          <a:noFill/>
          <a:ln w="31750">
            <a:solidFill>
              <a:srgbClr val="D9F2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84248" y="3817620"/>
            <a:ext cx="155448" cy="155448"/>
          </a:xfrm>
          <a:prstGeom prst="ellipse">
            <a:avLst/>
          </a:prstGeom>
          <a:solidFill>
            <a:srgbClr val="5AD3DA"/>
          </a:solidFill>
          <a:ln w="12700">
            <a:solidFill>
              <a:srgbClr val="5AD3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07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Multimedia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133088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y audio listos para publicar.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63924" y="3776472"/>
            <a:ext cx="237744" cy="237744"/>
          </a:xfrm>
          <a:prstGeom prst="ellipse">
            <a:avLst/>
          </a:prstGeom>
          <a:solidFill>
            <a:srgbClr val="72EF29"/>
          </a:solidFill>
          <a:ln w="12700">
            <a:solidFill>
              <a:srgbClr val="72EF2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2384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08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072384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163824" y="4133088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Sintaxis, selectores y cascada.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25896" y="3817620"/>
            <a:ext cx="155448" cy="155448"/>
          </a:xfrm>
          <a:prstGeom prst="ellipse">
            <a:avLst/>
          </a:prstGeom>
          <a:solidFill>
            <a:srgbClr val="36C4CC"/>
          </a:solidFill>
          <a:ln w="12700">
            <a:solidFill>
              <a:srgbClr val="36C4C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93208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09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093208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6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84648" y="4133088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Color, tipografía, fondos y bordes.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46720" y="3817620"/>
            <a:ext cx="155448" cy="155448"/>
          </a:xfrm>
          <a:prstGeom prst="ellipse">
            <a:avLst/>
          </a:prstGeom>
          <a:solidFill>
            <a:srgbClr val="4FB817"/>
          </a:solidFill>
          <a:ln w="12700">
            <a:solidFill>
              <a:srgbClr val="4FB81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14032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Maquetación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4133088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caja, flexbox y grid.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067544" y="3817620"/>
            <a:ext cx="155448" cy="155448"/>
          </a:xfrm>
          <a:prstGeom prst="ellipse">
            <a:avLst/>
          </a:prstGeom>
          <a:solidFill>
            <a:srgbClr val="63ED12"/>
          </a:solidFill>
          <a:ln w="12700">
            <a:solidFill>
              <a:srgbClr val="63ED1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34856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50" kern="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134856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B8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Animaciones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226296" y="4133088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 y transiciones.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5340096"/>
            <a:ext cx="10927080" cy="694944"/>
          </a:xfrm>
          <a:prstGeom prst="roundRect">
            <a:avLst>
              <a:gd name="adj" fmla="val 13158"/>
            </a:avLst>
          </a:prstGeom>
          <a:solidFill>
            <a:srgbClr val="F0FCE8"/>
          </a:solidFill>
          <a:ln w="12700">
            <a:solidFill>
              <a:srgbClr val="D9F2C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50976" y="5340096"/>
            <a:ext cx="10305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sesión 09: trae tu Hero Section terminado. Con color, tipografía, bordes y rellenos daremos estilo a Sobre mí, Proyectos y Contacto.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181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B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47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Centro de Informática USS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08 · Introducción a CSS3</dc:title>
  <dc:subject>Curso de Diseño Web</dc:subject>
  <dc:creator>Ing. Dagner Anibal Chuman Lluen</dc:creator>
  <cp:lastModifiedBy>Ing. Dagner Anibal Chuman Lluen</cp:lastModifiedBy>
  <cp:revision>1</cp:revision>
  <dcterms:created xsi:type="dcterms:W3CDTF">2026-10-04T05:28:59Z</dcterms:created>
  <dcterms:modified xsi:type="dcterms:W3CDTF">2026-10-04T05:28:59Z</dcterms:modified>
</cp:coreProperties>
</file>