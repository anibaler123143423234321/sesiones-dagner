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</p:sldIdLst>
  <p:notesMasterIdLst>
    <p:notesMasterId r:id="rId4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notesMaster" Target="notesMasters/notesMaster1.xml"/><Relationship Id="rId48" Type="http://schemas.openxmlformats.org/officeDocument/2006/relationships/presProps" Target="presProps.xml"/><Relationship Id="rId49" Type="http://schemas.openxmlformats.org/officeDocument/2006/relationships/viewProps" Target="viewProps.xml"/><Relationship Id="rId50" Type="http://schemas.openxmlformats.org/officeDocument/2006/relationships/theme" Target="theme/theme1.xml"/><Relationship Id="rId5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jp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jp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jp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jp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jp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jpg"/><Relationship Id="rId2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jpg"/><Relationship Id="rId2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jp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jp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port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4630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EPTU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conceptu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STRUMENT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instrument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IVEL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nivel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UNCIONAL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funcional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RIENTADOR_LIBR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sesiones-dagner/2613c8c1-437c-54f4-94d9-b62c29473bbd/scratchpad/deck/media/band-orientado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118872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gif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0368" y="1737360"/>
            <a:ext cx="1737360" cy="173736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127248" y="3639312"/>
            <a:ext cx="5943600" cy="84124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3127248" y="3639312"/>
            <a:ext cx="5943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ESPERANDO A LOS COMPAÑEROS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1371600" y="4700016"/>
            <a:ext cx="944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 · comenzamos en unos minutos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1371600" y="5120640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Abre tu carpeta mi-portafolio y tu archivo de Figma. Hoy tu página responde al cursor.</a:t>
            </a:r>
            <a:endParaRPr lang="en-US" sz="1150" dirty="0"/>
          </a:p>
        </p:txBody>
      </p:sp>
      <p:sp>
        <p:nvSpPr>
          <p:cNvPr id="7" name="Shape 4"/>
          <p:cNvSpPr/>
          <p:nvPr/>
        </p:nvSpPr>
        <p:spPr>
          <a:xfrm>
            <a:off x="4718304" y="5861304"/>
            <a:ext cx="2761488" cy="466344"/>
          </a:xfrm>
          <a:prstGeom prst="roundRect">
            <a:avLst>
              <a:gd name="adj" fmla="val 4902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718304" y="5861304"/>
            <a:ext cx="2761488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3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45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2048256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DISEÑO WEB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2432304"/>
            <a:ext cx="7406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y animaciones CSS3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685800" y="3566160"/>
            <a:ext cx="2148840" cy="457200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35661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6110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· transition · transform · @keyframes · el prototipo en Figma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809744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5084064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8366760" y="2286000"/>
            <a:ext cx="3291840" cy="1691640"/>
          </a:xfrm>
          <a:prstGeom prst="roundRect">
            <a:avLst>
              <a:gd name="adj" fmla="val 540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450592"/>
            <a:ext cx="2834640" cy="1362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transform 0.2s;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.btn:hover {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transform: translateY(-2px);</a:t>
            </a:r>
            <a:endParaRPr lang="en-US" sz="12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45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Cómo te sientes hoy?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45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¿Qué es CINFO? Conceptual, Instrumental, Nivelador, Funcional y Orientad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/ 45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onocimientos previos y definiciones cl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/ 45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dónde venimos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ya tiene color, letra y distribución. Todavía está quieto.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tienes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hojas de estilo con las variables de Figma.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Hero, Sobre mí y Contacto con Flexbox; Proyectos y el formulario con Grid.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diseño completo en Figma: Pasos 1 al 14.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1920240"/>
          </a:xfrm>
          <a:prstGeom prst="roundRect">
            <a:avLst>
              <a:gd name="adj" fmla="val 476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sumas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Estados: cómo se ve algo con el cursor encima.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 suaves entre un estado y otro.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 y animaciones que arrancan solas.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736592"/>
            <a:ext cx="10927080" cy="1298448"/>
          </a:xfrm>
          <a:prstGeom prst="roundRect">
            <a:avLst>
              <a:gd name="adj" fmla="val 7042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736592"/>
            <a:ext cx="10305288" cy="1298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hace distinta a esta sesión 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hoy cada regla describía un solo momento. Ahora describes dos (el normal y el que aparece con el cursor) y le dices al navegador cómo pasar de uno a otro, en cuánto tiempo y con qué ritmo.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/ 45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LOGROS DE APRENDIZAJE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vas a lograr hoy?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615184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78408" y="2670048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78408" y="267004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691640" y="2615184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4114800" y="2615184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estados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:active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un elemento.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" y="3319272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78408" y="3374136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78408" y="337413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3319272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Suavizar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3319272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 de un estado a otro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duración y curva.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023360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8408" y="4078224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78408" y="40782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1691640" y="4023360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Mover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4114800" y="4023360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Desplazar, escalar y girar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sin empujar a los vecinos.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" y="4727448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78408" y="4782312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78408" y="478231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691640" y="47274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Animar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4114800" y="4727448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con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una animación que arranca sola.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40080" y="5431536"/>
            <a:ext cx="10927080" cy="621792"/>
          </a:xfrm>
          <a:prstGeom prst="roundRect">
            <a:avLst>
              <a:gd name="adj" fmla="val 14706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78408" y="5486400"/>
            <a:ext cx="512064" cy="51206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978408" y="548640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1691640" y="5431536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Prototipar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114800" y="5431536"/>
            <a:ext cx="7178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Hacer en Figma un botón con variante Hover y Animación inteligente.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/ 45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reparten las 4 horas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57860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0120" y="261518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26151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1664208" y="257860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257860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:hover, :active y :focus; forzarlos en DevTools.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0195560" y="257860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min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" y="304952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08610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30861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1664208" y="304952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349240" y="304952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transition, duración, curvas y qué se puede animar.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0195560" y="304952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min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520440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60120" y="3557016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60120" y="35570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1664208" y="3520440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5349240" y="3520440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translate, scale y rotate en botones y tarjetas.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0195560" y="3520440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3991356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60120" y="4027932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40279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1664208" y="3991356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5349240" y="3991356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@keyframes, animation y el movimiento reducido.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0195560" y="3991356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min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4462272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60120" y="4498848"/>
            <a:ext cx="347472" cy="347472"/>
          </a:xfrm>
          <a:prstGeom prst="ellipse">
            <a:avLst/>
          </a:prstGeom>
          <a:solidFill>
            <a:srgbClr val="5F676C"/>
          </a:solidFill>
          <a:ln w="12700">
            <a:solidFill>
              <a:srgbClr val="5F676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60120" y="4498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050" dirty="0"/>
          </a:p>
        </p:txBody>
      </p:sp>
      <p:sp>
        <p:nvSpPr>
          <p:cNvPr id="31" name="Text 29"/>
          <p:cNvSpPr txBox="1"/>
          <p:nvPr/>
        </p:nvSpPr>
        <p:spPr>
          <a:xfrm>
            <a:off x="1664208" y="4462272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10195560" y="4462272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33188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0120" y="4969764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0120" y="4969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1664208" y="4933188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Figma: el prototipo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4933188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Componente, variante Hover y Animación inteligente.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0195560" y="4933188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40080" y="5404104"/>
            <a:ext cx="1092708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60120" y="5440680"/>
            <a:ext cx="347472" cy="347472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0120" y="54406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50" dirty="0"/>
          </a:p>
        </p:txBody>
      </p:sp>
      <p:sp>
        <p:nvSpPr>
          <p:cNvPr id="42" name="Text 40"/>
          <p:cNvSpPr txBox="1"/>
          <p:nvPr/>
        </p:nvSpPr>
        <p:spPr>
          <a:xfrm>
            <a:off x="1664208" y="5404104"/>
            <a:ext cx="3566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Práctica en tu portafolio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5349240" y="5404104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Menú, botones, tarjetas y la entrada del Hero.</a:t>
            </a:r>
            <a:endParaRPr lang="en-US" sz="1100" dirty="0"/>
          </a:p>
        </p:txBody>
      </p:sp>
      <p:sp>
        <p:nvSpPr>
          <p:cNvPr id="44" name="Text 42"/>
          <p:cNvSpPr txBox="1"/>
          <p:nvPr/>
        </p:nvSpPr>
        <p:spPr>
          <a:xfrm>
            <a:off x="10195560" y="5404104"/>
            <a:ext cx="1188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 min</a:t>
            </a:r>
            <a:endParaRPr lang="en-US" sz="1100" dirty="0"/>
          </a:p>
        </p:txBody>
      </p:sp>
      <p:sp>
        <p:nvSpPr>
          <p:cNvPr id="45" name="Text 4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/ 45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elemento, varios momentos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:hover, :active y :focus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Forzar un estado en DevTools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se escribe cada estado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/ 45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ESTADOS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elemento, varios momentos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pseudo-clase selecciona un elemento solo mientras está en cierto estado.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280060" y="2615184"/>
            <a:ext cx="764712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1-boton-est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53212" y="2688336"/>
            <a:ext cx="7500816" cy="177393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4681728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4681728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2468880" y="4681728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el cursor está encima.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6492240" y="4681728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6858000" y="4681728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Menú, botones, tarjetas, filas de la tabla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5202936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5202936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:active</a:t>
            </a:r>
            <a:endParaRPr 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5202936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se mantiene presionado.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6492240" y="5202936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858000" y="5202936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.btn:active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botón se encoge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40080" y="5724144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914400" y="5724144"/>
            <a:ext cx="1554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:focus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2468880" y="5724144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el elemento tiene el foco.</a:t>
            </a:r>
            <a:endParaRPr 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92240" y="5724144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6858000" y="5724144"/>
            <a:ext cx="4343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campo en el que escribes</a:t>
            </a:r>
            <a:endParaRPr lang="en-US" sz="1100" dirty="0"/>
          </a:p>
        </p:txBody>
      </p:sp>
      <p:sp>
        <p:nvSpPr>
          <p:cNvPr id="22" name="Text 1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45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ESTADOS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Forzar un estado en DevTools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estudiar un :hover sin perseguirlo con el mouse.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 derecho sobre «Ver Proyectos» y elige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Inspeccionar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Pulsa :hov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la pestaña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arriba a la derecha. Aparecen casillas con los estados.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481328"/>
          </a:xfrm>
          <a:prstGeom prst="roundRect">
            <a:avLst>
              <a:gd name="adj" fmla="val 617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:hover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botón queda en su estado Hover y en Styles aparece la regla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434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68680" y="4507992"/>
            <a:ext cx="4892040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           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normal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var(--color-primary);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     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con el cursor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var(--color-primary-hover);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217920" y="4343400"/>
            <a:ext cx="5349240" cy="1600200"/>
          </a:xfrm>
          <a:prstGeom prst="roundRect">
            <a:avLst>
              <a:gd name="adj" fmla="val 571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28816" y="4343400"/>
            <a:ext cx="472744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espacio: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.btn:hover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«el botón cuando tiene el cursor encima». Con espacio,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 :hover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sería «cualquier cosa con el cursor encima dentro del botón».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45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Instantáneo o con transición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partes de transition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y curva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puede animar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85800" y="585216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96112" y="585216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81328" y="585216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subrayado del menú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22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45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Instantáneo o con transición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mismo :hover. La diferencia es si el navegador pasa por los valores intermedios.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Instantáneo (sin transition)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Así estaba tu portafolio hasta hoy.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914400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9CA3A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1719072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9CA3A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73352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23744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9CA3A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478024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328416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B0F1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282696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133088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B0F1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087368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ms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937760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B0F1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892040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ms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914400" y="45354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salta de golpe.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17920" y="2615184"/>
            <a:ext cx="53492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49224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transition: color 0.2s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92240" y="30175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Animación inteligente.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92240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9CA3A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46520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96912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7F859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7251192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ms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8101584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62687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55864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ms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8906256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454A5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0536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 ms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9710928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282D3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665208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160 ms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0515600" y="3474720"/>
            <a:ext cx="713232" cy="713232"/>
          </a:xfrm>
          <a:prstGeom prst="roundRect">
            <a:avLst>
              <a:gd name="adj" fmla="val 10256"/>
            </a:avLst>
          </a:prstGeom>
          <a:solidFill>
            <a:srgbClr val="0B0F1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10469880" y="4261104"/>
            <a:ext cx="8046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ms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6492240" y="45354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color pasa por todos los tonos intermedios.</a:t>
            </a:r>
            <a:endParaRPr lang="en-US" sz="1150" dirty="0"/>
          </a:p>
        </p:txBody>
      </p:sp>
      <p:sp>
        <p:nvSpPr>
          <p:cNvPr id="37" name="Shape 35"/>
          <p:cNvSpPr/>
          <p:nvPr/>
        </p:nvSpPr>
        <p:spPr>
          <a:xfrm>
            <a:off x="640080" y="5120640"/>
            <a:ext cx="10927080" cy="868680"/>
          </a:xfrm>
          <a:prstGeom prst="roundRect">
            <a:avLst>
              <a:gd name="adj" fmla="val 10526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868680" y="5285232"/>
            <a:ext cx="10469880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color: #9CA3AF; transition: color 0.2s ease; }     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la transición va en la regla normal */</a:t>
            </a:r>
            <a:endParaRPr lang="en-US" sz="12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a:hover</a:t>
            </a:r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color: #0B0F19; }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45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cuatro partes de transition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 en la regla normal, no en :hover: así el cambio es suave al entrar y al salir.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777240"/>
          </a:xfrm>
          <a:prstGeom prst="roundRect">
            <a:avLst>
              <a:gd name="adj" fmla="val 11765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10469880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transition:  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ease-out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</a:t>
            </a:r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0s</a:t>
            </a:r>
            <a:pPr indent="0" marL="0">
              <a:lnSpc>
                <a:spcPct val="120000"/>
              </a:lnSpc>
              <a:buNone/>
            </a:pPr>
            <a:r>
              <a:rPr lang="en-US" sz="18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40080" y="3566160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56616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propiedad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651760" y="356616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se anima. Varias, separadas por comas.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7223760" y="3566160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3566160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40080" y="4142232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4142232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duración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2651760" y="4142232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tarda, en segundos o milisegundos.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4142232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4142232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lo mismo que 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200ms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0080" y="4718304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718304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curva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651760" y="47183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ritmo: cómo se reparte el cambio en el tiempo.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223760" y="4718304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589520" y="4718304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ease-out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cubic-bezier(…)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40080" y="5294376"/>
            <a:ext cx="10927080" cy="502920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5294376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retraso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2651760" y="529437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espera antes de empezar. Es opcional.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7223760" y="5294376"/>
            <a:ext cx="320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89520" y="5294376"/>
            <a:ext cx="3611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0.1s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" y="5833872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propiedades: transition: background-color 0.2s ease, transform 0.2s ease-out;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45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curva: el ritmo del cambio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tardan lo mismo. Cambia cómo se reparte el avance en ese tiempo.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949440" cy="3426927"/>
          </a:xfrm>
          <a:prstGeom prst="roundRect">
            <a:avLst>
              <a:gd name="adj" fmla="val 2668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curv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6803136" cy="328062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772400" y="2615184"/>
            <a:ext cx="3794760" cy="3566160"/>
          </a:xfrm>
          <a:prstGeom prst="roundRect">
            <a:avLst>
              <a:gd name="adj" fmla="val 2564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001000" y="274320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debe durar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3108960"/>
            <a:ext cx="3383280" cy="2971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y 400 ms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Menos de 100 ms no se nota.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de 500 ms hace lenta la página.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Botones y colores: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 e imágenes: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0.4s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  <a:p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cursor, 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ease-out</a:t>
            </a:r>
            <a:pPr algn="l" marL="177800" indent="-1778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arranca rápido y la respuesta se siente inmediata.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45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variables de movimiento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los colores de Figma: se escriben una vez en :root y todo el sitio las usa.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035040" cy="2286000"/>
          </a:xfrm>
          <a:prstGeom prst="roundRect">
            <a:avLst>
              <a:gd name="adj" fmla="val 4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577840" cy="1956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:root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… colores, letras y radios …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--color-primary-hover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#05A3B0;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--duration-fast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0.2s;    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botones y colores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--duration-base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0.4s;      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tarjetas e imágenes */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--ease-out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cubic-bezier(0.22, 1, 0.36, 1);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40080" y="5029200"/>
            <a:ext cx="6035040" cy="9144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5193792"/>
            <a:ext cx="5577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transform var(--duration-fast) var(--ease-out);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949440" y="26151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9281160" y="2615184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global.css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0" y="2889504"/>
            <a:ext cx="470916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040880" y="2889504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de la variante Hover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9098280" y="2889504"/>
            <a:ext cx="228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326880" y="2889504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--color-primary-hover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0" y="3657600"/>
            <a:ext cx="470916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040880" y="365760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200 ms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9098280" y="3657600"/>
            <a:ext cx="228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326880" y="3657600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--duration-fast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858000" y="4425696"/>
            <a:ext cx="470916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040880" y="442569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Tarjetas: 400 ms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098280" y="4425696"/>
            <a:ext cx="228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9326880" y="4425696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--duration-base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0" y="5193792"/>
            <a:ext cx="4709160" cy="676656"/>
          </a:xfrm>
          <a:prstGeom prst="roundRect">
            <a:avLst>
              <a:gd name="adj" fmla="val 135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040880" y="519379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Salida suave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9098280" y="5193792"/>
            <a:ext cx="228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5193792"/>
            <a:ext cx="21945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--ease-out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45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se puede animar?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 que tiene valores intermedios. Lo demás cambia de golpe aunque tenga transition.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anima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Colores: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color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border-color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Medidas: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padding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background-size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opacity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box-shadow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de golpe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display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de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none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block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hay mitad.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font-family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otros valores con nombre.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altura en 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</a:t>
            </a:r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navegador no sabe hacia dónde va.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19472"/>
            <a:ext cx="10927080" cy="1024128"/>
          </a:xfrm>
          <a:prstGeom prst="roundRect">
            <a:avLst>
              <a:gd name="adj" fmla="val 89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19472"/>
            <a:ext cx="103052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más fluidas: transform y opacity.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navegador las anima sin recalcular la página. Si algo debe moverse, usa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no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top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Y nunca escribas </a:t>
            </a:r>
            <a:pPr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transition: all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anima también lo que no querías.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45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TRANSICIONES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subrayado animado del menú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degradado de un solo color como imagen de fondo (sesión 09), que crece de 0 % a 100 %.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429000"/>
          </a:xfrm>
          <a:prstGeom prst="roundRect">
            <a:avLst>
              <a:gd name="adj" fmla="val 2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var(--color-text-muted);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padding-bottom: 4px;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background-image: linear-gradient(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var(--color-primary), var(--color-primary));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background-size: 0% 2px;    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ancho 0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background-position: left bottom;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background-repeat: no-repeat;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color var(--duration-fast) ease,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background-size var(--duration-base) var(--ease-out);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nav a:hover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color: var(--color-text-primary);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background-size: 100% 2px;  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ancho completo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2272245"/>
          </a:xfrm>
          <a:prstGeom prst="roundRect">
            <a:avLst>
              <a:gd name="adj" fmla="val 402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/tmp/claude-0/-home-user-sesiones-dagner/2613c8c1-437c-54f4-94d9-b62c29473bbd/scratchpad/deck/img/s11-men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2" y="2688336"/>
            <a:ext cx="4288536" cy="2125941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32320" y="5120640"/>
            <a:ext cx="4434840" cy="923544"/>
          </a:xfrm>
          <a:prstGeom prst="roundRect">
            <a:avLst>
              <a:gd name="adj" fmla="val 990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3216" y="5120640"/>
            <a:ext cx="3813048" cy="9235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arriba abajo: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reposo, a los 60 ms y a los 400 ms. Solo cambian el color del texto y el ancho del fondo.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45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Transformaciones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translate, scale, rotate y skew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no empuja a los vecinos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del Hero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tarjetas de proyecto y contacto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45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TRANSFORMACIONES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funciones de transform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línea punteada es el lugar original. La caja se transforma después de colocarse en la página.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505603" y="2615184"/>
            <a:ext cx="7196033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trans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78755" y="2688336"/>
            <a:ext cx="7049729" cy="218541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120640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914400" y="5120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Varias a la vez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3108960" y="51206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Separadas por espacios; se aplican en orden.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7406640" y="5120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772400" y="5120640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translateY(0) scale(0.98)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40080" y="5650992"/>
            <a:ext cx="1092708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914400" y="5650992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transform-origin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3108960" y="5650992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punto desde el que se escala o se gira.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7406640" y="5650992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0" y="5650992"/>
            <a:ext cx="3429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defecto, el centro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45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TRANSFORMACIONES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no empuja a los vecinos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es la propiedad para mover algo al pasar el cursor.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A840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margin-top: 4px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1188720" y="3200400"/>
            <a:ext cx="4251960" cy="457200"/>
          </a:xfrm>
          <a:prstGeom prst="roundRect">
            <a:avLst>
              <a:gd name="adj" fmla="val 200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188720" y="32004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Párrafo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188720" y="384048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9AA2A7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1188720" y="406908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88720" y="406908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A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520440" y="406908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1F232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520440" y="406908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B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1188720" y="4800600"/>
            <a:ext cx="4251960" cy="365760"/>
          </a:xfrm>
          <a:prstGeom prst="roundRect">
            <a:avLst>
              <a:gd name="adj" fmla="val 250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88720" y="48006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3766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6217920" y="2615184"/>
            <a:ext cx="5349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724912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transform: translateY(-2px)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66560" y="3200400"/>
            <a:ext cx="4251960" cy="457200"/>
          </a:xfrm>
          <a:prstGeom prst="roundRect">
            <a:avLst>
              <a:gd name="adj" fmla="val 200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766560" y="3200400"/>
            <a:ext cx="4251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Párrafo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6766560" y="384048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9AA2A7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6766560" y="3730752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06B6C4"/>
          </a:solidFill>
          <a:ln w="12700">
            <a:solidFill>
              <a:srgbClr val="06B6C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66560" y="3730752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280" y="3840480"/>
            <a:ext cx="192024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1F232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98280" y="3840480"/>
            <a:ext cx="1920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Botón B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6766560" y="4572000"/>
            <a:ext cx="4251960" cy="365760"/>
          </a:xfrm>
          <a:prstGeom prst="roundRect">
            <a:avLst>
              <a:gd name="adj" fmla="val 25000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766560" y="4572000"/>
            <a:ext cx="4251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sigue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6492240" y="53766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54864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A840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margin, el botón empuja al otro botón y a todo lo que sigue.</a:t>
            </a:r>
            <a:endParaRPr lang="en-US" sz="1150" dirty="0"/>
          </a:p>
        </p:txBody>
      </p:sp>
      <p:sp>
        <p:nvSpPr>
          <p:cNvPr id="30" name="Text 28"/>
          <p:cNvSpPr txBox="1"/>
          <p:nvPr/>
        </p:nvSpPr>
        <p:spPr>
          <a:xfrm>
            <a:off x="6217920" y="548640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transform, solo se mueve el botón: lo demás no se entera.</a:t>
            </a:r>
            <a:endParaRPr lang="en-US" sz="1150" dirty="0"/>
          </a:p>
        </p:txBody>
      </p:sp>
      <p:sp>
        <p:nvSpPr>
          <p:cNvPr id="31" name="Text 2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45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TRANSFORMACIONES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botones del Hero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en la regla normal; el cambio en :hover; el clic en :active.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429000"/>
          </a:xfrm>
          <a:prstGeom prst="roundRect">
            <a:avLst>
              <a:gd name="adj" fmla="val 2667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099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background-color var(--duration-fast) ease,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box-shadow var(--duration-fast) ease,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transform var(--duration-fast) var(--ease-out);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var(--color-primary-hover);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box-shadow: 0 4px 14px rgba(6, 182, 196, 0.35);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transform: translateY(-2px);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sube 2 px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.btn:active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                    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después de :hover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transform: translateY(0) scale(0.98);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1160539"/>
          </a:xfrm>
          <a:prstGeom prst="roundRect">
            <a:avLst>
              <a:gd name="adj" fmla="val 7879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/tmp/claude-0/-home-user-sesiones-dagner/2613c8c1-437c-54f4-94d9-b62c29473bbd/scratchpad/deck/img/s11-boton-estado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05472" y="2688336"/>
            <a:ext cx="4288536" cy="1014235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132320" y="4343400"/>
            <a:ext cx="4434840" cy="1700784"/>
          </a:xfrm>
          <a:prstGeom prst="roundRect">
            <a:avLst>
              <a:gd name="adj" fmla="val 537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43216" y="4343400"/>
            <a:ext cx="3813048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importa: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.btn:active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tienen la misma especificidad (0-2-0). Al presionar se cumplen las dos, y gana la que está escrita después. Por eso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:active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 al final.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45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TRANSFORMACIONES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tarjetas: sube, se acerca, gira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:hover en la tarjeta puede cambiar a sus hijos: selector de :hover + descendiente.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035040" cy="2063918"/>
          </a:xfrm>
          <a:prstGeom prst="roundRect">
            <a:avLst>
              <a:gd name="adj" fmla="val 443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1-proyecto-h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2688336"/>
            <a:ext cx="5888736" cy="191761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074920"/>
            <a:ext cx="6035040" cy="960120"/>
          </a:xfrm>
          <a:prstGeom prst="roundRect">
            <a:avLst>
              <a:gd name="adj" fmla="val 952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68680" y="5239512"/>
            <a:ext cx="557784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.project-card:hover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transform: translateY(-6px); 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.project-card:hover .project-image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transform: scale(1.05); }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7213180" y="2615184"/>
            <a:ext cx="399880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0" name="Image 1" descr="/tmp/claude-0/-home-user-sesiones-dagner/2613c8c1-437c-54f4-94d9-b62c29473bbd/scratchpad/deck/img/s11-contacto-hov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6332" y="2688336"/>
            <a:ext cx="3852496" cy="218541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858000" y="5074920"/>
            <a:ext cx="4709160" cy="960120"/>
          </a:xfrm>
          <a:prstGeom prst="roundRect">
            <a:avLst>
              <a:gd name="adj" fmla="val 9524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086600" y="5239512"/>
            <a:ext cx="42519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.contact-card:hover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transform: translateX(4px); 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.contact-card:hover .contact-icon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transform: rotate(-10deg) scale(1.08); }</a:t>
            </a:r>
            <a:endParaRPr lang="en-US" sz="1000" dirty="0"/>
          </a:p>
        </p:txBody>
      </p:sp>
      <p:sp>
        <p:nvSpPr>
          <p:cNvPr id="13" name="Text 9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45</a:t>
            </a:r>
            <a:endParaRPr lang="en-US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548640" y="1517904"/>
            <a:ext cx="5120640" cy="1024128"/>
          </a:xfrm>
          <a:prstGeom prst="roundRect">
            <a:avLst>
              <a:gd name="adj" fmla="val 50000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274320" y="1517904"/>
            <a:ext cx="42062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274320" y="2834640"/>
            <a:ext cx="4297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4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BLOQUE 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346704"/>
            <a:ext cx="3657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este bloque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685800" y="365760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96112" y="36576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81328" y="365760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o animación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420624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420624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1481328" y="420624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fotogramas clave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5800" y="475488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6112" y="475488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481328" y="475488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partes de animation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85800" y="5303520"/>
            <a:ext cx="5577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530352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481328" y="5303520"/>
            <a:ext cx="46634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reducido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766560" y="1234440"/>
            <a:ext cx="5166360" cy="5257800"/>
          </a:xfrm>
          <a:prstGeom prst="roundRect">
            <a:avLst>
              <a:gd name="adj" fmla="val 177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pic>
        <p:nvPicPr>
          <p:cNvPr id="19" name="Image 0" descr="Persona programando frente a un monito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362456"/>
            <a:ext cx="4892040" cy="50017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/ 45</a:t>
            </a:r>
            <a:endParaRPr lang="en-US" sz="8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Transición o animación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mueven cosas. Cambia qué las pone en marcha.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Necesita un cambio de estado: el cursor entra o sale.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 de un valor a otro: solo dos puntos.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portafolio: menú, botones y tarjetas.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2103120"/>
          </a:xfrm>
          <a:prstGeom prst="roundRect">
            <a:avLst>
              <a:gd name="adj" fmla="val 434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animation + @keyframes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28816" y="3182112"/>
            <a:ext cx="472744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 sola, al cargar la página.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 tener varios puntos intermedios y repetirse.</a:t>
            </a:r>
            <a:endParaRPr lang="en-US" sz="1200" dirty="0"/>
          </a:p>
          <a:p>
            <a:pPr algn="l" marL="177800" indent="-1778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tu portafolio: la entrada del Hero y el cursor del código.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4919472"/>
            <a:ext cx="10927080" cy="1024128"/>
          </a:xfrm>
          <a:prstGeom prst="roundRect">
            <a:avLst>
              <a:gd name="adj" fmla="val 8929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50976" y="4919472"/>
            <a:ext cx="10305288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Úsalas con medida: </a:t>
            </a:r>
            <a:pPr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animación al cargar llama la atención una vez. Si todo se mueve todo el tiempo, nada destaca y la página cansa. En tu portafolio solo se anima la entrada del Hero y un cursor de 8 px.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/ 45</a:t>
            </a:r>
            <a:endParaRPr lang="en-US" sz="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fotogramas clave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@keyframes describe la animación con un nombre. animation la aplica a un elemento.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4937760" cy="2331720"/>
          </a:xfrm>
          <a:prstGeom prst="roundRect">
            <a:avLst>
              <a:gd name="adj" fmla="val 3922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448056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 aparecer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             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0 %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opacity: 0;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transform: translateY(24px);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               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100 %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opacity: 1;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transform: translateY(0);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40080" y="5074920"/>
            <a:ext cx="4937760" cy="914400"/>
          </a:xfrm>
          <a:prstGeom prst="roundRect">
            <a:avLst>
              <a:gd name="adj" fmla="val 100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5239512"/>
            <a:ext cx="448056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.hero-left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animation: aparecer 0.8s var(--ease-out) both; }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.hero-right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animation: aparecer 0.8s var(--ease-out) 0.2s both; }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430792" y="2615184"/>
            <a:ext cx="4466295" cy="2697480"/>
          </a:xfrm>
          <a:prstGeom prst="roundRect">
            <a:avLst>
              <a:gd name="adj" fmla="val 339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10" name="Image 0" descr="/tmp/claude-0/-home-user-sesiones-dagner/2613c8c1-437c-54f4-94d9-b62c29473bbd/scratchpad/deck/img/s11-hero-2x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03944" y="2688336"/>
            <a:ext cx="4319991" cy="2551176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5760720" y="5413248"/>
            <a:ext cx="5806440" cy="621792"/>
          </a:xfrm>
          <a:prstGeom prst="roundRect">
            <a:avLst>
              <a:gd name="adj" fmla="val 14706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71616" y="5413248"/>
            <a:ext cx="5184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from y to 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puedes poner los porcentajes que quieras: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0%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50%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100%</a:t>
            </a:r>
            <a:pPr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/ 45</a:t>
            </a:r>
            <a:endParaRPr lang="en-US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partes de animation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escriben en una línea. Solo el nombre y la duración son obligatorios.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731520"/>
          </a:xfrm>
          <a:prstGeom prst="roundRect">
            <a:avLst>
              <a:gd name="adj" fmla="val 12500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10469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animation: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aparecer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var(--ease-out)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5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both</a:t>
            </a:r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493008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349300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nombre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2926080" y="349300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escrito igual.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7178040" y="349300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543800" y="3493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aparecer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40080" y="3931920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14400" y="3931920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duración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3931920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dura una vuelta. Sin ella dura 0 s.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78040" y="3931920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7543800" y="39319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0.8s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4370832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14400" y="4370832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curva y retraso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2926080" y="4370832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en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7178040" y="4370832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543800" y="43708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var(--ease-out)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40080" y="4809744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4400" y="4809744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repeticiones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2926080" y="4809744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Cuántas veces;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sin fin.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7178040" y="4809744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543800" y="4809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por defecto · el cursor: 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infinite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5248656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14400" y="5248656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dirección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2926080" y="5248656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reverse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indent="0" marL="0">
              <a:buNone/>
            </a:pPr>
            <a:r>
              <a:rPr lang="en-US" sz="11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alternate</a:t>
            </a:r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ida y vuelta.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7178040" y="5248656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43800" y="524865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40080" y="5687568"/>
            <a:ext cx="10927080" cy="384048"/>
          </a:xfrm>
          <a:prstGeom prst="roundRect">
            <a:avLst>
              <a:gd name="adj" fmla="val 2381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14400" y="5687568"/>
            <a:ext cx="2011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relleno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2926080" y="5687568"/>
            <a:ext cx="4251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muestra antes de empezar y al terminar.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7178040" y="5687568"/>
            <a:ext cx="320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6" name="Text 34"/>
          <p:cNvSpPr txBox="1"/>
          <p:nvPr/>
        </p:nvSpPr>
        <p:spPr>
          <a:xfrm>
            <a:off x="7543800" y="568756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both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el 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esperar, el 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</a:t>
            </a:r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final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/ 45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cursor que parpadea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pseudo-elemento ::after al final del código, sin tocar el HTML.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760720" cy="2743200"/>
          </a:xfrm>
          <a:prstGeom prst="roundRect">
            <a:avLst>
              <a:gd name="adj" fmla="val 3333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303520" cy="2414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.code-body code::after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content: "";              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sin content no hay caja */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display: inline-block;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width: 8px;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height: 1.1em;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var(--color-primary);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animation: parpadeo 1s steps(1) infinite;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 parpadeo</a:t>
            </a:r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50% { opacity: 0; }</a:t>
            </a:r>
            <a:endParaRPr lang="en-US" sz="11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6583680" y="2615184"/>
            <a:ext cx="4983480" cy="2509078"/>
          </a:xfrm>
          <a:prstGeom prst="roundRect">
            <a:avLst>
              <a:gd name="adj" fmla="val 3644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8" name="Image 0" descr="/tmp/claude-0/-home-user-sesiones-dagner/2613c8c1-437c-54f4-94d9-b62c29473bbd/scratchpad/deck/img/s11-codi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6832" y="2688336"/>
            <a:ext cx="4837176" cy="2362774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640080" y="5532120"/>
            <a:ext cx="10927080" cy="548640"/>
          </a:xfrm>
          <a:prstGeom prst="roundRect">
            <a:avLst>
              <a:gd name="adj" fmla="val 16667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950976" y="5532120"/>
            <a:ext cx="10305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steps(1):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valores intermedios. El cursor se apaga y se enciende de golpe, como en un editor de código.</a:t>
            </a:r>
            <a:endParaRPr lang="en-US" sz="1150" dirty="0"/>
          </a:p>
        </p:txBody>
      </p:sp>
      <p:sp>
        <p:nvSpPr>
          <p:cNvPr id="11" name="Text 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/ 45</a:t>
            </a:r>
            <a:endParaRPr lang="en-US" sz="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entrada del Hero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PowerPoint la imagen se reproduce en bucle. Al recargar tu portada, la ves una sola vez.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632440" y="2615184"/>
            <a:ext cx="6942361" cy="365760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9050">
            <a:solidFill>
              <a:srgbClr val="CFD5D9"/>
            </a:solidFill>
            <a:prstDash val="solid"/>
          </a:ln>
        </p:spPr>
      </p:sp>
      <p:pic>
        <p:nvPicPr>
          <p:cNvPr id="6" name="Image 0" descr="/tmp/claude-0/-home-user-sesiones-dagner/2613c8c1-437c-54f4-94d9-b62c29473bbd/scratchpad/deck/img/s11-hero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05592" y="2688336"/>
            <a:ext cx="6796057" cy="351129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 / 45</a:t>
            </a:r>
            <a:endParaRPr lang="en-US" sz="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ANIMACIONES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reducido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Algunas personas se marean con las animaciones y lo piden en su sistema. Tu página debe respetarlo.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1965960"/>
          </a:xfrm>
          <a:prstGeom prst="roundRect">
            <a:avLst>
              <a:gd name="adj" fmla="val 465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1636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@media (prefers-reduced-motion: reduce)</a:t>
            </a:r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*, *::before, *::after {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animation-duration: 0.01ms !important;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animation-iteration-count: 1 !important;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transition-duration: 0.01ms !important;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1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6791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6791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42248" y="261518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› Accesibilidad › Efectos visuales.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140964"/>
            <a:ext cx="4434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20497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2049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14096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DevTools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14096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Ctrl + Shift + P › escribe rendering › Show Rendering.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666744"/>
            <a:ext cx="4434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7307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7307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66674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Emula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366674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prefers-reduced-motion: reduce y recarga.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192524"/>
            <a:ext cx="4434840" cy="4572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2565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2565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192524"/>
            <a:ext cx="1051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4192524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 aparece ya en su sitio y nada se desliza.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40080" y="4754880"/>
            <a:ext cx="6309360" cy="1234440"/>
          </a:xfrm>
          <a:prstGeom prst="roundRect">
            <a:avLst>
              <a:gd name="adj" fmla="val 7407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0976" y="4754880"/>
            <a:ext cx="568756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!important es la excepción: </a:t>
            </a:r>
            <a:pPr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gana a cualquier regla, sin importar la especificidad ni el orden. No lo uses para arreglar una regla que no se aplica. Aquí sí tiene sentido: este bloque debe ganar a todas las transiciones del sitio.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/ 45</a:t>
            </a:r>
            <a:endParaRPr lang="en-US" sz="8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127248" y="2651760"/>
            <a:ext cx="5943600" cy="960120"/>
          </a:xfrm>
          <a:prstGeom prst="roundRect">
            <a:avLst>
              <a:gd name="adj" fmla="val 49524"/>
            </a:avLst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3127248" y="2651760"/>
            <a:ext cx="5943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DESCANSO · 15 MINUTOS</a:t>
            </a:r>
            <a:endParaRPr lang="en-US" sz="2000" dirty="0"/>
          </a:p>
        </p:txBody>
      </p:sp>
      <p:pic>
        <p:nvPicPr>
          <p:cNvPr id="4" name="Image 0" descr="Indicador de esp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50408" y="3977640"/>
            <a:ext cx="1097280" cy="109728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371600" y="5321808"/>
            <a:ext cx="94457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volver hacemos el prototipo del botón en Figma y llevamos todo al portafolio. Ten abiertos tu carpeta y tu archivo de Figma.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/ 45</a:t>
            </a:r>
            <a:endParaRPr lang="en-US" sz="8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strumental: aplicación del conocimiento con ejercicios y demostracion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/ 45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 hoy: el botón con estados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Ampliación del manual, después del Paso 14. Cada clic está en la Guía de Figma de la sesión.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una copia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btn-primary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arrástralo fuera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mi-portafolio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 lienzo gris.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Alt + K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El icono cambia a cuatro rombos morados.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Añadir variante (Add variant)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Renómbralas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Estado=Predeterminado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Estado=Hover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variante Hover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05A3B0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Sombra paralela: Y 4, Desenfoque 14,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06B6C4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 35.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Prototipo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se pasa el cursor › Cambiar a › Hover. Animación inteligente, Salida suave, 200 ms.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Instancia y prueba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 una instancia en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hero-actions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Ctrl + Shift + 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pulsa </a:t>
            </a:r>
            <a:pPr algn="l" indent="0" marL="0">
              <a:buNone/>
            </a:pPr>
            <a:r>
              <a:rPr lang="en-US" sz="1150" b="1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tu Figma está en inglés: While hovering, Change to, Smart animate y Ease out.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/ 45</a:t>
            </a:r>
            <a:endParaRPr lang="en-US" sz="8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FIGMA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prototipo al código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pieza de la interacción de Figma tiene su propiedad en CSS.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896112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5440680" y="258775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CSS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8346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28346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Estado=Predeterminado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029200" y="28346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5440680" y="28346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 { … }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33375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33375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 Estado=Hover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029200" y="33375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40680" y="33375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 { … }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96112" y="384048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Mientras se pasa el cursor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029200" y="384048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5440680" y="384048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 (vuelve sola al salir)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434340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96112" y="434340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Animación inteligente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029200" y="434340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434340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640080" y="484632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96112" y="484632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suave · 200 ms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5029200" y="484632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484632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var(--duration-fast) var(--ease-out)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534924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96112" y="534924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Relleno 05A3B0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534924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534924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background-color: var(--color-primary-hover);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640080" y="5852160"/>
            <a:ext cx="10927080" cy="438912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96112" y="5852160"/>
            <a:ext cx="41148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Sombra paralela Y 4 · Desenfoque 14 · 35 %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5029200" y="5852160"/>
            <a:ext cx="365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5852160"/>
            <a:ext cx="5943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77E8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box-shadow: 0 4px 14px rgba(6, 182, 196, 0.35);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 / 45</a:t>
            </a:r>
            <a:endParaRPr lang="en-US" sz="8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las variables y el menú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global.css y header.css. Pasos 1 y 2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global.css, al final de :root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--color-primary-hover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#05A3B0;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--duration-fast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0.2s;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--duration-base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0.4s;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--ease-out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cubic-bezier(0.22, 1, 0.36, 1);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header.css, el botón de la cabecera */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header &gt; a[href="contactame.html"]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background-color var(--duration-fast) ease,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color var(--duration-fast) ease;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footer a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transition: color var(--duration-fast) ease; }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42248" y="261518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de movimiento y el color Hover.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21411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fondo de 0 % y su transition.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:hover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38130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oscuro y fondo al 100 %.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Cabecera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441198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botón Contacto se rellena.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842248" y="501091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enlaces cambian a azul.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842248" y="560984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 el cursor y fuerza :hover en DevTools.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/ 45</a:t>
            </a:r>
            <a:endParaRPr lang="en-US" sz="8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Construimos juntos: los botones del Hero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index.css, bloque 3. Paso 3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6309360" cy="3529584"/>
          </a:xfrm>
          <a:prstGeom prst="roundRect">
            <a:avLst>
              <a:gd name="adj" fmla="val 2591"/>
            </a:avLst>
          </a:prstGeom>
          <a:solidFill>
            <a:srgbClr val="2B2B2B"/>
          </a:solidFill>
          <a:ln w="12700">
            <a:solidFill>
              <a:srgbClr val="2B2B2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68680" y="2779776"/>
            <a:ext cx="58521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9AA39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/* … lo de la sesión 10 … */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transition: background-color var(--duration-fast) ease,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border-color var(--duration-fast) ease,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box-shadow var(--duration-fast) ease,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transform var(--duration-fast) var(--ease-out);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.btn-primary:hover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background-color: var(--color-primary-hover);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border-color: var(--color-primary-hover);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box-shadow: 0 4px 14px rgba(6, 182, 196, 0.35);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transform: translateY(-2px);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.btn-secondary:hover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background-color: rgba(11, 15, 25, 0.05); }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b="1" dirty="0">
                <a:solidFill>
                  <a:srgbClr val="8FE1E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.btn:active</a:t>
            </a:r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{ transform: translateY(0) scale(0.98); }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132320" y="261518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96912" y="271576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296912" y="27157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790688" y="261518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842248" y="261518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.btn: cuatro propiedades.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132320" y="3214116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296912" y="331470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296912" y="331470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90688" y="3214116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Primario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8842248" y="3214116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 Hover, sombra y sube 2 px.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132320" y="3813048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96912" y="391363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296912" y="39136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790688" y="3813048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Secundario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842248" y="3813048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gris casi transparente.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132320" y="4411980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296912" y="45125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96912" y="45125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7790688" y="4411980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8842248" y="4411980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final: se encoge al 98 %.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7132320" y="5010912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296912" y="511149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296912" y="511149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7790688" y="5010912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8842248" y="5010912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el prototipo de Figma.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7132320" y="5609844"/>
            <a:ext cx="4434840" cy="530352"/>
          </a:xfrm>
          <a:prstGeom prst="roundRect">
            <a:avLst>
              <a:gd name="adj" fmla="val 1724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96912" y="57104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7296912" y="57104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7790688" y="5609844"/>
            <a:ext cx="1051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842248" y="5609844"/>
            <a:ext cx="26060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nada empuje a los vecinos.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 / 45</a:t>
            </a:r>
            <a:endParaRPr lang="en-US" sz="8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PRÁCTICA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tú: tarjetas, Hero y movimiento reducido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Tienes 30 minutos. Pasos 4 al 7 de la guía de código.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8696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8696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4475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.project-card:hover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sube 6 px con sombra; su imagen hace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scale(1.05)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34340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028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9028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14807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Contacto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61772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fila se desplaza 4 px y su círculo gira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-10deg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046720" y="261518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293608" y="284378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293608" y="28437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851392" y="284378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@keyframes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321040" y="338328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aparecer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parpadeo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antes de las media queries.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008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8696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88696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44475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91440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dos columnas con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la derecha, con 0.2 s de retraso y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both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34340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028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9028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14807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resto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461772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 en enlaces, botones del formulario, campos y filas de la tabla.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8046720" y="4352544"/>
            <a:ext cx="3520440" cy="1572768"/>
          </a:xfrm>
          <a:prstGeom prst="roundRect">
            <a:avLst>
              <a:gd name="adj" fmla="val 5814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293608" y="4581144"/>
            <a:ext cx="402336" cy="402336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293608" y="45811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851392" y="4581144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Movimiento reducido</a:t>
            </a:r>
            <a:endParaRPr lang="en-US" sz="1300" dirty="0"/>
          </a:p>
        </p:txBody>
      </p:sp>
      <p:sp>
        <p:nvSpPr>
          <p:cNvPr id="34" name="Text 32"/>
          <p:cNvSpPr txBox="1"/>
          <p:nvPr/>
        </p:nvSpPr>
        <p:spPr>
          <a:xfrm>
            <a:off x="8321040" y="5120640"/>
            <a:ext cx="29718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bloque 10 de </a:t>
            </a:r>
            <a:pPr algn="l" indent="0" marL="0">
              <a:buNone/>
            </a:pPr>
            <a:r>
              <a:rPr lang="en-US" sz="11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global.css</a:t>
            </a:r>
            <a:pPr algn="l" indent="0" marL="0">
              <a:buNone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Pruébalo con Show Rendering.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6053328"/>
            <a:ext cx="10927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terminas antes: haz en Figma la variante Hover de project-card con su Sombra paralela.</a:t>
            </a:r>
            <a:endParaRPr lang="en-US" sz="1150" dirty="0"/>
          </a:p>
        </p:txBody>
      </p:sp>
      <p:sp>
        <p:nvSpPr>
          <p:cNvPr id="36" name="Text 34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/ 45</a:t>
            </a:r>
            <a:endParaRPr lang="en-US" sz="8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Nivelador: nivel de comprensión del estudia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/ 45</a:t>
            </a:r>
            <a:endParaRPr lang="en-US" sz="8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Autoevaluación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mentalmente cada punto. Si dudas en alguno, pregunta ahora.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688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0" y="2615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qué hacen :hover, :active y :focus, y puedo forzarlos en DevTools.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40080" y="3072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3145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371600" y="3072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Escribo transition en la regla normal, no en la de :hover.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529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602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371600" y="3529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Puedo nombrar las cuatro partes de transition: propiedad, duración, curva y retraso.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39867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40599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371600" y="39867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por qué ease-out es la curva para responder al cursor.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4439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4400" y="45171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371600" y="44439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Muevo con transform, no con margin: así no empujo a los vecinos.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49011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14400" y="49743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371600" y="49011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Distingo una transición de una animación con @keyframes.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640080" y="53583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54315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1371600" y="53583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 qué hace animation-fill-mode: both.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40080" y="5815584"/>
            <a:ext cx="10927080" cy="402336"/>
          </a:xfrm>
          <a:prstGeom prst="roundRect">
            <a:avLst>
              <a:gd name="adj" fmla="val 22727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14400" y="5888736"/>
            <a:ext cx="292608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9050">
            <a:solidFill>
              <a:srgbClr val="177E8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371600" y="5815584"/>
            <a:ext cx="9921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página respeta prefers-reduced-motion.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/ 45</a:t>
            </a:r>
            <a:endParaRPr lang="en-US" sz="8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Espacio de consultas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parte quedó menos clara?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¿No se anima?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 transition y el cambio sigue de golpe.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10712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593592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¿Solo al entrar?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3639312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suave al entrar y brusco al salir.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81344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364224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¿Parpadea?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9944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Hero aparece, desaparece y vuelve.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51976" y="2724912"/>
            <a:ext cx="2633472" cy="1892808"/>
          </a:xfrm>
          <a:prstGeom prst="roundRect">
            <a:avLst>
              <a:gd name="adj" fmla="val 483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34856" y="2980944"/>
            <a:ext cx="22677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¿En el celular?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9180576" y="3456432"/>
            <a:ext cx="21762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:hover sin cursor?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55464"/>
            <a:ext cx="10927080" cy="1170432"/>
          </a:xfrm>
          <a:prstGeom prst="roundRect">
            <a:avLst>
              <a:gd name="adj" fmla="val 7813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50976" y="5010912"/>
            <a:ext cx="103052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el movimiento no sale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5376672"/>
            <a:ext cx="10305288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en este orden: que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esté en la regla normal, que nombre la misma propiedad que cambia en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que esa propiedad se pueda animar, y que el nombre de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sea igual al de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En el celular, </a:t>
            </a:r>
            <a:pPr algn="l" indent="0" marL="0">
              <a:buNone/>
            </a:pPr>
            <a:r>
              <a:rPr lang="en-US" sz="120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 activa al tocar.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/ 45</a:t>
            </a:r>
            <a:endParaRPr lang="en-US" sz="8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Funcional: aplicar lo aprendid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 / 45</a:t>
            </a:r>
            <a:endParaRPr lang="en-US" sz="8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ACTIVIDAD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de la sesión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parte del 40 % de participación en clases [P].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64008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50976" y="2816352"/>
            <a:ext cx="4727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Consigna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50976" y="3182112"/>
            <a:ext cx="4727448" cy="272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Añade los estados con transition al menú, los botones y los enlaces.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que las tarjetas de proyecto y de contacto respondan al cursor con transform.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la entrada del Hero con @keyframes y el bloque de movimiento reducido.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Figma: el componente btn-primary con su variante Hover y el prototipo.</a:t>
            </a:r>
            <a:endParaRPr lang="en-US" sz="1150" dirty="0"/>
          </a:p>
          <a:p>
            <a:pPr algn="l" marL="177800" indent="-177800">
              <a:spcAft>
                <a:spcPts val="300"/>
              </a:spcAft>
              <a:buSzPct val="100000"/>
              <a:buChar char="•"/>
            </a:pPr>
            <a:r>
              <a:rPr lang="en-US" sz="11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 el CSS sin errores y publica en Netlify.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2615184"/>
            <a:ext cx="5349240" cy="3410712"/>
          </a:xfrm>
          <a:prstGeom prst="roundRect">
            <a:avLst>
              <a:gd name="adj" fmla="val 2681"/>
            </a:avLst>
          </a:prstGeom>
          <a:solidFill>
            <a:srgbClr val="FFFFFF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28816" y="2816352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Indicaciones de entrega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583680" y="332841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33284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32841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Subir la URL publicada al Aula Virtual.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83680" y="396849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83680" y="39684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132320" y="396849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Adjuntar el enlace de Figma con el prototipo.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0" y="460857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83680" y="46085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460857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envío es obligatorio dentro del plazo establecido.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583680" y="5248656"/>
            <a:ext cx="384048" cy="3840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583680" y="52486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7132320" y="5248656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registra en ClassDojo como participación en clase.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/ 45</a:t>
            </a:r>
            <a:endParaRPr lang="en-US" sz="8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rientador: conclusión del tem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 / 45</a:t>
            </a:r>
            <a:endParaRPr lang="en-US" sz="8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Puntos clave de la sesión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95528" y="269748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95528" y="2697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265176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pseudo-clase como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:hover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:active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selecciona un elemento en un estado.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95528" y="313639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95528" y="3136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1353312" y="309067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va en la regla normal y suaviza el cambio al entrar y al salir.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95528" y="357530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95528" y="357530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1353312" y="352958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Duración entre 150 y 400 ms;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ease-out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responder al cursor.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795528" y="4014216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95528" y="401421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353312" y="3968496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animan los valores con intermedios: colores, medidas,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opacity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795528" y="4453128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95528" y="44531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1353312" y="4407408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transform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mueve, escala y gira sin empujar a los vecinos.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" y="4892040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28" y="4892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1353312" y="4846320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@keyframes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y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animation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crean movimientos que arrancan solos.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795528" y="5330952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95528" y="53309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1353312" y="5285232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prefers-reduced-motion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respeta a quien pidió menos animaciones.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95528" y="5769864"/>
            <a:ext cx="329184" cy="32918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95528" y="576986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1353312" y="5724144"/>
            <a:ext cx="10012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Animación inteligente de Figma es una </a:t>
            </a:r>
            <a:pPr algn="l" indent="0" marL="0">
              <a:buNone/>
            </a:pPr>
            <a:r>
              <a:rPr lang="en-US" sz="1250" dirty="0">
                <a:solidFill>
                  <a:srgbClr val="1F23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</a:t>
            </a:r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en CSS.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/ 45</a:t>
            </a:r>
            <a:endParaRPr lang="en-US" sz="8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554480"/>
            <a:ext cx="10927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</a:t>
            </a:r>
            <a:endParaRPr lang="en-US" sz="105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40080" y="1810512"/>
            <a:ext cx="10927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Hacia dónde vamos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286000"/>
            <a:ext cx="10927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portafolio ya responde al cursor. Lo que viene.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1051560" y="3895344"/>
            <a:ext cx="10104120" cy="0"/>
          </a:xfrm>
          <a:prstGeom prst="line">
            <a:avLst/>
          </a:prstGeom>
          <a:noFill/>
          <a:ln w="31750">
            <a:solidFill>
              <a:srgbClr val="CFD5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984248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51560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1051560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Maquetación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43000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caja, Flexbox y Grid.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963924" y="3776472"/>
            <a:ext cx="237744" cy="237744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072384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11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3072384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7E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Animaciones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163824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Transiciones, transform y @keyframes.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25896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093208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12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5093208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Responsive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184648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 queries y el Taller TA2.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046720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14032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13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7114032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7205472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 y su sistema de grillas.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0067544" y="3817620"/>
            <a:ext cx="155448" cy="155448"/>
          </a:xfrm>
          <a:prstGeom prst="ellipse">
            <a:avLst/>
          </a:prstGeom>
          <a:solidFill>
            <a:srgbClr val="177E89"/>
          </a:solidFill>
          <a:ln w="12700">
            <a:solidFill>
              <a:srgbClr val="177E8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134856" y="2962656"/>
            <a:ext cx="20208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200" kern="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14</a:t>
            </a:r>
            <a:endParaRPr lang="en-US" sz="950" dirty="0"/>
          </a:p>
        </p:txBody>
      </p:sp>
      <p:sp>
        <p:nvSpPr>
          <p:cNvPr id="24" name="Text 22"/>
          <p:cNvSpPr txBox="1"/>
          <p:nvPr/>
        </p:nvSpPr>
        <p:spPr>
          <a:xfrm>
            <a:off x="9134856" y="3218688"/>
            <a:ext cx="202082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3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9226296" y="4133088"/>
            <a:ext cx="18379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Componentes y utilidades.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5340096"/>
            <a:ext cx="10927080" cy="694944"/>
          </a:xfrm>
          <a:prstGeom prst="roundRect">
            <a:avLst>
              <a:gd name="adj" fmla="val 13158"/>
            </a:avLst>
          </a:prstGeom>
          <a:solidFill>
            <a:srgbClr val="F3F5F6"/>
          </a:solidFill>
          <a:ln w="12700">
            <a:solidFill>
              <a:srgbClr val="CFD5D9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50976" y="5340096"/>
            <a:ext cx="10305288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3339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jueves 22 es el Taller TA2 (15 %): diseño responsivo con CSS. Trae tu sitio del TA1 o tu portafolio publicado y tu Figma con el marco de escritorio terminado.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0080" y="6181344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5F6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Ing. Dagner Anibal Chuman Lluen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607040" y="6455664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AA2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/ 45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45</Slides>
  <Notes>45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45</vt:i4>
      </vt:variant>
    </vt:vector>
  </HeadingPairs>
  <TitlesOfParts>
    <vt:vector size="4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</vt:vector>
  </TitlesOfParts>
  <Company>Centro de Informática USS · Protech XP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Sesión 11 · Transiciones, transformaciones y animaciones CSS3</dc:title>
  <dc:subject>Curso de Diseño Web</dc:subject>
  <dc:creator>Ing. Dagner Anibal Chuman Lluen</dc:creator>
  <cp:lastModifiedBy>Ing. Dagner Anibal Chuman Lluen</cp:lastModifiedBy>
  <cp:revision>1</cp:revision>
  <dcterms:created xsi:type="dcterms:W3CDTF">2026-10-09T05:17:03Z</dcterms:created>
  <dcterms:modified xsi:type="dcterms:W3CDTF">2026-10-09T05:17:03Z</dcterms:modified>
</cp:coreProperties>
</file>