
<file path=[Content_Types].xml><?xml version="1.0" encoding="utf-8"?>
<Types xmlns="http://schemas.openxmlformats.org/package/2006/content-types">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slideMasters/slideMaster38.xml" ContentType="application/vnd.openxmlformats-officedocument.presentationml.slideMaster+xml"/>
  <Override PartName="/ppt/slides/slide38.xml" ContentType="application/vnd.openxmlformats-officedocument.presentationml.slide+xml"/>
  <Override PartName="/ppt/slideMasters/slideMaster39.xml" ContentType="application/vnd.openxmlformats-officedocument.presentationml.slideMaster+xml"/>
  <Override PartName="/ppt/slides/slide39.xml" ContentType="application/vnd.openxmlformats-officedocument.presentationml.slide+xml"/>
  <Override PartName="/ppt/slideMasters/slideMaster40.xml" ContentType="application/vnd.openxmlformats-officedocument.presentationml.slideMaster+xml"/>
  <Override PartName="/ppt/slides/slide40.xml" ContentType="application/vnd.openxmlformats-officedocument.presentationml.slide+xml"/>
  <Override PartName="/ppt/slideMasters/slideMaster41.xml" ContentType="application/vnd.openxmlformats-officedocument.presentationml.slideMaster+xml"/>
  <Override PartName="/ppt/slides/slide41.xml" ContentType="application/vnd.openxmlformats-officedocument.presentationml.slide+xml"/>
  <Override PartName="/ppt/slideMasters/slideMaster42.xml" ContentType="application/vnd.openxmlformats-officedocument.presentationml.slideMaster+xml"/>
  <Override PartName="/ppt/slides/slide42.xml" ContentType="application/vnd.openxmlformats-officedocument.presentationml.slide+xml"/>
  <Override PartName="/ppt/slideMasters/slideMaster43.xml" ContentType="application/vnd.openxmlformats-officedocument.presentationml.slideMaster+xml"/>
  <Override PartName="/ppt/slides/slide43.xml" ContentType="application/vnd.openxmlformats-officedocument.presentationml.slide+xml"/>
  <Override PartName="/ppt/slideMasters/slideMaster44.xml" ContentType="application/vnd.openxmlformats-officedocument.presentationml.slideMaster+xml"/>
  <Override PartName="/ppt/slides/slide44.xml" ContentType="application/vnd.openxmlformats-officedocument.presentationml.slide+xml"/>
  <Override PartName="/ppt/slideMasters/slideMaster45.xml" ContentType="application/vnd.openxmlformats-officedocument.presentationml.slideMaster+xml"/>
  <Override PartName="/ppt/slides/slide45.xml" ContentType="application/vnd.openxmlformats-officedocument.presentationml.slide+xml"/>
  <Override PartName="/ppt/slideMasters/slideMaster46.xml" ContentType="application/vnd.openxmlformats-officedocument.presentationml.slideMaster+xml"/>
  <Override PartName="/ppt/slides/slide46.xml" ContentType="application/vnd.openxmlformats-officedocument.presentationml.slide+xml"/>
  <Override PartName="/ppt/slideMasters/slideMaster47.xml" ContentType="application/vnd.openxmlformats-officedocument.presentationml.slideMaster+xml"/>
  <Override PartName="/ppt/slides/slide4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ppt/notesSlides/notesSlide38.xml" ContentType="application/vnd.openxmlformats-officedocument.presentationml.notesSlide+xml"/>
  <Override PartName="/ppt/notesSlides/notesSlide39.xml" ContentType="application/vnd.openxmlformats-officedocument.presentationml.notesSlide+xml"/>
  <Override PartName="/ppt/notesSlides/notesSlide40.xml" ContentType="application/vnd.openxmlformats-officedocument.presentationml.notesSlide+xml"/>
  <Override PartName="/ppt/notesSlides/notesSlide41.xml" ContentType="application/vnd.openxmlformats-officedocument.presentationml.notesSlide+xml"/>
  <Override PartName="/ppt/notesSlides/notesSlide42.xml" ContentType="application/vnd.openxmlformats-officedocument.presentationml.notesSlide+xml"/>
  <Override PartName="/ppt/notesSlides/notesSlide43.xml" ContentType="application/vnd.openxmlformats-officedocument.presentationml.notesSlide+xml"/>
  <Override PartName="/ppt/notesSlides/notesSlide44.xml" ContentType="application/vnd.openxmlformats-officedocument.presentationml.notesSlide+xml"/>
  <Override PartName="/ppt/notesSlides/notesSlide45.xml" ContentType="application/vnd.openxmlformats-officedocument.presentationml.notesSlide+xml"/>
  <Override PartName="/ppt/notesSlides/notesSlide46.xml" ContentType="application/vnd.openxmlformats-officedocument.presentationml.notesSlide+xml"/>
  <Override PartName="/ppt/notesSlides/notesSlide4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 id="293" r:id="rId39"/>
    <p:sldId id="294" r:id="rId40"/>
    <p:sldId id="295" r:id="rId41"/>
    <p:sldId id="296" r:id="rId42"/>
    <p:sldId id="297" r:id="rId43"/>
    <p:sldId id="298" r:id="rId44"/>
    <p:sldId id="299" r:id="rId45"/>
    <p:sldId id="300" r:id="rId46"/>
    <p:sldId id="301" r:id="rId47"/>
    <p:sldId id="302" r:id="rId48"/>
  </p:sldIdLst>
  <p:notesMasterIdLst>
    <p:notesMasterId r:id="rId49"/>
  </p:notesMasterIdLst>
  <p:sldSz cx="12192000" cy="6858000"/>
  <p:notesSz cx="6858000" cy="12192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slide" Target="slides/slide38.xml"/><Relationship Id="rId40" Type="http://schemas.openxmlformats.org/officeDocument/2006/relationships/slide" Target="slides/slide39.xml"/><Relationship Id="rId41" Type="http://schemas.openxmlformats.org/officeDocument/2006/relationships/slide" Target="slides/slide40.xml"/><Relationship Id="rId42" Type="http://schemas.openxmlformats.org/officeDocument/2006/relationships/slide" Target="slides/slide41.xml"/><Relationship Id="rId43" Type="http://schemas.openxmlformats.org/officeDocument/2006/relationships/slide" Target="slides/slide42.xml"/><Relationship Id="rId44" Type="http://schemas.openxmlformats.org/officeDocument/2006/relationships/slide" Target="slides/slide43.xml"/><Relationship Id="rId45" Type="http://schemas.openxmlformats.org/officeDocument/2006/relationships/slide" Target="slides/slide44.xml"/><Relationship Id="rId46" Type="http://schemas.openxmlformats.org/officeDocument/2006/relationships/slide" Target="slides/slide45.xml"/><Relationship Id="rId47" Type="http://schemas.openxmlformats.org/officeDocument/2006/relationships/slide" Target="slides/slide46.xml"/><Relationship Id="rId48" Type="http://schemas.openxmlformats.org/officeDocument/2006/relationships/slide" Target="slides/slide47.xml"/><Relationship Id="rId49" Type="http://schemas.openxmlformats.org/officeDocument/2006/relationships/notesMaster" Target="notesMasters/notesMaster1.xml"/><Relationship Id="rId50" Type="http://schemas.openxmlformats.org/officeDocument/2006/relationships/presProps" Target="presProps.xml"/><Relationship Id="rId51" Type="http://schemas.openxmlformats.org/officeDocument/2006/relationships/viewProps" Target="viewProps.xml"/><Relationship Id="rId52" Type="http://schemas.openxmlformats.org/officeDocument/2006/relationships/theme" Target="theme/theme1.xml"/><Relationship Id="rId53" Type="http://schemas.openxmlformats.org/officeDocument/2006/relationships/tableStyles" Target="tableStyles.xml"/></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_rels/notesSlide3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8.xml"/>
		</Relationships>
</file>

<file path=ppt/notesSlides/_rels/notesSlide3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9.xml"/>
		</Relationships>
</file>

<file path=ppt/notesSlides/_rels/notesSlide4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0.xml"/>
		</Relationships>
</file>

<file path=ppt/notesSlides/_rels/notesSlide4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1.xml"/>
		</Relationships>
</file>

<file path=ppt/notesSlides/_rels/notesSlide4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2.xml"/>
		</Relationships>
</file>

<file path=ppt/notesSlides/_rels/notesSlide4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3.xml"/>
		</Relationships>
</file>

<file path=ppt/notesSlides/_rels/notesSlide4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4.xml"/>
		</Relationships>
</file>

<file path=ppt/notesSlides/_rels/notesSlide4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5.xml"/>
		</Relationships>
</file>

<file path=ppt/notesSlides/_rels/notesSlide4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6.xml"/>
		</Relationships>
</file>

<file path=ppt/notesSlides/_rels/notesSlide4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image" Target="../media/image-1002-1.png"/><Relationship Id="rId2"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image" Target="../media/image-1004-1.jpg"/><Relationship Id="rId2"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image" Target="../media/image-1005-1.jpg"/><Relationship Id="rId2"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image" Target="../media/image-1006-1.jpg"/><Relationship Id="rId2"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image" Target="../media/image-1007-1.jpg"/><Relationship Id="rId2"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image" Target="../media/image-1008-1.jpg"/><Relationship Id="rId2"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image" Target="../media/image-1009-1.jpg"/><Relationship Id="rId2"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image" Target="../media/image-1010-1.jpg"/><Relationship Id="rId2"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image" Target="../media/image-1011-1.jpg"/><Relationship Id="rId2"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image" Target="../media/image-1012-1.jpg"/><Relationship Id="rId2"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image" Target="../media/image-1013-1.jpg"/><Relationship Id="rId2"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PORTADA">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portada.png">    </p:cNvPr>
          <p:cNvPicPr>
            <a:picLocks noChangeAspect="1"/>
          </p:cNvPicPr>
          <p:nvPr/>
        </p:nvPicPr>
        <p:blipFill>
          <a:blip r:embed="rId1"/>
          <a:stretch>
            <a:fillRect/>
          </a:stretch>
        </p:blipFill>
        <p:spPr>
          <a:xfrm>
            <a:off x="0" y="0"/>
            <a:ext cx="12191695" cy="1463040"/>
          </a:xfrm>
          <a:prstGeom prst="rect">
            <a:avLst/>
          </a:prstGeom>
        </p:spPr>
      </p:pic>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IMAGEN">
    <p:bg>
      <p:bgPr>
        <a:solidFill>
          <a:srgbClr val="FFFFFF"/>
        </a:solidFill>
      </p:bgPr>
    </p:bg>
    <p:spTree>
      <p:nvGrpSpPr>
        <p:cNvPr id="1" name=""/>
        <p:cNvGrpSpPr/>
        <p:nvPr/>
      </p:nvGrpSpPr>
      <p:grpSpPr>
        <a:xfrm>
          <a:off x="0" y="0"/>
          <a:ext cx="0" cy="0"/>
          <a:chOff x="0" y="0"/>
          <a:chExt cx="0" cy="0"/>
        </a:xfrm>
      </p:grpSpPr>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CONCEPTUAL">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conceptu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p:cSld name="CONCEPTUAL_LIBRE">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conceptu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p:cSld name="INSTRUMENTAL">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instrument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p:cSld name="INSTRUMENTAL_LIBRE">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instrument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p:cSld name="NIVELADOR">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nivelador.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preserve="1">
  <p:cSld name="NIVELADOR_LIBRE">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nivelador.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p:cSld name="FUNCIONAL">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funcional.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p:cSld name="FUNCIONAL_LIBRE">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funcional.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p:cSld name="ORIENTADOR">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orientador.jpg">    </p:cNvPr>
          <p:cNvPicPr>
            <a:picLocks noChangeAspect="1"/>
          </p:cNvPicPr>
          <p:nvPr/>
        </p:nvPicPr>
        <p:blipFill>
          <a:blip r:embed="rId1"/>
          <a:stretch>
            <a:fillRect/>
          </a:stretch>
        </p:blipFill>
        <p:spPr>
          <a:xfrm>
            <a:off x="0" y="0"/>
            <a:ext cx="12191695" cy="1188720"/>
          </a:xfrm>
          <a:prstGeom prst="rect">
            <a:avLst/>
          </a:prstGeom>
        </p:spPr>
      </p:pic>
      <p:sp>
        <p:nvSpPr>
          <p:cNvPr id="3" name="Text 0"/>
          <p:cNvSpPr/>
          <p:nvPr>
            <p:ph idx="101" type="title" hasCustomPrompt="1"/>
          </p:nvPr>
        </p:nvSpPr>
        <p:spPr>
          <a:xfrm>
            <a:off x="640080" y="1810512"/>
            <a:ext cx="10927080" cy="512064"/>
          </a:xfrm>
          <a:prstGeom prst="rect">
            <a:avLst/>
          </a:prstGeom>
          <a:noFill/>
          <a:ln/>
        </p:spPr>
        <p:txBody>
          <a:bodyPr wrap="square" rtlCol="0"/>
          <a:lstStyle>
            <a:lvl1pPr algn="l" indent="0" marL="0">
              <a:buNone/>
              <a:defRPr lang="en-US" sz="2800" b="1" dirty="0">
                <a:solidFill>
                  <a:srgbClr val="1F2326"/>
                </a:solidFill>
                <a:latin typeface="Calibri" pitchFamily="34" charset="0"/>
                <a:ea typeface="Calibri" pitchFamily="34" charset="-122"/>
                <a:cs typeface="Calibri" pitchFamily="34" charset="-120"/>
              </a:defRPr>
            </a:lvl1pPr>
          </a:lstStyle>
          <a:p>
            <a:pPr algn="l" indent="0" marL="0">
              <a:buNone/>
            </a:pPr>
            <a:endParaRPr lang="en-US" sz="2800" dirty="0"/>
          </a:p>
        </p:txBody>
      </p:sp>
    </p:spTree>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p:cSld name="ORIENTADOR_LIBRE">
    <p:bg>
      <p:bgPr>
        <a:solidFill>
          <a:srgbClr val="FFFFFF"/>
        </a:solidFill>
      </p:bgPr>
    </p:bg>
    <p:spTree>
      <p:nvGrpSpPr>
        <p:cNvPr id="1" name=""/>
        <p:cNvGrpSpPr/>
        <p:nvPr/>
      </p:nvGrpSpPr>
      <p:grpSpPr>
        <a:xfrm>
          <a:off x="0" y="0"/>
          <a:ext cx="0" cy="0"/>
          <a:chOff x="0" y="0"/>
          <a:chExt cx="0" cy="0"/>
        </a:xfrm>
      </p:grpSpPr>
      <p:pic>
        <p:nvPicPr>
          <p:cNvPr id="2" name="Image 0" descr="/tmp/claude-0/-home-user-sesiones-dagner/2613c8c1-437c-54f4-94d9-b62c29473bbd/scratchpad/deck/media/band-orientador.jpg">    </p:cNvPr>
          <p:cNvPicPr>
            <a:picLocks noChangeAspect="1"/>
          </p:cNvPicPr>
          <p:nvPr/>
        </p:nvPicPr>
        <p:blipFill>
          <a:blip r:embed="rId1"/>
          <a:stretch>
            <a:fillRect/>
          </a:stretch>
        </p:blipFill>
        <p:spPr>
          <a:xfrm>
            <a:off x="0" y="0"/>
            <a:ext cx="12191695" cy="1188720"/>
          </a:xfrm>
          <a:prstGeom prst="rect">
            <a:avLst/>
          </a:prstGeom>
        </p:spPr>
      </p:pic>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 id="2147483660" r:id="rId12"/>
    <p:sldLayoutId id="2147483661" r:id="rId13"/>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2.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image" Target="../media/image-3-1.jpg"/><Relationship Id="rId2" Type="http://schemas.openxmlformats.org/officeDocument/2006/relationships/slideLayout" Target="../slideLayouts/slideLayout3.xml"/><Relationship Id="rId3"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image" Target="../media/image-4-1.jpg"/><Relationship Id="rId2" Type="http://schemas.openxmlformats.org/officeDocument/2006/relationships/slideLayout" Target="../slideLayouts/slideLayout3.xml"/><Relationship Id="rId3"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image" Target="../media/image-5-1.jpg"/><Relationship Id="rId2" Type="http://schemas.openxmlformats.org/officeDocument/2006/relationships/slideLayout" Target="../slideLayouts/slideLayout3.xml"/><Relationship Id="rId3"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image" Target="../media/image-9-1.jpg"/><Relationship Id="rId2" Type="http://schemas.openxmlformats.org/officeDocument/2006/relationships/slideLayout" Target="../slideLayouts/slideLayout5.xml"/><Relationship Id="rId3"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image" Target="../media/image-11-1.png"/><Relationship Id="rId2" Type="http://schemas.openxmlformats.org/officeDocument/2006/relationships/slideLayout" Target="../slideLayouts/slideLayout4.xml"/><Relationship Id="rId3"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image" Target="../media/image-15-1.png"/><Relationship Id="rId2" Type="http://schemas.openxmlformats.org/officeDocument/2006/relationships/slideLayout" Target="../slideLayouts/slideLayout4.xml"/><Relationship Id="rId3"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image" Target="../media/image-16-1.jpg"/><Relationship Id="rId2" Type="http://schemas.openxmlformats.org/officeDocument/2006/relationships/slideLayout" Target="../slideLayouts/slideLayout5.xml"/><Relationship Id="rId3"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slideLayout" Target="../slideLayouts/slideLayout4.xml"/><Relationship Id="rId3"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slideLayout" Target="../slideLayouts/slideLayout4.xml"/><Relationship Id="rId4"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image" Target="../media/image-20-1.png"/><Relationship Id="rId2" Type="http://schemas.openxmlformats.org/officeDocument/2006/relationships/image" Target="../media/image-20-2.png"/><Relationship Id="rId3" Type="http://schemas.openxmlformats.org/officeDocument/2006/relationships/slideLayout" Target="../slideLayouts/slideLayout4.xml"/><Relationship Id="rId4"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image" Target="../media/image-21-1.jpg"/><Relationship Id="rId2" Type="http://schemas.openxmlformats.org/officeDocument/2006/relationships/slideLayout" Target="../slideLayouts/slideLayout5.xml"/><Relationship Id="rId3"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image" Target="../media/image-23-1.png"/><Relationship Id="rId2" Type="http://schemas.openxmlformats.org/officeDocument/2006/relationships/slideLayout" Target="../slideLayouts/slideLayout4.xml"/><Relationship Id="rId3"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image" Target="../media/image-24-1.png"/><Relationship Id="rId2" Type="http://schemas.openxmlformats.org/officeDocument/2006/relationships/slideLayout" Target="../slideLayouts/slideLayout4.xml"/><Relationship Id="rId3"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image" Target="../media/image-26-1.png"/><Relationship Id="rId2" Type="http://schemas.openxmlformats.org/officeDocument/2006/relationships/image" Target="../media/image-26-2.png"/><Relationship Id="rId3" Type="http://schemas.openxmlformats.org/officeDocument/2006/relationships/image" Target="../media/image-26-3.png"/><Relationship Id="rId4" Type="http://schemas.openxmlformats.org/officeDocument/2006/relationships/slideLayout" Target="../slideLayouts/slideLayout4.xml"/><Relationship Id="rId5"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image" Target="../media/image-27-1.jpg"/><Relationship Id="rId2" Type="http://schemas.openxmlformats.org/officeDocument/2006/relationships/slideLayout" Target="../slideLayouts/slideLayout5.xml"/><Relationship Id="rId3"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image" Target="../media/image-28-1.png"/><Relationship Id="rId2" Type="http://schemas.openxmlformats.org/officeDocument/2006/relationships/image" Target="../media/image-28-2.png"/><Relationship Id="rId3" Type="http://schemas.openxmlformats.org/officeDocument/2006/relationships/image" Target="../media/image-28-3.png"/><Relationship Id="rId4" Type="http://schemas.openxmlformats.org/officeDocument/2006/relationships/image" Target="../media/image-28-4.png"/><Relationship Id="rId5" Type="http://schemas.openxmlformats.org/officeDocument/2006/relationships/slideLayout" Target="../slideLayouts/slideLayout4.xml"/><Relationship Id="rId6"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image" Target="../media/image-32-1.png"/><Relationship Id="rId2" Type="http://schemas.openxmlformats.org/officeDocument/2006/relationships/slideLayout" Target="../slideLayouts/slideLayout5.xml"/><Relationship Id="rId3"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image" Target="../media/image-33-1.jpg"/><Relationship Id="rId2" Type="http://schemas.openxmlformats.org/officeDocument/2006/relationships/slideLayout" Target="../slideLayouts/slideLayout3.xml"/><Relationship Id="rId3"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7.xml"/></Relationships>
</file>

<file path=ppt/slides/_rels/slide38.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notesSlide" Target="../notesSlides/notesSlide38.xml"/></Relationships>
</file>

<file path=ppt/slides/_rels/slide39.xml.rels><?xml version="1.0" encoding="UTF-8" standalone="yes"?>
<Relationships xmlns="http://schemas.openxmlformats.org/package/2006/relationships"><Relationship Id="rId1" Type="http://schemas.openxmlformats.org/officeDocument/2006/relationships/image" Target="../media/image-39-1.png"/><Relationship Id="rId2" Type="http://schemas.openxmlformats.org/officeDocument/2006/relationships/image" Target="../media/image-39-2.png"/><Relationship Id="rId3" Type="http://schemas.openxmlformats.org/officeDocument/2006/relationships/slideLayout" Target="../slideLayouts/slideLayout6.xml"/><Relationship Id="rId4" Type="http://schemas.openxmlformats.org/officeDocument/2006/relationships/notesSlide" Target="../notesSlides/notesSlide39.xml"/></Relationships>
</file>

<file path=ppt/slides/_rels/slide40.xml.rels><?xml version="1.0" encoding="UTF-8" standalone="yes"?>
<Relationships xmlns="http://schemas.openxmlformats.org/package/2006/relationships"><Relationship Id="rId1" Type="http://schemas.openxmlformats.org/officeDocument/2006/relationships/image" Target="../media/image-40-1.jpg"/><Relationship Id="rId2" Type="http://schemas.openxmlformats.org/officeDocument/2006/relationships/slideLayout" Target="../slideLayouts/slideLayout3.xml"/><Relationship Id="rId3" Type="http://schemas.openxmlformats.org/officeDocument/2006/relationships/notesSlide" Target="../notesSlides/notesSlide40.xml"/></Relationships>
</file>

<file path=ppt/slides/_rels/slide41.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1.xml"/></Relationships>
</file>

<file path=ppt/slides/_rels/slide42.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notesSlide" Target="../notesSlides/notesSlide42.xml"/></Relationships>
</file>

<file path=ppt/slides/_rels/slide43.xml.rels><?xml version="1.0" encoding="UTF-8" standalone="yes"?>
<Relationships xmlns="http://schemas.openxmlformats.org/package/2006/relationships"><Relationship Id="rId1" Type="http://schemas.openxmlformats.org/officeDocument/2006/relationships/image" Target="../media/image-43-1.jpg"/><Relationship Id="rId2" Type="http://schemas.openxmlformats.org/officeDocument/2006/relationships/slideLayout" Target="../slideLayouts/slideLayout3.xml"/><Relationship Id="rId3" Type="http://schemas.openxmlformats.org/officeDocument/2006/relationships/notesSlide" Target="../notesSlides/notesSlide43.xml"/></Relationships>
</file>

<file path=ppt/slides/_rels/slide44.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44.xml"/></Relationships>
</file>

<file path=ppt/slides/_rels/slide45.xml.rels><?xml version="1.0" encoding="UTF-8" standalone="yes"?>
<Relationships xmlns="http://schemas.openxmlformats.org/package/2006/relationships"><Relationship Id="rId1" Type="http://schemas.openxmlformats.org/officeDocument/2006/relationships/image" Target="../media/image-45-1.jpg"/><Relationship Id="rId2" Type="http://schemas.openxmlformats.org/officeDocument/2006/relationships/slideLayout" Target="../slideLayouts/slideLayout3.xml"/><Relationship Id="rId3" Type="http://schemas.openxmlformats.org/officeDocument/2006/relationships/notesSlide" Target="../notesSlides/notesSlide45.xml"/></Relationships>
</file>

<file path=ppt/slides/_rels/slide46.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6.xml"/></Relationships>
</file>

<file path=ppt/slides/_rels/slide47.xml.rels><?xml version="1.0" encoding="UTF-8" standalone="yes"?>
<Relationships xmlns="http://schemas.openxmlformats.org/package/2006/relationships"><Relationship Id="rId1" Type="http://schemas.openxmlformats.org/officeDocument/2006/relationships/slideLayout" Target="../slideLayouts/slideLayout12.xml"/><Relationship Id="rId2" Type="http://schemas.openxmlformats.org/officeDocument/2006/relationships/notesSlide" Target="../notesSlides/notesSlide47.xml"/></Relationships>
</file>

<file path=ppt/slides/slide1.xml><?xml version="1.0" encoding="utf-8"?>
<p:sld xmlns:a="http://schemas.openxmlformats.org/drawingml/2006/main" xmlns:r="http://schemas.openxmlformats.org/officeDocument/2006/relationships" xmlns:p="http://schemas.openxmlformats.org/presentationml/2006/main">
  <p:cSld name="Slide 1">
    <p:spTree>
      <p:nvGrpSpPr>
        <p:cNvPr id="1" name=""/>
        <p:cNvGrpSpPr/>
        <p:nvPr/>
      </p:nvGrpSpPr>
      <p:grpSpPr>
        <a:xfrm>
          <a:off x="0" y="0"/>
          <a:ext cx="0" cy="0"/>
          <a:chOff x="0" y="0"/>
          <a:chExt cx="0" cy="0"/>
        </a:xfrm>
      </p:grpSpPr>
      <p:pic>
        <p:nvPicPr>
          <p:cNvPr id="2" name="Image 0" descr="Indicador de espera">    </p:cNvPr>
          <p:cNvPicPr>
            <a:picLocks noChangeAspect="1"/>
          </p:cNvPicPr>
          <p:nvPr/>
        </p:nvPicPr>
        <p:blipFill>
          <a:blip r:embed="rId1"/>
          <a:stretch>
            <a:fillRect/>
          </a:stretch>
        </p:blipFill>
        <p:spPr>
          <a:xfrm>
            <a:off x="5230368" y="1737360"/>
            <a:ext cx="1737360" cy="1737360"/>
          </a:xfrm>
          <a:prstGeom prst="rect">
            <a:avLst/>
          </a:prstGeom>
        </p:spPr>
      </p:pic>
      <p:sp>
        <p:nvSpPr>
          <p:cNvPr id="3" name="Shape 0"/>
          <p:cNvSpPr/>
          <p:nvPr/>
        </p:nvSpPr>
        <p:spPr>
          <a:xfrm>
            <a:off x="3127248" y="3639312"/>
            <a:ext cx="5943600" cy="841248"/>
          </a:xfrm>
          <a:prstGeom prst="roundRect">
            <a:avLst>
              <a:gd name="adj" fmla="val 50000"/>
            </a:avLst>
          </a:prstGeom>
          <a:solidFill>
            <a:srgbClr val="177E89"/>
          </a:solidFill>
          <a:ln w="12700">
            <a:solidFill>
              <a:srgbClr val="177E89"/>
            </a:solidFill>
            <a:prstDash val="solid"/>
          </a:ln>
        </p:spPr>
      </p:sp>
      <p:sp>
        <p:nvSpPr>
          <p:cNvPr id="4" name="Text 1"/>
          <p:cNvSpPr txBox="1"/>
          <p:nvPr/>
        </p:nvSpPr>
        <p:spPr>
          <a:xfrm>
            <a:off x="3127248" y="3639312"/>
            <a:ext cx="5943600" cy="84124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ESPERANDO A LOS COMPAÑEROS</a:t>
            </a:r>
            <a:endParaRPr lang="en-US" sz="2000" dirty="0"/>
          </a:p>
        </p:txBody>
      </p:sp>
      <p:sp>
        <p:nvSpPr>
          <p:cNvPr id="5" name="Text 2"/>
          <p:cNvSpPr txBox="1"/>
          <p:nvPr/>
        </p:nvSpPr>
        <p:spPr>
          <a:xfrm>
            <a:off x="1371600" y="4700016"/>
            <a:ext cx="9445752" cy="365760"/>
          </a:xfrm>
          <a:prstGeom prst="rect">
            <a:avLst/>
          </a:prstGeom>
          <a:noFill/>
          <a:ln/>
        </p:spPr>
        <p:txBody>
          <a:bodyPr wrap="square" lIns="0" tIns="0" rIns="0" bIns="0" rtlCol="0" anchor="ctr"/>
          <a:lstStyle/>
          <a:p>
            <a:pPr algn="ctr" indent="0" marL="0">
              <a:buNone/>
            </a:pPr>
            <a:r>
              <a:rPr lang="en-US" sz="1600" dirty="0">
                <a:solidFill>
                  <a:srgbClr val="1F2326"/>
                </a:solidFill>
                <a:latin typeface="Calibri" pitchFamily="34" charset="0"/>
                <a:ea typeface="Calibri" pitchFamily="34" charset="-122"/>
                <a:cs typeface="Calibri" pitchFamily="34" charset="-120"/>
              </a:rPr>
              <a:t>Sesión 14 · comenzamos en unos minutos</a:t>
            </a:r>
            <a:endParaRPr lang="en-US" sz="1600" dirty="0"/>
          </a:p>
        </p:txBody>
      </p:sp>
      <p:sp>
        <p:nvSpPr>
          <p:cNvPr id="6" name="Text 3"/>
          <p:cNvSpPr txBox="1"/>
          <p:nvPr/>
        </p:nvSpPr>
        <p:spPr>
          <a:xfrm>
            <a:off x="1371600" y="5120640"/>
            <a:ext cx="9445752" cy="310896"/>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Abre tu portafolio y tu archivo de Figma. Hoy la página Cursos recibe componentes y tus colores.</a:t>
            </a:r>
            <a:endParaRPr lang="en-US" sz="1150" dirty="0"/>
          </a:p>
        </p:txBody>
      </p:sp>
      <p:sp>
        <p:nvSpPr>
          <p:cNvPr id="7" name="Shape 4"/>
          <p:cNvSpPr/>
          <p:nvPr/>
        </p:nvSpPr>
        <p:spPr>
          <a:xfrm>
            <a:off x="4718304" y="5861304"/>
            <a:ext cx="2761488" cy="466344"/>
          </a:xfrm>
          <a:prstGeom prst="roundRect">
            <a:avLst>
              <a:gd name="adj" fmla="val 49020"/>
            </a:avLst>
          </a:prstGeom>
          <a:solidFill>
            <a:srgbClr val="FFFFFF"/>
          </a:solidFill>
          <a:ln w="12700">
            <a:solidFill>
              <a:srgbClr val="CFD5D9"/>
            </a:solidFill>
            <a:prstDash val="solid"/>
          </a:ln>
        </p:spPr>
      </p:sp>
      <p:sp>
        <p:nvSpPr>
          <p:cNvPr id="8" name="Text 5"/>
          <p:cNvSpPr txBox="1"/>
          <p:nvPr/>
        </p:nvSpPr>
        <p:spPr>
          <a:xfrm>
            <a:off x="4718304" y="5861304"/>
            <a:ext cx="2761488" cy="466344"/>
          </a:xfrm>
          <a:prstGeom prst="rect">
            <a:avLst/>
          </a:prstGeom>
          <a:noFill/>
          <a:ln/>
        </p:spPr>
        <p:txBody>
          <a:bodyPr wrap="square" lIns="0" tIns="0" rIns="0" bIns="0" rtlCol="0" anchor="ctr"/>
          <a:lstStyle/>
          <a:p>
            <a:pPr algn="ctr" indent="0" marL="0">
              <a:buNone/>
            </a:pPr>
            <a:r>
              <a:rPr lang="en-US" sz="1000" b="1" spc="300" kern="0" dirty="0">
                <a:solidFill>
                  <a:srgbClr val="5F676C"/>
                </a:solidFill>
                <a:latin typeface="Calibri" pitchFamily="34" charset="0"/>
                <a:ea typeface="Calibri" pitchFamily="34" charset="-122"/>
                <a:cs typeface="Calibri" pitchFamily="34" charset="-120"/>
              </a:rPr>
              <a:t>CURSO DE DISEÑO WEB</a:t>
            </a:r>
            <a:endParaRPr lang="en-US" sz="1000" dirty="0"/>
          </a:p>
        </p:txBody>
      </p:sp>
      <p:sp>
        <p:nvSpPr>
          <p:cNvPr id="9" name="Text 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01 / 47</a:t>
            </a:r>
            <a:endParaRPr lang="en-US" sz="80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spTree>
      <p:nvGrpSpPr>
        <p:cNvPr id="1" name=""/>
        <p:cNvGrpSpPr/>
        <p:nvPr/>
      </p:nvGrpSpPr>
      <p:grpSpPr>
        <a:xfrm>
          <a:off x="0" y="0"/>
          <a:ext cx="0" cy="0"/>
          <a:chOff x="0" y="0"/>
          <a:chExt cx="0" cy="0"/>
        </a:xfrm>
      </p:grpSpPr>
      <p:sp>
        <p:nvSpPr>
          <p:cNvPr id="2" name="Text 0"/>
          <p:cNvSpPr txBox="1"/>
          <p:nvPr/>
        </p:nvSpPr>
        <p:spPr>
          <a:xfrm>
            <a:off x="685800" y="2048256"/>
            <a:ext cx="5486400" cy="256032"/>
          </a:xfrm>
          <a:prstGeom prst="rect">
            <a:avLst/>
          </a:prstGeom>
          <a:noFill/>
          <a:ln/>
        </p:spPr>
        <p:txBody>
          <a:bodyPr wrap="square" lIns="0" tIns="0" rIns="0" bIns="0" rtlCol="0" anchor="ctr"/>
          <a:lstStyle/>
          <a:p>
            <a:pPr algn="l" indent="0" marL="0">
              <a:buNone/>
            </a:pPr>
            <a:r>
              <a:rPr lang="en-US" sz="1100" b="1" spc="300" kern="0" dirty="0">
                <a:solidFill>
                  <a:srgbClr val="177E89"/>
                </a:solidFill>
                <a:latin typeface="Calibri" pitchFamily="34" charset="0"/>
                <a:ea typeface="Calibri" pitchFamily="34" charset="-122"/>
                <a:cs typeface="Calibri" pitchFamily="34" charset="-120"/>
              </a:rPr>
              <a:t>CURSO DE DISEÑO WEB</a:t>
            </a:r>
            <a:endParaRPr lang="en-US" sz="1100" dirty="0"/>
          </a:p>
        </p:txBody>
      </p:sp>
      <p:sp>
        <p:nvSpPr>
          <p:cNvPr id="3" name="Text 1"/>
          <p:cNvSpPr txBox="1"/>
          <p:nvPr/>
        </p:nvSpPr>
        <p:spPr>
          <a:xfrm>
            <a:off x="685800" y="2432304"/>
            <a:ext cx="7406640" cy="914400"/>
          </a:xfrm>
          <a:prstGeom prst="rect">
            <a:avLst/>
          </a:prstGeom>
          <a:noFill/>
          <a:ln/>
        </p:spPr>
        <p:txBody>
          <a:bodyPr wrap="square" lIns="0" tIns="0" rIns="0" bIns="0" rtlCol="0" anchor="ctr"/>
          <a:lstStyle/>
          <a:p>
            <a:pPr algn="l" indent="0" marL="0">
              <a:buNone/>
            </a:pPr>
            <a:r>
              <a:rPr lang="en-US" sz="3800" b="1" dirty="0">
                <a:solidFill>
                  <a:srgbClr val="1F2326"/>
                </a:solidFill>
                <a:latin typeface="Calibri" pitchFamily="34" charset="0"/>
                <a:ea typeface="Calibri" pitchFamily="34" charset="-122"/>
                <a:cs typeface="Calibri" pitchFamily="34" charset="-120"/>
              </a:rPr>
              <a:t>Componentes y tema de Bootstrap</a:t>
            </a:r>
            <a:endParaRPr lang="en-US" sz="3800" dirty="0"/>
          </a:p>
        </p:txBody>
      </p:sp>
      <p:sp>
        <p:nvSpPr>
          <p:cNvPr id="4" name="Shape 2"/>
          <p:cNvSpPr/>
          <p:nvPr/>
        </p:nvSpPr>
        <p:spPr>
          <a:xfrm>
            <a:off x="685800" y="3566160"/>
            <a:ext cx="2148840" cy="457200"/>
          </a:xfrm>
          <a:prstGeom prst="roundRect">
            <a:avLst>
              <a:gd name="adj" fmla="val 50000"/>
            </a:avLst>
          </a:prstGeom>
          <a:solidFill>
            <a:srgbClr val="177E89"/>
          </a:solidFill>
          <a:ln w="12700">
            <a:solidFill>
              <a:srgbClr val="177E89"/>
            </a:solidFill>
            <a:prstDash val="solid"/>
          </a:ln>
        </p:spPr>
      </p:sp>
      <p:sp>
        <p:nvSpPr>
          <p:cNvPr id="5" name="Text 3"/>
          <p:cNvSpPr txBox="1"/>
          <p:nvPr/>
        </p:nvSpPr>
        <p:spPr>
          <a:xfrm>
            <a:off x="685800" y="3566160"/>
            <a:ext cx="2148840" cy="457200"/>
          </a:xfrm>
          <a:prstGeom prst="rect">
            <a:avLst/>
          </a:prstGeom>
          <a:noFill/>
          <a:ln/>
        </p:spPr>
        <p:txBody>
          <a:bodyPr wrap="square" lIns="0" tIns="0" rIns="0" bIns="0" rtlCol="0" anchor="ctr"/>
          <a:lstStyle/>
          <a:p>
            <a:pPr algn="ctr" indent="0" marL="0">
              <a:buNone/>
            </a:pPr>
            <a:r>
              <a:rPr lang="en-US" sz="1300" b="1" spc="200" kern="0" dirty="0">
                <a:solidFill>
                  <a:srgbClr val="FFFFFF"/>
                </a:solidFill>
                <a:latin typeface="Calibri" pitchFamily="34" charset="0"/>
                <a:ea typeface="Calibri" pitchFamily="34" charset="-122"/>
                <a:cs typeface="Calibri" pitchFamily="34" charset="-120"/>
              </a:rPr>
              <a:t>SESIÓN 14</a:t>
            </a:r>
            <a:endParaRPr lang="en-US" sz="1300" dirty="0"/>
          </a:p>
        </p:txBody>
      </p:sp>
      <p:sp>
        <p:nvSpPr>
          <p:cNvPr id="6" name="Text 4"/>
          <p:cNvSpPr txBox="1"/>
          <p:nvPr/>
        </p:nvSpPr>
        <p:spPr>
          <a:xfrm>
            <a:off x="685800" y="4261104"/>
            <a:ext cx="740664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Utilidades · card · alert · accordion · modal · navbar · variables --bs-*</a:t>
            </a:r>
            <a:endParaRPr lang="en-US" sz="1250" dirty="0"/>
          </a:p>
        </p:txBody>
      </p:sp>
      <p:sp>
        <p:nvSpPr>
          <p:cNvPr id="7" name="Text 5"/>
          <p:cNvSpPr txBox="1"/>
          <p:nvPr/>
        </p:nvSpPr>
        <p:spPr>
          <a:xfrm>
            <a:off x="685800" y="4809744"/>
            <a:ext cx="2743200" cy="237744"/>
          </a:xfrm>
          <a:prstGeom prst="rect">
            <a:avLst/>
          </a:prstGeom>
          <a:noFill/>
          <a:ln/>
        </p:spPr>
        <p:txBody>
          <a:bodyPr wrap="square" lIns="0" tIns="0" rIns="0" bIns="0" rtlCol="0" anchor="ctr"/>
          <a:lstStyle/>
          <a:p>
            <a:pPr algn="l" indent="0" marL="0">
              <a:buNone/>
            </a:pPr>
            <a:r>
              <a:rPr lang="en-US" sz="1000" b="1" spc="200" kern="0" dirty="0">
                <a:solidFill>
                  <a:srgbClr val="5F676C"/>
                </a:solidFill>
                <a:latin typeface="Calibri" pitchFamily="34" charset="0"/>
                <a:ea typeface="Calibri" pitchFamily="34" charset="-122"/>
                <a:cs typeface="Calibri" pitchFamily="34" charset="-120"/>
              </a:rPr>
              <a:t>DOCENTE</a:t>
            </a:r>
            <a:endParaRPr lang="en-US" sz="1000" dirty="0"/>
          </a:p>
        </p:txBody>
      </p:sp>
      <p:sp>
        <p:nvSpPr>
          <p:cNvPr id="8" name="Text 6"/>
          <p:cNvSpPr txBox="1"/>
          <p:nvPr/>
        </p:nvSpPr>
        <p:spPr>
          <a:xfrm>
            <a:off x="685800" y="5084064"/>
            <a:ext cx="5486400" cy="329184"/>
          </a:xfrm>
          <a:prstGeom prst="rect">
            <a:avLst/>
          </a:prstGeom>
          <a:noFill/>
          <a:ln/>
        </p:spPr>
        <p:txBody>
          <a:bodyPr wrap="square" lIns="0" tIns="0" rIns="0" bIns="0" rtlCol="0" anchor="ctr"/>
          <a:lstStyle/>
          <a:p>
            <a:pPr algn="l" indent="0" marL="0">
              <a:buNone/>
            </a:pPr>
            <a:r>
              <a:rPr lang="en-US" sz="1500" b="1" dirty="0">
                <a:solidFill>
                  <a:srgbClr val="1F2326"/>
                </a:solidFill>
                <a:latin typeface="Calibri" pitchFamily="34" charset="0"/>
                <a:ea typeface="Calibri" pitchFamily="34" charset="-122"/>
                <a:cs typeface="Calibri" pitchFamily="34" charset="-120"/>
              </a:rPr>
              <a:t>Ing. Dagner Anibal Chuman Lluen</a:t>
            </a:r>
            <a:endParaRPr lang="en-US" sz="1500" dirty="0"/>
          </a:p>
        </p:txBody>
      </p:sp>
      <p:sp>
        <p:nvSpPr>
          <p:cNvPr id="9" name="Shape 7"/>
          <p:cNvSpPr/>
          <p:nvPr/>
        </p:nvSpPr>
        <p:spPr>
          <a:xfrm>
            <a:off x="8366760" y="2286000"/>
            <a:ext cx="3291840" cy="1691640"/>
          </a:xfrm>
          <a:prstGeom prst="roundRect">
            <a:avLst>
              <a:gd name="adj" fmla="val 5405"/>
            </a:avLst>
          </a:prstGeom>
          <a:solidFill>
            <a:srgbClr val="2B2B2B"/>
          </a:solidFill>
          <a:ln w="12700">
            <a:solidFill>
              <a:srgbClr val="2B2B2B"/>
            </a:solidFill>
            <a:prstDash val="solid"/>
          </a:ln>
        </p:spPr>
      </p:sp>
      <p:sp>
        <p:nvSpPr>
          <p:cNvPr id="10" name="Text 8"/>
          <p:cNvSpPr txBox="1"/>
          <p:nvPr/>
        </p:nvSpPr>
        <p:spPr>
          <a:xfrm>
            <a:off x="8595360" y="2450592"/>
            <a:ext cx="2834640" cy="1362456"/>
          </a:xfrm>
          <a:prstGeom prst="rect">
            <a:avLst/>
          </a:prstGeom>
          <a:noFill/>
          <a:ln/>
        </p:spPr>
        <p:txBody>
          <a:bodyPr wrap="square" lIns="0" tIns="0" rIns="0" bIns="0" rtlCol="0" anchor="ctr"/>
          <a:lstStyle/>
          <a:p>
            <a:pPr indent="0" marL="0">
              <a:lnSpc>
                <a:spcPct val="120000"/>
              </a:lnSpc>
              <a:buNone/>
            </a:pPr>
            <a:r>
              <a:rPr lang="en-US" sz="1250" dirty="0">
                <a:solidFill>
                  <a:srgbClr val="E5E7EB"/>
                </a:solidFill>
                <a:latin typeface="Consolas" pitchFamily="34" charset="0"/>
                <a:ea typeface="Consolas" pitchFamily="34" charset="-122"/>
                <a:cs typeface="Consolas" pitchFamily="34" charset="-120"/>
              </a:rPr>
              <a:t>&lt;article class="card"&gt;</a:t>
            </a:r>
            <a:endParaRPr lang="en-US" sz="1250" dirty="0"/>
          </a:p>
          <a:p>
            <a:pPr indent="0" marL="0">
              <a:lnSpc>
                <a:spcPct val="120000"/>
              </a:lnSpc>
              <a:buNone/>
            </a:pPr>
            <a:r>
              <a:rPr lang="en-US" sz="1250" dirty="0">
                <a:solidFill>
                  <a:srgbClr val="E5E7EB"/>
                </a:solidFill>
                <a:latin typeface="Consolas" pitchFamily="34" charset="0"/>
                <a:ea typeface="Consolas" pitchFamily="34" charset="-122"/>
                <a:cs typeface="Consolas" pitchFamily="34" charset="-120"/>
              </a:rPr>
              <a:t>  &lt;div class="card-body"&gt;</a:t>
            </a:r>
            <a:endParaRPr lang="en-US" sz="1250" dirty="0"/>
          </a:p>
          <a:p>
            <a:pPr indent="0" marL="0">
              <a:lnSpc>
                <a:spcPct val="120000"/>
              </a:lnSpc>
              <a:buNone/>
            </a:pPr>
            <a:r>
              <a:rPr lang="en-US" sz="1250" dirty="0">
                <a:solidFill>
                  <a:srgbClr val="E5E7EB"/>
                </a:solidFill>
                <a:latin typeface="Consolas" pitchFamily="34" charset="0"/>
                <a:ea typeface="Consolas" pitchFamily="34" charset="-122"/>
                <a:cs typeface="Consolas" pitchFamily="34" charset="-120"/>
              </a:rPr>
              <a:t>    …</a:t>
            </a:r>
            <a:endParaRPr lang="en-US" sz="1250" dirty="0"/>
          </a:p>
          <a:p>
            <a:pPr indent="0" marL="0">
              <a:lnSpc>
                <a:spcPct val="120000"/>
              </a:lnSpc>
              <a:buNone/>
            </a:pPr>
            <a:r>
              <a:rPr lang="en-US" sz="1250" dirty="0">
                <a:solidFill>
                  <a:srgbClr val="E5E7EB"/>
                </a:solidFill>
                <a:latin typeface="Consolas" pitchFamily="34" charset="0"/>
                <a:ea typeface="Consolas" pitchFamily="34" charset="-122"/>
                <a:cs typeface="Consolas" pitchFamily="34" charset="-120"/>
              </a:rPr>
              <a:t>  &lt;/div&gt;</a:t>
            </a:r>
            <a:endParaRPr lang="en-US" sz="1250" dirty="0"/>
          </a:p>
          <a:p>
            <a:pPr indent="0" marL="0">
              <a:lnSpc>
                <a:spcPct val="120000"/>
              </a:lnSpc>
              <a:buNone/>
            </a:pPr>
            <a:r>
              <a:rPr lang="en-US" sz="1250" dirty="0">
                <a:solidFill>
                  <a:srgbClr val="E5E7EB"/>
                </a:solidFill>
                <a:latin typeface="Consolas" pitchFamily="34" charset="0"/>
                <a:ea typeface="Consolas" pitchFamily="34" charset="-122"/>
                <a:cs typeface="Consolas" pitchFamily="34" charset="-120"/>
              </a:rPr>
              <a:t>&lt;/article&gt;</a:t>
            </a:r>
            <a:endParaRPr lang="en-US" sz="1250" dirty="0"/>
          </a:p>
        </p:txBody>
      </p:sp>
      <p:sp>
        <p:nvSpPr>
          <p:cNvPr id="11" name="Text 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02 / 47</a:t>
            </a:r>
            <a:endParaRPr lang="en-US" sz="80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spTree>
      <p:nvGrpSpPr>
        <p:cNvPr id="1" name=""/>
        <p:cNvGrpSpPr/>
        <p:nvPr/>
      </p:nvGrpSpPr>
      <p:grpSpPr>
        <a:xfrm>
          <a:off x="0" y="0"/>
          <a:ext cx="0" cy="0"/>
          <a:chOff x="0" y="0"/>
          <a:chExt cx="0" cy="0"/>
        </a:xfrm>
      </p:grpSpPr>
      <p:pic>
        <p:nvPicPr>
          <p:cNvPr id="2" name="Image 0" descr="¿Cómo te sientes hoy?">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03 / 47</a:t>
            </a:r>
            <a:endParaRPr lang="en-US" sz="80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spTree>
      <p:nvGrpSpPr>
        <p:cNvPr id="1" name=""/>
        <p:cNvGrpSpPr/>
        <p:nvPr/>
      </p:nvGrpSpPr>
      <p:grpSpPr>
        <a:xfrm>
          <a:off x="0" y="0"/>
          <a:ext cx="0" cy="0"/>
          <a:chOff x="0" y="0"/>
          <a:chExt cx="0" cy="0"/>
        </a:xfrm>
      </p:grpSpPr>
      <p:pic>
        <p:nvPicPr>
          <p:cNvPr id="2" name="Image 0" descr="¿Qué es CINFO? Conceptual, Instrumental, Nivelador, Funcional y Orientador">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04 / 47</a:t>
            </a:r>
            <a:endParaRPr lang="en-US" sz="80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spTree>
      <p:nvGrpSpPr>
        <p:cNvPr id="1" name=""/>
        <p:cNvGrpSpPr/>
        <p:nvPr/>
      </p:nvGrpSpPr>
      <p:grpSpPr>
        <a:xfrm>
          <a:off x="0" y="0"/>
          <a:ext cx="0" cy="0"/>
          <a:chOff x="0" y="0"/>
          <a:chExt cx="0" cy="0"/>
        </a:xfrm>
      </p:grpSpPr>
      <p:pic>
        <p:nvPicPr>
          <p:cNvPr id="2" name="Image 0" descr="Conocimientos previos y definiciones clav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05 / 47</a:t>
            </a:r>
            <a:endParaRPr lang="en-US" sz="80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REPASO</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De dónde venimos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La página Cursos ya usa la grilla de Bootstrap. Su aspecto todavía sale de cursos.css.</a:t>
            </a:r>
            <a:endParaRPr lang="en-US" sz="1250" dirty="0"/>
          </a:p>
        </p:txBody>
      </p:sp>
      <p:sp>
        <p:nvSpPr>
          <p:cNvPr id="5" name="Shape 3"/>
          <p:cNvSpPr/>
          <p:nvPr/>
        </p:nvSpPr>
        <p:spPr>
          <a:xfrm>
            <a:off x="640080" y="2615184"/>
            <a:ext cx="5349240" cy="1920240"/>
          </a:xfrm>
          <a:prstGeom prst="roundRect">
            <a:avLst>
              <a:gd name="adj" fmla="val 4762"/>
            </a:avLst>
          </a:prstGeom>
          <a:solidFill>
            <a:srgbClr val="FFFFFF"/>
          </a:solidFill>
          <a:ln w="12700">
            <a:solidFill>
              <a:srgbClr val="CFD5D9"/>
            </a:solidFill>
            <a:prstDash val="solid"/>
          </a:ln>
        </p:spPr>
      </p:sp>
      <p:sp>
        <p:nvSpPr>
          <p:cNvPr id="6" name="Text 4"/>
          <p:cNvSpPr txBox="1"/>
          <p:nvPr/>
        </p:nvSpPr>
        <p:spPr>
          <a:xfrm>
            <a:off x="950976" y="2816352"/>
            <a:ext cx="4727448" cy="310896"/>
          </a:xfrm>
          <a:prstGeom prst="rect">
            <a:avLst/>
          </a:prstGeom>
          <a:noFill/>
          <a:ln/>
        </p:spPr>
        <p:txBody>
          <a:bodyPr wrap="square" lIns="0" tIns="0" rIns="0" bIns="0" rtlCol="0" anchor="ctr"/>
          <a:lstStyle/>
          <a:p>
            <a:pPr algn="l" indent="0" marL="0">
              <a:buNone/>
            </a:pPr>
            <a:r>
              <a:rPr lang="en-US" sz="1400" b="1" dirty="0">
                <a:solidFill>
                  <a:srgbClr val="5F676C"/>
                </a:solidFill>
                <a:latin typeface="Calibri" pitchFamily="34" charset="0"/>
                <a:ea typeface="Calibri" pitchFamily="34" charset="-122"/>
                <a:cs typeface="Calibri" pitchFamily="34" charset="-120"/>
              </a:rPr>
              <a:t>Ya tienes</a:t>
            </a:r>
            <a:endParaRPr lang="en-US" sz="1400" dirty="0"/>
          </a:p>
        </p:txBody>
      </p:sp>
      <p:sp>
        <p:nvSpPr>
          <p:cNvPr id="7" name="Text 5"/>
          <p:cNvSpPr txBox="1"/>
          <p:nvPr/>
        </p:nvSpPr>
        <p:spPr>
          <a:xfrm>
            <a:off x="950976" y="3182112"/>
            <a:ext cx="4727448" cy="1188720"/>
          </a:xfrm>
          <a:prstGeom prst="rect">
            <a:avLst/>
          </a:prstGeom>
          <a:noFill/>
          <a:ln/>
        </p:spPr>
        <p:txBody>
          <a:bodyPr wrap="square" lIns="0" tIns="0" rIns="0" bIns="0" rtlCol="0" anchor="t"/>
          <a:lstStyle/>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Bootstrap enlazado desde el CDN, antes que tus hojas.</a:t>
            </a:r>
            <a:endParaRPr lang="en-US" sz="1200" dirty="0"/>
          </a:p>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La grilla: </a:t>
            </a:r>
            <a:pPr algn="l" marL="177800" indent="-177800">
              <a:spcAft>
                <a:spcPts val="400"/>
              </a:spcAft>
              <a:buSzPct val="100000"/>
              <a:buChar char="•"/>
            </a:pPr>
            <a:r>
              <a:rPr lang="en-US" sz="1200" dirty="0">
                <a:solidFill>
                  <a:srgbClr val="1F2326"/>
                </a:solidFill>
                <a:latin typeface="Consolas" pitchFamily="34" charset="0"/>
                <a:ea typeface="Consolas" pitchFamily="34" charset="-122"/>
                <a:cs typeface="Consolas" pitchFamily="34" charset="-120"/>
              </a:rPr>
              <a:t>row</a:t>
            </a:r>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 </a:t>
            </a:r>
            <a:pPr algn="l" marL="177800" indent="-177800">
              <a:spcAft>
                <a:spcPts val="400"/>
              </a:spcAft>
              <a:buSzPct val="100000"/>
              <a:buChar char="•"/>
            </a:pPr>
            <a:r>
              <a:rPr lang="en-US" sz="1200" dirty="0">
                <a:solidFill>
                  <a:srgbClr val="1F2326"/>
                </a:solidFill>
                <a:latin typeface="Consolas" pitchFamily="34" charset="0"/>
                <a:ea typeface="Consolas" pitchFamily="34" charset="-122"/>
                <a:cs typeface="Consolas" pitchFamily="34" charset="-120"/>
              </a:rPr>
              <a:t>col-*</a:t>
            </a:r>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 </a:t>
            </a:r>
            <a:pPr algn="l" marL="177800" indent="-177800">
              <a:spcAft>
                <a:spcPts val="400"/>
              </a:spcAft>
              <a:buSzPct val="100000"/>
              <a:buChar char="•"/>
            </a:pPr>
            <a:r>
              <a:rPr lang="en-US" sz="1200" dirty="0">
                <a:solidFill>
                  <a:srgbClr val="1F2326"/>
                </a:solidFill>
                <a:latin typeface="Consolas" pitchFamily="34" charset="0"/>
                <a:ea typeface="Consolas" pitchFamily="34" charset="-122"/>
                <a:cs typeface="Consolas" pitchFamily="34" charset="-120"/>
              </a:rPr>
              <a:t>g-4</a:t>
            </a:r>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 y </a:t>
            </a:r>
            <a:pPr algn="l" marL="177800" indent="-177800">
              <a:spcAft>
                <a:spcPts val="400"/>
              </a:spcAft>
              <a:buSzPct val="100000"/>
              <a:buChar char="•"/>
            </a:pPr>
            <a:r>
              <a:rPr lang="en-US" sz="1200" dirty="0">
                <a:solidFill>
                  <a:srgbClr val="1F2326"/>
                </a:solidFill>
                <a:latin typeface="Consolas" pitchFamily="34" charset="0"/>
                <a:ea typeface="Consolas" pitchFamily="34" charset="-122"/>
                <a:cs typeface="Consolas" pitchFamily="34" charset="-120"/>
              </a:rPr>
              <a:t>offset-*</a:t>
            </a:r>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a:t>
            </a:r>
            <a:endParaRPr lang="en-US" sz="1200" dirty="0"/>
          </a:p>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La guía de 12 columnas en Figma.</a:t>
            </a:r>
            <a:endParaRPr lang="en-US" sz="1200" dirty="0"/>
          </a:p>
        </p:txBody>
      </p:sp>
      <p:sp>
        <p:nvSpPr>
          <p:cNvPr id="8" name="Shape 6"/>
          <p:cNvSpPr/>
          <p:nvPr/>
        </p:nvSpPr>
        <p:spPr>
          <a:xfrm>
            <a:off x="6217920" y="2615184"/>
            <a:ext cx="5349240" cy="1920240"/>
          </a:xfrm>
          <a:prstGeom prst="roundRect">
            <a:avLst>
              <a:gd name="adj" fmla="val 4762"/>
            </a:avLst>
          </a:prstGeom>
          <a:solidFill>
            <a:srgbClr val="F3F5F6"/>
          </a:solidFill>
          <a:ln w="12700">
            <a:solidFill>
              <a:srgbClr val="CFD5D9"/>
            </a:solidFill>
            <a:prstDash val="solid"/>
          </a:ln>
        </p:spPr>
      </p:sp>
      <p:sp>
        <p:nvSpPr>
          <p:cNvPr id="9" name="Text 7"/>
          <p:cNvSpPr txBox="1"/>
          <p:nvPr/>
        </p:nvSpPr>
        <p:spPr>
          <a:xfrm>
            <a:off x="6528816" y="2816352"/>
            <a:ext cx="472744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Hoy sumas</a:t>
            </a:r>
            <a:endParaRPr lang="en-US" sz="1400" dirty="0"/>
          </a:p>
        </p:txBody>
      </p:sp>
      <p:sp>
        <p:nvSpPr>
          <p:cNvPr id="10" name="Text 8"/>
          <p:cNvSpPr txBox="1"/>
          <p:nvPr/>
        </p:nvSpPr>
        <p:spPr>
          <a:xfrm>
            <a:off x="6528816" y="3182112"/>
            <a:ext cx="4727448" cy="1188720"/>
          </a:xfrm>
          <a:prstGeom prst="rect">
            <a:avLst/>
          </a:prstGeom>
          <a:noFill/>
          <a:ln/>
        </p:spPr>
        <p:txBody>
          <a:bodyPr wrap="square" lIns="0" tIns="0" rIns="0" bIns="0" rtlCol="0" anchor="t"/>
          <a:lstStyle/>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Utilidades: clases de una sola propiedad.</a:t>
            </a:r>
            <a:endParaRPr lang="en-US" sz="1200" dirty="0"/>
          </a:p>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Componentes: tarjetas, aviso, acordeón y ventana.</a:t>
            </a:r>
            <a:endParaRPr lang="en-US" sz="1200" dirty="0"/>
          </a:p>
          <a:p>
            <a:pPr algn="l" marL="177800" indent="-177800">
              <a:spcAft>
                <a:spcPts val="400"/>
              </a:spcAft>
              <a:buSzPct val="100000"/>
              <a:buChar char="•"/>
            </a:pPr>
            <a:r>
              <a:rPr lang="en-US" sz="1200" dirty="0">
                <a:solidFill>
                  <a:srgbClr val="33393D"/>
                </a:solidFill>
                <a:latin typeface="Calibri" pitchFamily="34" charset="0"/>
                <a:ea typeface="Calibri" pitchFamily="34" charset="-122"/>
                <a:cs typeface="Calibri" pitchFamily="34" charset="-120"/>
              </a:rPr>
              <a:t>Un tema: Bootstrap con los colores de tu Figma.</a:t>
            </a:r>
            <a:endParaRPr lang="en-US" sz="1200" dirty="0"/>
          </a:p>
        </p:txBody>
      </p:sp>
      <p:sp>
        <p:nvSpPr>
          <p:cNvPr id="11" name="Shape 9"/>
          <p:cNvSpPr/>
          <p:nvPr/>
        </p:nvSpPr>
        <p:spPr>
          <a:xfrm>
            <a:off x="640080" y="4736592"/>
            <a:ext cx="10927080" cy="1298448"/>
          </a:xfrm>
          <a:prstGeom prst="roundRect">
            <a:avLst>
              <a:gd name="adj" fmla="val 7042"/>
            </a:avLst>
          </a:prstGeom>
          <a:solidFill>
            <a:srgbClr val="F3F5F6"/>
          </a:solidFill>
          <a:ln w="12700">
            <a:solidFill>
              <a:srgbClr val="CFD5D9"/>
            </a:solidFill>
            <a:prstDash val="solid"/>
          </a:ln>
        </p:spPr>
      </p:sp>
      <p:sp>
        <p:nvSpPr>
          <p:cNvPr id="12" name="Text 10"/>
          <p:cNvSpPr txBox="1"/>
          <p:nvPr/>
        </p:nvSpPr>
        <p:spPr>
          <a:xfrm>
            <a:off x="950976" y="4736592"/>
            <a:ext cx="10305288" cy="1298448"/>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Lo que hace distinta a esta sesión </a:t>
            </a:r>
            <a:pPr indent="0" marL="0">
              <a:buNone/>
            </a:pPr>
            <a:endParaRPr lang="en-US" sz="1200" dirty="0"/>
          </a:p>
          <a:p>
            <a:pPr indent="0" marL="0">
              <a:buNone/>
            </a:pPr>
            <a:r>
              <a:rPr lang="en-US" sz="1200" dirty="0">
                <a:solidFill>
                  <a:srgbClr val="33393D"/>
                </a:solidFill>
                <a:latin typeface="Calibri" pitchFamily="34" charset="0"/>
                <a:ea typeface="Calibri" pitchFamily="34" charset="-122"/>
                <a:cs typeface="Calibri" pitchFamily="34" charset="-120"/>
              </a:rPr>
              <a:t>El HTML de la página crece y tu CSS se achica: </a:t>
            </a:r>
            <a:endParaRPr lang="en-US" sz="1200" dirty="0"/>
          </a:p>
          <a:p>
            <a:pPr indent="0" marL="0">
              <a:buNone/>
            </a:pPr>
            <a:r>
              <a:rPr lang="en-US" sz="1200" dirty="0">
                <a:solidFill>
                  <a:srgbClr val="1F2326"/>
                </a:solidFill>
                <a:latin typeface="Consolas" pitchFamily="34" charset="0"/>
                <a:ea typeface="Consolas" pitchFamily="34" charset="-122"/>
                <a:cs typeface="Consolas" pitchFamily="34" charset="-120"/>
              </a:rPr>
              <a:t>cursos.css</a:t>
            </a:r>
            <a:pPr indent="0" marL="0">
              <a:buNone/>
            </a:pPr>
            <a:r>
              <a:rPr lang="en-US" sz="1200" dirty="0">
                <a:solidFill>
                  <a:srgbClr val="33393D"/>
                </a:solidFill>
                <a:latin typeface="Calibri" pitchFamily="34" charset="0"/>
                <a:ea typeface="Calibri" pitchFamily="34" charset="-122"/>
                <a:cs typeface="Calibri" pitchFamily="34" charset="-120"/>
              </a:rPr>
              <a:t> pasa de 189 líneas a 60. Lo que queda en tu CSS es lo que hace tuyo el diseño.</a:t>
            </a:r>
            <a:endParaRPr lang="en-US" sz="1200" dirty="0"/>
          </a:p>
        </p:txBody>
      </p:sp>
      <p:sp>
        <p:nvSpPr>
          <p:cNvPr id="13" name="Text 11"/>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06 / 47</a:t>
            </a:r>
            <a:endParaRPr lang="en-US" sz="80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LOGROS DE APRENDIZAJE</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¿Qué vas a lograr hoy?</a:t>
            </a:r>
            <a:endParaRPr lang="en-US" sz="2800" dirty="0"/>
          </a:p>
        </p:txBody>
      </p:sp>
      <p:sp>
        <p:nvSpPr>
          <p:cNvPr id="4" name="Shape 2"/>
          <p:cNvSpPr/>
          <p:nvPr/>
        </p:nvSpPr>
        <p:spPr>
          <a:xfrm>
            <a:off x="640080" y="2615184"/>
            <a:ext cx="10927080" cy="621792"/>
          </a:xfrm>
          <a:prstGeom prst="roundRect">
            <a:avLst>
              <a:gd name="adj" fmla="val 14706"/>
            </a:avLst>
          </a:prstGeom>
          <a:solidFill>
            <a:srgbClr val="FFFFFF"/>
          </a:solidFill>
          <a:ln w="12700">
            <a:solidFill>
              <a:srgbClr val="CFD5D9"/>
            </a:solidFill>
            <a:prstDash val="solid"/>
          </a:ln>
        </p:spPr>
      </p:sp>
      <p:sp>
        <p:nvSpPr>
          <p:cNvPr id="5" name="Shape 3"/>
          <p:cNvSpPr/>
          <p:nvPr/>
        </p:nvSpPr>
        <p:spPr>
          <a:xfrm>
            <a:off x="978408" y="2670048"/>
            <a:ext cx="512064" cy="512064"/>
          </a:xfrm>
          <a:prstGeom prst="ellipse">
            <a:avLst/>
          </a:prstGeom>
          <a:solidFill>
            <a:srgbClr val="177E89"/>
          </a:solidFill>
          <a:ln w="12700">
            <a:solidFill>
              <a:srgbClr val="177E89"/>
            </a:solidFill>
            <a:prstDash val="solid"/>
          </a:ln>
        </p:spPr>
      </p:sp>
      <p:sp>
        <p:nvSpPr>
          <p:cNvPr id="6" name="Text 4"/>
          <p:cNvSpPr txBox="1"/>
          <p:nvPr/>
        </p:nvSpPr>
        <p:spPr>
          <a:xfrm>
            <a:off x="978408" y="2670048"/>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1</a:t>
            </a:r>
            <a:endParaRPr lang="en-US" sz="1300" dirty="0"/>
          </a:p>
        </p:txBody>
      </p:sp>
      <p:sp>
        <p:nvSpPr>
          <p:cNvPr id="7" name="Text 5"/>
          <p:cNvSpPr txBox="1"/>
          <p:nvPr/>
        </p:nvSpPr>
        <p:spPr>
          <a:xfrm>
            <a:off x="1691640" y="2615184"/>
            <a:ext cx="2286000" cy="621792"/>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Combinar</a:t>
            </a:r>
            <a:endParaRPr lang="en-US" sz="1350" dirty="0"/>
          </a:p>
        </p:txBody>
      </p:sp>
      <p:sp>
        <p:nvSpPr>
          <p:cNvPr id="8" name="Text 6"/>
          <p:cNvSpPr txBox="1"/>
          <p:nvPr/>
        </p:nvSpPr>
        <p:spPr>
          <a:xfrm>
            <a:off x="4114800" y="2615184"/>
            <a:ext cx="7178040" cy="621792"/>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Armar una sección con utilidades de espaciado, flex, color y bordes.</a:t>
            </a:r>
            <a:endParaRPr lang="en-US" sz="1200" dirty="0"/>
          </a:p>
        </p:txBody>
      </p:sp>
      <p:sp>
        <p:nvSpPr>
          <p:cNvPr id="9" name="Shape 7"/>
          <p:cNvSpPr/>
          <p:nvPr/>
        </p:nvSpPr>
        <p:spPr>
          <a:xfrm>
            <a:off x="640080" y="3319272"/>
            <a:ext cx="10927080" cy="621792"/>
          </a:xfrm>
          <a:prstGeom prst="roundRect">
            <a:avLst>
              <a:gd name="adj" fmla="val 14706"/>
            </a:avLst>
          </a:prstGeom>
          <a:solidFill>
            <a:srgbClr val="FFFFFF"/>
          </a:solidFill>
          <a:ln w="12700">
            <a:solidFill>
              <a:srgbClr val="CFD5D9"/>
            </a:solidFill>
            <a:prstDash val="solid"/>
          </a:ln>
        </p:spPr>
      </p:sp>
      <p:sp>
        <p:nvSpPr>
          <p:cNvPr id="10" name="Shape 8"/>
          <p:cNvSpPr/>
          <p:nvPr/>
        </p:nvSpPr>
        <p:spPr>
          <a:xfrm>
            <a:off x="978408" y="3374136"/>
            <a:ext cx="512064" cy="512064"/>
          </a:xfrm>
          <a:prstGeom prst="ellipse">
            <a:avLst/>
          </a:prstGeom>
          <a:solidFill>
            <a:srgbClr val="177E89"/>
          </a:solidFill>
          <a:ln w="12700">
            <a:solidFill>
              <a:srgbClr val="177E89"/>
            </a:solidFill>
            <a:prstDash val="solid"/>
          </a:ln>
        </p:spPr>
      </p:sp>
      <p:sp>
        <p:nvSpPr>
          <p:cNvPr id="11" name="Text 9"/>
          <p:cNvSpPr txBox="1"/>
          <p:nvPr/>
        </p:nvSpPr>
        <p:spPr>
          <a:xfrm>
            <a:off x="978408" y="3374136"/>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2</a:t>
            </a:r>
            <a:endParaRPr lang="en-US" sz="1300" dirty="0"/>
          </a:p>
        </p:txBody>
      </p:sp>
      <p:sp>
        <p:nvSpPr>
          <p:cNvPr id="12" name="Text 10"/>
          <p:cNvSpPr txBox="1"/>
          <p:nvPr/>
        </p:nvSpPr>
        <p:spPr>
          <a:xfrm>
            <a:off x="1691640" y="3319272"/>
            <a:ext cx="2286000" cy="621792"/>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Componer</a:t>
            </a:r>
            <a:endParaRPr lang="en-US" sz="1350" dirty="0"/>
          </a:p>
        </p:txBody>
      </p:sp>
      <p:sp>
        <p:nvSpPr>
          <p:cNvPr id="13" name="Text 11"/>
          <p:cNvSpPr txBox="1"/>
          <p:nvPr/>
        </p:nvSpPr>
        <p:spPr>
          <a:xfrm>
            <a:off x="4114800" y="3319272"/>
            <a:ext cx="7178040" cy="621792"/>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Usar los componentes card, badge, alert, accordion y modal.</a:t>
            </a:r>
            <a:endParaRPr lang="en-US" sz="1200" dirty="0"/>
          </a:p>
        </p:txBody>
      </p:sp>
      <p:sp>
        <p:nvSpPr>
          <p:cNvPr id="14" name="Shape 12"/>
          <p:cNvSpPr/>
          <p:nvPr/>
        </p:nvSpPr>
        <p:spPr>
          <a:xfrm>
            <a:off x="640080" y="4023360"/>
            <a:ext cx="10927080" cy="621792"/>
          </a:xfrm>
          <a:prstGeom prst="roundRect">
            <a:avLst>
              <a:gd name="adj" fmla="val 14706"/>
            </a:avLst>
          </a:prstGeom>
          <a:solidFill>
            <a:srgbClr val="FFFFFF"/>
          </a:solidFill>
          <a:ln w="12700">
            <a:solidFill>
              <a:srgbClr val="CFD5D9"/>
            </a:solidFill>
            <a:prstDash val="solid"/>
          </a:ln>
        </p:spPr>
      </p:sp>
      <p:sp>
        <p:nvSpPr>
          <p:cNvPr id="15" name="Shape 13"/>
          <p:cNvSpPr/>
          <p:nvPr/>
        </p:nvSpPr>
        <p:spPr>
          <a:xfrm>
            <a:off x="978408" y="4078224"/>
            <a:ext cx="512064" cy="512064"/>
          </a:xfrm>
          <a:prstGeom prst="ellipse">
            <a:avLst/>
          </a:prstGeom>
          <a:solidFill>
            <a:srgbClr val="177E89"/>
          </a:solidFill>
          <a:ln w="12700">
            <a:solidFill>
              <a:srgbClr val="177E89"/>
            </a:solidFill>
            <a:prstDash val="solid"/>
          </a:ln>
        </p:spPr>
      </p:sp>
      <p:sp>
        <p:nvSpPr>
          <p:cNvPr id="16" name="Text 14"/>
          <p:cNvSpPr txBox="1"/>
          <p:nvPr/>
        </p:nvSpPr>
        <p:spPr>
          <a:xfrm>
            <a:off x="978408" y="4078224"/>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3</a:t>
            </a:r>
            <a:endParaRPr lang="en-US" sz="1300" dirty="0"/>
          </a:p>
        </p:txBody>
      </p:sp>
      <p:sp>
        <p:nvSpPr>
          <p:cNvPr id="17" name="Text 15"/>
          <p:cNvSpPr txBox="1"/>
          <p:nvPr/>
        </p:nvSpPr>
        <p:spPr>
          <a:xfrm>
            <a:off x="1691640" y="4023360"/>
            <a:ext cx="2286000" cy="621792"/>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Activar</a:t>
            </a:r>
            <a:endParaRPr lang="en-US" sz="1350" dirty="0"/>
          </a:p>
        </p:txBody>
      </p:sp>
      <p:sp>
        <p:nvSpPr>
          <p:cNvPr id="18" name="Text 16"/>
          <p:cNvSpPr txBox="1"/>
          <p:nvPr/>
        </p:nvSpPr>
        <p:spPr>
          <a:xfrm>
            <a:off x="4114800" y="4023360"/>
            <a:ext cx="7178040" cy="621792"/>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Hacer funcionar el acordeón y la ventana con el JavaScript de Bootstrap.</a:t>
            </a:r>
            <a:endParaRPr lang="en-US" sz="1200" dirty="0"/>
          </a:p>
        </p:txBody>
      </p:sp>
      <p:sp>
        <p:nvSpPr>
          <p:cNvPr id="19" name="Shape 17"/>
          <p:cNvSpPr/>
          <p:nvPr/>
        </p:nvSpPr>
        <p:spPr>
          <a:xfrm>
            <a:off x="640080" y="4727448"/>
            <a:ext cx="10927080" cy="621792"/>
          </a:xfrm>
          <a:prstGeom prst="roundRect">
            <a:avLst>
              <a:gd name="adj" fmla="val 14706"/>
            </a:avLst>
          </a:prstGeom>
          <a:solidFill>
            <a:srgbClr val="FFFFFF"/>
          </a:solidFill>
          <a:ln w="12700">
            <a:solidFill>
              <a:srgbClr val="CFD5D9"/>
            </a:solidFill>
            <a:prstDash val="solid"/>
          </a:ln>
        </p:spPr>
      </p:sp>
      <p:sp>
        <p:nvSpPr>
          <p:cNvPr id="20" name="Shape 18"/>
          <p:cNvSpPr/>
          <p:nvPr/>
        </p:nvSpPr>
        <p:spPr>
          <a:xfrm>
            <a:off x="978408" y="4782312"/>
            <a:ext cx="512064" cy="512064"/>
          </a:xfrm>
          <a:prstGeom prst="ellipse">
            <a:avLst/>
          </a:prstGeom>
          <a:solidFill>
            <a:srgbClr val="177E89"/>
          </a:solidFill>
          <a:ln w="12700">
            <a:solidFill>
              <a:srgbClr val="177E89"/>
            </a:solidFill>
            <a:prstDash val="solid"/>
          </a:ln>
        </p:spPr>
      </p:sp>
      <p:sp>
        <p:nvSpPr>
          <p:cNvPr id="21" name="Text 19"/>
          <p:cNvSpPr txBox="1"/>
          <p:nvPr/>
        </p:nvSpPr>
        <p:spPr>
          <a:xfrm>
            <a:off x="978408" y="4782312"/>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4</a:t>
            </a:r>
            <a:endParaRPr lang="en-US" sz="1300" dirty="0"/>
          </a:p>
        </p:txBody>
      </p:sp>
      <p:sp>
        <p:nvSpPr>
          <p:cNvPr id="22" name="Text 20"/>
          <p:cNvSpPr txBox="1"/>
          <p:nvPr/>
        </p:nvSpPr>
        <p:spPr>
          <a:xfrm>
            <a:off x="1691640" y="4727448"/>
            <a:ext cx="2286000" cy="621792"/>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Personalizar</a:t>
            </a:r>
            <a:endParaRPr lang="en-US" sz="1350" dirty="0"/>
          </a:p>
        </p:txBody>
      </p:sp>
      <p:sp>
        <p:nvSpPr>
          <p:cNvPr id="23" name="Text 21"/>
          <p:cNvSpPr txBox="1"/>
          <p:nvPr/>
        </p:nvSpPr>
        <p:spPr>
          <a:xfrm>
            <a:off x="4114800" y="4727448"/>
            <a:ext cx="7178040" cy="621792"/>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Cambiar las variables </a:t>
            </a:r>
            <a:pPr algn="l" indent="0" marL="0">
              <a:buNone/>
            </a:pPr>
            <a:r>
              <a:rPr lang="en-US" sz="1200" dirty="0">
                <a:solidFill>
                  <a:srgbClr val="1F2326"/>
                </a:solidFill>
                <a:latin typeface="Consolas" pitchFamily="34" charset="0"/>
                <a:ea typeface="Consolas" pitchFamily="34" charset="-122"/>
                <a:cs typeface="Consolas" pitchFamily="34" charset="-120"/>
              </a:rPr>
              <a:t>--bs-*</a:t>
            </a:r>
            <a:pPr algn="l" indent="0" marL="0">
              <a:buNone/>
            </a:pPr>
            <a:r>
              <a:rPr lang="en-US" sz="1200" dirty="0">
                <a:solidFill>
                  <a:srgbClr val="33393D"/>
                </a:solidFill>
                <a:latin typeface="Calibri" pitchFamily="34" charset="0"/>
                <a:ea typeface="Calibri" pitchFamily="34" charset="-122"/>
                <a:cs typeface="Calibri" pitchFamily="34" charset="-120"/>
              </a:rPr>
              <a:t> para que Bootstrap use tu Figma.</a:t>
            </a:r>
            <a:endParaRPr lang="en-US" sz="1200" dirty="0"/>
          </a:p>
        </p:txBody>
      </p:sp>
      <p:sp>
        <p:nvSpPr>
          <p:cNvPr id="24" name="Shape 22"/>
          <p:cNvSpPr/>
          <p:nvPr/>
        </p:nvSpPr>
        <p:spPr>
          <a:xfrm>
            <a:off x="640080" y="5431536"/>
            <a:ext cx="10927080" cy="621792"/>
          </a:xfrm>
          <a:prstGeom prst="roundRect">
            <a:avLst>
              <a:gd name="adj" fmla="val 14706"/>
            </a:avLst>
          </a:prstGeom>
          <a:solidFill>
            <a:srgbClr val="FFFFFF"/>
          </a:solidFill>
          <a:ln w="12700">
            <a:solidFill>
              <a:srgbClr val="CFD5D9"/>
            </a:solidFill>
            <a:prstDash val="solid"/>
          </a:ln>
        </p:spPr>
      </p:sp>
      <p:sp>
        <p:nvSpPr>
          <p:cNvPr id="25" name="Shape 23"/>
          <p:cNvSpPr/>
          <p:nvPr/>
        </p:nvSpPr>
        <p:spPr>
          <a:xfrm>
            <a:off x="978408" y="5486400"/>
            <a:ext cx="512064" cy="512064"/>
          </a:xfrm>
          <a:prstGeom prst="ellipse">
            <a:avLst/>
          </a:prstGeom>
          <a:solidFill>
            <a:srgbClr val="177E89"/>
          </a:solidFill>
          <a:ln w="12700">
            <a:solidFill>
              <a:srgbClr val="177E89"/>
            </a:solidFill>
            <a:prstDash val="solid"/>
          </a:ln>
        </p:spPr>
      </p:sp>
      <p:sp>
        <p:nvSpPr>
          <p:cNvPr id="26" name="Text 24"/>
          <p:cNvSpPr txBox="1"/>
          <p:nvPr/>
        </p:nvSpPr>
        <p:spPr>
          <a:xfrm>
            <a:off x="978408" y="5486400"/>
            <a:ext cx="512064" cy="512064"/>
          </a:xfrm>
          <a:prstGeom prst="rect">
            <a:avLst/>
          </a:prstGeom>
          <a:noFill/>
          <a:ln/>
        </p:spPr>
        <p:txBody>
          <a:bodyPr wrap="square" lIns="0" tIns="0" rIns="0" bIns="0" rtlCol="0" anchor="ctr"/>
          <a:lstStyle/>
          <a:p>
            <a:pPr algn="ctr" indent="0" marL="0">
              <a:buNone/>
            </a:pPr>
            <a:r>
              <a:rPr lang="en-US" sz="1300" b="1" dirty="0">
                <a:solidFill>
                  <a:srgbClr val="FFFFFF"/>
                </a:solidFill>
                <a:latin typeface="Calibri" pitchFamily="34" charset="0"/>
                <a:ea typeface="Calibri" pitchFamily="34" charset="-122"/>
                <a:cs typeface="Calibri" pitchFamily="34" charset="-120"/>
              </a:rPr>
              <a:t>5</a:t>
            </a:r>
            <a:endParaRPr lang="en-US" sz="1300" dirty="0"/>
          </a:p>
        </p:txBody>
      </p:sp>
      <p:sp>
        <p:nvSpPr>
          <p:cNvPr id="27" name="Text 25"/>
          <p:cNvSpPr txBox="1"/>
          <p:nvPr/>
        </p:nvSpPr>
        <p:spPr>
          <a:xfrm>
            <a:off x="1691640" y="5431536"/>
            <a:ext cx="2286000" cy="621792"/>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Conectar</a:t>
            </a:r>
            <a:endParaRPr lang="en-US" sz="1350" dirty="0"/>
          </a:p>
        </p:txBody>
      </p:sp>
      <p:sp>
        <p:nvSpPr>
          <p:cNvPr id="28" name="Text 26"/>
          <p:cNvSpPr txBox="1"/>
          <p:nvPr/>
        </p:nvSpPr>
        <p:spPr>
          <a:xfrm>
            <a:off x="4114800" y="5431536"/>
            <a:ext cx="7178040" cy="621792"/>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Guardar los colores de Figma como variables y aplicarlos.</a:t>
            </a:r>
            <a:endParaRPr lang="en-US" sz="120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07 / 47</a:t>
            </a:r>
            <a:endParaRPr lang="en-US" sz="80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AGENDA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Cómo se reparten las 4 horas</a:t>
            </a:r>
            <a:endParaRPr lang="en-US" sz="2800" dirty="0"/>
          </a:p>
        </p:txBody>
      </p:sp>
      <p:sp>
        <p:nvSpPr>
          <p:cNvPr id="4" name="Shape 2"/>
          <p:cNvSpPr/>
          <p:nvPr/>
        </p:nvSpPr>
        <p:spPr>
          <a:xfrm>
            <a:off x="640080" y="2578608"/>
            <a:ext cx="10927080" cy="420624"/>
          </a:xfrm>
          <a:prstGeom prst="roundRect">
            <a:avLst>
              <a:gd name="adj" fmla="val 21739"/>
            </a:avLst>
          </a:prstGeom>
          <a:solidFill>
            <a:srgbClr val="FFFFFF"/>
          </a:solidFill>
          <a:ln w="12700">
            <a:solidFill>
              <a:srgbClr val="CFD5D9"/>
            </a:solidFill>
            <a:prstDash val="solid"/>
          </a:ln>
        </p:spPr>
      </p:sp>
      <p:sp>
        <p:nvSpPr>
          <p:cNvPr id="5" name="Shape 3"/>
          <p:cNvSpPr/>
          <p:nvPr/>
        </p:nvSpPr>
        <p:spPr>
          <a:xfrm>
            <a:off x="960120" y="2615184"/>
            <a:ext cx="347472" cy="347472"/>
          </a:xfrm>
          <a:prstGeom prst="ellipse">
            <a:avLst/>
          </a:prstGeom>
          <a:solidFill>
            <a:srgbClr val="177E89"/>
          </a:solidFill>
          <a:ln w="12700">
            <a:solidFill>
              <a:srgbClr val="177E89"/>
            </a:solidFill>
            <a:prstDash val="solid"/>
          </a:ln>
        </p:spPr>
      </p:sp>
      <p:sp>
        <p:nvSpPr>
          <p:cNvPr id="6" name="Text 4"/>
          <p:cNvSpPr txBox="1"/>
          <p:nvPr/>
        </p:nvSpPr>
        <p:spPr>
          <a:xfrm>
            <a:off x="960120" y="2615184"/>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01</a:t>
            </a:r>
            <a:endParaRPr lang="en-US" sz="1050" dirty="0"/>
          </a:p>
        </p:txBody>
      </p:sp>
      <p:sp>
        <p:nvSpPr>
          <p:cNvPr id="7" name="Text 5"/>
          <p:cNvSpPr txBox="1"/>
          <p:nvPr/>
        </p:nvSpPr>
        <p:spPr>
          <a:xfrm>
            <a:off x="1664208" y="2578608"/>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Utilidades</a:t>
            </a:r>
            <a:endParaRPr lang="en-US" sz="1300" dirty="0"/>
          </a:p>
        </p:txBody>
      </p:sp>
      <p:sp>
        <p:nvSpPr>
          <p:cNvPr id="8" name="Text 6"/>
          <p:cNvSpPr txBox="1"/>
          <p:nvPr/>
        </p:nvSpPr>
        <p:spPr>
          <a:xfrm>
            <a:off x="5349240" y="2578608"/>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Espaciado, flex, texto, color, bordes y !important.</a:t>
            </a:r>
            <a:endParaRPr lang="en-US" sz="1100" dirty="0"/>
          </a:p>
        </p:txBody>
      </p:sp>
      <p:sp>
        <p:nvSpPr>
          <p:cNvPr id="9" name="Text 7"/>
          <p:cNvSpPr txBox="1"/>
          <p:nvPr/>
        </p:nvSpPr>
        <p:spPr>
          <a:xfrm>
            <a:off x="10195560" y="2578608"/>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35 min</a:t>
            </a:r>
            <a:endParaRPr lang="en-US" sz="1100" dirty="0"/>
          </a:p>
        </p:txBody>
      </p:sp>
      <p:sp>
        <p:nvSpPr>
          <p:cNvPr id="10" name="Shape 8"/>
          <p:cNvSpPr/>
          <p:nvPr/>
        </p:nvSpPr>
        <p:spPr>
          <a:xfrm>
            <a:off x="640080" y="3049524"/>
            <a:ext cx="10927080" cy="420624"/>
          </a:xfrm>
          <a:prstGeom prst="roundRect">
            <a:avLst>
              <a:gd name="adj" fmla="val 21739"/>
            </a:avLst>
          </a:prstGeom>
          <a:solidFill>
            <a:srgbClr val="FFFFFF"/>
          </a:solidFill>
          <a:ln w="12700">
            <a:solidFill>
              <a:srgbClr val="CFD5D9"/>
            </a:solidFill>
            <a:prstDash val="solid"/>
          </a:ln>
        </p:spPr>
      </p:sp>
      <p:sp>
        <p:nvSpPr>
          <p:cNvPr id="11" name="Shape 9"/>
          <p:cNvSpPr/>
          <p:nvPr/>
        </p:nvSpPr>
        <p:spPr>
          <a:xfrm>
            <a:off x="960120" y="3086100"/>
            <a:ext cx="347472" cy="347472"/>
          </a:xfrm>
          <a:prstGeom prst="ellipse">
            <a:avLst/>
          </a:prstGeom>
          <a:solidFill>
            <a:srgbClr val="177E89"/>
          </a:solidFill>
          <a:ln w="12700">
            <a:solidFill>
              <a:srgbClr val="177E89"/>
            </a:solidFill>
            <a:prstDash val="solid"/>
          </a:ln>
        </p:spPr>
      </p:sp>
      <p:sp>
        <p:nvSpPr>
          <p:cNvPr id="12" name="Text 10"/>
          <p:cNvSpPr txBox="1"/>
          <p:nvPr/>
        </p:nvSpPr>
        <p:spPr>
          <a:xfrm>
            <a:off x="960120" y="3086100"/>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02</a:t>
            </a:r>
            <a:endParaRPr lang="en-US" sz="1050" dirty="0"/>
          </a:p>
        </p:txBody>
      </p:sp>
      <p:sp>
        <p:nvSpPr>
          <p:cNvPr id="13" name="Text 11"/>
          <p:cNvSpPr txBox="1"/>
          <p:nvPr/>
        </p:nvSpPr>
        <p:spPr>
          <a:xfrm>
            <a:off x="1664208" y="3049524"/>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Componentes</a:t>
            </a:r>
            <a:endParaRPr lang="en-US" sz="1300" dirty="0"/>
          </a:p>
        </p:txBody>
      </p:sp>
      <p:sp>
        <p:nvSpPr>
          <p:cNvPr id="14" name="Text 12"/>
          <p:cNvSpPr txBox="1"/>
          <p:nvPr/>
        </p:nvSpPr>
        <p:spPr>
          <a:xfrm>
            <a:off x="5349240" y="3049524"/>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card, badge, iconos y alert.</a:t>
            </a:r>
            <a:endParaRPr lang="en-US" sz="1100" dirty="0"/>
          </a:p>
        </p:txBody>
      </p:sp>
      <p:sp>
        <p:nvSpPr>
          <p:cNvPr id="15" name="Text 13"/>
          <p:cNvSpPr txBox="1"/>
          <p:nvPr/>
        </p:nvSpPr>
        <p:spPr>
          <a:xfrm>
            <a:off x="10195560" y="3049524"/>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35 min</a:t>
            </a:r>
            <a:endParaRPr lang="en-US" sz="1100" dirty="0"/>
          </a:p>
        </p:txBody>
      </p:sp>
      <p:sp>
        <p:nvSpPr>
          <p:cNvPr id="16" name="Shape 14"/>
          <p:cNvSpPr/>
          <p:nvPr/>
        </p:nvSpPr>
        <p:spPr>
          <a:xfrm>
            <a:off x="640080" y="3520440"/>
            <a:ext cx="10927080" cy="420624"/>
          </a:xfrm>
          <a:prstGeom prst="roundRect">
            <a:avLst>
              <a:gd name="adj" fmla="val 21739"/>
            </a:avLst>
          </a:prstGeom>
          <a:solidFill>
            <a:srgbClr val="FFFFFF"/>
          </a:solidFill>
          <a:ln w="12700">
            <a:solidFill>
              <a:srgbClr val="CFD5D9"/>
            </a:solidFill>
            <a:prstDash val="solid"/>
          </a:ln>
        </p:spPr>
      </p:sp>
      <p:sp>
        <p:nvSpPr>
          <p:cNvPr id="17" name="Shape 15"/>
          <p:cNvSpPr/>
          <p:nvPr/>
        </p:nvSpPr>
        <p:spPr>
          <a:xfrm>
            <a:off x="960120" y="3557016"/>
            <a:ext cx="347472" cy="347472"/>
          </a:xfrm>
          <a:prstGeom prst="ellipse">
            <a:avLst/>
          </a:prstGeom>
          <a:solidFill>
            <a:srgbClr val="177E89"/>
          </a:solidFill>
          <a:ln w="12700">
            <a:solidFill>
              <a:srgbClr val="177E89"/>
            </a:solidFill>
            <a:prstDash val="solid"/>
          </a:ln>
        </p:spPr>
      </p:sp>
      <p:sp>
        <p:nvSpPr>
          <p:cNvPr id="18" name="Text 16"/>
          <p:cNvSpPr txBox="1"/>
          <p:nvPr/>
        </p:nvSpPr>
        <p:spPr>
          <a:xfrm>
            <a:off x="960120" y="3557016"/>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03</a:t>
            </a:r>
            <a:endParaRPr lang="en-US" sz="1050" dirty="0"/>
          </a:p>
        </p:txBody>
      </p:sp>
      <p:sp>
        <p:nvSpPr>
          <p:cNvPr id="19" name="Text 17"/>
          <p:cNvSpPr txBox="1"/>
          <p:nvPr/>
        </p:nvSpPr>
        <p:spPr>
          <a:xfrm>
            <a:off x="1664208" y="3520440"/>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Componentes con JavaScript</a:t>
            </a:r>
            <a:endParaRPr lang="en-US" sz="1300" dirty="0"/>
          </a:p>
        </p:txBody>
      </p:sp>
      <p:sp>
        <p:nvSpPr>
          <p:cNvPr id="20" name="Text 18"/>
          <p:cNvSpPr txBox="1"/>
          <p:nvPr/>
        </p:nvSpPr>
        <p:spPr>
          <a:xfrm>
            <a:off x="5349240" y="3520440"/>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Acordeón, ventana modal, formularios y navbar.</a:t>
            </a:r>
            <a:endParaRPr lang="en-US" sz="1100" dirty="0"/>
          </a:p>
        </p:txBody>
      </p:sp>
      <p:sp>
        <p:nvSpPr>
          <p:cNvPr id="21" name="Text 19"/>
          <p:cNvSpPr txBox="1"/>
          <p:nvPr/>
        </p:nvSpPr>
        <p:spPr>
          <a:xfrm>
            <a:off x="10195560" y="3520440"/>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40 min</a:t>
            </a:r>
            <a:endParaRPr lang="en-US" sz="1100" dirty="0"/>
          </a:p>
        </p:txBody>
      </p:sp>
      <p:sp>
        <p:nvSpPr>
          <p:cNvPr id="22" name="Shape 20"/>
          <p:cNvSpPr/>
          <p:nvPr/>
        </p:nvSpPr>
        <p:spPr>
          <a:xfrm>
            <a:off x="640080" y="3991356"/>
            <a:ext cx="10927080" cy="420624"/>
          </a:xfrm>
          <a:prstGeom prst="roundRect">
            <a:avLst>
              <a:gd name="adj" fmla="val 21739"/>
            </a:avLst>
          </a:prstGeom>
          <a:solidFill>
            <a:srgbClr val="FFFFFF"/>
          </a:solidFill>
          <a:ln w="12700">
            <a:solidFill>
              <a:srgbClr val="CFD5D9"/>
            </a:solidFill>
            <a:prstDash val="solid"/>
          </a:ln>
        </p:spPr>
      </p:sp>
      <p:sp>
        <p:nvSpPr>
          <p:cNvPr id="23" name="Shape 21"/>
          <p:cNvSpPr/>
          <p:nvPr/>
        </p:nvSpPr>
        <p:spPr>
          <a:xfrm>
            <a:off x="960120" y="4027932"/>
            <a:ext cx="347472" cy="347472"/>
          </a:xfrm>
          <a:prstGeom prst="ellipse">
            <a:avLst/>
          </a:prstGeom>
          <a:solidFill>
            <a:srgbClr val="177E89"/>
          </a:solidFill>
          <a:ln w="12700">
            <a:solidFill>
              <a:srgbClr val="177E89"/>
            </a:solidFill>
            <a:prstDash val="solid"/>
          </a:ln>
        </p:spPr>
      </p:sp>
      <p:sp>
        <p:nvSpPr>
          <p:cNvPr id="24" name="Text 22"/>
          <p:cNvSpPr txBox="1"/>
          <p:nvPr/>
        </p:nvSpPr>
        <p:spPr>
          <a:xfrm>
            <a:off x="960120" y="4027932"/>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04</a:t>
            </a:r>
            <a:endParaRPr lang="en-US" sz="1050" dirty="0"/>
          </a:p>
        </p:txBody>
      </p:sp>
      <p:sp>
        <p:nvSpPr>
          <p:cNvPr id="25" name="Text 23"/>
          <p:cNvSpPr txBox="1"/>
          <p:nvPr/>
        </p:nvSpPr>
        <p:spPr>
          <a:xfrm>
            <a:off x="1664208" y="3991356"/>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El tema</a:t>
            </a:r>
            <a:endParaRPr lang="en-US" sz="1300" dirty="0"/>
          </a:p>
        </p:txBody>
      </p:sp>
      <p:sp>
        <p:nvSpPr>
          <p:cNvPr id="26" name="Text 24"/>
          <p:cNvSpPr txBox="1"/>
          <p:nvPr/>
        </p:nvSpPr>
        <p:spPr>
          <a:xfrm>
            <a:off x="5349240" y="3991356"/>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Las variables --bs-* con tus colores.</a:t>
            </a:r>
            <a:endParaRPr lang="en-US" sz="1100" dirty="0"/>
          </a:p>
        </p:txBody>
      </p:sp>
      <p:sp>
        <p:nvSpPr>
          <p:cNvPr id="27" name="Text 25"/>
          <p:cNvSpPr txBox="1"/>
          <p:nvPr/>
        </p:nvSpPr>
        <p:spPr>
          <a:xfrm>
            <a:off x="10195560" y="3991356"/>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25 min</a:t>
            </a:r>
            <a:endParaRPr lang="en-US" sz="1100" dirty="0"/>
          </a:p>
        </p:txBody>
      </p:sp>
      <p:sp>
        <p:nvSpPr>
          <p:cNvPr id="28" name="Shape 26"/>
          <p:cNvSpPr/>
          <p:nvPr/>
        </p:nvSpPr>
        <p:spPr>
          <a:xfrm>
            <a:off x="640080" y="4462272"/>
            <a:ext cx="10927080" cy="420624"/>
          </a:xfrm>
          <a:prstGeom prst="roundRect">
            <a:avLst>
              <a:gd name="adj" fmla="val 21739"/>
            </a:avLst>
          </a:prstGeom>
          <a:solidFill>
            <a:srgbClr val="F3F5F6"/>
          </a:solidFill>
          <a:ln w="12700">
            <a:solidFill>
              <a:srgbClr val="CFD5D9"/>
            </a:solidFill>
            <a:prstDash val="solid"/>
          </a:ln>
        </p:spPr>
      </p:sp>
      <p:sp>
        <p:nvSpPr>
          <p:cNvPr id="29" name="Shape 27"/>
          <p:cNvSpPr/>
          <p:nvPr/>
        </p:nvSpPr>
        <p:spPr>
          <a:xfrm>
            <a:off x="960120" y="4498848"/>
            <a:ext cx="347472" cy="347472"/>
          </a:xfrm>
          <a:prstGeom prst="ellipse">
            <a:avLst/>
          </a:prstGeom>
          <a:solidFill>
            <a:srgbClr val="5F676C"/>
          </a:solidFill>
          <a:ln w="12700">
            <a:solidFill>
              <a:srgbClr val="5F676C"/>
            </a:solidFill>
            <a:prstDash val="solid"/>
          </a:ln>
        </p:spPr>
      </p:sp>
      <p:sp>
        <p:nvSpPr>
          <p:cNvPr id="30" name="Text 28"/>
          <p:cNvSpPr txBox="1"/>
          <p:nvPr/>
        </p:nvSpPr>
        <p:spPr>
          <a:xfrm>
            <a:off x="960120" y="4498848"/>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a:t>
            </a:r>
            <a:endParaRPr lang="en-US" sz="1050" dirty="0"/>
          </a:p>
        </p:txBody>
      </p:sp>
      <p:sp>
        <p:nvSpPr>
          <p:cNvPr id="31" name="Text 29"/>
          <p:cNvSpPr txBox="1"/>
          <p:nvPr/>
        </p:nvSpPr>
        <p:spPr>
          <a:xfrm>
            <a:off x="1664208" y="4462272"/>
            <a:ext cx="3566160" cy="420624"/>
          </a:xfrm>
          <a:prstGeom prst="rect">
            <a:avLst/>
          </a:prstGeom>
          <a:noFill/>
          <a:ln/>
        </p:spPr>
        <p:txBody>
          <a:bodyPr wrap="square" lIns="0" tIns="0" rIns="0" bIns="0" rtlCol="0" anchor="ctr"/>
          <a:lstStyle/>
          <a:p>
            <a:pPr algn="l" indent="0" marL="0">
              <a:buNone/>
            </a:pPr>
            <a:r>
              <a:rPr lang="en-US" sz="1300" b="1" dirty="0">
                <a:solidFill>
                  <a:srgbClr val="5F676C"/>
                </a:solidFill>
                <a:latin typeface="Calibri" pitchFamily="34" charset="0"/>
                <a:ea typeface="Calibri" pitchFamily="34" charset="-122"/>
                <a:cs typeface="Calibri" pitchFamily="34" charset="-120"/>
              </a:rPr>
              <a:t>Descanso</a:t>
            </a:r>
            <a:endParaRPr lang="en-US" sz="1300" dirty="0"/>
          </a:p>
        </p:txBody>
      </p:sp>
      <p:sp>
        <p:nvSpPr>
          <p:cNvPr id="32" name="Text 30"/>
          <p:cNvSpPr txBox="1"/>
          <p:nvPr/>
        </p:nvSpPr>
        <p:spPr>
          <a:xfrm>
            <a:off x="10195560" y="4462272"/>
            <a:ext cx="1188720" cy="420624"/>
          </a:xfrm>
          <a:prstGeom prst="rect">
            <a:avLst/>
          </a:prstGeom>
          <a:noFill/>
          <a:ln/>
        </p:spPr>
        <p:txBody>
          <a:bodyPr wrap="square" lIns="0" tIns="0" rIns="0" bIns="0" rtlCol="0" anchor="ctr"/>
          <a:lstStyle/>
          <a:p>
            <a:pPr algn="r" indent="0" marL="0">
              <a:buNone/>
            </a:pPr>
            <a:r>
              <a:rPr lang="en-US" sz="1100" b="1" dirty="0">
                <a:solidFill>
                  <a:srgbClr val="5F676C"/>
                </a:solidFill>
                <a:latin typeface="Calibri" pitchFamily="34" charset="0"/>
                <a:ea typeface="Calibri" pitchFamily="34" charset="-122"/>
                <a:cs typeface="Calibri" pitchFamily="34" charset="-120"/>
              </a:rPr>
              <a:t>15 min</a:t>
            </a:r>
            <a:endParaRPr lang="en-US" sz="1100" dirty="0"/>
          </a:p>
        </p:txBody>
      </p:sp>
      <p:sp>
        <p:nvSpPr>
          <p:cNvPr id="33" name="Shape 31"/>
          <p:cNvSpPr/>
          <p:nvPr/>
        </p:nvSpPr>
        <p:spPr>
          <a:xfrm>
            <a:off x="640080" y="4933188"/>
            <a:ext cx="10927080" cy="420624"/>
          </a:xfrm>
          <a:prstGeom prst="roundRect">
            <a:avLst>
              <a:gd name="adj" fmla="val 21739"/>
            </a:avLst>
          </a:prstGeom>
          <a:solidFill>
            <a:srgbClr val="FFFFFF"/>
          </a:solidFill>
          <a:ln w="12700">
            <a:solidFill>
              <a:srgbClr val="CFD5D9"/>
            </a:solidFill>
            <a:prstDash val="solid"/>
          </a:ln>
        </p:spPr>
      </p:sp>
      <p:sp>
        <p:nvSpPr>
          <p:cNvPr id="34" name="Shape 32"/>
          <p:cNvSpPr/>
          <p:nvPr/>
        </p:nvSpPr>
        <p:spPr>
          <a:xfrm>
            <a:off x="960120" y="4969764"/>
            <a:ext cx="347472" cy="347472"/>
          </a:xfrm>
          <a:prstGeom prst="ellipse">
            <a:avLst/>
          </a:prstGeom>
          <a:solidFill>
            <a:srgbClr val="177E89"/>
          </a:solidFill>
          <a:ln w="12700">
            <a:solidFill>
              <a:srgbClr val="177E89"/>
            </a:solidFill>
            <a:prstDash val="solid"/>
          </a:ln>
        </p:spPr>
      </p:sp>
      <p:sp>
        <p:nvSpPr>
          <p:cNvPr id="35" name="Text 33"/>
          <p:cNvSpPr txBox="1"/>
          <p:nvPr/>
        </p:nvSpPr>
        <p:spPr>
          <a:xfrm>
            <a:off x="960120" y="4969764"/>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05</a:t>
            </a:r>
            <a:endParaRPr lang="en-US" sz="1050" dirty="0"/>
          </a:p>
        </p:txBody>
      </p:sp>
      <p:sp>
        <p:nvSpPr>
          <p:cNvPr id="36" name="Text 34"/>
          <p:cNvSpPr txBox="1"/>
          <p:nvPr/>
        </p:nvSpPr>
        <p:spPr>
          <a:xfrm>
            <a:off x="1664208" y="4933188"/>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Figma: variables y componente</a:t>
            </a:r>
            <a:endParaRPr lang="en-US" sz="1300" dirty="0"/>
          </a:p>
        </p:txBody>
      </p:sp>
      <p:sp>
        <p:nvSpPr>
          <p:cNvPr id="37" name="Text 35"/>
          <p:cNvSpPr txBox="1"/>
          <p:nvPr/>
        </p:nvSpPr>
        <p:spPr>
          <a:xfrm>
            <a:off x="5349240" y="4933188"/>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Variables locales y course-card con variantes.</a:t>
            </a:r>
            <a:endParaRPr lang="en-US" sz="1100" dirty="0"/>
          </a:p>
        </p:txBody>
      </p:sp>
      <p:sp>
        <p:nvSpPr>
          <p:cNvPr id="38" name="Text 36"/>
          <p:cNvSpPr txBox="1"/>
          <p:nvPr/>
        </p:nvSpPr>
        <p:spPr>
          <a:xfrm>
            <a:off x="10195560" y="4933188"/>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25 min</a:t>
            </a:r>
            <a:endParaRPr lang="en-US" sz="1100" dirty="0"/>
          </a:p>
        </p:txBody>
      </p:sp>
      <p:sp>
        <p:nvSpPr>
          <p:cNvPr id="39" name="Shape 37"/>
          <p:cNvSpPr/>
          <p:nvPr/>
        </p:nvSpPr>
        <p:spPr>
          <a:xfrm>
            <a:off x="640080" y="5404104"/>
            <a:ext cx="10927080" cy="420624"/>
          </a:xfrm>
          <a:prstGeom prst="roundRect">
            <a:avLst>
              <a:gd name="adj" fmla="val 21739"/>
            </a:avLst>
          </a:prstGeom>
          <a:solidFill>
            <a:srgbClr val="FFFFFF"/>
          </a:solidFill>
          <a:ln w="12700">
            <a:solidFill>
              <a:srgbClr val="CFD5D9"/>
            </a:solidFill>
            <a:prstDash val="solid"/>
          </a:ln>
        </p:spPr>
      </p:sp>
      <p:sp>
        <p:nvSpPr>
          <p:cNvPr id="40" name="Shape 38"/>
          <p:cNvSpPr/>
          <p:nvPr/>
        </p:nvSpPr>
        <p:spPr>
          <a:xfrm>
            <a:off x="960120" y="5440680"/>
            <a:ext cx="347472" cy="347472"/>
          </a:xfrm>
          <a:prstGeom prst="ellipse">
            <a:avLst/>
          </a:prstGeom>
          <a:solidFill>
            <a:srgbClr val="177E89"/>
          </a:solidFill>
          <a:ln w="12700">
            <a:solidFill>
              <a:srgbClr val="177E89"/>
            </a:solidFill>
            <a:prstDash val="solid"/>
          </a:ln>
        </p:spPr>
      </p:sp>
      <p:sp>
        <p:nvSpPr>
          <p:cNvPr id="41" name="Text 39"/>
          <p:cNvSpPr txBox="1"/>
          <p:nvPr/>
        </p:nvSpPr>
        <p:spPr>
          <a:xfrm>
            <a:off x="960120" y="5440680"/>
            <a:ext cx="347472" cy="347472"/>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06</a:t>
            </a:r>
            <a:endParaRPr lang="en-US" sz="1050" dirty="0"/>
          </a:p>
        </p:txBody>
      </p:sp>
      <p:sp>
        <p:nvSpPr>
          <p:cNvPr id="42" name="Text 40"/>
          <p:cNvSpPr txBox="1"/>
          <p:nvPr/>
        </p:nvSpPr>
        <p:spPr>
          <a:xfrm>
            <a:off x="1664208" y="5404104"/>
            <a:ext cx="3566160" cy="420624"/>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Práctica en la página Cursos</a:t>
            </a:r>
            <a:endParaRPr lang="en-US" sz="1300" dirty="0"/>
          </a:p>
        </p:txBody>
      </p:sp>
      <p:sp>
        <p:nvSpPr>
          <p:cNvPr id="43" name="Text 41"/>
          <p:cNvSpPr txBox="1"/>
          <p:nvPr/>
        </p:nvSpPr>
        <p:spPr>
          <a:xfrm>
            <a:off x="5349240" y="5404104"/>
            <a:ext cx="4846320" cy="420624"/>
          </a:xfrm>
          <a:prstGeom prst="rect">
            <a:avLst/>
          </a:prstGeom>
          <a:noFill/>
          <a:ln/>
        </p:spPr>
        <p:txBody>
          <a:bodyPr wrap="square" lIns="0" tIns="0" rIns="0" bIns="0" rtlCol="0" anchor="ctr"/>
          <a:lstStyle/>
          <a:p>
            <a:pPr algn="l" indent="0" marL="0">
              <a:buNone/>
            </a:pPr>
            <a:r>
              <a:rPr lang="en-US" sz="1100" dirty="0">
                <a:solidFill>
                  <a:srgbClr val="5F676C"/>
                </a:solidFill>
                <a:latin typeface="Calibri" pitchFamily="34" charset="0"/>
                <a:ea typeface="Calibri" pitchFamily="34" charset="-122"/>
                <a:cs typeface="Calibri" pitchFamily="34" charset="-120"/>
              </a:rPr>
              <a:t>Tema, tarjetas, acordeón e inscripción.</a:t>
            </a:r>
            <a:endParaRPr lang="en-US" sz="1100" dirty="0"/>
          </a:p>
        </p:txBody>
      </p:sp>
      <p:sp>
        <p:nvSpPr>
          <p:cNvPr id="44" name="Text 42"/>
          <p:cNvSpPr txBox="1"/>
          <p:nvPr/>
        </p:nvSpPr>
        <p:spPr>
          <a:xfrm>
            <a:off x="10195560" y="5404104"/>
            <a:ext cx="1188720" cy="420624"/>
          </a:xfrm>
          <a:prstGeom prst="rect">
            <a:avLst/>
          </a:prstGeom>
          <a:noFill/>
          <a:ln/>
        </p:spPr>
        <p:txBody>
          <a:bodyPr wrap="square" lIns="0" tIns="0" rIns="0" bIns="0" rtlCol="0" anchor="ctr"/>
          <a:lstStyle/>
          <a:p>
            <a:pPr algn="r" indent="0" marL="0">
              <a:buNone/>
            </a:pPr>
            <a:r>
              <a:rPr lang="en-US" sz="1100" b="1" dirty="0">
                <a:solidFill>
                  <a:srgbClr val="177E89"/>
                </a:solidFill>
                <a:latin typeface="Calibri" pitchFamily="34" charset="0"/>
                <a:ea typeface="Calibri" pitchFamily="34" charset="-122"/>
                <a:cs typeface="Calibri" pitchFamily="34" charset="-120"/>
              </a:rPr>
              <a:t>45 min</a:t>
            </a:r>
            <a:endParaRPr lang="en-US" sz="1100" dirty="0"/>
          </a:p>
        </p:txBody>
      </p:sp>
      <p:sp>
        <p:nvSpPr>
          <p:cNvPr id="45" name="Text 4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08 / 47</a:t>
            </a:r>
            <a:endParaRPr lang="en-US" sz="80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spTree>
      <p:nvGrpSpPr>
        <p:cNvPr id="1" name=""/>
        <p:cNvGrpSpPr/>
        <p:nvPr/>
      </p:nvGrpSpPr>
      <p:grpSpPr>
        <a:xfrm>
          <a:off x="0" y="0"/>
          <a:ext cx="0" cy="0"/>
          <a:chOff x="0" y="0"/>
          <a:chExt cx="0" cy="0"/>
        </a:xfrm>
      </p:grpSpPr>
      <p:sp>
        <p:nvSpPr>
          <p:cNvPr id="2" name="Shape 0"/>
          <p:cNvSpPr/>
          <p:nvPr/>
        </p:nvSpPr>
        <p:spPr>
          <a:xfrm>
            <a:off x="-548640" y="1517904"/>
            <a:ext cx="51206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0624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Utilidades</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01</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algn="l" indent="0" marL="0">
              <a:buNone/>
            </a:pPr>
            <a:r>
              <a:rPr lang="en-US" sz="1050" b="1"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Una clase, una propiedad</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Espaciado</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Flex, texto y color</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Bordes, sombras y tamaños</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Responsivas y !important</a:t>
            </a:r>
            <a:endParaRPr lang="en-US" sz="1200" dirty="0"/>
          </a:p>
        </p:txBody>
      </p:sp>
      <p:sp>
        <p:nvSpPr>
          <p:cNvPr id="21" name="Shape 19"/>
          <p:cNvSpPr/>
          <p:nvPr/>
        </p:nvSpPr>
        <p:spPr>
          <a:xfrm>
            <a:off x="6766560" y="1234440"/>
            <a:ext cx="5166360" cy="5257800"/>
          </a:xfrm>
          <a:prstGeom prst="roundRect">
            <a:avLst>
              <a:gd name="adj" fmla="val 1770"/>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tretch>
            <a:fillRect/>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09 / 47</a:t>
            </a:r>
            <a:endParaRPr lang="en-US" sz="80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Una clase, una propiedad</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Una utilidad aplica una sola propiedad de CSS. Se combinan en el HTML como piezas.</a:t>
            </a:r>
            <a:endParaRPr lang="en-US" sz="1250" dirty="0"/>
          </a:p>
        </p:txBody>
      </p:sp>
      <p:sp>
        <p:nvSpPr>
          <p:cNvPr id="5" name="Shape 3"/>
          <p:cNvSpPr/>
          <p:nvPr/>
        </p:nvSpPr>
        <p:spPr>
          <a:xfrm>
            <a:off x="640080" y="2615184"/>
            <a:ext cx="5349240" cy="2651760"/>
          </a:xfrm>
          <a:prstGeom prst="roundRect">
            <a:avLst>
              <a:gd name="adj" fmla="val 3448"/>
            </a:avLst>
          </a:prstGeom>
          <a:solidFill>
            <a:srgbClr val="FFFFFF"/>
          </a:solidFill>
          <a:ln w="12700">
            <a:solidFill>
              <a:srgbClr val="CFD5D9"/>
            </a:solidFill>
            <a:prstDash val="solid"/>
          </a:ln>
        </p:spPr>
      </p:sp>
      <p:sp>
        <p:nvSpPr>
          <p:cNvPr id="6" name="Text 4"/>
          <p:cNvSpPr txBox="1"/>
          <p:nvPr/>
        </p:nvSpPr>
        <p:spPr>
          <a:xfrm>
            <a:off x="914400" y="2724912"/>
            <a:ext cx="4846320" cy="292608"/>
          </a:xfrm>
          <a:prstGeom prst="rect">
            <a:avLst/>
          </a:prstGeom>
          <a:noFill/>
          <a:ln/>
        </p:spPr>
        <p:txBody>
          <a:bodyPr wrap="square" lIns="0" tIns="0" rIns="0" bIns="0" rtlCol="0" anchor="ctr"/>
          <a:lstStyle/>
          <a:p>
            <a:pPr algn="l" indent="0" marL="0">
              <a:buNone/>
            </a:pPr>
            <a:r>
              <a:rPr lang="en-US" sz="1350" b="1" dirty="0">
                <a:solidFill>
                  <a:srgbClr val="1F2326"/>
                </a:solidFill>
                <a:latin typeface="Calibri" pitchFamily="34" charset="0"/>
                <a:ea typeface="Calibri" pitchFamily="34" charset="-122"/>
                <a:cs typeface="Calibri" pitchFamily="34" charset="-120"/>
              </a:rPr>
              <a:t>Sesión 13 · tu CSS</a:t>
            </a:r>
            <a:endParaRPr lang="en-US" sz="1350" dirty="0"/>
          </a:p>
        </p:txBody>
      </p:sp>
      <p:sp>
        <p:nvSpPr>
          <p:cNvPr id="7" name="Shape 5"/>
          <p:cNvSpPr/>
          <p:nvPr/>
        </p:nvSpPr>
        <p:spPr>
          <a:xfrm>
            <a:off x="914400" y="3108960"/>
            <a:ext cx="4800600" cy="2011680"/>
          </a:xfrm>
          <a:prstGeom prst="roundRect">
            <a:avLst>
              <a:gd name="adj" fmla="val 4545"/>
            </a:avLst>
          </a:prstGeom>
          <a:solidFill>
            <a:srgbClr val="2B2B2B"/>
          </a:solidFill>
          <a:ln w="12700">
            <a:solidFill>
              <a:srgbClr val="2B2B2B"/>
            </a:solidFill>
            <a:prstDash val="solid"/>
          </a:ln>
        </p:spPr>
      </p:sp>
      <p:sp>
        <p:nvSpPr>
          <p:cNvPr id="8" name="Text 6"/>
          <p:cNvSpPr txBox="1"/>
          <p:nvPr/>
        </p:nvSpPr>
        <p:spPr>
          <a:xfrm>
            <a:off x="1143000" y="3273552"/>
            <a:ext cx="4343400" cy="1682496"/>
          </a:xfrm>
          <a:prstGeom prst="rect">
            <a:avLst/>
          </a:prstGeom>
          <a:noFill/>
          <a:ln/>
        </p:spPr>
        <p:txBody>
          <a:bodyPr wrap="square" lIns="0" tIns="0" rIns="0" bIns="0" rtlCol="0" anchor="t"/>
          <a:lstStyle/>
          <a:p>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.paso</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height: 100%;</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background-color: #FFFFFF;</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border: 1px solid var(--color-border);</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border-radius: 12px;</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padding: 1.5rem;</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a:t>
            </a:r>
            <a:endParaRPr lang="en-US" sz="1050" dirty="0"/>
          </a:p>
        </p:txBody>
      </p:sp>
      <p:sp>
        <p:nvSpPr>
          <p:cNvPr id="9" name="Shape 7"/>
          <p:cNvSpPr/>
          <p:nvPr/>
        </p:nvSpPr>
        <p:spPr>
          <a:xfrm>
            <a:off x="6217920" y="2615184"/>
            <a:ext cx="5349240" cy="2651760"/>
          </a:xfrm>
          <a:prstGeom prst="roundRect">
            <a:avLst>
              <a:gd name="adj" fmla="val 3448"/>
            </a:avLst>
          </a:prstGeom>
          <a:solidFill>
            <a:srgbClr val="F3F5F6"/>
          </a:solidFill>
          <a:ln w="12700">
            <a:solidFill>
              <a:srgbClr val="CFD5D9"/>
            </a:solidFill>
            <a:prstDash val="solid"/>
          </a:ln>
        </p:spPr>
      </p:sp>
      <p:sp>
        <p:nvSpPr>
          <p:cNvPr id="10" name="Text 8"/>
          <p:cNvSpPr txBox="1"/>
          <p:nvPr/>
        </p:nvSpPr>
        <p:spPr>
          <a:xfrm>
            <a:off x="6492240" y="2724912"/>
            <a:ext cx="4846320" cy="292608"/>
          </a:xfrm>
          <a:prstGeom prst="rect">
            <a:avLst/>
          </a:prstGeom>
          <a:noFill/>
          <a:ln/>
        </p:spPr>
        <p:txBody>
          <a:bodyPr wrap="square" lIns="0" tIns="0" rIns="0" bIns="0" rtlCol="0" anchor="ctr"/>
          <a:lstStyle/>
          <a:p>
            <a:pPr algn="l" indent="0" marL="0">
              <a:buNone/>
            </a:pPr>
            <a:r>
              <a:rPr lang="en-US" sz="1350" b="1" dirty="0">
                <a:solidFill>
                  <a:srgbClr val="177E89"/>
                </a:solidFill>
                <a:latin typeface="Calibri" pitchFamily="34" charset="0"/>
                <a:ea typeface="Calibri" pitchFamily="34" charset="-122"/>
                <a:cs typeface="Calibri" pitchFamily="34" charset="-120"/>
              </a:rPr>
              <a:t>Sesión 14 · utilidades</a:t>
            </a:r>
            <a:endParaRPr lang="en-US" sz="1350" dirty="0"/>
          </a:p>
        </p:txBody>
      </p:sp>
      <p:sp>
        <p:nvSpPr>
          <p:cNvPr id="11" name="Shape 9"/>
          <p:cNvSpPr/>
          <p:nvPr/>
        </p:nvSpPr>
        <p:spPr>
          <a:xfrm>
            <a:off x="6492240" y="3108960"/>
            <a:ext cx="4800600" cy="2011680"/>
          </a:xfrm>
          <a:prstGeom prst="roundRect">
            <a:avLst>
              <a:gd name="adj" fmla="val 4545"/>
            </a:avLst>
          </a:prstGeom>
          <a:solidFill>
            <a:srgbClr val="2B2B2B"/>
          </a:solidFill>
          <a:ln w="12700">
            <a:solidFill>
              <a:srgbClr val="2B2B2B"/>
            </a:solidFill>
            <a:prstDash val="solid"/>
          </a:ln>
        </p:spPr>
      </p:sp>
      <p:sp>
        <p:nvSpPr>
          <p:cNvPr id="12" name="Text 10"/>
          <p:cNvSpPr txBox="1"/>
          <p:nvPr/>
        </p:nvSpPr>
        <p:spPr>
          <a:xfrm>
            <a:off x="6720840" y="3273552"/>
            <a:ext cx="4343400" cy="1682496"/>
          </a:xfrm>
          <a:prstGeom prst="rect">
            <a:avLst/>
          </a:prstGeom>
          <a:noFill/>
          <a:ln/>
        </p:spPr>
        <p:txBody>
          <a:bodyPr wrap="square" lIns="0" tIns="0" rIns="0" bIns="0" rtlCol="0" anchor="t"/>
          <a:lstStyle/>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h-100 bg-white border</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rounded-3 p-4</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endParaRPr lang="en-US" sz="1050" dirty="0"/>
          </a:p>
          <a:p>
            <a:pPr indent="0" marL="0">
              <a:lnSpc>
                <a:spcPct val="120000"/>
              </a:lnSpc>
              <a:buNone/>
            </a:pPr>
            <a:r>
              <a:rPr lang="en-US" sz="1050" dirty="0">
                <a:solidFill>
                  <a:srgbClr val="9AA39E"/>
                </a:solidFill>
                <a:latin typeface="Consolas" pitchFamily="34" charset="0"/>
                <a:ea typeface="Consolas" pitchFamily="34" charset="-122"/>
                <a:cs typeface="Consolas" pitchFamily="34" charset="-120"/>
              </a:rPr>
              <a:t>&lt;!-- el mismo resultado,</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sin una línea de CSS --&gt;</a:t>
            </a:r>
            <a:endParaRPr lang="en-US" sz="1050" dirty="0"/>
          </a:p>
        </p:txBody>
      </p:sp>
      <p:sp>
        <p:nvSpPr>
          <p:cNvPr id="13" name="Shape 11"/>
          <p:cNvSpPr/>
          <p:nvPr/>
        </p:nvSpPr>
        <p:spPr>
          <a:xfrm>
            <a:off x="640080" y="5440680"/>
            <a:ext cx="10927080" cy="658368"/>
          </a:xfrm>
          <a:prstGeom prst="roundRect">
            <a:avLst>
              <a:gd name="adj" fmla="val 13889"/>
            </a:avLst>
          </a:prstGeom>
          <a:solidFill>
            <a:srgbClr val="F3F5F6"/>
          </a:solidFill>
          <a:ln w="12700">
            <a:solidFill>
              <a:srgbClr val="CFD5D9"/>
            </a:solidFill>
            <a:prstDash val="solid"/>
          </a:ln>
        </p:spPr>
      </p:sp>
      <p:sp>
        <p:nvSpPr>
          <p:cNvPr id="14" name="Text 12"/>
          <p:cNvSpPr txBox="1"/>
          <p:nvPr/>
        </p:nvSpPr>
        <p:spPr>
          <a:xfrm>
            <a:off x="950976" y="5440680"/>
            <a:ext cx="10305288" cy="658368"/>
          </a:xfrm>
          <a:prstGeom prst="rect">
            <a:avLst/>
          </a:prstGeom>
          <a:noFill/>
          <a:ln/>
        </p:spPr>
        <p:txBody>
          <a:bodyPr wrap="square" lIns="0" tIns="0" rIns="0" bIns="0" rtlCol="0" anchor="ctr"/>
          <a:lstStyle/>
          <a:p>
            <a:pPr indent="0" marL="0">
              <a:buNone/>
            </a:pPr>
            <a:r>
              <a:rPr lang="en-US" sz="1150" b="1" dirty="0">
                <a:solidFill>
                  <a:srgbClr val="177E89"/>
                </a:solidFill>
                <a:latin typeface="Calibri" pitchFamily="34" charset="0"/>
                <a:ea typeface="Calibri" pitchFamily="34" charset="-122"/>
                <a:cs typeface="Calibri" pitchFamily="34" charset="-120"/>
              </a:rPr>
              <a:t>¿Cuándo usarlas? </a:t>
            </a:r>
            <a:pPr indent="0" marL="0">
              <a:buNone/>
            </a:pPr>
            <a:r>
              <a:rPr lang="en-US" sz="1150" dirty="0">
                <a:solidFill>
                  <a:srgbClr val="33393D"/>
                </a:solidFill>
                <a:latin typeface="Calibri" pitchFamily="34" charset="0"/>
                <a:ea typeface="Calibri" pitchFamily="34" charset="-122"/>
                <a:cs typeface="Calibri" pitchFamily="34" charset="-120"/>
              </a:rPr>
              <a:t>para ajustes comunes: márgenes, alineación, colores. Si una combinación se repite mucho o es muy tuya, escríbela en tu CSS.</a:t>
            </a:r>
            <a:endParaRPr lang="en-US" sz="1150" dirty="0"/>
          </a:p>
        </p:txBody>
      </p:sp>
      <p:sp>
        <p:nvSpPr>
          <p:cNvPr id="15" name="Text 1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10 / 47</a:t>
            </a:r>
            <a:endParaRPr lang="en-US" sz="80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Espaciado: m y p</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Propiedad + lado + tamaño. Los tamaños van de 0 a 5.</a:t>
            </a:r>
            <a:endParaRPr lang="en-US" sz="1250" dirty="0"/>
          </a:p>
        </p:txBody>
      </p:sp>
      <p:sp>
        <p:nvSpPr>
          <p:cNvPr id="5" name="Shape 3"/>
          <p:cNvSpPr/>
          <p:nvPr/>
        </p:nvSpPr>
        <p:spPr>
          <a:xfrm>
            <a:off x="640080" y="2615184"/>
            <a:ext cx="6035040" cy="1363309"/>
          </a:xfrm>
          <a:prstGeom prst="roundRect">
            <a:avLst>
              <a:gd name="adj" fmla="val 6707"/>
            </a:avLst>
          </a:prstGeom>
          <a:solidFill>
            <a:srgbClr val="FFFFFF"/>
          </a:solidFill>
          <a:ln w="19050">
            <a:solidFill>
              <a:srgbClr val="CFD5D9"/>
            </a:solidFill>
            <a:prstDash val="solid"/>
          </a:ln>
        </p:spPr>
      </p:sp>
      <p:pic>
        <p:nvPicPr>
          <p:cNvPr id="6" name="Image 0" descr="/tmp/claude-0/-home-user-sesiones-dagner/2613c8c1-437c-54f4-94d9-b62c29473bbd/scratchpad/deck/img/bs-espaciado.png">    </p:cNvPr>
          <p:cNvPicPr>
            <a:picLocks noChangeAspect="1"/>
          </p:cNvPicPr>
          <p:nvPr/>
        </p:nvPicPr>
        <p:blipFill>
          <a:blip r:embed="rId1"/>
          <a:stretch>
            <a:fillRect/>
          </a:stretch>
        </p:blipFill>
        <p:spPr>
          <a:xfrm>
            <a:off x="713232" y="2688336"/>
            <a:ext cx="5888736" cy="1217005"/>
          </a:xfrm>
          <a:prstGeom prst="rect">
            <a:avLst/>
          </a:prstGeom>
        </p:spPr>
      </p:pic>
      <p:sp>
        <p:nvSpPr>
          <p:cNvPr id="7" name="Shape 4"/>
          <p:cNvSpPr/>
          <p:nvPr/>
        </p:nvSpPr>
        <p:spPr>
          <a:xfrm>
            <a:off x="640080" y="4224528"/>
            <a:ext cx="10927080" cy="457200"/>
          </a:xfrm>
          <a:prstGeom prst="roundRect">
            <a:avLst>
              <a:gd name="adj" fmla="val 20000"/>
            </a:avLst>
          </a:prstGeom>
          <a:solidFill>
            <a:srgbClr val="FFFFFF"/>
          </a:solidFill>
          <a:ln w="12700">
            <a:solidFill>
              <a:srgbClr val="CFD5D9"/>
            </a:solidFill>
            <a:prstDash val="solid"/>
          </a:ln>
        </p:spPr>
      </p:sp>
      <p:sp>
        <p:nvSpPr>
          <p:cNvPr id="8" name="Text 5"/>
          <p:cNvSpPr txBox="1"/>
          <p:nvPr/>
        </p:nvSpPr>
        <p:spPr>
          <a:xfrm>
            <a:off x="914400" y="4224528"/>
            <a:ext cx="1828800" cy="45720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m · p</a:t>
            </a:r>
            <a:endParaRPr lang="en-US" sz="1200" dirty="0"/>
          </a:p>
        </p:txBody>
      </p:sp>
      <p:sp>
        <p:nvSpPr>
          <p:cNvPr id="9" name="Text 6"/>
          <p:cNvSpPr txBox="1"/>
          <p:nvPr/>
        </p:nvSpPr>
        <p:spPr>
          <a:xfrm>
            <a:off x="2743200" y="4224528"/>
            <a:ext cx="47548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margin · padding</a:t>
            </a:r>
            <a:endParaRPr lang="en-US" sz="1150" dirty="0"/>
          </a:p>
        </p:txBody>
      </p:sp>
      <p:sp>
        <p:nvSpPr>
          <p:cNvPr id="10" name="Text 7"/>
          <p:cNvSpPr txBox="1"/>
          <p:nvPr/>
        </p:nvSpPr>
        <p:spPr>
          <a:xfrm>
            <a:off x="7498080" y="4224528"/>
            <a:ext cx="320040" cy="45720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1" name="Text 8"/>
          <p:cNvSpPr txBox="1"/>
          <p:nvPr/>
        </p:nvSpPr>
        <p:spPr>
          <a:xfrm>
            <a:off x="7863840" y="4224528"/>
            <a:ext cx="3337560" cy="457200"/>
          </a:xfrm>
          <a:prstGeom prst="rect">
            <a:avLst/>
          </a:prstGeom>
          <a:noFill/>
          <a:ln/>
        </p:spPr>
        <p:txBody>
          <a:bodyPr wrap="square" lIns="0" tIns="0" rIns="0" bIns="0" rtlCol="0" anchor="ctr"/>
          <a:lstStyle/>
          <a:p>
            <a:pPr algn="l" indent="0" marL="0">
              <a:buNone/>
            </a:pPr>
            <a:r>
              <a:rPr lang="en-US" sz="1100" dirty="0">
                <a:solidFill>
                  <a:srgbClr val="33393D"/>
                </a:solidFill>
                <a:latin typeface="Consolas" pitchFamily="34" charset="0"/>
                <a:ea typeface="Consolas" pitchFamily="34" charset="-122"/>
                <a:cs typeface="Consolas" pitchFamily="34" charset="-120"/>
              </a:rPr>
              <a:t>p-4</a:t>
            </a:r>
            <a:pPr algn="l" indent="0" marL="0">
              <a:buNone/>
            </a:pPr>
            <a:r>
              <a:rPr lang="en-US" sz="1100" dirty="0">
                <a:solidFill>
                  <a:srgbClr val="33393D"/>
                </a:solidFill>
                <a:latin typeface="Calibri" pitchFamily="34" charset="0"/>
                <a:ea typeface="Calibri" pitchFamily="34" charset="-122"/>
                <a:cs typeface="Calibri" pitchFamily="34" charset="-120"/>
              </a:rPr>
              <a:t>: relleno de 24px</a:t>
            </a:r>
            <a:endParaRPr lang="en-US" sz="1100" dirty="0"/>
          </a:p>
        </p:txBody>
      </p:sp>
      <p:sp>
        <p:nvSpPr>
          <p:cNvPr id="12" name="Shape 9"/>
          <p:cNvSpPr/>
          <p:nvPr/>
        </p:nvSpPr>
        <p:spPr>
          <a:xfrm>
            <a:off x="640080" y="4745736"/>
            <a:ext cx="10927080" cy="457200"/>
          </a:xfrm>
          <a:prstGeom prst="roundRect">
            <a:avLst>
              <a:gd name="adj" fmla="val 20000"/>
            </a:avLst>
          </a:prstGeom>
          <a:solidFill>
            <a:srgbClr val="FFFFFF"/>
          </a:solidFill>
          <a:ln w="12700">
            <a:solidFill>
              <a:srgbClr val="CFD5D9"/>
            </a:solidFill>
            <a:prstDash val="solid"/>
          </a:ln>
        </p:spPr>
      </p:sp>
      <p:sp>
        <p:nvSpPr>
          <p:cNvPr id="13" name="Text 10"/>
          <p:cNvSpPr txBox="1"/>
          <p:nvPr/>
        </p:nvSpPr>
        <p:spPr>
          <a:xfrm>
            <a:off x="914400" y="4745736"/>
            <a:ext cx="1828800" cy="45720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t b s e</a:t>
            </a:r>
            <a:endParaRPr lang="en-US" sz="1200" dirty="0"/>
          </a:p>
        </p:txBody>
      </p:sp>
      <p:sp>
        <p:nvSpPr>
          <p:cNvPr id="14" name="Text 11"/>
          <p:cNvSpPr txBox="1"/>
          <p:nvPr/>
        </p:nvSpPr>
        <p:spPr>
          <a:xfrm>
            <a:off x="2743200" y="4745736"/>
            <a:ext cx="47548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arriba, abajo, inicio (izquierda), fin (derecha)</a:t>
            </a:r>
            <a:endParaRPr lang="en-US" sz="1150" dirty="0"/>
          </a:p>
        </p:txBody>
      </p:sp>
      <p:sp>
        <p:nvSpPr>
          <p:cNvPr id="15" name="Text 12"/>
          <p:cNvSpPr txBox="1"/>
          <p:nvPr/>
        </p:nvSpPr>
        <p:spPr>
          <a:xfrm>
            <a:off x="7498080" y="4745736"/>
            <a:ext cx="320040" cy="45720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6" name="Text 13"/>
          <p:cNvSpPr txBox="1"/>
          <p:nvPr/>
        </p:nvSpPr>
        <p:spPr>
          <a:xfrm>
            <a:off x="7863840" y="4745736"/>
            <a:ext cx="3337560" cy="457200"/>
          </a:xfrm>
          <a:prstGeom prst="rect">
            <a:avLst/>
          </a:prstGeom>
          <a:noFill/>
          <a:ln/>
        </p:spPr>
        <p:txBody>
          <a:bodyPr wrap="square" lIns="0" tIns="0" rIns="0" bIns="0" rtlCol="0" anchor="ctr"/>
          <a:lstStyle/>
          <a:p>
            <a:pPr algn="l" indent="0" marL="0">
              <a:buNone/>
            </a:pPr>
            <a:r>
              <a:rPr lang="en-US" sz="1100" dirty="0">
                <a:solidFill>
                  <a:srgbClr val="33393D"/>
                </a:solidFill>
                <a:latin typeface="Consolas" pitchFamily="34" charset="0"/>
                <a:ea typeface="Consolas" pitchFamily="34" charset="-122"/>
                <a:cs typeface="Consolas" pitchFamily="34" charset="-120"/>
              </a:rPr>
              <a:t>mb-3</a:t>
            </a:r>
            <a:pPr algn="l" indent="0" marL="0">
              <a:buNone/>
            </a:pPr>
            <a:r>
              <a:rPr lang="en-US" sz="1100" dirty="0">
                <a:solidFill>
                  <a:srgbClr val="33393D"/>
                </a:solidFill>
                <a:latin typeface="Calibri" pitchFamily="34" charset="0"/>
                <a:ea typeface="Calibri" pitchFamily="34" charset="-122"/>
                <a:cs typeface="Calibri" pitchFamily="34" charset="-120"/>
              </a:rPr>
              <a:t>: margen inferior de 16px</a:t>
            </a:r>
            <a:endParaRPr lang="en-US" sz="1100" dirty="0"/>
          </a:p>
        </p:txBody>
      </p:sp>
      <p:sp>
        <p:nvSpPr>
          <p:cNvPr id="17" name="Shape 14"/>
          <p:cNvSpPr/>
          <p:nvPr/>
        </p:nvSpPr>
        <p:spPr>
          <a:xfrm>
            <a:off x="640080" y="5266944"/>
            <a:ext cx="10927080" cy="457200"/>
          </a:xfrm>
          <a:prstGeom prst="roundRect">
            <a:avLst>
              <a:gd name="adj" fmla="val 20000"/>
            </a:avLst>
          </a:prstGeom>
          <a:solidFill>
            <a:srgbClr val="FFFFFF"/>
          </a:solidFill>
          <a:ln w="12700">
            <a:solidFill>
              <a:srgbClr val="CFD5D9"/>
            </a:solidFill>
            <a:prstDash val="solid"/>
          </a:ln>
        </p:spPr>
      </p:sp>
      <p:sp>
        <p:nvSpPr>
          <p:cNvPr id="18" name="Text 15"/>
          <p:cNvSpPr txBox="1"/>
          <p:nvPr/>
        </p:nvSpPr>
        <p:spPr>
          <a:xfrm>
            <a:off x="914400" y="5266944"/>
            <a:ext cx="1828800" cy="45720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x · y</a:t>
            </a:r>
            <a:endParaRPr lang="en-US" sz="1200" dirty="0"/>
          </a:p>
        </p:txBody>
      </p:sp>
      <p:sp>
        <p:nvSpPr>
          <p:cNvPr id="19" name="Text 16"/>
          <p:cNvSpPr txBox="1"/>
          <p:nvPr/>
        </p:nvSpPr>
        <p:spPr>
          <a:xfrm>
            <a:off x="2743200" y="5266944"/>
            <a:ext cx="47548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izquierda y derecha · arriba y abajo</a:t>
            </a:r>
            <a:endParaRPr lang="en-US" sz="1150" dirty="0"/>
          </a:p>
        </p:txBody>
      </p:sp>
      <p:sp>
        <p:nvSpPr>
          <p:cNvPr id="20" name="Text 17"/>
          <p:cNvSpPr txBox="1"/>
          <p:nvPr/>
        </p:nvSpPr>
        <p:spPr>
          <a:xfrm>
            <a:off x="7498080" y="5266944"/>
            <a:ext cx="320040" cy="45720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1" name="Text 18"/>
          <p:cNvSpPr txBox="1"/>
          <p:nvPr/>
        </p:nvSpPr>
        <p:spPr>
          <a:xfrm>
            <a:off x="7863840" y="5266944"/>
            <a:ext cx="3337560" cy="457200"/>
          </a:xfrm>
          <a:prstGeom prst="rect">
            <a:avLst/>
          </a:prstGeom>
          <a:noFill/>
          <a:ln/>
        </p:spPr>
        <p:txBody>
          <a:bodyPr wrap="square" lIns="0" tIns="0" rIns="0" bIns="0" rtlCol="0" anchor="ctr"/>
          <a:lstStyle/>
          <a:p>
            <a:pPr algn="l" indent="0" marL="0">
              <a:buNone/>
            </a:pPr>
            <a:r>
              <a:rPr lang="en-US" sz="1100" dirty="0">
                <a:solidFill>
                  <a:srgbClr val="33393D"/>
                </a:solidFill>
                <a:latin typeface="Consolas" pitchFamily="34" charset="0"/>
                <a:ea typeface="Consolas" pitchFamily="34" charset="-122"/>
                <a:cs typeface="Consolas" pitchFamily="34" charset="-120"/>
              </a:rPr>
              <a:t>px-2 py-1</a:t>
            </a:r>
            <a:endParaRPr lang="en-US" sz="1100" dirty="0"/>
          </a:p>
        </p:txBody>
      </p:sp>
      <p:sp>
        <p:nvSpPr>
          <p:cNvPr id="22" name="Shape 19"/>
          <p:cNvSpPr/>
          <p:nvPr/>
        </p:nvSpPr>
        <p:spPr>
          <a:xfrm>
            <a:off x="640080" y="5788152"/>
            <a:ext cx="10927080" cy="457200"/>
          </a:xfrm>
          <a:prstGeom prst="roundRect">
            <a:avLst>
              <a:gd name="adj" fmla="val 20000"/>
            </a:avLst>
          </a:prstGeom>
          <a:solidFill>
            <a:srgbClr val="FFFFFF"/>
          </a:solidFill>
          <a:ln w="12700">
            <a:solidFill>
              <a:srgbClr val="CFD5D9"/>
            </a:solidFill>
            <a:prstDash val="solid"/>
          </a:ln>
        </p:spPr>
      </p:sp>
      <p:sp>
        <p:nvSpPr>
          <p:cNvPr id="23" name="Text 20"/>
          <p:cNvSpPr txBox="1"/>
          <p:nvPr/>
        </p:nvSpPr>
        <p:spPr>
          <a:xfrm>
            <a:off x="914400" y="5788152"/>
            <a:ext cx="1828800" cy="45720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0 1 2 3 4 5</a:t>
            </a:r>
            <a:endParaRPr lang="en-US" sz="1200" dirty="0"/>
          </a:p>
        </p:txBody>
      </p:sp>
      <p:sp>
        <p:nvSpPr>
          <p:cNvPr id="24" name="Text 21"/>
          <p:cNvSpPr txBox="1"/>
          <p:nvPr/>
        </p:nvSpPr>
        <p:spPr>
          <a:xfrm>
            <a:off x="2743200" y="5788152"/>
            <a:ext cx="47548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0 · 4px · 8px · 16px · 24px · 48px</a:t>
            </a:r>
            <a:endParaRPr lang="en-US" sz="1150" dirty="0"/>
          </a:p>
        </p:txBody>
      </p:sp>
      <p:sp>
        <p:nvSpPr>
          <p:cNvPr id="25" name="Text 22"/>
          <p:cNvSpPr txBox="1"/>
          <p:nvPr/>
        </p:nvSpPr>
        <p:spPr>
          <a:xfrm>
            <a:off x="7498080" y="5788152"/>
            <a:ext cx="320040" cy="45720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6" name="Text 23"/>
          <p:cNvSpPr txBox="1"/>
          <p:nvPr/>
        </p:nvSpPr>
        <p:spPr>
          <a:xfrm>
            <a:off x="7863840" y="5788152"/>
            <a:ext cx="3337560" cy="457200"/>
          </a:xfrm>
          <a:prstGeom prst="rect">
            <a:avLst/>
          </a:prstGeom>
          <a:noFill/>
          <a:ln/>
        </p:spPr>
        <p:txBody>
          <a:bodyPr wrap="square" lIns="0" tIns="0" rIns="0" bIns="0" rtlCol="0" anchor="ctr"/>
          <a:lstStyle/>
          <a:p>
            <a:pPr algn="l" indent="0" marL="0">
              <a:buNone/>
            </a:pPr>
            <a:r>
              <a:rPr lang="en-US" sz="1100" dirty="0">
                <a:solidFill>
                  <a:srgbClr val="33393D"/>
                </a:solidFill>
                <a:latin typeface="Consolas" pitchFamily="34" charset="0"/>
                <a:ea typeface="Consolas" pitchFamily="34" charset="-122"/>
                <a:cs typeface="Consolas" pitchFamily="34" charset="-120"/>
              </a:rPr>
              <a:t>gap-2</a:t>
            </a:r>
            <a:pPr algn="l" indent="0" marL="0">
              <a:buNone/>
            </a:pPr>
            <a:r>
              <a:rPr lang="en-US" sz="1100" dirty="0">
                <a:solidFill>
                  <a:srgbClr val="33393D"/>
                </a:solidFill>
                <a:latin typeface="Calibri" pitchFamily="34" charset="0"/>
                <a:ea typeface="Calibri" pitchFamily="34" charset="-122"/>
                <a:cs typeface="Calibri" pitchFamily="34" charset="-120"/>
              </a:rPr>
              <a:t>: también en flex</a:t>
            </a:r>
            <a:endParaRPr lang="en-US" sz="1100" dirty="0"/>
          </a:p>
        </p:txBody>
      </p:sp>
      <p:sp>
        <p:nvSpPr>
          <p:cNvPr id="27" name="Shape 24"/>
          <p:cNvSpPr/>
          <p:nvPr/>
        </p:nvSpPr>
        <p:spPr>
          <a:xfrm>
            <a:off x="6858000" y="2615184"/>
            <a:ext cx="4709160" cy="1463040"/>
          </a:xfrm>
          <a:prstGeom prst="roundRect">
            <a:avLst>
              <a:gd name="adj" fmla="val 6250"/>
            </a:avLst>
          </a:prstGeom>
          <a:solidFill>
            <a:srgbClr val="F3F5F6"/>
          </a:solidFill>
          <a:ln w="12700">
            <a:solidFill>
              <a:srgbClr val="CFD5D9"/>
            </a:solidFill>
            <a:prstDash val="solid"/>
          </a:ln>
        </p:spPr>
      </p:sp>
      <p:sp>
        <p:nvSpPr>
          <p:cNvPr id="28" name="Text 25"/>
          <p:cNvSpPr txBox="1"/>
          <p:nvPr/>
        </p:nvSpPr>
        <p:spPr>
          <a:xfrm>
            <a:off x="7059168" y="2697480"/>
            <a:ext cx="4343400" cy="1325880"/>
          </a:xfrm>
          <a:prstGeom prst="rect">
            <a:avLst/>
          </a:prstGeom>
          <a:noFill/>
          <a:ln/>
        </p:spPr>
        <p:txBody>
          <a:bodyPr wrap="square" lIns="0" tIns="0" rIns="0" bIns="0" rtlCol="0" anchor="ctr"/>
          <a:lstStyle/>
          <a:p>
            <a:pPr algn="l" indent="0" marL="0">
              <a:buNone/>
            </a:pPr>
            <a:r>
              <a:rPr lang="en-US" sz="1100" dirty="0">
                <a:solidFill>
                  <a:srgbClr val="1F2326"/>
                </a:solidFill>
                <a:latin typeface="Consolas" pitchFamily="34" charset="0"/>
                <a:ea typeface="Consolas" pitchFamily="34" charset="-122"/>
                <a:cs typeface="Consolas" pitchFamily="34" charset="-120"/>
              </a:rPr>
              <a:t>s</a:t>
            </a:r>
            <a:pPr algn="l" indent="0" marL="0">
              <a:buNone/>
            </a:pPr>
            <a:r>
              <a:rPr lang="en-US" sz="1100" dirty="0">
                <a:solidFill>
                  <a:srgbClr val="33393D"/>
                </a:solidFill>
                <a:latin typeface="Calibri" pitchFamily="34" charset="0"/>
                <a:ea typeface="Calibri" pitchFamily="34" charset="-122"/>
                <a:cs typeface="Calibri" pitchFamily="34" charset="-120"/>
              </a:rPr>
              <a:t> y </a:t>
            </a:r>
            <a:pPr algn="l" indent="0" marL="0">
              <a:buNone/>
            </a:pPr>
            <a:r>
              <a:rPr lang="en-US" sz="1100" dirty="0">
                <a:solidFill>
                  <a:srgbClr val="1F2326"/>
                </a:solidFill>
                <a:latin typeface="Consolas" pitchFamily="34" charset="0"/>
                <a:ea typeface="Consolas" pitchFamily="34" charset="-122"/>
                <a:cs typeface="Consolas" pitchFamily="34" charset="-120"/>
              </a:rPr>
              <a:t>e</a:t>
            </a:r>
            <a:pPr algn="l" indent="0" marL="0">
              <a:buNone/>
            </a:pPr>
            <a:r>
              <a:rPr lang="en-US" sz="1100" dirty="0">
                <a:solidFill>
                  <a:srgbClr val="33393D"/>
                </a:solidFill>
                <a:latin typeface="Calibri" pitchFamily="34" charset="0"/>
                <a:ea typeface="Calibri" pitchFamily="34" charset="-122"/>
                <a:cs typeface="Calibri" pitchFamily="34" charset="-120"/>
              </a:rPr>
              <a:t> (start y end) en vez de left y right: así Bootstrap también sirve para idiomas que se leen de derecha a izquierda.</a:t>
            </a:r>
            <a:endParaRPr lang="en-US" sz="1100" dirty="0"/>
          </a:p>
        </p:txBody>
      </p:sp>
      <p:sp>
        <p:nvSpPr>
          <p:cNvPr id="29" name="Text 2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11 / 47</a:t>
            </a:r>
            <a:endParaRPr lang="en-US" sz="80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Flex, texto y color</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Lo que escribiste en CSS desde la sesión 09, ahora como clases.</a:t>
            </a:r>
            <a:endParaRPr lang="en-US" sz="1250" dirty="0"/>
          </a:p>
        </p:txBody>
      </p:sp>
      <p:sp>
        <p:nvSpPr>
          <p:cNvPr id="5" name="Text 3"/>
          <p:cNvSpPr txBox="1"/>
          <p:nvPr/>
        </p:nvSpPr>
        <p:spPr>
          <a:xfrm>
            <a:off x="868680" y="2587752"/>
            <a:ext cx="237744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Para</a:t>
            </a:r>
            <a:endParaRPr lang="en-US" sz="950" dirty="0"/>
          </a:p>
        </p:txBody>
      </p:sp>
      <p:sp>
        <p:nvSpPr>
          <p:cNvPr id="6" name="Text 4"/>
          <p:cNvSpPr txBox="1"/>
          <p:nvPr/>
        </p:nvSpPr>
        <p:spPr>
          <a:xfrm>
            <a:off x="3246120" y="2587752"/>
            <a:ext cx="393192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Clases</a:t>
            </a:r>
            <a:endParaRPr lang="en-US" sz="950" dirty="0"/>
          </a:p>
        </p:txBody>
      </p:sp>
      <p:sp>
        <p:nvSpPr>
          <p:cNvPr id="7" name="Text 5"/>
          <p:cNvSpPr txBox="1"/>
          <p:nvPr/>
        </p:nvSpPr>
        <p:spPr>
          <a:xfrm>
            <a:off x="7178040" y="2587752"/>
            <a:ext cx="443484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Equivale a</a:t>
            </a:r>
            <a:endParaRPr lang="en-US" sz="950" dirty="0"/>
          </a:p>
        </p:txBody>
      </p:sp>
      <p:sp>
        <p:nvSpPr>
          <p:cNvPr id="8" name="Shape 6"/>
          <p:cNvSpPr/>
          <p:nvPr/>
        </p:nvSpPr>
        <p:spPr>
          <a:xfrm>
            <a:off x="640080" y="2834640"/>
            <a:ext cx="10927080" cy="429768"/>
          </a:xfrm>
          <a:prstGeom prst="roundRect">
            <a:avLst>
              <a:gd name="adj" fmla="val 21277"/>
            </a:avLst>
          </a:prstGeom>
          <a:solidFill>
            <a:srgbClr val="FFFFFF"/>
          </a:solidFill>
          <a:ln w="12700">
            <a:solidFill>
              <a:srgbClr val="CFD5D9"/>
            </a:solidFill>
            <a:prstDash val="solid"/>
          </a:ln>
        </p:spPr>
      </p:sp>
      <p:sp>
        <p:nvSpPr>
          <p:cNvPr id="9" name="Text 7"/>
          <p:cNvSpPr txBox="1"/>
          <p:nvPr/>
        </p:nvSpPr>
        <p:spPr>
          <a:xfrm>
            <a:off x="868680" y="2834640"/>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Flex</a:t>
            </a:r>
            <a:endParaRPr lang="en-US" sz="1150" dirty="0"/>
          </a:p>
        </p:txBody>
      </p:sp>
      <p:sp>
        <p:nvSpPr>
          <p:cNvPr id="10" name="Text 8"/>
          <p:cNvSpPr txBox="1"/>
          <p:nvPr/>
        </p:nvSpPr>
        <p:spPr>
          <a:xfrm>
            <a:off x="3246120" y="2834640"/>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d-flex justify-content-between</a:t>
            </a:r>
            <a:endParaRPr lang="en-US" sz="1150" dirty="0"/>
          </a:p>
        </p:txBody>
      </p:sp>
      <p:sp>
        <p:nvSpPr>
          <p:cNvPr id="11" name="Text 9"/>
          <p:cNvSpPr txBox="1"/>
          <p:nvPr/>
        </p:nvSpPr>
        <p:spPr>
          <a:xfrm>
            <a:off x="7178040" y="2834640"/>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display: flex; justify-content: space-between</a:t>
            </a:r>
            <a:endParaRPr lang="en-US" sz="1150" dirty="0"/>
          </a:p>
        </p:txBody>
      </p:sp>
      <p:sp>
        <p:nvSpPr>
          <p:cNvPr id="12" name="Shape 10"/>
          <p:cNvSpPr/>
          <p:nvPr/>
        </p:nvSpPr>
        <p:spPr>
          <a:xfrm>
            <a:off x="640080" y="3328416"/>
            <a:ext cx="10927080" cy="429768"/>
          </a:xfrm>
          <a:prstGeom prst="roundRect">
            <a:avLst>
              <a:gd name="adj" fmla="val 21277"/>
            </a:avLst>
          </a:prstGeom>
          <a:solidFill>
            <a:srgbClr val="FFFFFF"/>
          </a:solidFill>
          <a:ln w="12700">
            <a:solidFill>
              <a:srgbClr val="CFD5D9"/>
            </a:solidFill>
            <a:prstDash val="solid"/>
          </a:ln>
        </p:spPr>
      </p:sp>
      <p:sp>
        <p:nvSpPr>
          <p:cNvPr id="13" name="Text 11"/>
          <p:cNvSpPr txBox="1"/>
          <p:nvPr/>
        </p:nvSpPr>
        <p:spPr>
          <a:xfrm>
            <a:off x="868680" y="3328416"/>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Alinear y separar</a:t>
            </a:r>
            <a:endParaRPr lang="en-US" sz="1150" dirty="0"/>
          </a:p>
        </p:txBody>
      </p:sp>
      <p:sp>
        <p:nvSpPr>
          <p:cNvPr id="14" name="Text 12"/>
          <p:cNvSpPr txBox="1"/>
          <p:nvPr/>
        </p:nvSpPr>
        <p:spPr>
          <a:xfrm>
            <a:off x="3246120" y="3328416"/>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align-items-center gap-2</a:t>
            </a:r>
            <a:endParaRPr lang="en-US" sz="1150" dirty="0"/>
          </a:p>
        </p:txBody>
      </p:sp>
      <p:sp>
        <p:nvSpPr>
          <p:cNvPr id="15" name="Text 13"/>
          <p:cNvSpPr txBox="1"/>
          <p:nvPr/>
        </p:nvSpPr>
        <p:spPr>
          <a:xfrm>
            <a:off x="7178040" y="3328416"/>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align-items: center; gap: 8px</a:t>
            </a:r>
            <a:endParaRPr lang="en-US" sz="1150" dirty="0"/>
          </a:p>
        </p:txBody>
      </p:sp>
      <p:sp>
        <p:nvSpPr>
          <p:cNvPr id="16" name="Shape 14"/>
          <p:cNvSpPr/>
          <p:nvPr/>
        </p:nvSpPr>
        <p:spPr>
          <a:xfrm>
            <a:off x="640080" y="3822192"/>
            <a:ext cx="10927080" cy="429768"/>
          </a:xfrm>
          <a:prstGeom prst="roundRect">
            <a:avLst>
              <a:gd name="adj" fmla="val 21277"/>
            </a:avLst>
          </a:prstGeom>
          <a:solidFill>
            <a:srgbClr val="FFFFFF"/>
          </a:solidFill>
          <a:ln w="12700">
            <a:solidFill>
              <a:srgbClr val="CFD5D9"/>
            </a:solidFill>
            <a:prstDash val="solid"/>
          </a:ln>
        </p:spPr>
      </p:sp>
      <p:sp>
        <p:nvSpPr>
          <p:cNvPr id="17" name="Text 15"/>
          <p:cNvSpPr txBox="1"/>
          <p:nvPr/>
        </p:nvSpPr>
        <p:spPr>
          <a:xfrm>
            <a:off x="868680" y="3822192"/>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Texto</a:t>
            </a:r>
            <a:endParaRPr lang="en-US" sz="1150" dirty="0"/>
          </a:p>
        </p:txBody>
      </p:sp>
      <p:sp>
        <p:nvSpPr>
          <p:cNvPr id="18" name="Text 16"/>
          <p:cNvSpPr txBox="1"/>
          <p:nvPr/>
        </p:nvSpPr>
        <p:spPr>
          <a:xfrm>
            <a:off x="3246120" y="3822192"/>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text-center fw-bold fs-5 small</a:t>
            </a:r>
            <a:endParaRPr lang="en-US" sz="1150" dirty="0"/>
          </a:p>
        </p:txBody>
      </p:sp>
      <p:sp>
        <p:nvSpPr>
          <p:cNvPr id="19" name="Text 17"/>
          <p:cNvSpPr txBox="1"/>
          <p:nvPr/>
        </p:nvSpPr>
        <p:spPr>
          <a:xfrm>
            <a:off x="7178040" y="3822192"/>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Alineación, grosor, tamaño y letra pequeña</a:t>
            </a:r>
            <a:endParaRPr lang="en-US" sz="1150" dirty="0"/>
          </a:p>
        </p:txBody>
      </p:sp>
      <p:sp>
        <p:nvSpPr>
          <p:cNvPr id="20" name="Shape 18"/>
          <p:cNvSpPr/>
          <p:nvPr/>
        </p:nvSpPr>
        <p:spPr>
          <a:xfrm>
            <a:off x="640080" y="4315968"/>
            <a:ext cx="10927080" cy="429768"/>
          </a:xfrm>
          <a:prstGeom prst="roundRect">
            <a:avLst>
              <a:gd name="adj" fmla="val 21277"/>
            </a:avLst>
          </a:prstGeom>
          <a:solidFill>
            <a:srgbClr val="FFFFFF"/>
          </a:solidFill>
          <a:ln w="12700">
            <a:solidFill>
              <a:srgbClr val="CFD5D9"/>
            </a:solidFill>
            <a:prstDash val="solid"/>
          </a:ln>
        </p:spPr>
      </p:sp>
      <p:sp>
        <p:nvSpPr>
          <p:cNvPr id="21" name="Text 19"/>
          <p:cNvSpPr txBox="1"/>
          <p:nvPr/>
        </p:nvSpPr>
        <p:spPr>
          <a:xfrm>
            <a:off x="868680" y="4315968"/>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Color de texto</a:t>
            </a:r>
            <a:endParaRPr lang="en-US" sz="1150" dirty="0"/>
          </a:p>
        </p:txBody>
      </p:sp>
      <p:sp>
        <p:nvSpPr>
          <p:cNvPr id="22" name="Text 20"/>
          <p:cNvSpPr txBox="1"/>
          <p:nvPr/>
        </p:nvSpPr>
        <p:spPr>
          <a:xfrm>
            <a:off x="3246120" y="4315968"/>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text-primary text-body-secondary</a:t>
            </a:r>
            <a:endParaRPr lang="en-US" sz="1150" dirty="0"/>
          </a:p>
        </p:txBody>
      </p:sp>
      <p:sp>
        <p:nvSpPr>
          <p:cNvPr id="23" name="Text 21"/>
          <p:cNvSpPr txBox="1"/>
          <p:nvPr/>
        </p:nvSpPr>
        <p:spPr>
          <a:xfrm>
            <a:off x="7178040" y="4315968"/>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El color principal y el gris de los textos</a:t>
            </a:r>
            <a:endParaRPr lang="en-US" sz="1150" dirty="0"/>
          </a:p>
        </p:txBody>
      </p:sp>
      <p:sp>
        <p:nvSpPr>
          <p:cNvPr id="24" name="Shape 22"/>
          <p:cNvSpPr/>
          <p:nvPr/>
        </p:nvSpPr>
        <p:spPr>
          <a:xfrm>
            <a:off x="640080" y="4809744"/>
            <a:ext cx="10927080" cy="429768"/>
          </a:xfrm>
          <a:prstGeom prst="roundRect">
            <a:avLst>
              <a:gd name="adj" fmla="val 21277"/>
            </a:avLst>
          </a:prstGeom>
          <a:solidFill>
            <a:srgbClr val="FFFFFF"/>
          </a:solidFill>
          <a:ln w="12700">
            <a:solidFill>
              <a:srgbClr val="CFD5D9"/>
            </a:solidFill>
            <a:prstDash val="solid"/>
          </a:ln>
        </p:spPr>
      </p:sp>
      <p:sp>
        <p:nvSpPr>
          <p:cNvPr id="25" name="Text 23"/>
          <p:cNvSpPr txBox="1"/>
          <p:nvPr/>
        </p:nvSpPr>
        <p:spPr>
          <a:xfrm>
            <a:off x="868680" y="4809744"/>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Fondo</a:t>
            </a:r>
            <a:endParaRPr lang="en-US" sz="1150" dirty="0"/>
          </a:p>
        </p:txBody>
      </p:sp>
      <p:sp>
        <p:nvSpPr>
          <p:cNvPr id="26" name="Text 24"/>
          <p:cNvSpPr txBox="1"/>
          <p:nvPr/>
        </p:nvSpPr>
        <p:spPr>
          <a:xfrm>
            <a:off x="3246120" y="4809744"/>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bg-white bg-primary-subtle</a:t>
            </a:r>
            <a:endParaRPr lang="en-US" sz="1150" dirty="0"/>
          </a:p>
        </p:txBody>
      </p:sp>
      <p:sp>
        <p:nvSpPr>
          <p:cNvPr id="27" name="Text 25"/>
          <p:cNvSpPr txBox="1"/>
          <p:nvPr/>
        </p:nvSpPr>
        <p:spPr>
          <a:xfrm>
            <a:off x="7178040" y="4809744"/>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Fondo blanco o un cian muy claro</a:t>
            </a:r>
            <a:endParaRPr lang="en-US" sz="1150" dirty="0"/>
          </a:p>
        </p:txBody>
      </p:sp>
      <p:sp>
        <p:nvSpPr>
          <p:cNvPr id="28" name="Shape 26"/>
          <p:cNvSpPr/>
          <p:nvPr/>
        </p:nvSpPr>
        <p:spPr>
          <a:xfrm>
            <a:off x="640080" y="5303520"/>
            <a:ext cx="10927080" cy="429768"/>
          </a:xfrm>
          <a:prstGeom prst="roundRect">
            <a:avLst>
              <a:gd name="adj" fmla="val 21277"/>
            </a:avLst>
          </a:prstGeom>
          <a:solidFill>
            <a:srgbClr val="FFFFFF"/>
          </a:solidFill>
          <a:ln w="12700">
            <a:solidFill>
              <a:srgbClr val="CFD5D9"/>
            </a:solidFill>
            <a:prstDash val="solid"/>
          </a:ln>
        </p:spPr>
      </p:sp>
      <p:sp>
        <p:nvSpPr>
          <p:cNvPr id="29" name="Text 27"/>
          <p:cNvSpPr txBox="1"/>
          <p:nvPr/>
        </p:nvSpPr>
        <p:spPr>
          <a:xfrm>
            <a:off x="868680" y="5303520"/>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Texto y fondo</a:t>
            </a:r>
            <a:endParaRPr lang="en-US" sz="1150" dirty="0"/>
          </a:p>
        </p:txBody>
      </p:sp>
      <p:sp>
        <p:nvSpPr>
          <p:cNvPr id="30" name="Text 28"/>
          <p:cNvSpPr txBox="1"/>
          <p:nvPr/>
        </p:nvSpPr>
        <p:spPr>
          <a:xfrm>
            <a:off x="3246120" y="5303520"/>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text-bg-dark</a:t>
            </a:r>
            <a:endParaRPr lang="en-US" sz="1150" dirty="0"/>
          </a:p>
        </p:txBody>
      </p:sp>
      <p:sp>
        <p:nvSpPr>
          <p:cNvPr id="31" name="Text 29"/>
          <p:cNvSpPr txBox="1"/>
          <p:nvPr/>
        </p:nvSpPr>
        <p:spPr>
          <a:xfrm>
            <a:off x="7178040" y="5303520"/>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Fondo oscuro con el texto claro que le corresponde</a:t>
            </a:r>
            <a:endParaRPr lang="en-US" sz="1150" dirty="0"/>
          </a:p>
        </p:txBody>
      </p:sp>
      <p:sp>
        <p:nvSpPr>
          <p:cNvPr id="32" name="Shape 30"/>
          <p:cNvSpPr/>
          <p:nvPr/>
        </p:nvSpPr>
        <p:spPr>
          <a:xfrm>
            <a:off x="640080" y="5797296"/>
            <a:ext cx="10927080" cy="429768"/>
          </a:xfrm>
          <a:prstGeom prst="roundRect">
            <a:avLst>
              <a:gd name="adj" fmla="val 21277"/>
            </a:avLst>
          </a:prstGeom>
          <a:solidFill>
            <a:srgbClr val="FFFFFF"/>
          </a:solidFill>
          <a:ln w="12700">
            <a:solidFill>
              <a:srgbClr val="CFD5D9"/>
            </a:solidFill>
            <a:prstDash val="solid"/>
          </a:ln>
        </p:spPr>
      </p:sp>
      <p:sp>
        <p:nvSpPr>
          <p:cNvPr id="33" name="Text 31"/>
          <p:cNvSpPr txBox="1"/>
          <p:nvPr/>
        </p:nvSpPr>
        <p:spPr>
          <a:xfrm>
            <a:off x="868680" y="5797296"/>
            <a:ext cx="2240280" cy="429768"/>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Listas</a:t>
            </a:r>
            <a:endParaRPr lang="en-US" sz="1150" dirty="0"/>
          </a:p>
        </p:txBody>
      </p:sp>
      <p:sp>
        <p:nvSpPr>
          <p:cNvPr id="34" name="Text 32"/>
          <p:cNvSpPr txBox="1"/>
          <p:nvPr/>
        </p:nvSpPr>
        <p:spPr>
          <a:xfrm>
            <a:off x="3246120" y="5797296"/>
            <a:ext cx="3794760" cy="429768"/>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list-unstyled</a:t>
            </a:r>
            <a:endParaRPr lang="en-US" sz="1150" dirty="0"/>
          </a:p>
        </p:txBody>
      </p:sp>
      <p:sp>
        <p:nvSpPr>
          <p:cNvPr id="35" name="Text 33"/>
          <p:cNvSpPr txBox="1"/>
          <p:nvPr/>
        </p:nvSpPr>
        <p:spPr>
          <a:xfrm>
            <a:off x="7178040" y="5797296"/>
            <a:ext cx="4297680" cy="42976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Sin viñetas ni sangría</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12 / 47</a:t>
            </a:r>
            <a:endParaRPr lang="en-US" sz="80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Bordes, sombras, tamaños y accesibilidad</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Trazo, Radio y Sombra de Figma, también como clases.</a:t>
            </a:r>
            <a:endParaRPr lang="en-US" sz="1250" dirty="0"/>
          </a:p>
        </p:txBody>
      </p:sp>
      <p:sp>
        <p:nvSpPr>
          <p:cNvPr id="5" name="Text 3"/>
          <p:cNvSpPr txBox="1"/>
          <p:nvPr/>
        </p:nvSpPr>
        <p:spPr>
          <a:xfrm>
            <a:off x="868680" y="2587752"/>
            <a:ext cx="237744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Para</a:t>
            </a:r>
            <a:endParaRPr lang="en-US" sz="950" dirty="0"/>
          </a:p>
        </p:txBody>
      </p:sp>
      <p:sp>
        <p:nvSpPr>
          <p:cNvPr id="6" name="Text 4"/>
          <p:cNvSpPr txBox="1"/>
          <p:nvPr/>
        </p:nvSpPr>
        <p:spPr>
          <a:xfrm>
            <a:off x="3246120" y="2587752"/>
            <a:ext cx="393192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Clases</a:t>
            </a:r>
            <a:endParaRPr lang="en-US" sz="950" dirty="0"/>
          </a:p>
        </p:txBody>
      </p:sp>
      <p:sp>
        <p:nvSpPr>
          <p:cNvPr id="7" name="Text 5"/>
          <p:cNvSpPr txBox="1"/>
          <p:nvPr/>
        </p:nvSpPr>
        <p:spPr>
          <a:xfrm>
            <a:off x="7178040" y="2587752"/>
            <a:ext cx="443484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Qué hace</a:t>
            </a:r>
            <a:endParaRPr lang="en-US" sz="950" dirty="0"/>
          </a:p>
        </p:txBody>
      </p:sp>
      <p:sp>
        <p:nvSpPr>
          <p:cNvPr id="8" name="Shape 6"/>
          <p:cNvSpPr/>
          <p:nvPr/>
        </p:nvSpPr>
        <p:spPr>
          <a:xfrm>
            <a:off x="640080" y="2834640"/>
            <a:ext cx="10927080" cy="457200"/>
          </a:xfrm>
          <a:prstGeom prst="roundRect">
            <a:avLst>
              <a:gd name="adj" fmla="val 20000"/>
            </a:avLst>
          </a:prstGeom>
          <a:solidFill>
            <a:srgbClr val="FFFFFF"/>
          </a:solidFill>
          <a:ln w="12700">
            <a:solidFill>
              <a:srgbClr val="CFD5D9"/>
            </a:solidFill>
            <a:prstDash val="solid"/>
          </a:ln>
        </p:spPr>
      </p:sp>
      <p:sp>
        <p:nvSpPr>
          <p:cNvPr id="9" name="Text 7"/>
          <p:cNvSpPr txBox="1"/>
          <p:nvPr/>
        </p:nvSpPr>
        <p:spPr>
          <a:xfrm>
            <a:off x="868680" y="2834640"/>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Borde</a:t>
            </a:r>
            <a:endParaRPr lang="en-US" sz="1150" dirty="0"/>
          </a:p>
        </p:txBody>
      </p:sp>
      <p:sp>
        <p:nvSpPr>
          <p:cNvPr id="10" name="Text 8"/>
          <p:cNvSpPr txBox="1"/>
          <p:nvPr/>
        </p:nvSpPr>
        <p:spPr>
          <a:xfrm>
            <a:off x="3246120" y="2834640"/>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border border-top border-4</a:t>
            </a:r>
            <a:endParaRPr lang="en-US" sz="1150" dirty="0"/>
          </a:p>
        </p:txBody>
      </p:sp>
      <p:sp>
        <p:nvSpPr>
          <p:cNvPr id="11" name="Text 9"/>
          <p:cNvSpPr txBox="1"/>
          <p:nvPr/>
        </p:nvSpPr>
        <p:spPr>
          <a:xfrm>
            <a:off x="7178040" y="2834640"/>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Trazo en los cuatro lados, solo arriba o de 4px</a:t>
            </a:r>
            <a:endParaRPr lang="en-US" sz="1150" dirty="0"/>
          </a:p>
        </p:txBody>
      </p:sp>
      <p:sp>
        <p:nvSpPr>
          <p:cNvPr id="12" name="Shape 10"/>
          <p:cNvSpPr/>
          <p:nvPr/>
        </p:nvSpPr>
        <p:spPr>
          <a:xfrm>
            <a:off x="640080" y="3355848"/>
            <a:ext cx="10927080" cy="457200"/>
          </a:xfrm>
          <a:prstGeom prst="roundRect">
            <a:avLst>
              <a:gd name="adj" fmla="val 20000"/>
            </a:avLst>
          </a:prstGeom>
          <a:solidFill>
            <a:srgbClr val="FFFFFF"/>
          </a:solidFill>
          <a:ln w="12700">
            <a:solidFill>
              <a:srgbClr val="CFD5D9"/>
            </a:solidFill>
            <a:prstDash val="solid"/>
          </a:ln>
        </p:spPr>
      </p:sp>
      <p:sp>
        <p:nvSpPr>
          <p:cNvPr id="13" name="Text 11"/>
          <p:cNvSpPr txBox="1"/>
          <p:nvPr/>
        </p:nvSpPr>
        <p:spPr>
          <a:xfrm>
            <a:off x="868680" y="3355848"/>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Color del borde</a:t>
            </a:r>
            <a:endParaRPr lang="en-US" sz="1150" dirty="0"/>
          </a:p>
        </p:txBody>
      </p:sp>
      <p:sp>
        <p:nvSpPr>
          <p:cNvPr id="14" name="Text 12"/>
          <p:cNvSpPr txBox="1"/>
          <p:nvPr/>
        </p:nvSpPr>
        <p:spPr>
          <a:xfrm>
            <a:off x="3246120" y="3355848"/>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border-primary border-primary-subtle</a:t>
            </a:r>
            <a:endParaRPr lang="en-US" sz="1150" dirty="0"/>
          </a:p>
        </p:txBody>
      </p:sp>
      <p:sp>
        <p:nvSpPr>
          <p:cNvPr id="15" name="Text 13"/>
          <p:cNvSpPr txBox="1"/>
          <p:nvPr/>
        </p:nvSpPr>
        <p:spPr>
          <a:xfrm>
            <a:off x="7178040" y="3355848"/>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El cian de la marca o uno claro</a:t>
            </a:r>
            <a:endParaRPr lang="en-US" sz="1150" dirty="0"/>
          </a:p>
        </p:txBody>
      </p:sp>
      <p:sp>
        <p:nvSpPr>
          <p:cNvPr id="16" name="Shape 14"/>
          <p:cNvSpPr/>
          <p:nvPr/>
        </p:nvSpPr>
        <p:spPr>
          <a:xfrm>
            <a:off x="640080" y="3877056"/>
            <a:ext cx="10927080" cy="457200"/>
          </a:xfrm>
          <a:prstGeom prst="roundRect">
            <a:avLst>
              <a:gd name="adj" fmla="val 20000"/>
            </a:avLst>
          </a:prstGeom>
          <a:solidFill>
            <a:srgbClr val="FFFFFF"/>
          </a:solidFill>
          <a:ln w="12700">
            <a:solidFill>
              <a:srgbClr val="CFD5D9"/>
            </a:solidFill>
            <a:prstDash val="solid"/>
          </a:ln>
        </p:spPr>
      </p:sp>
      <p:sp>
        <p:nvSpPr>
          <p:cNvPr id="17" name="Text 15"/>
          <p:cNvSpPr txBox="1"/>
          <p:nvPr/>
        </p:nvSpPr>
        <p:spPr>
          <a:xfrm>
            <a:off x="868680" y="3877056"/>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Radio</a:t>
            </a:r>
            <a:endParaRPr lang="en-US" sz="1150" dirty="0"/>
          </a:p>
        </p:txBody>
      </p:sp>
      <p:sp>
        <p:nvSpPr>
          <p:cNvPr id="18" name="Text 16"/>
          <p:cNvSpPr txBox="1"/>
          <p:nvPr/>
        </p:nvSpPr>
        <p:spPr>
          <a:xfrm>
            <a:off x="3246120" y="3877056"/>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rounded-3 rounded-pill</a:t>
            </a:r>
            <a:endParaRPr lang="en-US" sz="1150" dirty="0"/>
          </a:p>
        </p:txBody>
      </p:sp>
      <p:sp>
        <p:nvSpPr>
          <p:cNvPr id="19" name="Text 17"/>
          <p:cNvSpPr txBox="1"/>
          <p:nvPr/>
        </p:nvSpPr>
        <p:spPr>
          <a:xfrm>
            <a:off x="7178040" y="3877056"/>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Radio de 8px · extremos redondos</a:t>
            </a:r>
            <a:endParaRPr lang="en-US" sz="1150" dirty="0"/>
          </a:p>
        </p:txBody>
      </p:sp>
      <p:sp>
        <p:nvSpPr>
          <p:cNvPr id="20" name="Shape 18"/>
          <p:cNvSpPr/>
          <p:nvPr/>
        </p:nvSpPr>
        <p:spPr>
          <a:xfrm>
            <a:off x="640080" y="4398264"/>
            <a:ext cx="10927080" cy="457200"/>
          </a:xfrm>
          <a:prstGeom prst="roundRect">
            <a:avLst>
              <a:gd name="adj" fmla="val 20000"/>
            </a:avLst>
          </a:prstGeom>
          <a:solidFill>
            <a:srgbClr val="FFFFFF"/>
          </a:solidFill>
          <a:ln w="12700">
            <a:solidFill>
              <a:srgbClr val="CFD5D9"/>
            </a:solidFill>
            <a:prstDash val="solid"/>
          </a:ln>
        </p:spPr>
      </p:sp>
      <p:sp>
        <p:nvSpPr>
          <p:cNvPr id="21" name="Text 19"/>
          <p:cNvSpPr txBox="1"/>
          <p:nvPr/>
        </p:nvSpPr>
        <p:spPr>
          <a:xfrm>
            <a:off x="868680" y="4398264"/>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Sombra</a:t>
            </a:r>
            <a:endParaRPr lang="en-US" sz="1150" dirty="0"/>
          </a:p>
        </p:txBody>
      </p:sp>
      <p:sp>
        <p:nvSpPr>
          <p:cNvPr id="22" name="Text 20"/>
          <p:cNvSpPr txBox="1"/>
          <p:nvPr/>
        </p:nvSpPr>
        <p:spPr>
          <a:xfrm>
            <a:off x="3246120" y="4398264"/>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shadow-sm shadow</a:t>
            </a:r>
            <a:endParaRPr lang="en-US" sz="1150" dirty="0"/>
          </a:p>
        </p:txBody>
      </p:sp>
      <p:sp>
        <p:nvSpPr>
          <p:cNvPr id="23" name="Text 21"/>
          <p:cNvSpPr txBox="1"/>
          <p:nvPr/>
        </p:nvSpPr>
        <p:spPr>
          <a:xfrm>
            <a:off x="7178040" y="4398264"/>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Una Sombra paralela suave o media</a:t>
            </a:r>
            <a:endParaRPr lang="en-US" sz="1150" dirty="0"/>
          </a:p>
        </p:txBody>
      </p:sp>
      <p:sp>
        <p:nvSpPr>
          <p:cNvPr id="24" name="Shape 22"/>
          <p:cNvSpPr/>
          <p:nvPr/>
        </p:nvSpPr>
        <p:spPr>
          <a:xfrm>
            <a:off x="640080" y="4919472"/>
            <a:ext cx="10927080" cy="457200"/>
          </a:xfrm>
          <a:prstGeom prst="roundRect">
            <a:avLst>
              <a:gd name="adj" fmla="val 20000"/>
            </a:avLst>
          </a:prstGeom>
          <a:solidFill>
            <a:srgbClr val="FFFFFF"/>
          </a:solidFill>
          <a:ln w="12700">
            <a:solidFill>
              <a:srgbClr val="CFD5D9"/>
            </a:solidFill>
            <a:prstDash val="solid"/>
          </a:ln>
        </p:spPr>
      </p:sp>
      <p:sp>
        <p:nvSpPr>
          <p:cNvPr id="25" name="Text 23"/>
          <p:cNvSpPr txBox="1"/>
          <p:nvPr/>
        </p:nvSpPr>
        <p:spPr>
          <a:xfrm>
            <a:off x="868680" y="4919472"/>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Tamaño</a:t>
            </a:r>
            <a:endParaRPr lang="en-US" sz="1150" dirty="0"/>
          </a:p>
        </p:txBody>
      </p:sp>
      <p:sp>
        <p:nvSpPr>
          <p:cNvPr id="26" name="Text 24"/>
          <p:cNvSpPr txBox="1"/>
          <p:nvPr/>
        </p:nvSpPr>
        <p:spPr>
          <a:xfrm>
            <a:off x="3246120" y="4919472"/>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h-100 w-100</a:t>
            </a:r>
            <a:endParaRPr lang="en-US" sz="1150" dirty="0"/>
          </a:p>
        </p:txBody>
      </p:sp>
      <p:sp>
        <p:nvSpPr>
          <p:cNvPr id="27" name="Text 25"/>
          <p:cNvSpPr txBox="1"/>
          <p:nvPr/>
        </p:nvSpPr>
        <p:spPr>
          <a:xfrm>
            <a:off x="7178040" y="4919472"/>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Alto o ancho del 100 %</a:t>
            </a:r>
            <a:endParaRPr lang="en-US" sz="1150" dirty="0"/>
          </a:p>
        </p:txBody>
      </p:sp>
      <p:sp>
        <p:nvSpPr>
          <p:cNvPr id="28" name="Shape 26"/>
          <p:cNvSpPr/>
          <p:nvPr/>
        </p:nvSpPr>
        <p:spPr>
          <a:xfrm>
            <a:off x="640080" y="5440680"/>
            <a:ext cx="10927080" cy="457200"/>
          </a:xfrm>
          <a:prstGeom prst="roundRect">
            <a:avLst>
              <a:gd name="adj" fmla="val 20000"/>
            </a:avLst>
          </a:prstGeom>
          <a:solidFill>
            <a:srgbClr val="E6F8FA"/>
          </a:solidFill>
          <a:ln w="12700">
            <a:solidFill>
              <a:srgbClr val="CFD5D9"/>
            </a:solidFill>
            <a:prstDash val="solid"/>
          </a:ln>
        </p:spPr>
      </p:sp>
      <p:sp>
        <p:nvSpPr>
          <p:cNvPr id="29" name="Text 27"/>
          <p:cNvSpPr txBox="1"/>
          <p:nvPr/>
        </p:nvSpPr>
        <p:spPr>
          <a:xfrm>
            <a:off x="868680" y="5440680"/>
            <a:ext cx="2240280" cy="457200"/>
          </a:xfrm>
          <a:prstGeom prst="rect">
            <a:avLst/>
          </a:prstGeom>
          <a:noFill/>
          <a:ln/>
        </p:spPr>
        <p:txBody>
          <a:bodyPr wrap="square" lIns="0" tIns="0" rIns="0" bIns="0" rtlCol="0" anchor="ctr"/>
          <a:lstStyle/>
          <a:p>
            <a:pPr algn="l" indent="0" marL="0">
              <a:buNone/>
            </a:pPr>
            <a:r>
              <a:rPr lang="en-US" sz="1150" b="1" dirty="0">
                <a:solidFill>
                  <a:srgbClr val="1F2326"/>
                </a:solidFill>
                <a:latin typeface="Calibri" pitchFamily="34" charset="0"/>
                <a:ea typeface="Calibri" pitchFamily="34" charset="-122"/>
                <a:cs typeface="Calibri" pitchFamily="34" charset="-120"/>
              </a:rPr>
              <a:t>Oculto a la vista</a:t>
            </a:r>
            <a:endParaRPr lang="en-US" sz="1150" dirty="0"/>
          </a:p>
        </p:txBody>
      </p:sp>
      <p:sp>
        <p:nvSpPr>
          <p:cNvPr id="30" name="Text 28"/>
          <p:cNvSpPr txBox="1"/>
          <p:nvPr/>
        </p:nvSpPr>
        <p:spPr>
          <a:xfrm>
            <a:off x="3246120" y="5440680"/>
            <a:ext cx="3794760" cy="457200"/>
          </a:xfrm>
          <a:prstGeom prst="rect">
            <a:avLst/>
          </a:prstGeom>
          <a:noFill/>
          <a:ln/>
        </p:spPr>
        <p:txBody>
          <a:bodyPr wrap="square" lIns="0" tIns="0" rIns="0" bIns="0" rtlCol="0" anchor="ctr"/>
          <a:lstStyle/>
          <a:p>
            <a:pPr algn="l" indent="0" marL="0">
              <a:buNone/>
            </a:pPr>
            <a:r>
              <a:rPr lang="en-US" sz="1150" dirty="0">
                <a:solidFill>
                  <a:srgbClr val="177E89"/>
                </a:solidFill>
                <a:latin typeface="Consolas" pitchFamily="34" charset="0"/>
                <a:ea typeface="Consolas" pitchFamily="34" charset="-122"/>
                <a:cs typeface="Consolas" pitchFamily="34" charset="-120"/>
              </a:rPr>
              <a:t>visually-hidden</a:t>
            </a:r>
            <a:endParaRPr lang="en-US" sz="1150" dirty="0"/>
          </a:p>
        </p:txBody>
      </p:sp>
      <p:sp>
        <p:nvSpPr>
          <p:cNvPr id="31" name="Text 29"/>
          <p:cNvSpPr txBox="1"/>
          <p:nvPr/>
        </p:nvSpPr>
        <p:spPr>
          <a:xfrm>
            <a:off x="7178040" y="5440680"/>
            <a:ext cx="4297680" cy="45720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No se ve, pero el lector de pantalla lo lee</a:t>
            </a:r>
            <a:endParaRPr lang="en-US" sz="1150" dirty="0"/>
          </a:p>
        </p:txBody>
      </p:sp>
      <p:sp>
        <p:nvSpPr>
          <p:cNvPr id="32" name="Text 30"/>
          <p:cNvSpPr txBox="1"/>
          <p:nvPr/>
        </p:nvSpPr>
        <p:spPr>
          <a:xfrm>
            <a:off x="640080" y="5943600"/>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Seis botones «Inscribirme» iguales: un span visually-hidden completa cada uno, «en Diseño Web».</a:t>
            </a:r>
            <a:endParaRPr lang="en-US" sz="1150" dirty="0"/>
          </a:p>
        </p:txBody>
      </p:sp>
      <p:sp>
        <p:nvSpPr>
          <p:cNvPr id="33" name="Text 31"/>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13 / 47</a:t>
            </a:r>
            <a:endParaRPr lang="en-US" sz="80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Responsivas y con !important</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Como la grilla, una utilidad acepta un punto de quiebre: vale desde ese ancho hacia arriba.</a:t>
            </a:r>
            <a:endParaRPr lang="en-US" sz="1250" dirty="0"/>
          </a:p>
        </p:txBody>
      </p:sp>
      <p:sp>
        <p:nvSpPr>
          <p:cNvPr id="5" name="Shape 3"/>
          <p:cNvSpPr/>
          <p:nvPr/>
        </p:nvSpPr>
        <p:spPr>
          <a:xfrm>
            <a:off x="640080" y="2615184"/>
            <a:ext cx="10927080" cy="548640"/>
          </a:xfrm>
          <a:prstGeom prst="roundRect">
            <a:avLst>
              <a:gd name="adj" fmla="val 16667"/>
            </a:avLst>
          </a:prstGeom>
          <a:solidFill>
            <a:srgbClr val="FFFFFF"/>
          </a:solidFill>
          <a:ln w="12700">
            <a:solidFill>
              <a:srgbClr val="CFD5D9"/>
            </a:solidFill>
            <a:prstDash val="solid"/>
          </a:ln>
        </p:spPr>
      </p:sp>
      <p:sp>
        <p:nvSpPr>
          <p:cNvPr id="6" name="Text 4"/>
          <p:cNvSpPr txBox="1"/>
          <p:nvPr/>
        </p:nvSpPr>
        <p:spPr>
          <a:xfrm>
            <a:off x="914400" y="2615184"/>
            <a:ext cx="2926080" cy="54864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p-4 p-md-5</a:t>
            </a:r>
            <a:endParaRPr lang="en-US" sz="1200" dirty="0"/>
          </a:p>
        </p:txBody>
      </p:sp>
      <p:sp>
        <p:nvSpPr>
          <p:cNvPr id="7" name="Text 5"/>
          <p:cNvSpPr txBox="1"/>
          <p:nvPr/>
        </p:nvSpPr>
        <p:spPr>
          <a:xfrm>
            <a:off x="3840480" y="2615184"/>
            <a:ext cx="4572000" cy="54864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Relleno de 24px en el celular y 48px desde 768px.</a:t>
            </a:r>
            <a:endParaRPr lang="en-US" sz="1150" dirty="0"/>
          </a:p>
        </p:txBody>
      </p:sp>
      <p:sp>
        <p:nvSpPr>
          <p:cNvPr id="8" name="Text 6"/>
          <p:cNvSpPr txBox="1"/>
          <p:nvPr/>
        </p:nvSpPr>
        <p:spPr>
          <a:xfrm>
            <a:off x="8412480" y="2615184"/>
            <a:ext cx="320040" cy="54864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9" name="Text 7"/>
          <p:cNvSpPr txBox="1"/>
          <p:nvPr/>
        </p:nvSpPr>
        <p:spPr>
          <a:xfrm>
            <a:off x="8778240" y="2615184"/>
            <a:ext cx="2423160" cy="548640"/>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El llamado de tu página</a:t>
            </a:r>
            <a:endParaRPr lang="en-US" sz="1100" dirty="0"/>
          </a:p>
        </p:txBody>
      </p:sp>
      <p:sp>
        <p:nvSpPr>
          <p:cNvPr id="10" name="Shape 8"/>
          <p:cNvSpPr/>
          <p:nvPr/>
        </p:nvSpPr>
        <p:spPr>
          <a:xfrm>
            <a:off x="640080" y="3236976"/>
            <a:ext cx="10927080" cy="548640"/>
          </a:xfrm>
          <a:prstGeom prst="roundRect">
            <a:avLst>
              <a:gd name="adj" fmla="val 16667"/>
            </a:avLst>
          </a:prstGeom>
          <a:solidFill>
            <a:srgbClr val="FFFFFF"/>
          </a:solidFill>
          <a:ln w="12700">
            <a:solidFill>
              <a:srgbClr val="CFD5D9"/>
            </a:solidFill>
            <a:prstDash val="solid"/>
          </a:ln>
        </p:spPr>
      </p:sp>
      <p:sp>
        <p:nvSpPr>
          <p:cNvPr id="11" name="Text 9"/>
          <p:cNvSpPr txBox="1"/>
          <p:nvPr/>
        </p:nvSpPr>
        <p:spPr>
          <a:xfrm>
            <a:off x="914400" y="3236976"/>
            <a:ext cx="2926080" cy="54864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d-none d-lg-block</a:t>
            </a:r>
            <a:endParaRPr lang="en-US" sz="1200" dirty="0"/>
          </a:p>
        </p:txBody>
      </p:sp>
      <p:sp>
        <p:nvSpPr>
          <p:cNvPr id="12" name="Text 10"/>
          <p:cNvSpPr txBox="1"/>
          <p:nvPr/>
        </p:nvSpPr>
        <p:spPr>
          <a:xfrm>
            <a:off x="3840480" y="3236976"/>
            <a:ext cx="4572000" cy="54864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Oculto en el celular; visible desde 992px.</a:t>
            </a:r>
            <a:endParaRPr lang="en-US" sz="1150" dirty="0"/>
          </a:p>
        </p:txBody>
      </p:sp>
      <p:sp>
        <p:nvSpPr>
          <p:cNvPr id="13" name="Text 11"/>
          <p:cNvSpPr txBox="1"/>
          <p:nvPr/>
        </p:nvSpPr>
        <p:spPr>
          <a:xfrm>
            <a:off x="8412480" y="3236976"/>
            <a:ext cx="320040" cy="54864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4" name="Text 12"/>
          <p:cNvSpPr txBox="1"/>
          <p:nvPr/>
        </p:nvSpPr>
        <p:spPr>
          <a:xfrm>
            <a:off x="8778240" y="3236976"/>
            <a:ext cx="2423160" cy="548640"/>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Algo que no cabe en el celular</a:t>
            </a:r>
            <a:endParaRPr lang="en-US" sz="1100" dirty="0"/>
          </a:p>
        </p:txBody>
      </p:sp>
      <p:sp>
        <p:nvSpPr>
          <p:cNvPr id="15" name="Shape 13"/>
          <p:cNvSpPr/>
          <p:nvPr/>
        </p:nvSpPr>
        <p:spPr>
          <a:xfrm>
            <a:off x="640080" y="3858768"/>
            <a:ext cx="10927080" cy="548640"/>
          </a:xfrm>
          <a:prstGeom prst="roundRect">
            <a:avLst>
              <a:gd name="adj" fmla="val 16667"/>
            </a:avLst>
          </a:prstGeom>
          <a:solidFill>
            <a:srgbClr val="FFFFFF"/>
          </a:solidFill>
          <a:ln w="12700">
            <a:solidFill>
              <a:srgbClr val="CFD5D9"/>
            </a:solidFill>
            <a:prstDash val="solid"/>
          </a:ln>
        </p:spPr>
      </p:sp>
      <p:sp>
        <p:nvSpPr>
          <p:cNvPr id="16" name="Text 14"/>
          <p:cNvSpPr txBox="1"/>
          <p:nvPr/>
        </p:nvSpPr>
        <p:spPr>
          <a:xfrm>
            <a:off x="914400" y="3858768"/>
            <a:ext cx="2926080" cy="548640"/>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text-center text-lg-start</a:t>
            </a:r>
            <a:endParaRPr lang="en-US" sz="1200" dirty="0"/>
          </a:p>
        </p:txBody>
      </p:sp>
      <p:sp>
        <p:nvSpPr>
          <p:cNvPr id="17" name="Text 15"/>
          <p:cNvSpPr txBox="1"/>
          <p:nvPr/>
        </p:nvSpPr>
        <p:spPr>
          <a:xfrm>
            <a:off x="3840480" y="3858768"/>
            <a:ext cx="4572000" cy="548640"/>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Centrado en el celular; a la izquierda desde 992px.</a:t>
            </a:r>
            <a:endParaRPr lang="en-US" sz="1150" dirty="0"/>
          </a:p>
        </p:txBody>
      </p:sp>
      <p:sp>
        <p:nvSpPr>
          <p:cNvPr id="18" name="Text 16"/>
          <p:cNvSpPr txBox="1"/>
          <p:nvPr/>
        </p:nvSpPr>
        <p:spPr>
          <a:xfrm>
            <a:off x="8412480" y="3858768"/>
            <a:ext cx="320040" cy="548640"/>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9" name="Text 17"/>
          <p:cNvSpPr txBox="1"/>
          <p:nvPr/>
        </p:nvSpPr>
        <p:spPr>
          <a:xfrm>
            <a:off x="8778240" y="3858768"/>
            <a:ext cx="2423160" cy="548640"/>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Un título</a:t>
            </a:r>
            <a:endParaRPr lang="en-US" sz="1100" dirty="0"/>
          </a:p>
        </p:txBody>
      </p:sp>
      <p:sp>
        <p:nvSpPr>
          <p:cNvPr id="20" name="Shape 18"/>
          <p:cNvSpPr/>
          <p:nvPr/>
        </p:nvSpPr>
        <p:spPr>
          <a:xfrm>
            <a:off x="640080" y="4709160"/>
            <a:ext cx="10927080" cy="1188720"/>
          </a:xfrm>
          <a:prstGeom prst="roundRect">
            <a:avLst>
              <a:gd name="adj" fmla="val 7692"/>
            </a:avLst>
          </a:prstGeom>
          <a:solidFill>
            <a:srgbClr val="F3F5F6"/>
          </a:solidFill>
          <a:ln w="12700">
            <a:solidFill>
              <a:srgbClr val="CFD5D9"/>
            </a:solidFill>
            <a:prstDash val="solid"/>
          </a:ln>
        </p:spPr>
      </p:sp>
      <p:sp>
        <p:nvSpPr>
          <p:cNvPr id="21" name="Text 19"/>
          <p:cNvSpPr txBox="1"/>
          <p:nvPr/>
        </p:nvSpPr>
        <p:spPr>
          <a:xfrm>
            <a:off x="950976" y="4709160"/>
            <a:ext cx="10305288" cy="1188720"/>
          </a:xfrm>
          <a:prstGeom prst="rect">
            <a:avLst/>
          </a:prstGeom>
          <a:noFill/>
          <a:ln/>
        </p:spPr>
        <p:txBody>
          <a:bodyPr wrap="square" lIns="0" tIns="0" rIns="0" bIns="0" rtlCol="0" anchor="ctr"/>
          <a:lstStyle/>
          <a:p>
            <a:pPr indent="0" marL="0">
              <a:buNone/>
            </a:pPr>
            <a:r>
              <a:rPr lang="en-US" sz="1200" b="1" dirty="0">
                <a:solidFill>
                  <a:srgbClr val="177E89"/>
                </a:solidFill>
                <a:latin typeface="Calibri" pitchFamily="34" charset="0"/>
                <a:ea typeface="Calibri" pitchFamily="34" charset="-122"/>
                <a:cs typeface="Calibri" pitchFamily="34" charset="-120"/>
              </a:rPr>
              <a:t>Las utilidades usan !important </a:t>
            </a:r>
            <a:pPr indent="0" marL="0">
              <a:buNone/>
            </a:pPr>
            <a:endParaRPr lang="en-US" sz="1200" dirty="0"/>
          </a:p>
          <a:p>
            <a:pPr indent="0" marL="0">
              <a:buNone/>
            </a:pPr>
            <a:r>
              <a:rPr lang="en-US" sz="1200" dirty="0">
                <a:solidFill>
                  <a:srgbClr val="33393D"/>
                </a:solidFill>
                <a:latin typeface="Calibri" pitchFamily="34" charset="0"/>
                <a:ea typeface="Calibri" pitchFamily="34" charset="-122"/>
                <a:cs typeface="Calibri" pitchFamily="34" charset="-120"/>
              </a:rPr>
              <a:t>para ganar siempre, sin importar la especificidad. Si una utilidad no te deja cambiar algo desde tu CSS, cambia la clase en el HTML. Es una de las pocas veces en que </a:t>
            </a:r>
            <a:endParaRPr lang="en-US" sz="1200" dirty="0"/>
          </a:p>
          <a:p>
            <a:pPr indent="0" marL="0">
              <a:buNone/>
            </a:pPr>
            <a:r>
              <a:rPr lang="en-US" sz="1200" dirty="0">
                <a:solidFill>
                  <a:srgbClr val="1F2326"/>
                </a:solidFill>
                <a:latin typeface="Consolas" pitchFamily="34" charset="0"/>
                <a:ea typeface="Consolas" pitchFamily="34" charset="-122"/>
                <a:cs typeface="Consolas" pitchFamily="34" charset="-120"/>
              </a:rPr>
              <a:t>!important</a:t>
            </a:r>
            <a:pPr indent="0" marL="0">
              <a:buNone/>
            </a:pPr>
            <a:r>
              <a:rPr lang="en-US" sz="1200" dirty="0">
                <a:solidFill>
                  <a:srgbClr val="33393D"/>
                </a:solidFill>
                <a:latin typeface="Calibri" pitchFamily="34" charset="0"/>
                <a:ea typeface="Calibri" pitchFamily="34" charset="-122"/>
                <a:cs typeface="Calibri" pitchFamily="34" charset="-120"/>
              </a:rPr>
              <a:t> tiene sentido (sesión 11).</a:t>
            </a:r>
            <a:endParaRPr lang="en-US" sz="1200" dirty="0"/>
          </a:p>
        </p:txBody>
      </p:sp>
      <p:sp>
        <p:nvSpPr>
          <p:cNvPr id="22"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14 / 47</a:t>
            </a:r>
            <a:endParaRPr lang="en-US" sz="80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01 · UTILIDADES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«Cómo trabajamos», solo con utilidades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La misma sección de la sesión 13. cursos.css pierde el bloque de los pasos.</a:t>
            </a:r>
            <a:endParaRPr lang="en-US" sz="1250" dirty="0"/>
          </a:p>
        </p:txBody>
      </p:sp>
      <p:sp>
        <p:nvSpPr>
          <p:cNvPr id="5" name="Shape 3"/>
          <p:cNvSpPr/>
          <p:nvPr/>
        </p:nvSpPr>
        <p:spPr>
          <a:xfrm>
            <a:off x="640080" y="2615184"/>
            <a:ext cx="5760720" cy="2743200"/>
          </a:xfrm>
          <a:prstGeom prst="roundRect">
            <a:avLst>
              <a:gd name="adj" fmla="val 3333"/>
            </a:avLst>
          </a:prstGeom>
          <a:solidFill>
            <a:srgbClr val="2B2B2B"/>
          </a:solidFill>
          <a:ln w="12700">
            <a:solidFill>
              <a:srgbClr val="2B2B2B"/>
            </a:solidFill>
            <a:prstDash val="solid"/>
          </a:ln>
        </p:spPr>
      </p:sp>
      <p:sp>
        <p:nvSpPr>
          <p:cNvPr id="6" name="Text 4"/>
          <p:cNvSpPr txBox="1"/>
          <p:nvPr/>
        </p:nvSpPr>
        <p:spPr>
          <a:xfrm>
            <a:off x="868680" y="2779776"/>
            <a:ext cx="5303520" cy="2414016"/>
          </a:xfrm>
          <a:prstGeom prst="rect">
            <a:avLst/>
          </a:prstGeom>
          <a:noFill/>
          <a:ln/>
        </p:spPr>
        <p:txBody>
          <a:bodyPr wrap="square" lIns="0" tIns="0" rIns="0" bIns="0" rtlCol="0" anchor="t"/>
          <a:lstStyle/>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&lt;ol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row g-4 list-unstyled</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&lt;li class="col-12 col-sm-6 col-lg-3"&gt;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h-100 bg-white border rounded-3 p-4</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&lt;i class="bi bi-pencil-square </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fs-3 text-primary</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aria-hidden="true"&gt;&lt;/i&gt;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&lt;h3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fs-6 fw-bold mt-3 mb-2</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"&gt;1. Diseñas&lt;/h3&gt;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&lt;p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small mb-0</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"&gt;Cada proyecto empieza…&lt;/p&gt;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&lt;/li&gt;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&lt;/ol&gt;</a:t>
            </a:r>
            <a:endParaRPr lang="en-US" sz="1000" dirty="0"/>
          </a:p>
        </p:txBody>
      </p:sp>
      <p:sp>
        <p:nvSpPr>
          <p:cNvPr id="7" name="Shape 5"/>
          <p:cNvSpPr/>
          <p:nvPr/>
        </p:nvSpPr>
        <p:spPr>
          <a:xfrm>
            <a:off x="6583680" y="2615184"/>
            <a:ext cx="4983480" cy="1197864"/>
          </a:xfrm>
          <a:prstGeom prst="roundRect">
            <a:avLst>
              <a:gd name="adj" fmla="val 7634"/>
            </a:avLst>
          </a:prstGeom>
          <a:solidFill>
            <a:srgbClr val="FFFFFF"/>
          </a:solidFill>
          <a:ln w="19050">
            <a:solidFill>
              <a:srgbClr val="CFD5D9"/>
            </a:solidFill>
            <a:prstDash val="solid"/>
          </a:ln>
        </p:spPr>
      </p:sp>
      <p:pic>
        <p:nvPicPr>
          <p:cNvPr id="8" name="Image 0" descr="/tmp/claude-0/-home-user-sesiones-dagner/2613c8c1-437c-54f4-94d9-b62c29473bbd/scratchpad/deck/img/s14-pasos.png">    </p:cNvPr>
          <p:cNvPicPr>
            <a:picLocks noChangeAspect="1"/>
          </p:cNvPicPr>
          <p:nvPr/>
        </p:nvPicPr>
        <p:blipFill>
          <a:blip r:embed="rId1"/>
          <a:stretch>
            <a:fillRect/>
          </a:stretch>
        </p:blipFill>
        <p:spPr>
          <a:xfrm>
            <a:off x="6656832" y="2688336"/>
            <a:ext cx="4837176" cy="1051560"/>
          </a:xfrm>
          <a:prstGeom prst="rect">
            <a:avLst/>
          </a:prstGeom>
        </p:spPr>
      </p:pic>
      <p:sp>
        <p:nvSpPr>
          <p:cNvPr id="9" name="Text 6"/>
          <p:cNvSpPr txBox="1"/>
          <p:nvPr/>
        </p:nvSpPr>
        <p:spPr>
          <a:xfrm>
            <a:off x="640080" y="5623560"/>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Antes: 50 líneas de CSS para .pasos, .paso y .paso-num. Ahora: ninguna.</a:t>
            </a:r>
            <a:endParaRPr lang="en-US" sz="1150" dirty="0"/>
          </a:p>
        </p:txBody>
      </p:sp>
      <p:sp>
        <p:nvSpPr>
          <p:cNvPr id="10" name="Text 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15 / 47</a:t>
            </a:r>
            <a:endParaRPr lang="en-US" sz="80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spTree>
      <p:nvGrpSpPr>
        <p:cNvPr id="1" name=""/>
        <p:cNvGrpSpPr/>
        <p:nvPr/>
      </p:nvGrpSpPr>
      <p:grpSpPr>
        <a:xfrm>
          <a:off x="0" y="0"/>
          <a:ext cx="0" cy="0"/>
          <a:chOff x="0" y="0"/>
          <a:chExt cx="0" cy="0"/>
        </a:xfrm>
      </p:grpSpPr>
      <p:sp>
        <p:nvSpPr>
          <p:cNvPr id="2" name="Shape 0"/>
          <p:cNvSpPr/>
          <p:nvPr/>
        </p:nvSpPr>
        <p:spPr>
          <a:xfrm>
            <a:off x="-548640" y="1517904"/>
            <a:ext cx="51206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0624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Componentes</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02</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algn="l" indent="0" marL="0">
              <a:buNone/>
            </a:pPr>
            <a:r>
              <a:rPr lang="en-US" sz="1050" b="1"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Qué es un componente</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card: la tarjeta</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badge e iconos</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alert: el aviso</a:t>
            </a:r>
            <a:endParaRPr lang="en-US" sz="1200" dirty="0"/>
          </a:p>
        </p:txBody>
      </p:sp>
      <p:sp>
        <p:nvSpPr>
          <p:cNvPr id="18" name="Shape 16"/>
          <p:cNvSpPr/>
          <p:nvPr/>
        </p:nvSpPr>
        <p:spPr>
          <a:xfrm>
            <a:off x="6766560" y="1234440"/>
            <a:ext cx="5166360" cy="5257800"/>
          </a:xfrm>
          <a:prstGeom prst="roundRect">
            <a:avLst>
              <a:gd name="adj" fmla="val 1770"/>
            </a:avLst>
          </a:prstGeom>
          <a:solidFill>
            <a:srgbClr val="FFFFFF"/>
          </a:solidFill>
          <a:ln w="12700">
            <a:solidFill>
              <a:srgbClr val="CFD5D9"/>
            </a:solidFill>
            <a:prstDash val="solid"/>
          </a:ln>
        </p:spPr>
      </p:sp>
      <p:pic>
        <p:nvPicPr>
          <p:cNvPr id="19" name="Image 0" descr="Persona programando frente a un monitor">    </p:cNvPr>
          <p:cNvPicPr>
            <a:picLocks noChangeAspect="1"/>
          </p:cNvPicPr>
          <p:nvPr/>
        </p:nvPicPr>
        <p:blipFill>
          <a:blip r:embed="rId1"/>
          <a:stretch>
            <a:fillRect/>
          </a:stretch>
        </p:blipFill>
        <p:spPr>
          <a:xfrm>
            <a:off x="6903720" y="1362456"/>
            <a:ext cx="4892040" cy="5001768"/>
          </a:xfrm>
          <a:prstGeom prst="rect">
            <a:avLst/>
          </a:prstGeom>
        </p:spPr>
      </p:pic>
      <p:sp>
        <p:nvSpPr>
          <p:cNvPr id="20" name="Text 1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16 / 47</a:t>
            </a:r>
            <a:endParaRPr lang="en-US" sz="80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02 · COMPONENTES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Qué es un componente</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Un bloque de HTML con sus clases ya diseñadas. Copias el modelo de la documentación y lo adaptas.</a:t>
            </a:r>
            <a:endParaRPr lang="en-US" sz="1250" dirty="0"/>
          </a:p>
        </p:txBody>
      </p:sp>
      <p:sp>
        <p:nvSpPr>
          <p:cNvPr id="5" name="Shape 3"/>
          <p:cNvSpPr/>
          <p:nvPr/>
        </p:nvSpPr>
        <p:spPr>
          <a:xfrm>
            <a:off x="640080" y="2615184"/>
            <a:ext cx="3520440" cy="1572768"/>
          </a:xfrm>
          <a:prstGeom prst="roundRect">
            <a:avLst>
              <a:gd name="adj" fmla="val 5814"/>
            </a:avLst>
          </a:prstGeom>
          <a:solidFill>
            <a:srgbClr val="FFFFFF"/>
          </a:solidFill>
          <a:ln w="12700">
            <a:solidFill>
              <a:srgbClr val="CFD5D9"/>
            </a:solidFill>
            <a:prstDash val="solid"/>
          </a:ln>
        </p:spPr>
      </p:sp>
      <p:sp>
        <p:nvSpPr>
          <p:cNvPr id="6" name="Shape 4"/>
          <p:cNvSpPr/>
          <p:nvPr/>
        </p:nvSpPr>
        <p:spPr>
          <a:xfrm>
            <a:off x="886968" y="2843784"/>
            <a:ext cx="402336" cy="402336"/>
          </a:xfrm>
          <a:prstGeom prst="ellipse">
            <a:avLst/>
          </a:prstGeom>
          <a:solidFill>
            <a:srgbClr val="177E89"/>
          </a:solidFill>
          <a:ln w="12700">
            <a:solidFill>
              <a:srgbClr val="177E89"/>
            </a:solidFill>
            <a:prstDash val="solid"/>
          </a:ln>
        </p:spPr>
      </p:sp>
      <p:sp>
        <p:nvSpPr>
          <p:cNvPr id="7" name="Text 5"/>
          <p:cNvSpPr txBox="1"/>
          <p:nvPr/>
        </p:nvSpPr>
        <p:spPr>
          <a:xfrm>
            <a:off x="88696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4475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card</a:t>
            </a:r>
            <a:endParaRPr lang="en-US" sz="1300" dirty="0"/>
          </a:p>
        </p:txBody>
      </p:sp>
      <p:sp>
        <p:nvSpPr>
          <p:cNvPr id="9" name="Text 7"/>
          <p:cNvSpPr txBox="1"/>
          <p:nvPr/>
        </p:nvSpPr>
        <p:spPr>
          <a:xfrm>
            <a:off x="914400" y="338328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Una tarjeta con cuerpo, título, texto y pie. </a:t>
            </a:r>
            <a:pPr algn="l" indent="0" marL="0">
              <a:buNone/>
            </a:pPr>
            <a:r>
              <a:rPr lang="en-US" sz="1150" b="1" dirty="0">
                <a:solidFill>
                  <a:srgbClr val="33393D"/>
                </a:solidFill>
                <a:latin typeface="Calibri" pitchFamily="34" charset="0"/>
                <a:ea typeface="Calibri" pitchFamily="34" charset="-122"/>
                <a:cs typeface="Calibri" pitchFamily="34" charset="-120"/>
              </a:rPr>
              <a:t>Hoy.</a:t>
            </a:r>
            <a:endParaRPr lang="en-US" sz="1150" dirty="0"/>
          </a:p>
        </p:txBody>
      </p:sp>
      <p:sp>
        <p:nvSpPr>
          <p:cNvPr id="10" name="Shape 8"/>
          <p:cNvSpPr/>
          <p:nvPr/>
        </p:nvSpPr>
        <p:spPr>
          <a:xfrm>
            <a:off x="4343400" y="2615184"/>
            <a:ext cx="3520440" cy="1572768"/>
          </a:xfrm>
          <a:prstGeom prst="roundRect">
            <a:avLst>
              <a:gd name="adj" fmla="val 5814"/>
            </a:avLst>
          </a:prstGeom>
          <a:solidFill>
            <a:srgbClr val="FFFFFF"/>
          </a:solidFill>
          <a:ln w="12700">
            <a:solidFill>
              <a:srgbClr val="CFD5D9"/>
            </a:solidFill>
            <a:prstDash val="solid"/>
          </a:ln>
        </p:spPr>
      </p:sp>
      <p:sp>
        <p:nvSpPr>
          <p:cNvPr id="11" name="Shape 9"/>
          <p:cNvSpPr/>
          <p:nvPr/>
        </p:nvSpPr>
        <p:spPr>
          <a:xfrm>
            <a:off x="4590288" y="2843784"/>
            <a:ext cx="402336" cy="402336"/>
          </a:xfrm>
          <a:prstGeom prst="ellipse">
            <a:avLst/>
          </a:prstGeom>
          <a:solidFill>
            <a:srgbClr val="177E89"/>
          </a:solidFill>
          <a:ln w="12700">
            <a:solidFill>
              <a:srgbClr val="177E89"/>
            </a:solidFill>
            <a:prstDash val="solid"/>
          </a:ln>
        </p:spPr>
      </p:sp>
      <p:sp>
        <p:nvSpPr>
          <p:cNvPr id="12" name="Text 10"/>
          <p:cNvSpPr txBox="1"/>
          <p:nvPr/>
        </p:nvSpPr>
        <p:spPr>
          <a:xfrm>
            <a:off x="459028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4807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badge</a:t>
            </a:r>
            <a:endParaRPr lang="en-US" sz="1300" dirty="0"/>
          </a:p>
        </p:txBody>
      </p:sp>
      <p:sp>
        <p:nvSpPr>
          <p:cNvPr id="14" name="Text 12"/>
          <p:cNvSpPr txBox="1"/>
          <p:nvPr/>
        </p:nvSpPr>
        <p:spPr>
          <a:xfrm>
            <a:off x="4617720" y="338328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Una insignia pequeña: el nivel del curso. </a:t>
            </a:r>
            <a:pPr algn="l" indent="0" marL="0">
              <a:buNone/>
            </a:pPr>
            <a:r>
              <a:rPr lang="en-US" sz="1150" b="1" dirty="0">
                <a:solidFill>
                  <a:srgbClr val="33393D"/>
                </a:solidFill>
                <a:latin typeface="Calibri" pitchFamily="34" charset="0"/>
                <a:ea typeface="Calibri" pitchFamily="34" charset="-122"/>
                <a:cs typeface="Calibri" pitchFamily="34" charset="-120"/>
              </a:rPr>
              <a:t>Hoy.</a:t>
            </a:r>
            <a:endParaRPr lang="en-US" sz="1150" dirty="0"/>
          </a:p>
        </p:txBody>
      </p:sp>
      <p:sp>
        <p:nvSpPr>
          <p:cNvPr id="15" name="Shape 13"/>
          <p:cNvSpPr/>
          <p:nvPr/>
        </p:nvSpPr>
        <p:spPr>
          <a:xfrm>
            <a:off x="8046720" y="2615184"/>
            <a:ext cx="3520440" cy="1572768"/>
          </a:xfrm>
          <a:prstGeom prst="roundRect">
            <a:avLst>
              <a:gd name="adj" fmla="val 5814"/>
            </a:avLst>
          </a:prstGeom>
          <a:solidFill>
            <a:srgbClr val="FFFFFF"/>
          </a:solidFill>
          <a:ln w="12700">
            <a:solidFill>
              <a:srgbClr val="CFD5D9"/>
            </a:solidFill>
            <a:prstDash val="solid"/>
          </a:ln>
        </p:spPr>
      </p:sp>
      <p:sp>
        <p:nvSpPr>
          <p:cNvPr id="16" name="Shape 14"/>
          <p:cNvSpPr/>
          <p:nvPr/>
        </p:nvSpPr>
        <p:spPr>
          <a:xfrm>
            <a:off x="8293608" y="2843784"/>
            <a:ext cx="402336" cy="402336"/>
          </a:xfrm>
          <a:prstGeom prst="ellipse">
            <a:avLst/>
          </a:prstGeom>
          <a:solidFill>
            <a:srgbClr val="177E89"/>
          </a:solidFill>
          <a:ln w="12700">
            <a:solidFill>
              <a:srgbClr val="177E89"/>
            </a:solidFill>
            <a:prstDash val="solid"/>
          </a:ln>
        </p:spPr>
      </p:sp>
      <p:sp>
        <p:nvSpPr>
          <p:cNvPr id="17" name="Text 15"/>
          <p:cNvSpPr txBox="1"/>
          <p:nvPr/>
        </p:nvSpPr>
        <p:spPr>
          <a:xfrm>
            <a:off x="829360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5139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alert</a:t>
            </a:r>
            <a:endParaRPr lang="en-US" sz="1300" dirty="0"/>
          </a:p>
        </p:txBody>
      </p:sp>
      <p:sp>
        <p:nvSpPr>
          <p:cNvPr id="19" name="Text 17"/>
          <p:cNvSpPr txBox="1"/>
          <p:nvPr/>
        </p:nvSpPr>
        <p:spPr>
          <a:xfrm>
            <a:off x="8321040" y="338328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Un aviso destacado con su color. </a:t>
            </a:r>
            <a:pPr algn="l" indent="0" marL="0">
              <a:buNone/>
            </a:pPr>
            <a:r>
              <a:rPr lang="en-US" sz="1150" b="1" dirty="0">
                <a:solidFill>
                  <a:srgbClr val="33393D"/>
                </a:solidFill>
                <a:latin typeface="Calibri" pitchFamily="34" charset="0"/>
                <a:ea typeface="Calibri" pitchFamily="34" charset="-122"/>
                <a:cs typeface="Calibri" pitchFamily="34" charset="-120"/>
              </a:rPr>
              <a:t>Hoy.</a:t>
            </a:r>
            <a:endParaRPr lang="en-US" sz="1150" dirty="0"/>
          </a:p>
        </p:txBody>
      </p:sp>
      <p:sp>
        <p:nvSpPr>
          <p:cNvPr id="20" name="Shape 18"/>
          <p:cNvSpPr/>
          <p:nvPr/>
        </p:nvSpPr>
        <p:spPr>
          <a:xfrm>
            <a:off x="640080" y="4352544"/>
            <a:ext cx="3520440" cy="1572768"/>
          </a:xfrm>
          <a:prstGeom prst="roundRect">
            <a:avLst>
              <a:gd name="adj" fmla="val 5814"/>
            </a:avLst>
          </a:prstGeom>
          <a:solidFill>
            <a:srgbClr val="FFFFFF"/>
          </a:solidFill>
          <a:ln w="12700">
            <a:solidFill>
              <a:srgbClr val="CFD5D9"/>
            </a:solidFill>
            <a:prstDash val="solid"/>
          </a:ln>
        </p:spPr>
      </p:sp>
      <p:sp>
        <p:nvSpPr>
          <p:cNvPr id="21" name="Shape 19"/>
          <p:cNvSpPr/>
          <p:nvPr/>
        </p:nvSpPr>
        <p:spPr>
          <a:xfrm>
            <a:off x="886968" y="4581144"/>
            <a:ext cx="402336" cy="402336"/>
          </a:xfrm>
          <a:prstGeom prst="ellipse">
            <a:avLst/>
          </a:prstGeom>
          <a:solidFill>
            <a:srgbClr val="177E89"/>
          </a:solidFill>
          <a:ln w="12700">
            <a:solidFill>
              <a:srgbClr val="177E89"/>
            </a:solidFill>
            <a:prstDash val="solid"/>
          </a:ln>
        </p:spPr>
      </p:sp>
      <p:sp>
        <p:nvSpPr>
          <p:cNvPr id="22" name="Text 20"/>
          <p:cNvSpPr txBox="1"/>
          <p:nvPr/>
        </p:nvSpPr>
        <p:spPr>
          <a:xfrm>
            <a:off x="88696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44475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accordion</a:t>
            </a:r>
            <a:endParaRPr lang="en-US" sz="1300" dirty="0"/>
          </a:p>
        </p:txBody>
      </p:sp>
      <p:sp>
        <p:nvSpPr>
          <p:cNvPr id="24" name="Text 22"/>
          <p:cNvSpPr txBox="1"/>
          <p:nvPr/>
        </p:nvSpPr>
        <p:spPr>
          <a:xfrm>
            <a:off x="91440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Preguntas que se abren y se cierran. Necesita JavaScript. </a:t>
            </a:r>
            <a:pPr algn="l" indent="0" marL="0">
              <a:buNone/>
            </a:pPr>
            <a:r>
              <a:rPr lang="en-US" sz="1150" b="1" dirty="0">
                <a:solidFill>
                  <a:srgbClr val="33393D"/>
                </a:solidFill>
                <a:latin typeface="Calibri" pitchFamily="34" charset="0"/>
                <a:ea typeface="Calibri" pitchFamily="34" charset="-122"/>
                <a:cs typeface="Calibri" pitchFamily="34" charset="-120"/>
              </a:rPr>
              <a:t>Hoy.</a:t>
            </a:r>
            <a:endParaRPr lang="en-US" sz="1150" dirty="0"/>
          </a:p>
        </p:txBody>
      </p:sp>
      <p:sp>
        <p:nvSpPr>
          <p:cNvPr id="25" name="Shape 23"/>
          <p:cNvSpPr/>
          <p:nvPr/>
        </p:nvSpPr>
        <p:spPr>
          <a:xfrm>
            <a:off x="4343400" y="4352544"/>
            <a:ext cx="3520440" cy="1572768"/>
          </a:xfrm>
          <a:prstGeom prst="roundRect">
            <a:avLst>
              <a:gd name="adj" fmla="val 5814"/>
            </a:avLst>
          </a:prstGeom>
          <a:solidFill>
            <a:srgbClr val="FFFFFF"/>
          </a:solidFill>
          <a:ln w="12700">
            <a:solidFill>
              <a:srgbClr val="CFD5D9"/>
            </a:solidFill>
            <a:prstDash val="solid"/>
          </a:ln>
        </p:spPr>
      </p:sp>
      <p:sp>
        <p:nvSpPr>
          <p:cNvPr id="26" name="Shape 24"/>
          <p:cNvSpPr/>
          <p:nvPr/>
        </p:nvSpPr>
        <p:spPr>
          <a:xfrm>
            <a:off x="4590288" y="4581144"/>
            <a:ext cx="402336" cy="402336"/>
          </a:xfrm>
          <a:prstGeom prst="ellipse">
            <a:avLst/>
          </a:prstGeom>
          <a:solidFill>
            <a:srgbClr val="177E89"/>
          </a:solidFill>
          <a:ln w="12700">
            <a:solidFill>
              <a:srgbClr val="177E89"/>
            </a:solidFill>
            <a:prstDash val="solid"/>
          </a:ln>
        </p:spPr>
      </p:sp>
      <p:sp>
        <p:nvSpPr>
          <p:cNvPr id="27" name="Text 25"/>
          <p:cNvSpPr txBox="1"/>
          <p:nvPr/>
        </p:nvSpPr>
        <p:spPr>
          <a:xfrm>
            <a:off x="459028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14807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modal</a:t>
            </a:r>
            <a:endParaRPr lang="en-US" sz="1300" dirty="0"/>
          </a:p>
        </p:txBody>
      </p:sp>
      <p:sp>
        <p:nvSpPr>
          <p:cNvPr id="29" name="Text 27"/>
          <p:cNvSpPr txBox="1"/>
          <p:nvPr/>
        </p:nvSpPr>
        <p:spPr>
          <a:xfrm>
            <a:off x="461772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Una ventana sobre la página. Necesita JavaScript. </a:t>
            </a:r>
            <a:pPr algn="l" indent="0" marL="0">
              <a:buNone/>
            </a:pPr>
            <a:r>
              <a:rPr lang="en-US" sz="1150" b="1" dirty="0">
                <a:solidFill>
                  <a:srgbClr val="33393D"/>
                </a:solidFill>
                <a:latin typeface="Calibri" pitchFamily="34" charset="0"/>
                <a:ea typeface="Calibri" pitchFamily="34" charset="-122"/>
                <a:cs typeface="Calibri" pitchFamily="34" charset="-120"/>
              </a:rPr>
              <a:t>Hoy.</a:t>
            </a:r>
            <a:endParaRPr lang="en-US" sz="1150" dirty="0"/>
          </a:p>
        </p:txBody>
      </p:sp>
      <p:sp>
        <p:nvSpPr>
          <p:cNvPr id="30" name="Shape 28"/>
          <p:cNvSpPr/>
          <p:nvPr/>
        </p:nvSpPr>
        <p:spPr>
          <a:xfrm>
            <a:off x="8046720" y="4352544"/>
            <a:ext cx="3520440" cy="1572768"/>
          </a:xfrm>
          <a:prstGeom prst="roundRect">
            <a:avLst>
              <a:gd name="adj" fmla="val 5814"/>
            </a:avLst>
          </a:prstGeom>
          <a:solidFill>
            <a:srgbClr val="FFFFFF"/>
          </a:solidFill>
          <a:ln w="12700">
            <a:solidFill>
              <a:srgbClr val="CFD5D9"/>
            </a:solidFill>
            <a:prstDash val="solid"/>
          </a:ln>
        </p:spPr>
      </p:sp>
      <p:sp>
        <p:nvSpPr>
          <p:cNvPr id="31" name="Shape 29"/>
          <p:cNvSpPr/>
          <p:nvPr/>
        </p:nvSpPr>
        <p:spPr>
          <a:xfrm>
            <a:off x="8293608" y="4581144"/>
            <a:ext cx="402336" cy="402336"/>
          </a:xfrm>
          <a:prstGeom prst="ellipse">
            <a:avLst/>
          </a:prstGeom>
          <a:solidFill>
            <a:srgbClr val="177E89"/>
          </a:solidFill>
          <a:ln w="12700">
            <a:solidFill>
              <a:srgbClr val="177E89"/>
            </a:solidFill>
            <a:prstDash val="solid"/>
          </a:ln>
        </p:spPr>
      </p:sp>
      <p:sp>
        <p:nvSpPr>
          <p:cNvPr id="32" name="Text 30"/>
          <p:cNvSpPr txBox="1"/>
          <p:nvPr/>
        </p:nvSpPr>
        <p:spPr>
          <a:xfrm>
            <a:off x="829360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5139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navbar</a:t>
            </a:r>
            <a:endParaRPr lang="en-US" sz="1300" dirty="0"/>
          </a:p>
        </p:txBody>
      </p:sp>
      <p:sp>
        <p:nvSpPr>
          <p:cNvPr id="34" name="Text 32"/>
          <p:cNvSpPr txBox="1"/>
          <p:nvPr/>
        </p:nvSpPr>
        <p:spPr>
          <a:xfrm>
            <a:off x="832104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Un menú que se pliega en el celular. Necesita JavaScript. Ampliación.</a:t>
            </a:r>
            <a:endParaRPr lang="en-US" sz="1150" dirty="0"/>
          </a:p>
        </p:txBody>
      </p:sp>
      <p:sp>
        <p:nvSpPr>
          <p:cNvPr id="35" name="Text 33"/>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Es la misma idea que un componente de Figma (sesión 11): un diseño que se repite con distintos contenidos.</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17 / 47</a:t>
            </a:r>
            <a:endParaRPr lang="en-US" sz="80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02 · COMPONENTES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card: la tarjeta de curso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Reemplaza al article.curso de la sesión 13. La grilla no cambia.</a:t>
            </a:r>
            <a:endParaRPr lang="en-US" sz="1250" dirty="0"/>
          </a:p>
        </p:txBody>
      </p:sp>
      <p:sp>
        <p:nvSpPr>
          <p:cNvPr id="5" name="Shape 3"/>
          <p:cNvSpPr/>
          <p:nvPr/>
        </p:nvSpPr>
        <p:spPr>
          <a:xfrm>
            <a:off x="640080" y="2615184"/>
            <a:ext cx="640080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943600" cy="3200400"/>
          </a:xfrm>
          <a:prstGeom prst="rect">
            <a:avLst/>
          </a:prstGeom>
          <a:noFill/>
          <a:ln/>
        </p:spPr>
        <p:txBody>
          <a:bodyPr wrap="square" lIns="0" tIns="0" rIns="0" bIns="0" rtlCol="0" anchor="t"/>
          <a:lstStyle/>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&lt;article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card h-100 shadow-sm</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card-body</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class="d-flex justify-content-between align-items-center mb-3"&gt;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&lt;i class="bi bi-code-slash fs-2 text-primary" aria-hidden="true"&gt;&lt;/i&gt;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&lt;span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badge rounded-pill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bg-primary-subtle …"&gt;Básico&lt;/span&gt;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&lt;h3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card-title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fs-5"&gt;Diseño Web&lt;/h3&gt;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&lt;p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card-text</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"&gt;HTML5, CSS3, Flexbox…&lt;/p&gt;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card-footer</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d-flex justify-content-between align-items-center"&gt;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&lt;small class="text-body-secondary"&gt;16 sesiones&lt;/small&gt;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&lt;button class="btn btn-primary btn-sm" …&gt;Inscribirme&lt;/button&gt;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&lt;/article&gt;</a:t>
            </a:r>
            <a:endParaRPr lang="en-US" sz="950" dirty="0"/>
          </a:p>
        </p:txBody>
      </p:sp>
      <p:sp>
        <p:nvSpPr>
          <p:cNvPr id="7" name="Shape 5"/>
          <p:cNvSpPr/>
          <p:nvPr/>
        </p:nvSpPr>
        <p:spPr>
          <a:xfrm>
            <a:off x="7274314" y="2615184"/>
            <a:ext cx="4242291" cy="2514600"/>
          </a:xfrm>
          <a:prstGeom prst="roundRect">
            <a:avLst>
              <a:gd name="adj" fmla="val 3636"/>
            </a:avLst>
          </a:prstGeom>
          <a:solidFill>
            <a:srgbClr val="FFFFFF"/>
          </a:solidFill>
          <a:ln w="19050">
            <a:solidFill>
              <a:srgbClr val="CFD5D9"/>
            </a:solidFill>
            <a:prstDash val="solid"/>
          </a:ln>
        </p:spPr>
      </p:sp>
      <p:pic>
        <p:nvPicPr>
          <p:cNvPr id="8" name="Image 0" descr="/tmp/claude-0/-home-user-sesiones-dagner/2613c8c1-437c-54f4-94d9-b62c29473bbd/scratchpad/deck/img/s14-card.png">    </p:cNvPr>
          <p:cNvPicPr>
            <a:picLocks noChangeAspect="1"/>
          </p:cNvPicPr>
          <p:nvPr/>
        </p:nvPicPr>
        <p:blipFill>
          <a:blip r:embed="rId1"/>
          <a:stretch>
            <a:fillRect/>
          </a:stretch>
        </p:blipFill>
        <p:spPr>
          <a:xfrm>
            <a:off x="7347466" y="2688336"/>
            <a:ext cx="4095987" cy="2368296"/>
          </a:xfrm>
          <a:prstGeom prst="rect">
            <a:avLst/>
          </a:prstGeom>
        </p:spPr>
      </p:pic>
      <p:sp>
        <p:nvSpPr>
          <p:cNvPr id="9" name="Text 6"/>
          <p:cNvSpPr txBox="1"/>
          <p:nvPr/>
        </p:nvSpPr>
        <p:spPr>
          <a:xfrm>
            <a:off x="7269480" y="5257800"/>
            <a:ext cx="4297680" cy="914400"/>
          </a:xfrm>
          <a:prstGeom prst="rect">
            <a:avLst/>
          </a:prstGeom>
          <a:noFill/>
          <a:ln/>
        </p:spPr>
        <p:txBody>
          <a:bodyPr wrap="square" lIns="0" tIns="0" rIns="0" bIns="0" rtlCol="0" anchor="t"/>
          <a:lstStyle/>
          <a:p>
            <a:pPr algn="l" marL="177800" indent="-177800">
              <a:spcAft>
                <a:spcPts val="400"/>
              </a:spcAft>
              <a:buSzPct val="100000"/>
              <a:buChar char="•"/>
            </a:pPr>
            <a:r>
              <a:rPr lang="en-US" sz="1100" dirty="0">
                <a:solidFill>
                  <a:srgbClr val="1F2326"/>
                </a:solidFill>
                <a:latin typeface="Consolas" pitchFamily="34" charset="0"/>
                <a:ea typeface="Consolas" pitchFamily="34" charset="-122"/>
                <a:cs typeface="Consolas" pitchFamily="34" charset="-120"/>
              </a:rPr>
              <a:t>h-100</a:t>
            </a:r>
            <a:pPr algn="l" marL="177800" indent="-177800">
              <a:spcAft>
                <a:spcPts val="400"/>
              </a:spcAft>
              <a:buSzPct val="100000"/>
              <a:buChar char="•"/>
            </a:pPr>
            <a:r>
              <a:rPr lang="en-US" sz="1100" dirty="0">
                <a:solidFill>
                  <a:srgbClr val="33393D"/>
                </a:solidFill>
                <a:latin typeface="Calibri" pitchFamily="34" charset="0"/>
                <a:ea typeface="Calibri" pitchFamily="34" charset="-122"/>
                <a:cs typeface="Calibri" pitchFamily="34" charset="-120"/>
              </a:rPr>
              <a:t>: todas las tarjetas de una fila miden lo mismo.</a:t>
            </a:r>
            <a:endParaRPr lang="en-US" sz="1100" dirty="0"/>
          </a:p>
          <a:p>
            <a:pPr algn="l" marL="177800" indent="-177800">
              <a:spcAft>
                <a:spcPts val="400"/>
              </a:spcAft>
              <a:buSzPct val="100000"/>
              <a:buChar char="•"/>
            </a:pPr>
            <a:r>
              <a:rPr lang="en-US" sz="1100" dirty="0">
                <a:solidFill>
                  <a:srgbClr val="1F2326"/>
                </a:solidFill>
                <a:latin typeface="Consolas" pitchFamily="34" charset="0"/>
                <a:ea typeface="Consolas" pitchFamily="34" charset="-122"/>
                <a:cs typeface="Consolas" pitchFamily="34" charset="-120"/>
              </a:rPr>
              <a:t>card-footer</a:t>
            </a:r>
            <a:pPr algn="l" marL="177800" indent="-177800">
              <a:spcAft>
                <a:spcPts val="400"/>
              </a:spcAft>
              <a:buSzPct val="100000"/>
              <a:buChar char="•"/>
            </a:pPr>
            <a:r>
              <a:rPr lang="en-US" sz="1100" dirty="0">
                <a:solidFill>
                  <a:srgbClr val="33393D"/>
                </a:solidFill>
                <a:latin typeface="Calibri" pitchFamily="34" charset="0"/>
                <a:ea typeface="Calibri" pitchFamily="34" charset="-122"/>
                <a:cs typeface="Calibri" pitchFamily="34" charset="-120"/>
              </a:rPr>
              <a:t>: el pie, con una línea encima.</a:t>
            </a:r>
            <a:endParaRPr lang="en-US" sz="1100" dirty="0"/>
          </a:p>
        </p:txBody>
      </p:sp>
      <p:sp>
        <p:nvSpPr>
          <p:cNvPr id="10" name="Text 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18 / 47</a:t>
            </a:r>
            <a:endParaRPr lang="en-US" sz="80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02 · COMPONENTES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Insignias e iconos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Dos niveles, dos estilos de insignia. Los iconos llegan con Bootstrap Icons.</a:t>
            </a:r>
            <a:endParaRPr lang="en-US" sz="1250" dirty="0"/>
          </a:p>
        </p:txBody>
      </p:sp>
      <p:sp>
        <p:nvSpPr>
          <p:cNvPr id="5" name="Shape 3"/>
          <p:cNvSpPr/>
          <p:nvPr/>
        </p:nvSpPr>
        <p:spPr>
          <a:xfrm>
            <a:off x="657843" y="2615184"/>
            <a:ext cx="3530633" cy="2103120"/>
          </a:xfrm>
          <a:prstGeom prst="roundRect">
            <a:avLst>
              <a:gd name="adj" fmla="val 4348"/>
            </a:avLst>
          </a:prstGeom>
          <a:solidFill>
            <a:srgbClr val="FFFFFF"/>
          </a:solidFill>
          <a:ln w="19050">
            <a:solidFill>
              <a:srgbClr val="CFD5D9"/>
            </a:solidFill>
            <a:prstDash val="solid"/>
          </a:ln>
        </p:spPr>
      </p:sp>
      <p:pic>
        <p:nvPicPr>
          <p:cNvPr id="6" name="Image 0" descr="/tmp/claude-0/-home-user-sesiones-dagner/2613c8c1-437c-54f4-94d9-b62c29473bbd/scratchpad/deck/img/s14-card.png">    </p:cNvPr>
          <p:cNvPicPr>
            <a:picLocks noChangeAspect="1"/>
          </p:cNvPicPr>
          <p:nvPr/>
        </p:nvPicPr>
        <p:blipFill>
          <a:blip r:embed="rId1"/>
          <a:stretch>
            <a:fillRect/>
          </a:stretch>
        </p:blipFill>
        <p:spPr>
          <a:xfrm>
            <a:off x="730995" y="2688336"/>
            <a:ext cx="3384329" cy="1956816"/>
          </a:xfrm>
          <a:prstGeom prst="rect">
            <a:avLst/>
          </a:prstGeom>
        </p:spPr>
      </p:pic>
      <p:sp>
        <p:nvSpPr>
          <p:cNvPr id="7" name="Shape 4"/>
          <p:cNvSpPr/>
          <p:nvPr/>
        </p:nvSpPr>
        <p:spPr>
          <a:xfrm>
            <a:off x="4406883" y="2615184"/>
            <a:ext cx="3530633" cy="2103120"/>
          </a:xfrm>
          <a:prstGeom prst="roundRect">
            <a:avLst>
              <a:gd name="adj" fmla="val 4348"/>
            </a:avLst>
          </a:prstGeom>
          <a:solidFill>
            <a:srgbClr val="FFFFFF"/>
          </a:solidFill>
          <a:ln w="19050">
            <a:solidFill>
              <a:srgbClr val="CFD5D9"/>
            </a:solidFill>
            <a:prstDash val="solid"/>
          </a:ln>
        </p:spPr>
      </p:sp>
      <p:pic>
        <p:nvPicPr>
          <p:cNvPr id="8" name="Image 1" descr="/tmp/claude-0/-home-user-sesiones-dagner/2613c8c1-437c-54f4-94d9-b62c29473bbd/scratchpad/deck/img/s14-card-intermedio.png">    </p:cNvPr>
          <p:cNvPicPr>
            <a:picLocks noChangeAspect="1"/>
          </p:cNvPicPr>
          <p:nvPr/>
        </p:nvPicPr>
        <p:blipFill>
          <a:blip r:embed="rId2"/>
          <a:stretch>
            <a:fillRect/>
          </a:stretch>
        </p:blipFill>
        <p:spPr>
          <a:xfrm>
            <a:off x="4480035" y="2688336"/>
            <a:ext cx="3384329" cy="1956816"/>
          </a:xfrm>
          <a:prstGeom prst="rect">
            <a:avLst/>
          </a:prstGeom>
        </p:spPr>
      </p:pic>
      <p:sp>
        <p:nvSpPr>
          <p:cNvPr id="9" name="Shape 5"/>
          <p:cNvSpPr/>
          <p:nvPr/>
        </p:nvSpPr>
        <p:spPr>
          <a:xfrm>
            <a:off x="640080" y="4846320"/>
            <a:ext cx="7315200" cy="1280160"/>
          </a:xfrm>
          <a:prstGeom prst="roundRect">
            <a:avLst>
              <a:gd name="adj" fmla="val 7143"/>
            </a:avLst>
          </a:prstGeom>
          <a:solidFill>
            <a:srgbClr val="2B2B2B"/>
          </a:solidFill>
          <a:ln w="12700">
            <a:solidFill>
              <a:srgbClr val="2B2B2B"/>
            </a:solidFill>
            <a:prstDash val="solid"/>
          </a:ln>
        </p:spPr>
      </p:sp>
      <p:sp>
        <p:nvSpPr>
          <p:cNvPr id="10" name="Text 6"/>
          <p:cNvSpPr txBox="1"/>
          <p:nvPr/>
        </p:nvSpPr>
        <p:spPr>
          <a:xfrm>
            <a:off x="868680" y="5010912"/>
            <a:ext cx="6858000" cy="950976"/>
          </a:xfrm>
          <a:prstGeom prst="rect">
            <a:avLst/>
          </a:prstGeom>
          <a:noFill/>
          <a:ln/>
        </p:spPr>
        <p:txBody>
          <a:bodyPr wrap="square" lIns="0" tIns="0" rIns="0" bIns="0" rtlCol="0" anchor="t"/>
          <a:lstStyle/>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&lt;span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badge rounded-pill bg-primary-subtle text-primary-emphasis</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"&gt;Básico&lt;/span&gt;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&lt;span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badge rounded-pill text-bg-dark</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"&gt;Intermedio&lt;/span&gt;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&lt;i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bi bi-git</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aria-hidden="true"&gt;&lt;/i&gt;   </a:t>
            </a:r>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&lt;!-- decorativo: el lector no lo anuncia --&gt;</a:t>
            </a:r>
            <a:endParaRPr lang="en-US" sz="1000" dirty="0"/>
          </a:p>
        </p:txBody>
      </p:sp>
      <p:sp>
        <p:nvSpPr>
          <p:cNvPr id="11" name="Shape 7"/>
          <p:cNvSpPr/>
          <p:nvPr/>
        </p:nvSpPr>
        <p:spPr>
          <a:xfrm>
            <a:off x="8138160" y="2615184"/>
            <a:ext cx="3429000" cy="3511296"/>
          </a:xfrm>
          <a:prstGeom prst="roundRect">
            <a:avLst>
              <a:gd name="adj" fmla="val 2667"/>
            </a:avLst>
          </a:prstGeom>
          <a:solidFill>
            <a:srgbClr val="F3F5F6"/>
          </a:solidFill>
          <a:ln w="12700">
            <a:solidFill>
              <a:srgbClr val="CFD5D9"/>
            </a:solidFill>
            <a:prstDash val="solid"/>
          </a:ln>
        </p:spPr>
      </p:sp>
      <p:sp>
        <p:nvSpPr>
          <p:cNvPr id="12" name="Text 8"/>
          <p:cNvSpPr txBox="1"/>
          <p:nvPr/>
        </p:nvSpPr>
        <p:spPr>
          <a:xfrm>
            <a:off x="8339328" y="2743200"/>
            <a:ext cx="3063240" cy="292608"/>
          </a:xfrm>
          <a:prstGeom prst="rect">
            <a:avLst/>
          </a:prstGeom>
          <a:noFill/>
          <a:ln/>
        </p:spPr>
        <p:txBody>
          <a:bodyPr wrap="square" lIns="0" tIns="0" rIns="0" bIns="0" rtlCol="0" anchor="ctr"/>
          <a:lstStyle/>
          <a:p>
            <a:pPr algn="l" indent="0" marL="0">
              <a:buNone/>
            </a:pPr>
            <a:r>
              <a:rPr lang="en-US" sz="1250" b="1" dirty="0">
                <a:solidFill>
                  <a:srgbClr val="177E89"/>
                </a:solidFill>
                <a:latin typeface="Calibri" pitchFamily="34" charset="0"/>
                <a:ea typeface="Calibri" pitchFamily="34" charset="-122"/>
                <a:cs typeface="Calibri" pitchFamily="34" charset="-120"/>
              </a:rPr>
              <a:t>Por qué no text-bg-primary</a:t>
            </a:r>
            <a:endParaRPr lang="en-US" sz="1250" dirty="0"/>
          </a:p>
        </p:txBody>
      </p:sp>
      <p:sp>
        <p:nvSpPr>
          <p:cNvPr id="13" name="Text 9"/>
          <p:cNvSpPr txBox="1"/>
          <p:nvPr/>
        </p:nvSpPr>
        <p:spPr>
          <a:xfrm>
            <a:off x="8339328" y="3108960"/>
            <a:ext cx="3063240" cy="1645920"/>
          </a:xfrm>
          <a:prstGeom prst="rect">
            <a:avLst/>
          </a:prstGeom>
          <a:noFill/>
          <a:ln/>
        </p:spPr>
        <p:txBody>
          <a:bodyPr wrap="square" lIns="0" tIns="0" rIns="0" bIns="0" rtlCol="0" anchor="t"/>
          <a:lstStyle/>
          <a:p>
            <a:pPr algn="l" indent="0" marL="0">
              <a:buNone/>
            </a:pPr>
            <a:r>
              <a:rPr lang="en-US" sz="1100" dirty="0">
                <a:solidFill>
                  <a:srgbClr val="33393D"/>
                </a:solidFill>
                <a:latin typeface="Calibri" pitchFamily="34" charset="0"/>
                <a:ea typeface="Calibri" pitchFamily="34" charset="-122"/>
                <a:cs typeface="Calibri" pitchFamily="34" charset="-120"/>
              </a:rPr>
              <a:t>El blanco sobre cian tiene poco contraste para una letra tan pequeña. La versión subtle usa un fondo claro y un texto oscuro: se lee mejor.</a:t>
            </a:r>
            <a:endParaRPr lang="en-US" sz="1100" dirty="0"/>
          </a:p>
        </p:txBody>
      </p:sp>
      <p:sp>
        <p:nvSpPr>
          <p:cNvPr id="14" name="Text 10"/>
          <p:cNvSpPr txBox="1"/>
          <p:nvPr/>
        </p:nvSpPr>
        <p:spPr>
          <a:xfrm>
            <a:off x="8339328" y="4846320"/>
            <a:ext cx="3063240" cy="1097280"/>
          </a:xfrm>
          <a:prstGeom prst="rect">
            <a:avLst/>
          </a:prstGeom>
          <a:noFill/>
          <a:ln/>
        </p:spPr>
        <p:txBody>
          <a:bodyPr wrap="square" lIns="0" tIns="0" rIns="0" bIns="0" rtlCol="0" anchor="t"/>
          <a:lstStyle/>
          <a:p>
            <a:pPr algn="l" indent="0" marL="0">
              <a:buNone/>
            </a:pPr>
            <a:r>
              <a:rPr lang="en-US" sz="1100" dirty="0">
                <a:solidFill>
                  <a:srgbClr val="33393D"/>
                </a:solidFill>
                <a:latin typeface="Calibri" pitchFamily="34" charset="0"/>
                <a:ea typeface="Calibri" pitchFamily="34" charset="-122"/>
                <a:cs typeface="Calibri" pitchFamily="34" charset="-120"/>
              </a:rPr>
              <a:t>Bootstrap Icons: más de 2000 iconos. Busca el nombre en icons.getbootstrap.com.</a:t>
            </a:r>
            <a:endParaRPr lang="en-US" sz="1100" dirty="0"/>
          </a:p>
        </p:txBody>
      </p:sp>
      <p:sp>
        <p:nvSpPr>
          <p:cNvPr id="15" name="Text 11"/>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19 / 47</a:t>
            </a:r>
            <a:endParaRPr lang="en-US" sz="80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02 · COMPONENTES</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alert y la tarjeta de cifras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Un aviso al inicio de la página y las cifras de la sesión 13, ahora como card.</a:t>
            </a:r>
            <a:endParaRPr lang="en-US" sz="1250" dirty="0"/>
          </a:p>
        </p:txBody>
      </p:sp>
      <p:sp>
        <p:nvSpPr>
          <p:cNvPr id="5" name="Shape 3"/>
          <p:cNvSpPr/>
          <p:nvPr/>
        </p:nvSpPr>
        <p:spPr>
          <a:xfrm>
            <a:off x="1121814" y="2615184"/>
            <a:ext cx="9963611" cy="685800"/>
          </a:xfrm>
          <a:prstGeom prst="roundRect">
            <a:avLst>
              <a:gd name="adj" fmla="val 13333"/>
            </a:avLst>
          </a:prstGeom>
          <a:solidFill>
            <a:srgbClr val="FFFFFF"/>
          </a:solidFill>
          <a:ln w="19050">
            <a:solidFill>
              <a:srgbClr val="CFD5D9"/>
            </a:solidFill>
            <a:prstDash val="solid"/>
          </a:ln>
        </p:spPr>
      </p:sp>
      <p:pic>
        <p:nvPicPr>
          <p:cNvPr id="6" name="Image 0" descr="/tmp/claude-0/-home-user-sesiones-dagner/2613c8c1-437c-54f4-94d9-b62c29473bbd/scratchpad/deck/img/s14-alert.png">    </p:cNvPr>
          <p:cNvPicPr>
            <a:picLocks noChangeAspect="1"/>
          </p:cNvPicPr>
          <p:nvPr/>
        </p:nvPicPr>
        <p:blipFill>
          <a:blip r:embed="rId1"/>
          <a:stretch>
            <a:fillRect/>
          </a:stretch>
        </p:blipFill>
        <p:spPr>
          <a:xfrm>
            <a:off x="1194966" y="2688336"/>
            <a:ext cx="9817307" cy="539496"/>
          </a:xfrm>
          <a:prstGeom prst="rect">
            <a:avLst/>
          </a:prstGeom>
        </p:spPr>
      </p:pic>
      <p:sp>
        <p:nvSpPr>
          <p:cNvPr id="7" name="Shape 4"/>
          <p:cNvSpPr/>
          <p:nvPr/>
        </p:nvSpPr>
        <p:spPr>
          <a:xfrm>
            <a:off x="640080" y="3429000"/>
            <a:ext cx="10927080" cy="777240"/>
          </a:xfrm>
          <a:prstGeom prst="roundRect">
            <a:avLst>
              <a:gd name="adj" fmla="val 11765"/>
            </a:avLst>
          </a:prstGeom>
          <a:solidFill>
            <a:srgbClr val="2B2B2B"/>
          </a:solidFill>
          <a:ln w="12700">
            <a:solidFill>
              <a:srgbClr val="2B2B2B"/>
            </a:solidFill>
            <a:prstDash val="solid"/>
          </a:ln>
        </p:spPr>
      </p:sp>
      <p:sp>
        <p:nvSpPr>
          <p:cNvPr id="8" name="Text 5"/>
          <p:cNvSpPr txBox="1"/>
          <p:nvPr/>
        </p:nvSpPr>
        <p:spPr>
          <a:xfrm>
            <a:off x="868680" y="3593592"/>
            <a:ext cx="10469880" cy="448056"/>
          </a:xfrm>
          <a:prstGeom prst="rect">
            <a:avLst/>
          </a:prstGeom>
          <a:noFill/>
          <a:ln/>
        </p:spPr>
        <p:txBody>
          <a:bodyPr wrap="square" lIns="0" tIns="0" rIns="0" bIns="0" rtlCol="0" anchor="ctr"/>
          <a:lstStyle/>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alert alert-primary d-flex align-items-center gap-2</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mb-5"&gt;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&lt;i class="bi bi-calendar-check" aria-hidden="true"&gt;&lt;/i&gt; &lt;span&gt;&lt;strong&gt;Inscripciones abiertas&lt;/strong&gt; para el próximo ciclo.&lt;/span&gt;&lt;/div&gt;</a:t>
            </a:r>
            <a:endParaRPr lang="en-US" sz="1050" dirty="0"/>
          </a:p>
        </p:txBody>
      </p:sp>
      <p:sp>
        <p:nvSpPr>
          <p:cNvPr id="9" name="Shape 6"/>
          <p:cNvSpPr/>
          <p:nvPr/>
        </p:nvSpPr>
        <p:spPr>
          <a:xfrm>
            <a:off x="640080" y="4343400"/>
            <a:ext cx="4572000" cy="1179800"/>
          </a:xfrm>
          <a:prstGeom prst="roundRect">
            <a:avLst>
              <a:gd name="adj" fmla="val 7750"/>
            </a:avLst>
          </a:prstGeom>
          <a:solidFill>
            <a:srgbClr val="FFFFFF"/>
          </a:solidFill>
          <a:ln w="19050">
            <a:solidFill>
              <a:srgbClr val="CFD5D9"/>
            </a:solidFill>
            <a:prstDash val="solid"/>
          </a:ln>
        </p:spPr>
      </p:sp>
      <p:pic>
        <p:nvPicPr>
          <p:cNvPr id="10" name="Image 1" descr="/tmp/claude-0/-home-user-sesiones-dagner/2613c8c1-437c-54f4-94d9-b62c29473bbd/scratchpad/deck/img/s14-cifras.png">    </p:cNvPr>
          <p:cNvPicPr>
            <a:picLocks noChangeAspect="1"/>
          </p:cNvPicPr>
          <p:nvPr/>
        </p:nvPicPr>
        <p:blipFill>
          <a:blip r:embed="rId2"/>
          <a:stretch>
            <a:fillRect/>
          </a:stretch>
        </p:blipFill>
        <p:spPr>
          <a:xfrm>
            <a:off x="713232" y="4416552"/>
            <a:ext cx="4425696" cy="1033496"/>
          </a:xfrm>
          <a:prstGeom prst="rect">
            <a:avLst/>
          </a:prstGeom>
        </p:spPr>
      </p:pic>
      <p:sp>
        <p:nvSpPr>
          <p:cNvPr id="11" name="Shape 7"/>
          <p:cNvSpPr/>
          <p:nvPr/>
        </p:nvSpPr>
        <p:spPr>
          <a:xfrm>
            <a:off x="5394960" y="4343400"/>
            <a:ext cx="6172200" cy="1783080"/>
          </a:xfrm>
          <a:prstGeom prst="roundRect">
            <a:avLst>
              <a:gd name="adj" fmla="val 5128"/>
            </a:avLst>
          </a:prstGeom>
          <a:solidFill>
            <a:srgbClr val="2B2B2B"/>
          </a:solidFill>
          <a:ln w="12700">
            <a:solidFill>
              <a:srgbClr val="2B2B2B"/>
            </a:solidFill>
            <a:prstDash val="solid"/>
          </a:ln>
        </p:spPr>
      </p:sp>
      <p:sp>
        <p:nvSpPr>
          <p:cNvPr id="12" name="Text 8"/>
          <p:cNvSpPr txBox="1"/>
          <p:nvPr/>
        </p:nvSpPr>
        <p:spPr>
          <a:xfrm>
            <a:off x="5623560" y="4507992"/>
            <a:ext cx="5715000" cy="1453896"/>
          </a:xfrm>
          <a:prstGeom prst="rect">
            <a:avLst/>
          </a:prstGeom>
          <a:noFill/>
          <a:ln/>
        </p:spPr>
        <p:txBody>
          <a:bodyPr wrap="square" lIns="0" tIns="0" rIns="0" bIns="0" rtlCol="0" anchor="t"/>
          <a:lstStyle/>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&lt;aside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card border-0 border-top border-4</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border-primary shadow-sm</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 class="card-body"&gt;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 class="row row-cols-3 g-3 text-center"&gt; … &lt;/div&gt;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&lt;/aside&gt;</a:t>
            </a:r>
            <a:endParaRPr lang="en-US" sz="1000" dirty="0"/>
          </a:p>
        </p:txBody>
      </p:sp>
      <p:sp>
        <p:nvSpPr>
          <p:cNvPr id="13" name="Text 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20 / 47</a:t>
            </a:r>
            <a:endParaRPr lang="en-US" sz="80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spTree>
      <p:nvGrpSpPr>
        <p:cNvPr id="1" name=""/>
        <p:cNvGrpSpPr/>
        <p:nvPr/>
      </p:nvGrpSpPr>
      <p:grpSpPr>
        <a:xfrm>
          <a:off x="0" y="0"/>
          <a:ext cx="0" cy="0"/>
          <a:chOff x="0" y="0"/>
          <a:chExt cx="0" cy="0"/>
        </a:xfrm>
      </p:grpSpPr>
      <p:sp>
        <p:nvSpPr>
          <p:cNvPr id="2" name="Shape 0"/>
          <p:cNvSpPr/>
          <p:nvPr/>
        </p:nvSpPr>
        <p:spPr>
          <a:xfrm>
            <a:off x="-548640" y="1517904"/>
            <a:ext cx="51206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0624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Componentes con JavaScript</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03</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algn="l" indent="0" marL="0">
              <a:buNone/>
            </a:pPr>
            <a:r>
              <a:rPr lang="en-US" sz="1050" b="1"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El JavaScript de Bootstrap</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El acordeón</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La ventana modal</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Formularios</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La barra de navegación</a:t>
            </a:r>
            <a:endParaRPr lang="en-US" sz="1200" dirty="0"/>
          </a:p>
        </p:txBody>
      </p:sp>
      <p:sp>
        <p:nvSpPr>
          <p:cNvPr id="21" name="Shape 19"/>
          <p:cNvSpPr/>
          <p:nvPr/>
        </p:nvSpPr>
        <p:spPr>
          <a:xfrm>
            <a:off x="6766560" y="1234440"/>
            <a:ext cx="5166360" cy="5257800"/>
          </a:xfrm>
          <a:prstGeom prst="roundRect">
            <a:avLst>
              <a:gd name="adj" fmla="val 1770"/>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tretch>
            <a:fillRect/>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21 / 47</a:t>
            </a:r>
            <a:endParaRPr lang="en-US" sz="80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03 · JAVASCRIPT</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El JavaScript de Bootstrap</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Se enlaza una vez, al final del body. Después, los componentes se activan con atributos data-bs-*.</a:t>
            </a:r>
            <a:endParaRPr lang="en-US" sz="1250" dirty="0"/>
          </a:p>
        </p:txBody>
      </p:sp>
      <p:sp>
        <p:nvSpPr>
          <p:cNvPr id="5" name="Shape 3"/>
          <p:cNvSpPr/>
          <p:nvPr/>
        </p:nvSpPr>
        <p:spPr>
          <a:xfrm>
            <a:off x="640080" y="2615184"/>
            <a:ext cx="10927080" cy="1143000"/>
          </a:xfrm>
          <a:prstGeom prst="roundRect">
            <a:avLst>
              <a:gd name="adj" fmla="val 8000"/>
            </a:avLst>
          </a:prstGeom>
          <a:solidFill>
            <a:srgbClr val="2B2B2B"/>
          </a:solidFill>
          <a:ln w="12700">
            <a:solidFill>
              <a:srgbClr val="2B2B2B"/>
            </a:solidFill>
            <a:prstDash val="solid"/>
          </a:ln>
        </p:spPr>
      </p:sp>
      <p:sp>
        <p:nvSpPr>
          <p:cNvPr id="6" name="Text 4"/>
          <p:cNvSpPr txBox="1"/>
          <p:nvPr/>
        </p:nvSpPr>
        <p:spPr>
          <a:xfrm>
            <a:off x="868680" y="2779776"/>
            <a:ext cx="10469880" cy="813816"/>
          </a:xfrm>
          <a:prstGeom prst="rect">
            <a:avLst/>
          </a:prstGeom>
          <a:noFill/>
          <a:ln/>
        </p:spPr>
        <p:txBody>
          <a:bodyPr wrap="square" lIns="0" tIns="0" rIns="0" bIns="0" rtlCol="0" anchor="t"/>
          <a:lstStyle/>
          <a:p>
            <a:pPr indent="0" marL="0">
              <a:lnSpc>
                <a:spcPct val="120000"/>
              </a:lnSpc>
              <a:buNone/>
            </a:pPr>
            <a:r>
              <a:rPr lang="en-US" sz="1150" dirty="0">
                <a:solidFill>
                  <a:srgbClr val="E5E7EB"/>
                </a:solidFill>
                <a:latin typeface="Consolas" pitchFamily="34" charset="0"/>
                <a:ea typeface="Consolas" pitchFamily="34" charset="-122"/>
                <a:cs typeface="Consolas" pitchFamily="34" charset="-120"/>
              </a:rPr>
              <a:t>&lt;script src="</a:t>
            </a:r>
            <a:pPr indent="0" marL="0">
              <a:lnSpc>
                <a:spcPct val="120000"/>
              </a:lnSpc>
              <a:buNone/>
            </a:pPr>
            <a:r>
              <a:rPr lang="en-US" sz="1150" b="1" dirty="0">
                <a:solidFill>
                  <a:srgbClr val="8FE1E8"/>
                </a:solidFill>
                <a:latin typeface="Consolas" pitchFamily="34" charset="0"/>
                <a:ea typeface="Consolas" pitchFamily="34" charset="-122"/>
                <a:cs typeface="Consolas" pitchFamily="34" charset="-120"/>
              </a:rPr>
              <a:t>https://cdn.jsdelivr.net/npm/bootstrap@5.3.8/dist/js/bootstrap.bundle.min.js</a:t>
            </a:r>
            <a:pPr indent="0" marL="0">
              <a:lnSpc>
                <a:spcPct val="120000"/>
              </a:lnSpc>
              <a:buNone/>
            </a:pPr>
            <a:r>
              <a:rPr lang="en-US" sz="1150" dirty="0">
                <a:solidFill>
                  <a:srgbClr val="E5E7EB"/>
                </a:solidFill>
                <a:latin typeface="Consolas" pitchFamily="34" charset="0"/>
                <a:ea typeface="Consolas" pitchFamily="34" charset="-122"/>
                <a:cs typeface="Consolas" pitchFamily="34" charset="-120"/>
              </a:rPr>
              <a:t>"</a:t>
            </a:r>
            <a:endParaRPr lang="en-US" sz="1150" dirty="0"/>
          </a:p>
          <a:p>
            <a:pPr indent="0" marL="0">
              <a:lnSpc>
                <a:spcPct val="120000"/>
              </a:lnSpc>
              <a:buNone/>
            </a:pPr>
            <a:r>
              <a:rPr lang="en-US" sz="1150" dirty="0">
                <a:solidFill>
                  <a:srgbClr val="E5E7EB"/>
                </a:solidFill>
                <a:latin typeface="Consolas" pitchFamily="34" charset="0"/>
                <a:ea typeface="Consolas" pitchFamily="34" charset="-122"/>
                <a:cs typeface="Consolas" pitchFamily="34" charset="-120"/>
              </a:rPr>
              <a:t>        integrity="sha384-FKyoEForCGlyvwx9Hj09JcYn3nv7wiPVlz7YYwJrWVcXK/BmnVDxM+D2scQbITxI"</a:t>
            </a:r>
            <a:endParaRPr lang="en-US" sz="1150" dirty="0"/>
          </a:p>
          <a:p>
            <a:pPr indent="0" marL="0">
              <a:lnSpc>
                <a:spcPct val="120000"/>
              </a:lnSpc>
              <a:buNone/>
            </a:pPr>
            <a:r>
              <a:rPr lang="en-US" sz="1150" dirty="0">
                <a:solidFill>
                  <a:srgbClr val="E5E7EB"/>
                </a:solidFill>
                <a:latin typeface="Consolas" pitchFamily="34" charset="0"/>
                <a:ea typeface="Consolas" pitchFamily="34" charset="-122"/>
                <a:cs typeface="Consolas" pitchFamily="34" charset="-120"/>
              </a:rPr>
              <a:t>        crossorigin="anonymous"&gt;&lt;/script&gt;</a:t>
            </a:r>
            <a:endParaRPr lang="en-US" sz="1150" dirty="0"/>
          </a:p>
        </p:txBody>
      </p:sp>
      <p:sp>
        <p:nvSpPr>
          <p:cNvPr id="7" name="Shape 5"/>
          <p:cNvSpPr/>
          <p:nvPr/>
        </p:nvSpPr>
        <p:spPr>
          <a:xfrm>
            <a:off x="640080" y="3931920"/>
            <a:ext cx="10927080" cy="475488"/>
          </a:xfrm>
          <a:prstGeom prst="roundRect">
            <a:avLst>
              <a:gd name="adj" fmla="val 19231"/>
            </a:avLst>
          </a:prstGeom>
          <a:solidFill>
            <a:srgbClr val="FFFFFF"/>
          </a:solidFill>
          <a:ln w="12700">
            <a:solidFill>
              <a:srgbClr val="CFD5D9"/>
            </a:solidFill>
            <a:prstDash val="solid"/>
          </a:ln>
        </p:spPr>
      </p:sp>
      <p:sp>
        <p:nvSpPr>
          <p:cNvPr id="8" name="Text 6"/>
          <p:cNvSpPr txBox="1"/>
          <p:nvPr/>
        </p:nvSpPr>
        <p:spPr>
          <a:xfrm>
            <a:off x="914400" y="3931920"/>
            <a:ext cx="219456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bundle</a:t>
            </a:r>
            <a:endParaRPr lang="en-US" sz="1200" dirty="0"/>
          </a:p>
        </p:txBody>
      </p:sp>
      <p:sp>
        <p:nvSpPr>
          <p:cNvPr id="9" name="Text 7"/>
          <p:cNvSpPr txBox="1"/>
          <p:nvPr/>
        </p:nvSpPr>
        <p:spPr>
          <a:xfrm>
            <a:off x="3108960" y="3931920"/>
            <a:ext cx="5120640" cy="47548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Incluye Popper, la librería que coloca menús y globos de ayuda.</a:t>
            </a:r>
            <a:endParaRPr lang="en-US" sz="1150" dirty="0"/>
          </a:p>
        </p:txBody>
      </p:sp>
      <p:sp>
        <p:nvSpPr>
          <p:cNvPr id="10" name="Text 8"/>
          <p:cNvSpPr txBox="1"/>
          <p:nvPr/>
        </p:nvSpPr>
        <p:spPr>
          <a:xfrm>
            <a:off x="8229600" y="3931920"/>
            <a:ext cx="320040" cy="475488"/>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1" name="Text 9"/>
          <p:cNvSpPr txBox="1"/>
          <p:nvPr/>
        </p:nvSpPr>
        <p:spPr>
          <a:xfrm>
            <a:off x="8595360" y="3931920"/>
            <a:ext cx="2606040" cy="47548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Un solo archivo</a:t>
            </a:r>
            <a:endParaRPr lang="en-US" sz="1100" dirty="0"/>
          </a:p>
        </p:txBody>
      </p:sp>
      <p:sp>
        <p:nvSpPr>
          <p:cNvPr id="12" name="Shape 10"/>
          <p:cNvSpPr/>
          <p:nvPr/>
        </p:nvSpPr>
        <p:spPr>
          <a:xfrm>
            <a:off x="640080" y="4471416"/>
            <a:ext cx="1092708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914400" y="4471416"/>
            <a:ext cx="219456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al final del body</a:t>
            </a:r>
            <a:endParaRPr lang="en-US" sz="1200" dirty="0"/>
          </a:p>
        </p:txBody>
      </p:sp>
      <p:sp>
        <p:nvSpPr>
          <p:cNvPr id="14" name="Text 12"/>
          <p:cNvSpPr txBox="1"/>
          <p:nvPr/>
        </p:nvSpPr>
        <p:spPr>
          <a:xfrm>
            <a:off x="3108960" y="4471416"/>
            <a:ext cx="5120640" cy="47548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Cuando se ejecuta, el HTML ya existe.</a:t>
            </a:r>
            <a:endParaRPr lang="en-US" sz="1150" dirty="0"/>
          </a:p>
        </p:txBody>
      </p:sp>
      <p:sp>
        <p:nvSpPr>
          <p:cNvPr id="15" name="Text 13"/>
          <p:cNvSpPr txBox="1"/>
          <p:nvPr/>
        </p:nvSpPr>
        <p:spPr>
          <a:xfrm>
            <a:off x="8229600" y="4471416"/>
            <a:ext cx="320040" cy="475488"/>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16" name="Text 14"/>
          <p:cNvSpPr txBox="1"/>
          <p:nvPr/>
        </p:nvSpPr>
        <p:spPr>
          <a:xfrm>
            <a:off x="8595360" y="4471416"/>
            <a:ext cx="2606040" cy="47548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Como el reproductor (sesión 07)</a:t>
            </a:r>
            <a:endParaRPr lang="en-US" sz="1100" dirty="0"/>
          </a:p>
        </p:txBody>
      </p:sp>
      <p:sp>
        <p:nvSpPr>
          <p:cNvPr id="17" name="Shape 15"/>
          <p:cNvSpPr/>
          <p:nvPr/>
        </p:nvSpPr>
        <p:spPr>
          <a:xfrm>
            <a:off x="640080" y="5010912"/>
            <a:ext cx="10927080" cy="475488"/>
          </a:xfrm>
          <a:prstGeom prst="roundRect">
            <a:avLst>
              <a:gd name="adj" fmla="val 19231"/>
            </a:avLst>
          </a:prstGeom>
          <a:solidFill>
            <a:srgbClr val="FFFFFF"/>
          </a:solidFill>
          <a:ln w="12700">
            <a:solidFill>
              <a:srgbClr val="CFD5D9"/>
            </a:solidFill>
            <a:prstDash val="solid"/>
          </a:ln>
        </p:spPr>
      </p:sp>
      <p:sp>
        <p:nvSpPr>
          <p:cNvPr id="18" name="Text 16"/>
          <p:cNvSpPr txBox="1"/>
          <p:nvPr/>
        </p:nvSpPr>
        <p:spPr>
          <a:xfrm>
            <a:off x="914400" y="5010912"/>
            <a:ext cx="219456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data-bs-toggle</a:t>
            </a:r>
            <a:endParaRPr lang="en-US" sz="1200" dirty="0"/>
          </a:p>
        </p:txBody>
      </p:sp>
      <p:sp>
        <p:nvSpPr>
          <p:cNvPr id="19" name="Text 17"/>
          <p:cNvSpPr txBox="1"/>
          <p:nvPr/>
        </p:nvSpPr>
        <p:spPr>
          <a:xfrm>
            <a:off x="3108960" y="5010912"/>
            <a:ext cx="5120640" cy="47548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Qué hace el botón: </a:t>
            </a:r>
            <a:pPr algn="l" indent="0" marL="0">
              <a:buNone/>
            </a:pPr>
            <a:r>
              <a:rPr lang="en-US" sz="1150" dirty="0">
                <a:solidFill>
                  <a:srgbClr val="1F2326"/>
                </a:solidFill>
                <a:latin typeface="Consolas" pitchFamily="34" charset="0"/>
                <a:ea typeface="Consolas" pitchFamily="34" charset="-122"/>
                <a:cs typeface="Consolas" pitchFamily="34" charset="-120"/>
              </a:rPr>
              <a:t>collapse</a:t>
            </a:r>
            <a:pPr algn="l" indent="0" marL="0">
              <a:buNone/>
            </a:pPr>
            <a:r>
              <a:rPr lang="en-US" sz="1150" dirty="0">
                <a:solidFill>
                  <a:srgbClr val="33393D"/>
                </a:solidFill>
                <a:latin typeface="Calibri" pitchFamily="34" charset="0"/>
                <a:ea typeface="Calibri" pitchFamily="34" charset="-122"/>
                <a:cs typeface="Calibri" pitchFamily="34" charset="-120"/>
              </a:rPr>
              <a:t>, </a:t>
            </a:r>
            <a:pPr algn="l" indent="0" marL="0">
              <a:buNone/>
            </a:pPr>
            <a:r>
              <a:rPr lang="en-US" sz="1150" dirty="0">
                <a:solidFill>
                  <a:srgbClr val="1F2326"/>
                </a:solidFill>
                <a:latin typeface="Consolas" pitchFamily="34" charset="0"/>
                <a:ea typeface="Consolas" pitchFamily="34" charset="-122"/>
                <a:cs typeface="Consolas" pitchFamily="34" charset="-120"/>
              </a:rPr>
              <a:t>modal</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20" name="Text 18"/>
          <p:cNvSpPr txBox="1"/>
          <p:nvPr/>
        </p:nvSpPr>
        <p:spPr>
          <a:xfrm>
            <a:off x="8229600" y="5010912"/>
            <a:ext cx="320040" cy="475488"/>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1" name="Text 19"/>
          <p:cNvSpPr txBox="1"/>
          <p:nvPr/>
        </p:nvSpPr>
        <p:spPr>
          <a:xfrm>
            <a:off x="8595360" y="5010912"/>
            <a:ext cx="2606040" cy="47548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Sin escribir JavaScript</a:t>
            </a:r>
            <a:endParaRPr lang="en-US" sz="1100" dirty="0"/>
          </a:p>
        </p:txBody>
      </p:sp>
      <p:sp>
        <p:nvSpPr>
          <p:cNvPr id="22" name="Shape 20"/>
          <p:cNvSpPr/>
          <p:nvPr/>
        </p:nvSpPr>
        <p:spPr>
          <a:xfrm>
            <a:off x="640080" y="5550408"/>
            <a:ext cx="10927080" cy="475488"/>
          </a:xfrm>
          <a:prstGeom prst="roundRect">
            <a:avLst>
              <a:gd name="adj" fmla="val 19231"/>
            </a:avLst>
          </a:prstGeom>
          <a:solidFill>
            <a:srgbClr val="FFFFFF"/>
          </a:solidFill>
          <a:ln w="12700">
            <a:solidFill>
              <a:srgbClr val="CFD5D9"/>
            </a:solidFill>
            <a:prstDash val="solid"/>
          </a:ln>
        </p:spPr>
      </p:sp>
      <p:sp>
        <p:nvSpPr>
          <p:cNvPr id="23" name="Text 21"/>
          <p:cNvSpPr txBox="1"/>
          <p:nvPr/>
        </p:nvSpPr>
        <p:spPr>
          <a:xfrm>
            <a:off x="914400" y="5550408"/>
            <a:ext cx="219456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onsolas" pitchFamily="34" charset="0"/>
                <a:ea typeface="Consolas" pitchFamily="34" charset="-122"/>
                <a:cs typeface="Consolas" pitchFamily="34" charset="-120"/>
              </a:rPr>
              <a:t>data-bs-target</a:t>
            </a:r>
            <a:endParaRPr lang="en-US" sz="1200" dirty="0"/>
          </a:p>
        </p:txBody>
      </p:sp>
      <p:sp>
        <p:nvSpPr>
          <p:cNvPr id="24" name="Text 22"/>
          <p:cNvSpPr txBox="1"/>
          <p:nvPr/>
        </p:nvSpPr>
        <p:spPr>
          <a:xfrm>
            <a:off x="3108960" y="5550408"/>
            <a:ext cx="5120640" cy="475488"/>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Sobre qué elemento: su </a:t>
            </a:r>
            <a:pPr algn="l" indent="0" marL="0">
              <a:buNone/>
            </a:pPr>
            <a:r>
              <a:rPr lang="en-US" sz="1150" dirty="0">
                <a:solidFill>
                  <a:srgbClr val="1F2326"/>
                </a:solidFill>
                <a:latin typeface="Consolas" pitchFamily="34" charset="0"/>
                <a:ea typeface="Consolas" pitchFamily="34" charset="-122"/>
                <a:cs typeface="Consolas" pitchFamily="34" charset="-120"/>
              </a:rPr>
              <a:t>id</a:t>
            </a:r>
            <a:pPr algn="l" indent="0" marL="0">
              <a:buNone/>
            </a:pPr>
            <a:r>
              <a:rPr lang="en-US" sz="1150" dirty="0">
                <a:solidFill>
                  <a:srgbClr val="33393D"/>
                </a:solidFill>
                <a:latin typeface="Calibri" pitchFamily="34" charset="0"/>
                <a:ea typeface="Calibri" pitchFamily="34" charset="-122"/>
                <a:cs typeface="Calibri" pitchFamily="34" charset="-120"/>
              </a:rPr>
              <a:t>, con </a:t>
            </a:r>
            <a:pPr algn="l" indent="0" marL="0">
              <a:buNone/>
            </a:pPr>
            <a:r>
              <a:rPr lang="en-US" sz="1150" dirty="0">
                <a:solidFill>
                  <a:srgbClr val="1F2326"/>
                </a:solidFill>
                <a:latin typeface="Consolas" pitchFamily="34" charset="0"/>
                <a:ea typeface="Consolas" pitchFamily="34" charset="-122"/>
                <a:cs typeface="Consolas" pitchFamily="34" charset="-120"/>
              </a:rPr>
              <a:t>#</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25" name="Text 23"/>
          <p:cNvSpPr txBox="1"/>
          <p:nvPr/>
        </p:nvSpPr>
        <p:spPr>
          <a:xfrm>
            <a:off x="8229600" y="5550408"/>
            <a:ext cx="320040" cy="475488"/>
          </a:xfrm>
          <a:prstGeom prst="rect">
            <a:avLst/>
          </a:prstGeom>
          <a:noFill/>
          <a:ln/>
        </p:spPr>
        <p:txBody>
          <a:bodyPr wrap="square" lIns="0" tIns="0" rIns="0" bIns="0" rtlCol="0" anchor="ctr"/>
          <a:lstStyle/>
          <a:p>
            <a:pPr algn="ctr" indent="0" marL="0">
              <a:buNone/>
            </a:pPr>
            <a:r>
              <a:rPr lang="en-US" sz="1200" dirty="0">
                <a:solidFill>
                  <a:srgbClr val="9AA2A7"/>
                </a:solidFill>
                <a:latin typeface="Calibri" pitchFamily="34" charset="0"/>
                <a:ea typeface="Calibri" pitchFamily="34" charset="-122"/>
                <a:cs typeface="Calibri" pitchFamily="34" charset="-120"/>
              </a:rPr>
              <a:t>→</a:t>
            </a:r>
            <a:endParaRPr lang="en-US" sz="1200" dirty="0"/>
          </a:p>
        </p:txBody>
      </p:sp>
      <p:sp>
        <p:nvSpPr>
          <p:cNvPr id="26" name="Text 24"/>
          <p:cNvSpPr txBox="1"/>
          <p:nvPr/>
        </p:nvSpPr>
        <p:spPr>
          <a:xfrm>
            <a:off x="8595360" y="5550408"/>
            <a:ext cx="2606040" cy="475488"/>
          </a:xfrm>
          <a:prstGeom prst="rect">
            <a:avLst/>
          </a:prstGeom>
          <a:noFill/>
          <a:ln/>
        </p:spPr>
        <p:txBody>
          <a:bodyPr wrap="square" lIns="0" tIns="0" rIns="0" bIns="0" rtlCol="0" anchor="ctr"/>
          <a:lstStyle/>
          <a:p>
            <a:pPr algn="l" indent="0" marL="0">
              <a:buNone/>
            </a:pPr>
            <a:r>
              <a:rPr lang="en-US" sz="1100" dirty="0">
                <a:solidFill>
                  <a:srgbClr val="33393D"/>
                </a:solidFill>
                <a:latin typeface="Consolas" pitchFamily="34" charset="0"/>
                <a:ea typeface="Consolas" pitchFamily="34" charset="-122"/>
                <a:cs typeface="Consolas" pitchFamily="34" charset="-120"/>
              </a:rPr>
              <a:t>#faq-1</a:t>
            </a:r>
            <a:pPr algn="l" indent="0" marL="0">
              <a:buNone/>
            </a:pPr>
            <a:r>
              <a:rPr lang="en-US" sz="1100" dirty="0">
                <a:solidFill>
                  <a:srgbClr val="33393D"/>
                </a:solidFill>
                <a:latin typeface="Calibri" pitchFamily="34" charset="0"/>
                <a:ea typeface="Calibri" pitchFamily="34" charset="-122"/>
                <a:cs typeface="Calibri" pitchFamily="34" charset="-120"/>
              </a:rPr>
              <a:t>, </a:t>
            </a:r>
            <a:pPr algn="l" indent="0" marL="0">
              <a:buNone/>
            </a:pPr>
            <a:r>
              <a:rPr lang="en-US" sz="1100" dirty="0">
                <a:solidFill>
                  <a:srgbClr val="33393D"/>
                </a:solidFill>
                <a:latin typeface="Consolas" pitchFamily="34" charset="0"/>
                <a:ea typeface="Consolas" pitchFamily="34" charset="-122"/>
                <a:cs typeface="Consolas" pitchFamily="34" charset="-120"/>
              </a:rPr>
              <a:t>#inscripcion</a:t>
            </a:r>
            <a:endParaRPr lang="en-US" sz="1100" dirty="0"/>
          </a:p>
        </p:txBody>
      </p:sp>
      <p:sp>
        <p:nvSpPr>
          <p:cNvPr id="27" name="Text 2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22 / 47</a:t>
            </a:r>
            <a:endParaRPr lang="en-US" sz="80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03 · JAVASCRIPT</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El acordeón de preguntas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Una respuesta abierta a la vez. Bootstrap actualiza aria-expanded por ti.</a:t>
            </a:r>
            <a:endParaRPr lang="en-US" sz="1250" dirty="0"/>
          </a:p>
        </p:txBody>
      </p:sp>
      <p:sp>
        <p:nvSpPr>
          <p:cNvPr id="5" name="Shape 3"/>
          <p:cNvSpPr/>
          <p:nvPr/>
        </p:nvSpPr>
        <p:spPr>
          <a:xfrm>
            <a:off x="640080" y="2615184"/>
            <a:ext cx="630936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852160" cy="3200400"/>
          </a:xfrm>
          <a:prstGeom prst="rect">
            <a:avLst/>
          </a:prstGeom>
          <a:noFill/>
          <a:ln/>
        </p:spPr>
        <p:txBody>
          <a:bodyPr wrap="square" lIns="0" tIns="0" rIns="0" bIns="0" rtlCol="0" anchor="t"/>
          <a:lstStyle/>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accordion</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id="faq"&gt;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accordion-item</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&lt;h3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accordion-header</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&lt;button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accordion-button</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type="button"</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data-bs-toggle="</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collapse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data-bs-target="</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#faq-1</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aria-expanded="true" aria-controls="faq-1"&gt;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¿Necesito saber programar?</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&lt;/button&gt;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&lt;/h3&gt;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id="faq-1"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accordion-collapse collapse show</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data-bs-parent="</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#faq</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class="accordion-body"&gt;No para los cursos…&lt;/div&gt;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&lt;/div&gt;</a:t>
            </a:r>
            <a:endParaRPr lang="en-US" sz="950" dirty="0"/>
          </a:p>
        </p:txBody>
      </p:sp>
      <p:sp>
        <p:nvSpPr>
          <p:cNvPr id="7" name="Shape 5"/>
          <p:cNvSpPr/>
          <p:nvPr/>
        </p:nvSpPr>
        <p:spPr>
          <a:xfrm>
            <a:off x="7132320" y="2615184"/>
            <a:ext cx="4434840" cy="1687575"/>
          </a:xfrm>
          <a:prstGeom prst="roundRect">
            <a:avLst>
              <a:gd name="adj" fmla="val 5418"/>
            </a:avLst>
          </a:prstGeom>
          <a:solidFill>
            <a:srgbClr val="FFFFFF"/>
          </a:solidFill>
          <a:ln w="19050">
            <a:solidFill>
              <a:srgbClr val="CFD5D9"/>
            </a:solidFill>
            <a:prstDash val="solid"/>
          </a:ln>
        </p:spPr>
      </p:sp>
      <p:pic>
        <p:nvPicPr>
          <p:cNvPr id="8" name="Image 0" descr="/tmp/claude-0/-home-user-sesiones-dagner/2613c8c1-437c-54f4-94d9-b62c29473bbd/scratchpad/deck/img/s14-faq.png">    </p:cNvPr>
          <p:cNvPicPr>
            <a:picLocks noChangeAspect="1"/>
          </p:cNvPicPr>
          <p:nvPr/>
        </p:nvPicPr>
        <p:blipFill>
          <a:blip r:embed="rId1"/>
          <a:stretch>
            <a:fillRect/>
          </a:stretch>
        </p:blipFill>
        <p:spPr>
          <a:xfrm>
            <a:off x="7205472" y="2688336"/>
            <a:ext cx="4288536" cy="1541271"/>
          </a:xfrm>
          <a:prstGeom prst="rect">
            <a:avLst/>
          </a:prstGeom>
        </p:spPr>
      </p:pic>
      <p:sp>
        <p:nvSpPr>
          <p:cNvPr id="9" name="Text 6"/>
          <p:cNvSpPr txBox="1"/>
          <p:nvPr/>
        </p:nvSpPr>
        <p:spPr>
          <a:xfrm>
            <a:off x="7178040" y="5120640"/>
            <a:ext cx="4389120" cy="1005840"/>
          </a:xfrm>
          <a:prstGeom prst="rect">
            <a:avLst/>
          </a:prstGeom>
          <a:noFill/>
          <a:ln/>
        </p:spPr>
        <p:txBody>
          <a:bodyPr wrap="square" lIns="0" tIns="0" rIns="0" bIns="0" rtlCol="0" anchor="t"/>
          <a:lstStyle/>
          <a:p>
            <a:pPr algn="l" marL="177800" indent="-177800">
              <a:spcAft>
                <a:spcPts val="400"/>
              </a:spcAft>
              <a:buSzPct val="100000"/>
              <a:buChar char="•"/>
            </a:pPr>
            <a:r>
              <a:rPr lang="en-US" sz="1100" dirty="0">
                <a:solidFill>
                  <a:srgbClr val="1F2326"/>
                </a:solidFill>
                <a:latin typeface="Consolas" pitchFamily="34" charset="0"/>
                <a:ea typeface="Consolas" pitchFamily="34" charset="-122"/>
                <a:cs typeface="Consolas" pitchFamily="34" charset="-120"/>
              </a:rPr>
              <a:t>show</a:t>
            </a:r>
            <a:pPr algn="l" marL="177800" indent="-177800">
              <a:spcAft>
                <a:spcPts val="400"/>
              </a:spcAft>
              <a:buSzPct val="100000"/>
              <a:buChar char="•"/>
            </a:pPr>
            <a:r>
              <a:rPr lang="en-US" sz="1100" dirty="0">
                <a:solidFill>
                  <a:srgbClr val="33393D"/>
                </a:solidFill>
                <a:latin typeface="Calibri" pitchFamily="34" charset="0"/>
                <a:ea typeface="Calibri" pitchFamily="34" charset="-122"/>
                <a:cs typeface="Calibri" pitchFamily="34" charset="-120"/>
              </a:rPr>
              <a:t>: abierta al cargar.</a:t>
            </a:r>
            <a:endParaRPr lang="en-US" sz="1100" dirty="0"/>
          </a:p>
          <a:p>
            <a:pPr algn="l" marL="177800" indent="-177800">
              <a:spcAft>
                <a:spcPts val="400"/>
              </a:spcAft>
              <a:buSzPct val="100000"/>
              <a:buChar char="•"/>
            </a:pPr>
            <a:r>
              <a:rPr lang="en-US" sz="1100" dirty="0">
                <a:solidFill>
                  <a:srgbClr val="1F2326"/>
                </a:solidFill>
                <a:latin typeface="Consolas" pitchFamily="34" charset="0"/>
                <a:ea typeface="Consolas" pitchFamily="34" charset="-122"/>
                <a:cs typeface="Consolas" pitchFamily="34" charset="-120"/>
              </a:rPr>
              <a:t>data-bs-parent</a:t>
            </a:r>
            <a:pPr algn="l" marL="177800" indent="-177800">
              <a:spcAft>
                <a:spcPts val="400"/>
              </a:spcAft>
              <a:buSzPct val="100000"/>
              <a:buChar char="•"/>
            </a:pPr>
            <a:r>
              <a:rPr lang="en-US" sz="1100" dirty="0">
                <a:solidFill>
                  <a:srgbClr val="33393D"/>
                </a:solidFill>
                <a:latin typeface="Calibri" pitchFamily="34" charset="0"/>
                <a:ea typeface="Calibri" pitchFamily="34" charset="-122"/>
                <a:cs typeface="Calibri" pitchFamily="34" charset="-120"/>
              </a:rPr>
              <a:t>: al abrir una, cierra las demás.</a:t>
            </a:r>
            <a:endParaRPr lang="en-US" sz="1100" dirty="0"/>
          </a:p>
        </p:txBody>
      </p:sp>
      <p:sp>
        <p:nvSpPr>
          <p:cNvPr id="10" name="Text 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23 / 47</a:t>
            </a:r>
            <a:endParaRPr lang="en-US" sz="80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03 · JAVASCRIPT</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La ventana modal de inscripción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Va al final del body, oculta. Cada botón «Inscribirme» la abre.</a:t>
            </a:r>
            <a:endParaRPr lang="en-US" sz="1250" dirty="0"/>
          </a:p>
        </p:txBody>
      </p:sp>
      <p:sp>
        <p:nvSpPr>
          <p:cNvPr id="5" name="Shape 3"/>
          <p:cNvSpPr/>
          <p:nvPr/>
        </p:nvSpPr>
        <p:spPr>
          <a:xfrm>
            <a:off x="640080" y="2615184"/>
            <a:ext cx="566928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212080" cy="3200400"/>
          </a:xfrm>
          <a:prstGeom prst="rect">
            <a:avLst/>
          </a:prstGeom>
          <a:noFill/>
          <a:ln/>
        </p:spPr>
        <p:txBody>
          <a:bodyPr wrap="square" lIns="0" tIns="0" rIns="0" bIns="0" rtlCol="0" anchor="t"/>
          <a:lstStyle/>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&lt;button class="btn btn-primary btn-sm"</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data-bs-toggle="</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modal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data-bs-target="</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#inscripcion</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"&gt;Inscribirme&lt;/button&gt;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modal fade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id="inscripcion" tabindex="-1"</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role="dialog" aria-labelledby="inscripcion-titulo"&gt;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modal-dialog modal-dialog-centered</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modal-content</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class="modal-header"&gt; título y </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btn-close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class="modal-body"&gt; el formulario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class="modal-footer"&gt; Cancelar · Enviar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&lt;/div&gt;</a:t>
            </a:r>
            <a:endParaRPr lang="en-US" sz="950" dirty="0"/>
          </a:p>
        </p:txBody>
      </p:sp>
      <p:sp>
        <p:nvSpPr>
          <p:cNvPr id="7" name="Shape 5"/>
          <p:cNvSpPr/>
          <p:nvPr/>
        </p:nvSpPr>
        <p:spPr>
          <a:xfrm>
            <a:off x="6732727" y="2615184"/>
            <a:ext cx="4593946" cy="2926080"/>
          </a:xfrm>
          <a:prstGeom prst="roundRect">
            <a:avLst>
              <a:gd name="adj" fmla="val 3125"/>
            </a:avLst>
          </a:prstGeom>
          <a:solidFill>
            <a:srgbClr val="FFFFFF"/>
          </a:solidFill>
          <a:ln w="19050">
            <a:solidFill>
              <a:srgbClr val="CFD5D9"/>
            </a:solidFill>
            <a:prstDash val="solid"/>
          </a:ln>
        </p:spPr>
      </p:sp>
      <p:pic>
        <p:nvPicPr>
          <p:cNvPr id="8" name="Image 0" descr="/tmp/claude-0/-home-user-sesiones-dagner/2613c8c1-437c-54f4-94d9-b62c29473bbd/scratchpad/deck/img/s14-modal.png">    </p:cNvPr>
          <p:cNvPicPr>
            <a:picLocks noChangeAspect="1"/>
          </p:cNvPicPr>
          <p:nvPr/>
        </p:nvPicPr>
        <p:blipFill>
          <a:blip r:embed="rId1"/>
          <a:stretch>
            <a:fillRect/>
          </a:stretch>
        </p:blipFill>
        <p:spPr>
          <a:xfrm>
            <a:off x="6805879" y="2688336"/>
            <a:ext cx="4447642" cy="2779776"/>
          </a:xfrm>
          <a:prstGeom prst="rect">
            <a:avLst/>
          </a:prstGeom>
        </p:spPr>
      </p:pic>
      <p:sp>
        <p:nvSpPr>
          <p:cNvPr id="9" name="Text 6"/>
          <p:cNvSpPr txBox="1"/>
          <p:nvPr/>
        </p:nvSpPr>
        <p:spPr>
          <a:xfrm>
            <a:off x="6492240" y="5623560"/>
            <a:ext cx="5074920" cy="502920"/>
          </a:xfrm>
          <a:prstGeom prst="rect">
            <a:avLst/>
          </a:prstGeom>
          <a:noFill/>
          <a:ln/>
        </p:spPr>
        <p:txBody>
          <a:bodyPr wrap="square" lIns="0" tIns="0" rIns="0" bIns="0" rtlCol="0" anchor="t"/>
          <a:lstStyle/>
          <a:p>
            <a:pPr algn="l" indent="0" marL="0">
              <a:buNone/>
            </a:pPr>
            <a:r>
              <a:rPr lang="en-US" sz="1100" dirty="0">
                <a:solidFill>
                  <a:srgbClr val="33393D"/>
                </a:solidFill>
                <a:latin typeface="Calibri" pitchFamily="34" charset="0"/>
                <a:ea typeface="Calibri" pitchFamily="34" charset="-122"/>
                <a:cs typeface="Calibri" pitchFamily="34" charset="-120"/>
              </a:rPr>
              <a:t>Se cierra con la X, con Cancelar (</a:t>
            </a:r>
            <a:pPr algn="l" indent="0" marL="0">
              <a:buNone/>
            </a:pPr>
            <a:r>
              <a:rPr lang="en-US" sz="1100" dirty="0">
                <a:solidFill>
                  <a:srgbClr val="1F2326"/>
                </a:solidFill>
                <a:latin typeface="Consolas" pitchFamily="34" charset="0"/>
                <a:ea typeface="Consolas" pitchFamily="34" charset="-122"/>
                <a:cs typeface="Consolas" pitchFamily="34" charset="-120"/>
              </a:rPr>
              <a:t>data-bs-dismiss</a:t>
            </a:r>
            <a:pPr algn="l" indent="0" marL="0">
              <a:buNone/>
            </a:pPr>
            <a:r>
              <a:rPr lang="en-US" sz="1100" dirty="0">
                <a:solidFill>
                  <a:srgbClr val="33393D"/>
                </a:solidFill>
                <a:latin typeface="Calibri" pitchFamily="34" charset="0"/>
                <a:ea typeface="Calibri" pitchFamily="34" charset="-122"/>
                <a:cs typeface="Calibri" pitchFamily="34" charset="-120"/>
              </a:rPr>
              <a:t>), con </a:t>
            </a:r>
            <a:pPr algn="l" indent="0" marL="0">
              <a:buNone/>
            </a:pPr>
            <a:r>
              <a:rPr lang="en-US" sz="1100" dirty="0">
                <a:solidFill>
                  <a:srgbClr val="1F2326"/>
                </a:solidFill>
                <a:latin typeface="Consolas" pitchFamily="34" charset="0"/>
                <a:ea typeface="Consolas" pitchFamily="34" charset="-122"/>
                <a:cs typeface="Consolas" pitchFamily="34" charset="-120"/>
              </a:rPr>
              <a:t>Esc</a:t>
            </a:r>
            <a:pPr algn="l" indent="0" marL="0">
              <a:buNone/>
            </a:pPr>
            <a:r>
              <a:rPr lang="en-US" sz="1100" dirty="0">
                <a:solidFill>
                  <a:srgbClr val="33393D"/>
                </a:solidFill>
                <a:latin typeface="Calibri" pitchFamily="34" charset="0"/>
                <a:ea typeface="Calibri" pitchFamily="34" charset="-122"/>
                <a:cs typeface="Calibri" pitchFamily="34" charset="-120"/>
              </a:rPr>
              <a:t> o con un clic en el fondo.</a:t>
            </a:r>
            <a:endParaRPr lang="en-US" sz="1100" dirty="0"/>
          </a:p>
        </p:txBody>
      </p:sp>
      <p:sp>
        <p:nvSpPr>
          <p:cNvPr id="10" name="Text 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24 / 47</a:t>
            </a:r>
            <a:endParaRPr lang="en-US" sz="80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03 · JAVASCRIPT</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Formularios con las clases de Bootstrap</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El mismo HTML de la sesión 06, con clases que le dan forma.</a:t>
            </a:r>
            <a:endParaRPr lang="en-US" sz="1250" dirty="0"/>
          </a:p>
        </p:txBody>
      </p:sp>
      <p:sp>
        <p:nvSpPr>
          <p:cNvPr id="5" name="Shape 3"/>
          <p:cNvSpPr/>
          <p:nvPr/>
        </p:nvSpPr>
        <p:spPr>
          <a:xfrm>
            <a:off x="640080" y="2615184"/>
            <a:ext cx="603504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577840" cy="3200400"/>
          </a:xfrm>
          <a:prstGeom prst="rect">
            <a:avLst/>
          </a:prstGeom>
          <a:noFill/>
          <a:ln/>
        </p:spPr>
        <p:txBody>
          <a:bodyPr wrap="square" lIns="0" tIns="0" rIns="0" bIns="0" rtlCol="0" anchor="t"/>
          <a:lstStyle/>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mb-3</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&lt;label for="ins-nombre"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form-label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"&gt;Nombre completo&lt;/label&gt;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&lt;input type="text"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form-control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id="ins-nombre"</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name="nombre" autocomplete="name" required /&gt;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&lt;select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form-select</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id="ins-curso" name="curso" required&gt;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&lt;option value=""&gt;Elige un curso&lt;/option&gt; …</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&lt;/select&gt;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form-check form-check-inline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&lt;input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form-check-input</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type="radio" name="modalidad"</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id="ins-virtual" value="virtual" /&gt;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&lt;label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form-check-label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for="ins-virtual"&gt;Virtual&lt;/label&gt;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&lt;/div&gt;</a:t>
            </a:r>
            <a:endParaRPr lang="en-US" sz="950" dirty="0"/>
          </a:p>
        </p:txBody>
      </p:sp>
      <p:sp>
        <p:nvSpPr>
          <p:cNvPr id="7" name="Shape 5"/>
          <p:cNvSpPr/>
          <p:nvPr/>
        </p:nvSpPr>
        <p:spPr>
          <a:xfrm>
            <a:off x="6858000" y="2615184"/>
            <a:ext cx="4709160" cy="3529584"/>
          </a:xfrm>
          <a:prstGeom prst="roundRect">
            <a:avLst>
              <a:gd name="adj" fmla="val 2591"/>
            </a:avLst>
          </a:prstGeom>
          <a:solidFill>
            <a:srgbClr val="F3F5F6"/>
          </a:solidFill>
          <a:ln w="12700">
            <a:solidFill>
              <a:srgbClr val="CFD5D9"/>
            </a:solidFill>
            <a:prstDash val="solid"/>
          </a:ln>
        </p:spPr>
      </p:sp>
      <p:sp>
        <p:nvSpPr>
          <p:cNvPr id="8" name="Text 6"/>
          <p:cNvSpPr txBox="1"/>
          <p:nvPr/>
        </p:nvSpPr>
        <p:spPr>
          <a:xfrm>
            <a:off x="7059168" y="2724912"/>
            <a:ext cx="4343400" cy="292608"/>
          </a:xfrm>
          <a:prstGeom prst="rect">
            <a:avLst/>
          </a:prstGeom>
          <a:noFill/>
          <a:ln/>
        </p:spPr>
        <p:txBody>
          <a:bodyPr wrap="square" lIns="0" tIns="0" rIns="0" bIns="0" rtlCol="0" anchor="ctr"/>
          <a:lstStyle/>
          <a:p>
            <a:pPr algn="l" indent="0" marL="0">
              <a:buNone/>
            </a:pPr>
            <a:r>
              <a:rPr lang="en-US" sz="1300" b="1" dirty="0">
                <a:solidFill>
                  <a:srgbClr val="177E89"/>
                </a:solidFill>
                <a:latin typeface="Calibri" pitchFamily="34" charset="0"/>
                <a:ea typeface="Calibri" pitchFamily="34" charset="-122"/>
                <a:cs typeface="Calibri" pitchFamily="34" charset="-120"/>
              </a:rPr>
              <a:t>Opcional: el curso ya elegido</a:t>
            </a:r>
            <a:endParaRPr lang="en-US" sz="1300" dirty="0"/>
          </a:p>
        </p:txBody>
      </p:sp>
      <p:sp>
        <p:nvSpPr>
          <p:cNvPr id="9" name="Shape 7"/>
          <p:cNvSpPr/>
          <p:nvPr/>
        </p:nvSpPr>
        <p:spPr>
          <a:xfrm>
            <a:off x="7059168" y="3108960"/>
            <a:ext cx="4297680" cy="1920240"/>
          </a:xfrm>
          <a:prstGeom prst="roundRect">
            <a:avLst>
              <a:gd name="adj" fmla="val 4762"/>
            </a:avLst>
          </a:prstGeom>
          <a:solidFill>
            <a:srgbClr val="2B2B2B"/>
          </a:solidFill>
          <a:ln w="12700">
            <a:solidFill>
              <a:srgbClr val="2B2B2B"/>
            </a:solidFill>
            <a:prstDash val="solid"/>
          </a:ln>
        </p:spPr>
      </p:sp>
      <p:sp>
        <p:nvSpPr>
          <p:cNvPr id="10" name="Text 8"/>
          <p:cNvSpPr txBox="1"/>
          <p:nvPr/>
        </p:nvSpPr>
        <p:spPr>
          <a:xfrm>
            <a:off x="7287768" y="3273552"/>
            <a:ext cx="3840480" cy="1591056"/>
          </a:xfrm>
          <a:prstGeom prst="rect">
            <a:avLst/>
          </a:prstGeom>
          <a:noFill/>
          <a:ln/>
        </p:spPr>
        <p:txBody>
          <a:bodyPr wrap="square" lIns="0" tIns="0" rIns="0" bIns="0" rtlCol="0" anchor="t"/>
          <a:lstStyle/>
          <a:p>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modalInscripcion</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.addEventListener(</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'show.bs.modal'</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(evento) =&gt; {</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const boton = evento.relatedTarget;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selectCurso.value =</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boton.dataset.curso;</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a:t>
            </a:r>
            <a:endParaRPr lang="en-US" sz="950" dirty="0"/>
          </a:p>
        </p:txBody>
      </p:sp>
      <p:sp>
        <p:nvSpPr>
          <p:cNvPr id="11" name="Text 9"/>
          <p:cNvSpPr txBox="1"/>
          <p:nvPr/>
        </p:nvSpPr>
        <p:spPr>
          <a:xfrm>
            <a:off x="7059168" y="5120640"/>
            <a:ext cx="4343400" cy="914400"/>
          </a:xfrm>
          <a:prstGeom prst="rect">
            <a:avLst/>
          </a:prstGeom>
          <a:noFill/>
          <a:ln/>
        </p:spPr>
        <p:txBody>
          <a:bodyPr wrap="square" lIns="0" tIns="0" rIns="0" bIns="0" rtlCol="0" anchor="t"/>
          <a:lstStyle/>
          <a:p>
            <a:pPr algn="l" indent="0" marL="0">
              <a:buNone/>
            </a:pPr>
            <a:r>
              <a:rPr lang="en-US" sz="1050" dirty="0">
                <a:solidFill>
                  <a:srgbClr val="33393D"/>
                </a:solidFill>
                <a:latin typeface="Calibri" pitchFamily="34" charset="0"/>
                <a:ea typeface="Calibri" pitchFamily="34" charset="-122"/>
                <a:cs typeface="Calibri" pitchFamily="34" charset="-120"/>
              </a:rPr>
              <a:t>Bootstrap avisa al abrir la ventana y dice qué botón la abrió. El botón guarda su curso en </a:t>
            </a:r>
            <a:pPr algn="l" indent="0" marL="0">
              <a:buNone/>
            </a:pPr>
            <a:r>
              <a:rPr lang="en-US" sz="1050" dirty="0">
                <a:solidFill>
                  <a:srgbClr val="1F2326"/>
                </a:solidFill>
                <a:latin typeface="Consolas" pitchFamily="34" charset="0"/>
                <a:ea typeface="Consolas" pitchFamily="34" charset="-122"/>
                <a:cs typeface="Consolas" pitchFamily="34" charset="-120"/>
              </a:rPr>
              <a:t>data-curso</a:t>
            </a:r>
            <a:pPr algn="l" indent="0" marL="0">
              <a:buNone/>
            </a:pPr>
            <a:r>
              <a:rPr lang="en-US" sz="1050" dirty="0">
                <a:solidFill>
                  <a:srgbClr val="33393D"/>
                </a:solidFill>
                <a:latin typeface="Calibri" pitchFamily="34" charset="0"/>
                <a:ea typeface="Calibri" pitchFamily="34" charset="-122"/>
                <a:cs typeface="Calibri" pitchFamily="34" charset="-120"/>
              </a:rPr>
              <a:t>.</a:t>
            </a:r>
            <a:endParaRPr lang="en-US" sz="1050" dirty="0"/>
          </a:p>
        </p:txBody>
      </p:sp>
      <p:sp>
        <p:nvSpPr>
          <p:cNvPr id="12" name="Text 1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25 / 47</a:t>
            </a:r>
            <a:endParaRPr lang="en-US" sz="80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03 · JAVASCRIPT</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Ampliación: la barra de navegación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Tu portafolio conserva su cabecera. Para un proyecto nuevo, navbar trae el menú plegable.</a:t>
            </a:r>
            <a:endParaRPr lang="en-US" sz="1250" dirty="0"/>
          </a:p>
        </p:txBody>
      </p:sp>
      <p:sp>
        <p:nvSpPr>
          <p:cNvPr id="5" name="Shape 3"/>
          <p:cNvSpPr/>
          <p:nvPr/>
        </p:nvSpPr>
        <p:spPr>
          <a:xfrm>
            <a:off x="640080" y="2615184"/>
            <a:ext cx="3383280" cy="719000"/>
          </a:xfrm>
          <a:prstGeom prst="roundRect">
            <a:avLst>
              <a:gd name="adj" fmla="val 12718"/>
            </a:avLst>
          </a:prstGeom>
          <a:solidFill>
            <a:srgbClr val="FFFFFF"/>
          </a:solidFill>
          <a:ln w="19050">
            <a:solidFill>
              <a:srgbClr val="CFD5D9"/>
            </a:solidFill>
            <a:prstDash val="solid"/>
          </a:ln>
        </p:spPr>
      </p:sp>
      <p:pic>
        <p:nvPicPr>
          <p:cNvPr id="6" name="Image 0" descr="/tmp/claude-0/-home-user-sesiones-dagner/2613c8c1-437c-54f4-94d9-b62c29473bbd/scratchpad/deck/img/bs-navbar-cerrada.png">    </p:cNvPr>
          <p:cNvPicPr>
            <a:picLocks noChangeAspect="1"/>
          </p:cNvPicPr>
          <p:nvPr/>
        </p:nvPicPr>
        <p:blipFill>
          <a:blip r:embed="rId1"/>
          <a:stretch>
            <a:fillRect/>
          </a:stretch>
        </p:blipFill>
        <p:spPr>
          <a:xfrm>
            <a:off x="713232" y="2688336"/>
            <a:ext cx="3236976" cy="572696"/>
          </a:xfrm>
          <a:prstGeom prst="rect">
            <a:avLst/>
          </a:prstGeom>
        </p:spPr>
      </p:pic>
      <p:sp>
        <p:nvSpPr>
          <p:cNvPr id="7" name="Text 4"/>
          <p:cNvSpPr txBox="1"/>
          <p:nvPr/>
        </p:nvSpPr>
        <p:spPr>
          <a:xfrm>
            <a:off x="640080" y="3657600"/>
            <a:ext cx="3383280" cy="237744"/>
          </a:xfrm>
          <a:prstGeom prst="rect">
            <a:avLst/>
          </a:prstGeom>
          <a:noFill/>
          <a:ln/>
        </p:spPr>
        <p:txBody>
          <a:bodyPr wrap="square" lIns="0" tIns="0" rIns="0" bIns="0" rtlCol="0" anchor="ctr"/>
          <a:lstStyle/>
          <a:p>
            <a:pPr algn="ctr" indent="0" marL="0">
              <a:buNone/>
            </a:pPr>
            <a:r>
              <a:rPr lang="en-US" sz="1050" b="1" dirty="0">
                <a:solidFill>
                  <a:srgbClr val="5F676C"/>
                </a:solidFill>
                <a:latin typeface="Calibri" pitchFamily="34" charset="0"/>
                <a:ea typeface="Calibri" pitchFamily="34" charset="-122"/>
                <a:cs typeface="Calibri" pitchFamily="34" charset="-120"/>
              </a:rPr>
              <a:t>Celular: el botón de tres rayas</a:t>
            </a:r>
            <a:endParaRPr lang="en-US" sz="1050" dirty="0"/>
          </a:p>
        </p:txBody>
      </p:sp>
      <p:sp>
        <p:nvSpPr>
          <p:cNvPr id="8" name="Shape 5"/>
          <p:cNvSpPr/>
          <p:nvPr/>
        </p:nvSpPr>
        <p:spPr>
          <a:xfrm>
            <a:off x="640080" y="3977640"/>
            <a:ext cx="3383280" cy="2046990"/>
          </a:xfrm>
          <a:prstGeom prst="roundRect">
            <a:avLst>
              <a:gd name="adj" fmla="val 4467"/>
            </a:avLst>
          </a:prstGeom>
          <a:solidFill>
            <a:srgbClr val="FFFFFF"/>
          </a:solidFill>
          <a:ln w="19050">
            <a:solidFill>
              <a:srgbClr val="CFD5D9"/>
            </a:solidFill>
            <a:prstDash val="solid"/>
          </a:ln>
        </p:spPr>
      </p:sp>
      <p:pic>
        <p:nvPicPr>
          <p:cNvPr id="9" name="Image 1" descr="/tmp/claude-0/-home-user-sesiones-dagner/2613c8c1-437c-54f4-94d9-b62c29473bbd/scratchpad/deck/img/bs-navbar-abierta.png">    </p:cNvPr>
          <p:cNvPicPr>
            <a:picLocks noChangeAspect="1"/>
          </p:cNvPicPr>
          <p:nvPr/>
        </p:nvPicPr>
        <p:blipFill>
          <a:blip r:embed="rId2"/>
          <a:stretch>
            <a:fillRect/>
          </a:stretch>
        </p:blipFill>
        <p:spPr>
          <a:xfrm>
            <a:off x="713232" y="4050792"/>
            <a:ext cx="3236976" cy="1900686"/>
          </a:xfrm>
          <a:prstGeom prst="rect">
            <a:avLst/>
          </a:prstGeom>
        </p:spPr>
      </p:pic>
      <p:sp>
        <p:nvSpPr>
          <p:cNvPr id="10" name="Shape 6"/>
          <p:cNvSpPr/>
          <p:nvPr/>
        </p:nvSpPr>
        <p:spPr>
          <a:xfrm>
            <a:off x="4206240" y="2615184"/>
            <a:ext cx="7360920" cy="561144"/>
          </a:xfrm>
          <a:prstGeom prst="roundRect">
            <a:avLst>
              <a:gd name="adj" fmla="val 16295"/>
            </a:avLst>
          </a:prstGeom>
          <a:solidFill>
            <a:srgbClr val="FFFFFF"/>
          </a:solidFill>
          <a:ln w="19050">
            <a:solidFill>
              <a:srgbClr val="CFD5D9"/>
            </a:solidFill>
            <a:prstDash val="solid"/>
          </a:ln>
        </p:spPr>
      </p:sp>
      <p:pic>
        <p:nvPicPr>
          <p:cNvPr id="11" name="Image 2" descr="/tmp/claude-0/-home-user-sesiones-dagner/2613c8c1-437c-54f4-94d9-b62c29473bbd/scratchpad/deck/img/bs-navbar-escritorio.png">    </p:cNvPr>
          <p:cNvPicPr>
            <a:picLocks noChangeAspect="1"/>
          </p:cNvPicPr>
          <p:nvPr/>
        </p:nvPicPr>
        <p:blipFill>
          <a:blip r:embed="rId3"/>
          <a:stretch>
            <a:fillRect/>
          </a:stretch>
        </p:blipFill>
        <p:spPr>
          <a:xfrm>
            <a:off x="4279392" y="2688336"/>
            <a:ext cx="7214616" cy="414840"/>
          </a:xfrm>
          <a:prstGeom prst="rect">
            <a:avLst/>
          </a:prstGeom>
        </p:spPr>
      </p:pic>
      <p:sp>
        <p:nvSpPr>
          <p:cNvPr id="12" name="Text 7"/>
          <p:cNvSpPr txBox="1"/>
          <p:nvPr/>
        </p:nvSpPr>
        <p:spPr>
          <a:xfrm>
            <a:off x="4206240" y="3346704"/>
            <a:ext cx="7360920" cy="237744"/>
          </a:xfrm>
          <a:prstGeom prst="rect">
            <a:avLst/>
          </a:prstGeom>
          <a:noFill/>
          <a:ln/>
        </p:spPr>
        <p:txBody>
          <a:bodyPr wrap="square" lIns="0" tIns="0" rIns="0" bIns="0" rtlCol="0" anchor="ctr"/>
          <a:lstStyle/>
          <a:p>
            <a:pPr algn="ctr" indent="0" marL="0">
              <a:buNone/>
            </a:pPr>
            <a:r>
              <a:rPr lang="en-US" sz="1050" b="1" dirty="0">
                <a:solidFill>
                  <a:srgbClr val="5F676C"/>
                </a:solidFill>
                <a:latin typeface="Calibri" pitchFamily="34" charset="0"/>
                <a:ea typeface="Calibri" pitchFamily="34" charset="-122"/>
                <a:cs typeface="Calibri" pitchFamily="34" charset="-120"/>
              </a:rPr>
              <a:t>Desde 992px (navbar-expand-lg): el menú completo</a:t>
            </a:r>
            <a:endParaRPr lang="en-US" sz="1050" dirty="0"/>
          </a:p>
        </p:txBody>
      </p:sp>
      <p:sp>
        <p:nvSpPr>
          <p:cNvPr id="13" name="Shape 8"/>
          <p:cNvSpPr/>
          <p:nvPr/>
        </p:nvSpPr>
        <p:spPr>
          <a:xfrm>
            <a:off x="4206240" y="3703320"/>
            <a:ext cx="7360920" cy="2468880"/>
          </a:xfrm>
          <a:prstGeom prst="roundRect">
            <a:avLst>
              <a:gd name="adj" fmla="val 3704"/>
            </a:avLst>
          </a:prstGeom>
          <a:solidFill>
            <a:srgbClr val="2B2B2B"/>
          </a:solidFill>
          <a:ln w="12700">
            <a:solidFill>
              <a:srgbClr val="2B2B2B"/>
            </a:solidFill>
            <a:prstDash val="solid"/>
          </a:ln>
        </p:spPr>
      </p:sp>
      <p:sp>
        <p:nvSpPr>
          <p:cNvPr id="14" name="Text 9"/>
          <p:cNvSpPr txBox="1"/>
          <p:nvPr/>
        </p:nvSpPr>
        <p:spPr>
          <a:xfrm>
            <a:off x="4434840" y="3867912"/>
            <a:ext cx="6903720" cy="2139696"/>
          </a:xfrm>
          <a:prstGeom prst="rect">
            <a:avLst/>
          </a:prstGeom>
          <a:noFill/>
          <a:ln/>
        </p:spPr>
        <p:txBody>
          <a:bodyPr wrap="square" lIns="0" tIns="0" rIns="0" bIns="0" rtlCol="0" anchor="t"/>
          <a:lstStyle/>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&lt;nav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navbar navbar-expand-lg</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bg-white border-bottom"&gt;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class="container"&gt;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&lt;a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navbar-brand</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href="index.html"&gt;Mi sitio&lt;/a&gt;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&lt;button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navbar-toggler</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data-bs-toggle="collapse"</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data-bs-target="</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#menu</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aria-label="Abrir el menú"&gt; … &lt;/button&gt;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collapse navbar-collapse</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id="menu"&gt;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&lt;ul class="</a:t>
            </a:r>
            <a:pPr indent="0" marL="0">
              <a:lnSpc>
                <a:spcPct val="120000"/>
              </a:lnSpc>
              <a:buNone/>
            </a:pPr>
            <a:r>
              <a:rPr lang="en-US" sz="950" b="1" dirty="0">
                <a:solidFill>
                  <a:srgbClr val="8FE1E8"/>
                </a:solidFill>
                <a:latin typeface="Consolas" pitchFamily="34" charset="0"/>
                <a:ea typeface="Consolas" pitchFamily="34" charset="-122"/>
                <a:cs typeface="Consolas" pitchFamily="34" charset="-120"/>
              </a:rPr>
              <a:t>navbar-nav ms-auto</a:t>
            </a:r>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"&gt; … nav-item y nav-link … &lt;/ul&gt;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  &lt;/div&gt;</a:t>
            </a:r>
            <a:endParaRPr lang="en-US" sz="950" dirty="0"/>
          </a:p>
          <a:p>
            <a:pPr indent="0" marL="0">
              <a:lnSpc>
                <a:spcPct val="120000"/>
              </a:lnSpc>
              <a:buNone/>
            </a:pPr>
            <a:r>
              <a:rPr lang="en-US" sz="950" dirty="0">
                <a:solidFill>
                  <a:srgbClr val="E5E7EB"/>
                </a:solidFill>
                <a:latin typeface="Consolas" pitchFamily="34" charset="0"/>
                <a:ea typeface="Consolas" pitchFamily="34" charset="-122"/>
                <a:cs typeface="Consolas" pitchFamily="34" charset="-120"/>
              </a:rPr>
              <a:t>&lt;/nav&gt;</a:t>
            </a:r>
            <a:endParaRPr lang="en-US" sz="950" dirty="0"/>
          </a:p>
        </p:txBody>
      </p:sp>
      <p:sp>
        <p:nvSpPr>
          <p:cNvPr id="15" name="Text 1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26 / 47</a:t>
            </a:r>
            <a:endParaRPr lang="en-US" sz="80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spTree>
      <p:nvGrpSpPr>
        <p:cNvPr id="1" name=""/>
        <p:cNvGrpSpPr/>
        <p:nvPr/>
      </p:nvGrpSpPr>
      <p:grpSpPr>
        <a:xfrm>
          <a:off x="0" y="0"/>
          <a:ext cx="0" cy="0"/>
          <a:chOff x="0" y="0"/>
          <a:chExt cx="0" cy="0"/>
        </a:xfrm>
      </p:grpSpPr>
      <p:sp>
        <p:nvSpPr>
          <p:cNvPr id="2" name="Shape 0"/>
          <p:cNvSpPr/>
          <p:nvPr/>
        </p:nvSpPr>
        <p:spPr>
          <a:xfrm>
            <a:off x="-548640" y="1517904"/>
            <a:ext cx="5120640" cy="1024128"/>
          </a:xfrm>
          <a:prstGeom prst="roundRect">
            <a:avLst>
              <a:gd name="adj" fmla="val 50000"/>
            </a:avLst>
          </a:prstGeom>
          <a:solidFill>
            <a:srgbClr val="177E89"/>
          </a:solidFill>
          <a:ln w="12700">
            <a:solidFill>
              <a:srgbClr val="177E89"/>
            </a:solidFill>
            <a:prstDash val="solid"/>
          </a:ln>
        </p:spPr>
      </p:sp>
      <p:sp>
        <p:nvSpPr>
          <p:cNvPr id="3" name="Text 1"/>
          <p:cNvSpPr txBox="1"/>
          <p:nvPr/>
        </p:nvSpPr>
        <p:spPr>
          <a:xfrm>
            <a:off x="274320" y="1517904"/>
            <a:ext cx="4206240" cy="1024128"/>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El tema</a:t>
            </a:r>
            <a:endParaRPr lang="en-US" sz="2000" dirty="0"/>
          </a:p>
        </p:txBody>
      </p:sp>
      <p:sp>
        <p:nvSpPr>
          <p:cNvPr id="4" name="Text 2"/>
          <p:cNvSpPr txBox="1"/>
          <p:nvPr/>
        </p:nvSpPr>
        <p:spPr>
          <a:xfrm>
            <a:off x="274320" y="2834640"/>
            <a:ext cx="4297680" cy="256032"/>
          </a:xfrm>
          <a:prstGeom prst="rect">
            <a:avLst/>
          </a:prstGeom>
          <a:noFill/>
          <a:ln/>
        </p:spPr>
        <p:txBody>
          <a:bodyPr wrap="square" lIns="0" tIns="0" rIns="0" bIns="0" rtlCol="0" anchor="ctr"/>
          <a:lstStyle/>
          <a:p>
            <a:pPr algn="ctr" indent="0" marL="0">
              <a:buNone/>
            </a:pPr>
            <a:r>
              <a:rPr lang="en-US" sz="1100" b="1" spc="400" kern="0" dirty="0">
                <a:solidFill>
                  <a:srgbClr val="177E89"/>
                </a:solidFill>
                <a:latin typeface="Calibri" pitchFamily="34" charset="0"/>
                <a:ea typeface="Calibri" pitchFamily="34" charset="-122"/>
                <a:cs typeface="Calibri" pitchFamily="34" charset="-120"/>
              </a:rPr>
              <a:t>BLOQUE 04</a:t>
            </a:r>
            <a:endParaRPr lang="en-US" sz="1100" dirty="0"/>
          </a:p>
        </p:txBody>
      </p:sp>
      <p:sp>
        <p:nvSpPr>
          <p:cNvPr id="5" name="Text 3"/>
          <p:cNvSpPr txBox="1"/>
          <p:nvPr/>
        </p:nvSpPr>
        <p:spPr>
          <a:xfrm>
            <a:off x="685800" y="3346704"/>
            <a:ext cx="3657600" cy="237744"/>
          </a:xfrm>
          <a:prstGeom prst="rect">
            <a:avLst/>
          </a:prstGeom>
          <a:noFill/>
          <a:ln/>
        </p:spPr>
        <p:txBody>
          <a:bodyPr wrap="square" lIns="0" tIns="0" rIns="0" bIns="0" rtlCol="0" anchor="ctr"/>
          <a:lstStyle/>
          <a:p>
            <a:pPr algn="l" indent="0" marL="0">
              <a:buNone/>
            </a:pPr>
            <a:r>
              <a:rPr lang="en-US" sz="1050" b="1" dirty="0">
                <a:solidFill>
                  <a:srgbClr val="5F676C"/>
                </a:solidFill>
                <a:latin typeface="Calibri" pitchFamily="34" charset="0"/>
                <a:ea typeface="Calibri" pitchFamily="34" charset="-122"/>
                <a:cs typeface="Calibri" pitchFamily="34" charset="-120"/>
              </a:rPr>
              <a:t>En este bloque</a:t>
            </a:r>
            <a:endParaRPr lang="en-US" sz="1050" dirty="0"/>
          </a:p>
        </p:txBody>
      </p:sp>
      <p:sp>
        <p:nvSpPr>
          <p:cNvPr id="6" name="Shape 4"/>
          <p:cNvSpPr/>
          <p:nvPr/>
        </p:nvSpPr>
        <p:spPr>
          <a:xfrm>
            <a:off x="685800" y="3657600"/>
            <a:ext cx="5577840" cy="475488"/>
          </a:xfrm>
          <a:prstGeom prst="roundRect">
            <a:avLst>
              <a:gd name="adj" fmla="val 19231"/>
            </a:avLst>
          </a:prstGeom>
          <a:solidFill>
            <a:srgbClr val="FFFFFF"/>
          </a:solidFill>
          <a:ln w="12700">
            <a:solidFill>
              <a:srgbClr val="CFD5D9"/>
            </a:solidFill>
            <a:prstDash val="solid"/>
          </a:ln>
        </p:spPr>
      </p:sp>
      <p:sp>
        <p:nvSpPr>
          <p:cNvPr id="7" name="Text 5"/>
          <p:cNvSpPr txBox="1"/>
          <p:nvPr/>
        </p:nvSpPr>
        <p:spPr>
          <a:xfrm>
            <a:off x="896112" y="365760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01</a:t>
            </a:r>
            <a:endParaRPr lang="en-US" sz="1200" dirty="0"/>
          </a:p>
        </p:txBody>
      </p:sp>
      <p:sp>
        <p:nvSpPr>
          <p:cNvPr id="8" name="Text 6"/>
          <p:cNvSpPr txBox="1"/>
          <p:nvPr/>
        </p:nvSpPr>
        <p:spPr>
          <a:xfrm>
            <a:off x="1481328" y="365760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Antes y después</a:t>
            </a:r>
            <a:endParaRPr lang="en-US" sz="1200" dirty="0"/>
          </a:p>
        </p:txBody>
      </p:sp>
      <p:sp>
        <p:nvSpPr>
          <p:cNvPr id="9" name="Shape 7"/>
          <p:cNvSpPr/>
          <p:nvPr/>
        </p:nvSpPr>
        <p:spPr>
          <a:xfrm>
            <a:off x="685800" y="4206240"/>
            <a:ext cx="5577840" cy="475488"/>
          </a:xfrm>
          <a:prstGeom prst="roundRect">
            <a:avLst>
              <a:gd name="adj" fmla="val 19231"/>
            </a:avLst>
          </a:prstGeom>
          <a:solidFill>
            <a:srgbClr val="FFFFFF"/>
          </a:solidFill>
          <a:ln w="12700">
            <a:solidFill>
              <a:srgbClr val="CFD5D9"/>
            </a:solidFill>
            <a:prstDash val="solid"/>
          </a:ln>
        </p:spPr>
      </p:sp>
      <p:sp>
        <p:nvSpPr>
          <p:cNvPr id="10" name="Text 8"/>
          <p:cNvSpPr txBox="1"/>
          <p:nvPr/>
        </p:nvSpPr>
        <p:spPr>
          <a:xfrm>
            <a:off x="896112" y="420624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02</a:t>
            </a:r>
            <a:endParaRPr lang="en-US" sz="1200" dirty="0"/>
          </a:p>
        </p:txBody>
      </p:sp>
      <p:sp>
        <p:nvSpPr>
          <p:cNvPr id="11" name="Text 9"/>
          <p:cNvSpPr txBox="1"/>
          <p:nvPr/>
        </p:nvSpPr>
        <p:spPr>
          <a:xfrm>
            <a:off x="1481328" y="420624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Las variables --bs-*</a:t>
            </a:r>
            <a:endParaRPr lang="en-US" sz="1200" dirty="0"/>
          </a:p>
        </p:txBody>
      </p:sp>
      <p:sp>
        <p:nvSpPr>
          <p:cNvPr id="12" name="Shape 10"/>
          <p:cNvSpPr/>
          <p:nvPr/>
        </p:nvSpPr>
        <p:spPr>
          <a:xfrm>
            <a:off x="685800" y="4754880"/>
            <a:ext cx="5577840" cy="475488"/>
          </a:xfrm>
          <a:prstGeom prst="roundRect">
            <a:avLst>
              <a:gd name="adj" fmla="val 19231"/>
            </a:avLst>
          </a:prstGeom>
          <a:solidFill>
            <a:srgbClr val="FFFFFF"/>
          </a:solidFill>
          <a:ln w="12700">
            <a:solidFill>
              <a:srgbClr val="CFD5D9"/>
            </a:solidFill>
            <a:prstDash val="solid"/>
          </a:ln>
        </p:spPr>
      </p:sp>
      <p:sp>
        <p:nvSpPr>
          <p:cNvPr id="13" name="Text 11"/>
          <p:cNvSpPr txBox="1"/>
          <p:nvPr/>
        </p:nvSpPr>
        <p:spPr>
          <a:xfrm>
            <a:off x="896112" y="475488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03</a:t>
            </a:r>
            <a:endParaRPr lang="en-US" sz="1200" dirty="0"/>
          </a:p>
        </p:txBody>
      </p:sp>
      <p:sp>
        <p:nvSpPr>
          <p:cNvPr id="14" name="Text 12"/>
          <p:cNvSpPr txBox="1"/>
          <p:nvPr/>
        </p:nvSpPr>
        <p:spPr>
          <a:xfrm>
            <a:off x="1481328" y="475488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Variables de cada componente</a:t>
            </a:r>
            <a:endParaRPr lang="en-US" sz="1200" dirty="0"/>
          </a:p>
        </p:txBody>
      </p:sp>
      <p:sp>
        <p:nvSpPr>
          <p:cNvPr id="15" name="Shape 13"/>
          <p:cNvSpPr/>
          <p:nvPr/>
        </p:nvSpPr>
        <p:spPr>
          <a:xfrm>
            <a:off x="685800" y="5303520"/>
            <a:ext cx="5577840" cy="475488"/>
          </a:xfrm>
          <a:prstGeom prst="roundRect">
            <a:avLst>
              <a:gd name="adj" fmla="val 19231"/>
            </a:avLst>
          </a:prstGeom>
          <a:solidFill>
            <a:srgbClr val="FFFFFF"/>
          </a:solidFill>
          <a:ln w="12700">
            <a:solidFill>
              <a:srgbClr val="CFD5D9"/>
            </a:solidFill>
            <a:prstDash val="solid"/>
          </a:ln>
        </p:spPr>
      </p:sp>
      <p:sp>
        <p:nvSpPr>
          <p:cNvPr id="16" name="Text 14"/>
          <p:cNvSpPr txBox="1"/>
          <p:nvPr/>
        </p:nvSpPr>
        <p:spPr>
          <a:xfrm>
            <a:off x="896112" y="530352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04</a:t>
            </a:r>
            <a:endParaRPr lang="en-US" sz="1200" dirty="0"/>
          </a:p>
        </p:txBody>
      </p:sp>
      <p:sp>
        <p:nvSpPr>
          <p:cNvPr id="17" name="Text 15"/>
          <p:cNvSpPr txBox="1"/>
          <p:nvPr/>
        </p:nvSpPr>
        <p:spPr>
          <a:xfrm>
            <a:off x="1481328" y="530352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Lo que no tiene variable</a:t>
            </a:r>
            <a:endParaRPr lang="en-US" sz="1200" dirty="0"/>
          </a:p>
        </p:txBody>
      </p:sp>
      <p:sp>
        <p:nvSpPr>
          <p:cNvPr id="18" name="Shape 16"/>
          <p:cNvSpPr/>
          <p:nvPr/>
        </p:nvSpPr>
        <p:spPr>
          <a:xfrm>
            <a:off x="685800" y="5852160"/>
            <a:ext cx="5577840" cy="475488"/>
          </a:xfrm>
          <a:prstGeom prst="roundRect">
            <a:avLst>
              <a:gd name="adj" fmla="val 19231"/>
            </a:avLst>
          </a:prstGeom>
          <a:solidFill>
            <a:srgbClr val="FFFFFF"/>
          </a:solidFill>
          <a:ln w="12700">
            <a:solidFill>
              <a:srgbClr val="CFD5D9"/>
            </a:solidFill>
            <a:prstDash val="solid"/>
          </a:ln>
        </p:spPr>
      </p:sp>
      <p:sp>
        <p:nvSpPr>
          <p:cNvPr id="19" name="Text 17"/>
          <p:cNvSpPr txBox="1"/>
          <p:nvPr/>
        </p:nvSpPr>
        <p:spPr>
          <a:xfrm>
            <a:off x="896112" y="5852160"/>
            <a:ext cx="457200" cy="475488"/>
          </a:xfrm>
          <a:prstGeom prst="rect">
            <a:avLst/>
          </a:prstGeom>
          <a:noFill/>
          <a:ln/>
        </p:spPr>
        <p:txBody>
          <a:bodyPr wrap="square" lIns="0" tIns="0" rIns="0" bIns="0" rtlCol="0" anchor="ctr"/>
          <a:lstStyle/>
          <a:p>
            <a:pPr algn="l" indent="0" marL="0">
              <a:buNone/>
            </a:pPr>
            <a:r>
              <a:rPr lang="en-US" sz="1200" b="1" dirty="0">
                <a:solidFill>
                  <a:srgbClr val="177E89"/>
                </a:solidFill>
                <a:latin typeface="Calibri" pitchFamily="34" charset="0"/>
                <a:ea typeface="Calibri" pitchFamily="34" charset="-122"/>
                <a:cs typeface="Calibri" pitchFamily="34" charset="-120"/>
              </a:rPr>
              <a:t>05</a:t>
            </a:r>
            <a:endParaRPr lang="en-US" sz="1200" dirty="0"/>
          </a:p>
        </p:txBody>
      </p:sp>
      <p:sp>
        <p:nvSpPr>
          <p:cNvPr id="20" name="Text 18"/>
          <p:cNvSpPr txBox="1"/>
          <p:nvPr/>
        </p:nvSpPr>
        <p:spPr>
          <a:xfrm>
            <a:off x="1481328" y="5852160"/>
            <a:ext cx="4663440" cy="47548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El orden de las hojas</a:t>
            </a:r>
            <a:endParaRPr lang="en-US" sz="1200" dirty="0"/>
          </a:p>
        </p:txBody>
      </p:sp>
      <p:sp>
        <p:nvSpPr>
          <p:cNvPr id="21" name="Shape 19"/>
          <p:cNvSpPr/>
          <p:nvPr/>
        </p:nvSpPr>
        <p:spPr>
          <a:xfrm>
            <a:off x="6766560" y="1234440"/>
            <a:ext cx="5166360" cy="5257800"/>
          </a:xfrm>
          <a:prstGeom prst="roundRect">
            <a:avLst>
              <a:gd name="adj" fmla="val 1770"/>
            </a:avLst>
          </a:prstGeom>
          <a:solidFill>
            <a:srgbClr val="FFFFFF"/>
          </a:solidFill>
          <a:ln w="12700">
            <a:solidFill>
              <a:srgbClr val="CFD5D9"/>
            </a:solidFill>
            <a:prstDash val="solid"/>
          </a:ln>
        </p:spPr>
      </p:sp>
      <p:pic>
        <p:nvPicPr>
          <p:cNvPr id="22" name="Image 0" descr="Persona programando frente a un monitor">    </p:cNvPr>
          <p:cNvPicPr>
            <a:picLocks noChangeAspect="1"/>
          </p:cNvPicPr>
          <p:nvPr/>
        </p:nvPicPr>
        <p:blipFill>
          <a:blip r:embed="rId1"/>
          <a:stretch>
            <a:fillRect/>
          </a:stretch>
        </p:blipFill>
        <p:spPr>
          <a:xfrm>
            <a:off x="6903720" y="1362456"/>
            <a:ext cx="4892040" cy="5001768"/>
          </a:xfrm>
          <a:prstGeom prst="rect">
            <a:avLst/>
          </a:prstGeom>
        </p:spPr>
      </p:pic>
      <p:sp>
        <p:nvSpPr>
          <p:cNvPr id="23"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27 / 47</a:t>
            </a:r>
            <a:endParaRPr lang="en-US" sz="80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04 · EL TEMA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Bootstrap con tus colores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La misma página, sin y con tema-bootstrap.css. No cambió ni una clase del HTML.</a:t>
            </a:r>
            <a:endParaRPr lang="en-US" sz="1250" dirty="0"/>
          </a:p>
        </p:txBody>
      </p:sp>
      <p:sp>
        <p:nvSpPr>
          <p:cNvPr id="5" name="Shape 3"/>
          <p:cNvSpPr/>
          <p:nvPr/>
        </p:nvSpPr>
        <p:spPr>
          <a:xfrm>
            <a:off x="640080" y="2615184"/>
            <a:ext cx="5349240" cy="1098544"/>
          </a:xfrm>
          <a:prstGeom prst="roundRect">
            <a:avLst>
              <a:gd name="adj" fmla="val 8324"/>
            </a:avLst>
          </a:prstGeom>
          <a:solidFill>
            <a:srgbClr val="FFFFFF"/>
          </a:solidFill>
          <a:ln w="19050">
            <a:solidFill>
              <a:srgbClr val="CFD5D9"/>
            </a:solidFill>
            <a:prstDash val="solid"/>
          </a:ln>
        </p:spPr>
      </p:sp>
      <p:pic>
        <p:nvPicPr>
          <p:cNvPr id="6" name="Image 0" descr="/tmp/claude-0/-home-user-sesiones-dagner/2613c8c1-437c-54f4-94d9-b62c29473bbd/scratchpad/deck/img/s14-sin-tema-cards.png">    </p:cNvPr>
          <p:cNvPicPr>
            <a:picLocks noChangeAspect="1"/>
          </p:cNvPicPr>
          <p:nvPr/>
        </p:nvPicPr>
        <p:blipFill>
          <a:blip r:embed="rId1"/>
          <a:stretch>
            <a:fillRect/>
          </a:stretch>
        </p:blipFill>
        <p:spPr>
          <a:xfrm>
            <a:off x="713232" y="2688336"/>
            <a:ext cx="5202936" cy="952240"/>
          </a:xfrm>
          <a:prstGeom prst="rect">
            <a:avLst/>
          </a:prstGeom>
        </p:spPr>
      </p:pic>
      <p:sp>
        <p:nvSpPr>
          <p:cNvPr id="7" name="Text 4"/>
          <p:cNvSpPr txBox="1"/>
          <p:nvPr/>
        </p:nvSpPr>
        <p:spPr>
          <a:xfrm>
            <a:off x="640080" y="3768592"/>
            <a:ext cx="5349240" cy="237744"/>
          </a:xfrm>
          <a:prstGeom prst="rect">
            <a:avLst/>
          </a:prstGeom>
          <a:noFill/>
          <a:ln/>
        </p:spPr>
        <p:txBody>
          <a:bodyPr wrap="square" lIns="0" tIns="0" rIns="0" bIns="0" rtlCol="0" anchor="ctr"/>
          <a:lstStyle/>
          <a:p>
            <a:pPr algn="ctr" indent="0" marL="0">
              <a:buNone/>
            </a:pPr>
            <a:r>
              <a:rPr lang="en-US" sz="1050" b="1" dirty="0">
                <a:solidFill>
                  <a:srgbClr val="A8402B"/>
                </a:solidFill>
                <a:latin typeface="Calibri" pitchFamily="34" charset="0"/>
                <a:ea typeface="Calibri" pitchFamily="34" charset="-122"/>
                <a:cs typeface="Calibri" pitchFamily="34" charset="-120"/>
              </a:rPr>
              <a:t>Sin tema: el azul #0D6EFD de Bootstrap</a:t>
            </a:r>
            <a:endParaRPr lang="en-US" sz="1050" dirty="0"/>
          </a:p>
        </p:txBody>
      </p:sp>
      <p:sp>
        <p:nvSpPr>
          <p:cNvPr id="8" name="Shape 5"/>
          <p:cNvSpPr/>
          <p:nvPr/>
        </p:nvSpPr>
        <p:spPr>
          <a:xfrm>
            <a:off x="6217920" y="2615184"/>
            <a:ext cx="5349240" cy="1098544"/>
          </a:xfrm>
          <a:prstGeom prst="roundRect">
            <a:avLst>
              <a:gd name="adj" fmla="val 8324"/>
            </a:avLst>
          </a:prstGeom>
          <a:solidFill>
            <a:srgbClr val="FFFFFF"/>
          </a:solidFill>
          <a:ln w="19050">
            <a:solidFill>
              <a:srgbClr val="CFD5D9"/>
            </a:solidFill>
            <a:prstDash val="solid"/>
          </a:ln>
        </p:spPr>
      </p:sp>
      <p:pic>
        <p:nvPicPr>
          <p:cNvPr id="9" name="Image 1" descr="/tmp/claude-0/-home-user-sesiones-dagner/2613c8c1-437c-54f4-94d9-b62c29473bbd/scratchpad/deck/img/s14-con-tema-cards.png">    </p:cNvPr>
          <p:cNvPicPr>
            <a:picLocks noChangeAspect="1"/>
          </p:cNvPicPr>
          <p:nvPr/>
        </p:nvPicPr>
        <p:blipFill>
          <a:blip r:embed="rId2"/>
          <a:stretch>
            <a:fillRect/>
          </a:stretch>
        </p:blipFill>
        <p:spPr>
          <a:xfrm>
            <a:off x="6291072" y="2688336"/>
            <a:ext cx="5202936" cy="952240"/>
          </a:xfrm>
          <a:prstGeom prst="rect">
            <a:avLst/>
          </a:prstGeom>
        </p:spPr>
      </p:pic>
      <p:sp>
        <p:nvSpPr>
          <p:cNvPr id="10" name="Text 6"/>
          <p:cNvSpPr txBox="1"/>
          <p:nvPr/>
        </p:nvSpPr>
        <p:spPr>
          <a:xfrm>
            <a:off x="6217920" y="3768592"/>
            <a:ext cx="5349240" cy="237744"/>
          </a:xfrm>
          <a:prstGeom prst="rect">
            <a:avLst/>
          </a:prstGeom>
          <a:noFill/>
          <a:ln/>
        </p:spPr>
        <p:txBody>
          <a:bodyPr wrap="square" lIns="0" tIns="0" rIns="0" bIns="0" rtlCol="0" anchor="ctr"/>
          <a:lstStyle/>
          <a:p>
            <a:pPr algn="ctr" indent="0" marL="0">
              <a:buNone/>
            </a:pPr>
            <a:r>
              <a:rPr lang="en-US" sz="1050" b="1" dirty="0">
                <a:solidFill>
                  <a:srgbClr val="177E89"/>
                </a:solidFill>
                <a:latin typeface="Calibri" pitchFamily="34" charset="0"/>
                <a:ea typeface="Calibri" pitchFamily="34" charset="-122"/>
                <a:cs typeface="Calibri" pitchFamily="34" charset="-120"/>
              </a:rPr>
              <a:t>Con tema: el cian 06B6C4 de tu Figma</a:t>
            </a:r>
            <a:endParaRPr lang="en-US" sz="1050" dirty="0"/>
          </a:p>
        </p:txBody>
      </p:sp>
      <p:sp>
        <p:nvSpPr>
          <p:cNvPr id="11" name="Shape 7"/>
          <p:cNvSpPr/>
          <p:nvPr/>
        </p:nvSpPr>
        <p:spPr>
          <a:xfrm>
            <a:off x="640080" y="4125208"/>
            <a:ext cx="5349240" cy="1780351"/>
          </a:xfrm>
          <a:prstGeom prst="roundRect">
            <a:avLst>
              <a:gd name="adj" fmla="val 5136"/>
            </a:avLst>
          </a:prstGeom>
          <a:solidFill>
            <a:srgbClr val="FFFFFF"/>
          </a:solidFill>
          <a:ln w="19050">
            <a:solidFill>
              <a:srgbClr val="CFD5D9"/>
            </a:solidFill>
            <a:prstDash val="solid"/>
          </a:ln>
        </p:spPr>
      </p:sp>
      <p:pic>
        <p:nvPicPr>
          <p:cNvPr id="12" name="Image 2" descr="/tmp/claude-0/-home-user-sesiones-dagner/2613c8c1-437c-54f4-94d9-b62c29473bbd/scratchpad/deck/img/s14-sin-tema-faq.png">    </p:cNvPr>
          <p:cNvPicPr>
            <a:picLocks noChangeAspect="1"/>
          </p:cNvPicPr>
          <p:nvPr/>
        </p:nvPicPr>
        <p:blipFill>
          <a:blip r:embed="rId3"/>
          <a:stretch>
            <a:fillRect/>
          </a:stretch>
        </p:blipFill>
        <p:spPr>
          <a:xfrm>
            <a:off x="713232" y="4198360"/>
            <a:ext cx="5202936" cy="1634047"/>
          </a:xfrm>
          <a:prstGeom prst="rect">
            <a:avLst/>
          </a:prstGeom>
        </p:spPr>
      </p:pic>
      <p:sp>
        <p:nvSpPr>
          <p:cNvPr id="13" name="Shape 8"/>
          <p:cNvSpPr/>
          <p:nvPr/>
        </p:nvSpPr>
        <p:spPr>
          <a:xfrm>
            <a:off x="6217920" y="4125208"/>
            <a:ext cx="5349240" cy="1780351"/>
          </a:xfrm>
          <a:prstGeom prst="roundRect">
            <a:avLst>
              <a:gd name="adj" fmla="val 5136"/>
            </a:avLst>
          </a:prstGeom>
          <a:solidFill>
            <a:srgbClr val="FFFFFF"/>
          </a:solidFill>
          <a:ln w="19050">
            <a:solidFill>
              <a:srgbClr val="CFD5D9"/>
            </a:solidFill>
            <a:prstDash val="solid"/>
          </a:ln>
        </p:spPr>
      </p:sp>
      <p:pic>
        <p:nvPicPr>
          <p:cNvPr id="14" name="Image 3" descr="/tmp/claude-0/-home-user-sesiones-dagner/2613c8c1-437c-54f4-94d9-b62c29473bbd/scratchpad/deck/img/s14-con-tema-faq.png">    </p:cNvPr>
          <p:cNvPicPr>
            <a:picLocks noChangeAspect="1"/>
          </p:cNvPicPr>
          <p:nvPr/>
        </p:nvPicPr>
        <p:blipFill>
          <a:blip r:embed="rId4"/>
          <a:stretch>
            <a:fillRect/>
          </a:stretch>
        </p:blipFill>
        <p:spPr>
          <a:xfrm>
            <a:off x="6291072" y="4198360"/>
            <a:ext cx="5202936" cy="1634047"/>
          </a:xfrm>
          <a:prstGeom prst="rect">
            <a:avLst/>
          </a:prstGeom>
        </p:spPr>
      </p:pic>
      <p:sp>
        <p:nvSpPr>
          <p:cNvPr id="15" name="Text 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28 / 47</a:t>
            </a:r>
            <a:endParaRPr lang="en-US" sz="80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04 · EL TEMA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Las variables --bs-*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Bootstrap guarda su tema en variables de CSS. Si cambias su valor, cambian las utilidades y los componentes.</a:t>
            </a:r>
            <a:endParaRPr lang="en-US" sz="1250" dirty="0"/>
          </a:p>
        </p:txBody>
      </p:sp>
      <p:sp>
        <p:nvSpPr>
          <p:cNvPr id="5" name="Shape 3"/>
          <p:cNvSpPr/>
          <p:nvPr/>
        </p:nvSpPr>
        <p:spPr>
          <a:xfrm>
            <a:off x="640080" y="2615184"/>
            <a:ext cx="649224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6035040" cy="3200400"/>
          </a:xfrm>
          <a:prstGeom prst="rect">
            <a:avLst/>
          </a:prstGeom>
          <a:noFill/>
          <a:ln/>
        </p:spPr>
        <p:txBody>
          <a:bodyPr wrap="square" lIns="0" tIns="0" rIns="0" bIns="0" rtlCol="0" anchor="t"/>
          <a:lstStyle/>
          <a:p>
            <a:pPr indent="0" marL="0">
              <a:lnSpc>
                <a:spcPct val="120000"/>
              </a:lnSpc>
              <a:buNone/>
            </a:pPr>
            <a:r>
              <a:rPr lang="en-US" sz="1050" dirty="0">
                <a:solidFill>
                  <a:srgbClr val="9AA39E"/>
                </a:solidFill>
                <a:latin typeface="Consolas" pitchFamily="34" charset="0"/>
                <a:ea typeface="Consolas" pitchFamily="34" charset="-122"/>
                <a:cs typeface="Consolas" pitchFamily="34" charset="-120"/>
              </a:rPr>
              <a:t>/* tema-bootstrap.css · bloque 1 */</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:root {</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--bs-primary</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#06B6C4;</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--bs-primary-rgb</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6, 182, 196;</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--bs-primary-bg-subtle</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#E6F8FA;</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--bs-primary-text-emphasis</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#035F66;</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--bs-dark-rgb</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11, 15, 25;</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--bs-body-font-family</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'Geist', sans-serif;</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--bs-body-color</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#374151;</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--bs-border-color</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#E5E7EB;</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--bs-border-radius</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8px;</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--bs-border-radius-lg</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12px;</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a:t>
            </a:r>
            <a:endParaRPr lang="en-US" sz="1050" dirty="0"/>
          </a:p>
        </p:txBody>
      </p:sp>
      <p:sp>
        <p:nvSpPr>
          <p:cNvPr id="7" name="Shape 5"/>
          <p:cNvSpPr/>
          <p:nvPr/>
        </p:nvSpPr>
        <p:spPr>
          <a:xfrm>
            <a:off x="7315200" y="2615184"/>
            <a:ext cx="4251960" cy="3529584"/>
          </a:xfrm>
          <a:prstGeom prst="roundRect">
            <a:avLst>
              <a:gd name="adj" fmla="val 2591"/>
            </a:avLst>
          </a:prstGeom>
          <a:solidFill>
            <a:srgbClr val="F3F5F6"/>
          </a:solidFill>
          <a:ln w="12700">
            <a:solidFill>
              <a:srgbClr val="CFD5D9"/>
            </a:solidFill>
            <a:prstDash val="solid"/>
          </a:ln>
        </p:spPr>
      </p:sp>
      <p:sp>
        <p:nvSpPr>
          <p:cNvPr id="8" name="Text 6"/>
          <p:cNvSpPr txBox="1"/>
          <p:nvPr/>
        </p:nvSpPr>
        <p:spPr>
          <a:xfrm>
            <a:off x="7516368" y="2724912"/>
            <a:ext cx="3886200" cy="292608"/>
          </a:xfrm>
          <a:prstGeom prst="rect">
            <a:avLst/>
          </a:prstGeom>
          <a:noFill/>
          <a:ln/>
        </p:spPr>
        <p:txBody>
          <a:bodyPr wrap="square" lIns="0" tIns="0" rIns="0" bIns="0" rtlCol="0" anchor="ctr"/>
          <a:lstStyle/>
          <a:p>
            <a:pPr algn="l" indent="0" marL="0">
              <a:buNone/>
            </a:pPr>
            <a:r>
              <a:rPr lang="en-US" sz="1300" b="1" dirty="0">
                <a:solidFill>
                  <a:srgbClr val="177E89"/>
                </a:solidFill>
                <a:latin typeface="Calibri" pitchFamily="34" charset="0"/>
                <a:ea typeface="Calibri" pitchFamily="34" charset="-122"/>
                <a:cs typeface="Calibri" pitchFamily="34" charset="-120"/>
              </a:rPr>
              <a:t>¿Por qué el color dos veces?</a:t>
            </a:r>
            <a:endParaRPr lang="en-US" sz="1300" dirty="0"/>
          </a:p>
        </p:txBody>
      </p:sp>
      <p:sp>
        <p:nvSpPr>
          <p:cNvPr id="9" name="Text 7"/>
          <p:cNvSpPr txBox="1"/>
          <p:nvPr/>
        </p:nvSpPr>
        <p:spPr>
          <a:xfrm>
            <a:off x="7516368" y="3108960"/>
            <a:ext cx="3886200" cy="2926080"/>
          </a:xfrm>
          <a:prstGeom prst="rect">
            <a:avLst/>
          </a:prstGeom>
          <a:noFill/>
          <a:ln/>
        </p:spPr>
        <p:txBody>
          <a:bodyPr wrap="square" lIns="0" tIns="0" rIns="0" bIns="0" rtlCol="0" anchor="t"/>
          <a:lstStyle/>
          <a:p>
            <a:pPr algn="l" marL="177800" indent="-177800">
              <a:spcAft>
                <a:spcPts val="600"/>
              </a:spcAft>
              <a:buSzPct val="100000"/>
              <a:buChar char="•"/>
            </a:pPr>
            <a:r>
              <a:rPr lang="en-US" sz="1100" dirty="0">
                <a:solidFill>
                  <a:srgbClr val="1F2326"/>
                </a:solidFill>
                <a:latin typeface="Consolas" pitchFamily="34" charset="0"/>
                <a:ea typeface="Consolas" pitchFamily="34" charset="-122"/>
                <a:cs typeface="Consolas" pitchFamily="34" charset="-120"/>
              </a:rPr>
              <a:t>--bs-primary-rgb</a:t>
            </a:r>
            <a:pPr algn="l" marL="177800" indent="-177800">
              <a:spcAft>
                <a:spcPts val="600"/>
              </a:spcAft>
              <a:buSzPct val="100000"/>
              <a:buChar char="•"/>
            </a:pPr>
            <a:r>
              <a:rPr lang="en-US" sz="1100" dirty="0">
                <a:solidFill>
                  <a:srgbClr val="33393D"/>
                </a:solidFill>
                <a:latin typeface="Calibri" pitchFamily="34" charset="0"/>
                <a:ea typeface="Calibri" pitchFamily="34" charset="-122"/>
                <a:cs typeface="Calibri" pitchFamily="34" charset="-120"/>
              </a:rPr>
              <a:t> es el mismo color en números.</a:t>
            </a:r>
            <a:endParaRPr lang="en-US" sz="1100" dirty="0"/>
          </a:p>
          <a:p>
            <a:pPr algn="l" marL="177800" indent="-177800">
              <a:spcAft>
                <a:spcPts val="600"/>
              </a:spcAft>
              <a:buSzPct val="100000"/>
              <a:buChar char="•"/>
            </a:pPr>
            <a:r>
              <a:rPr lang="en-US" sz="1100" dirty="0">
                <a:solidFill>
                  <a:srgbClr val="33393D"/>
                </a:solidFill>
                <a:latin typeface="Calibri" pitchFamily="34" charset="0"/>
                <a:ea typeface="Calibri" pitchFamily="34" charset="-122"/>
                <a:cs typeface="Calibri" pitchFamily="34" charset="-120"/>
              </a:rPr>
              <a:t>Las utilidades le suman una opacidad: </a:t>
            </a:r>
            <a:pPr algn="l" marL="177800" indent="-177800">
              <a:spcAft>
                <a:spcPts val="600"/>
              </a:spcAft>
              <a:buSzPct val="100000"/>
              <a:buChar char="•"/>
            </a:pPr>
            <a:r>
              <a:rPr lang="en-US" sz="1100" dirty="0">
                <a:solidFill>
                  <a:srgbClr val="1F2326"/>
                </a:solidFill>
                <a:latin typeface="Consolas" pitchFamily="34" charset="0"/>
                <a:ea typeface="Consolas" pitchFamily="34" charset="-122"/>
                <a:cs typeface="Consolas" pitchFamily="34" charset="-120"/>
              </a:rPr>
              <a:t>rgba(var(--bs-primary-rgb), 0.5)</a:t>
            </a:r>
            <a:pPr algn="l" marL="177800" indent="-177800">
              <a:spcAft>
                <a:spcPts val="600"/>
              </a:spcAft>
              <a:buSzPct val="100000"/>
              <a:buChar char="•"/>
            </a:pPr>
            <a:r>
              <a:rPr lang="en-US" sz="1100" dirty="0">
                <a:solidFill>
                  <a:srgbClr val="33393D"/>
                </a:solidFill>
                <a:latin typeface="Calibri" pitchFamily="34" charset="0"/>
                <a:ea typeface="Calibri" pitchFamily="34" charset="-122"/>
                <a:cs typeface="Calibri" pitchFamily="34" charset="-120"/>
              </a:rPr>
              <a:t>.</a:t>
            </a:r>
            <a:endParaRPr lang="en-US" sz="1100" dirty="0"/>
          </a:p>
          <a:p>
            <a:pPr algn="l" marL="177800" indent="-177800">
              <a:spcAft>
                <a:spcPts val="600"/>
              </a:spcAft>
              <a:buSzPct val="100000"/>
              <a:buChar char="•"/>
            </a:pPr>
            <a:r>
              <a:rPr lang="en-US" sz="1100" dirty="0">
                <a:solidFill>
                  <a:srgbClr val="33393D"/>
                </a:solidFill>
                <a:latin typeface="Calibri" pitchFamily="34" charset="0"/>
                <a:ea typeface="Calibri" pitchFamily="34" charset="-122"/>
                <a:cs typeface="Calibri" pitchFamily="34" charset="-120"/>
              </a:rPr>
              <a:t>Si cambias una, cambia la otra.</a:t>
            </a:r>
            <a:endParaRPr lang="en-US" sz="1100" dirty="0"/>
          </a:p>
        </p:txBody>
      </p:sp>
      <p:sp>
        <p:nvSpPr>
          <p:cNvPr id="10" name="Text 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29 / 47</a:t>
            </a:r>
            <a:endParaRPr lang="en-US" sz="80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04 · EL TEMA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Variables de componente y reglas fijas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Algunos componentes guardan sus colores en variables propias. Otros, en la regla.</a:t>
            </a:r>
            <a:endParaRPr lang="en-US" sz="1250" dirty="0"/>
          </a:p>
        </p:txBody>
      </p:sp>
      <p:sp>
        <p:nvSpPr>
          <p:cNvPr id="5" name="Shape 3"/>
          <p:cNvSpPr/>
          <p:nvPr/>
        </p:nvSpPr>
        <p:spPr>
          <a:xfrm>
            <a:off x="640080" y="2615184"/>
            <a:ext cx="534924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4892040" cy="3200400"/>
          </a:xfrm>
          <a:prstGeom prst="rect">
            <a:avLst/>
          </a:prstGeom>
          <a:noFill/>
          <a:ln/>
        </p:spPr>
        <p:txBody>
          <a:bodyPr wrap="square" lIns="0" tIns="0" rIns="0" bIns="0" rtlCol="0" anchor="t"/>
          <a:lstStyle/>
          <a:p>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 bloque 2: en la clase del componente */</a:t>
            </a:r>
            <a:endParaRPr lang="en-US" sz="1000" dirty="0"/>
          </a:p>
          <a:p>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.btn-primary</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--bs-btn-bg: #06B6C4;</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--bs-btn-border-color: #06B6C4;</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--bs-btn-hover-bg: #05A3B0;   </a:t>
            </a:r>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 sesión 11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a:p>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.card</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--bs-card-border-radius: 12px;</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a:p>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.accordion</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--bs-accordion-active-bg: #E6F8FA;</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p:txBody>
      </p:sp>
      <p:sp>
        <p:nvSpPr>
          <p:cNvPr id="7" name="Shape 5"/>
          <p:cNvSpPr/>
          <p:nvPr/>
        </p:nvSpPr>
        <p:spPr>
          <a:xfrm>
            <a:off x="6217920" y="2615184"/>
            <a:ext cx="5349240" cy="2103120"/>
          </a:xfrm>
          <a:prstGeom prst="roundRect">
            <a:avLst>
              <a:gd name="adj" fmla="val 4348"/>
            </a:avLst>
          </a:prstGeom>
          <a:solidFill>
            <a:srgbClr val="2B2B2B"/>
          </a:solidFill>
          <a:ln w="12700">
            <a:solidFill>
              <a:srgbClr val="2B2B2B"/>
            </a:solidFill>
            <a:prstDash val="solid"/>
          </a:ln>
        </p:spPr>
      </p:sp>
      <p:sp>
        <p:nvSpPr>
          <p:cNvPr id="8" name="Text 6"/>
          <p:cNvSpPr txBox="1"/>
          <p:nvPr/>
        </p:nvSpPr>
        <p:spPr>
          <a:xfrm>
            <a:off x="6446520" y="2779776"/>
            <a:ext cx="4892040" cy="1773936"/>
          </a:xfrm>
          <a:prstGeom prst="rect">
            <a:avLst/>
          </a:prstGeom>
          <a:noFill/>
          <a:ln/>
        </p:spPr>
        <p:txBody>
          <a:bodyPr wrap="square" lIns="0" tIns="0" rIns="0" bIns="0" rtlCol="0" anchor="t"/>
          <a:lstStyle/>
          <a:p>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 bloque 3: color escrito en la regla */</a:t>
            </a:r>
            <a:endParaRPr lang="en-US" sz="1000" dirty="0"/>
          </a:p>
          <a:p>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.form-control:focus</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a:p>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.form-select:focus</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border-color: #06B6C4;</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box-shadow: 0 0 0 0.25rem</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rgba(6, 182, 196, 0.25);</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a:t>
            </a:r>
            <a:endParaRPr lang="en-US" sz="1000" dirty="0"/>
          </a:p>
        </p:txBody>
      </p:sp>
      <p:sp>
        <p:nvSpPr>
          <p:cNvPr id="9" name="Shape 7"/>
          <p:cNvSpPr/>
          <p:nvPr/>
        </p:nvSpPr>
        <p:spPr>
          <a:xfrm>
            <a:off x="6217920" y="4846320"/>
            <a:ext cx="5349240" cy="1298448"/>
          </a:xfrm>
          <a:prstGeom prst="roundRect">
            <a:avLst>
              <a:gd name="adj" fmla="val 7042"/>
            </a:avLst>
          </a:prstGeom>
          <a:solidFill>
            <a:srgbClr val="F3F5F6"/>
          </a:solidFill>
          <a:ln w="12700">
            <a:solidFill>
              <a:srgbClr val="CFD5D9"/>
            </a:solidFill>
            <a:prstDash val="solid"/>
          </a:ln>
        </p:spPr>
      </p:sp>
      <p:sp>
        <p:nvSpPr>
          <p:cNvPr id="10" name="Text 8"/>
          <p:cNvSpPr txBox="1"/>
          <p:nvPr/>
        </p:nvSpPr>
        <p:spPr>
          <a:xfrm>
            <a:off x="6528816" y="4846320"/>
            <a:ext cx="4727448" cy="1298448"/>
          </a:xfrm>
          <a:prstGeom prst="rect">
            <a:avLst/>
          </a:prstGeom>
          <a:noFill/>
          <a:ln/>
        </p:spPr>
        <p:txBody>
          <a:bodyPr wrap="square" lIns="0" tIns="0" rIns="0" bIns="0" rtlCol="0" anchor="ctr"/>
          <a:lstStyle/>
          <a:p>
            <a:pPr indent="0" marL="0">
              <a:buNone/>
            </a:pPr>
            <a:r>
              <a:rPr lang="en-US" sz="1100" b="1" dirty="0">
                <a:solidFill>
                  <a:srgbClr val="177E89"/>
                </a:solidFill>
                <a:latin typeface="Calibri" pitchFamily="34" charset="0"/>
                <a:ea typeface="Calibri" pitchFamily="34" charset="-122"/>
                <a:cs typeface="Calibri" pitchFamily="34" charset="-120"/>
              </a:rPr>
              <a:t>Cómo saberlo: </a:t>
            </a:r>
            <a:pPr indent="0" marL="0">
              <a:buNone/>
            </a:pPr>
            <a:r>
              <a:rPr lang="en-US" sz="1100" dirty="0">
                <a:solidFill>
                  <a:srgbClr val="33393D"/>
                </a:solidFill>
                <a:latin typeface="Calibri" pitchFamily="34" charset="0"/>
                <a:ea typeface="Calibri" pitchFamily="34" charset="-122"/>
                <a:cs typeface="Calibri" pitchFamily="34" charset="-120"/>
              </a:rPr>
              <a:t>en DevTools, inspecciona el componente. Si en Styles ves </a:t>
            </a:r>
            <a:pPr indent="0" marL="0">
              <a:buNone/>
            </a:pPr>
            <a:r>
              <a:rPr lang="en-US" sz="1100" dirty="0">
                <a:solidFill>
                  <a:srgbClr val="1F2326"/>
                </a:solidFill>
                <a:latin typeface="Consolas" pitchFamily="34" charset="0"/>
                <a:ea typeface="Consolas" pitchFamily="34" charset="-122"/>
                <a:cs typeface="Consolas" pitchFamily="34" charset="-120"/>
              </a:rPr>
              <a:t>var(--bs-…)</a:t>
            </a:r>
            <a:pPr indent="0" marL="0">
              <a:buNone/>
            </a:pPr>
            <a:r>
              <a:rPr lang="en-US" sz="1100" dirty="0">
                <a:solidFill>
                  <a:srgbClr val="33393D"/>
                </a:solidFill>
                <a:latin typeface="Calibri" pitchFamily="34" charset="0"/>
                <a:ea typeface="Calibri" pitchFamily="34" charset="-122"/>
                <a:cs typeface="Calibri" pitchFamily="34" charset="-120"/>
              </a:rPr>
              <a:t>, cambia la variable. Si ves un color escrito, reemplaza la regla.</a:t>
            </a:r>
            <a:endParaRPr lang="en-US" sz="1100" dirty="0"/>
          </a:p>
        </p:txBody>
      </p:sp>
      <p:sp>
        <p:nvSpPr>
          <p:cNvPr id="11" name="Text 9"/>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30 / 47</a:t>
            </a:r>
            <a:endParaRPr lang="en-US" sz="80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04 · EL TEMA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Seis hojas, en este orden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Bootstrap, sus iconos y tu tema primero. Después, tus hojas de siempre.</a:t>
            </a:r>
            <a:endParaRPr lang="en-US" sz="1250" dirty="0"/>
          </a:p>
        </p:txBody>
      </p:sp>
      <p:sp>
        <p:nvSpPr>
          <p:cNvPr id="5" name="Shape 3"/>
          <p:cNvSpPr/>
          <p:nvPr/>
        </p:nvSpPr>
        <p:spPr>
          <a:xfrm>
            <a:off x="731520" y="2679192"/>
            <a:ext cx="384048" cy="384048"/>
          </a:xfrm>
          <a:prstGeom prst="ellipse">
            <a:avLst/>
          </a:prstGeom>
          <a:solidFill>
            <a:srgbClr val="5F676C"/>
          </a:solidFill>
          <a:ln w="12700">
            <a:solidFill>
              <a:srgbClr val="5F676C"/>
            </a:solidFill>
            <a:prstDash val="solid"/>
          </a:ln>
        </p:spPr>
      </p:sp>
      <p:sp>
        <p:nvSpPr>
          <p:cNvPr id="6" name="Text 4"/>
          <p:cNvSpPr txBox="1"/>
          <p:nvPr/>
        </p:nvSpPr>
        <p:spPr>
          <a:xfrm>
            <a:off x="731520" y="267919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7" name="Shape 5"/>
          <p:cNvSpPr/>
          <p:nvPr/>
        </p:nvSpPr>
        <p:spPr>
          <a:xfrm>
            <a:off x="1280160" y="2615184"/>
            <a:ext cx="10287000" cy="493776"/>
          </a:xfrm>
          <a:prstGeom prst="roundRect">
            <a:avLst>
              <a:gd name="adj" fmla="val 18519"/>
            </a:avLst>
          </a:prstGeom>
          <a:solidFill>
            <a:srgbClr val="FFFFFF"/>
          </a:solidFill>
          <a:ln w="12700">
            <a:solidFill>
              <a:srgbClr val="CFD5D9"/>
            </a:solidFill>
            <a:prstDash val="solid"/>
          </a:ln>
        </p:spPr>
      </p:sp>
      <p:sp>
        <p:nvSpPr>
          <p:cNvPr id="8" name="Text 6"/>
          <p:cNvSpPr txBox="1"/>
          <p:nvPr/>
        </p:nvSpPr>
        <p:spPr>
          <a:xfrm>
            <a:off x="1481328" y="2615184"/>
            <a:ext cx="3291840" cy="493776"/>
          </a:xfrm>
          <a:prstGeom prst="rect">
            <a:avLst/>
          </a:prstGeom>
          <a:noFill/>
          <a:ln/>
        </p:spPr>
        <p:txBody>
          <a:bodyPr wrap="square" lIns="0" tIns="0" rIns="0" bIns="0" rtlCol="0" anchor="ctr"/>
          <a:lstStyle/>
          <a:p>
            <a:pPr algn="l" indent="0" marL="0">
              <a:buNone/>
            </a:pPr>
            <a:r>
              <a:rPr lang="en-US" sz="1250" b="1" dirty="0">
                <a:solidFill>
                  <a:srgbClr val="1F2326"/>
                </a:solidFill>
                <a:latin typeface="Consolas" pitchFamily="34" charset="0"/>
                <a:ea typeface="Consolas" pitchFamily="34" charset="-122"/>
                <a:cs typeface="Consolas" pitchFamily="34" charset="-120"/>
              </a:rPr>
              <a:t>bootstrap.min.css</a:t>
            </a:r>
            <a:endParaRPr lang="en-US" sz="1250" dirty="0"/>
          </a:p>
        </p:txBody>
      </p:sp>
      <p:sp>
        <p:nvSpPr>
          <p:cNvPr id="9" name="Text 7"/>
          <p:cNvSpPr txBox="1"/>
          <p:nvPr/>
        </p:nvSpPr>
        <p:spPr>
          <a:xfrm>
            <a:off x="4846320" y="2615184"/>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Reboot, grilla, utilidades y componentes</a:t>
            </a:r>
            <a:endParaRPr lang="en-US" sz="1150" dirty="0"/>
          </a:p>
        </p:txBody>
      </p:sp>
      <p:sp>
        <p:nvSpPr>
          <p:cNvPr id="10" name="Shape 8"/>
          <p:cNvSpPr/>
          <p:nvPr/>
        </p:nvSpPr>
        <p:spPr>
          <a:xfrm>
            <a:off x="731520" y="3246120"/>
            <a:ext cx="384048" cy="384048"/>
          </a:xfrm>
          <a:prstGeom prst="ellipse">
            <a:avLst/>
          </a:prstGeom>
          <a:solidFill>
            <a:srgbClr val="5F676C"/>
          </a:solidFill>
          <a:ln w="12700">
            <a:solidFill>
              <a:srgbClr val="5F676C"/>
            </a:solidFill>
            <a:prstDash val="solid"/>
          </a:ln>
        </p:spPr>
      </p:sp>
      <p:sp>
        <p:nvSpPr>
          <p:cNvPr id="11" name="Text 9"/>
          <p:cNvSpPr txBox="1"/>
          <p:nvPr/>
        </p:nvSpPr>
        <p:spPr>
          <a:xfrm>
            <a:off x="731520" y="3246120"/>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2" name="Shape 10"/>
          <p:cNvSpPr/>
          <p:nvPr/>
        </p:nvSpPr>
        <p:spPr>
          <a:xfrm>
            <a:off x="1280160" y="3182112"/>
            <a:ext cx="10287000" cy="493776"/>
          </a:xfrm>
          <a:prstGeom prst="roundRect">
            <a:avLst>
              <a:gd name="adj" fmla="val 18519"/>
            </a:avLst>
          </a:prstGeom>
          <a:solidFill>
            <a:srgbClr val="FFFFFF"/>
          </a:solidFill>
          <a:ln w="12700">
            <a:solidFill>
              <a:srgbClr val="CFD5D9"/>
            </a:solidFill>
            <a:prstDash val="solid"/>
          </a:ln>
        </p:spPr>
      </p:sp>
      <p:sp>
        <p:nvSpPr>
          <p:cNvPr id="13" name="Text 11"/>
          <p:cNvSpPr txBox="1"/>
          <p:nvPr/>
        </p:nvSpPr>
        <p:spPr>
          <a:xfrm>
            <a:off x="1481328" y="3182112"/>
            <a:ext cx="3291840" cy="493776"/>
          </a:xfrm>
          <a:prstGeom prst="rect">
            <a:avLst/>
          </a:prstGeom>
          <a:noFill/>
          <a:ln/>
        </p:spPr>
        <p:txBody>
          <a:bodyPr wrap="square" lIns="0" tIns="0" rIns="0" bIns="0" rtlCol="0" anchor="ctr"/>
          <a:lstStyle/>
          <a:p>
            <a:pPr algn="l" indent="0" marL="0">
              <a:buNone/>
            </a:pPr>
            <a:r>
              <a:rPr lang="en-US" sz="1250" b="1" dirty="0">
                <a:solidFill>
                  <a:srgbClr val="1F2326"/>
                </a:solidFill>
                <a:latin typeface="Consolas" pitchFamily="34" charset="0"/>
                <a:ea typeface="Consolas" pitchFamily="34" charset="-122"/>
                <a:cs typeface="Consolas" pitchFamily="34" charset="-120"/>
              </a:rPr>
              <a:t>bootstrap-icons.min.css</a:t>
            </a:r>
            <a:endParaRPr lang="en-US" sz="1250" dirty="0"/>
          </a:p>
        </p:txBody>
      </p:sp>
      <p:sp>
        <p:nvSpPr>
          <p:cNvPr id="14" name="Text 12"/>
          <p:cNvSpPr txBox="1"/>
          <p:nvPr/>
        </p:nvSpPr>
        <p:spPr>
          <a:xfrm>
            <a:off x="4846320" y="3182112"/>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Los iconos</a:t>
            </a:r>
            <a:endParaRPr lang="en-US" sz="1150" dirty="0"/>
          </a:p>
        </p:txBody>
      </p:sp>
      <p:sp>
        <p:nvSpPr>
          <p:cNvPr id="15" name="Shape 13"/>
          <p:cNvSpPr/>
          <p:nvPr/>
        </p:nvSpPr>
        <p:spPr>
          <a:xfrm>
            <a:off x="731520" y="3813048"/>
            <a:ext cx="384048" cy="384048"/>
          </a:xfrm>
          <a:prstGeom prst="ellipse">
            <a:avLst/>
          </a:prstGeom>
          <a:solidFill>
            <a:srgbClr val="177E89"/>
          </a:solidFill>
          <a:ln w="12700">
            <a:solidFill>
              <a:srgbClr val="177E89"/>
            </a:solidFill>
            <a:prstDash val="solid"/>
          </a:ln>
        </p:spPr>
      </p:sp>
      <p:sp>
        <p:nvSpPr>
          <p:cNvPr id="16" name="Text 14"/>
          <p:cNvSpPr txBox="1"/>
          <p:nvPr/>
        </p:nvSpPr>
        <p:spPr>
          <a:xfrm>
            <a:off x="731520" y="3813048"/>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7" name="Shape 15"/>
          <p:cNvSpPr/>
          <p:nvPr/>
        </p:nvSpPr>
        <p:spPr>
          <a:xfrm>
            <a:off x="1280160" y="3749040"/>
            <a:ext cx="10287000" cy="493776"/>
          </a:xfrm>
          <a:prstGeom prst="roundRect">
            <a:avLst>
              <a:gd name="adj" fmla="val 18519"/>
            </a:avLst>
          </a:prstGeom>
          <a:solidFill>
            <a:srgbClr val="E6F8FA"/>
          </a:solidFill>
          <a:ln w="12700">
            <a:solidFill>
              <a:srgbClr val="CFD5D9"/>
            </a:solidFill>
            <a:prstDash val="solid"/>
          </a:ln>
        </p:spPr>
      </p:sp>
      <p:sp>
        <p:nvSpPr>
          <p:cNvPr id="18" name="Text 16"/>
          <p:cNvSpPr txBox="1"/>
          <p:nvPr/>
        </p:nvSpPr>
        <p:spPr>
          <a:xfrm>
            <a:off x="1481328" y="3749040"/>
            <a:ext cx="3291840" cy="493776"/>
          </a:xfrm>
          <a:prstGeom prst="rect">
            <a:avLst/>
          </a:prstGeom>
          <a:noFill/>
          <a:ln/>
        </p:spPr>
        <p:txBody>
          <a:bodyPr wrap="square" lIns="0" tIns="0" rIns="0" bIns="0" rtlCol="0" anchor="ctr"/>
          <a:lstStyle/>
          <a:p>
            <a:pPr algn="l" indent="0" marL="0">
              <a:buNone/>
            </a:pPr>
            <a:r>
              <a:rPr lang="en-US" sz="1250" b="1" dirty="0">
                <a:solidFill>
                  <a:srgbClr val="177E89"/>
                </a:solidFill>
                <a:latin typeface="Consolas" pitchFamily="34" charset="0"/>
                <a:ea typeface="Consolas" pitchFamily="34" charset="-122"/>
                <a:cs typeface="Consolas" pitchFamily="34" charset="-120"/>
              </a:rPr>
              <a:t>tema-bootstrap.css</a:t>
            </a:r>
            <a:endParaRPr lang="en-US" sz="1250" dirty="0"/>
          </a:p>
        </p:txBody>
      </p:sp>
      <p:sp>
        <p:nvSpPr>
          <p:cNvPr id="19" name="Text 17"/>
          <p:cNvSpPr txBox="1"/>
          <p:nvPr/>
        </p:nvSpPr>
        <p:spPr>
          <a:xfrm>
            <a:off x="4846320" y="3749040"/>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Las variables --bs-* con tu Figma: nuevo</a:t>
            </a:r>
            <a:endParaRPr lang="en-US" sz="1150" dirty="0"/>
          </a:p>
        </p:txBody>
      </p:sp>
      <p:sp>
        <p:nvSpPr>
          <p:cNvPr id="20" name="Shape 18"/>
          <p:cNvSpPr/>
          <p:nvPr/>
        </p:nvSpPr>
        <p:spPr>
          <a:xfrm>
            <a:off x="731520" y="4379976"/>
            <a:ext cx="384048" cy="384048"/>
          </a:xfrm>
          <a:prstGeom prst="ellipse">
            <a:avLst/>
          </a:prstGeom>
          <a:solidFill>
            <a:srgbClr val="177E89"/>
          </a:solidFill>
          <a:ln w="12700">
            <a:solidFill>
              <a:srgbClr val="177E89"/>
            </a:solidFill>
            <a:prstDash val="solid"/>
          </a:ln>
        </p:spPr>
      </p:sp>
      <p:sp>
        <p:nvSpPr>
          <p:cNvPr id="21" name="Text 19"/>
          <p:cNvSpPr txBox="1"/>
          <p:nvPr/>
        </p:nvSpPr>
        <p:spPr>
          <a:xfrm>
            <a:off x="731520" y="43799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2" name="Shape 20"/>
          <p:cNvSpPr/>
          <p:nvPr/>
        </p:nvSpPr>
        <p:spPr>
          <a:xfrm>
            <a:off x="1280160" y="4315968"/>
            <a:ext cx="10287000" cy="493776"/>
          </a:xfrm>
          <a:prstGeom prst="roundRect">
            <a:avLst>
              <a:gd name="adj" fmla="val 18519"/>
            </a:avLst>
          </a:prstGeom>
          <a:solidFill>
            <a:srgbClr val="FFFFFF"/>
          </a:solidFill>
          <a:ln w="12700">
            <a:solidFill>
              <a:srgbClr val="CFD5D9"/>
            </a:solidFill>
            <a:prstDash val="solid"/>
          </a:ln>
        </p:spPr>
      </p:sp>
      <p:sp>
        <p:nvSpPr>
          <p:cNvPr id="23" name="Text 21"/>
          <p:cNvSpPr txBox="1"/>
          <p:nvPr/>
        </p:nvSpPr>
        <p:spPr>
          <a:xfrm>
            <a:off x="1481328" y="4315968"/>
            <a:ext cx="3291840" cy="493776"/>
          </a:xfrm>
          <a:prstGeom prst="rect">
            <a:avLst/>
          </a:prstGeom>
          <a:noFill/>
          <a:ln/>
        </p:spPr>
        <p:txBody>
          <a:bodyPr wrap="square" lIns="0" tIns="0" rIns="0" bIns="0" rtlCol="0" anchor="ctr"/>
          <a:lstStyle/>
          <a:p>
            <a:pPr algn="l" indent="0" marL="0">
              <a:buNone/>
            </a:pPr>
            <a:r>
              <a:rPr lang="en-US" sz="1250" b="1" dirty="0">
                <a:solidFill>
                  <a:srgbClr val="177E89"/>
                </a:solidFill>
                <a:latin typeface="Consolas" pitchFamily="34" charset="0"/>
                <a:ea typeface="Consolas" pitchFamily="34" charset="-122"/>
                <a:cs typeface="Consolas" pitchFamily="34" charset="-120"/>
              </a:rPr>
              <a:t>global.css</a:t>
            </a:r>
            <a:endParaRPr lang="en-US" sz="1250" dirty="0"/>
          </a:p>
        </p:txBody>
      </p:sp>
      <p:sp>
        <p:nvSpPr>
          <p:cNvPr id="24" name="Text 22"/>
          <p:cNvSpPr txBox="1"/>
          <p:nvPr/>
        </p:nvSpPr>
        <p:spPr>
          <a:xfrm>
            <a:off x="4846320" y="4315968"/>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Tus tokens, tu reinicio y tu letra</a:t>
            </a:r>
            <a:endParaRPr lang="en-US" sz="1150" dirty="0"/>
          </a:p>
        </p:txBody>
      </p:sp>
      <p:sp>
        <p:nvSpPr>
          <p:cNvPr id="25" name="Shape 23"/>
          <p:cNvSpPr/>
          <p:nvPr/>
        </p:nvSpPr>
        <p:spPr>
          <a:xfrm>
            <a:off x="731520" y="4946904"/>
            <a:ext cx="384048" cy="384048"/>
          </a:xfrm>
          <a:prstGeom prst="ellipse">
            <a:avLst/>
          </a:prstGeom>
          <a:solidFill>
            <a:srgbClr val="177E89"/>
          </a:solidFill>
          <a:ln w="12700">
            <a:solidFill>
              <a:srgbClr val="177E89"/>
            </a:solidFill>
            <a:prstDash val="solid"/>
          </a:ln>
        </p:spPr>
      </p:sp>
      <p:sp>
        <p:nvSpPr>
          <p:cNvPr id="26" name="Text 24"/>
          <p:cNvSpPr txBox="1"/>
          <p:nvPr/>
        </p:nvSpPr>
        <p:spPr>
          <a:xfrm>
            <a:off x="731520" y="4946904"/>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5</a:t>
            </a:r>
            <a:endParaRPr lang="en-US" sz="1150" dirty="0"/>
          </a:p>
        </p:txBody>
      </p:sp>
      <p:sp>
        <p:nvSpPr>
          <p:cNvPr id="27" name="Shape 25"/>
          <p:cNvSpPr/>
          <p:nvPr/>
        </p:nvSpPr>
        <p:spPr>
          <a:xfrm>
            <a:off x="1280160" y="4882896"/>
            <a:ext cx="10287000" cy="493776"/>
          </a:xfrm>
          <a:prstGeom prst="roundRect">
            <a:avLst>
              <a:gd name="adj" fmla="val 18519"/>
            </a:avLst>
          </a:prstGeom>
          <a:solidFill>
            <a:srgbClr val="FFFFFF"/>
          </a:solidFill>
          <a:ln w="12700">
            <a:solidFill>
              <a:srgbClr val="CFD5D9"/>
            </a:solidFill>
            <a:prstDash val="solid"/>
          </a:ln>
        </p:spPr>
      </p:sp>
      <p:sp>
        <p:nvSpPr>
          <p:cNvPr id="28" name="Text 26"/>
          <p:cNvSpPr txBox="1"/>
          <p:nvPr/>
        </p:nvSpPr>
        <p:spPr>
          <a:xfrm>
            <a:off x="1481328" y="4882896"/>
            <a:ext cx="3291840" cy="493776"/>
          </a:xfrm>
          <a:prstGeom prst="rect">
            <a:avLst/>
          </a:prstGeom>
          <a:noFill/>
          <a:ln/>
        </p:spPr>
        <p:txBody>
          <a:bodyPr wrap="square" lIns="0" tIns="0" rIns="0" bIns="0" rtlCol="0" anchor="ctr"/>
          <a:lstStyle/>
          <a:p>
            <a:pPr algn="l" indent="0" marL="0">
              <a:buNone/>
            </a:pPr>
            <a:r>
              <a:rPr lang="en-US" sz="1250" b="1" dirty="0">
                <a:solidFill>
                  <a:srgbClr val="177E89"/>
                </a:solidFill>
                <a:latin typeface="Consolas" pitchFamily="34" charset="0"/>
                <a:ea typeface="Consolas" pitchFamily="34" charset="-122"/>
                <a:cs typeface="Consolas" pitchFamily="34" charset="-120"/>
              </a:rPr>
              <a:t>header.css</a:t>
            </a:r>
            <a:endParaRPr lang="en-US" sz="1250" dirty="0"/>
          </a:p>
        </p:txBody>
      </p:sp>
      <p:sp>
        <p:nvSpPr>
          <p:cNvPr id="29" name="Text 27"/>
          <p:cNvSpPr txBox="1"/>
          <p:nvPr/>
        </p:nvSpPr>
        <p:spPr>
          <a:xfrm>
            <a:off x="4846320" y="4882896"/>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Tu cabecera y tu pie</a:t>
            </a:r>
            <a:endParaRPr lang="en-US" sz="1150" dirty="0"/>
          </a:p>
        </p:txBody>
      </p:sp>
      <p:sp>
        <p:nvSpPr>
          <p:cNvPr id="30" name="Shape 28"/>
          <p:cNvSpPr/>
          <p:nvPr/>
        </p:nvSpPr>
        <p:spPr>
          <a:xfrm>
            <a:off x="731520" y="5513832"/>
            <a:ext cx="384048" cy="384048"/>
          </a:xfrm>
          <a:prstGeom prst="ellipse">
            <a:avLst/>
          </a:prstGeom>
          <a:solidFill>
            <a:srgbClr val="177E89"/>
          </a:solidFill>
          <a:ln w="12700">
            <a:solidFill>
              <a:srgbClr val="177E89"/>
            </a:solidFill>
            <a:prstDash val="solid"/>
          </a:ln>
        </p:spPr>
      </p:sp>
      <p:sp>
        <p:nvSpPr>
          <p:cNvPr id="31" name="Text 29"/>
          <p:cNvSpPr txBox="1"/>
          <p:nvPr/>
        </p:nvSpPr>
        <p:spPr>
          <a:xfrm>
            <a:off x="731520" y="5513832"/>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6</a:t>
            </a:r>
            <a:endParaRPr lang="en-US" sz="1150" dirty="0"/>
          </a:p>
        </p:txBody>
      </p:sp>
      <p:sp>
        <p:nvSpPr>
          <p:cNvPr id="32" name="Shape 30"/>
          <p:cNvSpPr/>
          <p:nvPr/>
        </p:nvSpPr>
        <p:spPr>
          <a:xfrm>
            <a:off x="1280160" y="5449824"/>
            <a:ext cx="10287000" cy="493776"/>
          </a:xfrm>
          <a:prstGeom prst="roundRect">
            <a:avLst>
              <a:gd name="adj" fmla="val 18519"/>
            </a:avLst>
          </a:prstGeom>
          <a:solidFill>
            <a:srgbClr val="FFFFFF"/>
          </a:solidFill>
          <a:ln w="12700">
            <a:solidFill>
              <a:srgbClr val="CFD5D9"/>
            </a:solidFill>
            <a:prstDash val="solid"/>
          </a:ln>
        </p:spPr>
      </p:sp>
      <p:sp>
        <p:nvSpPr>
          <p:cNvPr id="33" name="Text 31"/>
          <p:cNvSpPr txBox="1"/>
          <p:nvPr/>
        </p:nvSpPr>
        <p:spPr>
          <a:xfrm>
            <a:off x="1481328" y="5449824"/>
            <a:ext cx="3291840" cy="493776"/>
          </a:xfrm>
          <a:prstGeom prst="rect">
            <a:avLst/>
          </a:prstGeom>
          <a:noFill/>
          <a:ln/>
        </p:spPr>
        <p:txBody>
          <a:bodyPr wrap="square" lIns="0" tIns="0" rIns="0" bIns="0" rtlCol="0" anchor="ctr"/>
          <a:lstStyle/>
          <a:p>
            <a:pPr algn="l" indent="0" marL="0">
              <a:buNone/>
            </a:pPr>
            <a:r>
              <a:rPr lang="en-US" sz="1250" b="1" dirty="0">
                <a:solidFill>
                  <a:srgbClr val="177E89"/>
                </a:solidFill>
                <a:latin typeface="Consolas" pitchFamily="34" charset="0"/>
                <a:ea typeface="Consolas" pitchFamily="34" charset="-122"/>
                <a:cs typeface="Consolas" pitchFamily="34" charset="-120"/>
              </a:rPr>
              <a:t>cursos.css</a:t>
            </a:r>
            <a:endParaRPr lang="en-US" sz="1250" dirty="0"/>
          </a:p>
        </p:txBody>
      </p:sp>
      <p:sp>
        <p:nvSpPr>
          <p:cNvPr id="34" name="Text 32"/>
          <p:cNvSpPr txBox="1"/>
          <p:nvPr/>
        </p:nvSpPr>
        <p:spPr>
          <a:xfrm>
            <a:off x="4846320" y="5449824"/>
            <a:ext cx="6583680" cy="493776"/>
          </a:xfrm>
          <a:prstGeom prst="rect">
            <a:avLst/>
          </a:prstGeom>
          <a:noFill/>
          <a:ln/>
        </p:spPr>
        <p:txBody>
          <a:bodyPr wrap="square" lIns="0" tIns="0" rIns="0" bIns="0" rtlCol="0" anchor="ctr"/>
          <a:lstStyle/>
          <a:p>
            <a:pPr algn="l" indent="0" marL="0">
              <a:buNone/>
            </a:pPr>
            <a:r>
              <a:rPr lang="en-US" sz="1150" dirty="0">
                <a:solidFill>
                  <a:srgbClr val="33393D"/>
                </a:solidFill>
                <a:latin typeface="Calibri" pitchFamily="34" charset="0"/>
                <a:ea typeface="Calibri" pitchFamily="34" charset="-122"/>
                <a:cs typeface="Calibri" pitchFamily="34" charset="-120"/>
              </a:rPr>
              <a:t>La caja central, los títulos y el movimiento</a:t>
            </a:r>
            <a:endParaRPr lang="en-US" sz="1150" dirty="0"/>
          </a:p>
        </p:txBody>
      </p:sp>
      <p:sp>
        <p:nvSpPr>
          <p:cNvPr id="35" name="Text 33"/>
          <p:cNvSpPr txBox="1"/>
          <p:nvPr/>
        </p:nvSpPr>
        <p:spPr>
          <a:xfrm>
            <a:off x="640080" y="6172200"/>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Y al final del body: bootstrap.bundle.min.js y, si lo usas, inscripcion.js.</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31 / 47</a:t>
            </a:r>
            <a:endParaRPr lang="en-US" sz="80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spTree>
      <p:nvGrpSpPr>
        <p:cNvPr id="1" name=""/>
        <p:cNvGrpSpPr/>
        <p:nvPr/>
      </p:nvGrpSpPr>
      <p:grpSpPr>
        <a:xfrm>
          <a:off x="0" y="0"/>
          <a:ext cx="0" cy="0"/>
          <a:chOff x="0" y="0"/>
          <a:chExt cx="0" cy="0"/>
        </a:xfrm>
      </p:grpSpPr>
      <p:sp>
        <p:nvSpPr>
          <p:cNvPr id="2" name="Shape 0"/>
          <p:cNvSpPr/>
          <p:nvPr/>
        </p:nvSpPr>
        <p:spPr>
          <a:xfrm>
            <a:off x="3127248" y="2651760"/>
            <a:ext cx="5943600" cy="960120"/>
          </a:xfrm>
          <a:prstGeom prst="roundRect">
            <a:avLst>
              <a:gd name="adj" fmla="val 49524"/>
            </a:avLst>
          </a:prstGeom>
          <a:solidFill>
            <a:srgbClr val="177E89"/>
          </a:solidFill>
          <a:ln w="12700">
            <a:solidFill>
              <a:srgbClr val="177E89"/>
            </a:solidFill>
            <a:prstDash val="solid"/>
          </a:ln>
        </p:spPr>
      </p:sp>
      <p:sp>
        <p:nvSpPr>
          <p:cNvPr id="3" name="Text 1"/>
          <p:cNvSpPr txBox="1"/>
          <p:nvPr/>
        </p:nvSpPr>
        <p:spPr>
          <a:xfrm>
            <a:off x="3127248" y="2651760"/>
            <a:ext cx="5943600" cy="960120"/>
          </a:xfrm>
          <a:prstGeom prst="rect">
            <a:avLst/>
          </a:prstGeom>
          <a:noFill/>
          <a:ln/>
        </p:spPr>
        <p:txBody>
          <a:bodyPr wrap="square" lIns="0" tIns="0" rIns="0" bIns="0" rtlCol="0" anchor="ctr"/>
          <a:lstStyle/>
          <a:p>
            <a:pPr algn="ctr" indent="0" marL="0">
              <a:buNone/>
            </a:pPr>
            <a:r>
              <a:rPr lang="en-US" sz="2000" b="1" dirty="0">
                <a:solidFill>
                  <a:srgbClr val="FFFFFF"/>
                </a:solidFill>
                <a:latin typeface="Calibri" pitchFamily="34" charset="0"/>
                <a:ea typeface="Calibri" pitchFamily="34" charset="-122"/>
                <a:cs typeface="Calibri" pitchFamily="34" charset="-120"/>
              </a:rPr>
              <a:t>DESCANSO · 15 MINUTOS</a:t>
            </a:r>
            <a:endParaRPr lang="en-US" sz="2000" dirty="0"/>
          </a:p>
        </p:txBody>
      </p:sp>
      <p:pic>
        <p:nvPicPr>
          <p:cNvPr id="4" name="Image 0" descr="Indicador de espera">    </p:cNvPr>
          <p:cNvPicPr>
            <a:picLocks noChangeAspect="1"/>
          </p:cNvPicPr>
          <p:nvPr/>
        </p:nvPicPr>
        <p:blipFill>
          <a:blip r:embed="rId1"/>
          <a:stretch>
            <a:fillRect/>
          </a:stretch>
        </p:blipFill>
        <p:spPr>
          <a:xfrm>
            <a:off x="5550408" y="3977640"/>
            <a:ext cx="1097280" cy="1097280"/>
          </a:xfrm>
          <a:prstGeom prst="rect">
            <a:avLst/>
          </a:prstGeom>
        </p:spPr>
      </p:pic>
      <p:sp>
        <p:nvSpPr>
          <p:cNvPr id="5" name="Text 2"/>
          <p:cNvSpPr txBox="1"/>
          <p:nvPr/>
        </p:nvSpPr>
        <p:spPr>
          <a:xfrm>
            <a:off x="1371600" y="5321808"/>
            <a:ext cx="9445752" cy="310896"/>
          </a:xfrm>
          <a:prstGeom prst="rect">
            <a:avLst/>
          </a:prstGeom>
          <a:noFill/>
          <a:ln/>
        </p:spPr>
        <p:txBody>
          <a:bodyPr wrap="square" lIns="0" tIns="0" rIns="0" bIns="0" rtlCol="0" anchor="ctr"/>
          <a:lstStyle/>
          <a:p>
            <a:pPr algn="ctr" indent="0" marL="0">
              <a:buNone/>
            </a:pPr>
            <a:r>
              <a:rPr lang="en-US" sz="1200" dirty="0">
                <a:solidFill>
                  <a:srgbClr val="5F676C"/>
                </a:solidFill>
                <a:latin typeface="Calibri" pitchFamily="34" charset="0"/>
                <a:ea typeface="Calibri" pitchFamily="34" charset="-122"/>
                <a:cs typeface="Calibri" pitchFamily="34" charset="-120"/>
              </a:rPr>
              <a:t>Al volver guardamos los colores de Figma como variables y armamos la página con componentes.</a:t>
            </a:r>
            <a:endParaRPr lang="en-US" sz="1200" dirty="0"/>
          </a:p>
        </p:txBody>
      </p:sp>
      <p:sp>
        <p:nvSpPr>
          <p:cNvPr id="6" name="Text 3"/>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32 / 47</a:t>
            </a:r>
            <a:endParaRPr lang="en-US" sz="80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spTree>
      <p:nvGrpSpPr>
        <p:cNvPr id="1" name=""/>
        <p:cNvGrpSpPr/>
        <p:nvPr/>
      </p:nvGrpSpPr>
      <p:grpSpPr>
        <a:xfrm>
          <a:off x="0" y="0"/>
          <a:ext cx="0" cy="0"/>
          <a:chOff x="0" y="0"/>
          <a:chExt cx="0" cy="0"/>
        </a:xfrm>
      </p:grpSpPr>
      <p:pic>
        <p:nvPicPr>
          <p:cNvPr id="2" name="Image 0" descr="Instrumental: aplicación del conocimiento con ejercicios y demostraciones">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33 / 47</a:t>
            </a:r>
            <a:endParaRPr lang="en-US" sz="80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05 · FIGMA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En Figma hoy: variables y el componente de curso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Ampliación del manual. Cada clic está en la Guía de Figma de la sesión.</a:t>
            </a:r>
            <a:endParaRPr lang="en-US" sz="1250" dirty="0"/>
          </a:p>
        </p:txBody>
      </p:sp>
      <p:sp>
        <p:nvSpPr>
          <p:cNvPr id="5" name="Shape 3"/>
          <p:cNvSpPr/>
          <p:nvPr/>
        </p:nvSpPr>
        <p:spPr>
          <a:xfrm>
            <a:off x="640080" y="2615184"/>
            <a:ext cx="3520440" cy="1572768"/>
          </a:xfrm>
          <a:prstGeom prst="roundRect">
            <a:avLst>
              <a:gd name="adj" fmla="val 5814"/>
            </a:avLst>
          </a:prstGeom>
          <a:solidFill>
            <a:srgbClr val="FFFFFF"/>
          </a:solidFill>
          <a:ln w="12700">
            <a:solidFill>
              <a:srgbClr val="CFD5D9"/>
            </a:solidFill>
            <a:prstDash val="solid"/>
          </a:ln>
        </p:spPr>
      </p:sp>
      <p:sp>
        <p:nvSpPr>
          <p:cNvPr id="6" name="Shape 4"/>
          <p:cNvSpPr/>
          <p:nvPr/>
        </p:nvSpPr>
        <p:spPr>
          <a:xfrm>
            <a:off x="886968" y="2843784"/>
            <a:ext cx="402336" cy="402336"/>
          </a:xfrm>
          <a:prstGeom prst="ellipse">
            <a:avLst/>
          </a:prstGeom>
          <a:solidFill>
            <a:srgbClr val="177E89"/>
          </a:solidFill>
          <a:ln w="12700">
            <a:solidFill>
              <a:srgbClr val="177E89"/>
            </a:solidFill>
            <a:prstDash val="solid"/>
          </a:ln>
        </p:spPr>
      </p:sp>
      <p:sp>
        <p:nvSpPr>
          <p:cNvPr id="7" name="Text 5"/>
          <p:cNvSpPr txBox="1"/>
          <p:nvPr/>
        </p:nvSpPr>
        <p:spPr>
          <a:xfrm>
            <a:off x="88696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4475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La colección</a:t>
            </a:r>
            <a:endParaRPr lang="en-US" sz="1300" dirty="0"/>
          </a:p>
        </p:txBody>
      </p:sp>
      <p:sp>
        <p:nvSpPr>
          <p:cNvPr id="9" name="Text 7"/>
          <p:cNvSpPr txBox="1"/>
          <p:nvPr/>
        </p:nvSpPr>
        <p:spPr>
          <a:xfrm>
            <a:off x="914400" y="338328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Sin nada seleccionado: </a:t>
            </a:r>
            <a:pPr algn="l" indent="0" marL="0">
              <a:buNone/>
            </a:pPr>
            <a:r>
              <a:rPr lang="en-US" sz="1150" b="1" dirty="0">
                <a:solidFill>
                  <a:srgbClr val="33393D"/>
                </a:solidFill>
                <a:latin typeface="Calibri" pitchFamily="34" charset="0"/>
                <a:ea typeface="Calibri" pitchFamily="34" charset="-122"/>
                <a:cs typeface="Calibri" pitchFamily="34" charset="-120"/>
              </a:rPr>
              <a:t>Variables locales</a:t>
            </a:r>
            <a:pPr algn="l" indent="0" marL="0">
              <a:buNone/>
            </a:pPr>
            <a:r>
              <a:rPr lang="en-US" sz="1150" dirty="0">
                <a:solidFill>
                  <a:srgbClr val="33393D"/>
                </a:solidFill>
                <a:latin typeface="Calibri" pitchFamily="34" charset="0"/>
                <a:ea typeface="Calibri" pitchFamily="34" charset="-122"/>
                <a:cs typeface="Calibri" pitchFamily="34" charset="-120"/>
              </a:rPr>
              <a:t> › </a:t>
            </a:r>
            <a:pPr algn="l" indent="0" marL="0">
              <a:buNone/>
            </a:pPr>
            <a:r>
              <a:rPr lang="en-US" sz="1150" b="1" dirty="0">
                <a:solidFill>
                  <a:srgbClr val="33393D"/>
                </a:solidFill>
                <a:latin typeface="Calibri" pitchFamily="34" charset="0"/>
                <a:ea typeface="Calibri" pitchFamily="34" charset="-122"/>
                <a:cs typeface="Calibri" pitchFamily="34" charset="-120"/>
              </a:rPr>
              <a:t>Abrir variables</a:t>
            </a:r>
            <a:pPr algn="l" indent="0" marL="0">
              <a:buNone/>
            </a:pPr>
            <a:r>
              <a:rPr lang="en-US" sz="1150" dirty="0">
                <a:solidFill>
                  <a:srgbClr val="33393D"/>
                </a:solidFill>
                <a:latin typeface="Calibri" pitchFamily="34" charset="0"/>
                <a:ea typeface="Calibri" pitchFamily="34" charset="-122"/>
                <a:cs typeface="Calibri" pitchFamily="34" charset="-120"/>
              </a:rPr>
              <a:t>. Llámala </a:t>
            </a:r>
            <a:pPr algn="l" indent="0" marL="0">
              <a:buNone/>
            </a:pPr>
            <a:r>
              <a:rPr lang="en-US" sz="1150" dirty="0">
                <a:solidFill>
                  <a:srgbClr val="1F2326"/>
                </a:solidFill>
                <a:latin typeface="Consolas" pitchFamily="34" charset="0"/>
                <a:ea typeface="Consolas" pitchFamily="34" charset="-122"/>
                <a:cs typeface="Consolas" pitchFamily="34" charset="-120"/>
              </a:rPr>
              <a:t>tokens</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10" name="Shape 8"/>
          <p:cNvSpPr/>
          <p:nvPr/>
        </p:nvSpPr>
        <p:spPr>
          <a:xfrm>
            <a:off x="4343400" y="2615184"/>
            <a:ext cx="3520440" cy="1572768"/>
          </a:xfrm>
          <a:prstGeom prst="roundRect">
            <a:avLst>
              <a:gd name="adj" fmla="val 5814"/>
            </a:avLst>
          </a:prstGeom>
          <a:solidFill>
            <a:srgbClr val="FFFFFF"/>
          </a:solidFill>
          <a:ln w="12700">
            <a:solidFill>
              <a:srgbClr val="CFD5D9"/>
            </a:solidFill>
            <a:prstDash val="solid"/>
          </a:ln>
        </p:spPr>
      </p:sp>
      <p:sp>
        <p:nvSpPr>
          <p:cNvPr id="11" name="Shape 9"/>
          <p:cNvSpPr/>
          <p:nvPr/>
        </p:nvSpPr>
        <p:spPr>
          <a:xfrm>
            <a:off x="4590288" y="2843784"/>
            <a:ext cx="402336" cy="402336"/>
          </a:xfrm>
          <a:prstGeom prst="ellipse">
            <a:avLst/>
          </a:prstGeom>
          <a:solidFill>
            <a:srgbClr val="177E89"/>
          </a:solidFill>
          <a:ln w="12700">
            <a:solidFill>
              <a:srgbClr val="177E89"/>
            </a:solidFill>
            <a:prstDash val="solid"/>
          </a:ln>
        </p:spPr>
      </p:sp>
      <p:sp>
        <p:nvSpPr>
          <p:cNvPr id="12" name="Text 10"/>
          <p:cNvSpPr txBox="1"/>
          <p:nvPr/>
        </p:nvSpPr>
        <p:spPr>
          <a:xfrm>
            <a:off x="459028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4807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8 colores</a:t>
            </a:r>
            <a:endParaRPr lang="en-US" sz="1300" dirty="0"/>
          </a:p>
        </p:txBody>
      </p:sp>
      <p:sp>
        <p:nvSpPr>
          <p:cNvPr id="14" name="Text 12"/>
          <p:cNvSpPr txBox="1"/>
          <p:nvPr/>
        </p:nvSpPr>
        <p:spPr>
          <a:xfrm>
            <a:off x="4617720" y="338328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color-primary</a:t>
            </a:r>
            <a:pPr algn="l" indent="0" marL="0">
              <a:buNone/>
            </a:pPr>
            <a:r>
              <a:rPr lang="en-US" sz="1150" dirty="0">
                <a:solidFill>
                  <a:srgbClr val="33393D"/>
                </a:solidFill>
                <a:latin typeface="Calibri" pitchFamily="34" charset="0"/>
                <a:ea typeface="Calibri" pitchFamily="34" charset="-122"/>
                <a:cs typeface="Calibri" pitchFamily="34" charset="-120"/>
              </a:rPr>
              <a:t>, </a:t>
            </a:r>
            <a:pPr algn="l" indent="0" marL="0">
              <a:buNone/>
            </a:pPr>
            <a:r>
              <a:rPr lang="en-US" sz="1150" dirty="0">
                <a:solidFill>
                  <a:srgbClr val="1F2326"/>
                </a:solidFill>
                <a:latin typeface="Consolas" pitchFamily="34" charset="0"/>
                <a:ea typeface="Consolas" pitchFamily="34" charset="-122"/>
                <a:cs typeface="Consolas" pitchFamily="34" charset="-120"/>
              </a:rPr>
              <a:t>color-primary-hover</a:t>
            </a:r>
            <a:pPr algn="l" indent="0" marL="0">
              <a:buNone/>
            </a:pPr>
            <a:r>
              <a:rPr lang="en-US" sz="1150" dirty="0">
                <a:solidFill>
                  <a:srgbClr val="33393D"/>
                </a:solidFill>
                <a:latin typeface="Calibri" pitchFamily="34" charset="0"/>
                <a:ea typeface="Calibri" pitchFamily="34" charset="-122"/>
                <a:cs typeface="Calibri" pitchFamily="34" charset="-120"/>
              </a:rPr>
              <a:t>, </a:t>
            </a:r>
            <a:pPr algn="l" indent="0" marL="0">
              <a:buNone/>
            </a:pPr>
            <a:r>
              <a:rPr lang="en-US" sz="1150" dirty="0">
                <a:solidFill>
                  <a:srgbClr val="1F2326"/>
                </a:solidFill>
                <a:latin typeface="Consolas" pitchFamily="34" charset="0"/>
                <a:ea typeface="Consolas" pitchFamily="34" charset="-122"/>
                <a:cs typeface="Consolas" pitchFamily="34" charset="-120"/>
              </a:rPr>
              <a:t>color-border</a:t>
            </a:r>
            <a:pPr algn="l" indent="0" marL="0">
              <a:buNone/>
            </a:pPr>
            <a:r>
              <a:rPr lang="en-US" sz="1150" dirty="0">
                <a:solidFill>
                  <a:srgbClr val="33393D"/>
                </a:solidFill>
                <a:latin typeface="Calibri" pitchFamily="34" charset="0"/>
                <a:ea typeface="Calibri" pitchFamily="34" charset="-122"/>
                <a:cs typeface="Calibri" pitchFamily="34" charset="-120"/>
              </a:rPr>
              <a:t>… con los códigos de Figma.</a:t>
            </a:r>
            <a:endParaRPr lang="en-US" sz="1150" dirty="0"/>
          </a:p>
        </p:txBody>
      </p:sp>
      <p:sp>
        <p:nvSpPr>
          <p:cNvPr id="15" name="Shape 13"/>
          <p:cNvSpPr/>
          <p:nvPr/>
        </p:nvSpPr>
        <p:spPr>
          <a:xfrm>
            <a:off x="8046720" y="2615184"/>
            <a:ext cx="3520440" cy="1572768"/>
          </a:xfrm>
          <a:prstGeom prst="roundRect">
            <a:avLst>
              <a:gd name="adj" fmla="val 5814"/>
            </a:avLst>
          </a:prstGeom>
          <a:solidFill>
            <a:srgbClr val="FFFFFF"/>
          </a:solidFill>
          <a:ln w="12700">
            <a:solidFill>
              <a:srgbClr val="CFD5D9"/>
            </a:solidFill>
            <a:prstDash val="solid"/>
          </a:ln>
        </p:spPr>
      </p:sp>
      <p:sp>
        <p:nvSpPr>
          <p:cNvPr id="16" name="Shape 14"/>
          <p:cNvSpPr/>
          <p:nvPr/>
        </p:nvSpPr>
        <p:spPr>
          <a:xfrm>
            <a:off x="8293608" y="2843784"/>
            <a:ext cx="402336" cy="402336"/>
          </a:xfrm>
          <a:prstGeom prst="ellipse">
            <a:avLst/>
          </a:prstGeom>
          <a:solidFill>
            <a:srgbClr val="177E89"/>
          </a:solidFill>
          <a:ln w="12700">
            <a:solidFill>
              <a:srgbClr val="177E89"/>
            </a:solidFill>
            <a:prstDash val="solid"/>
          </a:ln>
        </p:spPr>
      </p:sp>
      <p:sp>
        <p:nvSpPr>
          <p:cNvPr id="17" name="Text 15"/>
          <p:cNvSpPr txBox="1"/>
          <p:nvPr/>
        </p:nvSpPr>
        <p:spPr>
          <a:xfrm>
            <a:off x="829360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5139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3 números</a:t>
            </a:r>
            <a:endParaRPr lang="en-US" sz="1300" dirty="0"/>
          </a:p>
        </p:txBody>
      </p:sp>
      <p:sp>
        <p:nvSpPr>
          <p:cNvPr id="19" name="Text 17"/>
          <p:cNvSpPr txBox="1"/>
          <p:nvPr/>
        </p:nvSpPr>
        <p:spPr>
          <a:xfrm>
            <a:off x="8321040" y="338328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radius-sm</a:t>
            </a:r>
            <a:pPr algn="l" indent="0" marL="0">
              <a:buNone/>
            </a:pPr>
            <a:r>
              <a:rPr lang="en-US" sz="1150" dirty="0">
                <a:solidFill>
                  <a:srgbClr val="33393D"/>
                </a:solidFill>
                <a:latin typeface="Calibri" pitchFamily="34" charset="0"/>
                <a:ea typeface="Calibri" pitchFamily="34" charset="-122"/>
                <a:cs typeface="Calibri" pitchFamily="34" charset="-120"/>
              </a:rPr>
              <a:t> 8, </a:t>
            </a:r>
            <a:pPr algn="l" indent="0" marL="0">
              <a:buNone/>
            </a:pPr>
            <a:r>
              <a:rPr lang="en-US" sz="1150" dirty="0">
                <a:solidFill>
                  <a:srgbClr val="1F2326"/>
                </a:solidFill>
                <a:latin typeface="Consolas" pitchFamily="34" charset="0"/>
                <a:ea typeface="Consolas" pitchFamily="34" charset="-122"/>
                <a:cs typeface="Consolas" pitchFamily="34" charset="-120"/>
              </a:rPr>
              <a:t>radius-md</a:t>
            </a:r>
            <a:pPr algn="l" indent="0" marL="0">
              <a:buNone/>
            </a:pPr>
            <a:r>
              <a:rPr lang="en-US" sz="1150" dirty="0">
                <a:solidFill>
                  <a:srgbClr val="33393D"/>
                </a:solidFill>
                <a:latin typeface="Calibri" pitchFamily="34" charset="0"/>
                <a:ea typeface="Calibri" pitchFamily="34" charset="-122"/>
                <a:cs typeface="Calibri" pitchFamily="34" charset="-120"/>
              </a:rPr>
              <a:t> 12 y </a:t>
            </a:r>
            <a:pPr algn="l" indent="0" marL="0">
              <a:buNone/>
            </a:pPr>
            <a:r>
              <a:rPr lang="en-US" sz="1150" dirty="0">
                <a:solidFill>
                  <a:srgbClr val="1F2326"/>
                </a:solidFill>
                <a:latin typeface="Consolas" pitchFamily="34" charset="0"/>
                <a:ea typeface="Consolas" pitchFamily="34" charset="-122"/>
                <a:cs typeface="Consolas" pitchFamily="34" charset="-120"/>
              </a:rPr>
              <a:t>gutter</a:t>
            </a:r>
            <a:pPr algn="l" indent="0" marL="0">
              <a:buNone/>
            </a:pPr>
            <a:r>
              <a:rPr lang="en-US" sz="1150" dirty="0">
                <a:solidFill>
                  <a:srgbClr val="33393D"/>
                </a:solidFill>
                <a:latin typeface="Calibri" pitchFamily="34" charset="0"/>
                <a:ea typeface="Calibri" pitchFamily="34" charset="-122"/>
                <a:cs typeface="Calibri" pitchFamily="34" charset="-120"/>
              </a:rPr>
              <a:t> 24.</a:t>
            </a:r>
            <a:endParaRPr lang="en-US" sz="1150" dirty="0"/>
          </a:p>
        </p:txBody>
      </p:sp>
      <p:sp>
        <p:nvSpPr>
          <p:cNvPr id="20" name="Shape 18"/>
          <p:cNvSpPr/>
          <p:nvPr/>
        </p:nvSpPr>
        <p:spPr>
          <a:xfrm>
            <a:off x="640080" y="4352544"/>
            <a:ext cx="3520440" cy="1572768"/>
          </a:xfrm>
          <a:prstGeom prst="roundRect">
            <a:avLst>
              <a:gd name="adj" fmla="val 5814"/>
            </a:avLst>
          </a:prstGeom>
          <a:solidFill>
            <a:srgbClr val="FFFFFF"/>
          </a:solidFill>
          <a:ln w="12700">
            <a:solidFill>
              <a:srgbClr val="CFD5D9"/>
            </a:solidFill>
            <a:prstDash val="solid"/>
          </a:ln>
        </p:spPr>
      </p:sp>
      <p:sp>
        <p:nvSpPr>
          <p:cNvPr id="21" name="Shape 19"/>
          <p:cNvSpPr/>
          <p:nvPr/>
        </p:nvSpPr>
        <p:spPr>
          <a:xfrm>
            <a:off x="886968" y="4581144"/>
            <a:ext cx="402336" cy="402336"/>
          </a:xfrm>
          <a:prstGeom prst="ellipse">
            <a:avLst/>
          </a:prstGeom>
          <a:solidFill>
            <a:srgbClr val="177E89"/>
          </a:solidFill>
          <a:ln w="12700">
            <a:solidFill>
              <a:srgbClr val="177E89"/>
            </a:solidFill>
            <a:prstDash val="solid"/>
          </a:ln>
        </p:spPr>
      </p:sp>
      <p:sp>
        <p:nvSpPr>
          <p:cNvPr id="22" name="Text 20"/>
          <p:cNvSpPr txBox="1"/>
          <p:nvPr/>
        </p:nvSpPr>
        <p:spPr>
          <a:xfrm>
            <a:off x="88696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44475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Aplícalas</a:t>
            </a:r>
            <a:endParaRPr lang="en-US" sz="1300" dirty="0"/>
          </a:p>
        </p:txBody>
      </p:sp>
      <p:sp>
        <p:nvSpPr>
          <p:cNvPr id="24" name="Text 22"/>
          <p:cNvSpPr txBox="1"/>
          <p:nvPr/>
        </p:nvSpPr>
        <p:spPr>
          <a:xfrm>
            <a:off x="91440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En Relleno, el icono de cuatro puntos; en un campo numérico, el icono de variable.</a:t>
            </a:r>
            <a:endParaRPr lang="en-US" sz="1150" dirty="0"/>
          </a:p>
        </p:txBody>
      </p:sp>
      <p:sp>
        <p:nvSpPr>
          <p:cNvPr id="25" name="Shape 23"/>
          <p:cNvSpPr/>
          <p:nvPr/>
        </p:nvSpPr>
        <p:spPr>
          <a:xfrm>
            <a:off x="4343400" y="4352544"/>
            <a:ext cx="3520440" cy="1572768"/>
          </a:xfrm>
          <a:prstGeom prst="roundRect">
            <a:avLst>
              <a:gd name="adj" fmla="val 5814"/>
            </a:avLst>
          </a:prstGeom>
          <a:solidFill>
            <a:srgbClr val="FFFFFF"/>
          </a:solidFill>
          <a:ln w="12700">
            <a:solidFill>
              <a:srgbClr val="CFD5D9"/>
            </a:solidFill>
            <a:prstDash val="solid"/>
          </a:ln>
        </p:spPr>
      </p:sp>
      <p:sp>
        <p:nvSpPr>
          <p:cNvPr id="26" name="Shape 24"/>
          <p:cNvSpPr/>
          <p:nvPr/>
        </p:nvSpPr>
        <p:spPr>
          <a:xfrm>
            <a:off x="4590288" y="4581144"/>
            <a:ext cx="402336" cy="402336"/>
          </a:xfrm>
          <a:prstGeom prst="ellipse">
            <a:avLst/>
          </a:prstGeom>
          <a:solidFill>
            <a:srgbClr val="177E89"/>
          </a:solidFill>
          <a:ln w="12700">
            <a:solidFill>
              <a:srgbClr val="177E89"/>
            </a:solidFill>
            <a:prstDash val="solid"/>
          </a:ln>
        </p:spPr>
      </p:sp>
      <p:sp>
        <p:nvSpPr>
          <p:cNvPr id="27" name="Text 25"/>
          <p:cNvSpPr txBox="1"/>
          <p:nvPr/>
        </p:nvSpPr>
        <p:spPr>
          <a:xfrm>
            <a:off x="459028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14807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Dos niveles</a:t>
            </a:r>
            <a:endParaRPr lang="en-US" sz="1300" dirty="0"/>
          </a:p>
        </p:txBody>
      </p:sp>
      <p:sp>
        <p:nvSpPr>
          <p:cNvPr id="29" name="Text 27"/>
          <p:cNvSpPr txBox="1"/>
          <p:nvPr/>
        </p:nvSpPr>
        <p:spPr>
          <a:xfrm>
            <a:off x="4617720" y="512064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course-card</a:t>
            </a:r>
            <a:pPr algn="l" indent="0" marL="0">
              <a:buNone/>
            </a:pPr>
            <a:r>
              <a:rPr lang="en-US" sz="1150" dirty="0">
                <a:solidFill>
                  <a:srgbClr val="33393D"/>
                </a:solidFill>
                <a:latin typeface="Calibri" pitchFamily="34" charset="0"/>
                <a:ea typeface="Calibri" pitchFamily="34" charset="-122"/>
                <a:cs typeface="Calibri" pitchFamily="34" charset="-120"/>
              </a:rPr>
              <a:t> con las variantes </a:t>
            </a:r>
            <a:pPr algn="l" indent="0" marL="0">
              <a:buNone/>
            </a:pPr>
            <a:r>
              <a:rPr lang="en-US" sz="1150" dirty="0">
                <a:solidFill>
                  <a:srgbClr val="1F2326"/>
                </a:solidFill>
                <a:latin typeface="Consolas" pitchFamily="34" charset="0"/>
                <a:ea typeface="Consolas" pitchFamily="34" charset="-122"/>
                <a:cs typeface="Consolas" pitchFamily="34" charset="-120"/>
              </a:rPr>
              <a:t>Nivel=Básico</a:t>
            </a:r>
            <a:pPr algn="l" indent="0" marL="0">
              <a:buNone/>
            </a:pPr>
            <a:r>
              <a:rPr lang="en-US" sz="1150" dirty="0">
                <a:solidFill>
                  <a:srgbClr val="33393D"/>
                </a:solidFill>
                <a:latin typeface="Calibri" pitchFamily="34" charset="0"/>
                <a:ea typeface="Calibri" pitchFamily="34" charset="-122"/>
                <a:cs typeface="Calibri" pitchFamily="34" charset="-120"/>
              </a:rPr>
              <a:t> y </a:t>
            </a:r>
            <a:pPr algn="l" indent="0" marL="0">
              <a:buNone/>
            </a:pPr>
            <a:r>
              <a:rPr lang="en-US" sz="1150" dirty="0">
                <a:solidFill>
                  <a:srgbClr val="1F2326"/>
                </a:solidFill>
                <a:latin typeface="Consolas" pitchFamily="34" charset="0"/>
                <a:ea typeface="Consolas" pitchFamily="34" charset="-122"/>
                <a:cs typeface="Consolas" pitchFamily="34" charset="-120"/>
              </a:rPr>
              <a:t>Nivel=Intermedio</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30" name="Shape 28"/>
          <p:cNvSpPr/>
          <p:nvPr/>
        </p:nvSpPr>
        <p:spPr>
          <a:xfrm>
            <a:off x="8046720" y="4352544"/>
            <a:ext cx="3520440" cy="1572768"/>
          </a:xfrm>
          <a:prstGeom prst="roundRect">
            <a:avLst>
              <a:gd name="adj" fmla="val 5814"/>
            </a:avLst>
          </a:prstGeom>
          <a:solidFill>
            <a:srgbClr val="FFFFFF"/>
          </a:solidFill>
          <a:ln w="12700">
            <a:solidFill>
              <a:srgbClr val="CFD5D9"/>
            </a:solidFill>
            <a:prstDash val="solid"/>
          </a:ln>
        </p:spPr>
      </p:sp>
      <p:sp>
        <p:nvSpPr>
          <p:cNvPr id="31" name="Shape 29"/>
          <p:cNvSpPr/>
          <p:nvPr/>
        </p:nvSpPr>
        <p:spPr>
          <a:xfrm>
            <a:off x="8293608" y="4581144"/>
            <a:ext cx="402336" cy="402336"/>
          </a:xfrm>
          <a:prstGeom prst="ellipse">
            <a:avLst/>
          </a:prstGeom>
          <a:solidFill>
            <a:srgbClr val="177E89"/>
          </a:solidFill>
          <a:ln w="12700">
            <a:solidFill>
              <a:srgbClr val="177E89"/>
            </a:solidFill>
            <a:prstDash val="solid"/>
          </a:ln>
        </p:spPr>
      </p:sp>
      <p:sp>
        <p:nvSpPr>
          <p:cNvPr id="32" name="Text 30"/>
          <p:cNvSpPr txBox="1"/>
          <p:nvPr/>
        </p:nvSpPr>
        <p:spPr>
          <a:xfrm>
            <a:off x="829360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5139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Prueba</a:t>
            </a:r>
            <a:endParaRPr lang="en-US" sz="1300" dirty="0"/>
          </a:p>
        </p:txBody>
      </p:sp>
      <p:sp>
        <p:nvSpPr>
          <p:cNvPr id="34" name="Text 32"/>
          <p:cNvSpPr txBox="1"/>
          <p:nvPr/>
        </p:nvSpPr>
        <p:spPr>
          <a:xfrm>
            <a:off x="832104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Cambia </a:t>
            </a:r>
            <a:pPr algn="l" indent="0" marL="0">
              <a:buNone/>
            </a:pPr>
            <a:r>
              <a:rPr lang="en-US" sz="1150" dirty="0">
                <a:solidFill>
                  <a:srgbClr val="1F2326"/>
                </a:solidFill>
                <a:latin typeface="Consolas" pitchFamily="34" charset="0"/>
                <a:ea typeface="Consolas" pitchFamily="34" charset="-122"/>
                <a:cs typeface="Consolas" pitchFamily="34" charset="-120"/>
              </a:rPr>
              <a:t>color-primary</a:t>
            </a:r>
            <a:pPr algn="l" indent="0" marL="0">
              <a:buNone/>
            </a:pPr>
            <a:r>
              <a:rPr lang="en-US" sz="1150" dirty="0">
                <a:solidFill>
                  <a:srgbClr val="33393D"/>
                </a:solidFill>
                <a:latin typeface="Calibri" pitchFamily="34" charset="0"/>
                <a:ea typeface="Calibri" pitchFamily="34" charset="-122"/>
                <a:cs typeface="Calibri" pitchFamily="34" charset="-120"/>
              </a:rPr>
              <a:t>: cambian todos los botones. Deshaz con </a:t>
            </a:r>
            <a:pPr algn="l" indent="0" marL="0">
              <a:buNone/>
            </a:pPr>
            <a:r>
              <a:rPr lang="en-US" sz="1150" dirty="0">
                <a:solidFill>
                  <a:srgbClr val="1F2326"/>
                </a:solidFill>
                <a:latin typeface="Consolas" pitchFamily="34" charset="0"/>
                <a:ea typeface="Consolas" pitchFamily="34" charset="-122"/>
                <a:cs typeface="Consolas" pitchFamily="34" charset="-120"/>
              </a:rPr>
              <a:t>Ctrl + Z</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35" name="Text 33"/>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Si tu Figma está en inglés: Local variables, Open variables, Create variable, Apply variable.</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34 / 47</a:t>
            </a:r>
            <a:endParaRPr lang="en-US" sz="80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05 · FIGMA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Una variable, tres lugares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El mismo nombre en Figma, en tu CSS y en el tema de Bootstrap.</a:t>
            </a:r>
            <a:endParaRPr lang="en-US" sz="1250" dirty="0"/>
          </a:p>
        </p:txBody>
      </p:sp>
      <p:sp>
        <p:nvSpPr>
          <p:cNvPr id="5" name="Text 3"/>
          <p:cNvSpPr txBox="1"/>
          <p:nvPr/>
        </p:nvSpPr>
        <p:spPr>
          <a:xfrm>
            <a:off x="868680" y="2587752"/>
            <a:ext cx="356616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Variable en Figma</a:t>
            </a:r>
            <a:endParaRPr lang="en-US" sz="950" dirty="0"/>
          </a:p>
        </p:txBody>
      </p:sp>
      <p:sp>
        <p:nvSpPr>
          <p:cNvPr id="6" name="Text 4"/>
          <p:cNvSpPr txBox="1"/>
          <p:nvPr/>
        </p:nvSpPr>
        <p:spPr>
          <a:xfrm>
            <a:off x="4434840" y="2587752"/>
            <a:ext cx="329184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En global.css</a:t>
            </a:r>
            <a:endParaRPr lang="en-US" sz="950" dirty="0"/>
          </a:p>
        </p:txBody>
      </p:sp>
      <p:sp>
        <p:nvSpPr>
          <p:cNvPr id="7" name="Text 5"/>
          <p:cNvSpPr txBox="1"/>
          <p:nvPr/>
        </p:nvSpPr>
        <p:spPr>
          <a:xfrm>
            <a:off x="7726680" y="2587752"/>
            <a:ext cx="3886200" cy="219456"/>
          </a:xfrm>
          <a:prstGeom prst="rect">
            <a:avLst/>
          </a:prstGeom>
          <a:noFill/>
          <a:ln/>
        </p:spPr>
        <p:txBody>
          <a:bodyPr wrap="square" lIns="0" tIns="0" rIns="0" bIns="0" rtlCol="0" anchor="ctr"/>
          <a:lstStyle/>
          <a:p>
            <a:pPr algn="l" indent="0" marL="0">
              <a:buNone/>
            </a:pPr>
            <a:r>
              <a:rPr lang="en-US" sz="950" b="1" dirty="0">
                <a:solidFill>
                  <a:srgbClr val="5F676C"/>
                </a:solidFill>
                <a:latin typeface="Calibri" pitchFamily="34" charset="0"/>
                <a:ea typeface="Calibri" pitchFamily="34" charset="-122"/>
                <a:cs typeface="Calibri" pitchFamily="34" charset="-120"/>
              </a:rPr>
              <a:t>En tema-bootstrap.css</a:t>
            </a:r>
            <a:endParaRPr lang="en-US" sz="950" dirty="0"/>
          </a:p>
        </p:txBody>
      </p:sp>
      <p:sp>
        <p:nvSpPr>
          <p:cNvPr id="8" name="Shape 6"/>
          <p:cNvSpPr/>
          <p:nvPr/>
        </p:nvSpPr>
        <p:spPr>
          <a:xfrm>
            <a:off x="640080" y="2834640"/>
            <a:ext cx="10927080" cy="429768"/>
          </a:xfrm>
          <a:prstGeom prst="roundRect">
            <a:avLst>
              <a:gd name="adj" fmla="val 21277"/>
            </a:avLst>
          </a:prstGeom>
          <a:solidFill>
            <a:srgbClr val="FFFFFF"/>
          </a:solidFill>
          <a:ln w="12700">
            <a:solidFill>
              <a:srgbClr val="CFD5D9"/>
            </a:solidFill>
            <a:prstDash val="solid"/>
          </a:ln>
        </p:spPr>
      </p:sp>
      <p:sp>
        <p:nvSpPr>
          <p:cNvPr id="9" name="Text 7"/>
          <p:cNvSpPr txBox="1"/>
          <p:nvPr/>
        </p:nvSpPr>
        <p:spPr>
          <a:xfrm>
            <a:off x="868680" y="2834640"/>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color-primary · 06B6C4</a:t>
            </a:r>
            <a:endParaRPr lang="en-US" sz="1100" dirty="0"/>
          </a:p>
        </p:txBody>
      </p:sp>
      <p:sp>
        <p:nvSpPr>
          <p:cNvPr id="10" name="Text 8"/>
          <p:cNvSpPr txBox="1"/>
          <p:nvPr/>
        </p:nvSpPr>
        <p:spPr>
          <a:xfrm>
            <a:off x="4434840" y="2834640"/>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--color-primary</a:t>
            </a:r>
            <a:endParaRPr lang="en-US" sz="1100" dirty="0"/>
          </a:p>
        </p:txBody>
      </p:sp>
      <p:sp>
        <p:nvSpPr>
          <p:cNvPr id="11" name="Text 9"/>
          <p:cNvSpPr txBox="1"/>
          <p:nvPr/>
        </p:nvSpPr>
        <p:spPr>
          <a:xfrm>
            <a:off x="7726680" y="2834640"/>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--bs-primary · --bs-btn-bg</a:t>
            </a:r>
            <a:endParaRPr lang="en-US" sz="1100" dirty="0"/>
          </a:p>
        </p:txBody>
      </p:sp>
      <p:sp>
        <p:nvSpPr>
          <p:cNvPr id="12" name="Shape 10"/>
          <p:cNvSpPr/>
          <p:nvPr/>
        </p:nvSpPr>
        <p:spPr>
          <a:xfrm>
            <a:off x="640080" y="3328416"/>
            <a:ext cx="10927080" cy="429768"/>
          </a:xfrm>
          <a:prstGeom prst="roundRect">
            <a:avLst>
              <a:gd name="adj" fmla="val 21277"/>
            </a:avLst>
          </a:prstGeom>
          <a:solidFill>
            <a:srgbClr val="FFFFFF"/>
          </a:solidFill>
          <a:ln w="12700">
            <a:solidFill>
              <a:srgbClr val="CFD5D9"/>
            </a:solidFill>
            <a:prstDash val="solid"/>
          </a:ln>
        </p:spPr>
      </p:sp>
      <p:sp>
        <p:nvSpPr>
          <p:cNvPr id="13" name="Text 11"/>
          <p:cNvSpPr txBox="1"/>
          <p:nvPr/>
        </p:nvSpPr>
        <p:spPr>
          <a:xfrm>
            <a:off x="868680" y="3328416"/>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color-primary-hover · 05A3B0</a:t>
            </a:r>
            <a:endParaRPr lang="en-US" sz="1100" dirty="0"/>
          </a:p>
        </p:txBody>
      </p:sp>
      <p:sp>
        <p:nvSpPr>
          <p:cNvPr id="14" name="Text 12"/>
          <p:cNvSpPr txBox="1"/>
          <p:nvPr/>
        </p:nvSpPr>
        <p:spPr>
          <a:xfrm>
            <a:off x="4434840" y="3328416"/>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--color-primary-hover</a:t>
            </a:r>
            <a:endParaRPr lang="en-US" sz="1100" dirty="0"/>
          </a:p>
        </p:txBody>
      </p:sp>
      <p:sp>
        <p:nvSpPr>
          <p:cNvPr id="15" name="Text 13"/>
          <p:cNvSpPr txBox="1"/>
          <p:nvPr/>
        </p:nvSpPr>
        <p:spPr>
          <a:xfrm>
            <a:off x="7726680" y="3328416"/>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--bs-btn-hover-bg</a:t>
            </a:r>
            <a:endParaRPr lang="en-US" sz="1100" dirty="0"/>
          </a:p>
        </p:txBody>
      </p:sp>
      <p:sp>
        <p:nvSpPr>
          <p:cNvPr id="16" name="Shape 14"/>
          <p:cNvSpPr/>
          <p:nvPr/>
        </p:nvSpPr>
        <p:spPr>
          <a:xfrm>
            <a:off x="640080" y="3822192"/>
            <a:ext cx="10927080" cy="429768"/>
          </a:xfrm>
          <a:prstGeom prst="roundRect">
            <a:avLst>
              <a:gd name="adj" fmla="val 21277"/>
            </a:avLst>
          </a:prstGeom>
          <a:solidFill>
            <a:srgbClr val="FFFFFF"/>
          </a:solidFill>
          <a:ln w="12700">
            <a:solidFill>
              <a:srgbClr val="CFD5D9"/>
            </a:solidFill>
            <a:prstDash val="solid"/>
          </a:ln>
        </p:spPr>
      </p:sp>
      <p:sp>
        <p:nvSpPr>
          <p:cNvPr id="17" name="Text 15"/>
          <p:cNvSpPr txBox="1"/>
          <p:nvPr/>
        </p:nvSpPr>
        <p:spPr>
          <a:xfrm>
            <a:off x="868680" y="3822192"/>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color-primary-subtle · E6F8FA</a:t>
            </a:r>
            <a:endParaRPr lang="en-US" sz="1100" dirty="0"/>
          </a:p>
        </p:txBody>
      </p:sp>
      <p:sp>
        <p:nvSpPr>
          <p:cNvPr id="18" name="Text 16"/>
          <p:cNvSpPr txBox="1"/>
          <p:nvPr/>
        </p:nvSpPr>
        <p:spPr>
          <a:xfrm>
            <a:off x="4434840" y="3822192"/>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(solo en el tema)</a:t>
            </a:r>
            <a:endParaRPr lang="en-US" sz="1100" dirty="0"/>
          </a:p>
        </p:txBody>
      </p:sp>
      <p:sp>
        <p:nvSpPr>
          <p:cNvPr id="19" name="Text 17"/>
          <p:cNvSpPr txBox="1"/>
          <p:nvPr/>
        </p:nvSpPr>
        <p:spPr>
          <a:xfrm>
            <a:off x="7726680" y="3822192"/>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--bs-primary-bg-subtle</a:t>
            </a:r>
            <a:endParaRPr lang="en-US" sz="1100" dirty="0"/>
          </a:p>
        </p:txBody>
      </p:sp>
      <p:sp>
        <p:nvSpPr>
          <p:cNvPr id="20" name="Shape 18"/>
          <p:cNvSpPr/>
          <p:nvPr/>
        </p:nvSpPr>
        <p:spPr>
          <a:xfrm>
            <a:off x="640080" y="4315968"/>
            <a:ext cx="10927080" cy="429768"/>
          </a:xfrm>
          <a:prstGeom prst="roundRect">
            <a:avLst>
              <a:gd name="adj" fmla="val 21277"/>
            </a:avLst>
          </a:prstGeom>
          <a:solidFill>
            <a:srgbClr val="FFFFFF"/>
          </a:solidFill>
          <a:ln w="12700">
            <a:solidFill>
              <a:srgbClr val="CFD5D9"/>
            </a:solidFill>
            <a:prstDash val="solid"/>
          </a:ln>
        </p:spPr>
      </p:sp>
      <p:sp>
        <p:nvSpPr>
          <p:cNvPr id="21" name="Text 19"/>
          <p:cNvSpPr txBox="1"/>
          <p:nvPr/>
        </p:nvSpPr>
        <p:spPr>
          <a:xfrm>
            <a:off x="868680" y="4315968"/>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color-text-primary · 0B0F19</a:t>
            </a:r>
            <a:endParaRPr lang="en-US" sz="1100" dirty="0"/>
          </a:p>
        </p:txBody>
      </p:sp>
      <p:sp>
        <p:nvSpPr>
          <p:cNvPr id="22" name="Text 20"/>
          <p:cNvSpPr txBox="1"/>
          <p:nvPr/>
        </p:nvSpPr>
        <p:spPr>
          <a:xfrm>
            <a:off x="4434840" y="4315968"/>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--color-text-primary</a:t>
            </a:r>
            <a:endParaRPr lang="en-US" sz="1100" dirty="0"/>
          </a:p>
        </p:txBody>
      </p:sp>
      <p:sp>
        <p:nvSpPr>
          <p:cNvPr id="23" name="Text 21"/>
          <p:cNvSpPr txBox="1"/>
          <p:nvPr/>
        </p:nvSpPr>
        <p:spPr>
          <a:xfrm>
            <a:off x="7726680" y="4315968"/>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--bs-dark-rgb</a:t>
            </a:r>
            <a:endParaRPr lang="en-US" sz="1100" dirty="0"/>
          </a:p>
        </p:txBody>
      </p:sp>
      <p:sp>
        <p:nvSpPr>
          <p:cNvPr id="24" name="Shape 22"/>
          <p:cNvSpPr/>
          <p:nvPr/>
        </p:nvSpPr>
        <p:spPr>
          <a:xfrm>
            <a:off x="640080" y="4809744"/>
            <a:ext cx="10927080" cy="429768"/>
          </a:xfrm>
          <a:prstGeom prst="roundRect">
            <a:avLst>
              <a:gd name="adj" fmla="val 21277"/>
            </a:avLst>
          </a:prstGeom>
          <a:solidFill>
            <a:srgbClr val="FFFFFF"/>
          </a:solidFill>
          <a:ln w="12700">
            <a:solidFill>
              <a:srgbClr val="CFD5D9"/>
            </a:solidFill>
            <a:prstDash val="solid"/>
          </a:ln>
        </p:spPr>
      </p:sp>
      <p:sp>
        <p:nvSpPr>
          <p:cNvPr id="25" name="Text 23"/>
          <p:cNvSpPr txBox="1"/>
          <p:nvPr/>
        </p:nvSpPr>
        <p:spPr>
          <a:xfrm>
            <a:off x="868680" y="4809744"/>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color-text-secondary · 374151</a:t>
            </a:r>
            <a:endParaRPr lang="en-US" sz="1100" dirty="0"/>
          </a:p>
        </p:txBody>
      </p:sp>
      <p:sp>
        <p:nvSpPr>
          <p:cNvPr id="26" name="Text 24"/>
          <p:cNvSpPr txBox="1"/>
          <p:nvPr/>
        </p:nvSpPr>
        <p:spPr>
          <a:xfrm>
            <a:off x="4434840" y="4809744"/>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--color-text-secondary</a:t>
            </a:r>
            <a:endParaRPr lang="en-US" sz="1100" dirty="0"/>
          </a:p>
        </p:txBody>
      </p:sp>
      <p:sp>
        <p:nvSpPr>
          <p:cNvPr id="27" name="Text 25"/>
          <p:cNvSpPr txBox="1"/>
          <p:nvPr/>
        </p:nvSpPr>
        <p:spPr>
          <a:xfrm>
            <a:off x="7726680" y="4809744"/>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--bs-body-color</a:t>
            </a:r>
            <a:endParaRPr lang="en-US" sz="1100" dirty="0"/>
          </a:p>
        </p:txBody>
      </p:sp>
      <p:sp>
        <p:nvSpPr>
          <p:cNvPr id="28" name="Shape 26"/>
          <p:cNvSpPr/>
          <p:nvPr/>
        </p:nvSpPr>
        <p:spPr>
          <a:xfrm>
            <a:off x="640080" y="5303520"/>
            <a:ext cx="10927080" cy="429768"/>
          </a:xfrm>
          <a:prstGeom prst="roundRect">
            <a:avLst>
              <a:gd name="adj" fmla="val 21277"/>
            </a:avLst>
          </a:prstGeom>
          <a:solidFill>
            <a:srgbClr val="FFFFFF"/>
          </a:solidFill>
          <a:ln w="12700">
            <a:solidFill>
              <a:srgbClr val="CFD5D9"/>
            </a:solidFill>
            <a:prstDash val="solid"/>
          </a:ln>
        </p:spPr>
      </p:sp>
      <p:sp>
        <p:nvSpPr>
          <p:cNvPr id="29" name="Text 27"/>
          <p:cNvSpPr txBox="1"/>
          <p:nvPr/>
        </p:nvSpPr>
        <p:spPr>
          <a:xfrm>
            <a:off x="868680" y="5303520"/>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color-border · E5E7EB</a:t>
            </a:r>
            <a:endParaRPr lang="en-US" sz="1100" dirty="0"/>
          </a:p>
        </p:txBody>
      </p:sp>
      <p:sp>
        <p:nvSpPr>
          <p:cNvPr id="30" name="Text 28"/>
          <p:cNvSpPr txBox="1"/>
          <p:nvPr/>
        </p:nvSpPr>
        <p:spPr>
          <a:xfrm>
            <a:off x="4434840" y="5303520"/>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--color-border</a:t>
            </a:r>
            <a:endParaRPr lang="en-US" sz="1100" dirty="0"/>
          </a:p>
        </p:txBody>
      </p:sp>
      <p:sp>
        <p:nvSpPr>
          <p:cNvPr id="31" name="Text 29"/>
          <p:cNvSpPr txBox="1"/>
          <p:nvPr/>
        </p:nvSpPr>
        <p:spPr>
          <a:xfrm>
            <a:off x="7726680" y="5303520"/>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--bs-border-color</a:t>
            </a:r>
            <a:endParaRPr lang="en-US" sz="1100" dirty="0"/>
          </a:p>
        </p:txBody>
      </p:sp>
      <p:sp>
        <p:nvSpPr>
          <p:cNvPr id="32" name="Shape 30"/>
          <p:cNvSpPr/>
          <p:nvPr/>
        </p:nvSpPr>
        <p:spPr>
          <a:xfrm>
            <a:off x="640080" y="5797296"/>
            <a:ext cx="10927080" cy="429768"/>
          </a:xfrm>
          <a:prstGeom prst="roundRect">
            <a:avLst>
              <a:gd name="adj" fmla="val 21277"/>
            </a:avLst>
          </a:prstGeom>
          <a:solidFill>
            <a:srgbClr val="FFFFFF"/>
          </a:solidFill>
          <a:ln w="12700">
            <a:solidFill>
              <a:srgbClr val="CFD5D9"/>
            </a:solidFill>
            <a:prstDash val="solid"/>
          </a:ln>
        </p:spPr>
      </p:sp>
      <p:sp>
        <p:nvSpPr>
          <p:cNvPr id="33" name="Text 31"/>
          <p:cNvSpPr txBox="1"/>
          <p:nvPr/>
        </p:nvSpPr>
        <p:spPr>
          <a:xfrm>
            <a:off x="868680" y="5797296"/>
            <a:ext cx="3429000" cy="429768"/>
          </a:xfrm>
          <a:prstGeom prst="rect">
            <a:avLst/>
          </a:prstGeom>
          <a:noFill/>
          <a:ln/>
        </p:spPr>
        <p:txBody>
          <a:bodyPr wrap="square" lIns="0" tIns="0" rIns="0" bIns="0" rtlCol="0" anchor="ctr"/>
          <a:lstStyle/>
          <a:p>
            <a:pPr algn="l" indent="0" marL="0">
              <a:buNone/>
            </a:pPr>
            <a:r>
              <a:rPr lang="en-US" sz="1100" b="1" dirty="0">
                <a:solidFill>
                  <a:srgbClr val="1F2326"/>
                </a:solidFill>
                <a:latin typeface="Calibri" pitchFamily="34" charset="0"/>
                <a:ea typeface="Calibri" pitchFamily="34" charset="-122"/>
                <a:cs typeface="Calibri" pitchFamily="34" charset="-120"/>
              </a:rPr>
              <a:t>radius-md · 12</a:t>
            </a:r>
            <a:endParaRPr lang="en-US" sz="1100" dirty="0"/>
          </a:p>
        </p:txBody>
      </p:sp>
      <p:sp>
        <p:nvSpPr>
          <p:cNvPr id="34" name="Text 32"/>
          <p:cNvSpPr txBox="1"/>
          <p:nvPr/>
        </p:nvSpPr>
        <p:spPr>
          <a:xfrm>
            <a:off x="4434840" y="5797296"/>
            <a:ext cx="3154680" cy="429768"/>
          </a:xfrm>
          <a:prstGeom prst="rect">
            <a:avLst/>
          </a:prstGeom>
          <a:noFill/>
          <a:ln/>
        </p:spPr>
        <p:txBody>
          <a:bodyPr wrap="square" lIns="0" tIns="0" rIns="0" bIns="0" rtlCol="0" anchor="ctr"/>
          <a:lstStyle/>
          <a:p>
            <a:pPr algn="l" indent="0" marL="0">
              <a:buNone/>
            </a:pPr>
            <a:r>
              <a:rPr lang="en-US" sz="1100" dirty="0">
                <a:solidFill>
                  <a:srgbClr val="177E89"/>
                </a:solidFill>
                <a:latin typeface="Consolas" pitchFamily="34" charset="0"/>
                <a:ea typeface="Consolas" pitchFamily="34" charset="-122"/>
                <a:cs typeface="Consolas" pitchFamily="34" charset="-120"/>
              </a:rPr>
              <a:t>--radius-md</a:t>
            </a:r>
            <a:endParaRPr lang="en-US" sz="1100" dirty="0"/>
          </a:p>
        </p:txBody>
      </p:sp>
      <p:sp>
        <p:nvSpPr>
          <p:cNvPr id="35" name="Text 33"/>
          <p:cNvSpPr txBox="1"/>
          <p:nvPr/>
        </p:nvSpPr>
        <p:spPr>
          <a:xfrm>
            <a:off x="7726680" y="5797296"/>
            <a:ext cx="3749040" cy="429768"/>
          </a:xfrm>
          <a:prstGeom prst="rect">
            <a:avLst/>
          </a:prstGeom>
          <a:noFill/>
          <a:ln/>
        </p:spPr>
        <p:txBody>
          <a:bodyPr wrap="square" lIns="0" tIns="0" rIns="0" bIns="0" rtlCol="0" anchor="ctr"/>
          <a:lstStyle/>
          <a:p>
            <a:pPr algn="l" indent="0" marL="0">
              <a:buNone/>
            </a:pPr>
            <a:r>
              <a:rPr lang="en-US" sz="1100" dirty="0">
                <a:solidFill>
                  <a:srgbClr val="33393D"/>
                </a:solidFill>
                <a:latin typeface="Calibri" pitchFamily="34" charset="0"/>
                <a:ea typeface="Calibri" pitchFamily="34" charset="-122"/>
                <a:cs typeface="Calibri" pitchFamily="34" charset="-120"/>
              </a:rPr>
              <a:t>--bs-card-border-radius</a:t>
            </a:r>
            <a:endParaRPr lang="en-US" sz="110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35 / 47</a:t>
            </a:r>
            <a:endParaRPr lang="en-US" sz="80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06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Construimos juntos: el tema y las tarjetas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Pasos 0 al 3 de la guía de código.</a:t>
            </a:r>
            <a:endParaRPr lang="en-US" sz="1250" dirty="0"/>
          </a:p>
        </p:txBody>
      </p:sp>
      <p:sp>
        <p:nvSpPr>
          <p:cNvPr id="5" name="Shape 3"/>
          <p:cNvSpPr/>
          <p:nvPr/>
        </p:nvSpPr>
        <p:spPr>
          <a:xfrm>
            <a:off x="640080" y="2615184"/>
            <a:ext cx="630936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852160" cy="3200400"/>
          </a:xfrm>
          <a:prstGeom prst="rect">
            <a:avLst/>
          </a:prstGeom>
          <a:noFill/>
          <a:ln/>
        </p:spPr>
        <p:txBody>
          <a:bodyPr wrap="square" lIns="0" tIns="0" rIns="0" bIns="0" rtlCol="0" anchor="t"/>
          <a:lstStyle/>
          <a:p>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&lt;!-- head: después de bootstrap.min.css --&gt;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&lt;link rel="stylesheet" href="</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…/bootstrap-icons.min.css</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 /&gt;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&lt;link rel="stylesheet" href="</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assets/css/tema-bootstrap.css</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t>
            </a:r>
            <a:endParaRPr lang="en-US" sz="1000" dirty="0"/>
          </a:p>
          <a:p>
            <a:pPr indent="0" marL="0">
              <a:lnSpc>
                <a:spcPct val="120000"/>
              </a:lnSpc>
              <a:buNone/>
            </a:pPr>
            <a:r>
              <a:rPr lang="en-US" sz="1000" dirty="0">
                <a:solidFill>
                  <a:srgbClr val="9AA39E"/>
                </a:solidFill>
                <a:latin typeface="Consolas" pitchFamily="34" charset="0"/>
                <a:ea typeface="Consolas" pitchFamily="34" charset="-122"/>
                <a:cs typeface="Consolas" pitchFamily="34" charset="-120"/>
              </a:rPr>
              <a:t>&lt;!-- cada tarjeta del catálogo --&gt;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&lt;article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card h-100 shadow-sm</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card-body</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"&gt; icono, insignia, título, texto &lt;/div&gt;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1000" b="1" dirty="0">
                <a:solidFill>
                  <a:srgbClr val="8FE1E8"/>
                </a:solidFill>
                <a:latin typeface="Consolas" pitchFamily="34" charset="0"/>
                <a:ea typeface="Consolas" pitchFamily="34" charset="-122"/>
                <a:cs typeface="Consolas" pitchFamily="34" charset="-120"/>
              </a:rPr>
              <a:t>card-footer</a:t>
            </a:r>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d-flex justify-content-between</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align-items-center"&gt;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&lt;small class="text-body-secondary"&gt;16 sesiones&lt;/small&gt;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&lt;button class="btn btn-primary btn-sm" …&gt;Inscribirme&lt;/button&gt;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  &lt;/div&gt;</a:t>
            </a:r>
            <a:endParaRPr lang="en-US" sz="1000" dirty="0"/>
          </a:p>
          <a:p>
            <a:pPr indent="0" marL="0">
              <a:lnSpc>
                <a:spcPct val="120000"/>
              </a:lnSpc>
              <a:buNone/>
            </a:pPr>
            <a:r>
              <a:rPr lang="en-US" sz="1000" dirty="0">
                <a:solidFill>
                  <a:srgbClr val="E5E7EB"/>
                </a:solidFill>
                <a:latin typeface="Consolas" pitchFamily="34" charset="0"/>
                <a:ea typeface="Consolas" pitchFamily="34" charset="-122"/>
                <a:cs typeface="Consolas" pitchFamily="34" charset="-120"/>
              </a:rPr>
              <a:t>&lt;/article&gt;</a:t>
            </a:r>
            <a:endParaRPr lang="en-US" sz="1000" dirty="0"/>
          </a:p>
        </p:txBody>
      </p:sp>
      <p:sp>
        <p:nvSpPr>
          <p:cNvPr id="7" name="Shape 5"/>
          <p:cNvSpPr/>
          <p:nvPr/>
        </p:nvSpPr>
        <p:spPr>
          <a:xfrm>
            <a:off x="7132320" y="2615184"/>
            <a:ext cx="4434840" cy="530352"/>
          </a:xfrm>
          <a:prstGeom prst="roundRect">
            <a:avLst>
              <a:gd name="adj" fmla="val 17241"/>
            </a:avLst>
          </a:prstGeom>
          <a:solidFill>
            <a:srgbClr val="FFFFFF"/>
          </a:solidFill>
          <a:ln w="12700">
            <a:solidFill>
              <a:srgbClr val="CFD5D9"/>
            </a:solidFill>
            <a:prstDash val="solid"/>
          </a:ln>
        </p:spPr>
      </p:sp>
      <p:sp>
        <p:nvSpPr>
          <p:cNvPr id="8" name="Shape 6"/>
          <p:cNvSpPr/>
          <p:nvPr/>
        </p:nvSpPr>
        <p:spPr>
          <a:xfrm>
            <a:off x="7296912" y="2715768"/>
            <a:ext cx="329184" cy="329184"/>
          </a:xfrm>
          <a:prstGeom prst="ellipse">
            <a:avLst/>
          </a:prstGeom>
          <a:solidFill>
            <a:srgbClr val="177E89"/>
          </a:solidFill>
          <a:ln w="12700">
            <a:solidFill>
              <a:srgbClr val="177E89"/>
            </a:solidFill>
            <a:prstDash val="solid"/>
          </a:ln>
        </p:spPr>
      </p:sp>
      <p:sp>
        <p:nvSpPr>
          <p:cNvPr id="9" name="Text 7"/>
          <p:cNvSpPr txBox="1"/>
          <p:nvPr/>
        </p:nvSpPr>
        <p:spPr>
          <a:xfrm>
            <a:off x="7296912" y="271576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7790688" y="2615184"/>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Enlaza</a:t>
            </a:r>
            <a:endParaRPr lang="en-US" sz="1250" dirty="0"/>
          </a:p>
        </p:txBody>
      </p:sp>
      <p:sp>
        <p:nvSpPr>
          <p:cNvPr id="11" name="Text 9"/>
          <p:cNvSpPr txBox="1"/>
          <p:nvPr/>
        </p:nvSpPr>
        <p:spPr>
          <a:xfrm>
            <a:off x="8705088" y="2615184"/>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Iconos y tema; el JS al final.</a:t>
            </a:r>
            <a:endParaRPr lang="en-US" sz="1050" dirty="0"/>
          </a:p>
        </p:txBody>
      </p:sp>
      <p:sp>
        <p:nvSpPr>
          <p:cNvPr id="12" name="Shape 10"/>
          <p:cNvSpPr/>
          <p:nvPr/>
        </p:nvSpPr>
        <p:spPr>
          <a:xfrm>
            <a:off x="7132320" y="3214116"/>
            <a:ext cx="4434840" cy="530352"/>
          </a:xfrm>
          <a:prstGeom prst="roundRect">
            <a:avLst>
              <a:gd name="adj" fmla="val 17241"/>
            </a:avLst>
          </a:prstGeom>
          <a:solidFill>
            <a:srgbClr val="FFFFFF"/>
          </a:solidFill>
          <a:ln w="12700">
            <a:solidFill>
              <a:srgbClr val="CFD5D9"/>
            </a:solidFill>
            <a:prstDash val="solid"/>
          </a:ln>
        </p:spPr>
      </p:sp>
      <p:sp>
        <p:nvSpPr>
          <p:cNvPr id="13" name="Shape 11"/>
          <p:cNvSpPr/>
          <p:nvPr/>
        </p:nvSpPr>
        <p:spPr>
          <a:xfrm>
            <a:off x="7296912" y="3314700"/>
            <a:ext cx="329184" cy="329184"/>
          </a:xfrm>
          <a:prstGeom prst="ellipse">
            <a:avLst/>
          </a:prstGeom>
          <a:solidFill>
            <a:srgbClr val="177E89"/>
          </a:solidFill>
          <a:ln w="12700">
            <a:solidFill>
              <a:srgbClr val="177E89"/>
            </a:solidFill>
            <a:prstDash val="solid"/>
          </a:ln>
        </p:spPr>
      </p:sp>
      <p:sp>
        <p:nvSpPr>
          <p:cNvPr id="14" name="Text 12"/>
          <p:cNvSpPr txBox="1"/>
          <p:nvPr/>
        </p:nvSpPr>
        <p:spPr>
          <a:xfrm>
            <a:off x="7296912" y="331470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txBox="1"/>
          <p:nvPr/>
        </p:nvSpPr>
        <p:spPr>
          <a:xfrm>
            <a:off x="7790688" y="3214116"/>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Tema</a:t>
            </a:r>
            <a:endParaRPr lang="en-US" sz="1250" dirty="0"/>
          </a:p>
        </p:txBody>
      </p:sp>
      <p:sp>
        <p:nvSpPr>
          <p:cNvPr id="16" name="Text 14"/>
          <p:cNvSpPr txBox="1"/>
          <p:nvPr/>
        </p:nvSpPr>
        <p:spPr>
          <a:xfrm>
            <a:off x="8705088" y="3214116"/>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Los tres bloques de variables.</a:t>
            </a:r>
            <a:endParaRPr lang="en-US" sz="1050" dirty="0"/>
          </a:p>
        </p:txBody>
      </p:sp>
      <p:sp>
        <p:nvSpPr>
          <p:cNvPr id="17" name="Shape 15"/>
          <p:cNvSpPr/>
          <p:nvPr/>
        </p:nvSpPr>
        <p:spPr>
          <a:xfrm>
            <a:off x="7132320" y="3813048"/>
            <a:ext cx="4434840" cy="530352"/>
          </a:xfrm>
          <a:prstGeom prst="roundRect">
            <a:avLst>
              <a:gd name="adj" fmla="val 17241"/>
            </a:avLst>
          </a:prstGeom>
          <a:solidFill>
            <a:srgbClr val="FFFFFF"/>
          </a:solidFill>
          <a:ln w="12700">
            <a:solidFill>
              <a:srgbClr val="CFD5D9"/>
            </a:solidFill>
            <a:prstDash val="solid"/>
          </a:ln>
        </p:spPr>
      </p:sp>
      <p:sp>
        <p:nvSpPr>
          <p:cNvPr id="18" name="Shape 16"/>
          <p:cNvSpPr/>
          <p:nvPr/>
        </p:nvSpPr>
        <p:spPr>
          <a:xfrm>
            <a:off x="7296912" y="3913632"/>
            <a:ext cx="329184" cy="329184"/>
          </a:xfrm>
          <a:prstGeom prst="ellipse">
            <a:avLst/>
          </a:prstGeom>
          <a:solidFill>
            <a:srgbClr val="177E89"/>
          </a:solidFill>
          <a:ln w="12700">
            <a:solidFill>
              <a:srgbClr val="177E89"/>
            </a:solidFill>
            <a:prstDash val="solid"/>
          </a:ln>
        </p:spPr>
      </p:sp>
      <p:sp>
        <p:nvSpPr>
          <p:cNvPr id="19" name="Text 17"/>
          <p:cNvSpPr txBox="1"/>
          <p:nvPr/>
        </p:nvSpPr>
        <p:spPr>
          <a:xfrm>
            <a:off x="7296912" y="3913632"/>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txBox="1"/>
          <p:nvPr/>
        </p:nvSpPr>
        <p:spPr>
          <a:xfrm>
            <a:off x="7790688" y="3813048"/>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Card</a:t>
            </a:r>
            <a:endParaRPr lang="en-US" sz="1250" dirty="0"/>
          </a:p>
        </p:txBody>
      </p:sp>
      <p:sp>
        <p:nvSpPr>
          <p:cNvPr id="21" name="Text 19"/>
          <p:cNvSpPr txBox="1"/>
          <p:nvPr/>
        </p:nvSpPr>
        <p:spPr>
          <a:xfrm>
            <a:off x="8705088" y="3813048"/>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article.card con body y footer.</a:t>
            </a:r>
            <a:endParaRPr lang="en-US" sz="1050" dirty="0"/>
          </a:p>
        </p:txBody>
      </p:sp>
      <p:sp>
        <p:nvSpPr>
          <p:cNvPr id="22" name="Shape 20"/>
          <p:cNvSpPr/>
          <p:nvPr/>
        </p:nvSpPr>
        <p:spPr>
          <a:xfrm>
            <a:off x="7132320" y="4411980"/>
            <a:ext cx="4434840" cy="530352"/>
          </a:xfrm>
          <a:prstGeom prst="roundRect">
            <a:avLst>
              <a:gd name="adj" fmla="val 17241"/>
            </a:avLst>
          </a:prstGeom>
          <a:solidFill>
            <a:srgbClr val="FFFFFF"/>
          </a:solidFill>
          <a:ln w="12700">
            <a:solidFill>
              <a:srgbClr val="CFD5D9"/>
            </a:solidFill>
            <a:prstDash val="solid"/>
          </a:ln>
        </p:spPr>
      </p:sp>
      <p:sp>
        <p:nvSpPr>
          <p:cNvPr id="23" name="Shape 21"/>
          <p:cNvSpPr/>
          <p:nvPr/>
        </p:nvSpPr>
        <p:spPr>
          <a:xfrm>
            <a:off x="7296912" y="4512564"/>
            <a:ext cx="329184" cy="329184"/>
          </a:xfrm>
          <a:prstGeom prst="ellipse">
            <a:avLst/>
          </a:prstGeom>
          <a:solidFill>
            <a:srgbClr val="177E89"/>
          </a:solidFill>
          <a:ln w="12700">
            <a:solidFill>
              <a:srgbClr val="177E89"/>
            </a:solidFill>
            <a:prstDash val="solid"/>
          </a:ln>
        </p:spPr>
      </p:sp>
      <p:sp>
        <p:nvSpPr>
          <p:cNvPr id="24" name="Text 22"/>
          <p:cNvSpPr txBox="1"/>
          <p:nvPr/>
        </p:nvSpPr>
        <p:spPr>
          <a:xfrm>
            <a:off x="7296912" y="4512564"/>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5" name="Text 23"/>
          <p:cNvSpPr txBox="1"/>
          <p:nvPr/>
        </p:nvSpPr>
        <p:spPr>
          <a:xfrm>
            <a:off x="7790688" y="4411980"/>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Insignia</a:t>
            </a:r>
            <a:endParaRPr lang="en-US" sz="1250" dirty="0"/>
          </a:p>
        </p:txBody>
      </p:sp>
      <p:sp>
        <p:nvSpPr>
          <p:cNvPr id="26" name="Text 24"/>
          <p:cNvSpPr txBox="1"/>
          <p:nvPr/>
        </p:nvSpPr>
        <p:spPr>
          <a:xfrm>
            <a:off x="8705088" y="4411980"/>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badge subtle o text-bg-dark.</a:t>
            </a:r>
            <a:endParaRPr lang="en-US" sz="1050" dirty="0"/>
          </a:p>
        </p:txBody>
      </p:sp>
      <p:sp>
        <p:nvSpPr>
          <p:cNvPr id="27" name="Shape 25"/>
          <p:cNvSpPr/>
          <p:nvPr/>
        </p:nvSpPr>
        <p:spPr>
          <a:xfrm>
            <a:off x="7132320" y="5010912"/>
            <a:ext cx="4434840" cy="530352"/>
          </a:xfrm>
          <a:prstGeom prst="roundRect">
            <a:avLst>
              <a:gd name="adj" fmla="val 17241"/>
            </a:avLst>
          </a:prstGeom>
          <a:solidFill>
            <a:srgbClr val="FFFFFF"/>
          </a:solidFill>
          <a:ln w="12700">
            <a:solidFill>
              <a:srgbClr val="CFD5D9"/>
            </a:solidFill>
            <a:prstDash val="solid"/>
          </a:ln>
        </p:spPr>
      </p:sp>
      <p:sp>
        <p:nvSpPr>
          <p:cNvPr id="28" name="Shape 26"/>
          <p:cNvSpPr/>
          <p:nvPr/>
        </p:nvSpPr>
        <p:spPr>
          <a:xfrm>
            <a:off x="7296912" y="5111496"/>
            <a:ext cx="329184" cy="329184"/>
          </a:xfrm>
          <a:prstGeom prst="ellipse">
            <a:avLst/>
          </a:prstGeom>
          <a:solidFill>
            <a:srgbClr val="177E89"/>
          </a:solidFill>
          <a:ln w="12700">
            <a:solidFill>
              <a:srgbClr val="177E89"/>
            </a:solidFill>
            <a:prstDash val="solid"/>
          </a:ln>
        </p:spPr>
      </p:sp>
      <p:sp>
        <p:nvSpPr>
          <p:cNvPr id="29" name="Text 27"/>
          <p:cNvSpPr txBox="1"/>
          <p:nvPr/>
        </p:nvSpPr>
        <p:spPr>
          <a:xfrm>
            <a:off x="7296912" y="511149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0" name="Text 28"/>
          <p:cNvSpPr txBox="1"/>
          <p:nvPr/>
        </p:nvSpPr>
        <p:spPr>
          <a:xfrm>
            <a:off x="7790688" y="5010912"/>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Borra</a:t>
            </a:r>
            <a:endParaRPr lang="en-US" sz="1250" dirty="0"/>
          </a:p>
        </p:txBody>
      </p:sp>
      <p:sp>
        <p:nvSpPr>
          <p:cNvPr id="31" name="Text 29"/>
          <p:cNvSpPr txBox="1"/>
          <p:nvPr/>
        </p:nvSpPr>
        <p:spPr>
          <a:xfrm>
            <a:off x="8705088" y="5010912"/>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El bloque .curso de cursos.css.</a:t>
            </a:r>
            <a:endParaRPr lang="en-US" sz="1050" dirty="0"/>
          </a:p>
        </p:txBody>
      </p:sp>
      <p:sp>
        <p:nvSpPr>
          <p:cNvPr id="32" name="Shape 30"/>
          <p:cNvSpPr/>
          <p:nvPr/>
        </p:nvSpPr>
        <p:spPr>
          <a:xfrm>
            <a:off x="7132320" y="5609844"/>
            <a:ext cx="4434840" cy="530352"/>
          </a:xfrm>
          <a:prstGeom prst="roundRect">
            <a:avLst>
              <a:gd name="adj" fmla="val 17241"/>
            </a:avLst>
          </a:prstGeom>
          <a:solidFill>
            <a:srgbClr val="FFFFFF"/>
          </a:solidFill>
          <a:ln w="12700">
            <a:solidFill>
              <a:srgbClr val="CFD5D9"/>
            </a:solidFill>
            <a:prstDash val="solid"/>
          </a:ln>
        </p:spPr>
      </p:sp>
      <p:sp>
        <p:nvSpPr>
          <p:cNvPr id="33" name="Shape 31"/>
          <p:cNvSpPr/>
          <p:nvPr/>
        </p:nvSpPr>
        <p:spPr>
          <a:xfrm>
            <a:off x="7296912" y="5710428"/>
            <a:ext cx="329184" cy="329184"/>
          </a:xfrm>
          <a:prstGeom prst="ellipse">
            <a:avLst/>
          </a:prstGeom>
          <a:solidFill>
            <a:srgbClr val="177E89"/>
          </a:solidFill>
          <a:ln w="12700">
            <a:solidFill>
              <a:srgbClr val="177E89"/>
            </a:solidFill>
            <a:prstDash val="solid"/>
          </a:ln>
        </p:spPr>
      </p:sp>
      <p:sp>
        <p:nvSpPr>
          <p:cNvPr id="34" name="Text 32"/>
          <p:cNvSpPr txBox="1"/>
          <p:nvPr/>
        </p:nvSpPr>
        <p:spPr>
          <a:xfrm>
            <a:off x="7296912" y="571042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5" name="Text 33"/>
          <p:cNvSpPr txBox="1"/>
          <p:nvPr/>
        </p:nvSpPr>
        <p:spPr>
          <a:xfrm>
            <a:off x="7790688" y="5609844"/>
            <a:ext cx="91440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Prueba</a:t>
            </a:r>
            <a:endParaRPr lang="en-US" sz="1250" dirty="0"/>
          </a:p>
        </p:txBody>
      </p:sp>
      <p:sp>
        <p:nvSpPr>
          <p:cNvPr id="36" name="Text 34"/>
          <p:cNvSpPr txBox="1"/>
          <p:nvPr/>
        </p:nvSpPr>
        <p:spPr>
          <a:xfrm>
            <a:off x="8705088" y="5609844"/>
            <a:ext cx="274320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Botones cian, no azules.</a:t>
            </a:r>
            <a:endParaRPr lang="en-US" sz="1050" dirty="0"/>
          </a:p>
        </p:txBody>
      </p:sp>
      <p:sp>
        <p:nvSpPr>
          <p:cNvPr id="37" name="Text 3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36 / 47</a:t>
            </a:r>
            <a:endParaRPr lang="en-US" sz="80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06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Construimos juntos: el acordeón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Paso 5 de la guía de código. Cuatro preguntas, una abierta a la vez.</a:t>
            </a:r>
            <a:endParaRPr lang="en-US" sz="1250" dirty="0"/>
          </a:p>
        </p:txBody>
      </p:sp>
      <p:sp>
        <p:nvSpPr>
          <p:cNvPr id="5" name="Shape 3"/>
          <p:cNvSpPr/>
          <p:nvPr/>
        </p:nvSpPr>
        <p:spPr>
          <a:xfrm>
            <a:off x="640080" y="2615184"/>
            <a:ext cx="6309360" cy="3529584"/>
          </a:xfrm>
          <a:prstGeom prst="roundRect">
            <a:avLst>
              <a:gd name="adj" fmla="val 2591"/>
            </a:avLst>
          </a:prstGeom>
          <a:solidFill>
            <a:srgbClr val="2B2B2B"/>
          </a:solidFill>
          <a:ln w="12700">
            <a:solidFill>
              <a:srgbClr val="2B2B2B"/>
            </a:solidFill>
            <a:prstDash val="solid"/>
          </a:ln>
        </p:spPr>
      </p:sp>
      <p:sp>
        <p:nvSpPr>
          <p:cNvPr id="6" name="Text 4"/>
          <p:cNvSpPr txBox="1"/>
          <p:nvPr/>
        </p:nvSpPr>
        <p:spPr>
          <a:xfrm>
            <a:off x="868680" y="2779776"/>
            <a:ext cx="5852160" cy="3200400"/>
          </a:xfrm>
          <a:prstGeom prst="rect">
            <a:avLst/>
          </a:prstGeom>
          <a:noFill/>
          <a:ln/>
        </p:spPr>
        <p:txBody>
          <a:bodyPr wrap="square" lIns="0" tIns="0" rIns="0" bIns="0" rtlCol="0" anchor="t"/>
          <a:lstStyle/>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&lt;div class="row"&gt;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col-lg-8</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&lt;h2 id="titulo-faq"&gt;Preguntas frecuentes&lt;/h2&gt;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accordion</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id="</a:t>
            </a:r>
            <a:pPr indent="0" marL="0">
              <a:lnSpc>
                <a:spcPct val="120000"/>
              </a:lnSpc>
              <a:buNone/>
            </a:pPr>
            <a:r>
              <a:rPr lang="en-US" sz="1050" b="1" dirty="0">
                <a:solidFill>
                  <a:srgbClr val="8FE1E8"/>
                </a:solidFill>
                <a:latin typeface="Consolas" pitchFamily="34" charset="0"/>
                <a:ea typeface="Consolas" pitchFamily="34" charset="-122"/>
                <a:cs typeface="Consolas" pitchFamily="34" charset="-120"/>
              </a:rPr>
              <a:t>faq</a:t>
            </a:r>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class="accordion-item"&gt; … pregunta 1, con show …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class="accordion-item"&gt; … pregunta 2 …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class="accordion-item"&gt; … pregunta 3 …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 class="accordion-item"&gt; … pregunta 4 …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  &lt;/div&gt;</a:t>
            </a:r>
            <a:endParaRPr lang="en-US" sz="1050" dirty="0"/>
          </a:p>
          <a:p>
            <a:pPr indent="0" marL="0">
              <a:lnSpc>
                <a:spcPct val="120000"/>
              </a:lnSpc>
              <a:buNone/>
            </a:pPr>
            <a:r>
              <a:rPr lang="en-US" sz="1050" dirty="0">
                <a:solidFill>
                  <a:srgbClr val="E5E7EB"/>
                </a:solidFill>
                <a:latin typeface="Consolas" pitchFamily="34" charset="0"/>
                <a:ea typeface="Consolas" pitchFamily="34" charset="-122"/>
                <a:cs typeface="Consolas" pitchFamily="34" charset="-120"/>
              </a:rPr>
              <a:t>&lt;/div&gt;</a:t>
            </a:r>
            <a:endParaRPr lang="en-US" sz="1050" dirty="0"/>
          </a:p>
        </p:txBody>
      </p:sp>
      <p:sp>
        <p:nvSpPr>
          <p:cNvPr id="7" name="Shape 5"/>
          <p:cNvSpPr/>
          <p:nvPr/>
        </p:nvSpPr>
        <p:spPr>
          <a:xfrm>
            <a:off x="7132320" y="2615184"/>
            <a:ext cx="4434840" cy="530352"/>
          </a:xfrm>
          <a:prstGeom prst="roundRect">
            <a:avLst>
              <a:gd name="adj" fmla="val 17241"/>
            </a:avLst>
          </a:prstGeom>
          <a:solidFill>
            <a:srgbClr val="FFFFFF"/>
          </a:solidFill>
          <a:ln w="12700">
            <a:solidFill>
              <a:srgbClr val="CFD5D9"/>
            </a:solidFill>
            <a:prstDash val="solid"/>
          </a:ln>
        </p:spPr>
      </p:sp>
      <p:sp>
        <p:nvSpPr>
          <p:cNvPr id="8" name="Shape 6"/>
          <p:cNvSpPr/>
          <p:nvPr/>
        </p:nvSpPr>
        <p:spPr>
          <a:xfrm>
            <a:off x="7296912" y="2715768"/>
            <a:ext cx="329184" cy="329184"/>
          </a:xfrm>
          <a:prstGeom prst="ellipse">
            <a:avLst/>
          </a:prstGeom>
          <a:solidFill>
            <a:srgbClr val="177E89"/>
          </a:solidFill>
          <a:ln w="12700">
            <a:solidFill>
              <a:srgbClr val="177E89"/>
            </a:solidFill>
            <a:prstDash val="solid"/>
          </a:ln>
        </p:spPr>
      </p:sp>
      <p:sp>
        <p:nvSpPr>
          <p:cNvPr id="9" name="Text 7"/>
          <p:cNvSpPr txBox="1"/>
          <p:nvPr/>
        </p:nvSpPr>
        <p:spPr>
          <a:xfrm>
            <a:off x="7296912" y="271576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1</a:t>
            </a:r>
            <a:endParaRPr lang="en-US" sz="1050" dirty="0"/>
          </a:p>
        </p:txBody>
      </p:sp>
      <p:sp>
        <p:nvSpPr>
          <p:cNvPr id="10" name="Text 8"/>
          <p:cNvSpPr txBox="1"/>
          <p:nvPr/>
        </p:nvSpPr>
        <p:spPr>
          <a:xfrm>
            <a:off x="7790688" y="2615184"/>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Contenedor</a:t>
            </a:r>
            <a:endParaRPr lang="en-US" sz="1250" dirty="0"/>
          </a:p>
        </p:txBody>
      </p:sp>
      <p:sp>
        <p:nvSpPr>
          <p:cNvPr id="11" name="Text 9"/>
          <p:cNvSpPr txBox="1"/>
          <p:nvPr/>
        </p:nvSpPr>
        <p:spPr>
          <a:xfrm>
            <a:off x="8887968" y="2615184"/>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div.accordion con id="faq".</a:t>
            </a:r>
            <a:endParaRPr lang="en-US" sz="1050" dirty="0"/>
          </a:p>
        </p:txBody>
      </p:sp>
      <p:sp>
        <p:nvSpPr>
          <p:cNvPr id="12" name="Shape 10"/>
          <p:cNvSpPr/>
          <p:nvPr/>
        </p:nvSpPr>
        <p:spPr>
          <a:xfrm>
            <a:off x="7132320" y="3214116"/>
            <a:ext cx="4434840" cy="530352"/>
          </a:xfrm>
          <a:prstGeom prst="roundRect">
            <a:avLst>
              <a:gd name="adj" fmla="val 17241"/>
            </a:avLst>
          </a:prstGeom>
          <a:solidFill>
            <a:srgbClr val="FFFFFF"/>
          </a:solidFill>
          <a:ln w="12700">
            <a:solidFill>
              <a:srgbClr val="CFD5D9"/>
            </a:solidFill>
            <a:prstDash val="solid"/>
          </a:ln>
        </p:spPr>
      </p:sp>
      <p:sp>
        <p:nvSpPr>
          <p:cNvPr id="13" name="Shape 11"/>
          <p:cNvSpPr/>
          <p:nvPr/>
        </p:nvSpPr>
        <p:spPr>
          <a:xfrm>
            <a:off x="7296912" y="3314700"/>
            <a:ext cx="329184" cy="329184"/>
          </a:xfrm>
          <a:prstGeom prst="ellipse">
            <a:avLst/>
          </a:prstGeom>
          <a:solidFill>
            <a:srgbClr val="177E89"/>
          </a:solidFill>
          <a:ln w="12700">
            <a:solidFill>
              <a:srgbClr val="177E89"/>
            </a:solidFill>
            <a:prstDash val="solid"/>
          </a:ln>
        </p:spPr>
      </p:sp>
      <p:sp>
        <p:nvSpPr>
          <p:cNvPr id="14" name="Text 12"/>
          <p:cNvSpPr txBox="1"/>
          <p:nvPr/>
        </p:nvSpPr>
        <p:spPr>
          <a:xfrm>
            <a:off x="7296912" y="3314700"/>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2</a:t>
            </a:r>
            <a:endParaRPr lang="en-US" sz="1050" dirty="0"/>
          </a:p>
        </p:txBody>
      </p:sp>
      <p:sp>
        <p:nvSpPr>
          <p:cNvPr id="15" name="Text 13"/>
          <p:cNvSpPr txBox="1"/>
          <p:nvPr/>
        </p:nvSpPr>
        <p:spPr>
          <a:xfrm>
            <a:off x="7790688" y="3214116"/>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Pregunta</a:t>
            </a:r>
            <a:endParaRPr lang="en-US" sz="1250" dirty="0"/>
          </a:p>
        </p:txBody>
      </p:sp>
      <p:sp>
        <p:nvSpPr>
          <p:cNvPr id="16" name="Text 14"/>
          <p:cNvSpPr txBox="1"/>
          <p:nvPr/>
        </p:nvSpPr>
        <p:spPr>
          <a:xfrm>
            <a:off x="8887968" y="3214116"/>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Un button en un h3.</a:t>
            </a:r>
            <a:endParaRPr lang="en-US" sz="1050" dirty="0"/>
          </a:p>
        </p:txBody>
      </p:sp>
      <p:sp>
        <p:nvSpPr>
          <p:cNvPr id="17" name="Shape 15"/>
          <p:cNvSpPr/>
          <p:nvPr/>
        </p:nvSpPr>
        <p:spPr>
          <a:xfrm>
            <a:off x="7132320" y="3813048"/>
            <a:ext cx="4434840" cy="530352"/>
          </a:xfrm>
          <a:prstGeom prst="roundRect">
            <a:avLst>
              <a:gd name="adj" fmla="val 17241"/>
            </a:avLst>
          </a:prstGeom>
          <a:solidFill>
            <a:srgbClr val="FFFFFF"/>
          </a:solidFill>
          <a:ln w="12700">
            <a:solidFill>
              <a:srgbClr val="CFD5D9"/>
            </a:solidFill>
            <a:prstDash val="solid"/>
          </a:ln>
        </p:spPr>
      </p:sp>
      <p:sp>
        <p:nvSpPr>
          <p:cNvPr id="18" name="Shape 16"/>
          <p:cNvSpPr/>
          <p:nvPr/>
        </p:nvSpPr>
        <p:spPr>
          <a:xfrm>
            <a:off x="7296912" y="3913632"/>
            <a:ext cx="329184" cy="329184"/>
          </a:xfrm>
          <a:prstGeom prst="ellipse">
            <a:avLst/>
          </a:prstGeom>
          <a:solidFill>
            <a:srgbClr val="177E89"/>
          </a:solidFill>
          <a:ln w="12700">
            <a:solidFill>
              <a:srgbClr val="177E89"/>
            </a:solidFill>
            <a:prstDash val="solid"/>
          </a:ln>
        </p:spPr>
      </p:sp>
      <p:sp>
        <p:nvSpPr>
          <p:cNvPr id="19" name="Text 17"/>
          <p:cNvSpPr txBox="1"/>
          <p:nvPr/>
        </p:nvSpPr>
        <p:spPr>
          <a:xfrm>
            <a:off x="7296912" y="3913632"/>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3</a:t>
            </a:r>
            <a:endParaRPr lang="en-US" sz="1050" dirty="0"/>
          </a:p>
        </p:txBody>
      </p:sp>
      <p:sp>
        <p:nvSpPr>
          <p:cNvPr id="20" name="Text 18"/>
          <p:cNvSpPr txBox="1"/>
          <p:nvPr/>
        </p:nvSpPr>
        <p:spPr>
          <a:xfrm>
            <a:off x="7790688" y="3813048"/>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Respuesta</a:t>
            </a:r>
            <a:endParaRPr lang="en-US" sz="1250" dirty="0"/>
          </a:p>
        </p:txBody>
      </p:sp>
      <p:sp>
        <p:nvSpPr>
          <p:cNvPr id="21" name="Text 19"/>
          <p:cNvSpPr txBox="1"/>
          <p:nvPr/>
        </p:nvSpPr>
        <p:spPr>
          <a:xfrm>
            <a:off x="8887968" y="3813048"/>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collapse con su id.</a:t>
            </a:r>
            <a:endParaRPr lang="en-US" sz="1050" dirty="0"/>
          </a:p>
        </p:txBody>
      </p:sp>
      <p:sp>
        <p:nvSpPr>
          <p:cNvPr id="22" name="Shape 20"/>
          <p:cNvSpPr/>
          <p:nvPr/>
        </p:nvSpPr>
        <p:spPr>
          <a:xfrm>
            <a:off x="7132320" y="4411980"/>
            <a:ext cx="4434840" cy="530352"/>
          </a:xfrm>
          <a:prstGeom prst="roundRect">
            <a:avLst>
              <a:gd name="adj" fmla="val 17241"/>
            </a:avLst>
          </a:prstGeom>
          <a:solidFill>
            <a:srgbClr val="FFFFFF"/>
          </a:solidFill>
          <a:ln w="12700">
            <a:solidFill>
              <a:srgbClr val="CFD5D9"/>
            </a:solidFill>
            <a:prstDash val="solid"/>
          </a:ln>
        </p:spPr>
      </p:sp>
      <p:sp>
        <p:nvSpPr>
          <p:cNvPr id="23" name="Shape 21"/>
          <p:cNvSpPr/>
          <p:nvPr/>
        </p:nvSpPr>
        <p:spPr>
          <a:xfrm>
            <a:off x="7296912" y="4512564"/>
            <a:ext cx="329184" cy="329184"/>
          </a:xfrm>
          <a:prstGeom prst="ellipse">
            <a:avLst/>
          </a:prstGeom>
          <a:solidFill>
            <a:srgbClr val="177E89"/>
          </a:solidFill>
          <a:ln w="12700">
            <a:solidFill>
              <a:srgbClr val="177E89"/>
            </a:solidFill>
            <a:prstDash val="solid"/>
          </a:ln>
        </p:spPr>
      </p:sp>
      <p:sp>
        <p:nvSpPr>
          <p:cNvPr id="24" name="Text 22"/>
          <p:cNvSpPr txBox="1"/>
          <p:nvPr/>
        </p:nvSpPr>
        <p:spPr>
          <a:xfrm>
            <a:off x="7296912" y="4512564"/>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4</a:t>
            </a:r>
            <a:endParaRPr lang="en-US" sz="1050" dirty="0"/>
          </a:p>
        </p:txBody>
      </p:sp>
      <p:sp>
        <p:nvSpPr>
          <p:cNvPr id="25" name="Text 23"/>
          <p:cNvSpPr txBox="1"/>
          <p:nvPr/>
        </p:nvSpPr>
        <p:spPr>
          <a:xfrm>
            <a:off x="7790688" y="4411980"/>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Enlaza</a:t>
            </a:r>
            <a:endParaRPr lang="en-US" sz="1250" dirty="0"/>
          </a:p>
        </p:txBody>
      </p:sp>
      <p:sp>
        <p:nvSpPr>
          <p:cNvPr id="26" name="Text 24"/>
          <p:cNvSpPr txBox="1"/>
          <p:nvPr/>
        </p:nvSpPr>
        <p:spPr>
          <a:xfrm>
            <a:off x="8887968" y="4411980"/>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data-bs-target="#faq-2".</a:t>
            </a:r>
            <a:endParaRPr lang="en-US" sz="1050" dirty="0"/>
          </a:p>
        </p:txBody>
      </p:sp>
      <p:sp>
        <p:nvSpPr>
          <p:cNvPr id="27" name="Shape 25"/>
          <p:cNvSpPr/>
          <p:nvPr/>
        </p:nvSpPr>
        <p:spPr>
          <a:xfrm>
            <a:off x="7132320" y="5010912"/>
            <a:ext cx="4434840" cy="530352"/>
          </a:xfrm>
          <a:prstGeom prst="roundRect">
            <a:avLst>
              <a:gd name="adj" fmla="val 17241"/>
            </a:avLst>
          </a:prstGeom>
          <a:solidFill>
            <a:srgbClr val="FFFFFF"/>
          </a:solidFill>
          <a:ln w="12700">
            <a:solidFill>
              <a:srgbClr val="CFD5D9"/>
            </a:solidFill>
            <a:prstDash val="solid"/>
          </a:ln>
        </p:spPr>
      </p:sp>
      <p:sp>
        <p:nvSpPr>
          <p:cNvPr id="28" name="Shape 26"/>
          <p:cNvSpPr/>
          <p:nvPr/>
        </p:nvSpPr>
        <p:spPr>
          <a:xfrm>
            <a:off x="7296912" y="5111496"/>
            <a:ext cx="329184" cy="329184"/>
          </a:xfrm>
          <a:prstGeom prst="ellipse">
            <a:avLst/>
          </a:prstGeom>
          <a:solidFill>
            <a:srgbClr val="177E89"/>
          </a:solidFill>
          <a:ln w="12700">
            <a:solidFill>
              <a:srgbClr val="177E89"/>
            </a:solidFill>
            <a:prstDash val="solid"/>
          </a:ln>
        </p:spPr>
      </p:sp>
      <p:sp>
        <p:nvSpPr>
          <p:cNvPr id="29" name="Text 27"/>
          <p:cNvSpPr txBox="1"/>
          <p:nvPr/>
        </p:nvSpPr>
        <p:spPr>
          <a:xfrm>
            <a:off x="7296912" y="5111496"/>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5</a:t>
            </a:r>
            <a:endParaRPr lang="en-US" sz="1050" dirty="0"/>
          </a:p>
        </p:txBody>
      </p:sp>
      <p:sp>
        <p:nvSpPr>
          <p:cNvPr id="30" name="Text 28"/>
          <p:cNvSpPr txBox="1"/>
          <p:nvPr/>
        </p:nvSpPr>
        <p:spPr>
          <a:xfrm>
            <a:off x="7790688" y="5010912"/>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Uno a la vez</a:t>
            </a:r>
            <a:endParaRPr lang="en-US" sz="1250" dirty="0"/>
          </a:p>
        </p:txBody>
      </p:sp>
      <p:sp>
        <p:nvSpPr>
          <p:cNvPr id="31" name="Text 29"/>
          <p:cNvSpPr txBox="1"/>
          <p:nvPr/>
        </p:nvSpPr>
        <p:spPr>
          <a:xfrm>
            <a:off x="8887968" y="5010912"/>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data-bs-parent="#faq".</a:t>
            </a:r>
            <a:endParaRPr lang="en-US" sz="1050" dirty="0"/>
          </a:p>
        </p:txBody>
      </p:sp>
      <p:sp>
        <p:nvSpPr>
          <p:cNvPr id="32" name="Shape 30"/>
          <p:cNvSpPr/>
          <p:nvPr/>
        </p:nvSpPr>
        <p:spPr>
          <a:xfrm>
            <a:off x="7132320" y="5609844"/>
            <a:ext cx="4434840" cy="530352"/>
          </a:xfrm>
          <a:prstGeom prst="roundRect">
            <a:avLst>
              <a:gd name="adj" fmla="val 17241"/>
            </a:avLst>
          </a:prstGeom>
          <a:solidFill>
            <a:srgbClr val="FFFFFF"/>
          </a:solidFill>
          <a:ln w="12700">
            <a:solidFill>
              <a:srgbClr val="CFD5D9"/>
            </a:solidFill>
            <a:prstDash val="solid"/>
          </a:ln>
        </p:spPr>
      </p:sp>
      <p:sp>
        <p:nvSpPr>
          <p:cNvPr id="33" name="Shape 31"/>
          <p:cNvSpPr/>
          <p:nvPr/>
        </p:nvSpPr>
        <p:spPr>
          <a:xfrm>
            <a:off x="7296912" y="5710428"/>
            <a:ext cx="329184" cy="329184"/>
          </a:xfrm>
          <a:prstGeom prst="ellipse">
            <a:avLst/>
          </a:prstGeom>
          <a:solidFill>
            <a:srgbClr val="177E89"/>
          </a:solidFill>
          <a:ln w="12700">
            <a:solidFill>
              <a:srgbClr val="177E89"/>
            </a:solidFill>
            <a:prstDash val="solid"/>
          </a:ln>
        </p:spPr>
      </p:sp>
      <p:sp>
        <p:nvSpPr>
          <p:cNvPr id="34" name="Text 32"/>
          <p:cNvSpPr txBox="1"/>
          <p:nvPr/>
        </p:nvSpPr>
        <p:spPr>
          <a:xfrm>
            <a:off x="7296912" y="5710428"/>
            <a:ext cx="329184" cy="329184"/>
          </a:xfrm>
          <a:prstGeom prst="rect">
            <a:avLst/>
          </a:prstGeom>
          <a:noFill/>
          <a:ln/>
        </p:spPr>
        <p:txBody>
          <a:bodyPr wrap="square" lIns="0" tIns="0" rIns="0" bIns="0" rtlCol="0" anchor="ctr"/>
          <a:lstStyle/>
          <a:p>
            <a:pPr algn="ctr" indent="0" marL="0">
              <a:buNone/>
            </a:pPr>
            <a:r>
              <a:rPr lang="en-US" sz="1050" b="1" dirty="0">
                <a:solidFill>
                  <a:srgbClr val="FFFFFF"/>
                </a:solidFill>
                <a:latin typeface="Calibri" pitchFamily="34" charset="0"/>
                <a:ea typeface="Calibri" pitchFamily="34" charset="-122"/>
                <a:cs typeface="Calibri" pitchFamily="34" charset="-120"/>
              </a:rPr>
              <a:t>6</a:t>
            </a:r>
            <a:endParaRPr lang="en-US" sz="1050" dirty="0"/>
          </a:p>
        </p:txBody>
      </p:sp>
      <p:sp>
        <p:nvSpPr>
          <p:cNvPr id="35" name="Text 33"/>
          <p:cNvSpPr txBox="1"/>
          <p:nvPr/>
        </p:nvSpPr>
        <p:spPr>
          <a:xfrm>
            <a:off x="7790688" y="5609844"/>
            <a:ext cx="1097280" cy="530352"/>
          </a:xfrm>
          <a:prstGeom prst="rect">
            <a:avLst/>
          </a:prstGeom>
          <a:noFill/>
          <a:ln/>
        </p:spPr>
        <p:txBody>
          <a:bodyPr wrap="square" lIns="0" tIns="0" rIns="0" bIns="0" rtlCol="0" anchor="ctr"/>
          <a:lstStyle/>
          <a:p>
            <a:pPr algn="l" indent="0" marL="0">
              <a:buNone/>
            </a:pPr>
            <a:r>
              <a:rPr lang="en-US" sz="1250" b="1" dirty="0">
                <a:solidFill>
                  <a:srgbClr val="1F2326"/>
                </a:solidFill>
                <a:latin typeface="Calibri" pitchFamily="34" charset="0"/>
                <a:ea typeface="Calibri" pitchFamily="34" charset="-122"/>
                <a:cs typeface="Calibri" pitchFamily="34" charset="-120"/>
              </a:rPr>
              <a:t>Teclado</a:t>
            </a:r>
            <a:endParaRPr lang="en-US" sz="1250" dirty="0"/>
          </a:p>
        </p:txBody>
      </p:sp>
      <p:sp>
        <p:nvSpPr>
          <p:cNvPr id="36" name="Text 34"/>
          <p:cNvSpPr txBox="1"/>
          <p:nvPr/>
        </p:nvSpPr>
        <p:spPr>
          <a:xfrm>
            <a:off x="8887968" y="5609844"/>
            <a:ext cx="2560320" cy="530352"/>
          </a:xfrm>
          <a:prstGeom prst="rect">
            <a:avLst/>
          </a:prstGeom>
          <a:noFill/>
          <a:ln/>
        </p:spPr>
        <p:txBody>
          <a:bodyPr wrap="square" lIns="0" tIns="0" rIns="0" bIns="0" rtlCol="0" anchor="ctr"/>
          <a:lstStyle/>
          <a:p>
            <a:pPr algn="l" indent="0" marL="0">
              <a:buNone/>
            </a:pPr>
            <a:r>
              <a:rPr lang="en-US" sz="1050" dirty="0">
                <a:solidFill>
                  <a:srgbClr val="33393D"/>
                </a:solidFill>
                <a:latin typeface="Calibri" pitchFamily="34" charset="0"/>
                <a:ea typeface="Calibri" pitchFamily="34" charset="-122"/>
                <a:cs typeface="Calibri" pitchFamily="34" charset="-120"/>
              </a:rPr>
              <a:t>Tab y Enter la abren.</a:t>
            </a:r>
            <a:endParaRPr lang="en-US" sz="1050" dirty="0"/>
          </a:p>
        </p:txBody>
      </p:sp>
      <p:sp>
        <p:nvSpPr>
          <p:cNvPr id="37" name="Text 3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37 / 47</a:t>
            </a:r>
            <a:endParaRPr lang="en-US" sz="800" dirty="0"/>
          </a:p>
        </p:txBody>
      </p:sp>
    </p:spTree>
  </p:cSld>
  <p:clrMapOvr>
    <a:masterClrMapping/>
  </p:clrMapOvr>
</p:sld>
</file>

<file path=ppt/slides/slide38.xml><?xml version="1.0" encoding="utf-8"?>
<p:sld xmlns:a="http://schemas.openxmlformats.org/drawingml/2006/main" xmlns:r="http://schemas.openxmlformats.org/officeDocument/2006/relationships" xmlns:p="http://schemas.openxmlformats.org/presentationml/2006/main">
  <p:cSld name="Slide 38">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06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Ahora tú: aviso, pasos, llamado e inscripción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Tienes 25 minutos. Pasos 1, 4, 6 y 7 de la guía de código.</a:t>
            </a:r>
            <a:endParaRPr lang="en-US" sz="1250" dirty="0"/>
          </a:p>
        </p:txBody>
      </p:sp>
      <p:sp>
        <p:nvSpPr>
          <p:cNvPr id="5" name="Shape 3"/>
          <p:cNvSpPr/>
          <p:nvPr/>
        </p:nvSpPr>
        <p:spPr>
          <a:xfrm>
            <a:off x="640080" y="2615184"/>
            <a:ext cx="3520440" cy="1572768"/>
          </a:xfrm>
          <a:prstGeom prst="roundRect">
            <a:avLst>
              <a:gd name="adj" fmla="val 5814"/>
            </a:avLst>
          </a:prstGeom>
          <a:solidFill>
            <a:srgbClr val="FFFFFF"/>
          </a:solidFill>
          <a:ln w="12700">
            <a:solidFill>
              <a:srgbClr val="CFD5D9"/>
            </a:solidFill>
            <a:prstDash val="solid"/>
          </a:ln>
        </p:spPr>
      </p:sp>
      <p:sp>
        <p:nvSpPr>
          <p:cNvPr id="6" name="Shape 4"/>
          <p:cNvSpPr/>
          <p:nvPr/>
        </p:nvSpPr>
        <p:spPr>
          <a:xfrm>
            <a:off x="886968" y="2843784"/>
            <a:ext cx="402336" cy="402336"/>
          </a:xfrm>
          <a:prstGeom prst="ellipse">
            <a:avLst/>
          </a:prstGeom>
          <a:solidFill>
            <a:srgbClr val="177E89"/>
          </a:solidFill>
          <a:ln w="12700">
            <a:solidFill>
              <a:srgbClr val="177E89"/>
            </a:solidFill>
            <a:prstDash val="solid"/>
          </a:ln>
        </p:spPr>
      </p:sp>
      <p:sp>
        <p:nvSpPr>
          <p:cNvPr id="7" name="Text 5"/>
          <p:cNvSpPr txBox="1"/>
          <p:nvPr/>
        </p:nvSpPr>
        <p:spPr>
          <a:xfrm>
            <a:off x="88696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1</a:t>
            </a:r>
            <a:endParaRPr lang="en-US" sz="1200" dirty="0"/>
          </a:p>
        </p:txBody>
      </p:sp>
      <p:sp>
        <p:nvSpPr>
          <p:cNvPr id="8" name="Text 6"/>
          <p:cNvSpPr txBox="1"/>
          <p:nvPr/>
        </p:nvSpPr>
        <p:spPr>
          <a:xfrm>
            <a:off x="144475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El aviso</a:t>
            </a:r>
            <a:endParaRPr lang="en-US" sz="1300" dirty="0"/>
          </a:p>
        </p:txBody>
      </p:sp>
      <p:sp>
        <p:nvSpPr>
          <p:cNvPr id="9" name="Text 7"/>
          <p:cNvSpPr txBox="1"/>
          <p:nvPr/>
        </p:nvSpPr>
        <p:spPr>
          <a:xfrm>
            <a:off x="914400" y="338328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alert alert-primary</a:t>
            </a:r>
            <a:pPr algn="l" indent="0" marL="0">
              <a:buNone/>
            </a:pPr>
            <a:r>
              <a:rPr lang="en-US" sz="1150" dirty="0">
                <a:solidFill>
                  <a:srgbClr val="33393D"/>
                </a:solidFill>
                <a:latin typeface="Calibri" pitchFamily="34" charset="0"/>
                <a:ea typeface="Calibri" pitchFamily="34" charset="-122"/>
                <a:cs typeface="Calibri" pitchFamily="34" charset="-120"/>
              </a:rPr>
              <a:t> con un icono, al inicio de </a:t>
            </a:r>
            <a:pPr algn="l" indent="0" marL="0">
              <a:buNone/>
            </a:pPr>
            <a:r>
              <a:rPr lang="en-US" sz="1150" dirty="0">
                <a:solidFill>
                  <a:srgbClr val="1F2326"/>
                </a:solidFill>
                <a:latin typeface="Consolas" pitchFamily="34" charset="0"/>
                <a:ea typeface="Consolas" pitchFamily="34" charset="-122"/>
                <a:cs typeface="Consolas" pitchFamily="34" charset="-120"/>
              </a:rPr>
              <a:t>main</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10" name="Shape 8"/>
          <p:cNvSpPr/>
          <p:nvPr/>
        </p:nvSpPr>
        <p:spPr>
          <a:xfrm>
            <a:off x="4343400" y="2615184"/>
            <a:ext cx="3520440" cy="1572768"/>
          </a:xfrm>
          <a:prstGeom prst="roundRect">
            <a:avLst>
              <a:gd name="adj" fmla="val 5814"/>
            </a:avLst>
          </a:prstGeom>
          <a:solidFill>
            <a:srgbClr val="FFFFFF"/>
          </a:solidFill>
          <a:ln w="12700">
            <a:solidFill>
              <a:srgbClr val="CFD5D9"/>
            </a:solidFill>
            <a:prstDash val="solid"/>
          </a:ln>
        </p:spPr>
      </p:sp>
      <p:sp>
        <p:nvSpPr>
          <p:cNvPr id="11" name="Shape 9"/>
          <p:cNvSpPr/>
          <p:nvPr/>
        </p:nvSpPr>
        <p:spPr>
          <a:xfrm>
            <a:off x="4590288" y="2843784"/>
            <a:ext cx="402336" cy="402336"/>
          </a:xfrm>
          <a:prstGeom prst="ellipse">
            <a:avLst/>
          </a:prstGeom>
          <a:solidFill>
            <a:srgbClr val="177E89"/>
          </a:solidFill>
          <a:ln w="12700">
            <a:solidFill>
              <a:srgbClr val="177E89"/>
            </a:solidFill>
            <a:prstDash val="solid"/>
          </a:ln>
        </p:spPr>
      </p:sp>
      <p:sp>
        <p:nvSpPr>
          <p:cNvPr id="12" name="Text 10"/>
          <p:cNvSpPr txBox="1"/>
          <p:nvPr/>
        </p:nvSpPr>
        <p:spPr>
          <a:xfrm>
            <a:off x="459028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2</a:t>
            </a:r>
            <a:endParaRPr lang="en-US" sz="1200" dirty="0"/>
          </a:p>
        </p:txBody>
      </p:sp>
      <p:sp>
        <p:nvSpPr>
          <p:cNvPr id="13" name="Text 11"/>
          <p:cNvSpPr txBox="1"/>
          <p:nvPr/>
        </p:nvSpPr>
        <p:spPr>
          <a:xfrm>
            <a:off x="514807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Los pasos</a:t>
            </a:r>
            <a:endParaRPr lang="en-US" sz="1300" dirty="0"/>
          </a:p>
        </p:txBody>
      </p:sp>
      <p:sp>
        <p:nvSpPr>
          <p:cNvPr id="14" name="Text 12"/>
          <p:cNvSpPr txBox="1"/>
          <p:nvPr/>
        </p:nvSpPr>
        <p:spPr>
          <a:xfrm>
            <a:off x="4617720" y="338328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Solo utilidades: </a:t>
            </a:r>
            <a:pPr algn="l" indent="0" marL="0">
              <a:buNone/>
            </a:pPr>
            <a:r>
              <a:rPr lang="en-US" sz="1150" dirty="0">
                <a:solidFill>
                  <a:srgbClr val="1F2326"/>
                </a:solidFill>
                <a:latin typeface="Consolas" pitchFamily="34" charset="0"/>
                <a:ea typeface="Consolas" pitchFamily="34" charset="-122"/>
                <a:cs typeface="Consolas" pitchFamily="34" charset="-120"/>
              </a:rPr>
              <a:t>h-100 bg-white border rounded-3 p-4</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15" name="Shape 13"/>
          <p:cNvSpPr/>
          <p:nvPr/>
        </p:nvSpPr>
        <p:spPr>
          <a:xfrm>
            <a:off x="8046720" y="2615184"/>
            <a:ext cx="3520440" cy="1572768"/>
          </a:xfrm>
          <a:prstGeom prst="roundRect">
            <a:avLst>
              <a:gd name="adj" fmla="val 5814"/>
            </a:avLst>
          </a:prstGeom>
          <a:solidFill>
            <a:srgbClr val="FFFFFF"/>
          </a:solidFill>
          <a:ln w="12700">
            <a:solidFill>
              <a:srgbClr val="CFD5D9"/>
            </a:solidFill>
            <a:prstDash val="solid"/>
          </a:ln>
        </p:spPr>
      </p:sp>
      <p:sp>
        <p:nvSpPr>
          <p:cNvPr id="16" name="Shape 14"/>
          <p:cNvSpPr/>
          <p:nvPr/>
        </p:nvSpPr>
        <p:spPr>
          <a:xfrm>
            <a:off x="8293608" y="2843784"/>
            <a:ext cx="402336" cy="402336"/>
          </a:xfrm>
          <a:prstGeom prst="ellipse">
            <a:avLst/>
          </a:prstGeom>
          <a:solidFill>
            <a:srgbClr val="177E89"/>
          </a:solidFill>
          <a:ln w="12700">
            <a:solidFill>
              <a:srgbClr val="177E89"/>
            </a:solidFill>
            <a:prstDash val="solid"/>
          </a:ln>
        </p:spPr>
      </p:sp>
      <p:sp>
        <p:nvSpPr>
          <p:cNvPr id="17" name="Text 15"/>
          <p:cNvSpPr txBox="1"/>
          <p:nvPr/>
        </p:nvSpPr>
        <p:spPr>
          <a:xfrm>
            <a:off x="8293608" y="284378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3</a:t>
            </a:r>
            <a:endParaRPr lang="en-US" sz="1200" dirty="0"/>
          </a:p>
        </p:txBody>
      </p:sp>
      <p:sp>
        <p:nvSpPr>
          <p:cNvPr id="18" name="Text 16"/>
          <p:cNvSpPr txBox="1"/>
          <p:nvPr/>
        </p:nvSpPr>
        <p:spPr>
          <a:xfrm>
            <a:off x="8851392" y="284378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El llamado</a:t>
            </a:r>
            <a:endParaRPr lang="en-US" sz="1300" dirty="0"/>
          </a:p>
        </p:txBody>
      </p:sp>
      <p:sp>
        <p:nvSpPr>
          <p:cNvPr id="19" name="Text 17"/>
          <p:cNvSpPr txBox="1"/>
          <p:nvPr/>
        </p:nvSpPr>
        <p:spPr>
          <a:xfrm>
            <a:off x="8321040" y="338328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text-bg-dark rounded-3 p-4 p-md-5</a:t>
            </a:r>
            <a:pPr algn="l" indent="0" marL="0">
              <a:buNone/>
            </a:pPr>
            <a:r>
              <a:rPr lang="en-US" sz="1150" dirty="0">
                <a:solidFill>
                  <a:srgbClr val="33393D"/>
                </a:solidFill>
                <a:latin typeface="Calibri" pitchFamily="34" charset="0"/>
                <a:ea typeface="Calibri" pitchFamily="34" charset="-122"/>
                <a:cs typeface="Calibri" pitchFamily="34" charset="-120"/>
              </a:rPr>
              <a:t> y un </a:t>
            </a:r>
            <a:pPr algn="l" indent="0" marL="0">
              <a:buNone/>
            </a:pPr>
            <a:r>
              <a:rPr lang="en-US" sz="1150" dirty="0">
                <a:solidFill>
                  <a:srgbClr val="1F2326"/>
                </a:solidFill>
                <a:latin typeface="Consolas" pitchFamily="34" charset="0"/>
                <a:ea typeface="Consolas" pitchFamily="34" charset="-122"/>
                <a:cs typeface="Consolas" pitchFamily="34" charset="-120"/>
              </a:rPr>
              <a:t>btn btn-primary btn-lg</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20" name="Shape 18"/>
          <p:cNvSpPr/>
          <p:nvPr/>
        </p:nvSpPr>
        <p:spPr>
          <a:xfrm>
            <a:off x="640080" y="4352544"/>
            <a:ext cx="3520440" cy="1572768"/>
          </a:xfrm>
          <a:prstGeom prst="roundRect">
            <a:avLst>
              <a:gd name="adj" fmla="val 5814"/>
            </a:avLst>
          </a:prstGeom>
          <a:solidFill>
            <a:srgbClr val="FFFFFF"/>
          </a:solidFill>
          <a:ln w="12700">
            <a:solidFill>
              <a:srgbClr val="CFD5D9"/>
            </a:solidFill>
            <a:prstDash val="solid"/>
          </a:ln>
        </p:spPr>
      </p:sp>
      <p:sp>
        <p:nvSpPr>
          <p:cNvPr id="21" name="Shape 19"/>
          <p:cNvSpPr/>
          <p:nvPr/>
        </p:nvSpPr>
        <p:spPr>
          <a:xfrm>
            <a:off x="886968" y="4581144"/>
            <a:ext cx="402336" cy="402336"/>
          </a:xfrm>
          <a:prstGeom prst="ellipse">
            <a:avLst/>
          </a:prstGeom>
          <a:solidFill>
            <a:srgbClr val="177E89"/>
          </a:solidFill>
          <a:ln w="12700">
            <a:solidFill>
              <a:srgbClr val="177E89"/>
            </a:solidFill>
            <a:prstDash val="solid"/>
          </a:ln>
        </p:spPr>
      </p:sp>
      <p:sp>
        <p:nvSpPr>
          <p:cNvPr id="22" name="Text 20"/>
          <p:cNvSpPr txBox="1"/>
          <p:nvPr/>
        </p:nvSpPr>
        <p:spPr>
          <a:xfrm>
            <a:off x="88696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4</a:t>
            </a:r>
            <a:endParaRPr lang="en-US" sz="1200" dirty="0"/>
          </a:p>
        </p:txBody>
      </p:sp>
      <p:sp>
        <p:nvSpPr>
          <p:cNvPr id="23" name="Text 21"/>
          <p:cNvSpPr txBox="1"/>
          <p:nvPr/>
        </p:nvSpPr>
        <p:spPr>
          <a:xfrm>
            <a:off x="144475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La ventana</a:t>
            </a:r>
            <a:endParaRPr lang="en-US" sz="1300" dirty="0"/>
          </a:p>
        </p:txBody>
      </p:sp>
      <p:sp>
        <p:nvSpPr>
          <p:cNvPr id="24" name="Text 22"/>
          <p:cNvSpPr txBox="1"/>
          <p:nvPr/>
        </p:nvSpPr>
        <p:spPr>
          <a:xfrm>
            <a:off x="91440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El </a:t>
            </a:r>
            <a:pPr algn="l" indent="0" marL="0">
              <a:buNone/>
            </a:pPr>
            <a:r>
              <a:rPr lang="en-US" sz="1150" dirty="0">
                <a:solidFill>
                  <a:srgbClr val="1F2326"/>
                </a:solidFill>
                <a:latin typeface="Consolas" pitchFamily="34" charset="0"/>
                <a:ea typeface="Consolas" pitchFamily="34" charset="-122"/>
                <a:cs typeface="Consolas" pitchFamily="34" charset="-120"/>
              </a:rPr>
              <a:t>modal</a:t>
            </a:r>
            <a:pPr algn="l" indent="0" marL="0">
              <a:buNone/>
            </a:pPr>
            <a:r>
              <a:rPr lang="en-US" sz="1150" dirty="0">
                <a:solidFill>
                  <a:srgbClr val="33393D"/>
                </a:solidFill>
                <a:latin typeface="Calibri" pitchFamily="34" charset="0"/>
                <a:ea typeface="Calibri" pitchFamily="34" charset="-122"/>
                <a:cs typeface="Calibri" pitchFamily="34" charset="-120"/>
              </a:rPr>
              <a:t> al final del body; los botones con </a:t>
            </a:r>
            <a:pPr algn="l" indent="0" marL="0">
              <a:buNone/>
            </a:pPr>
            <a:r>
              <a:rPr lang="en-US" sz="1150" dirty="0">
                <a:solidFill>
                  <a:srgbClr val="1F2326"/>
                </a:solidFill>
                <a:latin typeface="Consolas" pitchFamily="34" charset="0"/>
                <a:ea typeface="Consolas" pitchFamily="34" charset="-122"/>
                <a:cs typeface="Consolas" pitchFamily="34" charset="-120"/>
              </a:rPr>
              <a:t>data-bs-target</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25" name="Shape 23"/>
          <p:cNvSpPr/>
          <p:nvPr/>
        </p:nvSpPr>
        <p:spPr>
          <a:xfrm>
            <a:off x="4343400" y="4352544"/>
            <a:ext cx="3520440" cy="1572768"/>
          </a:xfrm>
          <a:prstGeom prst="roundRect">
            <a:avLst>
              <a:gd name="adj" fmla="val 5814"/>
            </a:avLst>
          </a:prstGeom>
          <a:solidFill>
            <a:srgbClr val="FFFFFF"/>
          </a:solidFill>
          <a:ln w="12700">
            <a:solidFill>
              <a:srgbClr val="CFD5D9"/>
            </a:solidFill>
            <a:prstDash val="solid"/>
          </a:ln>
        </p:spPr>
      </p:sp>
      <p:sp>
        <p:nvSpPr>
          <p:cNvPr id="26" name="Shape 24"/>
          <p:cNvSpPr/>
          <p:nvPr/>
        </p:nvSpPr>
        <p:spPr>
          <a:xfrm>
            <a:off x="4590288" y="4581144"/>
            <a:ext cx="402336" cy="402336"/>
          </a:xfrm>
          <a:prstGeom prst="ellipse">
            <a:avLst/>
          </a:prstGeom>
          <a:solidFill>
            <a:srgbClr val="177E89"/>
          </a:solidFill>
          <a:ln w="12700">
            <a:solidFill>
              <a:srgbClr val="177E89"/>
            </a:solidFill>
            <a:prstDash val="solid"/>
          </a:ln>
        </p:spPr>
      </p:sp>
      <p:sp>
        <p:nvSpPr>
          <p:cNvPr id="27" name="Text 25"/>
          <p:cNvSpPr txBox="1"/>
          <p:nvPr/>
        </p:nvSpPr>
        <p:spPr>
          <a:xfrm>
            <a:off x="459028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5</a:t>
            </a:r>
            <a:endParaRPr lang="en-US" sz="1200" dirty="0"/>
          </a:p>
        </p:txBody>
      </p:sp>
      <p:sp>
        <p:nvSpPr>
          <p:cNvPr id="28" name="Text 26"/>
          <p:cNvSpPr txBox="1"/>
          <p:nvPr/>
        </p:nvSpPr>
        <p:spPr>
          <a:xfrm>
            <a:off x="514807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El formulario</a:t>
            </a:r>
            <a:endParaRPr lang="en-US" sz="1300" dirty="0"/>
          </a:p>
        </p:txBody>
      </p:sp>
      <p:sp>
        <p:nvSpPr>
          <p:cNvPr id="29" name="Text 27"/>
          <p:cNvSpPr txBox="1"/>
          <p:nvPr/>
        </p:nvSpPr>
        <p:spPr>
          <a:xfrm>
            <a:off x="4617720" y="5120640"/>
            <a:ext cx="2971800" cy="676656"/>
          </a:xfrm>
          <a:prstGeom prst="rect">
            <a:avLst/>
          </a:prstGeom>
          <a:noFill/>
          <a:ln/>
        </p:spPr>
        <p:txBody>
          <a:bodyPr wrap="square" lIns="0" tIns="0" rIns="0" bIns="0" rtlCol="0" anchor="t"/>
          <a:lstStyle/>
          <a:p>
            <a:pPr algn="l" indent="0" marL="0">
              <a:buNone/>
            </a:pPr>
            <a:r>
              <a:rPr lang="en-US" sz="1150" dirty="0">
                <a:solidFill>
                  <a:srgbClr val="1F2326"/>
                </a:solidFill>
                <a:latin typeface="Consolas" pitchFamily="34" charset="0"/>
                <a:ea typeface="Consolas" pitchFamily="34" charset="-122"/>
                <a:cs typeface="Consolas" pitchFamily="34" charset="-120"/>
              </a:rPr>
              <a:t>form-label</a:t>
            </a:r>
            <a:pPr algn="l" indent="0" marL="0">
              <a:buNone/>
            </a:pPr>
            <a:r>
              <a:rPr lang="en-US" sz="1150" dirty="0">
                <a:solidFill>
                  <a:srgbClr val="33393D"/>
                </a:solidFill>
                <a:latin typeface="Calibri" pitchFamily="34" charset="0"/>
                <a:ea typeface="Calibri" pitchFamily="34" charset="-122"/>
                <a:cs typeface="Calibri" pitchFamily="34" charset="-120"/>
              </a:rPr>
              <a:t>, </a:t>
            </a:r>
            <a:pPr algn="l" indent="0" marL="0">
              <a:buNone/>
            </a:pPr>
            <a:r>
              <a:rPr lang="en-US" sz="1150" dirty="0">
                <a:solidFill>
                  <a:srgbClr val="1F2326"/>
                </a:solidFill>
                <a:latin typeface="Consolas" pitchFamily="34" charset="0"/>
                <a:ea typeface="Consolas" pitchFamily="34" charset="-122"/>
                <a:cs typeface="Consolas" pitchFamily="34" charset="-120"/>
              </a:rPr>
              <a:t>form-control</a:t>
            </a:r>
            <a:pPr algn="l" indent="0" marL="0">
              <a:buNone/>
            </a:pPr>
            <a:r>
              <a:rPr lang="en-US" sz="1150" dirty="0">
                <a:solidFill>
                  <a:srgbClr val="33393D"/>
                </a:solidFill>
                <a:latin typeface="Calibri" pitchFamily="34" charset="0"/>
                <a:ea typeface="Calibri" pitchFamily="34" charset="-122"/>
                <a:cs typeface="Calibri" pitchFamily="34" charset="-120"/>
              </a:rPr>
              <a:t>, </a:t>
            </a:r>
            <a:pPr algn="l" indent="0" marL="0">
              <a:buNone/>
            </a:pPr>
            <a:r>
              <a:rPr lang="en-US" sz="1150" dirty="0">
                <a:solidFill>
                  <a:srgbClr val="1F2326"/>
                </a:solidFill>
                <a:latin typeface="Consolas" pitchFamily="34" charset="0"/>
                <a:ea typeface="Consolas" pitchFamily="34" charset="-122"/>
                <a:cs typeface="Consolas" pitchFamily="34" charset="-120"/>
              </a:rPr>
              <a:t>form-select</a:t>
            </a:r>
            <a:pPr algn="l" indent="0" marL="0">
              <a:buNone/>
            </a:pPr>
            <a:r>
              <a:rPr lang="en-US" sz="1150" dirty="0">
                <a:solidFill>
                  <a:srgbClr val="33393D"/>
                </a:solidFill>
                <a:latin typeface="Calibri" pitchFamily="34" charset="0"/>
                <a:ea typeface="Calibri" pitchFamily="34" charset="-122"/>
                <a:cs typeface="Calibri" pitchFamily="34" charset="-120"/>
              </a:rPr>
              <a:t> y </a:t>
            </a:r>
            <a:pPr algn="l" indent="0" marL="0">
              <a:buNone/>
            </a:pPr>
            <a:r>
              <a:rPr lang="en-US" sz="1150" dirty="0">
                <a:solidFill>
                  <a:srgbClr val="1F2326"/>
                </a:solidFill>
                <a:latin typeface="Consolas" pitchFamily="34" charset="0"/>
                <a:ea typeface="Consolas" pitchFamily="34" charset="-122"/>
                <a:cs typeface="Consolas" pitchFamily="34" charset="-120"/>
              </a:rPr>
              <a:t>form-check</a:t>
            </a:r>
            <a:pPr algn="l" indent="0" marL="0">
              <a:buNone/>
            </a:pPr>
            <a:r>
              <a:rPr lang="en-US" sz="1150" dirty="0">
                <a:solidFill>
                  <a:srgbClr val="33393D"/>
                </a:solidFill>
                <a:latin typeface="Calibri" pitchFamily="34" charset="0"/>
                <a:ea typeface="Calibri" pitchFamily="34" charset="-122"/>
                <a:cs typeface="Calibri" pitchFamily="34" charset="-120"/>
              </a:rPr>
              <a:t>.</a:t>
            </a:r>
            <a:endParaRPr lang="en-US" sz="1150" dirty="0"/>
          </a:p>
        </p:txBody>
      </p:sp>
      <p:sp>
        <p:nvSpPr>
          <p:cNvPr id="30" name="Shape 28"/>
          <p:cNvSpPr/>
          <p:nvPr/>
        </p:nvSpPr>
        <p:spPr>
          <a:xfrm>
            <a:off x="8046720" y="4352544"/>
            <a:ext cx="3520440" cy="1572768"/>
          </a:xfrm>
          <a:prstGeom prst="roundRect">
            <a:avLst>
              <a:gd name="adj" fmla="val 5814"/>
            </a:avLst>
          </a:prstGeom>
          <a:solidFill>
            <a:srgbClr val="FFFFFF"/>
          </a:solidFill>
          <a:ln w="12700">
            <a:solidFill>
              <a:srgbClr val="CFD5D9"/>
            </a:solidFill>
            <a:prstDash val="solid"/>
          </a:ln>
        </p:spPr>
      </p:sp>
      <p:sp>
        <p:nvSpPr>
          <p:cNvPr id="31" name="Shape 29"/>
          <p:cNvSpPr/>
          <p:nvPr/>
        </p:nvSpPr>
        <p:spPr>
          <a:xfrm>
            <a:off x="8293608" y="4581144"/>
            <a:ext cx="402336" cy="402336"/>
          </a:xfrm>
          <a:prstGeom prst="ellipse">
            <a:avLst/>
          </a:prstGeom>
          <a:solidFill>
            <a:srgbClr val="177E89"/>
          </a:solidFill>
          <a:ln w="12700">
            <a:solidFill>
              <a:srgbClr val="177E89"/>
            </a:solidFill>
            <a:prstDash val="solid"/>
          </a:ln>
        </p:spPr>
      </p:sp>
      <p:sp>
        <p:nvSpPr>
          <p:cNvPr id="32" name="Text 30"/>
          <p:cNvSpPr txBox="1"/>
          <p:nvPr/>
        </p:nvSpPr>
        <p:spPr>
          <a:xfrm>
            <a:off x="8293608" y="4581144"/>
            <a:ext cx="402336" cy="402336"/>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ea typeface="Calibri" pitchFamily="34" charset="-122"/>
                <a:cs typeface="Calibri" pitchFamily="34" charset="-120"/>
              </a:rPr>
              <a:t>6</a:t>
            </a:r>
            <a:endParaRPr lang="en-US" sz="1200" dirty="0"/>
          </a:p>
        </p:txBody>
      </p:sp>
      <p:sp>
        <p:nvSpPr>
          <p:cNvPr id="33" name="Text 31"/>
          <p:cNvSpPr txBox="1"/>
          <p:nvPr/>
        </p:nvSpPr>
        <p:spPr>
          <a:xfrm>
            <a:off x="8851392" y="4581144"/>
            <a:ext cx="2560320" cy="402336"/>
          </a:xfrm>
          <a:prstGeom prst="rect">
            <a:avLst/>
          </a:prstGeom>
          <a:noFill/>
          <a:ln/>
        </p:spPr>
        <p:txBody>
          <a:bodyPr wrap="square" lIns="0" tIns="0" rIns="0" bIns="0" rtlCol="0" anchor="ctr"/>
          <a:lstStyle/>
          <a:p>
            <a:pPr algn="l" indent="0" marL="0">
              <a:buNone/>
            </a:pPr>
            <a:r>
              <a:rPr lang="en-US" sz="1300" b="1" dirty="0">
                <a:solidFill>
                  <a:srgbClr val="1F2326"/>
                </a:solidFill>
                <a:latin typeface="Calibri" pitchFamily="34" charset="0"/>
                <a:ea typeface="Calibri" pitchFamily="34" charset="-122"/>
                <a:cs typeface="Calibri" pitchFamily="34" charset="-120"/>
              </a:rPr>
              <a:t>Valida y prueba</a:t>
            </a:r>
            <a:endParaRPr lang="en-US" sz="1300" dirty="0"/>
          </a:p>
        </p:txBody>
      </p:sp>
      <p:sp>
        <p:nvSpPr>
          <p:cNvPr id="34" name="Text 32"/>
          <p:cNvSpPr txBox="1"/>
          <p:nvPr/>
        </p:nvSpPr>
        <p:spPr>
          <a:xfrm>
            <a:off x="8321040" y="5120640"/>
            <a:ext cx="2971800" cy="676656"/>
          </a:xfrm>
          <a:prstGeom prst="rect">
            <a:avLst/>
          </a:prstGeom>
          <a:noFill/>
          <a:ln/>
        </p:spPr>
        <p:txBody>
          <a:bodyPr wrap="square" lIns="0" tIns="0" rIns="0" bIns="0" rtlCol="0" anchor="t"/>
          <a:lstStyle/>
          <a:p>
            <a:pPr algn="l" indent="0" marL="0">
              <a:buNone/>
            </a:pPr>
            <a:r>
              <a:rPr lang="en-US" sz="1150" dirty="0">
                <a:solidFill>
                  <a:srgbClr val="33393D"/>
                </a:solidFill>
                <a:latin typeface="Calibri" pitchFamily="34" charset="0"/>
                <a:ea typeface="Calibri" pitchFamily="34" charset="-122"/>
                <a:cs typeface="Calibri" pitchFamily="34" charset="-120"/>
              </a:rPr>
              <a:t>W3C sin errores. Abre y cierra la ventana solo con el teclado.</a:t>
            </a:r>
            <a:endParaRPr lang="en-US" sz="1150" dirty="0"/>
          </a:p>
        </p:txBody>
      </p:sp>
      <p:sp>
        <p:nvSpPr>
          <p:cNvPr id="35" name="Text 33"/>
          <p:cNvSpPr txBox="1"/>
          <p:nvPr/>
        </p:nvSpPr>
        <p:spPr>
          <a:xfrm>
            <a:off x="640080" y="6053328"/>
            <a:ext cx="10927080" cy="256032"/>
          </a:xfrm>
          <a:prstGeom prst="rect">
            <a:avLst/>
          </a:prstGeom>
          <a:noFill/>
          <a:ln/>
        </p:spPr>
        <p:txBody>
          <a:bodyPr wrap="square" lIns="0" tIns="0" rIns="0" bIns="0" rtlCol="0" anchor="ctr"/>
          <a:lstStyle/>
          <a:p>
            <a:pPr algn="ctr" indent="0" marL="0">
              <a:buNone/>
            </a:pPr>
            <a:r>
              <a:rPr lang="en-US" sz="1150" dirty="0">
                <a:solidFill>
                  <a:srgbClr val="5F676C"/>
                </a:solidFill>
                <a:latin typeface="Calibri" pitchFamily="34" charset="0"/>
                <a:ea typeface="Calibri" pitchFamily="34" charset="-122"/>
                <a:cs typeface="Calibri" pitchFamily="34" charset="-120"/>
              </a:rPr>
              <a:t>Si terminas antes: inscripcion.js, para que la ventana se abra con el curso ya elegido.</a:t>
            </a:r>
            <a:endParaRPr lang="en-US" sz="1150" dirty="0"/>
          </a:p>
        </p:txBody>
      </p:sp>
      <p:sp>
        <p:nvSpPr>
          <p:cNvPr id="36" name="Text 34"/>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38 / 47</a:t>
            </a:r>
            <a:endParaRPr lang="en-US" sz="800" dirty="0"/>
          </a:p>
        </p:txBody>
      </p:sp>
    </p:spTree>
  </p:cSld>
  <p:clrMapOvr>
    <a:masterClrMapping/>
  </p:clrMapOvr>
</p:sld>
</file>

<file path=ppt/slides/slide39.xml><?xml version="1.0" encoding="utf-8"?>
<p:sld xmlns:a="http://schemas.openxmlformats.org/drawingml/2006/main" xmlns:r="http://schemas.openxmlformats.org/officeDocument/2006/relationships" xmlns:p="http://schemas.openxmlformats.org/presentationml/2006/main">
  <p:cSld name="Slide 39">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06 · PRÁCTICA</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Compruébalo</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La página Cursos terminada, en escritorio y en el celular.</a:t>
            </a:r>
            <a:endParaRPr lang="en-US" sz="1250" dirty="0"/>
          </a:p>
        </p:txBody>
      </p:sp>
      <p:sp>
        <p:nvSpPr>
          <p:cNvPr id="5" name="Shape 3"/>
          <p:cNvSpPr/>
          <p:nvPr/>
        </p:nvSpPr>
        <p:spPr>
          <a:xfrm>
            <a:off x="640080" y="2615184"/>
            <a:ext cx="5618074" cy="3566160"/>
          </a:xfrm>
          <a:prstGeom prst="roundRect">
            <a:avLst>
              <a:gd name="adj" fmla="val 2564"/>
            </a:avLst>
          </a:prstGeom>
          <a:solidFill>
            <a:srgbClr val="FFFFFF"/>
          </a:solidFill>
          <a:ln w="19050">
            <a:solidFill>
              <a:srgbClr val="CFD5D9"/>
            </a:solidFill>
            <a:prstDash val="solid"/>
          </a:ln>
        </p:spPr>
      </p:sp>
      <p:pic>
        <p:nvPicPr>
          <p:cNvPr id="6" name="Image 0" descr="/tmp/claude-0/-home-user-sesiones-dagner/2613c8c1-437c-54f4-94d9-b62c29473bbd/scratchpad/deck/img/s14-cursos-1440.png">    </p:cNvPr>
          <p:cNvPicPr>
            <a:picLocks noChangeAspect="1"/>
          </p:cNvPicPr>
          <p:nvPr/>
        </p:nvPicPr>
        <p:blipFill>
          <a:blip r:embed="rId1"/>
          <a:stretch>
            <a:fillRect/>
          </a:stretch>
        </p:blipFill>
        <p:spPr>
          <a:xfrm>
            <a:off x="713232" y="2688336"/>
            <a:ext cx="5471770" cy="3419856"/>
          </a:xfrm>
          <a:prstGeom prst="rect">
            <a:avLst/>
          </a:prstGeom>
        </p:spPr>
      </p:pic>
      <p:sp>
        <p:nvSpPr>
          <p:cNvPr id="7" name="Shape 4"/>
          <p:cNvSpPr/>
          <p:nvPr/>
        </p:nvSpPr>
        <p:spPr>
          <a:xfrm>
            <a:off x="9840591" y="2615184"/>
            <a:ext cx="1726569" cy="3566160"/>
          </a:xfrm>
          <a:prstGeom prst="roundRect">
            <a:avLst>
              <a:gd name="adj" fmla="val 5296"/>
            </a:avLst>
          </a:prstGeom>
          <a:solidFill>
            <a:srgbClr val="FFFFFF"/>
          </a:solidFill>
          <a:ln w="19050">
            <a:solidFill>
              <a:srgbClr val="CFD5D9"/>
            </a:solidFill>
            <a:prstDash val="solid"/>
          </a:ln>
        </p:spPr>
      </p:sp>
      <p:pic>
        <p:nvPicPr>
          <p:cNvPr id="8" name="Image 1" descr="La página Cursos en un celular">    </p:cNvPr>
          <p:cNvPicPr>
            <a:picLocks noChangeAspect="1"/>
          </p:cNvPicPr>
          <p:nvPr/>
        </p:nvPicPr>
        <p:blipFill>
          <a:blip r:embed="rId2"/>
          <a:stretch>
            <a:fillRect/>
          </a:stretch>
        </p:blipFill>
        <p:spPr>
          <a:xfrm>
            <a:off x="9913743" y="2688336"/>
            <a:ext cx="1580265" cy="3419856"/>
          </a:xfrm>
          <a:prstGeom prst="rect">
            <a:avLst/>
          </a:prstGeom>
        </p:spPr>
      </p:pic>
      <p:sp>
        <p:nvSpPr>
          <p:cNvPr id="9" name="Text 5"/>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39 / 47</a:t>
            </a:r>
            <a:endParaRPr lang="en-US" sz="800" dirty="0"/>
          </a:p>
        </p:txBody>
      </p:sp>
    </p:spTree>
  </p:cSld>
  <p:clrMapOvr>
    <a:masterClrMapping/>
  </p:clrMapOvr>
</p:sld>
</file>

<file path=ppt/slides/slide40.xml><?xml version="1.0" encoding="utf-8"?>
<p:sld xmlns:a="http://schemas.openxmlformats.org/drawingml/2006/main" xmlns:r="http://schemas.openxmlformats.org/officeDocument/2006/relationships" xmlns:p="http://schemas.openxmlformats.org/presentationml/2006/main">
  <p:cSld name="Slide 40">
    <p:spTree>
      <p:nvGrpSpPr>
        <p:cNvPr id="1" name=""/>
        <p:cNvGrpSpPr/>
        <p:nvPr/>
      </p:nvGrpSpPr>
      <p:grpSpPr>
        <a:xfrm>
          <a:off x="0" y="0"/>
          <a:ext cx="0" cy="0"/>
          <a:chOff x="0" y="0"/>
          <a:chExt cx="0" cy="0"/>
        </a:xfrm>
      </p:grpSpPr>
      <p:pic>
        <p:nvPicPr>
          <p:cNvPr id="2" name="Image 0" descr="Nivelador: nivel de comprensión del estudiante">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40 / 47</a:t>
            </a:r>
            <a:endParaRPr lang="en-US" sz="800" dirty="0"/>
          </a:p>
        </p:txBody>
      </p:sp>
    </p:spTree>
  </p:cSld>
  <p:clrMapOvr>
    <a:masterClrMapping/>
  </p:clrMapOvr>
</p:sld>
</file>

<file path=ppt/slides/slide41.xml><?xml version="1.0" encoding="utf-8"?>
<p:sld xmlns:a="http://schemas.openxmlformats.org/drawingml/2006/main" xmlns:r="http://schemas.openxmlformats.org/officeDocument/2006/relationships" xmlns:p="http://schemas.openxmlformats.org/presentationml/2006/main">
  <p:cSld name="Slide 41">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NIVELADOR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Autoevaluación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Marca mentalmente cada punto. Si dudas en alguno, pregunta ahora.</a:t>
            </a:r>
            <a:endParaRPr lang="en-US" sz="1250" dirty="0"/>
          </a:p>
        </p:txBody>
      </p:sp>
      <p:sp>
        <p:nvSpPr>
          <p:cNvPr id="5" name="Shape 3"/>
          <p:cNvSpPr/>
          <p:nvPr/>
        </p:nvSpPr>
        <p:spPr>
          <a:xfrm>
            <a:off x="640080" y="2615184"/>
            <a:ext cx="10927080" cy="402336"/>
          </a:xfrm>
          <a:prstGeom prst="roundRect">
            <a:avLst>
              <a:gd name="adj" fmla="val 22727"/>
            </a:avLst>
          </a:prstGeom>
          <a:solidFill>
            <a:srgbClr val="FFFFFF"/>
          </a:solidFill>
          <a:ln w="12700">
            <a:solidFill>
              <a:srgbClr val="CFD5D9"/>
            </a:solidFill>
            <a:prstDash val="solid"/>
          </a:ln>
        </p:spPr>
      </p:sp>
      <p:sp>
        <p:nvSpPr>
          <p:cNvPr id="6" name="Shape 4"/>
          <p:cNvSpPr/>
          <p:nvPr/>
        </p:nvSpPr>
        <p:spPr>
          <a:xfrm>
            <a:off x="914400" y="2688336"/>
            <a:ext cx="292608" cy="256032"/>
          </a:xfrm>
          <a:prstGeom prst="roundRect">
            <a:avLst>
              <a:gd name="adj" fmla="val 21429"/>
            </a:avLst>
          </a:prstGeom>
          <a:solidFill>
            <a:srgbClr val="FFFFFF"/>
          </a:solidFill>
          <a:ln w="19050">
            <a:solidFill>
              <a:srgbClr val="177E89"/>
            </a:solidFill>
            <a:prstDash val="solid"/>
          </a:ln>
        </p:spPr>
      </p:sp>
      <p:sp>
        <p:nvSpPr>
          <p:cNvPr id="7" name="Text 5"/>
          <p:cNvSpPr txBox="1"/>
          <p:nvPr/>
        </p:nvSpPr>
        <p:spPr>
          <a:xfrm>
            <a:off x="1371600" y="26151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Sé qué es una utilidad y leo mb-3, p-md-5 o d-lg-block.</a:t>
            </a:r>
            <a:endParaRPr lang="en-US" sz="1200" dirty="0"/>
          </a:p>
        </p:txBody>
      </p:sp>
      <p:sp>
        <p:nvSpPr>
          <p:cNvPr id="8" name="Shape 6"/>
          <p:cNvSpPr/>
          <p:nvPr/>
        </p:nvSpPr>
        <p:spPr>
          <a:xfrm>
            <a:off x="640080" y="3072384"/>
            <a:ext cx="10927080" cy="402336"/>
          </a:xfrm>
          <a:prstGeom prst="roundRect">
            <a:avLst>
              <a:gd name="adj" fmla="val 22727"/>
            </a:avLst>
          </a:prstGeom>
          <a:solidFill>
            <a:srgbClr val="FFFFFF"/>
          </a:solidFill>
          <a:ln w="12700">
            <a:solidFill>
              <a:srgbClr val="CFD5D9"/>
            </a:solidFill>
            <a:prstDash val="solid"/>
          </a:ln>
        </p:spPr>
      </p:sp>
      <p:sp>
        <p:nvSpPr>
          <p:cNvPr id="9" name="Shape 7"/>
          <p:cNvSpPr/>
          <p:nvPr/>
        </p:nvSpPr>
        <p:spPr>
          <a:xfrm>
            <a:off x="914400" y="3145536"/>
            <a:ext cx="292608" cy="256032"/>
          </a:xfrm>
          <a:prstGeom prst="roundRect">
            <a:avLst>
              <a:gd name="adj" fmla="val 21429"/>
            </a:avLst>
          </a:prstGeom>
          <a:solidFill>
            <a:srgbClr val="FFFFFF"/>
          </a:solidFill>
          <a:ln w="19050">
            <a:solidFill>
              <a:srgbClr val="177E89"/>
            </a:solidFill>
            <a:prstDash val="solid"/>
          </a:ln>
        </p:spPr>
      </p:sp>
      <p:sp>
        <p:nvSpPr>
          <p:cNvPr id="10" name="Text 8"/>
          <p:cNvSpPr txBox="1"/>
          <p:nvPr/>
        </p:nvSpPr>
        <p:spPr>
          <a:xfrm>
            <a:off x="1371600" y="30723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Sé por qué las utilidades usan !important y cómo cambiar una.</a:t>
            </a:r>
            <a:endParaRPr lang="en-US" sz="1200" dirty="0"/>
          </a:p>
        </p:txBody>
      </p:sp>
      <p:sp>
        <p:nvSpPr>
          <p:cNvPr id="11" name="Shape 9"/>
          <p:cNvSpPr/>
          <p:nvPr/>
        </p:nvSpPr>
        <p:spPr>
          <a:xfrm>
            <a:off x="640080" y="3529584"/>
            <a:ext cx="10927080" cy="402336"/>
          </a:xfrm>
          <a:prstGeom prst="roundRect">
            <a:avLst>
              <a:gd name="adj" fmla="val 22727"/>
            </a:avLst>
          </a:prstGeom>
          <a:solidFill>
            <a:srgbClr val="FFFFFF"/>
          </a:solidFill>
          <a:ln w="12700">
            <a:solidFill>
              <a:srgbClr val="CFD5D9"/>
            </a:solidFill>
            <a:prstDash val="solid"/>
          </a:ln>
        </p:spPr>
      </p:sp>
      <p:sp>
        <p:nvSpPr>
          <p:cNvPr id="12" name="Shape 10"/>
          <p:cNvSpPr/>
          <p:nvPr/>
        </p:nvSpPr>
        <p:spPr>
          <a:xfrm>
            <a:off x="914400" y="3602736"/>
            <a:ext cx="292608" cy="256032"/>
          </a:xfrm>
          <a:prstGeom prst="roundRect">
            <a:avLst>
              <a:gd name="adj" fmla="val 21429"/>
            </a:avLst>
          </a:prstGeom>
          <a:solidFill>
            <a:srgbClr val="FFFFFF"/>
          </a:solidFill>
          <a:ln w="19050">
            <a:solidFill>
              <a:srgbClr val="177E89"/>
            </a:solidFill>
            <a:prstDash val="solid"/>
          </a:ln>
        </p:spPr>
      </p:sp>
      <p:sp>
        <p:nvSpPr>
          <p:cNvPr id="13" name="Text 11"/>
          <p:cNvSpPr txBox="1"/>
          <p:nvPr/>
        </p:nvSpPr>
        <p:spPr>
          <a:xfrm>
            <a:off x="1371600" y="35295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Armo una tarjeta con card, card-body, card-title y card-footer.</a:t>
            </a:r>
            <a:endParaRPr lang="en-US" sz="1200" dirty="0"/>
          </a:p>
        </p:txBody>
      </p:sp>
      <p:sp>
        <p:nvSpPr>
          <p:cNvPr id="14" name="Shape 12"/>
          <p:cNvSpPr/>
          <p:nvPr/>
        </p:nvSpPr>
        <p:spPr>
          <a:xfrm>
            <a:off x="640080" y="3986784"/>
            <a:ext cx="10927080" cy="402336"/>
          </a:xfrm>
          <a:prstGeom prst="roundRect">
            <a:avLst>
              <a:gd name="adj" fmla="val 22727"/>
            </a:avLst>
          </a:prstGeom>
          <a:solidFill>
            <a:srgbClr val="FFFFFF"/>
          </a:solidFill>
          <a:ln w="12700">
            <a:solidFill>
              <a:srgbClr val="CFD5D9"/>
            </a:solidFill>
            <a:prstDash val="solid"/>
          </a:ln>
        </p:spPr>
      </p:sp>
      <p:sp>
        <p:nvSpPr>
          <p:cNvPr id="15" name="Shape 13"/>
          <p:cNvSpPr/>
          <p:nvPr/>
        </p:nvSpPr>
        <p:spPr>
          <a:xfrm>
            <a:off x="914400" y="4059936"/>
            <a:ext cx="292608" cy="256032"/>
          </a:xfrm>
          <a:prstGeom prst="roundRect">
            <a:avLst>
              <a:gd name="adj" fmla="val 21429"/>
            </a:avLst>
          </a:prstGeom>
          <a:solidFill>
            <a:srgbClr val="FFFFFF"/>
          </a:solidFill>
          <a:ln w="19050">
            <a:solidFill>
              <a:srgbClr val="177E89"/>
            </a:solidFill>
            <a:prstDash val="solid"/>
          </a:ln>
        </p:spPr>
      </p:sp>
      <p:sp>
        <p:nvSpPr>
          <p:cNvPr id="16" name="Text 14"/>
          <p:cNvSpPr txBox="1"/>
          <p:nvPr/>
        </p:nvSpPr>
        <p:spPr>
          <a:xfrm>
            <a:off x="1371600" y="39867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Enlazo el JavaScript de Bootstrap al final del body.</a:t>
            </a:r>
            <a:endParaRPr lang="en-US" sz="1200" dirty="0"/>
          </a:p>
        </p:txBody>
      </p:sp>
      <p:sp>
        <p:nvSpPr>
          <p:cNvPr id="17" name="Shape 15"/>
          <p:cNvSpPr/>
          <p:nvPr/>
        </p:nvSpPr>
        <p:spPr>
          <a:xfrm>
            <a:off x="640080" y="4443984"/>
            <a:ext cx="10927080" cy="402336"/>
          </a:xfrm>
          <a:prstGeom prst="roundRect">
            <a:avLst>
              <a:gd name="adj" fmla="val 22727"/>
            </a:avLst>
          </a:prstGeom>
          <a:solidFill>
            <a:srgbClr val="FFFFFF"/>
          </a:solidFill>
          <a:ln w="12700">
            <a:solidFill>
              <a:srgbClr val="CFD5D9"/>
            </a:solidFill>
            <a:prstDash val="solid"/>
          </a:ln>
        </p:spPr>
      </p:sp>
      <p:sp>
        <p:nvSpPr>
          <p:cNvPr id="18" name="Shape 16"/>
          <p:cNvSpPr/>
          <p:nvPr/>
        </p:nvSpPr>
        <p:spPr>
          <a:xfrm>
            <a:off x="914400" y="4517136"/>
            <a:ext cx="292608" cy="256032"/>
          </a:xfrm>
          <a:prstGeom prst="roundRect">
            <a:avLst>
              <a:gd name="adj" fmla="val 21429"/>
            </a:avLst>
          </a:prstGeom>
          <a:solidFill>
            <a:srgbClr val="FFFFFF"/>
          </a:solidFill>
          <a:ln w="19050">
            <a:solidFill>
              <a:srgbClr val="177E89"/>
            </a:solidFill>
            <a:prstDash val="solid"/>
          </a:ln>
        </p:spPr>
      </p:sp>
      <p:sp>
        <p:nvSpPr>
          <p:cNvPr id="19" name="Text 17"/>
          <p:cNvSpPr txBox="1"/>
          <p:nvPr/>
        </p:nvSpPr>
        <p:spPr>
          <a:xfrm>
            <a:off x="1371600" y="44439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Conecto un botón con su acordeón o su ventana con data-bs-target.</a:t>
            </a:r>
            <a:endParaRPr lang="en-US" sz="1200" dirty="0"/>
          </a:p>
        </p:txBody>
      </p:sp>
      <p:sp>
        <p:nvSpPr>
          <p:cNvPr id="20" name="Shape 18"/>
          <p:cNvSpPr/>
          <p:nvPr/>
        </p:nvSpPr>
        <p:spPr>
          <a:xfrm>
            <a:off x="640080" y="4901184"/>
            <a:ext cx="10927080" cy="402336"/>
          </a:xfrm>
          <a:prstGeom prst="roundRect">
            <a:avLst>
              <a:gd name="adj" fmla="val 22727"/>
            </a:avLst>
          </a:prstGeom>
          <a:solidFill>
            <a:srgbClr val="FFFFFF"/>
          </a:solidFill>
          <a:ln w="12700">
            <a:solidFill>
              <a:srgbClr val="CFD5D9"/>
            </a:solidFill>
            <a:prstDash val="solid"/>
          </a:ln>
        </p:spPr>
      </p:sp>
      <p:sp>
        <p:nvSpPr>
          <p:cNvPr id="21" name="Shape 19"/>
          <p:cNvSpPr/>
          <p:nvPr/>
        </p:nvSpPr>
        <p:spPr>
          <a:xfrm>
            <a:off x="914400" y="4974336"/>
            <a:ext cx="292608" cy="256032"/>
          </a:xfrm>
          <a:prstGeom prst="roundRect">
            <a:avLst>
              <a:gd name="adj" fmla="val 21429"/>
            </a:avLst>
          </a:prstGeom>
          <a:solidFill>
            <a:srgbClr val="FFFFFF"/>
          </a:solidFill>
          <a:ln w="19050">
            <a:solidFill>
              <a:srgbClr val="177E89"/>
            </a:solidFill>
            <a:prstDash val="solid"/>
          </a:ln>
        </p:spPr>
      </p:sp>
      <p:sp>
        <p:nvSpPr>
          <p:cNvPr id="22" name="Text 20"/>
          <p:cNvSpPr txBox="1"/>
          <p:nvPr/>
        </p:nvSpPr>
        <p:spPr>
          <a:xfrm>
            <a:off x="1371600" y="49011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Sé qué hace data-bs-parent en un acordeón.</a:t>
            </a:r>
            <a:endParaRPr lang="en-US" sz="1200" dirty="0"/>
          </a:p>
        </p:txBody>
      </p:sp>
      <p:sp>
        <p:nvSpPr>
          <p:cNvPr id="23" name="Shape 21"/>
          <p:cNvSpPr/>
          <p:nvPr/>
        </p:nvSpPr>
        <p:spPr>
          <a:xfrm>
            <a:off x="640080" y="5358384"/>
            <a:ext cx="10927080" cy="402336"/>
          </a:xfrm>
          <a:prstGeom prst="roundRect">
            <a:avLst>
              <a:gd name="adj" fmla="val 22727"/>
            </a:avLst>
          </a:prstGeom>
          <a:solidFill>
            <a:srgbClr val="FFFFFF"/>
          </a:solidFill>
          <a:ln w="12700">
            <a:solidFill>
              <a:srgbClr val="CFD5D9"/>
            </a:solidFill>
            <a:prstDash val="solid"/>
          </a:ln>
        </p:spPr>
      </p:sp>
      <p:sp>
        <p:nvSpPr>
          <p:cNvPr id="24" name="Shape 22"/>
          <p:cNvSpPr/>
          <p:nvPr/>
        </p:nvSpPr>
        <p:spPr>
          <a:xfrm>
            <a:off x="914400" y="5431536"/>
            <a:ext cx="292608" cy="256032"/>
          </a:xfrm>
          <a:prstGeom prst="roundRect">
            <a:avLst>
              <a:gd name="adj" fmla="val 21429"/>
            </a:avLst>
          </a:prstGeom>
          <a:solidFill>
            <a:srgbClr val="FFFFFF"/>
          </a:solidFill>
          <a:ln w="19050">
            <a:solidFill>
              <a:srgbClr val="177E89"/>
            </a:solidFill>
            <a:prstDash val="solid"/>
          </a:ln>
        </p:spPr>
      </p:sp>
      <p:sp>
        <p:nvSpPr>
          <p:cNvPr id="25" name="Text 23"/>
          <p:cNvSpPr txBox="1"/>
          <p:nvPr/>
        </p:nvSpPr>
        <p:spPr>
          <a:xfrm>
            <a:off x="1371600" y="53583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Cambio el color de Bootstrap con --bs-primary y --bs-primary-rgb.</a:t>
            </a:r>
            <a:endParaRPr lang="en-US" sz="1200" dirty="0"/>
          </a:p>
        </p:txBody>
      </p:sp>
      <p:sp>
        <p:nvSpPr>
          <p:cNvPr id="26" name="Shape 24"/>
          <p:cNvSpPr/>
          <p:nvPr/>
        </p:nvSpPr>
        <p:spPr>
          <a:xfrm>
            <a:off x="640080" y="5815584"/>
            <a:ext cx="10927080" cy="402336"/>
          </a:xfrm>
          <a:prstGeom prst="roundRect">
            <a:avLst>
              <a:gd name="adj" fmla="val 22727"/>
            </a:avLst>
          </a:prstGeom>
          <a:solidFill>
            <a:srgbClr val="FFFFFF"/>
          </a:solidFill>
          <a:ln w="12700">
            <a:solidFill>
              <a:srgbClr val="CFD5D9"/>
            </a:solidFill>
            <a:prstDash val="solid"/>
          </a:ln>
        </p:spPr>
      </p:sp>
      <p:sp>
        <p:nvSpPr>
          <p:cNvPr id="27" name="Shape 25"/>
          <p:cNvSpPr/>
          <p:nvPr/>
        </p:nvSpPr>
        <p:spPr>
          <a:xfrm>
            <a:off x="914400" y="5888736"/>
            <a:ext cx="292608" cy="256032"/>
          </a:xfrm>
          <a:prstGeom prst="roundRect">
            <a:avLst>
              <a:gd name="adj" fmla="val 21429"/>
            </a:avLst>
          </a:prstGeom>
          <a:solidFill>
            <a:srgbClr val="FFFFFF"/>
          </a:solidFill>
          <a:ln w="19050">
            <a:solidFill>
              <a:srgbClr val="177E89"/>
            </a:solidFill>
            <a:prstDash val="solid"/>
          </a:ln>
        </p:spPr>
      </p:sp>
      <p:sp>
        <p:nvSpPr>
          <p:cNvPr id="28" name="Text 26"/>
          <p:cNvSpPr txBox="1"/>
          <p:nvPr/>
        </p:nvSpPr>
        <p:spPr>
          <a:xfrm>
            <a:off x="1371600" y="5815584"/>
            <a:ext cx="9921240" cy="402336"/>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Mis colores de Figma están guardados como variables.</a:t>
            </a:r>
            <a:endParaRPr lang="en-US" sz="120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41 / 47</a:t>
            </a:r>
            <a:endParaRPr lang="en-US" sz="800" dirty="0"/>
          </a:p>
        </p:txBody>
      </p:sp>
    </p:spTree>
  </p:cSld>
  <p:clrMapOvr>
    <a:masterClrMapping/>
  </p:clrMapOvr>
</p:sld>
</file>

<file path=ppt/slides/slide42.xml><?xml version="1.0" encoding="utf-8"?>
<p:sld xmlns:a="http://schemas.openxmlformats.org/drawingml/2006/main" xmlns:r="http://schemas.openxmlformats.org/officeDocument/2006/relationships" xmlns:p="http://schemas.openxmlformats.org/presentationml/2006/main">
  <p:cSld name="Slide 42">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NIVELADOR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Espacio de consultas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¿Qué parte quedó menos clara?</a:t>
            </a:r>
            <a:endParaRPr lang="en-US" sz="1250" dirty="0"/>
          </a:p>
        </p:txBody>
      </p:sp>
      <p:sp>
        <p:nvSpPr>
          <p:cNvPr id="5" name="Shape 3"/>
          <p:cNvSpPr/>
          <p:nvPr/>
        </p:nvSpPr>
        <p:spPr>
          <a:xfrm>
            <a:off x="640080" y="2724912"/>
            <a:ext cx="2633472" cy="1892808"/>
          </a:xfrm>
          <a:prstGeom prst="roundRect">
            <a:avLst>
              <a:gd name="adj" fmla="val 4831"/>
            </a:avLst>
          </a:prstGeom>
          <a:solidFill>
            <a:srgbClr val="F3F5F6"/>
          </a:solidFill>
          <a:ln w="12700">
            <a:solidFill>
              <a:srgbClr val="CFD5D9"/>
            </a:solidFill>
            <a:prstDash val="solid"/>
          </a:ln>
        </p:spPr>
      </p:sp>
      <p:sp>
        <p:nvSpPr>
          <p:cNvPr id="6" name="Text 4"/>
          <p:cNvSpPr txBox="1"/>
          <p:nvPr/>
        </p:nvSpPr>
        <p:spPr>
          <a:xfrm>
            <a:off x="822960" y="2980944"/>
            <a:ext cx="2267712"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¿No abre?</a:t>
            </a:r>
            <a:endParaRPr lang="en-US" sz="1600" dirty="0"/>
          </a:p>
        </p:txBody>
      </p:sp>
      <p:sp>
        <p:nvSpPr>
          <p:cNvPr id="7" name="Text 5"/>
          <p:cNvSpPr txBox="1"/>
          <p:nvPr/>
        </p:nvSpPr>
        <p:spPr>
          <a:xfrm>
            <a:off x="868680" y="3456432"/>
            <a:ext cx="2176272" cy="822960"/>
          </a:xfrm>
          <a:prstGeom prst="rect">
            <a:avLst/>
          </a:prstGeom>
          <a:noFill/>
          <a:ln/>
        </p:spPr>
        <p:txBody>
          <a:bodyPr wrap="square" lIns="0" tIns="0" rIns="0" bIns="0" rtlCol="0" anchor="t"/>
          <a:lstStyle/>
          <a:p>
            <a:pPr algn="ctr" indent="0" marL="0">
              <a:buNone/>
            </a:pPr>
            <a:r>
              <a:rPr lang="en-US" sz="1200" dirty="0">
                <a:solidFill>
                  <a:srgbClr val="33393D"/>
                </a:solidFill>
                <a:latin typeface="Calibri" pitchFamily="34" charset="0"/>
                <a:ea typeface="Calibri" pitchFamily="34" charset="-122"/>
                <a:cs typeface="Calibri" pitchFamily="34" charset="-120"/>
              </a:rPr>
              <a:t>La ventana o el acordeón no hacen nada.</a:t>
            </a:r>
            <a:endParaRPr lang="en-US" sz="1200" dirty="0"/>
          </a:p>
        </p:txBody>
      </p:sp>
      <p:sp>
        <p:nvSpPr>
          <p:cNvPr id="8" name="Shape 6"/>
          <p:cNvSpPr/>
          <p:nvPr/>
        </p:nvSpPr>
        <p:spPr>
          <a:xfrm>
            <a:off x="3410712" y="2724912"/>
            <a:ext cx="2633472" cy="1892808"/>
          </a:xfrm>
          <a:prstGeom prst="roundRect">
            <a:avLst>
              <a:gd name="adj" fmla="val 4831"/>
            </a:avLst>
          </a:prstGeom>
          <a:solidFill>
            <a:srgbClr val="F3F5F6"/>
          </a:solidFill>
          <a:ln w="12700">
            <a:solidFill>
              <a:srgbClr val="CFD5D9"/>
            </a:solidFill>
            <a:prstDash val="solid"/>
          </a:ln>
        </p:spPr>
      </p:sp>
      <p:sp>
        <p:nvSpPr>
          <p:cNvPr id="9" name="Text 7"/>
          <p:cNvSpPr txBox="1"/>
          <p:nvPr/>
        </p:nvSpPr>
        <p:spPr>
          <a:xfrm>
            <a:off x="3593592" y="2980944"/>
            <a:ext cx="2267712"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¿Sigue azul?</a:t>
            </a:r>
            <a:endParaRPr lang="en-US" sz="1600" dirty="0"/>
          </a:p>
        </p:txBody>
      </p:sp>
      <p:sp>
        <p:nvSpPr>
          <p:cNvPr id="10" name="Text 8"/>
          <p:cNvSpPr txBox="1"/>
          <p:nvPr/>
        </p:nvSpPr>
        <p:spPr>
          <a:xfrm>
            <a:off x="3639312" y="3456432"/>
            <a:ext cx="2176272" cy="822960"/>
          </a:xfrm>
          <a:prstGeom prst="rect">
            <a:avLst/>
          </a:prstGeom>
          <a:noFill/>
          <a:ln/>
        </p:spPr>
        <p:txBody>
          <a:bodyPr wrap="square" lIns="0" tIns="0" rIns="0" bIns="0" rtlCol="0" anchor="t"/>
          <a:lstStyle/>
          <a:p>
            <a:pPr algn="ctr" indent="0" marL="0">
              <a:buNone/>
            </a:pPr>
            <a:r>
              <a:rPr lang="en-US" sz="1200" dirty="0">
                <a:solidFill>
                  <a:srgbClr val="33393D"/>
                </a:solidFill>
                <a:latin typeface="Calibri" pitchFamily="34" charset="0"/>
                <a:ea typeface="Calibri" pitchFamily="34" charset="-122"/>
                <a:cs typeface="Calibri" pitchFamily="34" charset="-120"/>
              </a:rPr>
              <a:t>Cambié --bs-primary y el botón sigue azul.</a:t>
            </a:r>
            <a:endParaRPr lang="en-US" sz="1200" dirty="0"/>
          </a:p>
        </p:txBody>
      </p:sp>
      <p:sp>
        <p:nvSpPr>
          <p:cNvPr id="11" name="Shape 9"/>
          <p:cNvSpPr/>
          <p:nvPr/>
        </p:nvSpPr>
        <p:spPr>
          <a:xfrm>
            <a:off x="6181344" y="2724912"/>
            <a:ext cx="2633472" cy="1892808"/>
          </a:xfrm>
          <a:prstGeom prst="roundRect">
            <a:avLst>
              <a:gd name="adj" fmla="val 4831"/>
            </a:avLst>
          </a:prstGeom>
          <a:solidFill>
            <a:srgbClr val="F3F5F6"/>
          </a:solidFill>
          <a:ln w="12700">
            <a:solidFill>
              <a:srgbClr val="CFD5D9"/>
            </a:solidFill>
            <a:prstDash val="solid"/>
          </a:ln>
        </p:spPr>
      </p:sp>
      <p:sp>
        <p:nvSpPr>
          <p:cNvPr id="12" name="Text 10"/>
          <p:cNvSpPr txBox="1"/>
          <p:nvPr/>
        </p:nvSpPr>
        <p:spPr>
          <a:xfrm>
            <a:off x="6364224" y="2980944"/>
            <a:ext cx="2267712"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¿Cuadros?</a:t>
            </a:r>
            <a:endParaRPr lang="en-US" sz="1600" dirty="0"/>
          </a:p>
        </p:txBody>
      </p:sp>
      <p:sp>
        <p:nvSpPr>
          <p:cNvPr id="13" name="Text 11"/>
          <p:cNvSpPr txBox="1"/>
          <p:nvPr/>
        </p:nvSpPr>
        <p:spPr>
          <a:xfrm>
            <a:off x="6409944" y="3456432"/>
            <a:ext cx="2176272" cy="822960"/>
          </a:xfrm>
          <a:prstGeom prst="rect">
            <a:avLst/>
          </a:prstGeom>
          <a:noFill/>
          <a:ln/>
        </p:spPr>
        <p:txBody>
          <a:bodyPr wrap="square" lIns="0" tIns="0" rIns="0" bIns="0" rtlCol="0" anchor="t"/>
          <a:lstStyle/>
          <a:p>
            <a:pPr algn="ctr" indent="0" marL="0">
              <a:buNone/>
            </a:pPr>
            <a:r>
              <a:rPr lang="en-US" sz="1200" dirty="0">
                <a:solidFill>
                  <a:srgbClr val="33393D"/>
                </a:solidFill>
                <a:latin typeface="Calibri" pitchFamily="34" charset="0"/>
                <a:ea typeface="Calibri" pitchFamily="34" charset="-122"/>
                <a:cs typeface="Calibri" pitchFamily="34" charset="-120"/>
              </a:rPr>
              <a:t>Los iconos se ven como cuadros vacíos.</a:t>
            </a:r>
            <a:endParaRPr lang="en-US" sz="1200" dirty="0"/>
          </a:p>
        </p:txBody>
      </p:sp>
      <p:sp>
        <p:nvSpPr>
          <p:cNvPr id="14" name="Shape 12"/>
          <p:cNvSpPr/>
          <p:nvPr/>
        </p:nvSpPr>
        <p:spPr>
          <a:xfrm>
            <a:off x="8951976" y="2724912"/>
            <a:ext cx="2633472" cy="1892808"/>
          </a:xfrm>
          <a:prstGeom prst="roundRect">
            <a:avLst>
              <a:gd name="adj" fmla="val 4831"/>
            </a:avLst>
          </a:prstGeom>
          <a:solidFill>
            <a:srgbClr val="F3F5F6"/>
          </a:solidFill>
          <a:ln w="12700">
            <a:solidFill>
              <a:srgbClr val="CFD5D9"/>
            </a:solidFill>
            <a:prstDash val="solid"/>
          </a:ln>
        </p:spPr>
      </p:sp>
      <p:sp>
        <p:nvSpPr>
          <p:cNvPr id="15" name="Text 13"/>
          <p:cNvSpPr txBox="1"/>
          <p:nvPr/>
        </p:nvSpPr>
        <p:spPr>
          <a:xfrm>
            <a:off x="9134856" y="2980944"/>
            <a:ext cx="2267712" cy="365760"/>
          </a:xfrm>
          <a:prstGeom prst="rect">
            <a:avLst/>
          </a:prstGeom>
          <a:noFill/>
          <a:ln/>
        </p:spPr>
        <p:txBody>
          <a:bodyPr wrap="square" lIns="0" tIns="0" rIns="0" bIns="0" rtlCol="0" anchor="ctr"/>
          <a:lstStyle/>
          <a:p>
            <a:pPr algn="ctr" indent="0" marL="0">
              <a:buNone/>
            </a:pPr>
            <a:r>
              <a:rPr lang="en-US" sz="1600" b="1" dirty="0">
                <a:solidFill>
                  <a:srgbClr val="177E89"/>
                </a:solidFill>
                <a:latin typeface="Calibri" pitchFamily="34" charset="0"/>
                <a:ea typeface="Calibri" pitchFamily="34" charset="-122"/>
                <a:cs typeface="Calibri" pitchFamily="34" charset="-120"/>
              </a:rPr>
              <a:t>¿Utilidad o CSS?</a:t>
            </a:r>
            <a:endParaRPr lang="en-US" sz="1600" dirty="0"/>
          </a:p>
        </p:txBody>
      </p:sp>
      <p:sp>
        <p:nvSpPr>
          <p:cNvPr id="16" name="Text 14"/>
          <p:cNvSpPr txBox="1"/>
          <p:nvPr/>
        </p:nvSpPr>
        <p:spPr>
          <a:xfrm>
            <a:off x="9180576" y="3456432"/>
            <a:ext cx="2176272" cy="822960"/>
          </a:xfrm>
          <a:prstGeom prst="rect">
            <a:avLst/>
          </a:prstGeom>
          <a:noFill/>
          <a:ln/>
        </p:spPr>
        <p:txBody>
          <a:bodyPr wrap="square" lIns="0" tIns="0" rIns="0" bIns="0" rtlCol="0" anchor="t"/>
          <a:lstStyle/>
          <a:p>
            <a:pPr algn="ctr" indent="0" marL="0">
              <a:buNone/>
            </a:pPr>
            <a:r>
              <a:rPr lang="en-US" sz="1200" dirty="0">
                <a:solidFill>
                  <a:srgbClr val="33393D"/>
                </a:solidFill>
                <a:latin typeface="Calibri" pitchFamily="34" charset="0"/>
                <a:ea typeface="Calibri" pitchFamily="34" charset="-122"/>
                <a:cs typeface="Calibri" pitchFamily="34" charset="-120"/>
              </a:rPr>
              <a:t>¿Cuándo escribo mi propio CSS?</a:t>
            </a:r>
            <a:endParaRPr lang="en-US" sz="1200" dirty="0"/>
          </a:p>
        </p:txBody>
      </p:sp>
      <p:sp>
        <p:nvSpPr>
          <p:cNvPr id="17" name="Shape 15"/>
          <p:cNvSpPr/>
          <p:nvPr/>
        </p:nvSpPr>
        <p:spPr>
          <a:xfrm>
            <a:off x="640080" y="4855464"/>
            <a:ext cx="10927080" cy="1170432"/>
          </a:xfrm>
          <a:prstGeom prst="roundRect">
            <a:avLst>
              <a:gd name="adj" fmla="val 7813"/>
            </a:avLst>
          </a:prstGeom>
          <a:solidFill>
            <a:srgbClr val="FFFFFF"/>
          </a:solidFill>
          <a:ln w="12700">
            <a:solidFill>
              <a:srgbClr val="CFD5D9"/>
            </a:solidFill>
            <a:prstDash val="solid"/>
          </a:ln>
        </p:spPr>
      </p:sp>
      <p:sp>
        <p:nvSpPr>
          <p:cNvPr id="18" name="Text 16"/>
          <p:cNvSpPr txBox="1"/>
          <p:nvPr/>
        </p:nvSpPr>
        <p:spPr>
          <a:xfrm>
            <a:off x="950976" y="5010912"/>
            <a:ext cx="10305288" cy="310896"/>
          </a:xfrm>
          <a:prstGeom prst="rect">
            <a:avLst/>
          </a:prstGeom>
          <a:noFill/>
          <a:ln/>
        </p:spPr>
        <p:txBody>
          <a:bodyPr wrap="square" lIns="0" tIns="0" rIns="0" bIns="0" rtlCol="0" anchor="ctr"/>
          <a:lstStyle/>
          <a:p>
            <a:pPr algn="l" indent="0" marL="0">
              <a:buNone/>
            </a:pPr>
            <a:r>
              <a:rPr lang="en-US" sz="1400" b="1" dirty="0">
                <a:solidFill>
                  <a:srgbClr val="1F2326"/>
                </a:solidFill>
                <a:latin typeface="Calibri" pitchFamily="34" charset="0"/>
                <a:ea typeface="Calibri" pitchFamily="34" charset="-122"/>
                <a:cs typeface="Calibri" pitchFamily="34" charset="-120"/>
              </a:rPr>
              <a:t>Cuando un componente no responde</a:t>
            </a:r>
            <a:endParaRPr lang="en-US" sz="1400" dirty="0"/>
          </a:p>
        </p:txBody>
      </p:sp>
      <p:sp>
        <p:nvSpPr>
          <p:cNvPr id="19" name="Text 17"/>
          <p:cNvSpPr txBox="1"/>
          <p:nvPr/>
        </p:nvSpPr>
        <p:spPr>
          <a:xfrm>
            <a:off x="950976" y="5376672"/>
            <a:ext cx="10305288" cy="557784"/>
          </a:xfrm>
          <a:prstGeom prst="rect">
            <a:avLst/>
          </a:prstGeom>
          <a:noFill/>
          <a:ln/>
        </p:spPr>
        <p:txBody>
          <a:bodyPr wrap="square" lIns="0" tIns="0" rIns="0" bIns="0" rtlCol="0" anchor="t"/>
          <a:lstStyle/>
          <a:p>
            <a:pPr algn="l" indent="0" marL="0">
              <a:buNone/>
            </a:pPr>
            <a:r>
              <a:rPr lang="en-US" sz="1200" dirty="0">
                <a:solidFill>
                  <a:srgbClr val="33393D"/>
                </a:solidFill>
                <a:latin typeface="Calibri" pitchFamily="34" charset="0"/>
                <a:ea typeface="Calibri" pitchFamily="34" charset="-122"/>
                <a:cs typeface="Calibri" pitchFamily="34" charset="-120"/>
              </a:rPr>
              <a:t>Revisa en este orden: que el JavaScript de Bootstrap esté al final del body, que </a:t>
            </a:r>
            <a:pPr algn="l" indent="0" marL="0">
              <a:buNone/>
            </a:pPr>
            <a:r>
              <a:rPr lang="en-US" sz="1200" dirty="0">
                <a:solidFill>
                  <a:srgbClr val="1F2326"/>
                </a:solidFill>
                <a:latin typeface="Consolas" pitchFamily="34" charset="0"/>
                <a:ea typeface="Consolas" pitchFamily="34" charset="-122"/>
                <a:cs typeface="Consolas" pitchFamily="34" charset="-120"/>
              </a:rPr>
              <a:t>data-bs-target</a:t>
            </a:r>
            <a:pPr algn="l" indent="0" marL="0">
              <a:buNone/>
            </a:pPr>
            <a:r>
              <a:rPr lang="en-US" sz="1200" dirty="0">
                <a:solidFill>
                  <a:srgbClr val="33393D"/>
                </a:solidFill>
                <a:latin typeface="Calibri" pitchFamily="34" charset="0"/>
                <a:ea typeface="Calibri" pitchFamily="34" charset="-122"/>
                <a:cs typeface="Calibri" pitchFamily="34" charset="-120"/>
              </a:rPr>
              <a:t> lleve </a:t>
            </a:r>
            <a:pPr algn="l" indent="0" marL="0">
              <a:buNone/>
            </a:pPr>
            <a:r>
              <a:rPr lang="en-US" sz="1200" dirty="0">
                <a:solidFill>
                  <a:srgbClr val="1F2326"/>
                </a:solidFill>
                <a:latin typeface="Consolas" pitchFamily="34" charset="0"/>
                <a:ea typeface="Consolas" pitchFamily="34" charset="-122"/>
                <a:cs typeface="Consolas" pitchFamily="34" charset="-120"/>
              </a:rPr>
              <a:t>#</a:t>
            </a:r>
            <a:pPr algn="l" indent="0" marL="0">
              <a:buNone/>
            </a:pPr>
            <a:r>
              <a:rPr lang="en-US" sz="1200" dirty="0">
                <a:solidFill>
                  <a:srgbClr val="33393D"/>
                </a:solidFill>
                <a:latin typeface="Calibri" pitchFamily="34" charset="0"/>
                <a:ea typeface="Calibri" pitchFamily="34" charset="-122"/>
                <a:cs typeface="Calibri" pitchFamily="34" charset="-120"/>
              </a:rPr>
              <a:t> y coincida con el </a:t>
            </a:r>
            <a:pPr algn="l" indent="0" marL="0">
              <a:buNone/>
            </a:pPr>
            <a:r>
              <a:rPr lang="en-US" sz="1200" dirty="0">
                <a:solidFill>
                  <a:srgbClr val="1F2326"/>
                </a:solidFill>
                <a:latin typeface="Consolas" pitchFamily="34" charset="0"/>
                <a:ea typeface="Consolas" pitchFamily="34" charset="-122"/>
                <a:cs typeface="Consolas" pitchFamily="34" charset="-120"/>
              </a:rPr>
              <a:t>id</a:t>
            </a:r>
            <a:pPr algn="l" indent="0" marL="0">
              <a:buNone/>
            </a:pPr>
            <a:r>
              <a:rPr lang="en-US" sz="1200" dirty="0">
                <a:solidFill>
                  <a:srgbClr val="33393D"/>
                </a:solidFill>
                <a:latin typeface="Calibri" pitchFamily="34" charset="0"/>
                <a:ea typeface="Calibri" pitchFamily="34" charset="-122"/>
                <a:cs typeface="Calibri" pitchFamily="34" charset="-120"/>
              </a:rPr>
              <a:t>, que el tema esté después de Bootstrap y que el botón azul tenga su regla </a:t>
            </a:r>
            <a:pPr algn="l" indent="0" marL="0">
              <a:buNone/>
            </a:pPr>
            <a:r>
              <a:rPr lang="en-US" sz="1200" dirty="0">
                <a:solidFill>
                  <a:srgbClr val="1F2326"/>
                </a:solidFill>
                <a:latin typeface="Consolas" pitchFamily="34" charset="0"/>
                <a:ea typeface="Consolas" pitchFamily="34" charset="-122"/>
                <a:cs typeface="Consolas" pitchFamily="34" charset="-120"/>
              </a:rPr>
              <a:t>.btn-primary</a:t>
            </a:r>
            <a:pPr algn="l" indent="0" marL="0">
              <a:buNone/>
            </a:pPr>
            <a:r>
              <a:rPr lang="en-US" sz="1200" dirty="0">
                <a:solidFill>
                  <a:srgbClr val="33393D"/>
                </a:solidFill>
                <a:latin typeface="Calibri" pitchFamily="34" charset="0"/>
                <a:ea typeface="Calibri" pitchFamily="34" charset="-122"/>
                <a:cs typeface="Calibri" pitchFamily="34" charset="-120"/>
              </a:rPr>
              <a:t> en el tema.</a:t>
            </a:r>
            <a:endParaRPr lang="en-US" sz="1200" dirty="0"/>
          </a:p>
        </p:txBody>
      </p:sp>
      <p:sp>
        <p:nvSpPr>
          <p:cNvPr id="20" name="Text 18"/>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42 / 47</a:t>
            </a:r>
            <a:endParaRPr lang="en-US" sz="800" dirty="0"/>
          </a:p>
        </p:txBody>
      </p:sp>
    </p:spTree>
  </p:cSld>
  <p:clrMapOvr>
    <a:masterClrMapping/>
  </p:clrMapOvr>
</p:sld>
</file>

<file path=ppt/slides/slide43.xml><?xml version="1.0" encoding="utf-8"?>
<p:sld xmlns:a="http://schemas.openxmlformats.org/drawingml/2006/main" xmlns:r="http://schemas.openxmlformats.org/officeDocument/2006/relationships" xmlns:p="http://schemas.openxmlformats.org/presentationml/2006/main">
  <p:cSld name="Slide 43">
    <p:spTree>
      <p:nvGrpSpPr>
        <p:cNvPr id="1" name=""/>
        <p:cNvGrpSpPr/>
        <p:nvPr/>
      </p:nvGrpSpPr>
      <p:grpSpPr>
        <a:xfrm>
          <a:off x="0" y="0"/>
          <a:ext cx="0" cy="0"/>
          <a:chOff x="0" y="0"/>
          <a:chExt cx="0" cy="0"/>
        </a:xfrm>
      </p:grpSpPr>
      <p:pic>
        <p:nvPicPr>
          <p:cNvPr id="2" name="Image 0" descr="Funcional: aplicar lo aprendido">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43 / 47</a:t>
            </a:r>
            <a:endParaRPr lang="en-US" sz="800" dirty="0"/>
          </a:p>
        </p:txBody>
      </p:sp>
    </p:spTree>
  </p:cSld>
  <p:clrMapOvr>
    <a:masterClrMapping/>
  </p:clrMapOvr>
</p:sld>
</file>

<file path=ppt/slides/slide44.xml><?xml version="1.0" encoding="utf-8"?>
<p:sld xmlns:a="http://schemas.openxmlformats.org/drawingml/2006/main" xmlns:r="http://schemas.openxmlformats.org/officeDocument/2006/relationships" xmlns:p="http://schemas.openxmlformats.org/presentationml/2006/main">
  <p:cSld name="Slide 44">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ACTIVIDAD</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Tarea de la sesión</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Forma parte del 40 % de participación en clases [P].</a:t>
            </a:r>
            <a:endParaRPr lang="en-US" sz="1250" dirty="0"/>
          </a:p>
        </p:txBody>
      </p:sp>
      <p:sp>
        <p:nvSpPr>
          <p:cNvPr id="5" name="Shape 3"/>
          <p:cNvSpPr/>
          <p:nvPr/>
        </p:nvSpPr>
        <p:spPr>
          <a:xfrm>
            <a:off x="640080" y="2615184"/>
            <a:ext cx="5349240" cy="3410712"/>
          </a:xfrm>
          <a:prstGeom prst="roundRect">
            <a:avLst>
              <a:gd name="adj" fmla="val 2681"/>
            </a:avLst>
          </a:prstGeom>
          <a:solidFill>
            <a:srgbClr val="F3F5F6"/>
          </a:solidFill>
          <a:ln w="12700">
            <a:solidFill>
              <a:srgbClr val="CFD5D9"/>
            </a:solidFill>
            <a:prstDash val="solid"/>
          </a:ln>
        </p:spPr>
      </p:sp>
      <p:sp>
        <p:nvSpPr>
          <p:cNvPr id="6" name="Text 4"/>
          <p:cNvSpPr txBox="1"/>
          <p:nvPr/>
        </p:nvSpPr>
        <p:spPr>
          <a:xfrm>
            <a:off x="950976" y="2816352"/>
            <a:ext cx="4727448" cy="310896"/>
          </a:xfrm>
          <a:prstGeom prst="rect">
            <a:avLst/>
          </a:prstGeom>
          <a:noFill/>
          <a:ln/>
        </p:spPr>
        <p:txBody>
          <a:bodyPr wrap="square" lIns="0" tIns="0" rIns="0" bIns="0" rtlCol="0" anchor="ctr"/>
          <a:lstStyle/>
          <a:p>
            <a:pPr algn="l" indent="0" marL="0">
              <a:buNone/>
            </a:pPr>
            <a:r>
              <a:rPr lang="en-US" sz="1500" b="1" dirty="0">
                <a:solidFill>
                  <a:srgbClr val="1F2326"/>
                </a:solidFill>
                <a:latin typeface="Calibri" pitchFamily="34" charset="0"/>
                <a:ea typeface="Calibri" pitchFamily="34" charset="-122"/>
                <a:cs typeface="Calibri" pitchFamily="34" charset="-120"/>
              </a:rPr>
              <a:t>Consigna</a:t>
            </a:r>
            <a:endParaRPr lang="en-US" sz="1500" dirty="0"/>
          </a:p>
        </p:txBody>
      </p:sp>
      <p:sp>
        <p:nvSpPr>
          <p:cNvPr id="7" name="Text 5"/>
          <p:cNvSpPr txBox="1"/>
          <p:nvPr/>
        </p:nvSpPr>
        <p:spPr>
          <a:xfrm>
            <a:off x="950976" y="3182112"/>
            <a:ext cx="4727448" cy="2724912"/>
          </a:xfrm>
          <a:prstGeom prst="rect">
            <a:avLst/>
          </a:prstGeom>
          <a:noFill/>
          <a:ln/>
        </p:spPr>
        <p:txBody>
          <a:bodyPr wrap="square" lIns="0" tIns="0" rIns="0" bIns="0" rtlCol="0" anchor="t"/>
          <a:lstStyle/>
          <a:p>
            <a:pPr algn="l" marL="177800" indent="-177800">
              <a:spcAft>
                <a:spcPts val="300"/>
              </a:spcAft>
              <a:buSzPct val="100000"/>
              <a:buChar char="•"/>
            </a:pPr>
            <a:r>
              <a:rPr lang="en-US" sz="1150" dirty="0">
                <a:solidFill>
                  <a:srgbClr val="33393D"/>
                </a:solidFill>
                <a:latin typeface="Calibri" pitchFamily="34" charset="0"/>
                <a:ea typeface="Calibri" pitchFamily="34" charset="-122"/>
                <a:cs typeface="Calibri" pitchFamily="34" charset="-120"/>
              </a:rPr>
              <a:t>Crea tema-bootstrap.css y enlázalo justo después de Bootstrap.</a:t>
            </a:r>
            <a:endParaRPr lang="en-US" sz="1150" dirty="0"/>
          </a:p>
          <a:p>
            <a:pPr algn="l" marL="177800" indent="-177800">
              <a:spcAft>
                <a:spcPts val="300"/>
              </a:spcAft>
              <a:buSzPct val="100000"/>
              <a:buChar char="•"/>
            </a:pPr>
            <a:r>
              <a:rPr lang="en-US" sz="1150" dirty="0">
                <a:solidFill>
                  <a:srgbClr val="33393D"/>
                </a:solidFill>
                <a:latin typeface="Calibri" pitchFamily="34" charset="0"/>
                <a:ea typeface="Calibri" pitchFamily="34" charset="-122"/>
                <a:cs typeface="Calibri" pitchFamily="34" charset="-120"/>
              </a:rPr>
              <a:t>Pasa las tarjetas a card y los pasos y el llamado a utilidades.</a:t>
            </a:r>
            <a:endParaRPr lang="en-US" sz="1150" dirty="0"/>
          </a:p>
          <a:p>
            <a:pPr algn="l" marL="177800" indent="-177800">
              <a:spcAft>
                <a:spcPts val="300"/>
              </a:spcAft>
              <a:buSzPct val="100000"/>
              <a:buChar char="•"/>
            </a:pPr>
            <a:r>
              <a:rPr lang="en-US" sz="1150" dirty="0">
                <a:solidFill>
                  <a:srgbClr val="33393D"/>
                </a:solidFill>
                <a:latin typeface="Calibri" pitchFamily="34" charset="0"/>
                <a:ea typeface="Calibri" pitchFamily="34" charset="-122"/>
                <a:cs typeface="Calibri" pitchFamily="34" charset="-120"/>
              </a:rPr>
              <a:t>Agrega el aviso, el acordeón de preguntas y la ventana de inscripción.</a:t>
            </a:r>
            <a:endParaRPr lang="en-US" sz="1150" dirty="0"/>
          </a:p>
          <a:p>
            <a:pPr algn="l" marL="177800" indent="-177800">
              <a:spcAft>
                <a:spcPts val="300"/>
              </a:spcAft>
              <a:buSzPct val="100000"/>
              <a:buChar char="•"/>
            </a:pPr>
            <a:r>
              <a:rPr lang="en-US" sz="1150" dirty="0">
                <a:solidFill>
                  <a:srgbClr val="33393D"/>
                </a:solidFill>
                <a:latin typeface="Calibri" pitchFamily="34" charset="0"/>
                <a:ea typeface="Calibri" pitchFamily="34" charset="-122"/>
                <a:cs typeface="Calibri" pitchFamily="34" charset="-120"/>
              </a:rPr>
              <a:t>En Figma: las variables locales y course-card con dos variantes.</a:t>
            </a:r>
            <a:endParaRPr lang="en-US" sz="1150" dirty="0"/>
          </a:p>
          <a:p>
            <a:pPr algn="l" marL="177800" indent="-177800">
              <a:spcAft>
                <a:spcPts val="300"/>
              </a:spcAft>
              <a:buSzPct val="100000"/>
              <a:buChar char="•"/>
            </a:pPr>
            <a:r>
              <a:rPr lang="en-US" sz="1150" dirty="0">
                <a:solidFill>
                  <a:srgbClr val="33393D"/>
                </a:solidFill>
                <a:latin typeface="Calibri" pitchFamily="34" charset="0"/>
                <a:ea typeface="Calibri" pitchFamily="34" charset="-122"/>
                <a:cs typeface="Calibri" pitchFamily="34" charset="-120"/>
              </a:rPr>
              <a:t>Valida y publica en Netlify; prueba la página solo con el teclado.</a:t>
            </a:r>
            <a:endParaRPr lang="en-US" sz="1150" dirty="0"/>
          </a:p>
        </p:txBody>
      </p:sp>
      <p:sp>
        <p:nvSpPr>
          <p:cNvPr id="8" name="Shape 6"/>
          <p:cNvSpPr/>
          <p:nvPr/>
        </p:nvSpPr>
        <p:spPr>
          <a:xfrm>
            <a:off x="6217920" y="2615184"/>
            <a:ext cx="5349240" cy="3410712"/>
          </a:xfrm>
          <a:prstGeom prst="roundRect">
            <a:avLst>
              <a:gd name="adj" fmla="val 2681"/>
            </a:avLst>
          </a:prstGeom>
          <a:solidFill>
            <a:srgbClr val="FFFFFF"/>
          </a:solidFill>
          <a:ln w="12700">
            <a:solidFill>
              <a:srgbClr val="CFD5D9"/>
            </a:solidFill>
            <a:prstDash val="solid"/>
          </a:ln>
        </p:spPr>
      </p:sp>
      <p:sp>
        <p:nvSpPr>
          <p:cNvPr id="9" name="Text 7"/>
          <p:cNvSpPr txBox="1"/>
          <p:nvPr/>
        </p:nvSpPr>
        <p:spPr>
          <a:xfrm>
            <a:off x="6528816" y="2816352"/>
            <a:ext cx="4754880" cy="310896"/>
          </a:xfrm>
          <a:prstGeom prst="rect">
            <a:avLst/>
          </a:prstGeom>
          <a:noFill/>
          <a:ln/>
        </p:spPr>
        <p:txBody>
          <a:bodyPr wrap="square" lIns="0" tIns="0" rIns="0" bIns="0" rtlCol="0" anchor="ctr"/>
          <a:lstStyle/>
          <a:p>
            <a:pPr algn="l" indent="0" marL="0">
              <a:buNone/>
            </a:pPr>
            <a:r>
              <a:rPr lang="en-US" sz="1500" b="1" dirty="0">
                <a:solidFill>
                  <a:srgbClr val="177E89"/>
                </a:solidFill>
                <a:latin typeface="Calibri" pitchFamily="34" charset="0"/>
                <a:ea typeface="Calibri" pitchFamily="34" charset="-122"/>
                <a:cs typeface="Calibri" pitchFamily="34" charset="-120"/>
              </a:rPr>
              <a:t>Indicaciones de entrega</a:t>
            </a:r>
            <a:endParaRPr lang="en-US" sz="1500" dirty="0"/>
          </a:p>
        </p:txBody>
      </p:sp>
      <p:sp>
        <p:nvSpPr>
          <p:cNvPr id="10" name="Shape 8"/>
          <p:cNvSpPr/>
          <p:nvPr/>
        </p:nvSpPr>
        <p:spPr>
          <a:xfrm>
            <a:off x="6583680" y="3328416"/>
            <a:ext cx="384048" cy="384048"/>
          </a:xfrm>
          <a:prstGeom prst="ellipse">
            <a:avLst/>
          </a:prstGeom>
          <a:solidFill>
            <a:srgbClr val="177E89"/>
          </a:solidFill>
          <a:ln w="12700">
            <a:solidFill>
              <a:srgbClr val="177E89"/>
            </a:solidFill>
            <a:prstDash val="solid"/>
          </a:ln>
        </p:spPr>
      </p:sp>
      <p:sp>
        <p:nvSpPr>
          <p:cNvPr id="11" name="Text 9"/>
          <p:cNvSpPr txBox="1"/>
          <p:nvPr/>
        </p:nvSpPr>
        <p:spPr>
          <a:xfrm>
            <a:off x="6583680" y="332841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1</a:t>
            </a:r>
            <a:endParaRPr lang="en-US" sz="1150" dirty="0"/>
          </a:p>
        </p:txBody>
      </p:sp>
      <p:sp>
        <p:nvSpPr>
          <p:cNvPr id="12" name="Text 10"/>
          <p:cNvSpPr txBox="1"/>
          <p:nvPr/>
        </p:nvSpPr>
        <p:spPr>
          <a:xfrm>
            <a:off x="7132320" y="3328416"/>
            <a:ext cx="4206240" cy="38404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Subir la URL publicada al Aula Virtual.</a:t>
            </a:r>
            <a:endParaRPr lang="en-US" sz="1200" dirty="0"/>
          </a:p>
        </p:txBody>
      </p:sp>
      <p:sp>
        <p:nvSpPr>
          <p:cNvPr id="13" name="Shape 11"/>
          <p:cNvSpPr/>
          <p:nvPr/>
        </p:nvSpPr>
        <p:spPr>
          <a:xfrm>
            <a:off x="6583680" y="3968496"/>
            <a:ext cx="384048" cy="384048"/>
          </a:xfrm>
          <a:prstGeom prst="ellipse">
            <a:avLst/>
          </a:prstGeom>
          <a:solidFill>
            <a:srgbClr val="177E89"/>
          </a:solidFill>
          <a:ln w="12700">
            <a:solidFill>
              <a:srgbClr val="177E89"/>
            </a:solidFill>
            <a:prstDash val="solid"/>
          </a:ln>
        </p:spPr>
      </p:sp>
      <p:sp>
        <p:nvSpPr>
          <p:cNvPr id="14" name="Text 12"/>
          <p:cNvSpPr txBox="1"/>
          <p:nvPr/>
        </p:nvSpPr>
        <p:spPr>
          <a:xfrm>
            <a:off x="6583680" y="396849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2</a:t>
            </a:r>
            <a:endParaRPr lang="en-US" sz="1150" dirty="0"/>
          </a:p>
        </p:txBody>
      </p:sp>
      <p:sp>
        <p:nvSpPr>
          <p:cNvPr id="15" name="Text 13"/>
          <p:cNvSpPr txBox="1"/>
          <p:nvPr/>
        </p:nvSpPr>
        <p:spPr>
          <a:xfrm>
            <a:off x="7132320" y="3968496"/>
            <a:ext cx="4206240" cy="38404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Adjuntar el enlace de Figma con las variables.</a:t>
            </a:r>
            <a:endParaRPr lang="en-US" sz="1200" dirty="0"/>
          </a:p>
        </p:txBody>
      </p:sp>
      <p:sp>
        <p:nvSpPr>
          <p:cNvPr id="16" name="Shape 14"/>
          <p:cNvSpPr/>
          <p:nvPr/>
        </p:nvSpPr>
        <p:spPr>
          <a:xfrm>
            <a:off x="6583680" y="4608576"/>
            <a:ext cx="384048" cy="384048"/>
          </a:xfrm>
          <a:prstGeom prst="ellipse">
            <a:avLst/>
          </a:prstGeom>
          <a:solidFill>
            <a:srgbClr val="177E89"/>
          </a:solidFill>
          <a:ln w="12700">
            <a:solidFill>
              <a:srgbClr val="177E89"/>
            </a:solidFill>
            <a:prstDash val="solid"/>
          </a:ln>
        </p:spPr>
      </p:sp>
      <p:sp>
        <p:nvSpPr>
          <p:cNvPr id="17" name="Text 15"/>
          <p:cNvSpPr txBox="1"/>
          <p:nvPr/>
        </p:nvSpPr>
        <p:spPr>
          <a:xfrm>
            <a:off x="6583680" y="460857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3</a:t>
            </a:r>
            <a:endParaRPr lang="en-US" sz="1150" dirty="0"/>
          </a:p>
        </p:txBody>
      </p:sp>
      <p:sp>
        <p:nvSpPr>
          <p:cNvPr id="18" name="Text 16"/>
          <p:cNvSpPr txBox="1"/>
          <p:nvPr/>
        </p:nvSpPr>
        <p:spPr>
          <a:xfrm>
            <a:off x="7132320" y="4608576"/>
            <a:ext cx="4206240" cy="38404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El envío es obligatorio dentro del plazo establecido.</a:t>
            </a:r>
            <a:endParaRPr lang="en-US" sz="1200" dirty="0"/>
          </a:p>
        </p:txBody>
      </p:sp>
      <p:sp>
        <p:nvSpPr>
          <p:cNvPr id="19" name="Shape 17"/>
          <p:cNvSpPr/>
          <p:nvPr/>
        </p:nvSpPr>
        <p:spPr>
          <a:xfrm>
            <a:off x="6583680" y="5248656"/>
            <a:ext cx="384048" cy="384048"/>
          </a:xfrm>
          <a:prstGeom prst="ellipse">
            <a:avLst/>
          </a:prstGeom>
          <a:solidFill>
            <a:srgbClr val="177E89"/>
          </a:solidFill>
          <a:ln w="12700">
            <a:solidFill>
              <a:srgbClr val="177E89"/>
            </a:solidFill>
            <a:prstDash val="solid"/>
          </a:ln>
        </p:spPr>
      </p:sp>
      <p:sp>
        <p:nvSpPr>
          <p:cNvPr id="20" name="Text 18"/>
          <p:cNvSpPr txBox="1"/>
          <p:nvPr/>
        </p:nvSpPr>
        <p:spPr>
          <a:xfrm>
            <a:off x="6583680" y="5248656"/>
            <a:ext cx="384048" cy="384048"/>
          </a:xfrm>
          <a:prstGeom prst="rect">
            <a:avLst/>
          </a:prstGeom>
          <a:noFill/>
          <a:ln/>
        </p:spPr>
        <p:txBody>
          <a:bodyPr wrap="square" lIns="0" tIns="0" rIns="0" bIns="0" rtlCol="0" anchor="ctr"/>
          <a:lstStyle/>
          <a:p>
            <a:pPr algn="ctr" indent="0" marL="0">
              <a:buNone/>
            </a:pPr>
            <a:r>
              <a:rPr lang="en-US" sz="1150" b="1" dirty="0">
                <a:solidFill>
                  <a:srgbClr val="FFFFFF"/>
                </a:solidFill>
                <a:latin typeface="Calibri" pitchFamily="34" charset="0"/>
                <a:ea typeface="Calibri" pitchFamily="34" charset="-122"/>
                <a:cs typeface="Calibri" pitchFamily="34" charset="-120"/>
              </a:rPr>
              <a:t>4</a:t>
            </a:r>
            <a:endParaRPr lang="en-US" sz="1150" dirty="0"/>
          </a:p>
        </p:txBody>
      </p:sp>
      <p:sp>
        <p:nvSpPr>
          <p:cNvPr id="21" name="Text 19"/>
          <p:cNvSpPr txBox="1"/>
          <p:nvPr/>
        </p:nvSpPr>
        <p:spPr>
          <a:xfrm>
            <a:off x="7132320" y="5248656"/>
            <a:ext cx="4206240" cy="384048"/>
          </a:xfrm>
          <a:prstGeom prst="rect">
            <a:avLst/>
          </a:prstGeom>
          <a:noFill/>
          <a:ln/>
        </p:spPr>
        <p:txBody>
          <a:bodyPr wrap="square" lIns="0" tIns="0" rIns="0" bIns="0" rtlCol="0" anchor="ctr"/>
          <a:lstStyle/>
          <a:p>
            <a:pPr algn="l" indent="0" marL="0">
              <a:buNone/>
            </a:pPr>
            <a:r>
              <a:rPr lang="en-US" sz="1200" dirty="0">
                <a:solidFill>
                  <a:srgbClr val="33393D"/>
                </a:solidFill>
                <a:latin typeface="Calibri" pitchFamily="34" charset="0"/>
                <a:ea typeface="Calibri" pitchFamily="34" charset="-122"/>
                <a:cs typeface="Calibri" pitchFamily="34" charset="-120"/>
              </a:rPr>
              <a:t>Se registra en ClassDojo como participación en clase.</a:t>
            </a:r>
            <a:endParaRPr lang="en-US" sz="1200" dirty="0"/>
          </a:p>
        </p:txBody>
      </p:sp>
      <p:sp>
        <p:nvSpPr>
          <p:cNvPr id="22" name="Text 2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44 / 47</a:t>
            </a:r>
            <a:endParaRPr lang="en-US" sz="800" dirty="0"/>
          </a:p>
        </p:txBody>
      </p:sp>
    </p:spTree>
  </p:cSld>
  <p:clrMapOvr>
    <a:masterClrMapping/>
  </p:clrMapOvr>
</p:sld>
</file>

<file path=ppt/slides/slide45.xml><?xml version="1.0" encoding="utf-8"?>
<p:sld xmlns:a="http://schemas.openxmlformats.org/drawingml/2006/main" xmlns:r="http://schemas.openxmlformats.org/officeDocument/2006/relationships" xmlns:p="http://schemas.openxmlformats.org/presentationml/2006/main">
  <p:cSld name="Slide 45">
    <p:spTree>
      <p:nvGrpSpPr>
        <p:cNvPr id="1" name=""/>
        <p:cNvGrpSpPr/>
        <p:nvPr/>
      </p:nvGrpSpPr>
      <p:grpSpPr>
        <a:xfrm>
          <a:off x="0" y="0"/>
          <a:ext cx="0" cy="0"/>
          <a:chOff x="0" y="0"/>
          <a:chExt cx="0" cy="0"/>
        </a:xfrm>
      </p:grpSpPr>
      <p:pic>
        <p:nvPicPr>
          <p:cNvPr id="2" name="Image 0" descr="Orientador: conclusión del tema">    </p:cNvPr>
          <p:cNvPicPr>
            <a:picLocks noChangeAspect="1"/>
          </p:cNvPicPr>
          <p:nvPr/>
        </p:nvPicPr>
        <p:blipFill>
          <a:blip r:embed="rId1"/>
          <a:stretch>
            <a:fillRect/>
          </a:stretch>
        </p:blipFill>
        <p:spPr>
          <a:xfrm>
            <a:off x="0" y="0"/>
            <a:ext cx="12191695" cy="6858000"/>
          </a:xfrm>
          <a:prstGeom prst="rect">
            <a:avLst/>
          </a:prstGeom>
        </p:spPr>
      </p:pic>
      <p:sp>
        <p:nvSpPr>
          <p:cNvPr id="3" name="Text 0"/>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45 / 47</a:t>
            </a:r>
            <a:endParaRPr lang="en-US" sz="800" dirty="0"/>
          </a:p>
        </p:txBody>
      </p:sp>
    </p:spTree>
  </p:cSld>
  <p:clrMapOvr>
    <a:masterClrMapping/>
  </p:clrMapOvr>
</p:sld>
</file>

<file path=ppt/slides/slide46.xml><?xml version="1.0" encoding="utf-8"?>
<p:sld xmlns:a="http://schemas.openxmlformats.org/drawingml/2006/main" xmlns:r="http://schemas.openxmlformats.org/officeDocument/2006/relationships" xmlns:p="http://schemas.openxmlformats.org/presentationml/2006/main">
  <p:cSld name="Slide 46">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RESUMEN</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Puntos clave de la sesión</a:t>
            </a:r>
            <a:endParaRPr lang="en-US" sz="2800" dirty="0"/>
          </a:p>
        </p:txBody>
      </p:sp>
      <p:sp>
        <p:nvSpPr>
          <p:cNvPr id="4" name="Shape 2"/>
          <p:cNvSpPr/>
          <p:nvPr/>
        </p:nvSpPr>
        <p:spPr>
          <a:xfrm>
            <a:off x="795528" y="2697480"/>
            <a:ext cx="329184" cy="329184"/>
          </a:xfrm>
          <a:prstGeom prst="ellipse">
            <a:avLst/>
          </a:prstGeom>
          <a:solidFill>
            <a:srgbClr val="177E89"/>
          </a:solidFill>
          <a:ln w="12700">
            <a:solidFill>
              <a:srgbClr val="177E89"/>
            </a:solidFill>
            <a:prstDash val="solid"/>
          </a:ln>
        </p:spPr>
      </p:sp>
      <p:sp>
        <p:nvSpPr>
          <p:cNvPr id="5" name="Text 3"/>
          <p:cNvSpPr txBox="1"/>
          <p:nvPr/>
        </p:nvSpPr>
        <p:spPr>
          <a:xfrm>
            <a:off x="795528" y="269748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6" name="Text 4"/>
          <p:cNvSpPr txBox="1"/>
          <p:nvPr/>
        </p:nvSpPr>
        <p:spPr>
          <a:xfrm>
            <a:off x="1353312" y="2651760"/>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Una utilidad aplica una sola propiedad: </a:t>
            </a:r>
            <a:pPr algn="l" indent="0" marL="0">
              <a:buNone/>
            </a:pPr>
            <a:r>
              <a:rPr lang="en-US" sz="1250" dirty="0">
                <a:solidFill>
                  <a:srgbClr val="1F2326"/>
                </a:solidFill>
                <a:latin typeface="Consolas" pitchFamily="34" charset="0"/>
                <a:ea typeface="Consolas" pitchFamily="34" charset="-122"/>
                <a:cs typeface="Consolas" pitchFamily="34" charset="-120"/>
              </a:rPr>
              <a:t>mb-3</a:t>
            </a:r>
            <a:pPr algn="l" indent="0" marL="0">
              <a:buNone/>
            </a:pPr>
            <a:r>
              <a:rPr lang="en-US" sz="1250" dirty="0">
                <a:solidFill>
                  <a:srgbClr val="33393D"/>
                </a:solidFill>
                <a:latin typeface="Calibri" pitchFamily="34" charset="0"/>
                <a:ea typeface="Calibri" pitchFamily="34" charset="-122"/>
                <a:cs typeface="Calibri" pitchFamily="34" charset="-120"/>
              </a:rPr>
              <a:t>, </a:t>
            </a:r>
            <a:pPr algn="l" indent="0" marL="0">
              <a:buNone/>
            </a:pPr>
            <a:r>
              <a:rPr lang="en-US" sz="1250" dirty="0">
                <a:solidFill>
                  <a:srgbClr val="1F2326"/>
                </a:solidFill>
                <a:latin typeface="Consolas" pitchFamily="34" charset="0"/>
                <a:ea typeface="Consolas" pitchFamily="34" charset="-122"/>
                <a:cs typeface="Consolas" pitchFamily="34" charset="-120"/>
              </a:rPr>
              <a:t>d-flex</a:t>
            </a:r>
            <a:pPr algn="l" indent="0" marL="0">
              <a:buNone/>
            </a:pPr>
            <a:r>
              <a:rPr lang="en-US" sz="1250" dirty="0">
                <a:solidFill>
                  <a:srgbClr val="33393D"/>
                </a:solidFill>
                <a:latin typeface="Calibri" pitchFamily="34" charset="0"/>
                <a:ea typeface="Calibri" pitchFamily="34" charset="-122"/>
                <a:cs typeface="Calibri" pitchFamily="34" charset="-120"/>
              </a:rPr>
              <a:t>, </a:t>
            </a:r>
            <a:pPr algn="l" indent="0" marL="0">
              <a:buNone/>
            </a:pPr>
            <a:r>
              <a:rPr lang="en-US" sz="1250" dirty="0">
                <a:solidFill>
                  <a:srgbClr val="1F2326"/>
                </a:solidFill>
                <a:latin typeface="Consolas" pitchFamily="34" charset="0"/>
                <a:ea typeface="Consolas" pitchFamily="34" charset="-122"/>
                <a:cs typeface="Consolas" pitchFamily="34" charset="-120"/>
              </a:rPr>
              <a:t>text-center</a:t>
            </a:r>
            <a:pPr algn="l" indent="0" marL="0">
              <a:buNone/>
            </a:pPr>
            <a:r>
              <a:rPr lang="en-US" sz="1250" dirty="0">
                <a:solidFill>
                  <a:srgbClr val="33393D"/>
                </a:solidFill>
                <a:latin typeface="Calibri" pitchFamily="34" charset="0"/>
                <a:ea typeface="Calibri" pitchFamily="34" charset="-122"/>
                <a:cs typeface="Calibri" pitchFamily="34" charset="-120"/>
              </a:rPr>
              <a:t>.</a:t>
            </a:r>
            <a:endParaRPr lang="en-US" sz="1250" dirty="0"/>
          </a:p>
        </p:txBody>
      </p:sp>
      <p:sp>
        <p:nvSpPr>
          <p:cNvPr id="7" name="Shape 5"/>
          <p:cNvSpPr/>
          <p:nvPr/>
        </p:nvSpPr>
        <p:spPr>
          <a:xfrm>
            <a:off x="795528" y="3136392"/>
            <a:ext cx="329184" cy="329184"/>
          </a:xfrm>
          <a:prstGeom prst="ellipse">
            <a:avLst/>
          </a:prstGeom>
          <a:solidFill>
            <a:srgbClr val="177E89"/>
          </a:solidFill>
          <a:ln w="12700">
            <a:solidFill>
              <a:srgbClr val="177E89"/>
            </a:solidFill>
            <a:prstDash val="solid"/>
          </a:ln>
        </p:spPr>
      </p:sp>
      <p:sp>
        <p:nvSpPr>
          <p:cNvPr id="8" name="Text 6"/>
          <p:cNvSpPr txBox="1"/>
          <p:nvPr/>
        </p:nvSpPr>
        <p:spPr>
          <a:xfrm>
            <a:off x="795528" y="313639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9" name="Text 7"/>
          <p:cNvSpPr txBox="1"/>
          <p:nvPr/>
        </p:nvSpPr>
        <p:spPr>
          <a:xfrm>
            <a:off x="1353312" y="3090672"/>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Las utilidades aceptan punto de quiebre (</a:t>
            </a:r>
            <a:pPr algn="l" indent="0" marL="0">
              <a:buNone/>
            </a:pPr>
            <a:r>
              <a:rPr lang="en-US" sz="1250" dirty="0">
                <a:solidFill>
                  <a:srgbClr val="1F2326"/>
                </a:solidFill>
                <a:latin typeface="Consolas" pitchFamily="34" charset="0"/>
                <a:ea typeface="Consolas" pitchFamily="34" charset="-122"/>
                <a:cs typeface="Consolas" pitchFamily="34" charset="-120"/>
              </a:rPr>
              <a:t>p-md-5</a:t>
            </a:r>
            <a:pPr algn="l" indent="0" marL="0">
              <a:buNone/>
            </a:pPr>
            <a:r>
              <a:rPr lang="en-US" sz="1250" dirty="0">
                <a:solidFill>
                  <a:srgbClr val="33393D"/>
                </a:solidFill>
                <a:latin typeface="Calibri" pitchFamily="34" charset="0"/>
                <a:ea typeface="Calibri" pitchFamily="34" charset="-122"/>
                <a:cs typeface="Calibri" pitchFamily="34" charset="-120"/>
              </a:rPr>
              <a:t>) y usan </a:t>
            </a:r>
            <a:pPr algn="l" indent="0" marL="0">
              <a:buNone/>
            </a:pPr>
            <a:r>
              <a:rPr lang="en-US" sz="1250" dirty="0">
                <a:solidFill>
                  <a:srgbClr val="1F2326"/>
                </a:solidFill>
                <a:latin typeface="Consolas" pitchFamily="34" charset="0"/>
                <a:ea typeface="Consolas" pitchFamily="34" charset="-122"/>
                <a:cs typeface="Consolas" pitchFamily="34" charset="-120"/>
              </a:rPr>
              <a:t>!important</a:t>
            </a:r>
            <a:pPr algn="l" indent="0" marL="0">
              <a:buNone/>
            </a:pPr>
            <a:r>
              <a:rPr lang="en-US" sz="1250" dirty="0">
                <a:solidFill>
                  <a:srgbClr val="33393D"/>
                </a:solidFill>
                <a:latin typeface="Calibri" pitchFamily="34" charset="0"/>
                <a:ea typeface="Calibri" pitchFamily="34" charset="-122"/>
                <a:cs typeface="Calibri" pitchFamily="34" charset="-120"/>
              </a:rPr>
              <a:t>.</a:t>
            </a:r>
            <a:endParaRPr lang="en-US" sz="1250" dirty="0"/>
          </a:p>
        </p:txBody>
      </p:sp>
      <p:sp>
        <p:nvSpPr>
          <p:cNvPr id="10" name="Shape 8"/>
          <p:cNvSpPr/>
          <p:nvPr/>
        </p:nvSpPr>
        <p:spPr>
          <a:xfrm>
            <a:off x="795528" y="3575304"/>
            <a:ext cx="329184" cy="329184"/>
          </a:xfrm>
          <a:prstGeom prst="ellipse">
            <a:avLst/>
          </a:prstGeom>
          <a:solidFill>
            <a:srgbClr val="177E89"/>
          </a:solidFill>
          <a:ln w="12700">
            <a:solidFill>
              <a:srgbClr val="177E89"/>
            </a:solidFill>
            <a:prstDash val="solid"/>
          </a:ln>
        </p:spPr>
      </p:sp>
      <p:sp>
        <p:nvSpPr>
          <p:cNvPr id="11" name="Text 9"/>
          <p:cNvSpPr txBox="1"/>
          <p:nvPr/>
        </p:nvSpPr>
        <p:spPr>
          <a:xfrm>
            <a:off x="795528" y="357530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2" name="Text 10"/>
          <p:cNvSpPr txBox="1"/>
          <p:nvPr/>
        </p:nvSpPr>
        <p:spPr>
          <a:xfrm>
            <a:off x="1353312" y="3529584"/>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Un componente es HTML con clases ya diseñadas: card, badge, alert.</a:t>
            </a:r>
            <a:endParaRPr lang="en-US" sz="1250" dirty="0"/>
          </a:p>
        </p:txBody>
      </p:sp>
      <p:sp>
        <p:nvSpPr>
          <p:cNvPr id="13" name="Shape 11"/>
          <p:cNvSpPr/>
          <p:nvPr/>
        </p:nvSpPr>
        <p:spPr>
          <a:xfrm>
            <a:off x="795528" y="4014216"/>
            <a:ext cx="329184" cy="329184"/>
          </a:xfrm>
          <a:prstGeom prst="ellipse">
            <a:avLst/>
          </a:prstGeom>
          <a:solidFill>
            <a:srgbClr val="177E89"/>
          </a:solidFill>
          <a:ln w="12700">
            <a:solidFill>
              <a:srgbClr val="177E89"/>
            </a:solidFill>
            <a:prstDash val="solid"/>
          </a:ln>
        </p:spPr>
      </p:sp>
      <p:sp>
        <p:nvSpPr>
          <p:cNvPr id="14" name="Text 12"/>
          <p:cNvSpPr txBox="1"/>
          <p:nvPr/>
        </p:nvSpPr>
        <p:spPr>
          <a:xfrm>
            <a:off x="795528" y="40142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5" name="Text 13"/>
          <p:cNvSpPr txBox="1"/>
          <p:nvPr/>
        </p:nvSpPr>
        <p:spPr>
          <a:xfrm>
            <a:off x="1353312" y="3968496"/>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El acordeón y la ventana funcionan con el JavaScript de Bootstrap y </a:t>
            </a:r>
            <a:pPr algn="l" indent="0" marL="0">
              <a:buNone/>
            </a:pPr>
            <a:r>
              <a:rPr lang="en-US" sz="1250" dirty="0">
                <a:solidFill>
                  <a:srgbClr val="1F2326"/>
                </a:solidFill>
                <a:latin typeface="Consolas" pitchFamily="34" charset="0"/>
                <a:ea typeface="Consolas" pitchFamily="34" charset="-122"/>
                <a:cs typeface="Consolas" pitchFamily="34" charset="-120"/>
              </a:rPr>
              <a:t>data-bs-*</a:t>
            </a:r>
            <a:pPr algn="l" indent="0" marL="0">
              <a:buNone/>
            </a:pPr>
            <a:r>
              <a:rPr lang="en-US" sz="1250" dirty="0">
                <a:solidFill>
                  <a:srgbClr val="33393D"/>
                </a:solidFill>
                <a:latin typeface="Calibri" pitchFamily="34" charset="0"/>
                <a:ea typeface="Calibri" pitchFamily="34" charset="-122"/>
                <a:cs typeface="Calibri" pitchFamily="34" charset="-120"/>
              </a:rPr>
              <a:t>.</a:t>
            </a:r>
            <a:endParaRPr lang="en-US" sz="1250" dirty="0"/>
          </a:p>
        </p:txBody>
      </p:sp>
      <p:sp>
        <p:nvSpPr>
          <p:cNvPr id="16" name="Shape 14"/>
          <p:cNvSpPr/>
          <p:nvPr/>
        </p:nvSpPr>
        <p:spPr>
          <a:xfrm>
            <a:off x="795528" y="4453128"/>
            <a:ext cx="329184" cy="329184"/>
          </a:xfrm>
          <a:prstGeom prst="ellipse">
            <a:avLst/>
          </a:prstGeom>
          <a:solidFill>
            <a:srgbClr val="177E89"/>
          </a:solidFill>
          <a:ln w="12700">
            <a:solidFill>
              <a:srgbClr val="177E89"/>
            </a:solidFill>
            <a:prstDash val="solid"/>
          </a:ln>
        </p:spPr>
      </p:sp>
      <p:sp>
        <p:nvSpPr>
          <p:cNvPr id="17" name="Text 15"/>
          <p:cNvSpPr txBox="1"/>
          <p:nvPr/>
        </p:nvSpPr>
        <p:spPr>
          <a:xfrm>
            <a:off x="795528" y="4453128"/>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18" name="Text 16"/>
          <p:cNvSpPr txBox="1"/>
          <p:nvPr/>
        </p:nvSpPr>
        <p:spPr>
          <a:xfrm>
            <a:off x="1353312" y="4407408"/>
            <a:ext cx="10012680" cy="420624"/>
          </a:xfrm>
          <a:prstGeom prst="rect">
            <a:avLst/>
          </a:prstGeom>
          <a:noFill/>
          <a:ln/>
        </p:spPr>
        <p:txBody>
          <a:bodyPr wrap="square" lIns="0" tIns="0" rIns="0" bIns="0" rtlCol="0" anchor="ctr"/>
          <a:lstStyle/>
          <a:p>
            <a:pPr algn="l" indent="0" marL="0">
              <a:buNone/>
            </a:pPr>
            <a:r>
              <a:rPr lang="en-US" sz="1250" dirty="0">
                <a:solidFill>
                  <a:srgbClr val="1F2326"/>
                </a:solidFill>
                <a:latin typeface="Consolas" pitchFamily="34" charset="0"/>
                <a:ea typeface="Consolas" pitchFamily="34" charset="-122"/>
                <a:cs typeface="Consolas" pitchFamily="34" charset="-120"/>
              </a:rPr>
              <a:t>data-bs-target</a:t>
            </a:r>
            <a:pPr algn="l" indent="0" marL="0">
              <a:buNone/>
            </a:pPr>
            <a:r>
              <a:rPr lang="en-US" sz="1250" dirty="0">
                <a:solidFill>
                  <a:srgbClr val="33393D"/>
                </a:solidFill>
                <a:latin typeface="Calibri" pitchFamily="34" charset="0"/>
                <a:ea typeface="Calibri" pitchFamily="34" charset="-122"/>
                <a:cs typeface="Calibri" pitchFamily="34" charset="-120"/>
              </a:rPr>
              <a:t> apunta a un </a:t>
            </a:r>
            <a:pPr algn="l" indent="0" marL="0">
              <a:buNone/>
            </a:pPr>
            <a:r>
              <a:rPr lang="en-US" sz="1250" dirty="0">
                <a:solidFill>
                  <a:srgbClr val="1F2326"/>
                </a:solidFill>
                <a:latin typeface="Consolas" pitchFamily="34" charset="0"/>
                <a:ea typeface="Consolas" pitchFamily="34" charset="-122"/>
                <a:cs typeface="Consolas" pitchFamily="34" charset="-120"/>
              </a:rPr>
              <a:t>id</a:t>
            </a:r>
            <a:pPr algn="l" indent="0" marL="0">
              <a:buNone/>
            </a:pPr>
            <a:r>
              <a:rPr lang="en-US" sz="1250" dirty="0">
                <a:solidFill>
                  <a:srgbClr val="33393D"/>
                </a:solidFill>
                <a:latin typeface="Calibri" pitchFamily="34" charset="0"/>
                <a:ea typeface="Calibri" pitchFamily="34" charset="-122"/>
                <a:cs typeface="Calibri" pitchFamily="34" charset="-120"/>
              </a:rPr>
              <a:t> con </a:t>
            </a:r>
            <a:pPr algn="l" indent="0" marL="0">
              <a:buNone/>
            </a:pPr>
            <a:r>
              <a:rPr lang="en-US" sz="1250" dirty="0">
                <a:solidFill>
                  <a:srgbClr val="1F2326"/>
                </a:solidFill>
                <a:latin typeface="Consolas" pitchFamily="34" charset="0"/>
                <a:ea typeface="Consolas" pitchFamily="34" charset="-122"/>
                <a:cs typeface="Consolas" pitchFamily="34" charset="-120"/>
              </a:rPr>
              <a:t>#</a:t>
            </a:r>
            <a:pPr algn="l" indent="0" marL="0">
              <a:buNone/>
            </a:pPr>
            <a:r>
              <a:rPr lang="en-US" sz="1250" dirty="0">
                <a:solidFill>
                  <a:srgbClr val="33393D"/>
                </a:solidFill>
                <a:latin typeface="Calibri" pitchFamily="34" charset="0"/>
                <a:ea typeface="Calibri" pitchFamily="34" charset="-122"/>
                <a:cs typeface="Calibri" pitchFamily="34" charset="-120"/>
              </a:rPr>
              <a:t>; </a:t>
            </a:r>
            <a:pPr algn="l" indent="0" marL="0">
              <a:buNone/>
            </a:pPr>
            <a:r>
              <a:rPr lang="en-US" sz="1250" dirty="0">
                <a:solidFill>
                  <a:srgbClr val="1F2326"/>
                </a:solidFill>
                <a:latin typeface="Consolas" pitchFamily="34" charset="0"/>
                <a:ea typeface="Consolas" pitchFamily="34" charset="-122"/>
                <a:cs typeface="Consolas" pitchFamily="34" charset="-120"/>
              </a:rPr>
              <a:t>data-bs-parent</a:t>
            </a:r>
            <a:pPr algn="l" indent="0" marL="0">
              <a:buNone/>
            </a:pPr>
            <a:r>
              <a:rPr lang="en-US" sz="1250" dirty="0">
                <a:solidFill>
                  <a:srgbClr val="33393D"/>
                </a:solidFill>
                <a:latin typeface="Calibri" pitchFamily="34" charset="0"/>
                <a:ea typeface="Calibri" pitchFamily="34" charset="-122"/>
                <a:cs typeface="Calibri" pitchFamily="34" charset="-120"/>
              </a:rPr>
              <a:t> deja una respuesta abierta.</a:t>
            </a:r>
            <a:endParaRPr lang="en-US" sz="1250" dirty="0"/>
          </a:p>
        </p:txBody>
      </p:sp>
      <p:sp>
        <p:nvSpPr>
          <p:cNvPr id="19" name="Shape 17"/>
          <p:cNvSpPr/>
          <p:nvPr/>
        </p:nvSpPr>
        <p:spPr>
          <a:xfrm>
            <a:off x="795528" y="4892040"/>
            <a:ext cx="329184" cy="329184"/>
          </a:xfrm>
          <a:prstGeom prst="ellipse">
            <a:avLst/>
          </a:prstGeom>
          <a:solidFill>
            <a:srgbClr val="177E89"/>
          </a:solidFill>
          <a:ln w="12700">
            <a:solidFill>
              <a:srgbClr val="177E89"/>
            </a:solidFill>
            <a:prstDash val="solid"/>
          </a:ln>
        </p:spPr>
      </p:sp>
      <p:sp>
        <p:nvSpPr>
          <p:cNvPr id="20" name="Text 18"/>
          <p:cNvSpPr txBox="1"/>
          <p:nvPr/>
        </p:nvSpPr>
        <p:spPr>
          <a:xfrm>
            <a:off x="795528" y="4892040"/>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1" name="Text 19"/>
          <p:cNvSpPr txBox="1"/>
          <p:nvPr/>
        </p:nvSpPr>
        <p:spPr>
          <a:xfrm>
            <a:off x="1353312" y="4846320"/>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El tema cambia las variables </a:t>
            </a:r>
            <a:pPr algn="l" indent="0" marL="0">
              <a:buNone/>
            </a:pPr>
            <a:r>
              <a:rPr lang="en-US" sz="1250" dirty="0">
                <a:solidFill>
                  <a:srgbClr val="1F2326"/>
                </a:solidFill>
                <a:latin typeface="Consolas" pitchFamily="34" charset="0"/>
                <a:ea typeface="Consolas" pitchFamily="34" charset="-122"/>
                <a:cs typeface="Consolas" pitchFamily="34" charset="-120"/>
              </a:rPr>
              <a:t>--bs-*</a:t>
            </a:r>
            <a:pPr algn="l" indent="0" marL="0">
              <a:buNone/>
            </a:pPr>
            <a:r>
              <a:rPr lang="en-US" sz="1250" dirty="0">
                <a:solidFill>
                  <a:srgbClr val="33393D"/>
                </a:solidFill>
                <a:latin typeface="Calibri" pitchFamily="34" charset="0"/>
                <a:ea typeface="Calibri" pitchFamily="34" charset="-122"/>
                <a:cs typeface="Calibri" pitchFamily="34" charset="-120"/>
              </a:rPr>
              <a:t> para que Bootstrap use tu Figma.</a:t>
            </a:r>
            <a:endParaRPr lang="en-US" sz="1250" dirty="0"/>
          </a:p>
        </p:txBody>
      </p:sp>
      <p:sp>
        <p:nvSpPr>
          <p:cNvPr id="22" name="Shape 20"/>
          <p:cNvSpPr/>
          <p:nvPr/>
        </p:nvSpPr>
        <p:spPr>
          <a:xfrm>
            <a:off x="795528" y="5330952"/>
            <a:ext cx="329184" cy="329184"/>
          </a:xfrm>
          <a:prstGeom prst="ellipse">
            <a:avLst/>
          </a:prstGeom>
          <a:solidFill>
            <a:srgbClr val="177E89"/>
          </a:solidFill>
          <a:ln w="12700">
            <a:solidFill>
              <a:srgbClr val="177E89"/>
            </a:solidFill>
            <a:prstDash val="solid"/>
          </a:ln>
        </p:spPr>
      </p:sp>
      <p:sp>
        <p:nvSpPr>
          <p:cNvPr id="23" name="Text 21"/>
          <p:cNvSpPr txBox="1"/>
          <p:nvPr/>
        </p:nvSpPr>
        <p:spPr>
          <a:xfrm>
            <a:off x="795528" y="5330952"/>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4" name="Text 22"/>
          <p:cNvSpPr txBox="1"/>
          <p:nvPr/>
        </p:nvSpPr>
        <p:spPr>
          <a:xfrm>
            <a:off x="1353312" y="5285232"/>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Lo que no tiene variable se reemplaza con una regla en el tema.</a:t>
            </a:r>
            <a:endParaRPr lang="en-US" sz="1250" dirty="0"/>
          </a:p>
        </p:txBody>
      </p:sp>
      <p:sp>
        <p:nvSpPr>
          <p:cNvPr id="25" name="Shape 23"/>
          <p:cNvSpPr/>
          <p:nvPr/>
        </p:nvSpPr>
        <p:spPr>
          <a:xfrm>
            <a:off x="795528" y="5769864"/>
            <a:ext cx="329184" cy="329184"/>
          </a:xfrm>
          <a:prstGeom prst="ellipse">
            <a:avLst/>
          </a:prstGeom>
          <a:solidFill>
            <a:srgbClr val="177E89"/>
          </a:solidFill>
          <a:ln w="12700">
            <a:solidFill>
              <a:srgbClr val="177E89"/>
            </a:solidFill>
            <a:prstDash val="solid"/>
          </a:ln>
        </p:spPr>
      </p:sp>
      <p:sp>
        <p:nvSpPr>
          <p:cNvPr id="26" name="Text 24"/>
          <p:cNvSpPr txBox="1"/>
          <p:nvPr/>
        </p:nvSpPr>
        <p:spPr>
          <a:xfrm>
            <a:off x="795528" y="5769864"/>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ea typeface="Calibri" pitchFamily="34" charset="-122"/>
                <a:cs typeface="Calibri" pitchFamily="34" charset="-120"/>
              </a:rPr>
              <a:t>✓</a:t>
            </a:r>
            <a:endParaRPr lang="en-US" sz="1100" dirty="0"/>
          </a:p>
        </p:txBody>
      </p:sp>
      <p:sp>
        <p:nvSpPr>
          <p:cNvPr id="27" name="Text 25"/>
          <p:cNvSpPr txBox="1"/>
          <p:nvPr/>
        </p:nvSpPr>
        <p:spPr>
          <a:xfrm>
            <a:off x="1353312" y="5724144"/>
            <a:ext cx="10012680" cy="42062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Las variables de Figma, de </a:t>
            </a:r>
            <a:pPr algn="l" indent="0" marL="0">
              <a:buNone/>
            </a:pPr>
            <a:r>
              <a:rPr lang="en-US" sz="1250" dirty="0">
                <a:solidFill>
                  <a:srgbClr val="1F2326"/>
                </a:solidFill>
                <a:latin typeface="Consolas" pitchFamily="34" charset="0"/>
                <a:ea typeface="Consolas" pitchFamily="34" charset="-122"/>
                <a:cs typeface="Consolas" pitchFamily="34" charset="-120"/>
              </a:rPr>
              <a:t>global.css</a:t>
            </a:r>
            <a:pPr algn="l" indent="0" marL="0">
              <a:buNone/>
            </a:pPr>
            <a:r>
              <a:rPr lang="en-US" sz="1250" dirty="0">
                <a:solidFill>
                  <a:srgbClr val="33393D"/>
                </a:solidFill>
                <a:latin typeface="Calibri" pitchFamily="34" charset="0"/>
                <a:ea typeface="Calibri" pitchFamily="34" charset="-122"/>
                <a:cs typeface="Calibri" pitchFamily="34" charset="-120"/>
              </a:rPr>
              <a:t> y del tema llevan los mismos nombres.</a:t>
            </a:r>
            <a:endParaRPr lang="en-US" sz="1250" dirty="0"/>
          </a:p>
        </p:txBody>
      </p:sp>
      <p:sp>
        <p:nvSpPr>
          <p:cNvPr id="28" name="Text 26"/>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46 / 47</a:t>
            </a:r>
            <a:endParaRPr lang="en-US" sz="800" dirty="0"/>
          </a:p>
        </p:txBody>
      </p:sp>
    </p:spTree>
  </p:cSld>
  <p:clrMapOvr>
    <a:masterClrMapping/>
  </p:clrMapOvr>
</p:sld>
</file>

<file path=ppt/slides/slide47.xml><?xml version="1.0" encoding="utf-8"?>
<p:sld xmlns:a="http://schemas.openxmlformats.org/drawingml/2006/main" xmlns:r="http://schemas.openxmlformats.org/officeDocument/2006/relationships" xmlns:p="http://schemas.openxmlformats.org/presentationml/2006/main">
  <p:cSld name="Slide 47">
    <p:spTree>
      <p:nvGrpSpPr>
        <p:cNvPr id="1" name=""/>
        <p:cNvGrpSpPr/>
        <p:nvPr/>
      </p:nvGrpSpPr>
      <p:grpSpPr>
        <a:xfrm>
          <a:off x="0" y="0"/>
          <a:ext cx="0" cy="0"/>
          <a:chOff x="0" y="0"/>
          <a:chExt cx="0" cy="0"/>
        </a:xfrm>
      </p:grpSpPr>
      <p:sp>
        <p:nvSpPr>
          <p:cNvPr id="2" name="Text 0"/>
          <p:cNvSpPr txBox="1"/>
          <p:nvPr/>
        </p:nvSpPr>
        <p:spPr>
          <a:xfrm>
            <a:off x="640080" y="1554480"/>
            <a:ext cx="10927080" cy="237744"/>
          </a:xfrm>
          <a:prstGeom prst="rect">
            <a:avLst/>
          </a:prstGeom>
          <a:noFill/>
          <a:ln/>
        </p:spPr>
        <p:txBody>
          <a:bodyPr wrap="square" lIns="0" tIns="0" rIns="0" bIns="0" rtlCol="0" anchor="ctr"/>
          <a:lstStyle/>
          <a:p>
            <a:pPr algn="l" indent="0" marL="0">
              <a:buNone/>
            </a:pPr>
            <a:r>
              <a:rPr lang="en-US" sz="1050" b="1" spc="300" kern="0" dirty="0">
                <a:solidFill>
                  <a:srgbClr val="177E89"/>
                </a:solidFill>
                <a:latin typeface="Calibri" pitchFamily="34" charset="0"/>
                <a:ea typeface="Calibri" pitchFamily="34" charset="-122"/>
                <a:cs typeface="Calibri" pitchFamily="34" charset="-120"/>
              </a:rPr>
              <a:t>ORIENTADOR</a:t>
            </a:r>
            <a:endParaRPr lang="en-US" sz="1050" dirty="0"/>
          </a:p>
        </p:txBody>
      </p:sp>
      <p:sp>
        <p:nvSpPr>
          <p:cNvPr id="3" name="Text 0"/>
          <p:cNvSpPr/>
          <p:nvPr>
            <p:ph idx="101" type="title" hasCustomPrompt="1"/>
          </p:nvPr>
        </p:nvSpPr>
        <p:spPr>
          <a:xfrm>
            <a:off x="640080" y="1810512"/>
            <a:ext cx="10927080" cy="512064"/>
          </a:xfrm>
          <a:prstGeom prst="rect">
            <a:avLst/>
          </a:prstGeom>
          <a:noFill/>
          <a:ln/>
        </p:spPr>
        <p:txBody>
          <a:bodyPr wrap="square" lIns="0" tIns="0" rIns="0" bIns="0" rtlCol="0" anchor="ctr"/>
          <a:lstStyle/>
          <a:p>
            <a:pPr algn="l" indent="0" marL="0">
              <a:buNone/>
            </a:pPr>
            <a:r>
              <a:rPr lang="en-US" sz="2800" b="1" dirty="0">
                <a:solidFill>
                  <a:srgbClr val="1F2326"/>
                </a:solidFill>
                <a:latin typeface="Calibri" pitchFamily="34" charset="0"/>
                <a:ea typeface="Calibri" pitchFamily="34" charset="-122"/>
                <a:cs typeface="Calibri" pitchFamily="34" charset="-120"/>
              </a:rPr>
              <a:t>Hacia dónde vamos</a:t>
            </a:r>
            <a:endParaRPr lang="en-US" sz="2800" dirty="0"/>
          </a:p>
        </p:txBody>
      </p:sp>
      <p:sp>
        <p:nvSpPr>
          <p:cNvPr id="4" name="Text 2"/>
          <p:cNvSpPr txBox="1"/>
          <p:nvPr/>
        </p:nvSpPr>
        <p:spPr>
          <a:xfrm>
            <a:off x="640080" y="2286000"/>
            <a:ext cx="10927080" cy="274320"/>
          </a:xfrm>
          <a:prstGeom prst="rect">
            <a:avLst/>
          </a:prstGeom>
          <a:noFill/>
          <a:ln/>
        </p:spPr>
        <p:txBody>
          <a:bodyPr wrap="square" lIns="0" tIns="0" rIns="0" bIns="0" rtlCol="0" anchor="ctr"/>
          <a:lstStyle/>
          <a:p>
            <a:pPr algn="l" indent="0" marL="0">
              <a:buNone/>
            </a:pPr>
            <a:r>
              <a:rPr lang="en-US" sz="1250" dirty="0">
                <a:solidFill>
                  <a:srgbClr val="5F676C"/>
                </a:solidFill>
                <a:latin typeface="Calibri" pitchFamily="34" charset="0"/>
                <a:ea typeface="Calibri" pitchFamily="34" charset="-122"/>
                <a:cs typeface="Calibri" pitchFamily="34" charset="-120"/>
              </a:rPr>
              <a:t>Tu portafolio está completo. Lo que viene.</a:t>
            </a:r>
            <a:endParaRPr lang="en-US" sz="1250" dirty="0"/>
          </a:p>
        </p:txBody>
      </p:sp>
      <p:sp>
        <p:nvSpPr>
          <p:cNvPr id="5" name="Shape 3"/>
          <p:cNvSpPr/>
          <p:nvPr/>
        </p:nvSpPr>
        <p:spPr>
          <a:xfrm>
            <a:off x="1051560" y="3895344"/>
            <a:ext cx="10104120" cy="0"/>
          </a:xfrm>
          <a:prstGeom prst="line">
            <a:avLst/>
          </a:prstGeom>
          <a:noFill/>
          <a:ln w="31750">
            <a:solidFill>
              <a:srgbClr val="CFD5D9"/>
            </a:solidFill>
            <a:prstDash val="solid"/>
          </a:ln>
        </p:spPr>
      </p:sp>
      <p:sp>
        <p:nvSpPr>
          <p:cNvPr id="6" name="Shape 4"/>
          <p:cNvSpPr/>
          <p:nvPr/>
        </p:nvSpPr>
        <p:spPr>
          <a:xfrm>
            <a:off x="1984248" y="3817620"/>
            <a:ext cx="155448" cy="155448"/>
          </a:xfrm>
          <a:prstGeom prst="ellipse">
            <a:avLst/>
          </a:prstGeom>
          <a:solidFill>
            <a:srgbClr val="177E89"/>
          </a:solidFill>
          <a:ln w="12700">
            <a:solidFill>
              <a:srgbClr val="177E89"/>
            </a:solidFill>
            <a:prstDash val="solid"/>
          </a:ln>
        </p:spPr>
      </p:sp>
      <p:sp>
        <p:nvSpPr>
          <p:cNvPr id="7" name="Text 5"/>
          <p:cNvSpPr txBox="1"/>
          <p:nvPr/>
        </p:nvSpPr>
        <p:spPr>
          <a:xfrm>
            <a:off x="1051560" y="2962656"/>
            <a:ext cx="2020824" cy="237744"/>
          </a:xfrm>
          <a:prstGeom prst="rect">
            <a:avLst/>
          </a:prstGeom>
          <a:noFill/>
          <a:ln/>
        </p:spPr>
        <p:txBody>
          <a:bodyPr wrap="square" lIns="0" tIns="0" rIns="0" bIns="0" rtlCol="0" anchor="ctr"/>
          <a:lstStyle/>
          <a:p>
            <a:pPr algn="ctr" indent="0" marL="0">
              <a:buNone/>
            </a:pPr>
            <a:r>
              <a:rPr lang="en-US" sz="950" b="1" spc="200" kern="0" dirty="0">
                <a:solidFill>
                  <a:srgbClr val="5F676C"/>
                </a:solidFill>
                <a:latin typeface="Calibri" pitchFamily="34" charset="0"/>
                <a:ea typeface="Calibri" pitchFamily="34" charset="-122"/>
                <a:cs typeface="Calibri" pitchFamily="34" charset="-120"/>
              </a:rPr>
              <a:t>SESIÓN 12</a:t>
            </a:r>
            <a:endParaRPr lang="en-US" sz="950" dirty="0"/>
          </a:p>
        </p:txBody>
      </p:sp>
      <p:sp>
        <p:nvSpPr>
          <p:cNvPr id="8" name="Text 6"/>
          <p:cNvSpPr txBox="1"/>
          <p:nvPr/>
        </p:nvSpPr>
        <p:spPr>
          <a:xfrm>
            <a:off x="1051560"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Responsive</a:t>
            </a:r>
            <a:endParaRPr lang="en-US" sz="1500" dirty="0"/>
          </a:p>
        </p:txBody>
      </p:sp>
      <p:sp>
        <p:nvSpPr>
          <p:cNvPr id="9" name="Text 7"/>
          <p:cNvSpPr txBox="1"/>
          <p:nvPr/>
        </p:nvSpPr>
        <p:spPr>
          <a:xfrm>
            <a:off x="1143000" y="4133088"/>
            <a:ext cx="1837944" cy="566928"/>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Media queries y el Taller TA2.</a:t>
            </a:r>
            <a:endParaRPr lang="en-US" sz="1050" dirty="0"/>
          </a:p>
        </p:txBody>
      </p:sp>
      <p:sp>
        <p:nvSpPr>
          <p:cNvPr id="10" name="Shape 8"/>
          <p:cNvSpPr/>
          <p:nvPr/>
        </p:nvSpPr>
        <p:spPr>
          <a:xfrm>
            <a:off x="4005072" y="3817620"/>
            <a:ext cx="155448" cy="155448"/>
          </a:xfrm>
          <a:prstGeom prst="ellipse">
            <a:avLst/>
          </a:prstGeom>
          <a:solidFill>
            <a:srgbClr val="177E89"/>
          </a:solidFill>
          <a:ln w="12700">
            <a:solidFill>
              <a:srgbClr val="177E89"/>
            </a:solidFill>
            <a:prstDash val="solid"/>
          </a:ln>
        </p:spPr>
      </p:sp>
      <p:sp>
        <p:nvSpPr>
          <p:cNvPr id="11" name="Text 9"/>
          <p:cNvSpPr txBox="1"/>
          <p:nvPr/>
        </p:nvSpPr>
        <p:spPr>
          <a:xfrm>
            <a:off x="3072384" y="2962656"/>
            <a:ext cx="2020824" cy="237744"/>
          </a:xfrm>
          <a:prstGeom prst="rect">
            <a:avLst/>
          </a:prstGeom>
          <a:noFill/>
          <a:ln/>
        </p:spPr>
        <p:txBody>
          <a:bodyPr wrap="square" lIns="0" tIns="0" rIns="0" bIns="0" rtlCol="0" anchor="ctr"/>
          <a:lstStyle/>
          <a:p>
            <a:pPr algn="ctr" indent="0" marL="0">
              <a:buNone/>
            </a:pPr>
            <a:r>
              <a:rPr lang="en-US" sz="950" b="1" spc="200" kern="0" dirty="0">
                <a:solidFill>
                  <a:srgbClr val="5F676C"/>
                </a:solidFill>
                <a:latin typeface="Calibri" pitchFamily="34" charset="0"/>
                <a:ea typeface="Calibri" pitchFamily="34" charset="-122"/>
                <a:cs typeface="Calibri" pitchFamily="34" charset="-120"/>
              </a:rPr>
              <a:t>SESIÓN 13</a:t>
            </a:r>
            <a:endParaRPr lang="en-US" sz="950" dirty="0"/>
          </a:p>
        </p:txBody>
      </p:sp>
      <p:sp>
        <p:nvSpPr>
          <p:cNvPr id="12" name="Text 10"/>
          <p:cNvSpPr txBox="1"/>
          <p:nvPr/>
        </p:nvSpPr>
        <p:spPr>
          <a:xfrm>
            <a:off x="3072384"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Bootstrap</a:t>
            </a:r>
            <a:endParaRPr lang="en-US" sz="1500" dirty="0"/>
          </a:p>
        </p:txBody>
      </p:sp>
      <p:sp>
        <p:nvSpPr>
          <p:cNvPr id="13" name="Text 11"/>
          <p:cNvSpPr txBox="1"/>
          <p:nvPr/>
        </p:nvSpPr>
        <p:spPr>
          <a:xfrm>
            <a:off x="3163824" y="4133088"/>
            <a:ext cx="1837944" cy="566928"/>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Introducción y su sistema de grillas.</a:t>
            </a:r>
            <a:endParaRPr lang="en-US" sz="1050" dirty="0"/>
          </a:p>
        </p:txBody>
      </p:sp>
      <p:sp>
        <p:nvSpPr>
          <p:cNvPr id="14" name="Shape 12"/>
          <p:cNvSpPr/>
          <p:nvPr/>
        </p:nvSpPr>
        <p:spPr>
          <a:xfrm>
            <a:off x="5984748" y="3776472"/>
            <a:ext cx="237744" cy="237744"/>
          </a:xfrm>
          <a:prstGeom prst="ellipse">
            <a:avLst/>
          </a:prstGeom>
          <a:solidFill>
            <a:srgbClr val="177E89"/>
          </a:solidFill>
          <a:ln w="12700">
            <a:solidFill>
              <a:srgbClr val="177E89"/>
            </a:solidFill>
            <a:prstDash val="solid"/>
          </a:ln>
        </p:spPr>
      </p:sp>
      <p:sp>
        <p:nvSpPr>
          <p:cNvPr id="15" name="Text 13"/>
          <p:cNvSpPr txBox="1"/>
          <p:nvPr/>
        </p:nvSpPr>
        <p:spPr>
          <a:xfrm>
            <a:off x="5093208" y="2962656"/>
            <a:ext cx="2020824" cy="237744"/>
          </a:xfrm>
          <a:prstGeom prst="rect">
            <a:avLst/>
          </a:prstGeom>
          <a:noFill/>
          <a:ln/>
        </p:spPr>
        <p:txBody>
          <a:bodyPr wrap="square" lIns="0" tIns="0" rIns="0" bIns="0" rtlCol="0" anchor="ctr"/>
          <a:lstStyle/>
          <a:p>
            <a:pPr algn="ctr" indent="0" marL="0">
              <a:buNone/>
            </a:pPr>
            <a:r>
              <a:rPr lang="en-US" sz="950" b="1" spc="200" kern="0" dirty="0">
                <a:solidFill>
                  <a:srgbClr val="5F676C"/>
                </a:solidFill>
                <a:latin typeface="Calibri" pitchFamily="34" charset="0"/>
                <a:ea typeface="Calibri" pitchFamily="34" charset="-122"/>
                <a:cs typeface="Calibri" pitchFamily="34" charset="-120"/>
              </a:rPr>
              <a:t>SESIÓN 14</a:t>
            </a:r>
            <a:endParaRPr lang="en-US" sz="950" dirty="0"/>
          </a:p>
        </p:txBody>
      </p:sp>
      <p:sp>
        <p:nvSpPr>
          <p:cNvPr id="16" name="Text 14"/>
          <p:cNvSpPr txBox="1"/>
          <p:nvPr/>
        </p:nvSpPr>
        <p:spPr>
          <a:xfrm>
            <a:off x="5093208" y="3218688"/>
            <a:ext cx="2020824" cy="365760"/>
          </a:xfrm>
          <a:prstGeom prst="rect">
            <a:avLst/>
          </a:prstGeom>
          <a:noFill/>
          <a:ln/>
        </p:spPr>
        <p:txBody>
          <a:bodyPr wrap="square" lIns="0" tIns="0" rIns="0" bIns="0" rtlCol="0" anchor="ctr"/>
          <a:lstStyle/>
          <a:p>
            <a:pPr algn="ctr" indent="0" marL="0">
              <a:buNone/>
            </a:pPr>
            <a:r>
              <a:rPr lang="en-US" sz="1500" b="1" dirty="0">
                <a:solidFill>
                  <a:srgbClr val="177E89"/>
                </a:solidFill>
                <a:latin typeface="Calibri" pitchFamily="34" charset="0"/>
                <a:ea typeface="Calibri" pitchFamily="34" charset="-122"/>
                <a:cs typeface="Calibri" pitchFamily="34" charset="-120"/>
              </a:rPr>
              <a:t>Bootstrap</a:t>
            </a:r>
            <a:endParaRPr lang="en-US" sz="1500" dirty="0"/>
          </a:p>
        </p:txBody>
      </p:sp>
      <p:sp>
        <p:nvSpPr>
          <p:cNvPr id="17" name="Text 15"/>
          <p:cNvSpPr txBox="1"/>
          <p:nvPr/>
        </p:nvSpPr>
        <p:spPr>
          <a:xfrm>
            <a:off x="5184648" y="4133088"/>
            <a:ext cx="1837944" cy="566928"/>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Componentes, utilidades y tema.</a:t>
            </a:r>
            <a:endParaRPr lang="en-US" sz="1050" dirty="0"/>
          </a:p>
        </p:txBody>
      </p:sp>
      <p:sp>
        <p:nvSpPr>
          <p:cNvPr id="18" name="Shape 16"/>
          <p:cNvSpPr/>
          <p:nvPr/>
        </p:nvSpPr>
        <p:spPr>
          <a:xfrm>
            <a:off x="8046720" y="3817620"/>
            <a:ext cx="155448" cy="155448"/>
          </a:xfrm>
          <a:prstGeom prst="ellipse">
            <a:avLst/>
          </a:prstGeom>
          <a:solidFill>
            <a:srgbClr val="177E89"/>
          </a:solidFill>
          <a:ln w="12700">
            <a:solidFill>
              <a:srgbClr val="177E89"/>
            </a:solidFill>
            <a:prstDash val="solid"/>
          </a:ln>
        </p:spPr>
      </p:sp>
      <p:sp>
        <p:nvSpPr>
          <p:cNvPr id="19" name="Text 17"/>
          <p:cNvSpPr txBox="1"/>
          <p:nvPr/>
        </p:nvSpPr>
        <p:spPr>
          <a:xfrm>
            <a:off x="7114032" y="2962656"/>
            <a:ext cx="2020824" cy="237744"/>
          </a:xfrm>
          <a:prstGeom prst="rect">
            <a:avLst/>
          </a:prstGeom>
          <a:noFill/>
          <a:ln/>
        </p:spPr>
        <p:txBody>
          <a:bodyPr wrap="square" lIns="0" tIns="0" rIns="0" bIns="0" rtlCol="0" anchor="ctr"/>
          <a:lstStyle/>
          <a:p>
            <a:pPr algn="ctr" indent="0" marL="0">
              <a:buNone/>
            </a:pPr>
            <a:r>
              <a:rPr lang="en-US" sz="950" b="1" spc="200" kern="0" dirty="0">
                <a:solidFill>
                  <a:srgbClr val="5F676C"/>
                </a:solidFill>
                <a:latin typeface="Calibri" pitchFamily="34" charset="0"/>
                <a:ea typeface="Calibri" pitchFamily="34" charset="-122"/>
                <a:cs typeface="Calibri" pitchFamily="34" charset="-120"/>
              </a:rPr>
              <a:t>SESIÓN 15</a:t>
            </a:r>
            <a:endParaRPr lang="en-US" sz="950" dirty="0"/>
          </a:p>
        </p:txBody>
      </p:sp>
      <p:sp>
        <p:nvSpPr>
          <p:cNvPr id="20" name="Text 18"/>
          <p:cNvSpPr txBox="1"/>
          <p:nvPr/>
        </p:nvSpPr>
        <p:spPr>
          <a:xfrm>
            <a:off x="7114032"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Proyecto</a:t>
            </a:r>
            <a:endParaRPr lang="en-US" sz="1500" dirty="0"/>
          </a:p>
        </p:txBody>
      </p:sp>
      <p:sp>
        <p:nvSpPr>
          <p:cNvPr id="21" name="Text 19"/>
          <p:cNvSpPr txBox="1"/>
          <p:nvPr/>
        </p:nvSpPr>
        <p:spPr>
          <a:xfrm>
            <a:off x="7205472" y="4133088"/>
            <a:ext cx="1837944" cy="566928"/>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El proyecto integrador.</a:t>
            </a:r>
            <a:endParaRPr lang="en-US" sz="1050" dirty="0"/>
          </a:p>
        </p:txBody>
      </p:sp>
      <p:sp>
        <p:nvSpPr>
          <p:cNvPr id="22" name="Shape 20"/>
          <p:cNvSpPr/>
          <p:nvPr/>
        </p:nvSpPr>
        <p:spPr>
          <a:xfrm>
            <a:off x="10067544" y="3817620"/>
            <a:ext cx="155448" cy="155448"/>
          </a:xfrm>
          <a:prstGeom prst="ellipse">
            <a:avLst/>
          </a:prstGeom>
          <a:solidFill>
            <a:srgbClr val="177E89"/>
          </a:solidFill>
          <a:ln w="12700">
            <a:solidFill>
              <a:srgbClr val="177E89"/>
            </a:solidFill>
            <a:prstDash val="solid"/>
          </a:ln>
        </p:spPr>
      </p:sp>
      <p:sp>
        <p:nvSpPr>
          <p:cNvPr id="23" name="Text 21"/>
          <p:cNvSpPr txBox="1"/>
          <p:nvPr/>
        </p:nvSpPr>
        <p:spPr>
          <a:xfrm>
            <a:off x="9134856" y="2962656"/>
            <a:ext cx="2020824" cy="237744"/>
          </a:xfrm>
          <a:prstGeom prst="rect">
            <a:avLst/>
          </a:prstGeom>
          <a:noFill/>
          <a:ln/>
        </p:spPr>
        <p:txBody>
          <a:bodyPr wrap="square" lIns="0" tIns="0" rIns="0" bIns="0" rtlCol="0" anchor="ctr"/>
          <a:lstStyle/>
          <a:p>
            <a:pPr algn="ctr" indent="0" marL="0">
              <a:buNone/>
            </a:pPr>
            <a:r>
              <a:rPr lang="en-US" sz="950" b="1" spc="200" kern="0" dirty="0">
                <a:solidFill>
                  <a:srgbClr val="5F676C"/>
                </a:solidFill>
                <a:latin typeface="Calibri" pitchFamily="34" charset="0"/>
                <a:ea typeface="Calibri" pitchFamily="34" charset="-122"/>
                <a:cs typeface="Calibri" pitchFamily="34" charset="-120"/>
              </a:rPr>
              <a:t>SESIÓN 16</a:t>
            </a:r>
            <a:endParaRPr lang="en-US" sz="950" dirty="0"/>
          </a:p>
        </p:txBody>
      </p:sp>
      <p:sp>
        <p:nvSpPr>
          <p:cNvPr id="24" name="Text 22"/>
          <p:cNvSpPr txBox="1"/>
          <p:nvPr/>
        </p:nvSpPr>
        <p:spPr>
          <a:xfrm>
            <a:off x="9134856" y="3218688"/>
            <a:ext cx="2020824" cy="365760"/>
          </a:xfrm>
          <a:prstGeom prst="rect">
            <a:avLst/>
          </a:prstGeom>
          <a:noFill/>
          <a:ln/>
        </p:spPr>
        <p:txBody>
          <a:bodyPr wrap="square" lIns="0" tIns="0" rIns="0" bIns="0" rtlCol="0" anchor="ctr"/>
          <a:lstStyle/>
          <a:p>
            <a:pPr algn="ctr" indent="0" marL="0">
              <a:buNone/>
            </a:pPr>
            <a:r>
              <a:rPr lang="en-US" sz="1500" b="1" dirty="0">
                <a:solidFill>
                  <a:srgbClr val="1F2326"/>
                </a:solidFill>
                <a:latin typeface="Calibri" pitchFamily="34" charset="0"/>
                <a:ea typeface="Calibri" pitchFamily="34" charset="-122"/>
                <a:cs typeface="Calibri" pitchFamily="34" charset="-120"/>
              </a:rPr>
              <a:t>Examen</a:t>
            </a:r>
            <a:endParaRPr lang="en-US" sz="1500" dirty="0"/>
          </a:p>
        </p:txBody>
      </p:sp>
      <p:sp>
        <p:nvSpPr>
          <p:cNvPr id="25" name="Text 23"/>
          <p:cNvSpPr txBox="1"/>
          <p:nvPr/>
        </p:nvSpPr>
        <p:spPr>
          <a:xfrm>
            <a:off x="9226296" y="4133088"/>
            <a:ext cx="1837944" cy="566928"/>
          </a:xfrm>
          <a:prstGeom prst="rect">
            <a:avLst/>
          </a:prstGeom>
          <a:noFill/>
          <a:ln/>
        </p:spPr>
        <p:txBody>
          <a:bodyPr wrap="square" lIns="0" tIns="0" rIns="0" bIns="0" rtlCol="0" anchor="t"/>
          <a:lstStyle/>
          <a:p>
            <a:pPr algn="ctr" indent="0" marL="0">
              <a:buNone/>
            </a:pPr>
            <a:r>
              <a:rPr lang="en-US" sz="1050" dirty="0">
                <a:solidFill>
                  <a:srgbClr val="5F676C"/>
                </a:solidFill>
                <a:latin typeface="Calibri" pitchFamily="34" charset="0"/>
                <a:ea typeface="Calibri" pitchFamily="34" charset="-122"/>
                <a:cs typeface="Calibri" pitchFamily="34" charset="-120"/>
              </a:rPr>
              <a:t>Examen final (30 %).</a:t>
            </a:r>
            <a:endParaRPr lang="en-US" sz="1050" dirty="0"/>
          </a:p>
        </p:txBody>
      </p:sp>
      <p:sp>
        <p:nvSpPr>
          <p:cNvPr id="26" name="Shape 24"/>
          <p:cNvSpPr/>
          <p:nvPr/>
        </p:nvSpPr>
        <p:spPr>
          <a:xfrm>
            <a:off x="640080" y="5340096"/>
            <a:ext cx="10927080" cy="694944"/>
          </a:xfrm>
          <a:prstGeom prst="roundRect">
            <a:avLst>
              <a:gd name="adj" fmla="val 13158"/>
            </a:avLst>
          </a:prstGeom>
          <a:solidFill>
            <a:srgbClr val="F3F5F6"/>
          </a:solidFill>
          <a:ln w="12700">
            <a:solidFill>
              <a:srgbClr val="CFD5D9"/>
            </a:solidFill>
            <a:prstDash val="solid"/>
          </a:ln>
        </p:spPr>
      </p:sp>
      <p:sp>
        <p:nvSpPr>
          <p:cNvPr id="27" name="Text 25"/>
          <p:cNvSpPr txBox="1"/>
          <p:nvPr/>
        </p:nvSpPr>
        <p:spPr>
          <a:xfrm>
            <a:off x="950976" y="5340096"/>
            <a:ext cx="10305288" cy="694944"/>
          </a:xfrm>
          <a:prstGeom prst="rect">
            <a:avLst/>
          </a:prstGeom>
          <a:noFill/>
          <a:ln/>
        </p:spPr>
        <p:txBody>
          <a:bodyPr wrap="square" lIns="0" tIns="0" rIns="0" bIns="0" rtlCol="0" anchor="ctr"/>
          <a:lstStyle/>
          <a:p>
            <a:pPr algn="l" indent="0" marL="0">
              <a:buNone/>
            </a:pPr>
            <a:r>
              <a:rPr lang="en-US" sz="1250" dirty="0">
                <a:solidFill>
                  <a:srgbClr val="33393D"/>
                </a:solidFill>
                <a:latin typeface="Calibri" pitchFamily="34" charset="0"/>
                <a:ea typeface="Calibri" pitchFamily="34" charset="-122"/>
                <a:cs typeface="Calibri" pitchFamily="34" charset="-120"/>
              </a:rPr>
              <a:t>Para la sesión 15: trae tu portafolio publicado y tu Figma completo. Es el proyecto integrador: junta todo lo del curso antes del examen final.</a:t>
            </a:r>
            <a:endParaRPr lang="en-US" sz="1250" dirty="0"/>
          </a:p>
        </p:txBody>
      </p:sp>
      <p:sp>
        <p:nvSpPr>
          <p:cNvPr id="28" name="Text 26"/>
          <p:cNvSpPr txBox="1"/>
          <p:nvPr/>
        </p:nvSpPr>
        <p:spPr>
          <a:xfrm>
            <a:off x="640080" y="6181344"/>
            <a:ext cx="4572000" cy="237744"/>
          </a:xfrm>
          <a:prstGeom prst="rect">
            <a:avLst/>
          </a:prstGeom>
          <a:noFill/>
          <a:ln/>
        </p:spPr>
        <p:txBody>
          <a:bodyPr wrap="square" lIns="0" tIns="0" rIns="0" bIns="0" rtlCol="0" anchor="ctr"/>
          <a:lstStyle/>
          <a:p>
            <a:pPr algn="l" indent="0" marL="0">
              <a:buNone/>
            </a:pPr>
            <a:r>
              <a:rPr lang="en-US" sz="1050" dirty="0">
                <a:solidFill>
                  <a:srgbClr val="5F676C"/>
                </a:solidFill>
                <a:latin typeface="Calibri" pitchFamily="34" charset="0"/>
                <a:ea typeface="Calibri" pitchFamily="34" charset="-122"/>
                <a:cs typeface="Calibri" pitchFamily="34" charset="-120"/>
              </a:rPr>
              <a:t>Ing. Dagner Anibal Chuman Lluen</a:t>
            </a:r>
            <a:endParaRPr lang="en-US" sz="1050" dirty="0"/>
          </a:p>
        </p:txBody>
      </p:sp>
      <p:sp>
        <p:nvSpPr>
          <p:cNvPr id="29" name="Text 27"/>
          <p:cNvSpPr txBox="1"/>
          <p:nvPr/>
        </p:nvSpPr>
        <p:spPr>
          <a:xfrm>
            <a:off x="10607040" y="6455664"/>
            <a:ext cx="1325880" cy="219456"/>
          </a:xfrm>
          <a:prstGeom prst="rect">
            <a:avLst/>
          </a:prstGeom>
          <a:noFill/>
          <a:ln/>
        </p:spPr>
        <p:txBody>
          <a:bodyPr wrap="square" lIns="0" tIns="0" rIns="0" bIns="0" rtlCol="0" anchor="ctr"/>
          <a:lstStyle/>
          <a:p>
            <a:pPr algn="r" indent="0" marL="0">
              <a:buNone/>
            </a:pPr>
            <a:r>
              <a:rPr lang="en-US" sz="800" dirty="0">
                <a:solidFill>
                  <a:srgbClr val="9AA2A7"/>
                </a:solidFill>
                <a:latin typeface="Calibri" pitchFamily="34" charset="0"/>
                <a:ea typeface="Calibri" pitchFamily="34" charset="-122"/>
                <a:cs typeface="Calibri" pitchFamily="34" charset="-120"/>
              </a:rPr>
              <a:t>47 / 47</a:t>
            </a:r>
            <a:endParaRPr lang="en-US" sz="8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47</Slides>
  <Notes>47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47</vt:i4>
      </vt:variant>
    </vt:vector>
  </HeadingPairs>
  <TitlesOfParts>
    <vt:vector size="5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lpstr>Slide 38</vt:lpstr>
      <vt:lpstr>Slide 39</vt:lpstr>
      <vt:lpstr>Slide 40</vt:lpstr>
      <vt:lpstr>Slide 41</vt:lpstr>
      <vt:lpstr>Slide 42</vt:lpstr>
      <vt:lpstr>Slide 43</vt:lpstr>
      <vt:lpstr>Slide 44</vt:lpstr>
      <vt:lpstr>Slide 45</vt:lpstr>
      <vt:lpstr>Slide 46</vt:lpstr>
      <vt:lpstr>Slide 47</vt:lpstr>
    </vt:vector>
  </TitlesOfParts>
  <Company>Centro de Informática USS · Protech XP</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Sesión 14 · Bootstrap: componentes, utilidades y tema</dc:title>
  <dc:subject>Curso de Diseño Web</dc:subject>
  <dc:creator>Ing. Dagner Anibal Chuman Lluen</dc:creator>
  <cp:lastModifiedBy>Ing. Dagner Anibal Chuman Lluen</cp:lastModifiedBy>
  <cp:revision>1</cp:revision>
  <dcterms:created xsi:type="dcterms:W3CDTF">2026-10-09T05:54:11Z</dcterms:created>
  <dcterms:modified xsi:type="dcterms:W3CDTF">2026-10-09T05:54:11Z</dcterms:modified>
</cp:coreProperties>
</file>