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jp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jp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jp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jp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jp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jp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jp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jp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3-1.jp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port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630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EPTU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conceptu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EPTUAL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conceptu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RUMENT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instrument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RUMENTAL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instrument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VELADO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nivel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VELADOR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nivel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CION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funcio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CIONAL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funcio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IENTADO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orient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IENTADOR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orient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dicador de esp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1737360"/>
            <a:ext cx="1737360" cy="1737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127248" y="3639312"/>
            <a:ext cx="5943600" cy="84124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127248" y="3639312"/>
            <a:ext cx="5943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ESPERANDO A LOS COMPAÑEROS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4700016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· comenzamos en unos minutos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5120640"/>
            <a:ext cx="9445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tu portafolio y tu archivo de Figma. Hoy le sumas una página hecha con Bootstrap.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718304" y="5861304"/>
            <a:ext cx="2761488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18304" y="5861304"/>
            <a:ext cx="2761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DISEÑO WEB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44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482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DISEÑO WEB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32304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y su sistema de grillas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356616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3566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26110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· CDN · Reboot · container, row y col · puntos de quiebre · medianiles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8097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0840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Dagner Anibal Chuman Lluen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366760" y="2286000"/>
            <a:ext cx="3291840" cy="1691640"/>
          </a:xfrm>
          <a:prstGeom prst="roundRect">
            <a:avLst>
              <a:gd name="adj" fmla="val 5405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450592"/>
            <a:ext cx="28346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class="row g-4"&gt;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class="col-md-6 col-lg-4"&gt;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…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44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¿Cómo te sientes hoy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44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¿Qué es CINFO? Conceptual, Instrumental, Nivelador, Funcional y Orient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44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nocimientos previos y definiciones cla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44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venimos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portafolio está completo: diseño, estilos, movimiento y versión móvil. Todo escrito a mano.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tienes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82112"/>
            <a:ext cx="4727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páginas con su CSS propio, hecho regla por regla.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y Grid para repartir columnas (sesión 10).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queries,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clamp()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auto-fit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(sesión 12).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sumas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3182112"/>
            <a:ext cx="4727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framework: Bootstrap 5.3, desde un CDN.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grilla de 12 columnas y sus puntos de quiebre.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quinta página, Cursos, hecha con esa grilla.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927080" cy="1298448"/>
          </a:xfrm>
          <a:prstGeom prst="roundRect">
            <a:avLst>
              <a:gd name="adj" fmla="val 7042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" y="4736592"/>
            <a:ext cx="10305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hace distinta a esta sesión 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hoy escribías cada regla. Con Bootstrap, miles de reglas ya están escritas y probadas: tú eliges cuáles usar poniendo clases en el HTML. Tu CSS sigue mandando en lo que lo hace tuyo.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44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DE APRENDIZAJE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vas a lograr hoy?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615184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2670048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670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1518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2615184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framework de CSS y qué trae Bootstrap.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319272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" y="3374136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78408" y="33741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31927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3319272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Enlazar Bootstrap desde un CDN, en el orden correcto.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4078224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4078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0233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Convivir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023360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los choques entre el Reboot de Bootstrap y tu CSS.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727448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782312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782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472744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Maquetar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4727448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Repartir una página en filas y 12 columnas con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col-*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431536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8408" y="5486400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408" y="5486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691640" y="543153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114800" y="5431536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las columnas según el ancho con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col-md-*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col-lg-*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44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reparten las 4 horas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578608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615184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664208" y="25786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framework?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257860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Bootstrap: qué trae, cuándo conviene.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195560" y="25786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049524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086100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0861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664208" y="304952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Bootstrap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304952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CDN, el orden de las hojas y el Reboot.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195560" y="304952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557016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664208" y="35204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grilla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352044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container, row y las 12 columnas.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195560" y="35204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991356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4027932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40279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664208" y="399135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quiebre y medianiles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3991356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col-md, col-lg, g-4, offset y anidar.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195560" y="399135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462272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" y="4498848"/>
            <a:ext cx="347472" cy="347472"/>
          </a:xfrm>
          <a:prstGeom prst="ellipse">
            <a:avLst/>
          </a:prstGeom>
          <a:solidFill>
            <a:srgbClr val="5F676C"/>
          </a:solidFill>
          <a:ln w="12700">
            <a:solidFill>
              <a:srgbClr val="5F676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0120" y="4498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664208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195560" y="446227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933188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120" y="4969764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0120" y="4969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664208" y="493318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Figma: la guía de columnas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349240" y="493318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columnas, Margen 80 y Medianil 24.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195560" y="49331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5404104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0120" y="5440680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60120" y="5440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664208" y="54041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Práctica: la página Cursos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349240" y="540410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cursos.html y cursos.css con la grilla.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0195560" y="540410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min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44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framework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trae Bootstrap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conviene y cuándo no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16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44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FRAMEWORKS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framework?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conjunto de código ya escrito y probado que usas como base para no empezar de cero.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framework (sesiones 09 a 12)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82112"/>
            <a:ext cx="4727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Escribes cada regla: colores, columnas, botones.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 tuyo y sabes por qué está ahí.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 más tiempo y hay que probar cada pantalla.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framework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3182112"/>
            <a:ext cx="4727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Usas clases ya hechas: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col-lg-4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Responsivo y probado en muchos navegadores.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Escribes menos CSS; tu trabajo es combinar y ajustar.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919472"/>
            <a:ext cx="10927080" cy="1024128"/>
          </a:xfrm>
          <a:prstGeom prst="roundRect">
            <a:avLst>
              <a:gd name="adj" fmla="val 8929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" y="4919472"/>
            <a:ext cx="103052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nació en Twitter en 2011 y hoy es el framework de CSS más conocido. Es gratuito y de código abierto. Usamos la versión 5.3, que no necesita jQuery.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FRAMEWORKS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trae Bootstrap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piezas. Hoy usas las dos primeras; la sesión 14, las demás.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Reboot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propio reinicio de estilos: márgenes, letra y listas parecidos en todos los navegadores.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4807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de 12 columnas que cambian según el ancho. </a:t>
            </a:r>
            <a:pPr algn="l" indent="0" marL="0">
              <a:buNone/>
            </a:pPr>
            <a:r>
              <a:rPr lang="en-US" sz="115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de una sola propiedad: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mb-3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text-center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d-flex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44475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Tarjetas, botones, avisos, acordeones, ventanas y menús ya diseñados.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028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4807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funcionar los componentes que se abren y se cierran.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360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360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85139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Icons: una colección aparte, de más de 2000 iconos.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053328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está documentado en getbootstrap.com, con ejemplos que puedes copiar.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FRAMEWORKS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conviene?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framework es una herramienta, no una obligación.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favor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82112"/>
            <a:ext cx="4727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Rapidez: una página responsiva en minutos.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equipo entero escribe con las mismas clases.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ejemplos para casi todo.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8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contra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3182112"/>
            <a:ext cx="4727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sitios con Bootstrap se parecen entre sí.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Pesa: unos 230 KB de CSS (31 KB comprimidos).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su estilo: a veces hay que ganarle a sus reglas.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919472"/>
            <a:ext cx="10927080" cy="1024128"/>
          </a:xfrm>
          <a:prstGeom prst="roundRect">
            <a:avLst>
              <a:gd name="adj" fmla="val 8929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" y="4919472"/>
            <a:ext cx="103052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aprendiste CSS primero: 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entender qué hace cada clase de Bootstrap y poder cambiarla. </a:t>
            </a:r>
            <a:pPr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col-lg-4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Flexbox; </a:t>
            </a:r>
            <a:pPr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g-4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</a:t>
            </a:r>
            <a:pPr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un punto de quiebre es una media query.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Bootstrap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enlace desde el CDN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y crossorigin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de las hojas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303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Reboot y tu cabecera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19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INSTALAR BOOTSTRAP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enlace desde el CDN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CDN entrega archivos públicos muy rápido. No descargas nada: lo enlazas.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1417320"/>
          </a:xfrm>
          <a:prstGeom prst="roundRect">
            <a:avLst>
              <a:gd name="adj" fmla="val 645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104698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rel="stylesheet"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href="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https://cdn.jsdelivr.net/npm/bootstrap@5.3.8/dist/css/bootstrap.min.css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integrity="sha384-sRIl4kxILFvY47J16cr9ZwB07vP4J8+LH7qKQnuqkuIAvNWLzeN8tE5YBujZqJLB"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crossorigin="anonymous" /&gt;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206240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206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4206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5.3.8, la hoja minificada: sin espacios ni comentarios.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2062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42062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Cópialo de getbootstrap.com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782312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782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integrity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478231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huella del archivo. Si alguien lo alterara, el navegador no lo usa.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478231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478231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letra distinta y no carga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358384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535838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crossorigin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468880" y="53583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comprobar la huella de un archivo de otro sitio.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5358384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535838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anonymous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98932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internet en clase: descarga Bootstrap, guarda bootstrap.min.css en assets/css/ y enlázalo con una ruta relativa.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INSTALAR BOOTSTRAP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va primero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misma especificidad gana la regla escrita al final: así tu diseño ajusta a Bootstrap.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60120" y="3200400"/>
            <a:ext cx="0" cy="2194560"/>
          </a:xfrm>
          <a:prstGeom prst="line">
            <a:avLst/>
          </a:prstGeom>
          <a:noFill/>
          <a:ln w="25400">
            <a:solidFill>
              <a:srgbClr val="9AA2A7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31520" y="2761488"/>
            <a:ext cx="457200" cy="457200"/>
          </a:xfrm>
          <a:prstGeom prst="ellipse">
            <a:avLst/>
          </a:prstGeom>
          <a:solidFill>
            <a:srgbClr val="5F676C"/>
          </a:solidFill>
          <a:ln w="12700">
            <a:solidFill>
              <a:srgbClr val="5F676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2651760"/>
            <a:ext cx="5120640" cy="658368"/>
          </a:xfrm>
          <a:prstGeom prst="roundRect">
            <a:avLst>
              <a:gd name="adj" fmla="val 13889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00200" y="26517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bootstrap.min.css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26517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Reboot, grilla, utilidades y componentes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3547872"/>
            <a:ext cx="457200" cy="457200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71600" y="3438144"/>
            <a:ext cx="5120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00200" y="343814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global.css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343814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tokens de Figma, tu reinicio y tu letra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4334256"/>
            <a:ext cx="457200" cy="457200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371600" y="4224528"/>
            <a:ext cx="5120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00200" y="42245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header.css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794760" y="422452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cabecera y tu pie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5120640"/>
            <a:ext cx="457200" cy="457200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371600" y="5010912"/>
            <a:ext cx="5120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600200" y="501091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cursos.css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794760" y="501091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propio de la página Cursos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66560" y="2651760"/>
            <a:ext cx="4800600" cy="3017520"/>
          </a:xfrm>
          <a:prstGeom prst="roundRect">
            <a:avLst>
              <a:gd name="adj" fmla="val 3030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95160" y="276148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páginas, tres combinaciones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995160" y="3154680"/>
            <a:ext cx="43891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index.html: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global, header, index.</a:t>
            </a:r>
            <a:endParaRPr lang="en-US" sz="11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interiores: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global, header, contenido.</a:t>
            </a:r>
            <a:endParaRPr lang="en-US" sz="11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cursos.html: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Bootstrap, global, header, cursos.</a:t>
            </a:r>
            <a:endParaRPr lang="en-US" sz="11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página Cursos no enlaza 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contenido.css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sus reglas para 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chocarían con los componentes de la sesión 14.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INSTALAR BOOTSTRAP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Reboot descuadra tu cabecera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le da margen al h1 y sangría a las listas con selectores de etiqueta (0-0-1).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577840" cy="600779"/>
          </a:xfrm>
          <a:prstGeom prst="roundRect">
            <a:avLst>
              <a:gd name="adj" fmla="val 15220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/tmp/claude-0/-home-user-sesiones-dagner/2613c8c1-437c-54f4-94d9-b62c29473bbd/scratchpad/deck/img/s13-cabecera-rebo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688336"/>
            <a:ext cx="5431536" cy="4544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79476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Reboot: el nombre y el menú suben y el menú se corre.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4160520"/>
            <a:ext cx="5577840" cy="600779"/>
          </a:xfrm>
          <a:prstGeom prst="roundRect">
            <a:avLst>
              <a:gd name="adj" fmla="val 15220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9" name="Image 1" descr="/tmp/claude-0/-home-user-sesiones-dagner/2613c8c1-437c-54f4-94d9-b62c29473bbd/scratchpad/deck/img/s13-cabecera-bi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233672"/>
            <a:ext cx="5431536" cy="45447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534009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bloque 6 de header.css: centrados en la línea, como en Figma.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400800" y="2615184"/>
            <a:ext cx="5166360" cy="1783080"/>
          </a:xfrm>
          <a:prstGeom prst="roundRect">
            <a:avLst>
              <a:gd name="adj" fmla="val 5128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629400" y="2779776"/>
            <a:ext cx="470916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header.css · bloque 6 */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h1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ul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 ul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 p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0;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0;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0" y="4553712"/>
            <a:ext cx="5166360" cy="1051560"/>
          </a:xfrm>
          <a:prstGeom prst="roundRect">
            <a:avLst>
              <a:gd name="adj" fmla="val 8696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711696" y="4553712"/>
            <a:ext cx="4544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basta tu reinicio con *? </a:t>
            </a:r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reinicio de </a:t>
            </a:r>
            <a:pPr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global.css</a:t>
            </a:r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usa </a:t>
            </a:r>
            <a:pPr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(0-0-0) y pierde contra </a:t>
            </a:r>
            <a:pPr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(0-0-1), aunque esté después. </a:t>
            </a:r>
            <a:pPr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h1</a:t>
            </a:r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(0-0-2) sí gana.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44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grilla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Contenedor, fila y columnas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12 columnas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automáticas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303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12: baja de línea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19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44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LA GRILLA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Contenedor, fila y columnas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en este orden. Una fila tiene 12 columnas: el número de la clase dice cuántas ocupa cada hijo.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4206240" cy="2286000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37490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col-8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"&gt;…&lt;/div&gt;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col-4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"&gt;…&lt;/div&gt;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502920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limita el ancho y centra.</a:t>
            </a:r>
            <a:endParaRPr lang="en-US" sz="11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una fila flex de 12 columnas.</a:t>
            </a:r>
            <a:endParaRPr lang="en-US" sz="11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col-*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cuántas columnas ocupa.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34728" y="2615184"/>
            <a:ext cx="5326905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9" name="Image 0" descr="/tmp/claude-0/-home-user-sesiones-dagner/2613c8c1-437c-54f4-94d9-b62c29473bbd/scratchpad/deck/img/bs-gril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7880" y="2688336"/>
            <a:ext cx="5180601" cy="35112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44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LA GRILLA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tipos de contenedor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contenedor es la caja que envuelve a las filas. Sin él, la fila sobresale 12px por cada lado.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346170" y="2615184"/>
            <a:ext cx="75149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/tmp/claude-0/-home-user-sesiones-dagner/2613c8c1-437c-54f4-94d9-b62c29473bbd/scratchpad/deck/img/bs-contai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9322" y="2688336"/>
            <a:ext cx="7368596" cy="16824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572000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4572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45720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ancho máximo para cada punto de quiebre: 540, 720, 960, 1140 y 1320px.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052560" y="4572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418320" y="4572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proyecto nuevo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5093208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50932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.container-fluid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017520" y="509320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todo el ancho de la ventana.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052560" y="50932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418320" y="50932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panel o un mapa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0080" y="5614416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56144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.container-lg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017520" y="561441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ancho hasta 992px; desde ahí, como </a:t>
            </a:r>
            <a:pPr algn="l"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052560" y="561441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418320" y="56144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 de los dos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44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LA GRILLA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portafolio, main es el contenedor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márgenes de Figma son 80. Bootstrap usaría 60 a 1440px. Manda Figma.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577840" cy="2240280"/>
          </a:xfrm>
          <a:prstGeom prst="roundRect">
            <a:avLst>
              <a:gd name="adj" fmla="val 408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12064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cursos.css · bloque 1 */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max-width: 1440px;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0 auto;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6.25rem 5rem;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100 y 80 de Figma */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y adentro, directamente, cada row */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0" y="2615184"/>
            <a:ext cx="5166360" cy="2240280"/>
          </a:xfrm>
          <a:prstGeom prst="roundRect">
            <a:avLst>
              <a:gd name="adj" fmla="val 4082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27249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funciona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3090672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tiene márgenes de −12px a cada lado.</a:t>
            </a:r>
            <a:endParaRPr lang="en-US" sz="11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columnas, 12px de relleno: el texto vuelve a quedar en el borde.</a:t>
            </a:r>
            <a:endParaRPr lang="en-US" sz="11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80 de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absorbe esos 12px: nada sobresale.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5029200"/>
            <a:ext cx="10927080" cy="914400"/>
          </a:xfrm>
          <a:prstGeom prst="roundRect">
            <a:avLst>
              <a:gd name="adj" fmla="val 10000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" y="5029200"/>
            <a:ext cx="10305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proyecto nuevo, usa .container. 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portafolio, </a:t>
            </a:r>
            <a:pPr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 hace ese trabajo desde la sesión 10, con los márgenes de tu diseño.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44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LA GRILLA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fila: 7 + 5 = 12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992px, el texto ocupa 7 columnas y las cifras 5. En pantallas menores, cada una ocupa la fila entera.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577840" cy="2743200"/>
          </a:xfrm>
          <a:prstGeom prst="roundRect">
            <a:avLst>
              <a:gd name="adj" fmla="val 3333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12064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g-4 align-items-center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col-lg-7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&lt;h2&gt;Cursos y talleres&lt;/h2&gt;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&lt;p&gt;Formación práctica…&lt;/p&gt;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col-lg-5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&lt;aside class="cifras"&gt;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class="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row-cols-3 g-3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 … &lt;/div&gt;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&lt;/aside&gt;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0" y="2615184"/>
            <a:ext cx="5166360" cy="789499"/>
          </a:xfrm>
          <a:prstGeom prst="roundRect">
            <a:avLst>
              <a:gd name="adj" fmla="val 11582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8" name="Image 0" descr="/tmp/claude-0/-home-user-sesiones-dagner/2613c8c1-437c-54f4-94d9-b62c29473bbd/scratchpad/deck/img/s13-i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2" y="2688336"/>
            <a:ext cx="5020056" cy="64319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46520" y="42062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align-items-center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 fila es flex; centra en vertical.</a:t>
            </a:r>
            <a:endParaRPr lang="en-US" sz="11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row-cols-3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una fila anidada; cada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mide un tercio.</a:t>
            </a:r>
            <a:endParaRPr lang="en-US" sz="11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g-4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medianil de 24px.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44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quiebre y medianiles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primero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sm, md, lg, xl y xxl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clases en una columna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303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medianiles g-*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85216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" y="58521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58521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offset, row-cols y order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22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44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PUNTOS DE QUIEBRE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tamaños, celular primero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clase sin punto de quiebre vale siempre. Con punto de quiebre, vale desde ese ancho hacia arriba.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6151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(sin nombre)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261518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0px ·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col-12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261518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615184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celular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109270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1546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31546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576px ·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col-sm-6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315468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315468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girado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94176"/>
            <a:ext cx="109270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6941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3694176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768px ·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col-md-6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694176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369417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vertical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233672"/>
            <a:ext cx="10927080" cy="475488"/>
          </a:xfrm>
          <a:prstGeom prst="roundRect">
            <a:avLst>
              <a:gd name="adj" fmla="val 19231"/>
            </a:avLst>
          </a:prstGeom>
          <a:solidFill>
            <a:srgbClr val="E6F8FA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2336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lg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743200" y="423367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992px ·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col-lg-4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4233672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423367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punto de quiebre de tablet (sesión 12)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773168"/>
            <a:ext cx="109270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47731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743200" y="477316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1200px ·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col-xl-3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477316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0" y="477316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5312664"/>
            <a:ext cx="109270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4400" y="53126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xxl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743200" y="531266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1400px ·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col-xxl-2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531266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0" y="5312664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diseño de 1440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594360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media query con min-width (sesión 12): por eso Bootstrap es celular primero.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44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PUNTOS DE QUIEBRE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clases en una columna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leen de izquierda a derecha, del celular al escritorio.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col-12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col-md-6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col-lg-4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 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&lt;!-- 1 por fila · 2 desde 768px · 3 desde 992px --&gt;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030022" y="3310128"/>
            <a:ext cx="4301338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8" name="Image 0" descr="1440 px · 3 por fi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74" y="3383280"/>
            <a:ext cx="4155034" cy="2596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55702" y="6108192"/>
            <a:ext cx="48499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1440 px · 3 por fila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605680" y="3310128"/>
            <a:ext cx="1950927" cy="2743200"/>
          </a:xfrm>
          <a:prstGeom prst="roundRect">
            <a:avLst>
              <a:gd name="adj" fmla="val 4687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11" name="Image 1" descr="820 px · 2 por fi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832" y="3383280"/>
            <a:ext cx="1804623" cy="2596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331360" y="6108192"/>
            <a:ext cx="24995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820 px · 2 por fila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830926" y="3310128"/>
            <a:ext cx="1346291" cy="274320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14" name="Image 2" descr="390 px · 1 por fil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078" y="3383280"/>
            <a:ext cx="1199987" cy="2596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56606" y="6108192"/>
            <a:ext cx="18949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 px · 1 por fila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MEDIANILES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medianiles: g-0 a g-5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separación entre columnas y entre filas. Va en la row, no en las columnas.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4974506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/tmp/claude-0/-home-user-sesiones-dagner/2613c8c1-437c-54f4-94d9-b62c29473bbd/scratchpad/deck/img/bs-gut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688336"/>
            <a:ext cx="4828202" cy="34655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75120" y="2615184"/>
            <a:ext cx="4892040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76288" y="2615184"/>
            <a:ext cx="1554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g-0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2615184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675120" y="3136392"/>
            <a:ext cx="4892040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76288" y="3136392"/>
            <a:ext cx="1554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g-1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58200" y="3136392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4px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675120" y="3657600"/>
            <a:ext cx="4892040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76288" y="3657600"/>
            <a:ext cx="1554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g-2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458200" y="3657600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8px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675120" y="4178808"/>
            <a:ext cx="4892040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76288" y="4178808"/>
            <a:ext cx="1554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g-3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458200" y="4178808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16px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675120" y="4700016"/>
            <a:ext cx="4892040" cy="448056"/>
          </a:xfrm>
          <a:prstGeom prst="roundRect">
            <a:avLst>
              <a:gd name="adj" fmla="val 20408"/>
            </a:avLst>
          </a:prstGeom>
          <a:solidFill>
            <a:srgbClr val="E6F8FA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76288" y="4700016"/>
            <a:ext cx="1554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g-4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458200" y="4700016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24px: tu Medianil de Figma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675120" y="5221224"/>
            <a:ext cx="4892040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76288" y="5221224"/>
            <a:ext cx="1554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g-5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458200" y="5221224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48px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675120" y="5742432"/>
            <a:ext cx="4892040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76288" y="5742432"/>
            <a:ext cx="1554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gx-* · gy-*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458200" y="5742432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horizontal o solo vertical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44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MÁS HERRAMIENTAS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offset, row-cols y order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dejar columnas vacías, repartir sin números y cambiar el orden visual.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549114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/tmp/claude-0/-home-user-sesiones-dagner/2613c8c1-437c-54f4-94d9-b62c29473bbd/scratchpad/deck/img/bs-off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688336"/>
            <a:ext cx="6402810" cy="32369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0" y="2697480"/>
            <a:ext cx="4069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offset-lg-2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deja 2 columnas vacías a la izquierda. El llamado de tu página: 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col-lg-8 offset-lg-2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row-cols-3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cada 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fila mide un tercio. Tus cifras.</a:t>
            </a:r>
            <a:endParaRPr lang="en-US" sz="11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order-lg-1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cambia el orden visual. El teclado y el lector de pantalla siguen el HTML.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44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COMPARACIÓN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CSS Grid o la grilla de Bootstrap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resuelven lo mismo. Cambia dónde se escribe.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724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CSS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3127248"/>
            <a:ext cx="4800600" cy="1188720"/>
          </a:xfrm>
          <a:prstGeom prst="roundRect">
            <a:avLst>
              <a:gd name="adj" fmla="val 769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3291840"/>
            <a:ext cx="4343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.projects-grid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repeat(auto-fit, minmax(min(100%, 360px), 1fr));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43484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columnas se deciden en el CSS, por el ancho mínimo de cada tarjeta.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615184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2724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· Bootstrap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92240" y="3127248"/>
            <a:ext cx="4800600" cy="1188720"/>
          </a:xfrm>
          <a:prstGeom prst="roundRect">
            <a:avLst>
              <a:gd name="adj" fmla="val 769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3291840"/>
            <a:ext cx="4343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g-4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col-12 col-md-6 col-lg-4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…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43484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columnas se deciden en el HTML, por el punto de quiebre de la pantalla.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5532120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0976" y="5532120"/>
            <a:ext cx="10305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dentro, Bootstrap es Flexbox: 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</a:t>
            </a:r>
            <a:pPr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</a:t>
            </a:r>
            <a:pPr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flex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pPr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flex-wrap: wrap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 </a:t>
            </a:r>
            <a:pPr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col-lg-4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 ancho de 33.33 %.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44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27248" y="2651760"/>
            <a:ext cx="5943600" cy="960120"/>
          </a:xfrm>
          <a:prstGeom prst="roundRect">
            <a:avLst>
              <a:gd name="adj" fmla="val 49524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127248" y="265176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 · 15 MINUTOS</a:t>
            </a:r>
            <a:endParaRPr lang="en-US" sz="2000" dirty="0"/>
          </a:p>
        </p:txBody>
      </p:sp>
      <p:pic>
        <p:nvPicPr>
          <p:cNvPr id="4" name="Image 0" descr="Indicador de esp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39776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5321808"/>
            <a:ext cx="9445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volver ponemos la guía de 12 columnas en Figma y construimos la página Cursos.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44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strumental: aplicación del conocimiento con ejercicios y demostracio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44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FIGMA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 hoy: la guía de columnas y la página Cursos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Ampliación del manual. Cada clic está en la Guía de Figma de la sesión.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12 columnas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mi-portafolio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Columnas, Estirar, Margen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Medianil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4807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4 columnas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mi-portafolio-movil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Margen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Medianil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 en el menú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 el texto Proyectos en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nav-links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escribe Cursos.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44475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marco nuevo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 la página, llámala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mi-portafolio-cursos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deja solo cabecera y pie.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028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4807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course-card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 una tarjeta, hazla componente y pega 6 instancias en dos filas.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360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360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85139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tarjeta ocupa 4 columnas; el llamado, 8 centradas.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053328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u ocultar la guía: Ctrl + Shift + 4 (en Mac, Ctrl + G).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44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FIGMA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tarjeta ocupa 4 columnas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guía de Figma sobre tu página publicada: las columnas rojas coinciden con las tarjetas.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76367" y="2615184"/>
            <a:ext cx="8254507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/tmp/claude-0/-home-user-sesiones-dagner/2613c8c1-437c-54f4-94d9-b62c29473bbd/scratchpad/deck/img/s13-column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9519" y="2688336"/>
            <a:ext cx="8108203" cy="32826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612648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columnas + 3 medianiles = 410.67. Es col-lg-4: tres tarjetas por fila.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44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FIGMA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guía de columnas a las clases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columnas en Figma y escribe el número en la clase.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5877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40680" y="25877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Bootstrap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270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28346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12 columnas, Margen 80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83464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283464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como contenedor + una .row por sección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109270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333756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Medianil 24 · Espacio 24 entre tarjetas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333756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333756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.row.g-4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109270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384048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intro-text de 7 columnas · cifras de 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84048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84048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.col-lg-7 · .col-lg-5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109270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6112" y="43434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course-card de 4 columnas, 3 por fila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434340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434340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.col-12.col-md-6.col-lg-4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846320"/>
            <a:ext cx="109270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6112" y="484632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de 3 columnas, 4 por fila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484632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484632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.col-12.col-sm-6.col-lg-3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5349240"/>
            <a:ext cx="109270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96112" y="53492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llamado de 8 columnas, centrado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534924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40680" y="534924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.col-lg-8.offset-lg-2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5852160"/>
            <a:ext cx="109270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96112" y="585216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4 columnas del marco móvil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0" y="585216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40680" y="585216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col-12: todo a lo ancho en el celular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44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PRÁCTICA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juntos: el head y la primera fila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cursos.html. Pasos 0 al 2 de la guía de código.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309360" cy="3529584"/>
          </a:xfrm>
          <a:prstGeom prst="roundRect">
            <a:avLst>
              <a:gd name="adj" fmla="val 259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…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&lt;link rel="stylesheet" href="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https://cdn.jsdelivr.net/…/bootstrap.min.css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integrity="sha384-…" crossorigin="anonymous" /&gt;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&lt;link rel="stylesheet" href="assets/css/global.css" /&gt;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&lt;link rel="stylesheet" href="assets/css/header.css" /&gt;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&lt;link rel="stylesheet" href="assets/css/cursos.css" /&gt;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&lt;section class="cursos-intro"&gt;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g-4 align-items-center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class="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col-lg-7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 … &lt;/div&gt;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class="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col-lg-5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 … &lt;/div&gt;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&lt;/section&gt;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0" y="261518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96912" y="271576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6912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90688" y="261518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705088" y="261518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cabecera y el pie de mis-proyectos.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0" y="3214116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96912" y="331470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96912" y="33147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3214116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Enlaza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705088" y="321411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primero, desde el CDN.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0" y="3813048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96912" y="391363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96912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790688" y="381304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Reboot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705088" y="381304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6 de header.css.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0" y="4411980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6912" y="451256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96912" y="45125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790688" y="441198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705088" y="44119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1 de cursos.css.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32320" y="5010912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96912" y="5111496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96912" y="5111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790688" y="501091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705088" y="501091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col-lg-7 y col-lg-5 con g-4.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32320" y="560984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96912" y="571042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96912" y="57104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790688" y="560984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705088" y="560984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Estrecha la ventana bajo 992px.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44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PRÁCTICA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juntos: el catálogo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tarjetas, tres por fila. Paso 3 de la guía de código.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309360" cy="3529584"/>
          </a:xfrm>
          <a:prstGeom prst="roundRect">
            <a:avLst>
              <a:gd name="adj" fmla="val 259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 aria-labelledby="titulo-catalogo"&gt;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&lt;h2 id="titulo-catalogo"&gt;Catálogo&lt;/h2&gt;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g-4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col-12 col-md-6 col-lg-4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&lt;article class="curso"&gt;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&lt;p class="curso-nivel"&gt;Básico&lt;/p&gt;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&lt;h3&gt;Diseño Web&lt;/h3&gt;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&lt;p&gt;HTML5, CSS3, Flexbox, Grid y Bootstrap…&lt;/p&gt;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&lt;p class="curso-meta"&gt;16 sesiones · 4 h cada una&lt;/p&gt;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&lt;/article&gt;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… cinco tarjetas más … --&gt;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&lt;/section&gt;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0" y="261518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96912" y="271576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6912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90688" y="261518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705088" y="261518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row con g-4.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0" y="3214116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96912" y="331470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96912" y="33147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3214116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705088" y="321411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col-12 col-md-6 col-lg-4.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0" y="3813048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96912" y="391363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96912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790688" y="381304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705088" y="381304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article.curso con su CSS.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0" y="4411980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6912" y="451256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96912" y="45125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790688" y="441198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705088" y="44119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height: 100% iguala la fila.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32320" y="5010912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96912" y="5111496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96912" y="5111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790688" y="501091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705088" y="501091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tarjetas, una por curso.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32320" y="560984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96912" y="571042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96912" y="57104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790688" y="560984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705088" y="560984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1440, 820 y 390 px.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44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PRÁCTICA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tú: pasos, cifras y llamado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25 minutos. Pasos 4 al 6 de la guía de código.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pasos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g-4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cuatro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col-12 col-sm-6 col-lg-3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4807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sangría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5 de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cursos.css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padding-left: 0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.pasos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cifras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anidada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row-cols-3 g-3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tres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44475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llamado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col-lg-8 offset-lg-2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8 columnas centradas.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028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4807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menú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enlace Cursos en las cinco páginas, en la cabecera y en el pie.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360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360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85139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cursos.html y cursos.css en el W3C. Publica en Netlify.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053328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terminas antes: prueba order-lg-2 en una fila y mira qué pasa al estrechar la ventana.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44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PRÁCTICA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Compruébalo con las columnas encima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pasos de 3 columnas y un llamado de 8, con 2 vacías a cada lado.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382187" y="2615184"/>
            <a:ext cx="7442867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/tmp/claude-0/-home-user-sesiones-dagner/2613c8c1-437c-54f4-94d9-b62c29473bbd/scratchpad/deck/img/s13-columnas-pas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5339" y="2688336"/>
            <a:ext cx="7296563" cy="1591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791336" y="4434840"/>
            <a:ext cx="862456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8" name="Image 1" descr="/tmp/claude-0/-home-user-sesiones-dagner/2613c8c1-437c-54f4-94d9-b62c29473bbd/scratchpad/deck/img/s13-columnas-llama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488" y="4507992"/>
            <a:ext cx="8478264" cy="16367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44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ivelador: nivel de comprensión del estudia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44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NIVELADOR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mentalmente cada punto. Si dudas en alguno, pregunta ahora.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883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26151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explicar qué es un framework y qué trae Bootstrap.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0723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1455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30723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Enlazo Bootstrap desde el CDN con integrity y crossorigin.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295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6027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71600" y="35295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por qué Bootstrap va antes que mis hojas de estilo.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867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0599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71600" y="39867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por qué el Reboot descuadró la cabecera y cómo lo resolví.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4439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5171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71600" y="44439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Pongo cada col-* dentro de una row, y la row dentro de un contenedor.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9011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9743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371600" y="49011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leer col-12 col-md-6 col-lg-4 del celular al escritorio.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3583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54315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371600" y="53583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que g-4 mide 24px y va en la row.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8155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58887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371600" y="58155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Puedo centrar un bloque con offset y anidar una fila.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44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NIVELADOR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de consultas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parte quedó menos clara?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724912"/>
            <a:ext cx="2633472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9809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¿No carga?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5643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Enlacé Bootstrap y no cambia nada.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2724912"/>
            <a:ext cx="2633472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93592" y="29809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¿Una debajo?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345643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columnas quedan apiladas en escritorio.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81344" y="2724912"/>
            <a:ext cx="2633472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64224" y="29809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¿Barra lateral?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345643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desplazamiento horizontal.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51976" y="2724912"/>
            <a:ext cx="2633472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34856" y="29809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mi CSS?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80576" y="345643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¿Bootstrap reemplaza todo lo que hice?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55464"/>
            <a:ext cx="1092708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0976" y="5010912"/>
            <a:ext cx="10305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grilla no sale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50976" y="5376672"/>
            <a:ext cx="1030528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en este orden: que Bootstrap cargue (pestaña Network), que cada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col-*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esté dentro de una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que la clase esté bien escrita (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col-lg-4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guiones) y que la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esté dentro de un contenedor con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44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uncional: aplicar lo aprendi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44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de la sesión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parte del 40 % de participación en clases [P].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3410712"/>
          </a:xfrm>
          <a:prstGeom prst="roundRect">
            <a:avLst>
              <a:gd name="adj" fmla="val 268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82112"/>
            <a:ext cx="4727448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cursos.html con Bootstrap desde el CDN y la cabecera de tu portafolio.</a:t>
            </a:r>
            <a:endParaRPr lang="en-US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 la presentación (7 + 5) y el catálogo en 1, 2 y 3 columnas.</a:t>
            </a:r>
            <a:endParaRPr lang="en-US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los pasos, las cifras anidadas y el llamado con offset.</a:t>
            </a:r>
            <a:endParaRPr lang="en-US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el enlace Cursos en las cinco páginas.</a:t>
            </a:r>
            <a:endParaRPr lang="en-US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Figma: la guía de 12 columnas y el marco mi-portafolio-cursos.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3410712"/>
          </a:xfrm>
          <a:prstGeom prst="roundRect">
            <a:avLst>
              <a:gd name="adj" fmla="val 268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8163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Indicaciones de entrega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0" y="3328416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332841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la URL publicada al Aula Virtual.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3968496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396849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Adjuntar captura del validador W3C sin errores.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4608576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4608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46085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envío es obligatorio dentro del plazo establecido.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5248656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524865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en ClassDojo como participación en clase.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44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entador: conclusión del te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44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clave de la sesión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269748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2651760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framework trae código probado: Bootstrap 5.3 da Reboot, grilla, utilidades y componentes.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95528" y="313639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3136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3090672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se enlaza desde un CDN, con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integrity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crossorigin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antes que tus hojas.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" y="357530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3575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529584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Reboot puede ganarle a tu reinicio: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h1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(0-0-2) lo resuelve.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" y="4014216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3968496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grilla: contenedor ›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›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col-*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12 columnas por fila.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" y="445312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407408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primero: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col-12 col-md-6 col-lg-4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lee del celular al escritorio.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5528" y="489204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" y="4892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4846320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medianil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g-4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mide 24px, como el de tu guía de Figma.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5528" y="533095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" y="5330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353312" y="5285232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offset-*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deja columnas vacías;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row-cols-*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reparte sin números.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95528" y="576986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5769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353312" y="5724144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guía de columnas de Figma te dice el número de cada clase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col-*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44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dónde vamos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portafolio ya usa un framework. Lo que viene.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51560" y="3895344"/>
            <a:ext cx="10104120" cy="0"/>
          </a:xfrm>
          <a:prstGeom prst="line">
            <a:avLst/>
          </a:prstGeom>
          <a:noFill/>
          <a:ln w="3175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84248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13308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y el Taller TA2.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63924" y="3776472"/>
            <a:ext cx="237744" cy="23774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72384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072384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163824" y="413308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su sistema de grillas.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25896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93208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093208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184648" y="413308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Componentes, utilidades y tema.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0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14032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15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114032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205472" y="413308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integrador.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067544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34856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134856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226296" y="413308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final (30 %).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5340096"/>
            <a:ext cx="10927080" cy="694944"/>
          </a:xfrm>
          <a:prstGeom prst="roundRect">
            <a:avLst>
              <a:gd name="adj" fmla="val 13158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50976" y="5340096"/>
            <a:ext cx="103052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sesión 14: trae cursos.html funcionando. Le pondremos tarjetas, un acordeón, una ventana de inscripción y los colores de tu Figma.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1813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Dagner Anibal Chuman Lluen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44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Centro de Informática USS · Protech XP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13 · Introducción a Bootstrap y su sistema de grillas</dc:title>
  <dc:subject>Curso de Diseño Web</dc:subject>
  <dc:creator>Ing. Dagner Anibal Chuman Lluen</dc:creator>
  <cp:lastModifiedBy>Ing. Dagner Anibal Chuman Lluen</cp:lastModifiedBy>
  <cp:revision>1</cp:revision>
  <dcterms:created xsi:type="dcterms:W3CDTF">2026-10-09T05:54:11Z</dcterms:created>
  <dcterms:modified xsi:type="dcterms:W3CDTF">2026-10-09T05:54:11Z</dcterms:modified>
</cp:coreProperties>
</file>