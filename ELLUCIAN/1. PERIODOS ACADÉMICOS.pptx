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2.xml" ContentType="application/vnd.openxmlformats-officedocument.theme+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theme/theme3.xml" ContentType="application/vnd.openxmlformats-officedocument.theme+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95" r:id="rId3"/>
    <p:sldMasterId id="2147483735" r:id="rId4"/>
  </p:sldMasterIdLst>
  <p:notesMasterIdLst>
    <p:notesMasterId r:id="rId64"/>
  </p:notesMasterIdLst>
  <p:sldIdLst>
    <p:sldId id="257" r:id="rId5"/>
    <p:sldId id="263" r:id="rId6"/>
    <p:sldId id="259" r:id="rId7"/>
    <p:sldId id="260" r:id="rId8"/>
    <p:sldId id="261" r:id="rId9"/>
    <p:sldId id="264" r:id="rId10"/>
    <p:sldId id="270" r:id="rId11"/>
    <p:sldId id="265" r:id="rId12"/>
    <p:sldId id="266" r:id="rId13"/>
    <p:sldId id="271" r:id="rId14"/>
    <p:sldId id="272" r:id="rId15"/>
    <p:sldId id="273" r:id="rId16"/>
    <p:sldId id="274" r:id="rId17"/>
    <p:sldId id="267" r:id="rId18"/>
    <p:sldId id="268" r:id="rId19"/>
    <p:sldId id="276" r:id="rId20"/>
    <p:sldId id="277" r:id="rId21"/>
    <p:sldId id="278" r:id="rId22"/>
    <p:sldId id="279" r:id="rId23"/>
    <p:sldId id="269" r:id="rId24"/>
    <p:sldId id="282" r:id="rId25"/>
    <p:sldId id="283" r:id="rId26"/>
    <p:sldId id="284" r:id="rId27"/>
    <p:sldId id="285" r:id="rId28"/>
    <p:sldId id="286" r:id="rId29"/>
    <p:sldId id="287" r:id="rId30"/>
    <p:sldId id="288" r:id="rId31"/>
    <p:sldId id="289" r:id="rId32"/>
    <p:sldId id="290" r:id="rId33"/>
    <p:sldId id="291" r:id="rId34"/>
    <p:sldId id="292" r:id="rId35"/>
    <p:sldId id="293" r:id="rId36"/>
    <p:sldId id="294" r:id="rId37"/>
    <p:sldId id="280" r:id="rId38"/>
    <p:sldId id="1902" r:id="rId39"/>
    <p:sldId id="1903" r:id="rId40"/>
    <p:sldId id="1908" r:id="rId41"/>
    <p:sldId id="1909" r:id="rId42"/>
    <p:sldId id="1910" r:id="rId43"/>
    <p:sldId id="1911" r:id="rId44"/>
    <p:sldId id="1912" r:id="rId45"/>
    <p:sldId id="1913" r:id="rId46"/>
    <p:sldId id="1914" r:id="rId47"/>
    <p:sldId id="1915" r:id="rId48"/>
    <p:sldId id="1916" r:id="rId49"/>
    <p:sldId id="1917" r:id="rId50"/>
    <p:sldId id="1919" r:id="rId51"/>
    <p:sldId id="1920" r:id="rId52"/>
    <p:sldId id="1918" r:id="rId53"/>
    <p:sldId id="1921" r:id="rId54"/>
    <p:sldId id="1922" r:id="rId55"/>
    <p:sldId id="1923" r:id="rId56"/>
    <p:sldId id="1924" r:id="rId57"/>
    <p:sldId id="1925" r:id="rId58"/>
    <p:sldId id="1926" r:id="rId59"/>
    <p:sldId id="1927" r:id="rId60"/>
    <p:sldId id="281" r:id="rId61"/>
    <p:sldId id="1901" r:id="rId62"/>
    <p:sldId id="258" r:id="rId63"/>
  </p:sldIdLst>
  <p:sldSz cx="12192000" cy="6858000"/>
  <p:notesSz cx="6858000" cy="9144000"/>
  <p:defaultTex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C2193"/>
    <a:srgbClr val="F7F7F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Estilo medio 2 - Énfasis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Estilo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Estilo medio 2 - Énfasis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4" autoAdjust="0"/>
    <p:restoredTop sz="96247" autoAdjust="0"/>
  </p:normalViewPr>
  <p:slideViewPr>
    <p:cSldViewPr snapToGrid="0">
      <p:cViewPr varScale="1">
        <p:scale>
          <a:sx n="78" d="100"/>
          <a:sy n="78" d="100"/>
        </p:scale>
        <p:origin x="317" y="7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slide" Target="slides/slide59.xml"/><Relationship Id="rId68"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viewProps" Target="viewProps.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PE"/>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A7C4D4F-02F1-4128-82AF-F7679EB9D8E5}" type="datetimeFigureOut">
              <a:rPr lang="es-PE" smtClean="0"/>
              <a:t>22/09/2026</a:t>
            </a:fld>
            <a:endParaRPr lang="es-PE"/>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PE"/>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PE"/>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D498818-1391-4805-9C29-F0662F4A7854}" type="slidenum">
              <a:rPr lang="es-PE" smtClean="0"/>
              <a:t>‹Nº›</a:t>
            </a:fld>
            <a:endParaRPr lang="es-PE"/>
          </a:p>
        </p:txBody>
      </p:sp>
    </p:spTree>
    <p:extLst>
      <p:ext uri="{BB962C8B-B14F-4D97-AF65-F5344CB8AC3E}">
        <p14:creationId xmlns:p14="http://schemas.microsoft.com/office/powerpoint/2010/main" val="17210172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 Id="rId5" Type="http://schemas.openxmlformats.org/officeDocument/2006/relationships/image" Target="../media/image12.svg"/><Relationship Id="rId4" Type="http://schemas.openxmlformats.org/officeDocument/2006/relationships/image" Target="../media/image11.png"/></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 Id="rId5" Type="http://schemas.openxmlformats.org/officeDocument/2006/relationships/image" Target="../media/image14.svg"/><Relationship Id="rId4" Type="http://schemas.openxmlformats.org/officeDocument/2006/relationships/image" Target="../media/image13.png"/></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9.png"/><Relationship Id="rId1" Type="http://schemas.openxmlformats.org/officeDocument/2006/relationships/slideMaster" Target="../slideMasters/slideMaster3.xml"/><Relationship Id="rId5" Type="http://schemas.openxmlformats.org/officeDocument/2006/relationships/image" Target="../media/image5.svg"/><Relationship Id="rId4" Type="http://schemas.openxmlformats.org/officeDocument/2006/relationships/image" Target="../media/image3.png"/></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Master" Target="../slideMasters/slideMaster3.xml"/><Relationship Id="rId5" Type="http://schemas.openxmlformats.org/officeDocument/2006/relationships/image" Target="../media/image17.svg"/><Relationship Id="rId4" Type="http://schemas.openxmlformats.org/officeDocument/2006/relationships/image" Target="../media/image11.png"/></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3.xml"/><Relationship Id="rId5" Type="http://schemas.openxmlformats.org/officeDocument/2006/relationships/image" Target="../media/image18.svg"/><Relationship Id="rId4" Type="http://schemas.openxmlformats.org/officeDocument/2006/relationships/image" Target="../media/image13.png"/></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86.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88.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8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7.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9.png"/><Relationship Id="rId1" Type="http://schemas.openxmlformats.org/officeDocument/2006/relationships/slideMaster" Target="../slideMasters/slideMaster4.xml"/><Relationship Id="rId5" Type="http://schemas.openxmlformats.org/officeDocument/2006/relationships/image" Target="../media/image5.svg"/><Relationship Id="rId4" Type="http://schemas.openxmlformats.org/officeDocument/2006/relationships/image" Target="../media/image3.png"/></Relationships>
</file>

<file path=ppt/slideLayouts/_rels/slideLayout9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9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00.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10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0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103.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10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0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1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Master" Target="../slideMasters/slideMaster4.xml"/><Relationship Id="rId5" Type="http://schemas.openxmlformats.org/officeDocument/2006/relationships/image" Target="../media/image17.svg"/><Relationship Id="rId4" Type="http://schemas.openxmlformats.org/officeDocument/2006/relationships/image" Target="../media/image11.png"/></Relationships>
</file>

<file path=ppt/slideLayouts/_rels/slideLayout112.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4.xml"/><Relationship Id="rId5" Type="http://schemas.openxmlformats.org/officeDocument/2006/relationships/image" Target="../media/image18.svg"/><Relationship Id="rId4" Type="http://schemas.openxmlformats.org/officeDocument/2006/relationships/image" Target="../media/image13.png"/></Relationships>
</file>

<file path=ppt/slideLayouts/_rels/slideLayout11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1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1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16.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0A9044-76B1-D660-8DBF-F2F16B0118C0}"/>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PE"/>
          </a:p>
        </p:txBody>
      </p:sp>
      <p:sp>
        <p:nvSpPr>
          <p:cNvPr id="3" name="Subtítulo 2">
            <a:extLst>
              <a:ext uri="{FF2B5EF4-FFF2-40B4-BE49-F238E27FC236}">
                <a16:creationId xmlns:a16="http://schemas.microsoft.com/office/drawing/2014/main" id="{AD94A282-AB81-AF53-998D-8FAB02409D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PE"/>
          </a:p>
        </p:txBody>
      </p:sp>
      <p:sp>
        <p:nvSpPr>
          <p:cNvPr id="4" name="Marcador de fecha 3">
            <a:extLst>
              <a:ext uri="{FF2B5EF4-FFF2-40B4-BE49-F238E27FC236}">
                <a16:creationId xmlns:a16="http://schemas.microsoft.com/office/drawing/2014/main" id="{5E54205B-C876-F8C4-D883-9E68781ED40D}"/>
              </a:ext>
            </a:extLst>
          </p:cNvPr>
          <p:cNvSpPr>
            <a:spLocks noGrp="1"/>
          </p:cNvSpPr>
          <p:nvPr>
            <p:ph type="dt" sz="half" idx="10"/>
          </p:nvPr>
        </p:nvSpPr>
        <p:spPr/>
        <p:txBody>
          <a:bodyPr/>
          <a:lstStyle/>
          <a:p>
            <a:fld id="{4728B04F-4F73-48C2-9E46-704F64527F32}" type="datetimeFigureOut">
              <a:rPr lang="es-PE" smtClean="0"/>
              <a:t>22/09/2026</a:t>
            </a:fld>
            <a:endParaRPr lang="es-PE"/>
          </a:p>
        </p:txBody>
      </p:sp>
      <p:sp>
        <p:nvSpPr>
          <p:cNvPr id="5" name="Marcador de pie de página 4">
            <a:extLst>
              <a:ext uri="{FF2B5EF4-FFF2-40B4-BE49-F238E27FC236}">
                <a16:creationId xmlns:a16="http://schemas.microsoft.com/office/drawing/2014/main" id="{47E94D33-FDE8-6449-705F-E556EF1EF071}"/>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CD630CF9-CD55-3BD0-79C3-E70AAAEA76E9}"/>
              </a:ext>
            </a:extLst>
          </p:cNvPr>
          <p:cNvSpPr>
            <a:spLocks noGrp="1"/>
          </p:cNvSpPr>
          <p:nvPr>
            <p:ph type="sldNum" sz="quarter" idx="12"/>
          </p:nvPr>
        </p:nvSpPr>
        <p:spPr/>
        <p:txBody>
          <a:bodyPr/>
          <a:lstStyle/>
          <a:p>
            <a:fld id="{244433A7-2339-439A-AF51-9EFDA9A6041C}" type="slidenum">
              <a:rPr lang="es-PE" smtClean="0"/>
              <a:t>‹Nº›</a:t>
            </a:fld>
            <a:endParaRPr lang="es-PE"/>
          </a:p>
        </p:txBody>
      </p:sp>
    </p:spTree>
    <p:extLst>
      <p:ext uri="{BB962C8B-B14F-4D97-AF65-F5344CB8AC3E}">
        <p14:creationId xmlns:p14="http://schemas.microsoft.com/office/powerpoint/2010/main" val="37147750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E559199-D081-4689-6C0F-26C081480CD8}"/>
              </a:ext>
            </a:extLst>
          </p:cNvPr>
          <p:cNvSpPr>
            <a:spLocks noGrp="1"/>
          </p:cNvSpPr>
          <p:nvPr>
            <p:ph type="title"/>
          </p:nvPr>
        </p:nvSpPr>
        <p:spPr/>
        <p:txBody>
          <a:bodyPr/>
          <a:lstStyle/>
          <a:p>
            <a:r>
              <a:rPr lang="es-ES"/>
              <a:t>Haga clic para modificar el estilo de título del patrón</a:t>
            </a:r>
            <a:endParaRPr lang="es-PE"/>
          </a:p>
        </p:txBody>
      </p:sp>
      <p:sp>
        <p:nvSpPr>
          <p:cNvPr id="3" name="Marcador de contenido 2">
            <a:extLst>
              <a:ext uri="{FF2B5EF4-FFF2-40B4-BE49-F238E27FC236}">
                <a16:creationId xmlns:a16="http://schemas.microsoft.com/office/drawing/2014/main" id="{98B26484-A586-DE59-81DA-9AE0971899BF}"/>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83DB8B84-50E3-3680-51B0-E997DAC402B4}"/>
              </a:ext>
            </a:extLst>
          </p:cNvPr>
          <p:cNvSpPr>
            <a:spLocks noGrp="1"/>
          </p:cNvSpPr>
          <p:nvPr>
            <p:ph type="dt" sz="half" idx="10"/>
          </p:nvPr>
        </p:nvSpPr>
        <p:spPr/>
        <p:txBody>
          <a:bodyPr/>
          <a:lstStyle/>
          <a:p>
            <a:fld id="{4728B04F-4F73-48C2-9E46-704F64527F32}" type="datetimeFigureOut">
              <a:rPr lang="es-PE" smtClean="0"/>
              <a:t>22/09/2026</a:t>
            </a:fld>
            <a:endParaRPr lang="es-PE"/>
          </a:p>
        </p:txBody>
      </p:sp>
      <p:sp>
        <p:nvSpPr>
          <p:cNvPr id="5" name="Marcador de pie de página 4">
            <a:extLst>
              <a:ext uri="{FF2B5EF4-FFF2-40B4-BE49-F238E27FC236}">
                <a16:creationId xmlns:a16="http://schemas.microsoft.com/office/drawing/2014/main" id="{475AA40F-A1AE-4DAB-8F62-65858B29BBF1}"/>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83D72374-BF0D-9199-0AE2-B02EF3813454}"/>
              </a:ext>
            </a:extLst>
          </p:cNvPr>
          <p:cNvSpPr>
            <a:spLocks noGrp="1"/>
          </p:cNvSpPr>
          <p:nvPr>
            <p:ph type="sldNum" sz="quarter" idx="12"/>
          </p:nvPr>
        </p:nvSpPr>
        <p:spPr/>
        <p:txBody>
          <a:bodyPr/>
          <a:lstStyle/>
          <a:p>
            <a:fld id="{244433A7-2339-439A-AF51-9EFDA9A6041C}" type="slidenum">
              <a:rPr lang="es-PE" smtClean="0"/>
              <a:t>‹Nº›</a:t>
            </a:fld>
            <a:endParaRPr lang="es-PE"/>
          </a:p>
        </p:txBody>
      </p:sp>
    </p:spTree>
    <p:extLst>
      <p:ext uri="{BB962C8B-B14F-4D97-AF65-F5344CB8AC3E}">
        <p14:creationId xmlns:p14="http://schemas.microsoft.com/office/powerpoint/2010/main" val="24752339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6549AF9-55EC-C5C1-42C9-7D227AAF6294}"/>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PE"/>
          </a:p>
        </p:txBody>
      </p:sp>
      <p:sp>
        <p:nvSpPr>
          <p:cNvPr id="3" name="Marcador de texto 2">
            <a:extLst>
              <a:ext uri="{FF2B5EF4-FFF2-40B4-BE49-F238E27FC236}">
                <a16:creationId xmlns:a16="http://schemas.microsoft.com/office/drawing/2014/main" id="{CAA2B32A-2C66-856E-7956-ED257F397B7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0D82117E-953F-4F70-D94A-C0F2B9F3081D}"/>
              </a:ext>
            </a:extLst>
          </p:cNvPr>
          <p:cNvSpPr>
            <a:spLocks noGrp="1"/>
          </p:cNvSpPr>
          <p:nvPr>
            <p:ph type="dt" sz="half" idx="10"/>
          </p:nvPr>
        </p:nvSpPr>
        <p:spPr/>
        <p:txBody>
          <a:bodyPr/>
          <a:lstStyle/>
          <a:p>
            <a:fld id="{4728B04F-4F73-48C2-9E46-704F64527F32}" type="datetimeFigureOut">
              <a:rPr lang="es-PE" smtClean="0"/>
              <a:t>22/09/2026</a:t>
            </a:fld>
            <a:endParaRPr lang="es-PE"/>
          </a:p>
        </p:txBody>
      </p:sp>
      <p:sp>
        <p:nvSpPr>
          <p:cNvPr id="5" name="Marcador de pie de página 4">
            <a:extLst>
              <a:ext uri="{FF2B5EF4-FFF2-40B4-BE49-F238E27FC236}">
                <a16:creationId xmlns:a16="http://schemas.microsoft.com/office/drawing/2014/main" id="{5315B6E9-B354-9D39-F8CC-2B3721A2A1A8}"/>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43A96CAC-C276-2C6D-50E0-118D678FF437}"/>
              </a:ext>
            </a:extLst>
          </p:cNvPr>
          <p:cNvSpPr>
            <a:spLocks noGrp="1"/>
          </p:cNvSpPr>
          <p:nvPr>
            <p:ph type="sldNum" sz="quarter" idx="12"/>
          </p:nvPr>
        </p:nvSpPr>
        <p:spPr/>
        <p:txBody>
          <a:bodyPr/>
          <a:lstStyle/>
          <a:p>
            <a:fld id="{244433A7-2339-439A-AF51-9EFDA9A6041C}" type="slidenum">
              <a:rPr lang="es-PE" smtClean="0"/>
              <a:t>‹Nº›</a:t>
            </a:fld>
            <a:endParaRPr lang="es-PE"/>
          </a:p>
        </p:txBody>
      </p:sp>
    </p:spTree>
    <p:extLst>
      <p:ext uri="{BB962C8B-B14F-4D97-AF65-F5344CB8AC3E}">
        <p14:creationId xmlns:p14="http://schemas.microsoft.com/office/powerpoint/2010/main" val="38257891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3DB5609-CFF7-FE91-93A8-017ADAC91653}"/>
              </a:ext>
            </a:extLst>
          </p:cNvPr>
          <p:cNvSpPr>
            <a:spLocks noGrp="1"/>
          </p:cNvSpPr>
          <p:nvPr>
            <p:ph type="title"/>
          </p:nvPr>
        </p:nvSpPr>
        <p:spPr/>
        <p:txBody>
          <a:bodyPr/>
          <a:lstStyle/>
          <a:p>
            <a:r>
              <a:rPr lang="es-ES"/>
              <a:t>Haga clic para modificar el estilo de título del patrón</a:t>
            </a:r>
            <a:endParaRPr lang="es-PE"/>
          </a:p>
        </p:txBody>
      </p:sp>
      <p:sp>
        <p:nvSpPr>
          <p:cNvPr id="3" name="Marcador de contenido 2">
            <a:extLst>
              <a:ext uri="{FF2B5EF4-FFF2-40B4-BE49-F238E27FC236}">
                <a16:creationId xmlns:a16="http://schemas.microsoft.com/office/drawing/2014/main" id="{C2E964A9-F609-80F6-2CBA-3D02F425D17F}"/>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contenido 3">
            <a:extLst>
              <a:ext uri="{FF2B5EF4-FFF2-40B4-BE49-F238E27FC236}">
                <a16:creationId xmlns:a16="http://schemas.microsoft.com/office/drawing/2014/main" id="{222AF759-B10E-0B24-F52D-720377E5AEDA}"/>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5" name="Marcador de fecha 4">
            <a:extLst>
              <a:ext uri="{FF2B5EF4-FFF2-40B4-BE49-F238E27FC236}">
                <a16:creationId xmlns:a16="http://schemas.microsoft.com/office/drawing/2014/main" id="{DAA4FDCD-1E3B-1A51-8F25-3FF6CE7F3BB3}"/>
              </a:ext>
            </a:extLst>
          </p:cNvPr>
          <p:cNvSpPr>
            <a:spLocks noGrp="1"/>
          </p:cNvSpPr>
          <p:nvPr>
            <p:ph type="dt" sz="half" idx="10"/>
          </p:nvPr>
        </p:nvSpPr>
        <p:spPr/>
        <p:txBody>
          <a:bodyPr/>
          <a:lstStyle/>
          <a:p>
            <a:fld id="{4728B04F-4F73-48C2-9E46-704F64527F32}" type="datetimeFigureOut">
              <a:rPr lang="es-PE" smtClean="0"/>
              <a:t>22/09/2026</a:t>
            </a:fld>
            <a:endParaRPr lang="es-PE"/>
          </a:p>
        </p:txBody>
      </p:sp>
      <p:sp>
        <p:nvSpPr>
          <p:cNvPr id="6" name="Marcador de pie de página 5">
            <a:extLst>
              <a:ext uri="{FF2B5EF4-FFF2-40B4-BE49-F238E27FC236}">
                <a16:creationId xmlns:a16="http://schemas.microsoft.com/office/drawing/2014/main" id="{A56B8827-6190-F9CB-340C-17290B494B7C}"/>
              </a:ext>
            </a:extLst>
          </p:cNvPr>
          <p:cNvSpPr>
            <a:spLocks noGrp="1"/>
          </p:cNvSpPr>
          <p:nvPr>
            <p:ph type="ftr" sz="quarter" idx="11"/>
          </p:nvPr>
        </p:nvSpPr>
        <p:spPr/>
        <p:txBody>
          <a:bodyPr/>
          <a:lstStyle/>
          <a:p>
            <a:endParaRPr lang="es-PE"/>
          </a:p>
        </p:txBody>
      </p:sp>
      <p:sp>
        <p:nvSpPr>
          <p:cNvPr id="7" name="Marcador de número de diapositiva 6">
            <a:extLst>
              <a:ext uri="{FF2B5EF4-FFF2-40B4-BE49-F238E27FC236}">
                <a16:creationId xmlns:a16="http://schemas.microsoft.com/office/drawing/2014/main" id="{5AB46404-8C78-05E7-B250-ECAE370917FD}"/>
              </a:ext>
            </a:extLst>
          </p:cNvPr>
          <p:cNvSpPr>
            <a:spLocks noGrp="1"/>
          </p:cNvSpPr>
          <p:nvPr>
            <p:ph type="sldNum" sz="quarter" idx="12"/>
          </p:nvPr>
        </p:nvSpPr>
        <p:spPr/>
        <p:txBody>
          <a:bodyPr/>
          <a:lstStyle/>
          <a:p>
            <a:fld id="{244433A7-2339-439A-AF51-9EFDA9A6041C}" type="slidenum">
              <a:rPr lang="es-PE" smtClean="0"/>
              <a:t>‹Nº›</a:t>
            </a:fld>
            <a:endParaRPr lang="es-PE"/>
          </a:p>
        </p:txBody>
      </p:sp>
    </p:spTree>
    <p:extLst>
      <p:ext uri="{BB962C8B-B14F-4D97-AF65-F5344CB8AC3E}">
        <p14:creationId xmlns:p14="http://schemas.microsoft.com/office/powerpoint/2010/main" val="41701323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1749292-F847-1D24-4FD9-AD41568A7C2A}"/>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PE"/>
          </a:p>
        </p:txBody>
      </p:sp>
      <p:sp>
        <p:nvSpPr>
          <p:cNvPr id="3" name="Marcador de texto 2">
            <a:extLst>
              <a:ext uri="{FF2B5EF4-FFF2-40B4-BE49-F238E27FC236}">
                <a16:creationId xmlns:a16="http://schemas.microsoft.com/office/drawing/2014/main" id="{DAF671E2-D3A4-0F45-2A09-B8DADE12C09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F0FFBD18-2BF9-678E-0AC8-52B223120ADA}"/>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5" name="Marcador de texto 4">
            <a:extLst>
              <a:ext uri="{FF2B5EF4-FFF2-40B4-BE49-F238E27FC236}">
                <a16:creationId xmlns:a16="http://schemas.microsoft.com/office/drawing/2014/main" id="{A3527B7E-E0F5-0A56-6D7C-76242207D80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DC8E62F8-AF94-079C-EF69-A765CB01435C}"/>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7" name="Marcador de fecha 6">
            <a:extLst>
              <a:ext uri="{FF2B5EF4-FFF2-40B4-BE49-F238E27FC236}">
                <a16:creationId xmlns:a16="http://schemas.microsoft.com/office/drawing/2014/main" id="{0A648DA9-9673-35CC-FD69-59F6BD799F8E}"/>
              </a:ext>
            </a:extLst>
          </p:cNvPr>
          <p:cNvSpPr>
            <a:spLocks noGrp="1"/>
          </p:cNvSpPr>
          <p:nvPr>
            <p:ph type="dt" sz="half" idx="10"/>
          </p:nvPr>
        </p:nvSpPr>
        <p:spPr/>
        <p:txBody>
          <a:bodyPr/>
          <a:lstStyle/>
          <a:p>
            <a:fld id="{4728B04F-4F73-48C2-9E46-704F64527F32}" type="datetimeFigureOut">
              <a:rPr lang="es-PE" smtClean="0"/>
              <a:t>22/09/2026</a:t>
            </a:fld>
            <a:endParaRPr lang="es-PE"/>
          </a:p>
        </p:txBody>
      </p:sp>
      <p:sp>
        <p:nvSpPr>
          <p:cNvPr id="8" name="Marcador de pie de página 7">
            <a:extLst>
              <a:ext uri="{FF2B5EF4-FFF2-40B4-BE49-F238E27FC236}">
                <a16:creationId xmlns:a16="http://schemas.microsoft.com/office/drawing/2014/main" id="{A5DE94D9-8533-ED00-B05C-81DE14EF0CD2}"/>
              </a:ext>
            </a:extLst>
          </p:cNvPr>
          <p:cNvSpPr>
            <a:spLocks noGrp="1"/>
          </p:cNvSpPr>
          <p:nvPr>
            <p:ph type="ftr" sz="quarter" idx="11"/>
          </p:nvPr>
        </p:nvSpPr>
        <p:spPr/>
        <p:txBody>
          <a:bodyPr/>
          <a:lstStyle/>
          <a:p>
            <a:endParaRPr lang="es-PE"/>
          </a:p>
        </p:txBody>
      </p:sp>
      <p:sp>
        <p:nvSpPr>
          <p:cNvPr id="9" name="Marcador de número de diapositiva 8">
            <a:extLst>
              <a:ext uri="{FF2B5EF4-FFF2-40B4-BE49-F238E27FC236}">
                <a16:creationId xmlns:a16="http://schemas.microsoft.com/office/drawing/2014/main" id="{14212A43-66F9-51AD-4D2C-731C9E48C579}"/>
              </a:ext>
            </a:extLst>
          </p:cNvPr>
          <p:cNvSpPr>
            <a:spLocks noGrp="1"/>
          </p:cNvSpPr>
          <p:nvPr>
            <p:ph type="sldNum" sz="quarter" idx="12"/>
          </p:nvPr>
        </p:nvSpPr>
        <p:spPr/>
        <p:txBody>
          <a:bodyPr/>
          <a:lstStyle/>
          <a:p>
            <a:fld id="{244433A7-2339-439A-AF51-9EFDA9A6041C}" type="slidenum">
              <a:rPr lang="es-PE" smtClean="0"/>
              <a:t>‹Nº›</a:t>
            </a:fld>
            <a:endParaRPr lang="es-PE"/>
          </a:p>
        </p:txBody>
      </p:sp>
    </p:spTree>
    <p:extLst>
      <p:ext uri="{BB962C8B-B14F-4D97-AF65-F5344CB8AC3E}">
        <p14:creationId xmlns:p14="http://schemas.microsoft.com/office/powerpoint/2010/main" val="8064034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3CED7A-3158-77DF-D71C-35AEE7E24999}"/>
              </a:ext>
            </a:extLst>
          </p:cNvPr>
          <p:cNvSpPr>
            <a:spLocks noGrp="1"/>
          </p:cNvSpPr>
          <p:nvPr>
            <p:ph type="title"/>
          </p:nvPr>
        </p:nvSpPr>
        <p:spPr/>
        <p:txBody>
          <a:bodyPr/>
          <a:lstStyle/>
          <a:p>
            <a:r>
              <a:rPr lang="es-ES"/>
              <a:t>Haga clic para modificar el estilo de título del patrón</a:t>
            </a:r>
            <a:endParaRPr lang="es-PE"/>
          </a:p>
        </p:txBody>
      </p:sp>
      <p:sp>
        <p:nvSpPr>
          <p:cNvPr id="3" name="Marcador de fecha 2">
            <a:extLst>
              <a:ext uri="{FF2B5EF4-FFF2-40B4-BE49-F238E27FC236}">
                <a16:creationId xmlns:a16="http://schemas.microsoft.com/office/drawing/2014/main" id="{B478F852-120E-6806-DC0E-4922223E549C}"/>
              </a:ext>
            </a:extLst>
          </p:cNvPr>
          <p:cNvSpPr>
            <a:spLocks noGrp="1"/>
          </p:cNvSpPr>
          <p:nvPr>
            <p:ph type="dt" sz="half" idx="10"/>
          </p:nvPr>
        </p:nvSpPr>
        <p:spPr/>
        <p:txBody>
          <a:bodyPr/>
          <a:lstStyle/>
          <a:p>
            <a:fld id="{4728B04F-4F73-48C2-9E46-704F64527F32}" type="datetimeFigureOut">
              <a:rPr lang="es-PE" smtClean="0"/>
              <a:t>22/09/2026</a:t>
            </a:fld>
            <a:endParaRPr lang="es-PE"/>
          </a:p>
        </p:txBody>
      </p:sp>
      <p:sp>
        <p:nvSpPr>
          <p:cNvPr id="4" name="Marcador de pie de página 3">
            <a:extLst>
              <a:ext uri="{FF2B5EF4-FFF2-40B4-BE49-F238E27FC236}">
                <a16:creationId xmlns:a16="http://schemas.microsoft.com/office/drawing/2014/main" id="{37D40898-4A83-C494-208C-3BB983CA1B3C}"/>
              </a:ext>
            </a:extLst>
          </p:cNvPr>
          <p:cNvSpPr>
            <a:spLocks noGrp="1"/>
          </p:cNvSpPr>
          <p:nvPr>
            <p:ph type="ftr" sz="quarter" idx="11"/>
          </p:nvPr>
        </p:nvSpPr>
        <p:spPr/>
        <p:txBody>
          <a:bodyPr/>
          <a:lstStyle/>
          <a:p>
            <a:endParaRPr lang="es-PE"/>
          </a:p>
        </p:txBody>
      </p:sp>
      <p:sp>
        <p:nvSpPr>
          <p:cNvPr id="5" name="Marcador de número de diapositiva 4">
            <a:extLst>
              <a:ext uri="{FF2B5EF4-FFF2-40B4-BE49-F238E27FC236}">
                <a16:creationId xmlns:a16="http://schemas.microsoft.com/office/drawing/2014/main" id="{59B7A564-709D-A9B1-4784-A78D03A309C6}"/>
              </a:ext>
            </a:extLst>
          </p:cNvPr>
          <p:cNvSpPr>
            <a:spLocks noGrp="1"/>
          </p:cNvSpPr>
          <p:nvPr>
            <p:ph type="sldNum" sz="quarter" idx="12"/>
          </p:nvPr>
        </p:nvSpPr>
        <p:spPr/>
        <p:txBody>
          <a:bodyPr/>
          <a:lstStyle/>
          <a:p>
            <a:fld id="{244433A7-2339-439A-AF51-9EFDA9A6041C}" type="slidenum">
              <a:rPr lang="es-PE" smtClean="0"/>
              <a:t>‹Nº›</a:t>
            </a:fld>
            <a:endParaRPr lang="es-PE"/>
          </a:p>
        </p:txBody>
      </p:sp>
    </p:spTree>
    <p:extLst>
      <p:ext uri="{BB962C8B-B14F-4D97-AF65-F5344CB8AC3E}">
        <p14:creationId xmlns:p14="http://schemas.microsoft.com/office/powerpoint/2010/main" val="36747047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161ACFAF-7441-8EC2-04CF-09CD9E8337D3}"/>
              </a:ext>
            </a:extLst>
          </p:cNvPr>
          <p:cNvSpPr>
            <a:spLocks noGrp="1"/>
          </p:cNvSpPr>
          <p:nvPr>
            <p:ph type="dt" sz="half" idx="10"/>
          </p:nvPr>
        </p:nvSpPr>
        <p:spPr/>
        <p:txBody>
          <a:bodyPr/>
          <a:lstStyle/>
          <a:p>
            <a:fld id="{4728B04F-4F73-48C2-9E46-704F64527F32}" type="datetimeFigureOut">
              <a:rPr lang="es-PE" smtClean="0"/>
              <a:t>22/09/2026</a:t>
            </a:fld>
            <a:endParaRPr lang="es-PE"/>
          </a:p>
        </p:txBody>
      </p:sp>
      <p:sp>
        <p:nvSpPr>
          <p:cNvPr id="3" name="Marcador de pie de página 2">
            <a:extLst>
              <a:ext uri="{FF2B5EF4-FFF2-40B4-BE49-F238E27FC236}">
                <a16:creationId xmlns:a16="http://schemas.microsoft.com/office/drawing/2014/main" id="{14FA7E49-6B88-6BC2-8C6D-9A071DBA32A1}"/>
              </a:ext>
            </a:extLst>
          </p:cNvPr>
          <p:cNvSpPr>
            <a:spLocks noGrp="1"/>
          </p:cNvSpPr>
          <p:nvPr>
            <p:ph type="ftr" sz="quarter" idx="11"/>
          </p:nvPr>
        </p:nvSpPr>
        <p:spPr/>
        <p:txBody>
          <a:bodyPr/>
          <a:lstStyle/>
          <a:p>
            <a:endParaRPr lang="es-PE"/>
          </a:p>
        </p:txBody>
      </p:sp>
      <p:sp>
        <p:nvSpPr>
          <p:cNvPr id="4" name="Marcador de número de diapositiva 3">
            <a:extLst>
              <a:ext uri="{FF2B5EF4-FFF2-40B4-BE49-F238E27FC236}">
                <a16:creationId xmlns:a16="http://schemas.microsoft.com/office/drawing/2014/main" id="{1A044BFD-EAF6-FB9F-F2A0-61F098F34A19}"/>
              </a:ext>
            </a:extLst>
          </p:cNvPr>
          <p:cNvSpPr>
            <a:spLocks noGrp="1"/>
          </p:cNvSpPr>
          <p:nvPr>
            <p:ph type="sldNum" sz="quarter" idx="12"/>
          </p:nvPr>
        </p:nvSpPr>
        <p:spPr/>
        <p:txBody>
          <a:bodyPr/>
          <a:lstStyle/>
          <a:p>
            <a:fld id="{244433A7-2339-439A-AF51-9EFDA9A6041C}" type="slidenum">
              <a:rPr lang="es-PE" smtClean="0"/>
              <a:t>‹Nº›</a:t>
            </a:fld>
            <a:endParaRPr lang="es-PE"/>
          </a:p>
        </p:txBody>
      </p:sp>
    </p:spTree>
    <p:extLst>
      <p:ext uri="{BB962C8B-B14F-4D97-AF65-F5344CB8AC3E}">
        <p14:creationId xmlns:p14="http://schemas.microsoft.com/office/powerpoint/2010/main" val="20961335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01A3095-751F-EE63-B505-F34F4EEBCD07}"/>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PE"/>
          </a:p>
        </p:txBody>
      </p:sp>
      <p:sp>
        <p:nvSpPr>
          <p:cNvPr id="3" name="Marcador de contenido 2">
            <a:extLst>
              <a:ext uri="{FF2B5EF4-FFF2-40B4-BE49-F238E27FC236}">
                <a16:creationId xmlns:a16="http://schemas.microsoft.com/office/drawing/2014/main" id="{E1059669-42C4-B318-496D-C5C68D2BEDA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texto 3">
            <a:extLst>
              <a:ext uri="{FF2B5EF4-FFF2-40B4-BE49-F238E27FC236}">
                <a16:creationId xmlns:a16="http://schemas.microsoft.com/office/drawing/2014/main" id="{0C890E18-79BE-170F-7FA5-0734B2427DB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F167D11A-ADB7-ACDC-6832-617038691D28}"/>
              </a:ext>
            </a:extLst>
          </p:cNvPr>
          <p:cNvSpPr>
            <a:spLocks noGrp="1"/>
          </p:cNvSpPr>
          <p:nvPr>
            <p:ph type="dt" sz="half" idx="10"/>
          </p:nvPr>
        </p:nvSpPr>
        <p:spPr/>
        <p:txBody>
          <a:bodyPr/>
          <a:lstStyle/>
          <a:p>
            <a:fld id="{4728B04F-4F73-48C2-9E46-704F64527F32}" type="datetimeFigureOut">
              <a:rPr lang="es-PE" smtClean="0"/>
              <a:t>22/09/2026</a:t>
            </a:fld>
            <a:endParaRPr lang="es-PE"/>
          </a:p>
        </p:txBody>
      </p:sp>
      <p:sp>
        <p:nvSpPr>
          <p:cNvPr id="6" name="Marcador de pie de página 5">
            <a:extLst>
              <a:ext uri="{FF2B5EF4-FFF2-40B4-BE49-F238E27FC236}">
                <a16:creationId xmlns:a16="http://schemas.microsoft.com/office/drawing/2014/main" id="{2777EE52-07B8-7502-695C-6DF8A78DF435}"/>
              </a:ext>
            </a:extLst>
          </p:cNvPr>
          <p:cNvSpPr>
            <a:spLocks noGrp="1"/>
          </p:cNvSpPr>
          <p:nvPr>
            <p:ph type="ftr" sz="quarter" idx="11"/>
          </p:nvPr>
        </p:nvSpPr>
        <p:spPr/>
        <p:txBody>
          <a:bodyPr/>
          <a:lstStyle/>
          <a:p>
            <a:endParaRPr lang="es-PE"/>
          </a:p>
        </p:txBody>
      </p:sp>
      <p:sp>
        <p:nvSpPr>
          <p:cNvPr id="7" name="Marcador de número de diapositiva 6">
            <a:extLst>
              <a:ext uri="{FF2B5EF4-FFF2-40B4-BE49-F238E27FC236}">
                <a16:creationId xmlns:a16="http://schemas.microsoft.com/office/drawing/2014/main" id="{CE3460CC-A376-5637-5998-D11D83D19CFA}"/>
              </a:ext>
            </a:extLst>
          </p:cNvPr>
          <p:cNvSpPr>
            <a:spLocks noGrp="1"/>
          </p:cNvSpPr>
          <p:nvPr>
            <p:ph type="sldNum" sz="quarter" idx="12"/>
          </p:nvPr>
        </p:nvSpPr>
        <p:spPr/>
        <p:txBody>
          <a:bodyPr/>
          <a:lstStyle/>
          <a:p>
            <a:fld id="{244433A7-2339-439A-AF51-9EFDA9A6041C}" type="slidenum">
              <a:rPr lang="es-PE" smtClean="0"/>
              <a:t>‹Nº›</a:t>
            </a:fld>
            <a:endParaRPr lang="es-PE"/>
          </a:p>
        </p:txBody>
      </p:sp>
    </p:spTree>
    <p:extLst>
      <p:ext uri="{BB962C8B-B14F-4D97-AF65-F5344CB8AC3E}">
        <p14:creationId xmlns:p14="http://schemas.microsoft.com/office/powerpoint/2010/main" val="42512350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68F389F-3435-A3CA-D8B5-31A600F7231D}"/>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PE"/>
          </a:p>
        </p:txBody>
      </p:sp>
      <p:sp>
        <p:nvSpPr>
          <p:cNvPr id="3" name="Marcador de posición de imagen 2">
            <a:extLst>
              <a:ext uri="{FF2B5EF4-FFF2-40B4-BE49-F238E27FC236}">
                <a16:creationId xmlns:a16="http://schemas.microsoft.com/office/drawing/2014/main" id="{9433BEFD-867B-5487-68C5-3F9B60292F5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PE"/>
          </a:p>
        </p:txBody>
      </p:sp>
      <p:sp>
        <p:nvSpPr>
          <p:cNvPr id="4" name="Marcador de texto 3">
            <a:extLst>
              <a:ext uri="{FF2B5EF4-FFF2-40B4-BE49-F238E27FC236}">
                <a16:creationId xmlns:a16="http://schemas.microsoft.com/office/drawing/2014/main" id="{434278E2-9BED-AFAC-E024-EA1282F7B01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97DF14C5-21E9-B1BB-FAEB-95E5A017C8C0}"/>
              </a:ext>
            </a:extLst>
          </p:cNvPr>
          <p:cNvSpPr>
            <a:spLocks noGrp="1"/>
          </p:cNvSpPr>
          <p:nvPr>
            <p:ph type="dt" sz="half" idx="10"/>
          </p:nvPr>
        </p:nvSpPr>
        <p:spPr/>
        <p:txBody>
          <a:bodyPr/>
          <a:lstStyle/>
          <a:p>
            <a:fld id="{4728B04F-4F73-48C2-9E46-704F64527F32}" type="datetimeFigureOut">
              <a:rPr lang="es-PE" smtClean="0"/>
              <a:t>22/09/2026</a:t>
            </a:fld>
            <a:endParaRPr lang="es-PE"/>
          </a:p>
        </p:txBody>
      </p:sp>
      <p:sp>
        <p:nvSpPr>
          <p:cNvPr id="6" name="Marcador de pie de página 5">
            <a:extLst>
              <a:ext uri="{FF2B5EF4-FFF2-40B4-BE49-F238E27FC236}">
                <a16:creationId xmlns:a16="http://schemas.microsoft.com/office/drawing/2014/main" id="{AC448983-4ED4-A1F6-ABA9-CD9634DF3784}"/>
              </a:ext>
            </a:extLst>
          </p:cNvPr>
          <p:cNvSpPr>
            <a:spLocks noGrp="1"/>
          </p:cNvSpPr>
          <p:nvPr>
            <p:ph type="ftr" sz="quarter" idx="11"/>
          </p:nvPr>
        </p:nvSpPr>
        <p:spPr/>
        <p:txBody>
          <a:bodyPr/>
          <a:lstStyle/>
          <a:p>
            <a:endParaRPr lang="es-PE"/>
          </a:p>
        </p:txBody>
      </p:sp>
      <p:sp>
        <p:nvSpPr>
          <p:cNvPr id="7" name="Marcador de número de diapositiva 6">
            <a:extLst>
              <a:ext uri="{FF2B5EF4-FFF2-40B4-BE49-F238E27FC236}">
                <a16:creationId xmlns:a16="http://schemas.microsoft.com/office/drawing/2014/main" id="{97065E54-4AF9-87DF-9439-3998BE78920B}"/>
              </a:ext>
            </a:extLst>
          </p:cNvPr>
          <p:cNvSpPr>
            <a:spLocks noGrp="1"/>
          </p:cNvSpPr>
          <p:nvPr>
            <p:ph type="sldNum" sz="quarter" idx="12"/>
          </p:nvPr>
        </p:nvSpPr>
        <p:spPr/>
        <p:txBody>
          <a:bodyPr/>
          <a:lstStyle/>
          <a:p>
            <a:fld id="{244433A7-2339-439A-AF51-9EFDA9A6041C}" type="slidenum">
              <a:rPr lang="es-PE" smtClean="0"/>
              <a:t>‹Nº›</a:t>
            </a:fld>
            <a:endParaRPr lang="es-PE"/>
          </a:p>
        </p:txBody>
      </p:sp>
    </p:spTree>
    <p:extLst>
      <p:ext uri="{BB962C8B-B14F-4D97-AF65-F5344CB8AC3E}">
        <p14:creationId xmlns:p14="http://schemas.microsoft.com/office/powerpoint/2010/main" val="29822141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1E92D63-E499-03F7-FB4D-93474D0C71E1}"/>
              </a:ext>
            </a:extLst>
          </p:cNvPr>
          <p:cNvSpPr>
            <a:spLocks noGrp="1"/>
          </p:cNvSpPr>
          <p:nvPr>
            <p:ph type="title"/>
          </p:nvPr>
        </p:nvSpPr>
        <p:spPr/>
        <p:txBody>
          <a:bodyPr/>
          <a:lstStyle/>
          <a:p>
            <a:r>
              <a:rPr lang="es-ES"/>
              <a:t>Haga clic para modificar el estilo de título del patrón</a:t>
            </a:r>
            <a:endParaRPr lang="es-PE"/>
          </a:p>
        </p:txBody>
      </p:sp>
      <p:sp>
        <p:nvSpPr>
          <p:cNvPr id="3" name="Marcador de texto vertical 2">
            <a:extLst>
              <a:ext uri="{FF2B5EF4-FFF2-40B4-BE49-F238E27FC236}">
                <a16:creationId xmlns:a16="http://schemas.microsoft.com/office/drawing/2014/main" id="{2F4D4A8B-B230-AB87-D28F-47E1EF7566BA}"/>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7804D0E4-B7E8-F53F-6E2B-AC40634D2FDC}"/>
              </a:ext>
            </a:extLst>
          </p:cNvPr>
          <p:cNvSpPr>
            <a:spLocks noGrp="1"/>
          </p:cNvSpPr>
          <p:nvPr>
            <p:ph type="dt" sz="half" idx="10"/>
          </p:nvPr>
        </p:nvSpPr>
        <p:spPr/>
        <p:txBody>
          <a:bodyPr/>
          <a:lstStyle/>
          <a:p>
            <a:fld id="{4728B04F-4F73-48C2-9E46-704F64527F32}" type="datetimeFigureOut">
              <a:rPr lang="es-PE" smtClean="0"/>
              <a:t>22/09/2026</a:t>
            </a:fld>
            <a:endParaRPr lang="es-PE"/>
          </a:p>
        </p:txBody>
      </p:sp>
      <p:sp>
        <p:nvSpPr>
          <p:cNvPr id="5" name="Marcador de pie de página 4">
            <a:extLst>
              <a:ext uri="{FF2B5EF4-FFF2-40B4-BE49-F238E27FC236}">
                <a16:creationId xmlns:a16="http://schemas.microsoft.com/office/drawing/2014/main" id="{470558D2-1230-7AE6-C0AB-8C24ADE1D2E0}"/>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B0E8A289-C61E-F62D-8E83-FAFD442204F7}"/>
              </a:ext>
            </a:extLst>
          </p:cNvPr>
          <p:cNvSpPr>
            <a:spLocks noGrp="1"/>
          </p:cNvSpPr>
          <p:nvPr>
            <p:ph type="sldNum" sz="quarter" idx="12"/>
          </p:nvPr>
        </p:nvSpPr>
        <p:spPr/>
        <p:txBody>
          <a:bodyPr/>
          <a:lstStyle/>
          <a:p>
            <a:fld id="{244433A7-2339-439A-AF51-9EFDA9A6041C}" type="slidenum">
              <a:rPr lang="es-PE" smtClean="0"/>
              <a:t>‹Nº›</a:t>
            </a:fld>
            <a:endParaRPr lang="es-PE"/>
          </a:p>
        </p:txBody>
      </p:sp>
    </p:spTree>
    <p:extLst>
      <p:ext uri="{BB962C8B-B14F-4D97-AF65-F5344CB8AC3E}">
        <p14:creationId xmlns:p14="http://schemas.microsoft.com/office/powerpoint/2010/main" val="3859743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2DD465E1-F8B5-FF8A-28AB-8CEAEC420DC5}"/>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PE"/>
          </a:p>
        </p:txBody>
      </p:sp>
      <p:sp>
        <p:nvSpPr>
          <p:cNvPr id="3" name="Marcador de texto vertical 2">
            <a:extLst>
              <a:ext uri="{FF2B5EF4-FFF2-40B4-BE49-F238E27FC236}">
                <a16:creationId xmlns:a16="http://schemas.microsoft.com/office/drawing/2014/main" id="{5DBD6A3E-9027-3D05-9863-50913A2D897C}"/>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48397731-A82C-21F2-2C4D-A190BB9F2693}"/>
              </a:ext>
            </a:extLst>
          </p:cNvPr>
          <p:cNvSpPr>
            <a:spLocks noGrp="1"/>
          </p:cNvSpPr>
          <p:nvPr>
            <p:ph type="dt" sz="half" idx="10"/>
          </p:nvPr>
        </p:nvSpPr>
        <p:spPr/>
        <p:txBody>
          <a:bodyPr/>
          <a:lstStyle/>
          <a:p>
            <a:fld id="{4728B04F-4F73-48C2-9E46-704F64527F32}" type="datetimeFigureOut">
              <a:rPr lang="es-PE" smtClean="0"/>
              <a:t>22/09/2026</a:t>
            </a:fld>
            <a:endParaRPr lang="es-PE"/>
          </a:p>
        </p:txBody>
      </p:sp>
      <p:sp>
        <p:nvSpPr>
          <p:cNvPr id="5" name="Marcador de pie de página 4">
            <a:extLst>
              <a:ext uri="{FF2B5EF4-FFF2-40B4-BE49-F238E27FC236}">
                <a16:creationId xmlns:a16="http://schemas.microsoft.com/office/drawing/2014/main" id="{57838474-DFAA-E728-D9B9-DEFD399793B8}"/>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E1089AF1-2426-4CC7-C36C-58F4C5A17947}"/>
              </a:ext>
            </a:extLst>
          </p:cNvPr>
          <p:cNvSpPr>
            <a:spLocks noGrp="1"/>
          </p:cNvSpPr>
          <p:nvPr>
            <p:ph type="sldNum" sz="quarter" idx="12"/>
          </p:nvPr>
        </p:nvSpPr>
        <p:spPr/>
        <p:txBody>
          <a:bodyPr/>
          <a:lstStyle/>
          <a:p>
            <a:fld id="{244433A7-2339-439A-AF51-9EFDA9A6041C}" type="slidenum">
              <a:rPr lang="es-PE" smtClean="0"/>
              <a:t>‹Nº›</a:t>
            </a:fld>
            <a:endParaRPr lang="es-PE"/>
          </a:p>
        </p:txBody>
      </p:sp>
    </p:spTree>
    <p:extLst>
      <p:ext uri="{BB962C8B-B14F-4D97-AF65-F5344CB8AC3E}">
        <p14:creationId xmlns:p14="http://schemas.microsoft.com/office/powerpoint/2010/main" val="27584383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pic>
        <p:nvPicPr>
          <p:cNvPr id="2" name="Graphic 1">
            <a:extLst>
              <a:ext uri="{FF2B5EF4-FFF2-40B4-BE49-F238E27FC236}">
                <a16:creationId xmlns:a16="http://schemas.microsoft.com/office/drawing/2014/main" id="{5A8556FD-943F-2CA8-3B15-1C7401E71D1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5" name="TextBox 4">
            <a:extLst>
              <a:ext uri="{FF2B5EF4-FFF2-40B4-BE49-F238E27FC236}">
                <a16:creationId xmlns:a16="http://schemas.microsoft.com/office/drawing/2014/main" id="{C6B12A91-8583-2E4C-B1C8-7E1F64EF24C9}"/>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32801428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Purple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bg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2" name="TextBox 1">
            <a:extLst>
              <a:ext uri="{FF2B5EF4-FFF2-40B4-BE49-F238E27FC236}">
                <a16:creationId xmlns:a16="http://schemas.microsoft.com/office/drawing/2014/main" id="{8F1688B8-4AFA-00EF-A18F-CE0BE044452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324450811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Green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tx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tx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 name="TextBox 3">
            <a:extLst>
              <a:ext uri="{FF2B5EF4-FFF2-40B4-BE49-F238E27FC236}">
                <a16:creationId xmlns:a16="http://schemas.microsoft.com/office/drawing/2014/main" id="{D2E118B2-5580-3101-C2BB-4FB39252D744}"/>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11189180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Dark 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0A86818C-B6FC-21B3-0821-EE3D8DAE5AE3}"/>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2BC038CA-3E14-5783-3761-76D8A4C63EC0}"/>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0" name="Graphic 9">
            <a:extLst>
              <a:ext uri="{FF2B5EF4-FFF2-40B4-BE49-F238E27FC236}">
                <a16:creationId xmlns:a16="http://schemas.microsoft.com/office/drawing/2014/main" id="{A9D3FE11-F167-1622-761B-F4BFADB0B0E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EBAA974E-55D6-2A02-03A4-AAB7F36BF1B1}"/>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69C30255-143C-EB1C-95B6-9319F7AB9F7D}"/>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sp>
        <p:nvSpPr>
          <p:cNvPr id="7" name="TextBox 6">
            <a:extLst>
              <a:ext uri="{FF2B5EF4-FFF2-40B4-BE49-F238E27FC236}">
                <a16:creationId xmlns:a16="http://schemas.microsoft.com/office/drawing/2014/main" id="{67E32664-E882-9D71-52FE-71612364F8C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316342291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Warm Gray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A2941D41-B5B7-CCE1-1B2C-89AAD5DACBE0}"/>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tx1"/>
                </a:solidFill>
              </a:defRPr>
            </a:lvl1pPr>
          </a:lstStyle>
          <a:p>
            <a:pPr lvl="0"/>
            <a:r>
              <a:rPr lang="en-US" dirty="0"/>
              <a:t>Headline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6600B585-62A4-8333-3077-9DD14A781807}"/>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1" name="Graphic 10">
            <a:extLst>
              <a:ext uri="{FF2B5EF4-FFF2-40B4-BE49-F238E27FC236}">
                <a16:creationId xmlns:a16="http://schemas.microsoft.com/office/drawing/2014/main" id="{21C3DEEA-3CCE-EBD2-6CE3-835C44C810E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74440542-6D19-B6BD-7831-2A113C1E6A79}"/>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30B08173-A7BE-6F86-6CDE-43EC9BEEB3CB}"/>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8" name="TextBox 7">
            <a:extLst>
              <a:ext uri="{FF2B5EF4-FFF2-40B4-BE49-F238E27FC236}">
                <a16:creationId xmlns:a16="http://schemas.microsoft.com/office/drawing/2014/main" id="{AC9D9DE1-FE9F-14AE-4A3F-F4173038006F}"/>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167726836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2C Cov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7">
            <a:extLst>
              <a:ext uri="{FF2B5EF4-FFF2-40B4-BE49-F238E27FC236}">
                <a16:creationId xmlns:a16="http://schemas.microsoft.com/office/drawing/2014/main" id="{52C18FF9-32C7-751D-36F8-EF5124DF2BE2}"/>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23" name="Text Placeholder 17">
            <a:extLst>
              <a:ext uri="{FF2B5EF4-FFF2-40B4-BE49-F238E27FC236}">
                <a16:creationId xmlns:a16="http://schemas.microsoft.com/office/drawing/2014/main" id="{D8DE661F-53B2-6E8E-9238-FE6484215B1A}"/>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26" name="Graphic 25">
            <a:extLst>
              <a:ext uri="{FF2B5EF4-FFF2-40B4-BE49-F238E27FC236}">
                <a16:creationId xmlns:a16="http://schemas.microsoft.com/office/drawing/2014/main" id="{2590016B-4462-F023-25AF-B00C9285325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7C710057-3FB3-19E3-5D75-F018F116AE47}"/>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6" name="Text Placeholder 17">
            <a:extLst>
              <a:ext uri="{FF2B5EF4-FFF2-40B4-BE49-F238E27FC236}">
                <a16:creationId xmlns:a16="http://schemas.microsoft.com/office/drawing/2014/main" id="{C41EE674-4BC9-86D6-67E5-FF509240DDED}"/>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AE8FAC4F-619C-5E6B-F2B0-D001F5A51111}"/>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45533166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2C Cover Image">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FBB43B24-12DD-1DD6-963C-7ADA857CCDC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A39E11EF-D17E-E6F4-B66D-C68ABBCCF813}"/>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64D279B7-3D21-DC76-5BCE-6A2D109B8EDB}"/>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3" name="Picture Placeholder 12">
            <a:extLst>
              <a:ext uri="{FF2B5EF4-FFF2-40B4-BE49-F238E27FC236}">
                <a16:creationId xmlns:a16="http://schemas.microsoft.com/office/drawing/2014/main" id="{04B738B6-E606-753D-F43C-ADBDF91B7E2D}"/>
              </a:ext>
            </a:extLst>
          </p:cNvPr>
          <p:cNvSpPr>
            <a:spLocks noGrp="1"/>
          </p:cNvSpPr>
          <p:nvPr>
            <p:ph type="pic" sz="quarter" idx="16" hasCustomPrompt="1"/>
          </p:nvPr>
        </p:nvSpPr>
        <p:spPr>
          <a:xfrm>
            <a:off x="6689725" y="355598"/>
            <a:ext cx="5502275" cy="6146801"/>
          </a:xfrm>
          <a:custGeom>
            <a:avLst/>
            <a:gdLst>
              <a:gd name="connsiteX0" fmla="*/ 0 w 5502275"/>
              <a:gd name="connsiteY0" fmla="*/ 0 h 6135556"/>
              <a:gd name="connsiteX1" fmla="*/ 5502275 w 5502275"/>
              <a:gd name="connsiteY1" fmla="*/ 0 h 6135556"/>
              <a:gd name="connsiteX2" fmla="*/ 5502275 w 5502275"/>
              <a:gd name="connsiteY2" fmla="*/ 218283 h 6135556"/>
              <a:gd name="connsiteX3" fmla="*/ 5502275 w 5502275"/>
              <a:gd name="connsiteY3" fmla="*/ 1268413 h 6135556"/>
              <a:gd name="connsiteX4" fmla="*/ 5502275 w 5502275"/>
              <a:gd name="connsiteY4" fmla="*/ 1731805 h 6135556"/>
              <a:gd name="connsiteX5" fmla="*/ 2676409 w 5502275"/>
              <a:gd name="connsiteY5" fmla="*/ 1731805 h 6135556"/>
              <a:gd name="connsiteX6" fmla="*/ 2676409 w 5502275"/>
              <a:gd name="connsiteY6" fmla="*/ 2311877 h 6135556"/>
              <a:gd name="connsiteX7" fmla="*/ 4972425 w 5502275"/>
              <a:gd name="connsiteY7" fmla="*/ 2311877 h 6135556"/>
              <a:gd name="connsiteX8" fmla="*/ 4972425 w 5502275"/>
              <a:gd name="connsiteY8" fmla="*/ 3825399 h 6135556"/>
              <a:gd name="connsiteX9" fmla="*/ 2676409 w 5502275"/>
              <a:gd name="connsiteY9" fmla="*/ 3825399 h 6135556"/>
              <a:gd name="connsiteX10" fmla="*/ 2676409 w 5502275"/>
              <a:gd name="connsiteY10" fmla="*/ 4414997 h 6135556"/>
              <a:gd name="connsiteX11" fmla="*/ 5502275 w 5502275"/>
              <a:gd name="connsiteY11" fmla="*/ 4414997 h 6135556"/>
              <a:gd name="connsiteX12" fmla="*/ 5502275 w 5502275"/>
              <a:gd name="connsiteY12" fmla="*/ 4867143 h 6135556"/>
              <a:gd name="connsiteX13" fmla="*/ 5502275 w 5502275"/>
              <a:gd name="connsiteY13" fmla="*/ 5928519 h 6135556"/>
              <a:gd name="connsiteX14" fmla="*/ 5502275 w 5502275"/>
              <a:gd name="connsiteY14" fmla="*/ 6135556 h 6135556"/>
              <a:gd name="connsiteX15" fmla="*/ 0 w 5502275"/>
              <a:gd name="connsiteY15" fmla="*/ 6135556 h 6135556"/>
              <a:gd name="connsiteX16" fmla="*/ 0 w 5502275"/>
              <a:gd name="connsiteY16" fmla="*/ 4867143 h 6135556"/>
              <a:gd name="connsiteX17" fmla="*/ 501 w 5502275"/>
              <a:gd name="connsiteY17" fmla="*/ 4867143 h 6135556"/>
              <a:gd name="connsiteX18" fmla="*/ 501 w 5502275"/>
              <a:gd name="connsiteY18" fmla="*/ 1268413 h 6135556"/>
              <a:gd name="connsiteX19" fmla="*/ 0 w 5502275"/>
              <a:gd name="connsiteY19" fmla="*/ 1268413 h 6135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502275" h="6135556">
                <a:moveTo>
                  <a:pt x="0" y="0"/>
                </a:moveTo>
                <a:lnTo>
                  <a:pt x="5502275" y="0"/>
                </a:lnTo>
                <a:lnTo>
                  <a:pt x="5502275" y="218283"/>
                </a:lnTo>
                <a:lnTo>
                  <a:pt x="5502275" y="1268413"/>
                </a:lnTo>
                <a:lnTo>
                  <a:pt x="5502275" y="1731805"/>
                </a:lnTo>
                <a:lnTo>
                  <a:pt x="2676409" y="1731805"/>
                </a:lnTo>
                <a:lnTo>
                  <a:pt x="2676409" y="2311877"/>
                </a:lnTo>
                <a:lnTo>
                  <a:pt x="4972425" y="2311877"/>
                </a:lnTo>
                <a:lnTo>
                  <a:pt x="4972425" y="3825399"/>
                </a:lnTo>
                <a:lnTo>
                  <a:pt x="2676409" y="3825399"/>
                </a:lnTo>
                <a:lnTo>
                  <a:pt x="2676409" y="4414997"/>
                </a:lnTo>
                <a:lnTo>
                  <a:pt x="5502275" y="4414997"/>
                </a:lnTo>
                <a:lnTo>
                  <a:pt x="5502275" y="4867143"/>
                </a:lnTo>
                <a:lnTo>
                  <a:pt x="5502275" y="5928519"/>
                </a:lnTo>
                <a:lnTo>
                  <a:pt x="5502275" y="6135556"/>
                </a:lnTo>
                <a:lnTo>
                  <a:pt x="0" y="6135556"/>
                </a:lnTo>
                <a:lnTo>
                  <a:pt x="0" y="4867143"/>
                </a:lnTo>
                <a:lnTo>
                  <a:pt x="501" y="4867143"/>
                </a:lnTo>
                <a:lnTo>
                  <a:pt x="501" y="1268413"/>
                </a:lnTo>
                <a:lnTo>
                  <a:pt x="0" y="1268413"/>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10" name="Text Placeholder 17">
            <a:extLst>
              <a:ext uri="{FF2B5EF4-FFF2-40B4-BE49-F238E27FC236}">
                <a16:creationId xmlns:a16="http://schemas.microsoft.com/office/drawing/2014/main" id="{1E88AEE2-3A55-B667-5D40-BB6299F48205}"/>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11" name="Text Placeholder 17">
            <a:extLst>
              <a:ext uri="{FF2B5EF4-FFF2-40B4-BE49-F238E27FC236}">
                <a16:creationId xmlns:a16="http://schemas.microsoft.com/office/drawing/2014/main" id="{D376FEF2-D482-FF48-0E21-E85BCDCAE008}"/>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E35B847D-2BA6-4533-FDD7-9CCF9A96A36C}"/>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264273912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59320110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Headline">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5" y="361822"/>
            <a:ext cx="11122188"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Tree>
    <p:extLst>
      <p:ext uri="{BB962C8B-B14F-4D97-AF65-F5344CB8AC3E}">
        <p14:creationId xmlns:p14="http://schemas.microsoft.com/office/powerpoint/2010/main" val="333879716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Headline-Copy">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5" y="361822"/>
            <a:ext cx="11122188"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6" name="Text Placeholder 5">
            <a:extLst>
              <a:ext uri="{FF2B5EF4-FFF2-40B4-BE49-F238E27FC236}">
                <a16:creationId xmlns:a16="http://schemas.microsoft.com/office/drawing/2014/main" id="{9D09DD77-3C7C-EEB6-765D-0ED3FE5F28B3}"/>
              </a:ext>
            </a:extLst>
          </p:cNvPr>
          <p:cNvSpPr>
            <a:spLocks noGrp="1"/>
          </p:cNvSpPr>
          <p:nvPr>
            <p:ph type="body" sz="quarter" idx="11"/>
          </p:nvPr>
        </p:nvSpPr>
        <p:spPr>
          <a:xfrm>
            <a:off x="522287" y="1056958"/>
            <a:ext cx="11122188" cy="5100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8430026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01">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8599914" cy="278794"/>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229208"/>
            <a:ext cx="8599914" cy="597151"/>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012872"/>
            <a:ext cx="8599572" cy="989438"/>
          </a:xfrm>
        </p:spPr>
        <p:txBody>
          <a:bodyPr wrap="square">
            <a:spAutoFit/>
          </a:body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40315136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02">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529440"/>
            <a:ext cx="4757015" cy="989438"/>
          </a:xfrm>
        </p:spPr>
        <p:txBody>
          <a:bodyPr wrap="square">
            <a:spAutoFit/>
          </a:bodyPr>
          <a:lstStyle/>
          <a:p>
            <a:pPr lvl="0"/>
            <a:r>
              <a:rPr lang="en-US"/>
              <a:t>Click to edit Master text styles</a:t>
            </a:r>
          </a:p>
          <a:p>
            <a:pPr lvl="1"/>
            <a:r>
              <a:rPr lang="en-US"/>
              <a:t>Second level</a:t>
            </a:r>
          </a:p>
          <a:p>
            <a:pPr lvl="2"/>
            <a:r>
              <a:rPr lang="en-US"/>
              <a:t>Third level</a:t>
            </a:r>
          </a:p>
        </p:txBody>
      </p:sp>
      <p:sp>
        <p:nvSpPr>
          <p:cNvPr id="4" name="Text Placeholder 17">
            <a:extLst>
              <a:ext uri="{FF2B5EF4-FFF2-40B4-BE49-F238E27FC236}">
                <a16:creationId xmlns:a16="http://schemas.microsoft.com/office/drawing/2014/main" id="{D20FA87A-09E8-BDB2-1C69-54F54B22BE31}"/>
              </a:ext>
            </a:extLst>
          </p:cNvPr>
          <p:cNvSpPr>
            <a:spLocks noGrp="1"/>
          </p:cNvSpPr>
          <p:nvPr>
            <p:ph type="body" sz="quarter" idx="15" hasCustomPrompt="1"/>
          </p:nvPr>
        </p:nvSpPr>
        <p:spPr>
          <a:xfrm>
            <a:off x="630383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6" name="Text Placeholder 8">
            <a:extLst>
              <a:ext uri="{FF2B5EF4-FFF2-40B4-BE49-F238E27FC236}">
                <a16:creationId xmlns:a16="http://schemas.microsoft.com/office/drawing/2014/main" id="{349B6786-5FA4-2087-2C3C-22F8A8E171CC}"/>
              </a:ext>
            </a:extLst>
          </p:cNvPr>
          <p:cNvSpPr>
            <a:spLocks noGrp="1"/>
          </p:cNvSpPr>
          <p:nvPr>
            <p:ph type="body" sz="quarter" idx="16" hasCustomPrompt="1"/>
          </p:nvPr>
        </p:nvSpPr>
        <p:spPr>
          <a:xfrm>
            <a:off x="630383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7" name="Text Placeholder 12">
            <a:extLst>
              <a:ext uri="{FF2B5EF4-FFF2-40B4-BE49-F238E27FC236}">
                <a16:creationId xmlns:a16="http://schemas.microsoft.com/office/drawing/2014/main" id="{86BD890A-D326-FD3F-EDA2-9599F756B623}"/>
              </a:ext>
            </a:extLst>
          </p:cNvPr>
          <p:cNvSpPr>
            <a:spLocks noGrp="1"/>
          </p:cNvSpPr>
          <p:nvPr>
            <p:ph type="body" sz="quarter" idx="17"/>
          </p:nvPr>
        </p:nvSpPr>
        <p:spPr>
          <a:xfrm>
            <a:off x="6303555" y="3529440"/>
            <a:ext cx="4757015" cy="989438"/>
          </a:xfrm>
        </p:spPr>
        <p:txBody>
          <a:bodyPr wrap="square">
            <a:spAutoFit/>
          </a:body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38990258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03">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3216914" cy="989438"/>
          </a:xfrm>
        </p:spPr>
        <p:txBody>
          <a:bodyPr wrap="square">
            <a:spAutoFit/>
          </a:bodyPr>
          <a:lstStyle/>
          <a:p>
            <a:pPr lvl="0"/>
            <a:r>
              <a:rPr lang="en-US"/>
              <a:t>Click to edit Master text styles</a:t>
            </a:r>
          </a:p>
          <a:p>
            <a:pPr lvl="1"/>
            <a:r>
              <a:rPr lang="en-US"/>
              <a:t>Second level</a:t>
            </a:r>
          </a:p>
          <a:p>
            <a:pPr lvl="2"/>
            <a:r>
              <a:rPr lang="en-US"/>
              <a:t>Third level</a:t>
            </a:r>
          </a:p>
        </p:txBody>
      </p:sp>
      <p:sp>
        <p:nvSpPr>
          <p:cNvPr id="16" name="Text Placeholder 17">
            <a:extLst>
              <a:ext uri="{FF2B5EF4-FFF2-40B4-BE49-F238E27FC236}">
                <a16:creationId xmlns:a16="http://schemas.microsoft.com/office/drawing/2014/main" id="{5A431E8C-C0AC-DBC9-2391-1C619D591E69}"/>
              </a:ext>
            </a:extLst>
          </p:cNvPr>
          <p:cNvSpPr>
            <a:spLocks noGrp="1"/>
          </p:cNvSpPr>
          <p:nvPr>
            <p:ph type="body" sz="quarter" idx="15" hasCustomPrompt="1"/>
          </p:nvPr>
        </p:nvSpPr>
        <p:spPr>
          <a:xfrm>
            <a:off x="439375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7" name="Text Placeholder 8">
            <a:extLst>
              <a:ext uri="{FF2B5EF4-FFF2-40B4-BE49-F238E27FC236}">
                <a16:creationId xmlns:a16="http://schemas.microsoft.com/office/drawing/2014/main" id="{7C89246B-18AE-5DA8-795F-679BD7C0617D}"/>
              </a:ext>
            </a:extLst>
          </p:cNvPr>
          <p:cNvSpPr>
            <a:spLocks noGrp="1"/>
          </p:cNvSpPr>
          <p:nvPr>
            <p:ph type="body" sz="quarter" idx="16" hasCustomPrompt="1"/>
          </p:nvPr>
        </p:nvSpPr>
        <p:spPr>
          <a:xfrm>
            <a:off x="439375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8" name="Text Placeholder 12">
            <a:extLst>
              <a:ext uri="{FF2B5EF4-FFF2-40B4-BE49-F238E27FC236}">
                <a16:creationId xmlns:a16="http://schemas.microsoft.com/office/drawing/2014/main" id="{4F617632-1F8F-2092-32FC-7367A36B4B50}"/>
              </a:ext>
            </a:extLst>
          </p:cNvPr>
          <p:cNvSpPr>
            <a:spLocks noGrp="1"/>
          </p:cNvSpPr>
          <p:nvPr>
            <p:ph type="body" sz="quarter" idx="17"/>
          </p:nvPr>
        </p:nvSpPr>
        <p:spPr>
          <a:xfrm>
            <a:off x="4393475" y="3740277"/>
            <a:ext cx="3216914" cy="989438"/>
          </a:xfrm>
        </p:spPr>
        <p:txBody>
          <a:bodyPr wrap="square">
            <a:spAutoFit/>
          </a:bodyPr>
          <a:lstStyle/>
          <a:p>
            <a:pPr lvl="0"/>
            <a:r>
              <a:rPr lang="en-US"/>
              <a:t>Click to edit Master text styles</a:t>
            </a:r>
          </a:p>
          <a:p>
            <a:pPr lvl="1"/>
            <a:r>
              <a:rPr lang="en-US"/>
              <a:t>Second level</a:t>
            </a:r>
          </a:p>
          <a:p>
            <a:pPr lvl="2"/>
            <a:r>
              <a:rPr lang="en-US"/>
              <a:t>Third level</a:t>
            </a:r>
          </a:p>
        </p:txBody>
      </p:sp>
      <p:sp>
        <p:nvSpPr>
          <p:cNvPr id="19" name="Text Placeholder 17">
            <a:extLst>
              <a:ext uri="{FF2B5EF4-FFF2-40B4-BE49-F238E27FC236}">
                <a16:creationId xmlns:a16="http://schemas.microsoft.com/office/drawing/2014/main" id="{03C76AD3-B446-33B3-D6A6-D34A7B1A9CA9}"/>
              </a:ext>
            </a:extLst>
          </p:cNvPr>
          <p:cNvSpPr>
            <a:spLocks noGrp="1"/>
          </p:cNvSpPr>
          <p:nvPr>
            <p:ph type="body" sz="quarter" idx="18" hasCustomPrompt="1"/>
          </p:nvPr>
        </p:nvSpPr>
        <p:spPr>
          <a:xfrm>
            <a:off x="826471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20" name="Text Placeholder 8">
            <a:extLst>
              <a:ext uri="{FF2B5EF4-FFF2-40B4-BE49-F238E27FC236}">
                <a16:creationId xmlns:a16="http://schemas.microsoft.com/office/drawing/2014/main" id="{EA4DB68B-5ABD-7BD4-0D0C-E218D955694D}"/>
              </a:ext>
            </a:extLst>
          </p:cNvPr>
          <p:cNvSpPr>
            <a:spLocks noGrp="1"/>
          </p:cNvSpPr>
          <p:nvPr>
            <p:ph type="body" sz="quarter" idx="19" hasCustomPrompt="1"/>
          </p:nvPr>
        </p:nvSpPr>
        <p:spPr>
          <a:xfrm>
            <a:off x="826471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21" name="Text Placeholder 12">
            <a:extLst>
              <a:ext uri="{FF2B5EF4-FFF2-40B4-BE49-F238E27FC236}">
                <a16:creationId xmlns:a16="http://schemas.microsoft.com/office/drawing/2014/main" id="{9E284295-AA76-A820-A4B4-F649763A5346}"/>
              </a:ext>
            </a:extLst>
          </p:cNvPr>
          <p:cNvSpPr>
            <a:spLocks noGrp="1"/>
          </p:cNvSpPr>
          <p:nvPr>
            <p:ph type="body" sz="quarter" idx="20"/>
          </p:nvPr>
        </p:nvSpPr>
        <p:spPr>
          <a:xfrm>
            <a:off x="8264435" y="3740277"/>
            <a:ext cx="3216914" cy="989438"/>
          </a:xfrm>
        </p:spPr>
        <p:txBody>
          <a:bodyPr wrap="square">
            <a:spAutoFit/>
          </a:body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92882771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04">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86"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86"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2478986" cy="1294137"/>
          </a:xfrm>
        </p:spPr>
        <p:txBody>
          <a:bodyPr wrap="square">
            <a:spAutoFit/>
          </a:bodyPr>
          <a:lstStyle/>
          <a:p>
            <a:pPr lvl="0"/>
            <a:r>
              <a:rPr lang="en-US"/>
              <a:t>Click to edit Master text styles</a:t>
            </a:r>
          </a:p>
          <a:p>
            <a:pPr lvl="1"/>
            <a:r>
              <a:rPr lang="en-US"/>
              <a:t>Second level</a:t>
            </a:r>
          </a:p>
          <a:p>
            <a:pPr lvl="2"/>
            <a:r>
              <a:rPr lang="en-US"/>
              <a:t>Third level</a:t>
            </a:r>
          </a:p>
        </p:txBody>
      </p:sp>
      <p:sp>
        <p:nvSpPr>
          <p:cNvPr id="4" name="Text Placeholder 17">
            <a:extLst>
              <a:ext uri="{FF2B5EF4-FFF2-40B4-BE49-F238E27FC236}">
                <a16:creationId xmlns:a16="http://schemas.microsoft.com/office/drawing/2014/main" id="{A7841F65-A264-9942-011F-C0257234F038}"/>
              </a:ext>
            </a:extLst>
          </p:cNvPr>
          <p:cNvSpPr>
            <a:spLocks noGrp="1"/>
          </p:cNvSpPr>
          <p:nvPr>
            <p:ph type="body" sz="quarter" idx="15" hasCustomPrompt="1"/>
          </p:nvPr>
        </p:nvSpPr>
        <p:spPr>
          <a:xfrm>
            <a:off x="3370044"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6" name="Text Placeholder 8">
            <a:extLst>
              <a:ext uri="{FF2B5EF4-FFF2-40B4-BE49-F238E27FC236}">
                <a16:creationId xmlns:a16="http://schemas.microsoft.com/office/drawing/2014/main" id="{C15516F4-558F-C634-22F7-1F2C190C2A1A}"/>
              </a:ext>
            </a:extLst>
          </p:cNvPr>
          <p:cNvSpPr>
            <a:spLocks noGrp="1"/>
          </p:cNvSpPr>
          <p:nvPr>
            <p:ph type="body" sz="quarter" idx="16" hasCustomPrompt="1"/>
          </p:nvPr>
        </p:nvSpPr>
        <p:spPr>
          <a:xfrm>
            <a:off x="3370044"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7" name="Text Placeholder 12">
            <a:extLst>
              <a:ext uri="{FF2B5EF4-FFF2-40B4-BE49-F238E27FC236}">
                <a16:creationId xmlns:a16="http://schemas.microsoft.com/office/drawing/2014/main" id="{D46D04B0-DA90-F948-8623-D10B3ED438A3}"/>
              </a:ext>
            </a:extLst>
          </p:cNvPr>
          <p:cNvSpPr>
            <a:spLocks noGrp="1"/>
          </p:cNvSpPr>
          <p:nvPr>
            <p:ph type="body" sz="quarter" idx="17"/>
          </p:nvPr>
        </p:nvSpPr>
        <p:spPr>
          <a:xfrm>
            <a:off x="3369773" y="3740277"/>
            <a:ext cx="2478986" cy="1294137"/>
          </a:xfrm>
        </p:spPr>
        <p:txBody>
          <a:bodyPr wrap="square">
            <a:spAutoFit/>
          </a:bodyPr>
          <a:lstStyle/>
          <a:p>
            <a:pPr lvl="0"/>
            <a:r>
              <a:rPr lang="en-US"/>
              <a:t>Click to edit Master text styles</a:t>
            </a:r>
          </a:p>
          <a:p>
            <a:pPr lvl="1"/>
            <a:r>
              <a:rPr lang="en-US"/>
              <a:t>Second level</a:t>
            </a:r>
          </a:p>
          <a:p>
            <a:pPr lvl="2"/>
            <a:r>
              <a:rPr lang="en-US"/>
              <a:t>Third level</a:t>
            </a:r>
          </a:p>
        </p:txBody>
      </p:sp>
      <p:sp>
        <p:nvSpPr>
          <p:cNvPr id="8" name="Text Placeholder 17">
            <a:extLst>
              <a:ext uri="{FF2B5EF4-FFF2-40B4-BE49-F238E27FC236}">
                <a16:creationId xmlns:a16="http://schemas.microsoft.com/office/drawing/2014/main" id="{C45E5508-18D4-B8A0-9554-18C8CC7BA633}"/>
              </a:ext>
            </a:extLst>
          </p:cNvPr>
          <p:cNvSpPr>
            <a:spLocks noGrp="1"/>
          </p:cNvSpPr>
          <p:nvPr>
            <p:ph type="body" sz="quarter" idx="18" hasCustomPrompt="1"/>
          </p:nvPr>
        </p:nvSpPr>
        <p:spPr>
          <a:xfrm>
            <a:off x="6217771"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0" name="Text Placeholder 8">
            <a:extLst>
              <a:ext uri="{FF2B5EF4-FFF2-40B4-BE49-F238E27FC236}">
                <a16:creationId xmlns:a16="http://schemas.microsoft.com/office/drawing/2014/main" id="{9B9FC0B2-A2E1-EE23-DD92-95D99FB7FCBC}"/>
              </a:ext>
            </a:extLst>
          </p:cNvPr>
          <p:cNvSpPr>
            <a:spLocks noGrp="1"/>
          </p:cNvSpPr>
          <p:nvPr>
            <p:ph type="body" sz="quarter" idx="19" hasCustomPrompt="1"/>
          </p:nvPr>
        </p:nvSpPr>
        <p:spPr>
          <a:xfrm>
            <a:off x="6217771"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1" name="Text Placeholder 12">
            <a:extLst>
              <a:ext uri="{FF2B5EF4-FFF2-40B4-BE49-F238E27FC236}">
                <a16:creationId xmlns:a16="http://schemas.microsoft.com/office/drawing/2014/main" id="{9AD3BD22-757B-EEDC-2BED-851D01FAD009}"/>
              </a:ext>
            </a:extLst>
          </p:cNvPr>
          <p:cNvSpPr>
            <a:spLocks noGrp="1"/>
          </p:cNvSpPr>
          <p:nvPr>
            <p:ph type="body" sz="quarter" idx="20"/>
          </p:nvPr>
        </p:nvSpPr>
        <p:spPr>
          <a:xfrm>
            <a:off x="6217500" y="3740277"/>
            <a:ext cx="2478986" cy="1294137"/>
          </a:xfrm>
        </p:spPr>
        <p:txBody>
          <a:bodyPr wrap="square">
            <a:spAutoFit/>
          </a:bodyPr>
          <a:lstStyle/>
          <a:p>
            <a:pPr lvl="0"/>
            <a:r>
              <a:rPr lang="en-US"/>
              <a:t>Click to edit Master text styles</a:t>
            </a:r>
          </a:p>
          <a:p>
            <a:pPr lvl="1"/>
            <a:r>
              <a:rPr lang="en-US"/>
              <a:t>Second level</a:t>
            </a:r>
          </a:p>
          <a:p>
            <a:pPr lvl="2"/>
            <a:r>
              <a:rPr lang="en-US"/>
              <a:t>Third level</a:t>
            </a:r>
          </a:p>
        </p:txBody>
      </p:sp>
      <p:sp>
        <p:nvSpPr>
          <p:cNvPr id="12" name="Text Placeholder 17">
            <a:extLst>
              <a:ext uri="{FF2B5EF4-FFF2-40B4-BE49-F238E27FC236}">
                <a16:creationId xmlns:a16="http://schemas.microsoft.com/office/drawing/2014/main" id="{5E75D8B7-36BA-C036-3008-ED7181EA29CE}"/>
              </a:ext>
            </a:extLst>
          </p:cNvPr>
          <p:cNvSpPr>
            <a:spLocks noGrp="1"/>
          </p:cNvSpPr>
          <p:nvPr>
            <p:ph type="body" sz="quarter" idx="21" hasCustomPrompt="1"/>
          </p:nvPr>
        </p:nvSpPr>
        <p:spPr>
          <a:xfrm>
            <a:off x="9065399"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4" name="Text Placeholder 8">
            <a:extLst>
              <a:ext uri="{FF2B5EF4-FFF2-40B4-BE49-F238E27FC236}">
                <a16:creationId xmlns:a16="http://schemas.microsoft.com/office/drawing/2014/main" id="{BD2C72CE-2AC1-03E8-EC6E-6628A5C8EE8B}"/>
              </a:ext>
            </a:extLst>
          </p:cNvPr>
          <p:cNvSpPr>
            <a:spLocks noGrp="1"/>
          </p:cNvSpPr>
          <p:nvPr>
            <p:ph type="body" sz="quarter" idx="22" hasCustomPrompt="1"/>
          </p:nvPr>
        </p:nvSpPr>
        <p:spPr>
          <a:xfrm>
            <a:off x="9065399"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5" name="Text Placeholder 12">
            <a:extLst>
              <a:ext uri="{FF2B5EF4-FFF2-40B4-BE49-F238E27FC236}">
                <a16:creationId xmlns:a16="http://schemas.microsoft.com/office/drawing/2014/main" id="{C86AC0A8-2096-FDDC-FEAB-27E8D3456BF7}"/>
              </a:ext>
            </a:extLst>
          </p:cNvPr>
          <p:cNvSpPr>
            <a:spLocks noGrp="1"/>
          </p:cNvSpPr>
          <p:nvPr>
            <p:ph type="body" sz="quarter" idx="23"/>
          </p:nvPr>
        </p:nvSpPr>
        <p:spPr>
          <a:xfrm>
            <a:off x="9065128" y="3740277"/>
            <a:ext cx="2478986" cy="1294137"/>
          </a:xfrm>
        </p:spPr>
        <p:txBody>
          <a:bodyPr wrap="square">
            <a:spAutoFit/>
          </a:body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68806678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1CE7E595-5C3F-0BAF-330D-65E2AD801F66}"/>
              </a:ext>
            </a:extLst>
          </p:cNvPr>
          <p:cNvSpPr>
            <a:spLocks noGrp="1"/>
          </p:cNvSpPr>
          <p:nvPr>
            <p:ph type="body" sz="quarter" idx="18" hasCustomPrompt="1"/>
          </p:nvPr>
        </p:nvSpPr>
        <p:spPr>
          <a:xfrm>
            <a:off x="4571323" y="1133918"/>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9" name="Text Placeholder 7">
            <a:extLst>
              <a:ext uri="{FF2B5EF4-FFF2-40B4-BE49-F238E27FC236}">
                <a16:creationId xmlns:a16="http://schemas.microsoft.com/office/drawing/2014/main" id="{00B49552-BA81-9DEE-DBCE-F9356D66374D}"/>
              </a:ext>
            </a:extLst>
          </p:cNvPr>
          <p:cNvSpPr>
            <a:spLocks noGrp="1"/>
          </p:cNvSpPr>
          <p:nvPr>
            <p:ph type="body" sz="quarter" idx="19" hasCustomPrompt="1"/>
          </p:nvPr>
        </p:nvSpPr>
        <p:spPr>
          <a:xfrm>
            <a:off x="4571323" y="1793136"/>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0" name="Text Placeholder 7">
            <a:extLst>
              <a:ext uri="{FF2B5EF4-FFF2-40B4-BE49-F238E27FC236}">
                <a16:creationId xmlns:a16="http://schemas.microsoft.com/office/drawing/2014/main" id="{03CD231C-30AC-3339-A90C-FF099FDCE126}"/>
              </a:ext>
            </a:extLst>
          </p:cNvPr>
          <p:cNvSpPr>
            <a:spLocks noGrp="1"/>
          </p:cNvSpPr>
          <p:nvPr>
            <p:ph type="body" sz="quarter" idx="20" hasCustomPrompt="1"/>
          </p:nvPr>
        </p:nvSpPr>
        <p:spPr>
          <a:xfrm>
            <a:off x="4571323" y="2452355"/>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1" name="Text Placeholder 7">
            <a:extLst>
              <a:ext uri="{FF2B5EF4-FFF2-40B4-BE49-F238E27FC236}">
                <a16:creationId xmlns:a16="http://schemas.microsoft.com/office/drawing/2014/main" id="{8982B152-EDC0-3186-CD84-DAB96BF42494}"/>
              </a:ext>
            </a:extLst>
          </p:cNvPr>
          <p:cNvSpPr>
            <a:spLocks noGrp="1"/>
          </p:cNvSpPr>
          <p:nvPr>
            <p:ph type="body" sz="quarter" idx="21" hasCustomPrompt="1"/>
          </p:nvPr>
        </p:nvSpPr>
        <p:spPr>
          <a:xfrm>
            <a:off x="4571323" y="3111573"/>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8" name="Text Placeholder 7">
            <a:extLst>
              <a:ext uri="{FF2B5EF4-FFF2-40B4-BE49-F238E27FC236}">
                <a16:creationId xmlns:a16="http://schemas.microsoft.com/office/drawing/2014/main" id="{356610AF-C4CC-A0BF-AEC5-6E3BDD36D990}"/>
              </a:ext>
            </a:extLst>
          </p:cNvPr>
          <p:cNvSpPr>
            <a:spLocks noGrp="1"/>
          </p:cNvSpPr>
          <p:nvPr>
            <p:ph type="body" sz="quarter" idx="22" hasCustomPrompt="1"/>
          </p:nvPr>
        </p:nvSpPr>
        <p:spPr>
          <a:xfrm>
            <a:off x="4571323" y="3770791"/>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9" name="Text Placeholder 7">
            <a:extLst>
              <a:ext uri="{FF2B5EF4-FFF2-40B4-BE49-F238E27FC236}">
                <a16:creationId xmlns:a16="http://schemas.microsoft.com/office/drawing/2014/main" id="{71249665-4BF1-BC80-9E3E-27C6AC131E05}"/>
              </a:ext>
            </a:extLst>
          </p:cNvPr>
          <p:cNvSpPr>
            <a:spLocks noGrp="1"/>
          </p:cNvSpPr>
          <p:nvPr>
            <p:ph type="body" sz="quarter" idx="23" hasCustomPrompt="1"/>
          </p:nvPr>
        </p:nvSpPr>
        <p:spPr>
          <a:xfrm>
            <a:off x="4571323" y="4430010"/>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20" name="Text Placeholder 7">
            <a:extLst>
              <a:ext uri="{FF2B5EF4-FFF2-40B4-BE49-F238E27FC236}">
                <a16:creationId xmlns:a16="http://schemas.microsoft.com/office/drawing/2014/main" id="{5AF120EB-8D6E-49DB-0DA5-20F61C819518}"/>
              </a:ext>
            </a:extLst>
          </p:cNvPr>
          <p:cNvSpPr>
            <a:spLocks noGrp="1"/>
          </p:cNvSpPr>
          <p:nvPr>
            <p:ph type="body" sz="quarter" idx="24" hasCustomPrompt="1"/>
          </p:nvPr>
        </p:nvSpPr>
        <p:spPr>
          <a:xfrm>
            <a:off x="4571323" y="5089229"/>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pic>
        <p:nvPicPr>
          <p:cNvPr id="21" name="Graphic 20">
            <a:extLst>
              <a:ext uri="{FF2B5EF4-FFF2-40B4-BE49-F238E27FC236}">
                <a16:creationId xmlns:a16="http://schemas.microsoft.com/office/drawing/2014/main" id="{B6EDFCBE-296B-864F-13E7-245D40ED0C39}"/>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1647542" y="1793136"/>
            <a:ext cx="789191" cy="789191"/>
          </a:xfrm>
          <a:prstGeom prst="rect">
            <a:avLst/>
          </a:prstGeom>
        </p:spPr>
      </p:pic>
      <p:pic>
        <p:nvPicPr>
          <p:cNvPr id="22" name="Graphic 21">
            <a:extLst>
              <a:ext uri="{FF2B5EF4-FFF2-40B4-BE49-F238E27FC236}">
                <a16:creationId xmlns:a16="http://schemas.microsoft.com/office/drawing/2014/main" id="{D5A0CFA2-F296-A8B7-CB70-C9D00D9E3C9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78777" y="6474193"/>
            <a:ext cx="820683" cy="198585"/>
          </a:xfrm>
          <a:prstGeom prst="rect">
            <a:avLst/>
          </a:prstGeom>
        </p:spPr>
      </p:pic>
      <p:sp>
        <p:nvSpPr>
          <p:cNvPr id="5" name="Text Placeholder 17">
            <a:extLst>
              <a:ext uri="{FF2B5EF4-FFF2-40B4-BE49-F238E27FC236}">
                <a16:creationId xmlns:a16="http://schemas.microsoft.com/office/drawing/2014/main" id="{7CD097DB-9618-CDB1-1F1F-B033BC4801EA}"/>
              </a:ext>
            </a:extLst>
          </p:cNvPr>
          <p:cNvSpPr>
            <a:spLocks noGrp="1"/>
          </p:cNvSpPr>
          <p:nvPr>
            <p:ph type="body" sz="quarter" idx="10" hasCustomPrompt="1"/>
          </p:nvPr>
        </p:nvSpPr>
        <p:spPr>
          <a:xfrm>
            <a:off x="352660" y="2735750"/>
            <a:ext cx="3358665" cy="944810"/>
          </a:xfrm>
        </p:spPr>
        <p:txBody>
          <a:bodyPr wrap="square">
            <a:spAutoFit/>
          </a:bodyPr>
          <a:lstStyle>
            <a:lvl1pPr marL="0" indent="0" algn="ctr">
              <a:lnSpc>
                <a:spcPct val="90000"/>
              </a:lnSpc>
              <a:spcBef>
                <a:spcPts val="0"/>
              </a:spcBef>
              <a:buNone/>
              <a:defRPr sz="3400" b="1">
                <a:solidFill>
                  <a:schemeClr val="bg1"/>
                </a:solidFill>
              </a:defRPr>
            </a:lvl1pPr>
          </a:lstStyle>
          <a:p>
            <a:pPr lvl="0"/>
            <a:r>
              <a:rPr lang="en-US" dirty="0"/>
              <a:t>Agenda or Table of Contents</a:t>
            </a:r>
          </a:p>
        </p:txBody>
      </p:sp>
    </p:spTree>
    <p:extLst>
      <p:ext uri="{BB962C8B-B14F-4D97-AF65-F5344CB8AC3E}">
        <p14:creationId xmlns:p14="http://schemas.microsoft.com/office/powerpoint/2010/main" val="244922675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Breaker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10" name="TextBox 9">
            <a:extLst>
              <a:ext uri="{FF2B5EF4-FFF2-40B4-BE49-F238E27FC236}">
                <a16:creationId xmlns:a16="http://schemas.microsoft.com/office/drawing/2014/main" id="{490D0730-EC65-31BF-A4FA-992A99E0E4CF}"/>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379078432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Breaker Dark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BE3200C5-B5A9-AC44-9200-784DFC63364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A2BD6F6F-F10E-C53F-032B-188519D8D1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2" name="TextBox 1">
            <a:extLst>
              <a:ext uri="{FF2B5EF4-FFF2-40B4-BE49-F238E27FC236}">
                <a16:creationId xmlns:a16="http://schemas.microsoft.com/office/drawing/2014/main" id="{8460C111-1CB1-186F-BF66-55001B5779EA}"/>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89218800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Breaker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tx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642BD9AE-C83A-9EF9-F573-61A0E81EA594}"/>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336320895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PUR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563089" y="3740277"/>
            <a:ext cx="5232717"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Graphic 1">
            <a:extLst>
              <a:ext uri="{FF2B5EF4-FFF2-40B4-BE49-F238E27FC236}">
                <a16:creationId xmlns:a16="http://schemas.microsoft.com/office/drawing/2014/main" id="{017A8F2F-9330-25BE-0D2E-902E66CDE27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403863745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Gray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2" name="Graphic 11">
            <a:extLst>
              <a:ext uri="{FF2B5EF4-FFF2-40B4-BE49-F238E27FC236}">
                <a16:creationId xmlns:a16="http://schemas.microsoft.com/office/drawing/2014/main" id="{989C4F93-BF72-9EDD-88A7-D0623456593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81042151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Green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2" name="Graphic 11">
            <a:extLst>
              <a:ext uri="{FF2B5EF4-FFF2-40B4-BE49-F238E27FC236}">
                <a16:creationId xmlns:a16="http://schemas.microsoft.com/office/drawing/2014/main" id="{AB1728AA-35B4-4BD9-8922-5A10B50EFB7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22744298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PUR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Graphic 1">
            <a:extLst>
              <a:ext uri="{FF2B5EF4-FFF2-40B4-BE49-F238E27FC236}">
                <a16:creationId xmlns:a16="http://schemas.microsoft.com/office/drawing/2014/main" id="{01D50BC8-C95D-425B-652A-2D581ADCD81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66162812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Gray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9" name="Graphic 8">
            <a:extLst>
              <a:ext uri="{FF2B5EF4-FFF2-40B4-BE49-F238E27FC236}">
                <a16:creationId xmlns:a16="http://schemas.microsoft.com/office/drawing/2014/main" id="{E5FB72CE-435D-5F45-16B1-4A77B79AF3C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98474763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Green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9" name="Graphic 8">
            <a:extLst>
              <a:ext uri="{FF2B5EF4-FFF2-40B4-BE49-F238E27FC236}">
                <a16:creationId xmlns:a16="http://schemas.microsoft.com/office/drawing/2014/main" id="{65A4C054-B1C8-E492-ADA1-D665C51553F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14082251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Image-Right">
    <p:spTree>
      <p:nvGrpSpPr>
        <p:cNvPr id="1" name=""/>
        <p:cNvGrpSpPr/>
        <p:nvPr/>
      </p:nvGrpSpPr>
      <p:grpSpPr>
        <a:xfrm>
          <a:off x="0" y="0"/>
          <a:ext cx="0" cy="0"/>
          <a:chOff x="0" y="0"/>
          <a:chExt cx="0" cy="0"/>
        </a:xfrm>
      </p:grpSpPr>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38630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38630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386035" y="4139291"/>
            <a:ext cx="5008456"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6096000" y="0"/>
            <a:ext cx="6096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13264325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Image-Lef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6096000" cy="6858000"/>
          </a:xfrm>
        </p:spPr>
        <p:txBody>
          <a:bodyPr anchor="ctr" anchorCtr="0">
            <a:noAutofit/>
          </a:bodyPr>
          <a:lstStyle>
            <a:lvl1pPr marL="0" indent="0" algn="ctr">
              <a:buNone/>
              <a:defRPr/>
            </a:lvl1pPr>
          </a:lstStyle>
          <a:p>
            <a:r>
              <a:rPr lang="en-US" dirty="0"/>
              <a:t>[Click to insert image]</a:t>
            </a:r>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666491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66518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66518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664915" y="4139291"/>
            <a:ext cx="5008456"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73687188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Full Page Imag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12192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13429680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EFrame Image Purple">
    <p:spTree>
      <p:nvGrpSpPr>
        <p:cNvPr id="1" name=""/>
        <p:cNvGrpSpPr/>
        <p:nvPr/>
      </p:nvGrpSpPr>
      <p:grpSpPr>
        <a:xfrm>
          <a:off x="0" y="0"/>
          <a:ext cx="0" cy="0"/>
          <a:chOff x="0" y="0"/>
          <a:chExt cx="0" cy="0"/>
        </a:xfrm>
      </p:grpSpPr>
      <p:sp>
        <p:nvSpPr>
          <p:cNvPr id="51" name="Rectangle 50">
            <a:extLst>
              <a:ext uri="{FF2B5EF4-FFF2-40B4-BE49-F238E27FC236}">
                <a16:creationId xmlns:a16="http://schemas.microsoft.com/office/drawing/2014/main" id="{5AACD76F-5A98-DE42-2012-2E4698A70B32}"/>
              </a:ext>
            </a:extLst>
          </p:cNvPr>
          <p:cNvSpPr/>
          <p:nvPr/>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Picture Placeholder 43">
            <a:extLst>
              <a:ext uri="{FF2B5EF4-FFF2-40B4-BE49-F238E27FC236}">
                <a16:creationId xmlns:a16="http://schemas.microsoft.com/office/drawing/2014/main" id="{C5980322-EF45-73EA-F45B-05C3C55E7CE2}"/>
              </a:ext>
            </a:extLst>
          </p:cNvPr>
          <p:cNvSpPr>
            <a:spLocks noGrp="1"/>
          </p:cNvSpPr>
          <p:nvPr>
            <p:ph type="pic" sz="quarter" idx="13" hasCustomPrompt="1"/>
          </p:nvPr>
        </p:nvSpPr>
        <p:spPr>
          <a:xfrm>
            <a:off x="5337810" y="573881"/>
            <a:ext cx="6854190" cy="5710237"/>
          </a:xfrm>
          <a:custGeom>
            <a:avLst/>
            <a:gdLst>
              <a:gd name="connsiteX0" fmla="*/ 0 w 6854190"/>
              <a:gd name="connsiteY0" fmla="*/ 0 h 5710237"/>
              <a:gd name="connsiteX1" fmla="*/ 3816350 w 6854190"/>
              <a:gd name="connsiteY1" fmla="*/ 0 h 5710237"/>
              <a:gd name="connsiteX2" fmla="*/ 3816350 w 6854190"/>
              <a:gd name="connsiteY2" fmla="*/ 1 h 5710237"/>
              <a:gd name="connsiteX3" fmla="*/ 6854190 w 6854190"/>
              <a:gd name="connsiteY3" fmla="*/ 1 h 5710237"/>
              <a:gd name="connsiteX4" fmla="*/ 6854190 w 6854190"/>
              <a:gd name="connsiteY4" fmla="*/ 1513523 h 5710237"/>
              <a:gd name="connsiteX5" fmla="*/ 3816350 w 6854190"/>
              <a:gd name="connsiteY5" fmla="*/ 1513523 h 5710237"/>
              <a:gd name="connsiteX6" fmla="*/ 3816350 w 6854190"/>
              <a:gd name="connsiteY6" fmla="*/ 2093595 h 5710237"/>
              <a:gd name="connsiteX7" fmla="*/ 6284595 w 6854190"/>
              <a:gd name="connsiteY7" fmla="*/ 2093595 h 5710237"/>
              <a:gd name="connsiteX8" fmla="*/ 6284595 w 6854190"/>
              <a:gd name="connsiteY8" fmla="*/ 3607117 h 5710237"/>
              <a:gd name="connsiteX9" fmla="*/ 3816350 w 6854190"/>
              <a:gd name="connsiteY9" fmla="*/ 3607117 h 5710237"/>
              <a:gd name="connsiteX10" fmla="*/ 3816350 w 6854190"/>
              <a:gd name="connsiteY10" fmla="*/ 4196715 h 5710237"/>
              <a:gd name="connsiteX11" fmla="*/ 6854190 w 6854190"/>
              <a:gd name="connsiteY11" fmla="*/ 4196715 h 5710237"/>
              <a:gd name="connsiteX12" fmla="*/ 6854190 w 6854190"/>
              <a:gd name="connsiteY12" fmla="*/ 5710237 h 5710237"/>
              <a:gd name="connsiteX13" fmla="*/ 3816350 w 6854190"/>
              <a:gd name="connsiteY13" fmla="*/ 5710237 h 5710237"/>
              <a:gd name="connsiteX14" fmla="*/ 3037840 w 6854190"/>
              <a:gd name="connsiteY14" fmla="*/ 5710237 h 5710237"/>
              <a:gd name="connsiteX15" fmla="*/ 0 w 6854190"/>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854190" h="5710237">
                <a:moveTo>
                  <a:pt x="0" y="0"/>
                </a:moveTo>
                <a:lnTo>
                  <a:pt x="3816350" y="0"/>
                </a:lnTo>
                <a:lnTo>
                  <a:pt x="3816350" y="1"/>
                </a:lnTo>
                <a:lnTo>
                  <a:pt x="6854190" y="1"/>
                </a:lnTo>
                <a:lnTo>
                  <a:pt x="6854190" y="1513523"/>
                </a:lnTo>
                <a:lnTo>
                  <a:pt x="3816350" y="1513523"/>
                </a:lnTo>
                <a:lnTo>
                  <a:pt x="3816350" y="2093595"/>
                </a:lnTo>
                <a:lnTo>
                  <a:pt x="6284595" y="2093595"/>
                </a:lnTo>
                <a:lnTo>
                  <a:pt x="6284595" y="3607117"/>
                </a:lnTo>
                <a:lnTo>
                  <a:pt x="3816350" y="3607117"/>
                </a:lnTo>
                <a:lnTo>
                  <a:pt x="3816350" y="4196715"/>
                </a:lnTo>
                <a:lnTo>
                  <a:pt x="6854190" y="4196715"/>
                </a:lnTo>
                <a:lnTo>
                  <a:pt x="6854190" y="5710237"/>
                </a:lnTo>
                <a:lnTo>
                  <a:pt x="3816350" y="5710237"/>
                </a:lnTo>
                <a:lnTo>
                  <a:pt x="3037840"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7" name="Text Placeholder 17">
            <a:extLst>
              <a:ext uri="{FF2B5EF4-FFF2-40B4-BE49-F238E27FC236}">
                <a16:creationId xmlns:a16="http://schemas.microsoft.com/office/drawing/2014/main" id="{72A36242-E96D-BCC5-8B9A-F727F91C17DD}"/>
              </a:ext>
            </a:extLst>
          </p:cNvPr>
          <p:cNvSpPr>
            <a:spLocks noGrp="1"/>
          </p:cNvSpPr>
          <p:nvPr>
            <p:ph type="body" sz="quarter" idx="10" hasCustomPrompt="1"/>
          </p:nvPr>
        </p:nvSpPr>
        <p:spPr>
          <a:xfrm>
            <a:off x="386035" y="1112251"/>
            <a:ext cx="4317994" cy="944810"/>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endParaRPr lang="en-US" dirty="0"/>
          </a:p>
        </p:txBody>
      </p:sp>
      <p:sp>
        <p:nvSpPr>
          <p:cNvPr id="48" name="Text Placeholder 17">
            <a:extLst>
              <a:ext uri="{FF2B5EF4-FFF2-40B4-BE49-F238E27FC236}">
                <a16:creationId xmlns:a16="http://schemas.microsoft.com/office/drawing/2014/main" id="{E033C30C-F4BF-DEFA-8C82-E924E66CF321}"/>
              </a:ext>
            </a:extLst>
          </p:cNvPr>
          <p:cNvSpPr>
            <a:spLocks noGrp="1"/>
          </p:cNvSpPr>
          <p:nvPr>
            <p:ph type="body" sz="quarter" idx="12" hasCustomPrompt="1"/>
          </p:nvPr>
        </p:nvSpPr>
        <p:spPr>
          <a:xfrm>
            <a:off x="386305" y="2467715"/>
            <a:ext cx="4317775" cy="555793"/>
          </a:xfrm>
        </p:spPr>
        <p:txBody>
          <a:bodyPr wrap="square">
            <a:spAutoFit/>
          </a:bodyPr>
          <a:lstStyle>
            <a:lvl1pPr marL="0" indent="0">
              <a:lnSpc>
                <a:spcPct val="90000"/>
              </a:lnSpc>
              <a:spcBef>
                <a:spcPts val="0"/>
              </a:spcBef>
              <a:buNone/>
              <a:defRPr sz="2000" b="1">
                <a:solidFill>
                  <a:schemeClr val="bg1"/>
                </a:solidFill>
              </a:defRPr>
            </a:lvl1pPr>
          </a:lstStyle>
          <a:p>
            <a:pPr lvl="0"/>
            <a:r>
              <a:rPr lang="en-US" dirty="0"/>
              <a:t>Subhead culpa qui official arum </a:t>
            </a:r>
            <a:r>
              <a:rPr lang="en-US" dirty="0" err="1"/>
              <a:t>quidem</a:t>
            </a:r>
            <a:r>
              <a:rPr lang="en-US" dirty="0"/>
              <a:t> rerum facilis</a:t>
            </a:r>
          </a:p>
        </p:txBody>
      </p:sp>
      <p:sp>
        <p:nvSpPr>
          <p:cNvPr id="49" name="Text Placeholder 8">
            <a:extLst>
              <a:ext uri="{FF2B5EF4-FFF2-40B4-BE49-F238E27FC236}">
                <a16:creationId xmlns:a16="http://schemas.microsoft.com/office/drawing/2014/main" id="{A0F481E4-FC0E-C80A-C2EC-B76F27D262A7}"/>
              </a:ext>
            </a:extLst>
          </p:cNvPr>
          <p:cNvSpPr>
            <a:spLocks noGrp="1"/>
          </p:cNvSpPr>
          <p:nvPr>
            <p:ph type="body" sz="quarter" idx="14" hasCustomPrompt="1"/>
          </p:nvPr>
        </p:nvSpPr>
        <p:spPr>
          <a:xfrm>
            <a:off x="386305" y="3130525"/>
            <a:ext cx="4317775" cy="901850"/>
          </a:xfrm>
        </p:spPr>
        <p:txBody>
          <a:bodyPr wrap="square">
            <a:spAutoFit/>
          </a:bodyPr>
          <a:lstStyle>
            <a:lvl1pPr marL="0" indent="0">
              <a:buNone/>
              <a:defRPr sz="1800">
                <a:solidFill>
                  <a:schemeClr val="bg1"/>
                </a:solidFill>
              </a:defRPr>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a:t>
            </a:r>
          </a:p>
        </p:txBody>
      </p:sp>
      <p:sp>
        <p:nvSpPr>
          <p:cNvPr id="50" name="Text Placeholder 12">
            <a:extLst>
              <a:ext uri="{FF2B5EF4-FFF2-40B4-BE49-F238E27FC236}">
                <a16:creationId xmlns:a16="http://schemas.microsoft.com/office/drawing/2014/main" id="{F28319CA-55ED-F435-6422-E7CAE3A4E5C8}"/>
              </a:ext>
            </a:extLst>
          </p:cNvPr>
          <p:cNvSpPr>
            <a:spLocks noGrp="1"/>
          </p:cNvSpPr>
          <p:nvPr>
            <p:ph type="body" sz="quarter" idx="15"/>
          </p:nvPr>
        </p:nvSpPr>
        <p:spPr>
          <a:xfrm>
            <a:off x="386035" y="4155118"/>
            <a:ext cx="4317603" cy="1684948"/>
          </a:xfrm>
        </p:spPr>
        <p:txBody>
          <a:bodyPr wrap="square">
            <a:sp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Graphic 1">
            <a:extLst>
              <a:ext uri="{FF2B5EF4-FFF2-40B4-BE49-F238E27FC236}">
                <a16:creationId xmlns:a16="http://schemas.microsoft.com/office/drawing/2014/main" id="{E2FA6E33-C1DD-C1DE-7C6F-82957792F31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8D073452-E314-EB2D-1FC4-135DC2D7775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4" name="TextBox 3">
            <a:extLst>
              <a:ext uri="{FF2B5EF4-FFF2-40B4-BE49-F238E27FC236}">
                <a16:creationId xmlns:a16="http://schemas.microsoft.com/office/drawing/2014/main" id="{A28DAA59-27D2-784E-D2A1-F51D07814DEC}"/>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197831214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Quote Purpl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bg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bg1"/>
                </a:solidFill>
              </a:defRPr>
            </a:lvl1pPr>
          </a:lstStyle>
          <a:p>
            <a:pPr lvl="0"/>
            <a:r>
              <a:rPr lang="en-US" dirty="0"/>
              <a:t>First &amp; Last Name</a:t>
            </a:r>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2" name="Text Placeholder 17">
            <a:extLst>
              <a:ext uri="{FF2B5EF4-FFF2-40B4-BE49-F238E27FC236}">
                <a16:creationId xmlns:a16="http://schemas.microsoft.com/office/drawing/2014/main" id="{D05DB1F1-ACC3-B191-E3E7-7348B83D3D7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bg1"/>
                </a:solidFill>
              </a:defRPr>
            </a:lvl1pPr>
          </a:lstStyle>
          <a:p>
            <a:pPr lvl="0"/>
            <a:r>
              <a:rPr lang="en-US" dirty="0"/>
              <a:t>Title and Company or Institution</a:t>
            </a:r>
          </a:p>
        </p:txBody>
      </p:sp>
      <p:pic>
        <p:nvPicPr>
          <p:cNvPr id="4" name="Graphic 3">
            <a:extLst>
              <a:ext uri="{FF2B5EF4-FFF2-40B4-BE49-F238E27FC236}">
                <a16:creationId xmlns:a16="http://schemas.microsoft.com/office/drawing/2014/main" id="{3F44E2C7-6484-3A24-48A0-1EC4CE2E334F}"/>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5618540" y="1374718"/>
            <a:ext cx="954921" cy="954921"/>
          </a:xfrm>
          <a:prstGeom prst="rect">
            <a:avLst/>
          </a:prstGeom>
        </p:spPr>
      </p:pic>
      <p:sp>
        <p:nvSpPr>
          <p:cNvPr id="8" name="TextBox 7">
            <a:extLst>
              <a:ext uri="{FF2B5EF4-FFF2-40B4-BE49-F238E27FC236}">
                <a16:creationId xmlns:a16="http://schemas.microsoft.com/office/drawing/2014/main" id="{56538370-0C99-95AF-B7F2-D3F6183791A0}"/>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182638104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Quote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 Placeholder 17">
            <a:extLst>
              <a:ext uri="{FF2B5EF4-FFF2-40B4-BE49-F238E27FC236}">
                <a16:creationId xmlns:a16="http://schemas.microsoft.com/office/drawing/2014/main" id="{97C25E61-6B43-DBD5-C2CE-87847F39AAE2}"/>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tx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4" name="Text Placeholder 17">
            <a:extLst>
              <a:ext uri="{FF2B5EF4-FFF2-40B4-BE49-F238E27FC236}">
                <a16:creationId xmlns:a16="http://schemas.microsoft.com/office/drawing/2014/main" id="{FCEE0479-D5F9-CE3F-36E7-238BA0F4577F}"/>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tx1"/>
                </a:solidFill>
              </a:defRPr>
            </a:lvl1pPr>
          </a:lstStyle>
          <a:p>
            <a:pPr lvl="0"/>
            <a:r>
              <a:rPr lang="en-US" dirty="0"/>
              <a:t>First &amp; Last Name</a:t>
            </a:r>
          </a:p>
        </p:txBody>
      </p:sp>
      <p:sp>
        <p:nvSpPr>
          <p:cNvPr id="8" name="Text Placeholder 17">
            <a:extLst>
              <a:ext uri="{FF2B5EF4-FFF2-40B4-BE49-F238E27FC236}">
                <a16:creationId xmlns:a16="http://schemas.microsoft.com/office/drawing/2014/main" id="{A76AF4FC-9A53-DBD9-C4E3-8F3D9D7DB7D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tx1"/>
                </a:solidFill>
              </a:defRPr>
            </a:lvl1pPr>
          </a:lstStyle>
          <a:p>
            <a:pPr lvl="0"/>
            <a:r>
              <a:rPr lang="en-US" dirty="0"/>
              <a:t>Title and Company or Institution</a:t>
            </a:r>
          </a:p>
        </p:txBody>
      </p:sp>
      <p:pic>
        <p:nvPicPr>
          <p:cNvPr id="11" name="Graphic 10">
            <a:extLst>
              <a:ext uri="{FF2B5EF4-FFF2-40B4-BE49-F238E27FC236}">
                <a16:creationId xmlns:a16="http://schemas.microsoft.com/office/drawing/2014/main" id="{FF551E89-4ED8-FCF0-7E9B-2446F24111FB}"/>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5618540" y="1374718"/>
            <a:ext cx="954921" cy="954921"/>
          </a:xfrm>
          <a:prstGeom prst="rect">
            <a:avLst/>
          </a:prstGeom>
        </p:spPr>
      </p:pic>
      <p:sp>
        <p:nvSpPr>
          <p:cNvPr id="6" name="TextBox 5">
            <a:extLst>
              <a:ext uri="{FF2B5EF4-FFF2-40B4-BE49-F238E27FC236}">
                <a16:creationId xmlns:a16="http://schemas.microsoft.com/office/drawing/2014/main" id="{759FA4B8-B22A-02CB-D4E5-CDAF1F338C84}"/>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34648269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Purple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73109"/>
            <a:ext cx="12192000" cy="8815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CC5AC45-371A-D1F2-3506-59FB4F407F5D}"/>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solidFill>
                  <a:schemeClr val="bg1"/>
                </a:solidFill>
              </a:defRPr>
            </a:lvl1pPr>
          </a:lstStyle>
          <a:p>
            <a:pPr lvl="0"/>
            <a:r>
              <a:rPr lang="en-US" dirty="0"/>
              <a:t>Fourth level statement</a:t>
            </a:r>
          </a:p>
        </p:txBody>
      </p:sp>
      <p:pic>
        <p:nvPicPr>
          <p:cNvPr id="2" name="Graphic 1">
            <a:extLst>
              <a:ext uri="{FF2B5EF4-FFF2-40B4-BE49-F238E27FC236}">
                <a16:creationId xmlns:a16="http://schemas.microsoft.com/office/drawing/2014/main" id="{320A3CFF-FF3A-806C-4272-4BD562E4527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83CB4FD4-52E5-7743-832E-878711B6912D}"/>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6" name="TextBox 5">
            <a:extLst>
              <a:ext uri="{FF2B5EF4-FFF2-40B4-BE49-F238E27FC236}">
                <a16:creationId xmlns:a16="http://schemas.microsoft.com/office/drawing/2014/main" id="{8955BA75-BCED-43A8-374C-ED5B5EB749B9}"/>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270607986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Green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62599"/>
            <a:ext cx="12192000" cy="88157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lvl1pPr>
          </a:lstStyle>
          <a:p>
            <a:pPr lvl="0"/>
            <a:r>
              <a:rPr lang="en-US" dirty="0"/>
              <a:t>Fourth level statement</a:t>
            </a:r>
          </a:p>
        </p:txBody>
      </p:sp>
      <p:sp>
        <p:nvSpPr>
          <p:cNvPr id="2" name="Rectangle 1">
            <a:extLst>
              <a:ext uri="{FF2B5EF4-FFF2-40B4-BE49-F238E27FC236}">
                <a16:creationId xmlns:a16="http://schemas.microsoft.com/office/drawing/2014/main" id="{ABC92165-EA63-BA70-B09C-3AE3A0E3B988}"/>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B8487BB2-49A0-1AD0-6AEA-A6BA00965FB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D645B4-C9BC-C447-40CC-BED53F5C40F2}"/>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4" name="TextBox 3">
            <a:extLst>
              <a:ext uri="{FF2B5EF4-FFF2-40B4-BE49-F238E27FC236}">
                <a16:creationId xmlns:a16="http://schemas.microsoft.com/office/drawing/2014/main" id="{06D9A09A-FC77-0C42-3399-4228AB66473E}"/>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137867422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035BE7A-2092-E334-9925-A2CD0ED61EC1}"/>
              </a:ext>
            </a:extLst>
          </p:cNvPr>
          <p:cNvSpPr txBox="1"/>
          <p:nvPr/>
        </p:nvSpPr>
        <p:spPr>
          <a:xfrm>
            <a:off x="836428" y="2435962"/>
            <a:ext cx="10441173" cy="1769715"/>
          </a:xfrm>
          <a:prstGeom prst="rect">
            <a:avLst/>
          </a:prstGeom>
          <a:noFill/>
        </p:spPr>
        <p:txBody>
          <a:bodyPr wrap="square" lIns="0" tIns="0" rIns="0" bIns="0" rtlCol="0">
            <a:spAutoFit/>
          </a:bodyPr>
          <a:lstStyle/>
          <a:p>
            <a:pPr algn="ctr"/>
            <a:r>
              <a:rPr lang="en-US" sz="11500" b="1" dirty="0">
                <a:solidFill>
                  <a:schemeClr val="bg1"/>
                </a:solidFill>
              </a:rPr>
              <a:t>Thank You</a:t>
            </a:r>
          </a:p>
        </p:txBody>
      </p:sp>
      <p:sp>
        <p:nvSpPr>
          <p:cNvPr id="9" name="Text Placeholder 17">
            <a:extLst>
              <a:ext uri="{FF2B5EF4-FFF2-40B4-BE49-F238E27FC236}">
                <a16:creationId xmlns:a16="http://schemas.microsoft.com/office/drawing/2014/main" id="{C141F636-6F6B-39E0-D74A-E2DC465DEF1A}"/>
              </a:ext>
            </a:extLst>
          </p:cNvPr>
          <p:cNvSpPr>
            <a:spLocks noGrp="1"/>
          </p:cNvSpPr>
          <p:nvPr>
            <p:ph type="body" sz="quarter" idx="11" hasCustomPrompt="1"/>
          </p:nvPr>
        </p:nvSpPr>
        <p:spPr>
          <a:xfrm>
            <a:off x="2556897" y="4302308"/>
            <a:ext cx="7078206" cy="389915"/>
          </a:xfrm>
        </p:spPr>
        <p:txBody>
          <a:bodyPr>
            <a:spAutoFit/>
          </a:bodyPr>
          <a:lstStyle>
            <a:lvl1pPr marL="0" indent="0" algn="ctr">
              <a:spcBef>
                <a:spcPts val="0"/>
              </a:spcBef>
              <a:buNone/>
              <a:defRPr sz="2400" b="1">
                <a:solidFill>
                  <a:schemeClr val="bg1"/>
                </a:solidFill>
              </a:defRPr>
            </a:lvl1pPr>
          </a:lstStyle>
          <a:p>
            <a:pPr lvl="0"/>
            <a:r>
              <a:rPr lang="en-US" dirty="0"/>
              <a:t>Presenter Name</a:t>
            </a:r>
          </a:p>
        </p:txBody>
      </p:sp>
      <p:sp>
        <p:nvSpPr>
          <p:cNvPr id="11" name="Text Placeholder 17">
            <a:extLst>
              <a:ext uri="{FF2B5EF4-FFF2-40B4-BE49-F238E27FC236}">
                <a16:creationId xmlns:a16="http://schemas.microsoft.com/office/drawing/2014/main" id="{15F716EA-D293-96D7-C5A7-61FE08272CBD}"/>
              </a:ext>
            </a:extLst>
          </p:cNvPr>
          <p:cNvSpPr>
            <a:spLocks noGrp="1"/>
          </p:cNvSpPr>
          <p:nvPr>
            <p:ph type="body" sz="quarter" idx="12" hasCustomPrompt="1"/>
          </p:nvPr>
        </p:nvSpPr>
        <p:spPr>
          <a:xfrm>
            <a:off x="2556897" y="4735941"/>
            <a:ext cx="7078206" cy="324961"/>
          </a:xfrm>
        </p:spPr>
        <p:txBody>
          <a:bodyPr>
            <a:spAutoFit/>
          </a:bodyPr>
          <a:lstStyle>
            <a:lvl1pPr marL="0" indent="0" algn="ctr">
              <a:spcBef>
                <a:spcPts val="0"/>
              </a:spcBef>
              <a:buNone/>
              <a:defRPr sz="2000" b="0">
                <a:solidFill>
                  <a:schemeClr val="bg1"/>
                </a:solidFill>
              </a:defRPr>
            </a:lvl1pPr>
          </a:lstStyle>
          <a:p>
            <a:pPr lvl="0"/>
            <a:r>
              <a:rPr lang="en-US" dirty="0" err="1"/>
              <a:t>PresenterEmail@Ellucian.com</a:t>
            </a:r>
            <a:endParaRPr lang="en-US" dirty="0"/>
          </a:p>
        </p:txBody>
      </p:sp>
      <p:pic>
        <p:nvPicPr>
          <p:cNvPr id="2" name="Graphic 1">
            <a:extLst>
              <a:ext uri="{FF2B5EF4-FFF2-40B4-BE49-F238E27FC236}">
                <a16:creationId xmlns:a16="http://schemas.microsoft.com/office/drawing/2014/main" id="{7C871F66-B895-DB0B-1D73-90E74A3951C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53435677-394B-4E5D-4CD3-2D77A2110358}"/>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390171762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Question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5" name="TextBox 4">
            <a:extLst>
              <a:ext uri="{FF2B5EF4-FFF2-40B4-BE49-F238E27FC236}">
                <a16:creationId xmlns:a16="http://schemas.microsoft.com/office/drawing/2014/main" id="{58229B27-8CB8-A4DF-B214-C621F3644437}"/>
              </a:ext>
            </a:extLst>
          </p:cNvPr>
          <p:cNvSpPr txBox="1"/>
          <p:nvPr/>
        </p:nvSpPr>
        <p:spPr>
          <a:xfrm>
            <a:off x="836428" y="2544142"/>
            <a:ext cx="10441173" cy="1769715"/>
          </a:xfrm>
          <a:prstGeom prst="rect">
            <a:avLst/>
          </a:prstGeom>
          <a:noFill/>
        </p:spPr>
        <p:txBody>
          <a:bodyPr wrap="square" lIns="0" tIns="0" rIns="0" bIns="0" rtlCol="0">
            <a:spAutoFit/>
          </a:bodyPr>
          <a:lstStyle/>
          <a:p>
            <a:pPr algn="ctr"/>
            <a:r>
              <a:rPr lang="en-US" sz="11500" b="1" dirty="0">
                <a:solidFill>
                  <a:schemeClr val="accent1"/>
                </a:solidFill>
              </a:rPr>
              <a:t>Questions?</a:t>
            </a:r>
          </a:p>
        </p:txBody>
      </p:sp>
      <p:pic>
        <p:nvPicPr>
          <p:cNvPr id="2" name="Graphic 1">
            <a:extLst>
              <a:ext uri="{FF2B5EF4-FFF2-40B4-BE49-F238E27FC236}">
                <a16:creationId xmlns:a16="http://schemas.microsoft.com/office/drawing/2014/main" id="{C0225686-2493-61CB-BED8-8CD6B90C882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6" name="TextBox 5">
            <a:extLst>
              <a:ext uri="{FF2B5EF4-FFF2-40B4-BE49-F238E27FC236}">
                <a16:creationId xmlns:a16="http://schemas.microsoft.com/office/drawing/2014/main" id="{3757E6F9-39D1-A7B6-72FA-6CB25BEA039E}"/>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44259937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pic>
        <p:nvPicPr>
          <p:cNvPr id="2" name="Graphic 1">
            <a:extLst>
              <a:ext uri="{FF2B5EF4-FFF2-40B4-BE49-F238E27FC236}">
                <a16:creationId xmlns:a16="http://schemas.microsoft.com/office/drawing/2014/main" id="{5A8556FD-943F-2CA8-3B15-1C7401E71D1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5" name="TextBox 4">
            <a:extLst>
              <a:ext uri="{FF2B5EF4-FFF2-40B4-BE49-F238E27FC236}">
                <a16:creationId xmlns:a16="http://schemas.microsoft.com/office/drawing/2014/main" id="{C6B12A91-8583-2E4C-B1C8-7E1F64EF24C9}"/>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42399355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Purple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bg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2" name="TextBox 1">
            <a:extLst>
              <a:ext uri="{FF2B5EF4-FFF2-40B4-BE49-F238E27FC236}">
                <a16:creationId xmlns:a16="http://schemas.microsoft.com/office/drawing/2014/main" id="{8F1688B8-4AFA-00EF-A18F-CE0BE044452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96329791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Green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tx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tx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 name="TextBox 3">
            <a:extLst>
              <a:ext uri="{FF2B5EF4-FFF2-40B4-BE49-F238E27FC236}">
                <a16:creationId xmlns:a16="http://schemas.microsoft.com/office/drawing/2014/main" id="{D2E118B2-5580-3101-C2BB-4FB39252D744}"/>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415433142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Dark 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0A86818C-B6FC-21B3-0821-EE3D8DAE5AE3}"/>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2BC038CA-3E14-5783-3761-76D8A4C63EC0}"/>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0" name="Graphic 9">
            <a:extLst>
              <a:ext uri="{FF2B5EF4-FFF2-40B4-BE49-F238E27FC236}">
                <a16:creationId xmlns:a16="http://schemas.microsoft.com/office/drawing/2014/main" id="{A9D3FE11-F167-1622-761B-F4BFADB0B0E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EBAA974E-55D6-2A02-03A4-AAB7F36BF1B1}"/>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69C30255-143C-EB1C-95B6-9319F7AB9F7D}"/>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sp>
        <p:nvSpPr>
          <p:cNvPr id="7" name="TextBox 6">
            <a:extLst>
              <a:ext uri="{FF2B5EF4-FFF2-40B4-BE49-F238E27FC236}">
                <a16:creationId xmlns:a16="http://schemas.microsoft.com/office/drawing/2014/main" id="{67E32664-E882-9D71-52FE-71612364F8C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37415953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Warm Gray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A2941D41-B5B7-CCE1-1B2C-89AAD5DACBE0}"/>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tx1"/>
                </a:solidFill>
              </a:defRPr>
            </a:lvl1pPr>
          </a:lstStyle>
          <a:p>
            <a:pPr lvl="0"/>
            <a:r>
              <a:rPr lang="en-US" dirty="0"/>
              <a:t>Headline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6600B585-62A4-8333-3077-9DD14A781807}"/>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1" name="Graphic 10">
            <a:extLst>
              <a:ext uri="{FF2B5EF4-FFF2-40B4-BE49-F238E27FC236}">
                <a16:creationId xmlns:a16="http://schemas.microsoft.com/office/drawing/2014/main" id="{21C3DEEA-3CCE-EBD2-6CE3-835C44C810E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74440542-6D19-B6BD-7831-2A113C1E6A79}"/>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30B08173-A7BE-6F86-6CDE-43EC9BEEB3CB}"/>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8" name="TextBox 7">
            <a:extLst>
              <a:ext uri="{FF2B5EF4-FFF2-40B4-BE49-F238E27FC236}">
                <a16:creationId xmlns:a16="http://schemas.microsoft.com/office/drawing/2014/main" id="{AC9D9DE1-FE9F-14AE-4A3F-F4173038006F}"/>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7515681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2C Cov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7">
            <a:extLst>
              <a:ext uri="{FF2B5EF4-FFF2-40B4-BE49-F238E27FC236}">
                <a16:creationId xmlns:a16="http://schemas.microsoft.com/office/drawing/2014/main" id="{52C18FF9-32C7-751D-36F8-EF5124DF2BE2}"/>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23" name="Text Placeholder 17">
            <a:extLst>
              <a:ext uri="{FF2B5EF4-FFF2-40B4-BE49-F238E27FC236}">
                <a16:creationId xmlns:a16="http://schemas.microsoft.com/office/drawing/2014/main" id="{D8DE661F-53B2-6E8E-9238-FE6484215B1A}"/>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26" name="Graphic 25">
            <a:extLst>
              <a:ext uri="{FF2B5EF4-FFF2-40B4-BE49-F238E27FC236}">
                <a16:creationId xmlns:a16="http://schemas.microsoft.com/office/drawing/2014/main" id="{2590016B-4462-F023-25AF-B00C9285325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7C710057-3FB3-19E3-5D75-F018F116AE47}"/>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6" name="Text Placeholder 17">
            <a:extLst>
              <a:ext uri="{FF2B5EF4-FFF2-40B4-BE49-F238E27FC236}">
                <a16:creationId xmlns:a16="http://schemas.microsoft.com/office/drawing/2014/main" id="{C41EE674-4BC9-86D6-67E5-FF509240DDED}"/>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AE8FAC4F-619C-5E6B-F2B0-D001F5A51111}"/>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747410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2C Cover Image">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FBB43B24-12DD-1DD6-963C-7ADA857CCDC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A39E11EF-D17E-E6F4-B66D-C68ABBCCF813}"/>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64D279B7-3D21-DC76-5BCE-6A2D109B8EDB}"/>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3" name="Picture Placeholder 12">
            <a:extLst>
              <a:ext uri="{FF2B5EF4-FFF2-40B4-BE49-F238E27FC236}">
                <a16:creationId xmlns:a16="http://schemas.microsoft.com/office/drawing/2014/main" id="{04B738B6-E606-753D-F43C-ADBDF91B7E2D}"/>
              </a:ext>
            </a:extLst>
          </p:cNvPr>
          <p:cNvSpPr>
            <a:spLocks noGrp="1"/>
          </p:cNvSpPr>
          <p:nvPr>
            <p:ph type="pic" sz="quarter" idx="16" hasCustomPrompt="1"/>
          </p:nvPr>
        </p:nvSpPr>
        <p:spPr>
          <a:xfrm>
            <a:off x="6689725" y="355598"/>
            <a:ext cx="5502275" cy="6146801"/>
          </a:xfrm>
          <a:custGeom>
            <a:avLst/>
            <a:gdLst>
              <a:gd name="connsiteX0" fmla="*/ 0 w 5502275"/>
              <a:gd name="connsiteY0" fmla="*/ 0 h 6135556"/>
              <a:gd name="connsiteX1" fmla="*/ 5502275 w 5502275"/>
              <a:gd name="connsiteY1" fmla="*/ 0 h 6135556"/>
              <a:gd name="connsiteX2" fmla="*/ 5502275 w 5502275"/>
              <a:gd name="connsiteY2" fmla="*/ 218283 h 6135556"/>
              <a:gd name="connsiteX3" fmla="*/ 5502275 w 5502275"/>
              <a:gd name="connsiteY3" fmla="*/ 1268413 h 6135556"/>
              <a:gd name="connsiteX4" fmla="*/ 5502275 w 5502275"/>
              <a:gd name="connsiteY4" fmla="*/ 1731805 h 6135556"/>
              <a:gd name="connsiteX5" fmla="*/ 2676409 w 5502275"/>
              <a:gd name="connsiteY5" fmla="*/ 1731805 h 6135556"/>
              <a:gd name="connsiteX6" fmla="*/ 2676409 w 5502275"/>
              <a:gd name="connsiteY6" fmla="*/ 2311877 h 6135556"/>
              <a:gd name="connsiteX7" fmla="*/ 4972425 w 5502275"/>
              <a:gd name="connsiteY7" fmla="*/ 2311877 h 6135556"/>
              <a:gd name="connsiteX8" fmla="*/ 4972425 w 5502275"/>
              <a:gd name="connsiteY8" fmla="*/ 3825399 h 6135556"/>
              <a:gd name="connsiteX9" fmla="*/ 2676409 w 5502275"/>
              <a:gd name="connsiteY9" fmla="*/ 3825399 h 6135556"/>
              <a:gd name="connsiteX10" fmla="*/ 2676409 w 5502275"/>
              <a:gd name="connsiteY10" fmla="*/ 4414997 h 6135556"/>
              <a:gd name="connsiteX11" fmla="*/ 5502275 w 5502275"/>
              <a:gd name="connsiteY11" fmla="*/ 4414997 h 6135556"/>
              <a:gd name="connsiteX12" fmla="*/ 5502275 w 5502275"/>
              <a:gd name="connsiteY12" fmla="*/ 4867143 h 6135556"/>
              <a:gd name="connsiteX13" fmla="*/ 5502275 w 5502275"/>
              <a:gd name="connsiteY13" fmla="*/ 5928519 h 6135556"/>
              <a:gd name="connsiteX14" fmla="*/ 5502275 w 5502275"/>
              <a:gd name="connsiteY14" fmla="*/ 6135556 h 6135556"/>
              <a:gd name="connsiteX15" fmla="*/ 0 w 5502275"/>
              <a:gd name="connsiteY15" fmla="*/ 6135556 h 6135556"/>
              <a:gd name="connsiteX16" fmla="*/ 0 w 5502275"/>
              <a:gd name="connsiteY16" fmla="*/ 4867143 h 6135556"/>
              <a:gd name="connsiteX17" fmla="*/ 501 w 5502275"/>
              <a:gd name="connsiteY17" fmla="*/ 4867143 h 6135556"/>
              <a:gd name="connsiteX18" fmla="*/ 501 w 5502275"/>
              <a:gd name="connsiteY18" fmla="*/ 1268413 h 6135556"/>
              <a:gd name="connsiteX19" fmla="*/ 0 w 5502275"/>
              <a:gd name="connsiteY19" fmla="*/ 1268413 h 6135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502275" h="6135556">
                <a:moveTo>
                  <a:pt x="0" y="0"/>
                </a:moveTo>
                <a:lnTo>
                  <a:pt x="5502275" y="0"/>
                </a:lnTo>
                <a:lnTo>
                  <a:pt x="5502275" y="218283"/>
                </a:lnTo>
                <a:lnTo>
                  <a:pt x="5502275" y="1268413"/>
                </a:lnTo>
                <a:lnTo>
                  <a:pt x="5502275" y="1731805"/>
                </a:lnTo>
                <a:lnTo>
                  <a:pt x="2676409" y="1731805"/>
                </a:lnTo>
                <a:lnTo>
                  <a:pt x="2676409" y="2311877"/>
                </a:lnTo>
                <a:lnTo>
                  <a:pt x="4972425" y="2311877"/>
                </a:lnTo>
                <a:lnTo>
                  <a:pt x="4972425" y="3825399"/>
                </a:lnTo>
                <a:lnTo>
                  <a:pt x="2676409" y="3825399"/>
                </a:lnTo>
                <a:lnTo>
                  <a:pt x="2676409" y="4414997"/>
                </a:lnTo>
                <a:lnTo>
                  <a:pt x="5502275" y="4414997"/>
                </a:lnTo>
                <a:lnTo>
                  <a:pt x="5502275" y="4867143"/>
                </a:lnTo>
                <a:lnTo>
                  <a:pt x="5502275" y="5928519"/>
                </a:lnTo>
                <a:lnTo>
                  <a:pt x="5502275" y="6135556"/>
                </a:lnTo>
                <a:lnTo>
                  <a:pt x="0" y="6135556"/>
                </a:lnTo>
                <a:lnTo>
                  <a:pt x="0" y="4867143"/>
                </a:lnTo>
                <a:lnTo>
                  <a:pt x="501" y="4867143"/>
                </a:lnTo>
                <a:lnTo>
                  <a:pt x="501" y="1268413"/>
                </a:lnTo>
                <a:lnTo>
                  <a:pt x="0" y="1268413"/>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10" name="Text Placeholder 17">
            <a:extLst>
              <a:ext uri="{FF2B5EF4-FFF2-40B4-BE49-F238E27FC236}">
                <a16:creationId xmlns:a16="http://schemas.microsoft.com/office/drawing/2014/main" id="{1E88AEE2-3A55-B667-5D40-BB6299F48205}"/>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11" name="Text Placeholder 17">
            <a:extLst>
              <a:ext uri="{FF2B5EF4-FFF2-40B4-BE49-F238E27FC236}">
                <a16:creationId xmlns:a16="http://schemas.microsoft.com/office/drawing/2014/main" id="{D376FEF2-D482-FF48-0E21-E85BCDCAE008}"/>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E35B847D-2BA6-4533-FDD7-9CCF9A96A36C}"/>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4428421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86016839"/>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Headline">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5" y="361822"/>
            <a:ext cx="11122188"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Tree>
    <p:extLst>
      <p:ext uri="{BB962C8B-B14F-4D97-AF65-F5344CB8AC3E}">
        <p14:creationId xmlns:p14="http://schemas.microsoft.com/office/powerpoint/2010/main" val="88097034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Content-01">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8599914" cy="278794"/>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229208"/>
            <a:ext cx="8599914" cy="597151"/>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012872"/>
            <a:ext cx="8599572"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107942128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Content-02">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529440"/>
            <a:ext cx="4757015"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4" name="Text Placeholder 17">
            <a:extLst>
              <a:ext uri="{FF2B5EF4-FFF2-40B4-BE49-F238E27FC236}">
                <a16:creationId xmlns:a16="http://schemas.microsoft.com/office/drawing/2014/main" id="{D20FA87A-09E8-BDB2-1C69-54F54B22BE31}"/>
              </a:ext>
            </a:extLst>
          </p:cNvPr>
          <p:cNvSpPr>
            <a:spLocks noGrp="1"/>
          </p:cNvSpPr>
          <p:nvPr>
            <p:ph type="body" sz="quarter" idx="15" hasCustomPrompt="1"/>
          </p:nvPr>
        </p:nvSpPr>
        <p:spPr>
          <a:xfrm>
            <a:off x="630383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6" name="Text Placeholder 8">
            <a:extLst>
              <a:ext uri="{FF2B5EF4-FFF2-40B4-BE49-F238E27FC236}">
                <a16:creationId xmlns:a16="http://schemas.microsoft.com/office/drawing/2014/main" id="{349B6786-5FA4-2087-2C3C-22F8A8E171CC}"/>
              </a:ext>
            </a:extLst>
          </p:cNvPr>
          <p:cNvSpPr>
            <a:spLocks noGrp="1"/>
          </p:cNvSpPr>
          <p:nvPr>
            <p:ph type="body" sz="quarter" idx="16" hasCustomPrompt="1"/>
          </p:nvPr>
        </p:nvSpPr>
        <p:spPr>
          <a:xfrm>
            <a:off x="630383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7" name="Text Placeholder 12">
            <a:extLst>
              <a:ext uri="{FF2B5EF4-FFF2-40B4-BE49-F238E27FC236}">
                <a16:creationId xmlns:a16="http://schemas.microsoft.com/office/drawing/2014/main" id="{86BD890A-D326-FD3F-EDA2-9599F756B623}"/>
              </a:ext>
            </a:extLst>
          </p:cNvPr>
          <p:cNvSpPr>
            <a:spLocks noGrp="1"/>
          </p:cNvSpPr>
          <p:nvPr>
            <p:ph type="body" sz="quarter" idx="17"/>
          </p:nvPr>
        </p:nvSpPr>
        <p:spPr>
          <a:xfrm>
            <a:off x="6303555" y="3529440"/>
            <a:ext cx="4757015"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136052185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Content-03">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3216914"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16" name="Text Placeholder 17">
            <a:extLst>
              <a:ext uri="{FF2B5EF4-FFF2-40B4-BE49-F238E27FC236}">
                <a16:creationId xmlns:a16="http://schemas.microsoft.com/office/drawing/2014/main" id="{5A431E8C-C0AC-DBC9-2391-1C619D591E69}"/>
              </a:ext>
            </a:extLst>
          </p:cNvPr>
          <p:cNvSpPr>
            <a:spLocks noGrp="1"/>
          </p:cNvSpPr>
          <p:nvPr>
            <p:ph type="body" sz="quarter" idx="15" hasCustomPrompt="1"/>
          </p:nvPr>
        </p:nvSpPr>
        <p:spPr>
          <a:xfrm>
            <a:off x="439375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7" name="Text Placeholder 8">
            <a:extLst>
              <a:ext uri="{FF2B5EF4-FFF2-40B4-BE49-F238E27FC236}">
                <a16:creationId xmlns:a16="http://schemas.microsoft.com/office/drawing/2014/main" id="{7C89246B-18AE-5DA8-795F-679BD7C0617D}"/>
              </a:ext>
            </a:extLst>
          </p:cNvPr>
          <p:cNvSpPr>
            <a:spLocks noGrp="1"/>
          </p:cNvSpPr>
          <p:nvPr>
            <p:ph type="body" sz="quarter" idx="16" hasCustomPrompt="1"/>
          </p:nvPr>
        </p:nvSpPr>
        <p:spPr>
          <a:xfrm>
            <a:off x="439375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8" name="Text Placeholder 12">
            <a:extLst>
              <a:ext uri="{FF2B5EF4-FFF2-40B4-BE49-F238E27FC236}">
                <a16:creationId xmlns:a16="http://schemas.microsoft.com/office/drawing/2014/main" id="{4F617632-1F8F-2092-32FC-7367A36B4B50}"/>
              </a:ext>
            </a:extLst>
          </p:cNvPr>
          <p:cNvSpPr>
            <a:spLocks noGrp="1"/>
          </p:cNvSpPr>
          <p:nvPr>
            <p:ph type="body" sz="quarter" idx="17"/>
          </p:nvPr>
        </p:nvSpPr>
        <p:spPr>
          <a:xfrm>
            <a:off x="4393475" y="3740277"/>
            <a:ext cx="3216914"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19" name="Text Placeholder 17">
            <a:extLst>
              <a:ext uri="{FF2B5EF4-FFF2-40B4-BE49-F238E27FC236}">
                <a16:creationId xmlns:a16="http://schemas.microsoft.com/office/drawing/2014/main" id="{03C76AD3-B446-33B3-D6A6-D34A7B1A9CA9}"/>
              </a:ext>
            </a:extLst>
          </p:cNvPr>
          <p:cNvSpPr>
            <a:spLocks noGrp="1"/>
          </p:cNvSpPr>
          <p:nvPr>
            <p:ph type="body" sz="quarter" idx="18" hasCustomPrompt="1"/>
          </p:nvPr>
        </p:nvSpPr>
        <p:spPr>
          <a:xfrm>
            <a:off x="826471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20" name="Text Placeholder 8">
            <a:extLst>
              <a:ext uri="{FF2B5EF4-FFF2-40B4-BE49-F238E27FC236}">
                <a16:creationId xmlns:a16="http://schemas.microsoft.com/office/drawing/2014/main" id="{EA4DB68B-5ABD-7BD4-0D0C-E218D955694D}"/>
              </a:ext>
            </a:extLst>
          </p:cNvPr>
          <p:cNvSpPr>
            <a:spLocks noGrp="1"/>
          </p:cNvSpPr>
          <p:nvPr>
            <p:ph type="body" sz="quarter" idx="19" hasCustomPrompt="1"/>
          </p:nvPr>
        </p:nvSpPr>
        <p:spPr>
          <a:xfrm>
            <a:off x="826471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21" name="Text Placeholder 12">
            <a:extLst>
              <a:ext uri="{FF2B5EF4-FFF2-40B4-BE49-F238E27FC236}">
                <a16:creationId xmlns:a16="http://schemas.microsoft.com/office/drawing/2014/main" id="{9E284295-AA76-A820-A4B4-F649763A5346}"/>
              </a:ext>
            </a:extLst>
          </p:cNvPr>
          <p:cNvSpPr>
            <a:spLocks noGrp="1"/>
          </p:cNvSpPr>
          <p:nvPr>
            <p:ph type="body" sz="quarter" idx="20"/>
          </p:nvPr>
        </p:nvSpPr>
        <p:spPr>
          <a:xfrm>
            <a:off x="8264435" y="3740277"/>
            <a:ext cx="3216914"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217218235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Content-04">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86"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86"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4" name="Text Placeholder 17">
            <a:extLst>
              <a:ext uri="{FF2B5EF4-FFF2-40B4-BE49-F238E27FC236}">
                <a16:creationId xmlns:a16="http://schemas.microsoft.com/office/drawing/2014/main" id="{A7841F65-A264-9942-011F-C0257234F038}"/>
              </a:ext>
            </a:extLst>
          </p:cNvPr>
          <p:cNvSpPr>
            <a:spLocks noGrp="1"/>
          </p:cNvSpPr>
          <p:nvPr>
            <p:ph type="body" sz="quarter" idx="15" hasCustomPrompt="1"/>
          </p:nvPr>
        </p:nvSpPr>
        <p:spPr>
          <a:xfrm>
            <a:off x="3370044"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6" name="Text Placeholder 8">
            <a:extLst>
              <a:ext uri="{FF2B5EF4-FFF2-40B4-BE49-F238E27FC236}">
                <a16:creationId xmlns:a16="http://schemas.microsoft.com/office/drawing/2014/main" id="{C15516F4-558F-C634-22F7-1F2C190C2A1A}"/>
              </a:ext>
            </a:extLst>
          </p:cNvPr>
          <p:cNvSpPr>
            <a:spLocks noGrp="1"/>
          </p:cNvSpPr>
          <p:nvPr>
            <p:ph type="body" sz="quarter" idx="16" hasCustomPrompt="1"/>
          </p:nvPr>
        </p:nvSpPr>
        <p:spPr>
          <a:xfrm>
            <a:off x="3370044"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7" name="Text Placeholder 12">
            <a:extLst>
              <a:ext uri="{FF2B5EF4-FFF2-40B4-BE49-F238E27FC236}">
                <a16:creationId xmlns:a16="http://schemas.microsoft.com/office/drawing/2014/main" id="{D46D04B0-DA90-F948-8623-D10B3ED438A3}"/>
              </a:ext>
            </a:extLst>
          </p:cNvPr>
          <p:cNvSpPr>
            <a:spLocks noGrp="1"/>
          </p:cNvSpPr>
          <p:nvPr>
            <p:ph type="body" sz="quarter" idx="17"/>
          </p:nvPr>
        </p:nvSpPr>
        <p:spPr>
          <a:xfrm>
            <a:off x="3369773"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8" name="Text Placeholder 17">
            <a:extLst>
              <a:ext uri="{FF2B5EF4-FFF2-40B4-BE49-F238E27FC236}">
                <a16:creationId xmlns:a16="http://schemas.microsoft.com/office/drawing/2014/main" id="{C45E5508-18D4-B8A0-9554-18C8CC7BA633}"/>
              </a:ext>
            </a:extLst>
          </p:cNvPr>
          <p:cNvSpPr>
            <a:spLocks noGrp="1"/>
          </p:cNvSpPr>
          <p:nvPr>
            <p:ph type="body" sz="quarter" idx="18" hasCustomPrompt="1"/>
          </p:nvPr>
        </p:nvSpPr>
        <p:spPr>
          <a:xfrm>
            <a:off x="6217771"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0" name="Text Placeholder 8">
            <a:extLst>
              <a:ext uri="{FF2B5EF4-FFF2-40B4-BE49-F238E27FC236}">
                <a16:creationId xmlns:a16="http://schemas.microsoft.com/office/drawing/2014/main" id="{9B9FC0B2-A2E1-EE23-DD92-95D99FB7FCBC}"/>
              </a:ext>
            </a:extLst>
          </p:cNvPr>
          <p:cNvSpPr>
            <a:spLocks noGrp="1"/>
          </p:cNvSpPr>
          <p:nvPr>
            <p:ph type="body" sz="quarter" idx="19" hasCustomPrompt="1"/>
          </p:nvPr>
        </p:nvSpPr>
        <p:spPr>
          <a:xfrm>
            <a:off x="6217771"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1" name="Text Placeholder 12">
            <a:extLst>
              <a:ext uri="{FF2B5EF4-FFF2-40B4-BE49-F238E27FC236}">
                <a16:creationId xmlns:a16="http://schemas.microsoft.com/office/drawing/2014/main" id="{9AD3BD22-757B-EEDC-2BED-851D01FAD009}"/>
              </a:ext>
            </a:extLst>
          </p:cNvPr>
          <p:cNvSpPr>
            <a:spLocks noGrp="1"/>
          </p:cNvSpPr>
          <p:nvPr>
            <p:ph type="body" sz="quarter" idx="20"/>
          </p:nvPr>
        </p:nvSpPr>
        <p:spPr>
          <a:xfrm>
            <a:off x="6217500"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12" name="Text Placeholder 17">
            <a:extLst>
              <a:ext uri="{FF2B5EF4-FFF2-40B4-BE49-F238E27FC236}">
                <a16:creationId xmlns:a16="http://schemas.microsoft.com/office/drawing/2014/main" id="{5E75D8B7-36BA-C036-3008-ED7181EA29CE}"/>
              </a:ext>
            </a:extLst>
          </p:cNvPr>
          <p:cNvSpPr>
            <a:spLocks noGrp="1"/>
          </p:cNvSpPr>
          <p:nvPr>
            <p:ph type="body" sz="quarter" idx="21" hasCustomPrompt="1"/>
          </p:nvPr>
        </p:nvSpPr>
        <p:spPr>
          <a:xfrm>
            <a:off x="9065399"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4" name="Text Placeholder 8">
            <a:extLst>
              <a:ext uri="{FF2B5EF4-FFF2-40B4-BE49-F238E27FC236}">
                <a16:creationId xmlns:a16="http://schemas.microsoft.com/office/drawing/2014/main" id="{BD2C72CE-2AC1-03E8-EC6E-6628A5C8EE8B}"/>
              </a:ext>
            </a:extLst>
          </p:cNvPr>
          <p:cNvSpPr>
            <a:spLocks noGrp="1"/>
          </p:cNvSpPr>
          <p:nvPr>
            <p:ph type="body" sz="quarter" idx="22" hasCustomPrompt="1"/>
          </p:nvPr>
        </p:nvSpPr>
        <p:spPr>
          <a:xfrm>
            <a:off x="9065399"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5" name="Text Placeholder 12">
            <a:extLst>
              <a:ext uri="{FF2B5EF4-FFF2-40B4-BE49-F238E27FC236}">
                <a16:creationId xmlns:a16="http://schemas.microsoft.com/office/drawing/2014/main" id="{C86AC0A8-2096-FDDC-FEAB-27E8D3456BF7}"/>
              </a:ext>
            </a:extLst>
          </p:cNvPr>
          <p:cNvSpPr>
            <a:spLocks noGrp="1"/>
          </p:cNvSpPr>
          <p:nvPr>
            <p:ph type="body" sz="quarter" idx="23"/>
          </p:nvPr>
        </p:nvSpPr>
        <p:spPr>
          <a:xfrm>
            <a:off x="9065128"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1121137456"/>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1CE7E595-5C3F-0BAF-330D-65E2AD801F66}"/>
              </a:ext>
            </a:extLst>
          </p:cNvPr>
          <p:cNvSpPr>
            <a:spLocks noGrp="1"/>
          </p:cNvSpPr>
          <p:nvPr>
            <p:ph type="body" sz="quarter" idx="18" hasCustomPrompt="1"/>
          </p:nvPr>
        </p:nvSpPr>
        <p:spPr>
          <a:xfrm>
            <a:off x="4571323" y="1133918"/>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9" name="Text Placeholder 7">
            <a:extLst>
              <a:ext uri="{FF2B5EF4-FFF2-40B4-BE49-F238E27FC236}">
                <a16:creationId xmlns:a16="http://schemas.microsoft.com/office/drawing/2014/main" id="{00B49552-BA81-9DEE-DBCE-F9356D66374D}"/>
              </a:ext>
            </a:extLst>
          </p:cNvPr>
          <p:cNvSpPr>
            <a:spLocks noGrp="1"/>
          </p:cNvSpPr>
          <p:nvPr>
            <p:ph type="body" sz="quarter" idx="19" hasCustomPrompt="1"/>
          </p:nvPr>
        </p:nvSpPr>
        <p:spPr>
          <a:xfrm>
            <a:off x="4571323" y="1793136"/>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0" name="Text Placeholder 7">
            <a:extLst>
              <a:ext uri="{FF2B5EF4-FFF2-40B4-BE49-F238E27FC236}">
                <a16:creationId xmlns:a16="http://schemas.microsoft.com/office/drawing/2014/main" id="{03CD231C-30AC-3339-A90C-FF099FDCE126}"/>
              </a:ext>
            </a:extLst>
          </p:cNvPr>
          <p:cNvSpPr>
            <a:spLocks noGrp="1"/>
          </p:cNvSpPr>
          <p:nvPr>
            <p:ph type="body" sz="quarter" idx="20" hasCustomPrompt="1"/>
          </p:nvPr>
        </p:nvSpPr>
        <p:spPr>
          <a:xfrm>
            <a:off x="4571323" y="2452355"/>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1" name="Text Placeholder 7">
            <a:extLst>
              <a:ext uri="{FF2B5EF4-FFF2-40B4-BE49-F238E27FC236}">
                <a16:creationId xmlns:a16="http://schemas.microsoft.com/office/drawing/2014/main" id="{8982B152-EDC0-3186-CD84-DAB96BF42494}"/>
              </a:ext>
            </a:extLst>
          </p:cNvPr>
          <p:cNvSpPr>
            <a:spLocks noGrp="1"/>
          </p:cNvSpPr>
          <p:nvPr>
            <p:ph type="body" sz="quarter" idx="21" hasCustomPrompt="1"/>
          </p:nvPr>
        </p:nvSpPr>
        <p:spPr>
          <a:xfrm>
            <a:off x="4571323" y="3111573"/>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8" name="Text Placeholder 7">
            <a:extLst>
              <a:ext uri="{FF2B5EF4-FFF2-40B4-BE49-F238E27FC236}">
                <a16:creationId xmlns:a16="http://schemas.microsoft.com/office/drawing/2014/main" id="{356610AF-C4CC-A0BF-AEC5-6E3BDD36D990}"/>
              </a:ext>
            </a:extLst>
          </p:cNvPr>
          <p:cNvSpPr>
            <a:spLocks noGrp="1"/>
          </p:cNvSpPr>
          <p:nvPr>
            <p:ph type="body" sz="quarter" idx="22" hasCustomPrompt="1"/>
          </p:nvPr>
        </p:nvSpPr>
        <p:spPr>
          <a:xfrm>
            <a:off x="4571323" y="3770791"/>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9" name="Text Placeholder 7">
            <a:extLst>
              <a:ext uri="{FF2B5EF4-FFF2-40B4-BE49-F238E27FC236}">
                <a16:creationId xmlns:a16="http://schemas.microsoft.com/office/drawing/2014/main" id="{71249665-4BF1-BC80-9E3E-27C6AC131E05}"/>
              </a:ext>
            </a:extLst>
          </p:cNvPr>
          <p:cNvSpPr>
            <a:spLocks noGrp="1"/>
          </p:cNvSpPr>
          <p:nvPr>
            <p:ph type="body" sz="quarter" idx="23" hasCustomPrompt="1"/>
          </p:nvPr>
        </p:nvSpPr>
        <p:spPr>
          <a:xfrm>
            <a:off x="4571323" y="4430010"/>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20" name="Text Placeholder 7">
            <a:extLst>
              <a:ext uri="{FF2B5EF4-FFF2-40B4-BE49-F238E27FC236}">
                <a16:creationId xmlns:a16="http://schemas.microsoft.com/office/drawing/2014/main" id="{5AF120EB-8D6E-49DB-0DA5-20F61C819518}"/>
              </a:ext>
            </a:extLst>
          </p:cNvPr>
          <p:cNvSpPr>
            <a:spLocks noGrp="1"/>
          </p:cNvSpPr>
          <p:nvPr>
            <p:ph type="body" sz="quarter" idx="24" hasCustomPrompt="1"/>
          </p:nvPr>
        </p:nvSpPr>
        <p:spPr>
          <a:xfrm>
            <a:off x="4571323" y="5089229"/>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pic>
        <p:nvPicPr>
          <p:cNvPr id="21" name="Graphic 20">
            <a:extLst>
              <a:ext uri="{FF2B5EF4-FFF2-40B4-BE49-F238E27FC236}">
                <a16:creationId xmlns:a16="http://schemas.microsoft.com/office/drawing/2014/main" id="{B6EDFCBE-296B-864F-13E7-245D40ED0C39}"/>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1647542" y="1793136"/>
            <a:ext cx="789191" cy="789191"/>
          </a:xfrm>
          <a:prstGeom prst="rect">
            <a:avLst/>
          </a:prstGeom>
        </p:spPr>
      </p:pic>
      <p:pic>
        <p:nvPicPr>
          <p:cNvPr id="22" name="Graphic 21">
            <a:extLst>
              <a:ext uri="{FF2B5EF4-FFF2-40B4-BE49-F238E27FC236}">
                <a16:creationId xmlns:a16="http://schemas.microsoft.com/office/drawing/2014/main" id="{D5A0CFA2-F296-A8B7-CB70-C9D00D9E3C9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78777" y="6474193"/>
            <a:ext cx="820683" cy="198585"/>
          </a:xfrm>
          <a:prstGeom prst="rect">
            <a:avLst/>
          </a:prstGeom>
        </p:spPr>
      </p:pic>
      <p:sp>
        <p:nvSpPr>
          <p:cNvPr id="5" name="Text Placeholder 17">
            <a:extLst>
              <a:ext uri="{FF2B5EF4-FFF2-40B4-BE49-F238E27FC236}">
                <a16:creationId xmlns:a16="http://schemas.microsoft.com/office/drawing/2014/main" id="{7CD097DB-9618-CDB1-1F1F-B033BC4801EA}"/>
              </a:ext>
            </a:extLst>
          </p:cNvPr>
          <p:cNvSpPr>
            <a:spLocks noGrp="1"/>
          </p:cNvSpPr>
          <p:nvPr>
            <p:ph type="body" sz="quarter" idx="10" hasCustomPrompt="1"/>
          </p:nvPr>
        </p:nvSpPr>
        <p:spPr>
          <a:xfrm>
            <a:off x="352660" y="2735750"/>
            <a:ext cx="3358665" cy="944810"/>
          </a:xfrm>
        </p:spPr>
        <p:txBody>
          <a:bodyPr wrap="square">
            <a:spAutoFit/>
          </a:bodyPr>
          <a:lstStyle>
            <a:lvl1pPr marL="0" indent="0" algn="ctr">
              <a:lnSpc>
                <a:spcPct val="90000"/>
              </a:lnSpc>
              <a:spcBef>
                <a:spcPts val="0"/>
              </a:spcBef>
              <a:buNone/>
              <a:defRPr sz="3400" b="1">
                <a:solidFill>
                  <a:schemeClr val="bg1"/>
                </a:solidFill>
              </a:defRPr>
            </a:lvl1pPr>
          </a:lstStyle>
          <a:p>
            <a:pPr lvl="0"/>
            <a:r>
              <a:rPr lang="en-US" dirty="0"/>
              <a:t>Agenda or Table of Contents</a:t>
            </a:r>
          </a:p>
        </p:txBody>
      </p:sp>
    </p:spTree>
    <p:extLst>
      <p:ext uri="{BB962C8B-B14F-4D97-AF65-F5344CB8AC3E}">
        <p14:creationId xmlns:p14="http://schemas.microsoft.com/office/powerpoint/2010/main" val="95199235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Breaker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10" name="TextBox 9">
            <a:extLst>
              <a:ext uri="{FF2B5EF4-FFF2-40B4-BE49-F238E27FC236}">
                <a16:creationId xmlns:a16="http://schemas.microsoft.com/office/drawing/2014/main" id="{490D0730-EC65-31BF-A4FA-992A99E0E4CF}"/>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953064850"/>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Breaker Dark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BE3200C5-B5A9-AC44-9200-784DFC63364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A2BD6F6F-F10E-C53F-032B-188519D8D1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2" name="TextBox 1">
            <a:extLst>
              <a:ext uri="{FF2B5EF4-FFF2-40B4-BE49-F238E27FC236}">
                <a16:creationId xmlns:a16="http://schemas.microsoft.com/office/drawing/2014/main" id="{8460C111-1CB1-186F-BF66-55001B5779EA}"/>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4264400429"/>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Breaker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tx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642BD9AE-C83A-9EF9-F573-61A0E81EA594}"/>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408440926"/>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PUR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563089" y="3740277"/>
            <a:ext cx="523271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2" name="Graphic 1">
            <a:extLst>
              <a:ext uri="{FF2B5EF4-FFF2-40B4-BE49-F238E27FC236}">
                <a16:creationId xmlns:a16="http://schemas.microsoft.com/office/drawing/2014/main" id="{017A8F2F-9330-25BE-0D2E-902E66CDE27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855776968"/>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Gray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12" name="Graphic 11">
            <a:extLst>
              <a:ext uri="{FF2B5EF4-FFF2-40B4-BE49-F238E27FC236}">
                <a16:creationId xmlns:a16="http://schemas.microsoft.com/office/drawing/2014/main" id="{989C4F93-BF72-9EDD-88A7-D0623456593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622391317"/>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Green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12" name="Graphic 11">
            <a:extLst>
              <a:ext uri="{FF2B5EF4-FFF2-40B4-BE49-F238E27FC236}">
                <a16:creationId xmlns:a16="http://schemas.microsoft.com/office/drawing/2014/main" id="{AB1728AA-35B4-4BD9-8922-5A10B50EFB7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827949425"/>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PUR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2" name="Graphic 1">
            <a:extLst>
              <a:ext uri="{FF2B5EF4-FFF2-40B4-BE49-F238E27FC236}">
                <a16:creationId xmlns:a16="http://schemas.microsoft.com/office/drawing/2014/main" id="{01D50BC8-C95D-425B-652A-2D581ADCD81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662557742"/>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Gray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9" name="Graphic 8">
            <a:extLst>
              <a:ext uri="{FF2B5EF4-FFF2-40B4-BE49-F238E27FC236}">
                <a16:creationId xmlns:a16="http://schemas.microsoft.com/office/drawing/2014/main" id="{E5FB72CE-435D-5F45-16B1-4A77B79AF3C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820904869"/>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Green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9" name="Graphic 8">
            <a:extLst>
              <a:ext uri="{FF2B5EF4-FFF2-40B4-BE49-F238E27FC236}">
                <a16:creationId xmlns:a16="http://schemas.microsoft.com/office/drawing/2014/main" id="{65A4C054-B1C8-E492-ADA1-D665C51553F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244385238"/>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Image-Right">
    <p:spTree>
      <p:nvGrpSpPr>
        <p:cNvPr id="1" name=""/>
        <p:cNvGrpSpPr/>
        <p:nvPr/>
      </p:nvGrpSpPr>
      <p:grpSpPr>
        <a:xfrm>
          <a:off x="0" y="0"/>
          <a:ext cx="0" cy="0"/>
          <a:chOff x="0" y="0"/>
          <a:chExt cx="0" cy="0"/>
        </a:xfrm>
      </p:grpSpPr>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38630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38630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386035" y="4139291"/>
            <a:ext cx="5008456"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6096000" y="0"/>
            <a:ext cx="6096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2559339828"/>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Image-Lef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6096000" cy="6858000"/>
          </a:xfrm>
        </p:spPr>
        <p:txBody>
          <a:bodyPr anchor="ctr" anchorCtr="0">
            <a:noAutofit/>
          </a:bodyPr>
          <a:lstStyle>
            <a:lvl1pPr marL="0" indent="0" algn="ctr">
              <a:buNone/>
              <a:defRPr/>
            </a:lvl1pPr>
          </a:lstStyle>
          <a:p>
            <a:r>
              <a:rPr lang="en-US" dirty="0"/>
              <a:t>[Click to insert image]</a:t>
            </a:r>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666491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66518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66518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664915" y="4139291"/>
            <a:ext cx="5008456"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Tree>
    <p:extLst>
      <p:ext uri="{BB962C8B-B14F-4D97-AF65-F5344CB8AC3E}">
        <p14:creationId xmlns:p14="http://schemas.microsoft.com/office/powerpoint/2010/main" val="1414988454"/>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Full Page Imag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12192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1246946113"/>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EFrame Image Purple">
    <p:spTree>
      <p:nvGrpSpPr>
        <p:cNvPr id="1" name=""/>
        <p:cNvGrpSpPr/>
        <p:nvPr/>
      </p:nvGrpSpPr>
      <p:grpSpPr>
        <a:xfrm>
          <a:off x="0" y="0"/>
          <a:ext cx="0" cy="0"/>
          <a:chOff x="0" y="0"/>
          <a:chExt cx="0" cy="0"/>
        </a:xfrm>
      </p:grpSpPr>
      <p:sp>
        <p:nvSpPr>
          <p:cNvPr id="51" name="Rectangle 50">
            <a:extLst>
              <a:ext uri="{FF2B5EF4-FFF2-40B4-BE49-F238E27FC236}">
                <a16:creationId xmlns:a16="http://schemas.microsoft.com/office/drawing/2014/main" id="{5AACD76F-5A98-DE42-2012-2E4698A70B32}"/>
              </a:ext>
            </a:extLst>
          </p:cNvPr>
          <p:cNvSpPr/>
          <p:nvPr/>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Picture Placeholder 43">
            <a:extLst>
              <a:ext uri="{FF2B5EF4-FFF2-40B4-BE49-F238E27FC236}">
                <a16:creationId xmlns:a16="http://schemas.microsoft.com/office/drawing/2014/main" id="{C5980322-EF45-73EA-F45B-05C3C55E7CE2}"/>
              </a:ext>
            </a:extLst>
          </p:cNvPr>
          <p:cNvSpPr>
            <a:spLocks noGrp="1"/>
          </p:cNvSpPr>
          <p:nvPr>
            <p:ph type="pic" sz="quarter" idx="13" hasCustomPrompt="1"/>
          </p:nvPr>
        </p:nvSpPr>
        <p:spPr>
          <a:xfrm>
            <a:off x="5337810" y="573881"/>
            <a:ext cx="6854190" cy="5710237"/>
          </a:xfrm>
          <a:custGeom>
            <a:avLst/>
            <a:gdLst>
              <a:gd name="connsiteX0" fmla="*/ 0 w 6854190"/>
              <a:gd name="connsiteY0" fmla="*/ 0 h 5710237"/>
              <a:gd name="connsiteX1" fmla="*/ 3816350 w 6854190"/>
              <a:gd name="connsiteY1" fmla="*/ 0 h 5710237"/>
              <a:gd name="connsiteX2" fmla="*/ 3816350 w 6854190"/>
              <a:gd name="connsiteY2" fmla="*/ 1 h 5710237"/>
              <a:gd name="connsiteX3" fmla="*/ 6854190 w 6854190"/>
              <a:gd name="connsiteY3" fmla="*/ 1 h 5710237"/>
              <a:gd name="connsiteX4" fmla="*/ 6854190 w 6854190"/>
              <a:gd name="connsiteY4" fmla="*/ 1513523 h 5710237"/>
              <a:gd name="connsiteX5" fmla="*/ 3816350 w 6854190"/>
              <a:gd name="connsiteY5" fmla="*/ 1513523 h 5710237"/>
              <a:gd name="connsiteX6" fmla="*/ 3816350 w 6854190"/>
              <a:gd name="connsiteY6" fmla="*/ 2093595 h 5710237"/>
              <a:gd name="connsiteX7" fmla="*/ 6284595 w 6854190"/>
              <a:gd name="connsiteY7" fmla="*/ 2093595 h 5710237"/>
              <a:gd name="connsiteX8" fmla="*/ 6284595 w 6854190"/>
              <a:gd name="connsiteY8" fmla="*/ 3607117 h 5710237"/>
              <a:gd name="connsiteX9" fmla="*/ 3816350 w 6854190"/>
              <a:gd name="connsiteY9" fmla="*/ 3607117 h 5710237"/>
              <a:gd name="connsiteX10" fmla="*/ 3816350 w 6854190"/>
              <a:gd name="connsiteY10" fmla="*/ 4196715 h 5710237"/>
              <a:gd name="connsiteX11" fmla="*/ 6854190 w 6854190"/>
              <a:gd name="connsiteY11" fmla="*/ 4196715 h 5710237"/>
              <a:gd name="connsiteX12" fmla="*/ 6854190 w 6854190"/>
              <a:gd name="connsiteY12" fmla="*/ 5710237 h 5710237"/>
              <a:gd name="connsiteX13" fmla="*/ 3816350 w 6854190"/>
              <a:gd name="connsiteY13" fmla="*/ 5710237 h 5710237"/>
              <a:gd name="connsiteX14" fmla="*/ 3037840 w 6854190"/>
              <a:gd name="connsiteY14" fmla="*/ 5710237 h 5710237"/>
              <a:gd name="connsiteX15" fmla="*/ 0 w 6854190"/>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854190" h="5710237">
                <a:moveTo>
                  <a:pt x="0" y="0"/>
                </a:moveTo>
                <a:lnTo>
                  <a:pt x="3816350" y="0"/>
                </a:lnTo>
                <a:lnTo>
                  <a:pt x="3816350" y="1"/>
                </a:lnTo>
                <a:lnTo>
                  <a:pt x="6854190" y="1"/>
                </a:lnTo>
                <a:lnTo>
                  <a:pt x="6854190" y="1513523"/>
                </a:lnTo>
                <a:lnTo>
                  <a:pt x="3816350" y="1513523"/>
                </a:lnTo>
                <a:lnTo>
                  <a:pt x="3816350" y="2093595"/>
                </a:lnTo>
                <a:lnTo>
                  <a:pt x="6284595" y="2093595"/>
                </a:lnTo>
                <a:lnTo>
                  <a:pt x="6284595" y="3607117"/>
                </a:lnTo>
                <a:lnTo>
                  <a:pt x="3816350" y="3607117"/>
                </a:lnTo>
                <a:lnTo>
                  <a:pt x="3816350" y="4196715"/>
                </a:lnTo>
                <a:lnTo>
                  <a:pt x="6854190" y="4196715"/>
                </a:lnTo>
                <a:lnTo>
                  <a:pt x="6854190" y="5710237"/>
                </a:lnTo>
                <a:lnTo>
                  <a:pt x="3816350" y="5710237"/>
                </a:lnTo>
                <a:lnTo>
                  <a:pt x="3037840"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7" name="Text Placeholder 17">
            <a:extLst>
              <a:ext uri="{FF2B5EF4-FFF2-40B4-BE49-F238E27FC236}">
                <a16:creationId xmlns:a16="http://schemas.microsoft.com/office/drawing/2014/main" id="{72A36242-E96D-BCC5-8B9A-F727F91C17DD}"/>
              </a:ext>
            </a:extLst>
          </p:cNvPr>
          <p:cNvSpPr>
            <a:spLocks noGrp="1"/>
          </p:cNvSpPr>
          <p:nvPr>
            <p:ph type="body" sz="quarter" idx="10" hasCustomPrompt="1"/>
          </p:nvPr>
        </p:nvSpPr>
        <p:spPr>
          <a:xfrm>
            <a:off x="386035" y="1112251"/>
            <a:ext cx="4317994" cy="944810"/>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endParaRPr lang="en-US" dirty="0"/>
          </a:p>
        </p:txBody>
      </p:sp>
      <p:sp>
        <p:nvSpPr>
          <p:cNvPr id="48" name="Text Placeholder 17">
            <a:extLst>
              <a:ext uri="{FF2B5EF4-FFF2-40B4-BE49-F238E27FC236}">
                <a16:creationId xmlns:a16="http://schemas.microsoft.com/office/drawing/2014/main" id="{E033C30C-F4BF-DEFA-8C82-E924E66CF321}"/>
              </a:ext>
            </a:extLst>
          </p:cNvPr>
          <p:cNvSpPr>
            <a:spLocks noGrp="1"/>
          </p:cNvSpPr>
          <p:nvPr>
            <p:ph type="body" sz="quarter" idx="12" hasCustomPrompt="1"/>
          </p:nvPr>
        </p:nvSpPr>
        <p:spPr>
          <a:xfrm>
            <a:off x="386305" y="2467715"/>
            <a:ext cx="4317775" cy="555793"/>
          </a:xfrm>
        </p:spPr>
        <p:txBody>
          <a:bodyPr wrap="square">
            <a:spAutoFit/>
          </a:bodyPr>
          <a:lstStyle>
            <a:lvl1pPr marL="0" indent="0">
              <a:lnSpc>
                <a:spcPct val="90000"/>
              </a:lnSpc>
              <a:spcBef>
                <a:spcPts val="0"/>
              </a:spcBef>
              <a:buNone/>
              <a:defRPr sz="2000" b="1">
                <a:solidFill>
                  <a:schemeClr val="bg1"/>
                </a:solidFill>
              </a:defRPr>
            </a:lvl1pPr>
          </a:lstStyle>
          <a:p>
            <a:pPr lvl="0"/>
            <a:r>
              <a:rPr lang="en-US" dirty="0"/>
              <a:t>Subhead culpa qui official arum </a:t>
            </a:r>
            <a:r>
              <a:rPr lang="en-US" dirty="0" err="1"/>
              <a:t>quidem</a:t>
            </a:r>
            <a:r>
              <a:rPr lang="en-US" dirty="0"/>
              <a:t> rerum facilis</a:t>
            </a:r>
          </a:p>
        </p:txBody>
      </p:sp>
      <p:sp>
        <p:nvSpPr>
          <p:cNvPr id="49" name="Text Placeholder 8">
            <a:extLst>
              <a:ext uri="{FF2B5EF4-FFF2-40B4-BE49-F238E27FC236}">
                <a16:creationId xmlns:a16="http://schemas.microsoft.com/office/drawing/2014/main" id="{A0F481E4-FC0E-C80A-C2EC-B76F27D262A7}"/>
              </a:ext>
            </a:extLst>
          </p:cNvPr>
          <p:cNvSpPr>
            <a:spLocks noGrp="1"/>
          </p:cNvSpPr>
          <p:nvPr>
            <p:ph type="body" sz="quarter" idx="14" hasCustomPrompt="1"/>
          </p:nvPr>
        </p:nvSpPr>
        <p:spPr>
          <a:xfrm>
            <a:off x="386305" y="3130525"/>
            <a:ext cx="4317775" cy="901850"/>
          </a:xfrm>
        </p:spPr>
        <p:txBody>
          <a:bodyPr wrap="square">
            <a:spAutoFit/>
          </a:bodyPr>
          <a:lstStyle>
            <a:lvl1pPr marL="0" indent="0">
              <a:buNone/>
              <a:defRPr sz="1800">
                <a:solidFill>
                  <a:schemeClr val="bg1"/>
                </a:solidFill>
              </a:defRPr>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a:t>
            </a:r>
          </a:p>
        </p:txBody>
      </p:sp>
      <p:sp>
        <p:nvSpPr>
          <p:cNvPr id="50" name="Text Placeholder 12">
            <a:extLst>
              <a:ext uri="{FF2B5EF4-FFF2-40B4-BE49-F238E27FC236}">
                <a16:creationId xmlns:a16="http://schemas.microsoft.com/office/drawing/2014/main" id="{F28319CA-55ED-F435-6422-E7CAE3A4E5C8}"/>
              </a:ext>
            </a:extLst>
          </p:cNvPr>
          <p:cNvSpPr>
            <a:spLocks noGrp="1"/>
          </p:cNvSpPr>
          <p:nvPr>
            <p:ph type="body" sz="quarter" idx="15"/>
          </p:nvPr>
        </p:nvSpPr>
        <p:spPr>
          <a:xfrm>
            <a:off x="386035" y="4155118"/>
            <a:ext cx="4317603" cy="1684948"/>
          </a:xfrm>
        </p:spPr>
        <p:txBody>
          <a:bodyPr wrap="square">
            <a:sp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2" name="Graphic 1">
            <a:extLst>
              <a:ext uri="{FF2B5EF4-FFF2-40B4-BE49-F238E27FC236}">
                <a16:creationId xmlns:a16="http://schemas.microsoft.com/office/drawing/2014/main" id="{E2FA6E33-C1DD-C1DE-7C6F-82957792F31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8D073452-E314-EB2D-1FC4-135DC2D7775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4" name="TextBox 3">
            <a:extLst>
              <a:ext uri="{FF2B5EF4-FFF2-40B4-BE49-F238E27FC236}">
                <a16:creationId xmlns:a16="http://schemas.microsoft.com/office/drawing/2014/main" id="{A28DAA59-27D2-784E-D2A1-F51D07814DEC}"/>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43063698"/>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Quote Purpl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bg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bg1"/>
                </a:solidFill>
              </a:defRPr>
            </a:lvl1pPr>
          </a:lstStyle>
          <a:p>
            <a:pPr lvl="0"/>
            <a:r>
              <a:rPr lang="en-US" dirty="0"/>
              <a:t>First &amp; Last Name</a:t>
            </a:r>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2" name="Text Placeholder 17">
            <a:extLst>
              <a:ext uri="{FF2B5EF4-FFF2-40B4-BE49-F238E27FC236}">
                <a16:creationId xmlns:a16="http://schemas.microsoft.com/office/drawing/2014/main" id="{D05DB1F1-ACC3-B191-E3E7-7348B83D3D7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bg1"/>
                </a:solidFill>
              </a:defRPr>
            </a:lvl1pPr>
          </a:lstStyle>
          <a:p>
            <a:pPr lvl="0"/>
            <a:r>
              <a:rPr lang="en-US" dirty="0"/>
              <a:t>Title and Company or Institution</a:t>
            </a:r>
          </a:p>
        </p:txBody>
      </p:sp>
      <p:pic>
        <p:nvPicPr>
          <p:cNvPr id="4" name="Graphic 3">
            <a:extLst>
              <a:ext uri="{FF2B5EF4-FFF2-40B4-BE49-F238E27FC236}">
                <a16:creationId xmlns:a16="http://schemas.microsoft.com/office/drawing/2014/main" id="{3F44E2C7-6484-3A24-48A0-1EC4CE2E334F}"/>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5618540" y="1374718"/>
            <a:ext cx="954921" cy="954921"/>
          </a:xfrm>
          <a:prstGeom prst="rect">
            <a:avLst/>
          </a:prstGeom>
        </p:spPr>
      </p:pic>
      <p:sp>
        <p:nvSpPr>
          <p:cNvPr id="8" name="TextBox 7">
            <a:extLst>
              <a:ext uri="{FF2B5EF4-FFF2-40B4-BE49-F238E27FC236}">
                <a16:creationId xmlns:a16="http://schemas.microsoft.com/office/drawing/2014/main" id="{56538370-0C99-95AF-B7F2-D3F6183791A0}"/>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364217363"/>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Quote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 Placeholder 17">
            <a:extLst>
              <a:ext uri="{FF2B5EF4-FFF2-40B4-BE49-F238E27FC236}">
                <a16:creationId xmlns:a16="http://schemas.microsoft.com/office/drawing/2014/main" id="{97C25E61-6B43-DBD5-C2CE-87847F39AAE2}"/>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tx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4" name="Text Placeholder 17">
            <a:extLst>
              <a:ext uri="{FF2B5EF4-FFF2-40B4-BE49-F238E27FC236}">
                <a16:creationId xmlns:a16="http://schemas.microsoft.com/office/drawing/2014/main" id="{FCEE0479-D5F9-CE3F-36E7-238BA0F4577F}"/>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tx1"/>
                </a:solidFill>
              </a:defRPr>
            </a:lvl1pPr>
          </a:lstStyle>
          <a:p>
            <a:pPr lvl="0"/>
            <a:r>
              <a:rPr lang="en-US" dirty="0"/>
              <a:t>First &amp; Last Name</a:t>
            </a:r>
          </a:p>
        </p:txBody>
      </p:sp>
      <p:sp>
        <p:nvSpPr>
          <p:cNvPr id="8" name="Text Placeholder 17">
            <a:extLst>
              <a:ext uri="{FF2B5EF4-FFF2-40B4-BE49-F238E27FC236}">
                <a16:creationId xmlns:a16="http://schemas.microsoft.com/office/drawing/2014/main" id="{A76AF4FC-9A53-DBD9-C4E3-8F3D9D7DB7D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tx1"/>
                </a:solidFill>
              </a:defRPr>
            </a:lvl1pPr>
          </a:lstStyle>
          <a:p>
            <a:pPr lvl="0"/>
            <a:r>
              <a:rPr lang="en-US" dirty="0"/>
              <a:t>Title and Company or Institution</a:t>
            </a:r>
          </a:p>
        </p:txBody>
      </p:sp>
      <p:pic>
        <p:nvPicPr>
          <p:cNvPr id="11" name="Graphic 10">
            <a:extLst>
              <a:ext uri="{FF2B5EF4-FFF2-40B4-BE49-F238E27FC236}">
                <a16:creationId xmlns:a16="http://schemas.microsoft.com/office/drawing/2014/main" id="{FF551E89-4ED8-FCF0-7E9B-2446F24111FB}"/>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5618540" y="1374718"/>
            <a:ext cx="954921" cy="954921"/>
          </a:xfrm>
          <a:prstGeom prst="rect">
            <a:avLst/>
          </a:prstGeom>
        </p:spPr>
      </p:pic>
      <p:sp>
        <p:nvSpPr>
          <p:cNvPr id="6" name="TextBox 5">
            <a:extLst>
              <a:ext uri="{FF2B5EF4-FFF2-40B4-BE49-F238E27FC236}">
                <a16:creationId xmlns:a16="http://schemas.microsoft.com/office/drawing/2014/main" id="{759FA4B8-B22A-02CB-D4E5-CDAF1F338C84}"/>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970975508"/>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Purple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62599"/>
            <a:ext cx="12192000" cy="8815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CC5AC45-371A-D1F2-3506-59FB4F407F5D}"/>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solidFill>
                  <a:schemeClr val="bg1"/>
                </a:solidFill>
              </a:defRPr>
            </a:lvl1pPr>
          </a:lstStyle>
          <a:p>
            <a:pPr lvl="0"/>
            <a:r>
              <a:rPr lang="en-US" dirty="0"/>
              <a:t>Fourth level statement</a:t>
            </a:r>
          </a:p>
        </p:txBody>
      </p:sp>
      <p:pic>
        <p:nvPicPr>
          <p:cNvPr id="2" name="Graphic 1">
            <a:extLst>
              <a:ext uri="{FF2B5EF4-FFF2-40B4-BE49-F238E27FC236}">
                <a16:creationId xmlns:a16="http://schemas.microsoft.com/office/drawing/2014/main" id="{320A3CFF-FF3A-806C-4272-4BD562E4527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83CB4FD4-52E5-7743-832E-878711B6912D}"/>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6" name="TextBox 5">
            <a:extLst>
              <a:ext uri="{FF2B5EF4-FFF2-40B4-BE49-F238E27FC236}">
                <a16:creationId xmlns:a16="http://schemas.microsoft.com/office/drawing/2014/main" id="{8955BA75-BCED-43A8-374C-ED5B5EB749B9}"/>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969154784"/>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Green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62599"/>
            <a:ext cx="12192000" cy="88157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lvl1pPr>
          </a:lstStyle>
          <a:p>
            <a:pPr lvl="0"/>
            <a:r>
              <a:rPr lang="en-US" dirty="0"/>
              <a:t>Fourth level statement</a:t>
            </a:r>
          </a:p>
        </p:txBody>
      </p:sp>
      <p:sp>
        <p:nvSpPr>
          <p:cNvPr id="2" name="Rectangle 1">
            <a:extLst>
              <a:ext uri="{FF2B5EF4-FFF2-40B4-BE49-F238E27FC236}">
                <a16:creationId xmlns:a16="http://schemas.microsoft.com/office/drawing/2014/main" id="{ABC92165-EA63-BA70-B09C-3AE3A0E3B988}"/>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B8487BB2-49A0-1AD0-6AEA-A6BA00965FB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D645B4-C9BC-C447-40CC-BED53F5C40F2}"/>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4" name="TextBox 3">
            <a:extLst>
              <a:ext uri="{FF2B5EF4-FFF2-40B4-BE49-F238E27FC236}">
                <a16:creationId xmlns:a16="http://schemas.microsoft.com/office/drawing/2014/main" id="{06D9A09A-FC77-0C42-3399-4228AB66473E}"/>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967397493"/>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035BE7A-2092-E334-9925-A2CD0ED61EC1}"/>
              </a:ext>
            </a:extLst>
          </p:cNvPr>
          <p:cNvSpPr txBox="1"/>
          <p:nvPr/>
        </p:nvSpPr>
        <p:spPr>
          <a:xfrm>
            <a:off x="836428" y="2435962"/>
            <a:ext cx="10441173" cy="1769715"/>
          </a:xfrm>
          <a:prstGeom prst="rect">
            <a:avLst/>
          </a:prstGeom>
          <a:noFill/>
        </p:spPr>
        <p:txBody>
          <a:bodyPr wrap="square" lIns="0" tIns="0" rIns="0" bIns="0" rtlCol="0">
            <a:spAutoFit/>
          </a:bodyPr>
          <a:lstStyle/>
          <a:p>
            <a:pPr algn="ctr"/>
            <a:r>
              <a:rPr lang="en-US" sz="11500" b="1" dirty="0">
                <a:solidFill>
                  <a:schemeClr val="bg1"/>
                </a:solidFill>
              </a:rPr>
              <a:t>Thank You</a:t>
            </a:r>
          </a:p>
        </p:txBody>
      </p:sp>
      <p:sp>
        <p:nvSpPr>
          <p:cNvPr id="9" name="Text Placeholder 17">
            <a:extLst>
              <a:ext uri="{FF2B5EF4-FFF2-40B4-BE49-F238E27FC236}">
                <a16:creationId xmlns:a16="http://schemas.microsoft.com/office/drawing/2014/main" id="{C141F636-6F6B-39E0-D74A-E2DC465DEF1A}"/>
              </a:ext>
            </a:extLst>
          </p:cNvPr>
          <p:cNvSpPr>
            <a:spLocks noGrp="1"/>
          </p:cNvSpPr>
          <p:nvPr>
            <p:ph type="body" sz="quarter" idx="11" hasCustomPrompt="1"/>
          </p:nvPr>
        </p:nvSpPr>
        <p:spPr>
          <a:xfrm>
            <a:off x="2556897" y="4302308"/>
            <a:ext cx="7078206" cy="389915"/>
          </a:xfrm>
        </p:spPr>
        <p:txBody>
          <a:bodyPr>
            <a:spAutoFit/>
          </a:bodyPr>
          <a:lstStyle>
            <a:lvl1pPr marL="0" indent="0" algn="ctr">
              <a:spcBef>
                <a:spcPts val="0"/>
              </a:spcBef>
              <a:buNone/>
              <a:defRPr sz="2400" b="1">
                <a:solidFill>
                  <a:schemeClr val="bg1"/>
                </a:solidFill>
              </a:defRPr>
            </a:lvl1pPr>
          </a:lstStyle>
          <a:p>
            <a:pPr lvl="0"/>
            <a:r>
              <a:rPr lang="en-US" dirty="0"/>
              <a:t>Presenter Name</a:t>
            </a:r>
          </a:p>
        </p:txBody>
      </p:sp>
      <p:sp>
        <p:nvSpPr>
          <p:cNvPr id="11" name="Text Placeholder 17">
            <a:extLst>
              <a:ext uri="{FF2B5EF4-FFF2-40B4-BE49-F238E27FC236}">
                <a16:creationId xmlns:a16="http://schemas.microsoft.com/office/drawing/2014/main" id="{15F716EA-D293-96D7-C5A7-61FE08272CBD}"/>
              </a:ext>
            </a:extLst>
          </p:cNvPr>
          <p:cNvSpPr>
            <a:spLocks noGrp="1"/>
          </p:cNvSpPr>
          <p:nvPr>
            <p:ph type="body" sz="quarter" idx="12" hasCustomPrompt="1"/>
          </p:nvPr>
        </p:nvSpPr>
        <p:spPr>
          <a:xfrm>
            <a:off x="2556897" y="4735941"/>
            <a:ext cx="7078206" cy="324961"/>
          </a:xfrm>
        </p:spPr>
        <p:txBody>
          <a:bodyPr>
            <a:spAutoFit/>
          </a:bodyPr>
          <a:lstStyle>
            <a:lvl1pPr marL="0" indent="0" algn="ctr">
              <a:spcBef>
                <a:spcPts val="0"/>
              </a:spcBef>
              <a:buNone/>
              <a:defRPr sz="2000" b="0">
                <a:solidFill>
                  <a:schemeClr val="bg1"/>
                </a:solidFill>
              </a:defRPr>
            </a:lvl1pPr>
          </a:lstStyle>
          <a:p>
            <a:pPr lvl="0"/>
            <a:r>
              <a:rPr lang="en-US" dirty="0" err="1"/>
              <a:t>PresenterEmail@Ellucian.com</a:t>
            </a:r>
            <a:endParaRPr lang="en-US" dirty="0"/>
          </a:p>
        </p:txBody>
      </p:sp>
      <p:pic>
        <p:nvPicPr>
          <p:cNvPr id="2" name="Graphic 1">
            <a:extLst>
              <a:ext uri="{FF2B5EF4-FFF2-40B4-BE49-F238E27FC236}">
                <a16:creationId xmlns:a16="http://schemas.microsoft.com/office/drawing/2014/main" id="{7C871F66-B895-DB0B-1D73-90E74A3951C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53435677-394B-4E5D-4CD3-2D77A2110358}"/>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149676502"/>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Question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5" name="TextBox 4">
            <a:extLst>
              <a:ext uri="{FF2B5EF4-FFF2-40B4-BE49-F238E27FC236}">
                <a16:creationId xmlns:a16="http://schemas.microsoft.com/office/drawing/2014/main" id="{58229B27-8CB8-A4DF-B214-C621F3644437}"/>
              </a:ext>
            </a:extLst>
          </p:cNvPr>
          <p:cNvSpPr txBox="1"/>
          <p:nvPr/>
        </p:nvSpPr>
        <p:spPr>
          <a:xfrm>
            <a:off x="836428" y="2544142"/>
            <a:ext cx="10441173" cy="1769715"/>
          </a:xfrm>
          <a:prstGeom prst="rect">
            <a:avLst/>
          </a:prstGeom>
          <a:noFill/>
        </p:spPr>
        <p:txBody>
          <a:bodyPr wrap="square" lIns="0" tIns="0" rIns="0" bIns="0" rtlCol="0">
            <a:spAutoFit/>
          </a:bodyPr>
          <a:lstStyle/>
          <a:p>
            <a:pPr algn="ctr"/>
            <a:r>
              <a:rPr lang="en-US" sz="11500" b="1" dirty="0">
                <a:solidFill>
                  <a:schemeClr val="accent1"/>
                </a:solidFill>
              </a:rPr>
              <a:t>Questions?</a:t>
            </a:r>
          </a:p>
        </p:txBody>
      </p:sp>
      <p:pic>
        <p:nvPicPr>
          <p:cNvPr id="2" name="Graphic 1">
            <a:extLst>
              <a:ext uri="{FF2B5EF4-FFF2-40B4-BE49-F238E27FC236}">
                <a16:creationId xmlns:a16="http://schemas.microsoft.com/office/drawing/2014/main" id="{C0225686-2493-61CB-BED8-8CD6B90C882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6" name="TextBox 5">
            <a:extLst>
              <a:ext uri="{FF2B5EF4-FFF2-40B4-BE49-F238E27FC236}">
                <a16:creationId xmlns:a16="http://schemas.microsoft.com/office/drawing/2014/main" id="{3757E6F9-39D1-A7B6-72FA-6CB25BEA039E}"/>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757209407"/>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title">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B18488C-B055-D09C-D997-3A7FCA29454A}"/>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419"/>
          </a:p>
        </p:txBody>
      </p:sp>
      <p:sp>
        <p:nvSpPr>
          <p:cNvPr id="3" name="Subtítulo 2">
            <a:extLst>
              <a:ext uri="{FF2B5EF4-FFF2-40B4-BE49-F238E27FC236}">
                <a16:creationId xmlns:a16="http://schemas.microsoft.com/office/drawing/2014/main" id="{4F822AF2-2615-432F-038F-912A880B9AB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419"/>
          </a:p>
        </p:txBody>
      </p:sp>
      <p:sp>
        <p:nvSpPr>
          <p:cNvPr id="4" name="Marcador de fecha 3">
            <a:extLst>
              <a:ext uri="{FF2B5EF4-FFF2-40B4-BE49-F238E27FC236}">
                <a16:creationId xmlns:a16="http://schemas.microsoft.com/office/drawing/2014/main" id="{726FCCEB-ACCA-75CB-F0DF-3F3BC5FBE983}"/>
              </a:ext>
            </a:extLst>
          </p:cNvPr>
          <p:cNvSpPr>
            <a:spLocks noGrp="1"/>
          </p:cNvSpPr>
          <p:nvPr>
            <p:ph type="dt" sz="half" idx="10"/>
          </p:nvPr>
        </p:nvSpPr>
        <p:spPr/>
        <p:txBody>
          <a:bodyPr/>
          <a:lstStyle/>
          <a:p>
            <a:fld id="{C9BA6134-9B25-412B-8FBF-B14BEDBA912D}" type="datetimeFigureOut">
              <a:rPr lang="es-CL" smtClean="0"/>
              <a:t>22-09-2026</a:t>
            </a:fld>
            <a:endParaRPr lang="es-CL"/>
          </a:p>
        </p:txBody>
      </p:sp>
      <p:sp>
        <p:nvSpPr>
          <p:cNvPr id="5" name="Marcador de pie de página 4">
            <a:extLst>
              <a:ext uri="{FF2B5EF4-FFF2-40B4-BE49-F238E27FC236}">
                <a16:creationId xmlns:a16="http://schemas.microsoft.com/office/drawing/2014/main" id="{6B0BEB1F-BCFD-D511-2592-8A4609C73ADD}"/>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F6FC865D-B77C-F26A-FE70-2498C9B6F62F}"/>
              </a:ext>
            </a:extLst>
          </p:cNvPr>
          <p:cNvSpPr>
            <a:spLocks noGrp="1"/>
          </p:cNvSpPr>
          <p:nvPr>
            <p:ph type="sldNum" sz="quarter" idx="12"/>
          </p:nvPr>
        </p:nvSpPr>
        <p:spPr/>
        <p:txBody>
          <a:bodyPr/>
          <a:lstStyle/>
          <a:p>
            <a:fld id="{BAD56BAB-9B7B-4C09-8A45-659D39241E09}" type="slidenum">
              <a:rPr lang="es-CL" smtClean="0"/>
              <a:t>‹Nº›</a:t>
            </a:fld>
            <a:endParaRPr lang="es-CL"/>
          </a:p>
        </p:txBody>
      </p:sp>
    </p:spTree>
    <p:extLst>
      <p:ext uri="{BB962C8B-B14F-4D97-AF65-F5344CB8AC3E}">
        <p14:creationId xmlns:p14="http://schemas.microsoft.com/office/powerpoint/2010/main" val="718925883"/>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cSld name="Cover">
    <p:bg>
      <p:bgPr>
        <a:solidFill>
          <a:srgbClr val="33004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D2615-324D-B5FF-2EBE-81DB544E729B}"/>
              </a:ext>
            </a:extLst>
          </p:cNvPr>
          <p:cNvSpPr>
            <a:spLocks noGrp="1"/>
          </p:cNvSpPr>
          <p:nvPr>
            <p:ph type="title"/>
          </p:nvPr>
        </p:nvSpPr>
        <p:spPr>
          <a:xfrm>
            <a:off x="609599" y="2285997"/>
            <a:ext cx="7317783" cy="1282485"/>
          </a:xfrm>
        </p:spPr>
        <p:txBody>
          <a:bodyPr lIns="0" anchor="b" anchorCtr="0">
            <a:noAutofit/>
          </a:bodyPr>
          <a:lstStyle>
            <a:lvl1pPr>
              <a:defRPr sz="3200" b="1">
                <a:solidFill>
                  <a:schemeClr val="bg1"/>
                </a:solidFill>
              </a:defRPr>
            </a:lvl1pPr>
          </a:lstStyle>
          <a:p>
            <a:r>
              <a:rPr lang="es-MX"/>
              <a:t>Haz clic para modificar el estilo de título del patrón</a:t>
            </a:r>
            <a:endParaRPr lang="en-US" dirty="0"/>
          </a:p>
        </p:txBody>
      </p:sp>
      <p:sp>
        <p:nvSpPr>
          <p:cNvPr id="6" name="Text Placeholder 5">
            <a:extLst>
              <a:ext uri="{FF2B5EF4-FFF2-40B4-BE49-F238E27FC236}">
                <a16:creationId xmlns:a16="http://schemas.microsoft.com/office/drawing/2014/main" id="{698C979F-7ABF-A5C6-5C58-6DD9C3DA76E9}"/>
              </a:ext>
            </a:extLst>
          </p:cNvPr>
          <p:cNvSpPr>
            <a:spLocks noGrp="1"/>
          </p:cNvSpPr>
          <p:nvPr>
            <p:ph type="body" sz="quarter" idx="18"/>
          </p:nvPr>
        </p:nvSpPr>
        <p:spPr>
          <a:xfrm>
            <a:off x="609599" y="3792020"/>
            <a:ext cx="7317783" cy="774441"/>
          </a:xfrm>
        </p:spPr>
        <p:txBody>
          <a:bodyPr lIns="0">
            <a:noAutofit/>
          </a:bodyPr>
          <a:lstStyle>
            <a:lvl1pPr marL="0" indent="0">
              <a:lnSpc>
                <a:spcPct val="100000"/>
              </a:lnSpc>
              <a:buClr>
                <a:schemeClr val="accent2"/>
              </a:buClr>
              <a:buFont typeface="Arial" panose="020B0604020202020204" pitchFamily="34" charset="0"/>
              <a:buNone/>
              <a:tabLst/>
              <a:defRPr sz="18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s-MX"/>
              <a:t>Haga clic para modificar los estilos de texto del patrón</a:t>
            </a:r>
          </a:p>
        </p:txBody>
      </p:sp>
      <p:sp>
        <p:nvSpPr>
          <p:cNvPr id="9" name="Text Placeholder 5">
            <a:extLst>
              <a:ext uri="{FF2B5EF4-FFF2-40B4-BE49-F238E27FC236}">
                <a16:creationId xmlns:a16="http://schemas.microsoft.com/office/drawing/2014/main" id="{7118141F-3632-B706-5864-39BC20F0FDE2}"/>
              </a:ext>
            </a:extLst>
          </p:cNvPr>
          <p:cNvSpPr>
            <a:spLocks noGrp="1"/>
          </p:cNvSpPr>
          <p:nvPr>
            <p:ph type="body" sz="quarter" idx="19" hasCustomPrompt="1"/>
          </p:nvPr>
        </p:nvSpPr>
        <p:spPr>
          <a:xfrm>
            <a:off x="609600" y="5186273"/>
            <a:ext cx="7092820" cy="1056694"/>
          </a:xfrm>
        </p:spPr>
        <p:txBody>
          <a:bodyPr lIns="0" anchor="b">
            <a:noAutofit/>
          </a:bodyPr>
          <a:lstStyle>
            <a:lvl1pPr marL="0" indent="0">
              <a:lnSpc>
                <a:spcPct val="100000"/>
              </a:lnSpc>
              <a:spcBef>
                <a:spcPts val="600"/>
              </a:spcBef>
              <a:buClr>
                <a:schemeClr val="accent2"/>
              </a:buClr>
              <a:buFont typeface="Arial" panose="020B0604020202020204" pitchFamily="34" charset="0"/>
              <a:buNone/>
              <a:tabLst/>
              <a:defRPr sz="12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US" dirty="0"/>
              <a:t>Name, Job Title</a:t>
            </a:r>
          </a:p>
          <a:p>
            <a:pPr marL="0" marR="0" lvl="0" indent="0" algn="l" defTabSz="914400" rtl="0" eaLnBrk="1" fontAlgn="auto" latinLnBrk="0" hangingPunct="1">
              <a:lnSpc>
                <a:spcPct val="100000"/>
              </a:lnSpc>
              <a:spcBef>
                <a:spcPts val="400"/>
              </a:spcBef>
              <a:spcAft>
                <a:spcPts val="0"/>
              </a:spcAft>
              <a:buClr>
                <a:schemeClr val="accent2"/>
              </a:buClr>
              <a:buSzTx/>
              <a:buFont typeface="Arial" panose="020B0604020202020204" pitchFamily="34" charset="0"/>
              <a:buNone/>
              <a:tabLst/>
              <a:defRPr/>
            </a:pPr>
            <a:r>
              <a:rPr lang="en-US" dirty="0"/>
              <a:t>Name, Job Title</a:t>
            </a:r>
          </a:p>
          <a:p>
            <a:pPr marL="0" marR="0" lvl="0" indent="0" algn="l" defTabSz="914400" rtl="0" eaLnBrk="1" fontAlgn="auto" latinLnBrk="0" hangingPunct="1">
              <a:lnSpc>
                <a:spcPct val="100000"/>
              </a:lnSpc>
              <a:spcBef>
                <a:spcPts val="400"/>
              </a:spcBef>
              <a:spcAft>
                <a:spcPts val="0"/>
              </a:spcAft>
              <a:buClr>
                <a:schemeClr val="accent2"/>
              </a:buClr>
              <a:buSzTx/>
              <a:buFont typeface="Arial" panose="020B0604020202020204" pitchFamily="34" charset="0"/>
              <a:buNone/>
              <a:tabLst/>
              <a:defRPr/>
            </a:pPr>
            <a:r>
              <a:rPr lang="en-US" dirty="0"/>
              <a:t>Name, Job Title</a:t>
            </a:r>
          </a:p>
        </p:txBody>
      </p:sp>
      <p:sp>
        <p:nvSpPr>
          <p:cNvPr id="12" name="Text Placeholder 11">
            <a:extLst>
              <a:ext uri="{FF2B5EF4-FFF2-40B4-BE49-F238E27FC236}">
                <a16:creationId xmlns:a16="http://schemas.microsoft.com/office/drawing/2014/main" id="{6176DD36-E885-ABAF-DBBD-C96AC12C7782}"/>
              </a:ext>
            </a:extLst>
          </p:cNvPr>
          <p:cNvSpPr>
            <a:spLocks noGrp="1"/>
          </p:cNvSpPr>
          <p:nvPr>
            <p:ph type="body" sz="quarter" idx="20" hasCustomPrompt="1"/>
          </p:nvPr>
        </p:nvSpPr>
        <p:spPr>
          <a:xfrm>
            <a:off x="9209088" y="5603032"/>
            <a:ext cx="2373312" cy="569168"/>
          </a:xfrm>
        </p:spPr>
        <p:txBody>
          <a:bodyPr rIns="0" bIns="0" anchor="b" anchorCtr="0">
            <a:noAutofit/>
          </a:bodyPr>
          <a:lstStyle>
            <a:lvl1pPr marL="0" indent="0" algn="r">
              <a:buNone/>
              <a:defRPr sz="1200">
                <a:solidFill>
                  <a:schemeClr val="bg1"/>
                </a:solidFill>
              </a:defRPr>
            </a:lvl1pPr>
            <a:lvl2pPr marL="457200" indent="0" algn="r">
              <a:buNone/>
              <a:defRPr sz="1600">
                <a:solidFill>
                  <a:schemeClr val="bg1"/>
                </a:solidFill>
              </a:defRPr>
            </a:lvl2pPr>
            <a:lvl3pPr marL="914400" indent="0" algn="r">
              <a:buNone/>
              <a:defRPr sz="1400">
                <a:solidFill>
                  <a:schemeClr val="bg1"/>
                </a:solidFill>
              </a:defRPr>
            </a:lvl3pPr>
            <a:lvl4pPr marL="1371600" indent="0" algn="r">
              <a:buNone/>
              <a:defRPr sz="1200">
                <a:solidFill>
                  <a:schemeClr val="bg1"/>
                </a:solidFill>
              </a:defRPr>
            </a:lvl4pPr>
            <a:lvl5pPr marL="1828800" indent="0" algn="r">
              <a:buNone/>
              <a:defRPr sz="1200">
                <a:solidFill>
                  <a:schemeClr val="bg1"/>
                </a:solidFill>
              </a:defRPr>
            </a:lvl5pPr>
          </a:lstStyle>
          <a:p>
            <a:pPr lvl="0"/>
            <a:r>
              <a:rPr lang="en-US" dirty="0"/>
              <a:t>Month XX, 20XX</a:t>
            </a:r>
          </a:p>
        </p:txBody>
      </p:sp>
    </p:spTree>
    <p:extLst>
      <p:ext uri="{BB962C8B-B14F-4D97-AF65-F5344CB8AC3E}">
        <p14:creationId xmlns:p14="http://schemas.microsoft.com/office/powerpoint/2010/main" val="1152941139"/>
      </p:ext>
    </p:extLst>
  </p:cSld>
  <p:clrMapOvr>
    <a:masterClrMapping/>
  </p:clrMapOvr>
  <p:extLst>
    <p:ext uri="{DCECCB84-F9BA-43D5-87BE-67443E8EF086}">
      <p15:sldGuideLst xmlns:p15="http://schemas.microsoft.com/office/powerpoint/2012/main"/>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cSld name="Section Divider">
    <p:bg>
      <p:bgPr>
        <a:solidFill>
          <a:schemeClr val="accent1"/>
        </a:solidFill>
        <a:effectLst/>
      </p:bgPr>
    </p:bg>
    <p:spTree>
      <p:nvGrpSpPr>
        <p:cNvPr id="1" name=""/>
        <p:cNvGrpSpPr/>
        <p:nvPr/>
      </p:nvGrpSpPr>
      <p:grpSpPr>
        <a:xfrm>
          <a:off x="0" y="0"/>
          <a:ext cx="0" cy="0"/>
          <a:chOff x="0" y="0"/>
          <a:chExt cx="0" cy="0"/>
        </a:xfrm>
      </p:grpSpPr>
      <p:sp>
        <p:nvSpPr>
          <p:cNvPr id="2" name="Vertical Text Placeholder 2">
            <a:extLst>
              <a:ext uri="{FF2B5EF4-FFF2-40B4-BE49-F238E27FC236}">
                <a16:creationId xmlns:a16="http://schemas.microsoft.com/office/drawing/2014/main" id="{B4E21473-327B-3C3B-2526-FD5AB3A4428E}"/>
              </a:ext>
            </a:extLst>
          </p:cNvPr>
          <p:cNvSpPr>
            <a:spLocks noGrp="1"/>
          </p:cNvSpPr>
          <p:nvPr>
            <p:ph type="body" orient="vert" sz="quarter" idx="10" hasCustomPrompt="1"/>
          </p:nvPr>
        </p:nvSpPr>
        <p:spPr>
          <a:xfrm>
            <a:off x="0" y="685800"/>
            <a:ext cx="609600" cy="5486399"/>
          </a:xfrm>
        </p:spPr>
        <p:txBody>
          <a:bodyPr vert="vert270" anchor="ctr" anchorCtr="0">
            <a:noAutofit/>
          </a:bodyPr>
          <a:lstStyle>
            <a:lvl1pPr marL="0" indent="0" algn="ctr">
              <a:buNone/>
              <a:defRPr sz="1200" spc="300">
                <a:solidFill>
                  <a:schemeClr val="bg1"/>
                </a:solidFill>
              </a:defRPr>
            </a:lvl1pPr>
            <a:lvl2pPr marL="457200" indent="0" algn="ctr">
              <a:buNone/>
              <a:defRPr sz="1200" spc="300">
                <a:solidFill>
                  <a:schemeClr val="bg1"/>
                </a:solidFill>
              </a:defRPr>
            </a:lvl2pPr>
            <a:lvl3pPr marL="914400" indent="0" algn="ctr">
              <a:buNone/>
              <a:defRPr sz="1100" spc="300">
                <a:solidFill>
                  <a:schemeClr val="bg1"/>
                </a:solidFill>
              </a:defRPr>
            </a:lvl3pPr>
            <a:lvl4pPr marL="1371600" indent="0" algn="ctr">
              <a:buNone/>
              <a:defRPr sz="1050" spc="300">
                <a:solidFill>
                  <a:schemeClr val="bg1"/>
                </a:solidFill>
              </a:defRPr>
            </a:lvl4pPr>
            <a:lvl5pPr marL="1828800" indent="0" algn="ctr">
              <a:buNone/>
              <a:defRPr sz="1050" spc="300">
                <a:solidFill>
                  <a:schemeClr val="bg1"/>
                </a:solidFill>
              </a:defRPr>
            </a:lvl5pPr>
          </a:lstStyle>
          <a:p>
            <a:pPr lvl="0"/>
            <a:r>
              <a:rPr lang="en-US" dirty="0"/>
              <a:t>CLICK TO EDIT MASTER TEXT STYLES</a:t>
            </a:r>
          </a:p>
        </p:txBody>
      </p:sp>
      <p:sp>
        <p:nvSpPr>
          <p:cNvPr id="6" name="Title 1">
            <a:extLst>
              <a:ext uri="{FF2B5EF4-FFF2-40B4-BE49-F238E27FC236}">
                <a16:creationId xmlns:a16="http://schemas.microsoft.com/office/drawing/2014/main" id="{30773A33-C933-040C-38F4-7E444DEDA5A7}"/>
              </a:ext>
            </a:extLst>
          </p:cNvPr>
          <p:cNvSpPr>
            <a:spLocks noGrp="1"/>
          </p:cNvSpPr>
          <p:nvPr>
            <p:ph type="title" hasCustomPrompt="1"/>
          </p:nvPr>
        </p:nvSpPr>
        <p:spPr>
          <a:xfrm>
            <a:off x="1104900" y="1800808"/>
            <a:ext cx="7092820" cy="1628192"/>
          </a:xfrm>
        </p:spPr>
        <p:txBody>
          <a:bodyPr lIns="0" bIns="0" anchor="b" anchorCtr="0">
            <a:noAutofit/>
          </a:bodyPr>
          <a:lstStyle>
            <a:lvl1pPr>
              <a:defRPr sz="3200" b="1">
                <a:solidFill>
                  <a:schemeClr val="bg1"/>
                </a:solidFill>
              </a:defRPr>
            </a:lvl1pPr>
          </a:lstStyle>
          <a:p>
            <a:r>
              <a:rPr lang="en-US" dirty="0"/>
              <a:t>Section Title (Max Two Lines)</a:t>
            </a:r>
          </a:p>
        </p:txBody>
      </p:sp>
      <p:sp>
        <p:nvSpPr>
          <p:cNvPr id="7" name="Text Placeholder 5">
            <a:extLst>
              <a:ext uri="{FF2B5EF4-FFF2-40B4-BE49-F238E27FC236}">
                <a16:creationId xmlns:a16="http://schemas.microsoft.com/office/drawing/2014/main" id="{03C54B7B-813E-7B62-27B5-633489321878}"/>
              </a:ext>
            </a:extLst>
          </p:cNvPr>
          <p:cNvSpPr>
            <a:spLocks noGrp="1"/>
          </p:cNvSpPr>
          <p:nvPr>
            <p:ph type="body" sz="quarter" idx="18" hasCustomPrompt="1"/>
          </p:nvPr>
        </p:nvSpPr>
        <p:spPr>
          <a:xfrm>
            <a:off x="1104900" y="3652538"/>
            <a:ext cx="7092820" cy="774441"/>
          </a:xfrm>
        </p:spPr>
        <p:txBody>
          <a:bodyPr lIns="0" tIns="0">
            <a:noAutofit/>
          </a:bodyPr>
          <a:lstStyle>
            <a:lvl1pPr marL="0" indent="0">
              <a:lnSpc>
                <a:spcPct val="100000"/>
              </a:lnSpc>
              <a:buClr>
                <a:schemeClr val="accent2"/>
              </a:buClr>
              <a:buFont typeface="Arial" panose="020B0604020202020204" pitchFamily="34" charset="0"/>
              <a:buNone/>
              <a:tabLst/>
              <a:defRPr sz="18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r>
              <a:rPr lang="en-US" dirty="0"/>
              <a:t>Subhead (not required, max two lines)</a:t>
            </a:r>
          </a:p>
          <a:p>
            <a:pPr lvl="0"/>
            <a:endParaRPr lang="en-US" dirty="0"/>
          </a:p>
        </p:txBody>
      </p:sp>
      <p:sp>
        <p:nvSpPr>
          <p:cNvPr id="13" name="Slide Number Placeholder 5">
            <a:extLst>
              <a:ext uri="{FF2B5EF4-FFF2-40B4-BE49-F238E27FC236}">
                <a16:creationId xmlns:a16="http://schemas.microsoft.com/office/drawing/2014/main" id="{C9736184-ED63-6779-B7C5-534556DC2145}"/>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solidFill>
              </a:defRPr>
            </a:lvl1pPr>
          </a:lstStyle>
          <a:p>
            <a:fld id="{BAD56BAB-9B7B-4C09-8A45-659D39241E09}" type="slidenum">
              <a:rPr lang="es-CL" smtClean="0"/>
              <a:t>‹Nº›</a:t>
            </a:fld>
            <a:endParaRPr lang="es-CL"/>
          </a:p>
        </p:txBody>
      </p:sp>
    </p:spTree>
    <p:extLst>
      <p:ext uri="{BB962C8B-B14F-4D97-AF65-F5344CB8AC3E}">
        <p14:creationId xmlns:p14="http://schemas.microsoft.com/office/powerpoint/2010/main" val="392309472"/>
      </p:ext>
    </p:extLst>
  </p:cSld>
  <p:clrMapOvr>
    <a:masterClrMapping/>
  </p:clrMapOvr>
  <p:extLst>
    <p:ext uri="{DCECCB84-F9BA-43D5-87BE-67443E8EF086}">
      <p15:sldGuideLst xmlns:p15="http://schemas.microsoft.com/office/powerpoint/2012/main"/>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cSld name="Sub-section Divider">
    <p:bg>
      <p:bgPr>
        <a:solidFill>
          <a:schemeClr val="tx1"/>
        </a:solidFill>
        <a:effectLst/>
      </p:bgPr>
    </p:bg>
    <p:spTree>
      <p:nvGrpSpPr>
        <p:cNvPr id="1" name=""/>
        <p:cNvGrpSpPr/>
        <p:nvPr/>
      </p:nvGrpSpPr>
      <p:grpSpPr>
        <a:xfrm>
          <a:off x="0" y="0"/>
          <a:ext cx="0" cy="0"/>
          <a:chOff x="0" y="0"/>
          <a:chExt cx="0" cy="0"/>
        </a:xfrm>
      </p:grpSpPr>
      <p:sp>
        <p:nvSpPr>
          <p:cNvPr id="2" name="Vertical Text Placeholder 2">
            <a:extLst>
              <a:ext uri="{FF2B5EF4-FFF2-40B4-BE49-F238E27FC236}">
                <a16:creationId xmlns:a16="http://schemas.microsoft.com/office/drawing/2014/main" id="{B4E21473-327B-3C3B-2526-FD5AB3A4428E}"/>
              </a:ext>
            </a:extLst>
          </p:cNvPr>
          <p:cNvSpPr>
            <a:spLocks noGrp="1"/>
          </p:cNvSpPr>
          <p:nvPr>
            <p:ph type="body" orient="vert" sz="quarter" idx="10" hasCustomPrompt="1"/>
          </p:nvPr>
        </p:nvSpPr>
        <p:spPr>
          <a:xfrm>
            <a:off x="0" y="685800"/>
            <a:ext cx="609600" cy="5486399"/>
          </a:xfrm>
        </p:spPr>
        <p:txBody>
          <a:bodyPr vert="vert270" anchor="ctr" anchorCtr="0">
            <a:noAutofit/>
          </a:bodyPr>
          <a:lstStyle>
            <a:lvl1pPr marL="0" indent="0" algn="ctr">
              <a:buNone/>
              <a:defRPr sz="1200" spc="300">
                <a:solidFill>
                  <a:schemeClr val="bg1"/>
                </a:solidFill>
              </a:defRPr>
            </a:lvl1pPr>
            <a:lvl2pPr marL="457200" indent="0" algn="ctr">
              <a:buNone/>
              <a:defRPr sz="1200" spc="300">
                <a:solidFill>
                  <a:schemeClr val="bg1"/>
                </a:solidFill>
              </a:defRPr>
            </a:lvl2pPr>
            <a:lvl3pPr marL="914400" indent="0" algn="ctr">
              <a:buNone/>
              <a:defRPr sz="1100" spc="300">
                <a:solidFill>
                  <a:schemeClr val="bg1"/>
                </a:solidFill>
              </a:defRPr>
            </a:lvl3pPr>
            <a:lvl4pPr marL="1371600" indent="0" algn="ctr">
              <a:buNone/>
              <a:defRPr sz="1050" spc="300">
                <a:solidFill>
                  <a:schemeClr val="bg1"/>
                </a:solidFill>
              </a:defRPr>
            </a:lvl4pPr>
            <a:lvl5pPr marL="1828800" indent="0" algn="ctr">
              <a:buNone/>
              <a:defRPr sz="1050" spc="300">
                <a:solidFill>
                  <a:schemeClr val="bg1"/>
                </a:solidFill>
              </a:defRPr>
            </a:lvl5pPr>
          </a:lstStyle>
          <a:p>
            <a:pPr lvl="0"/>
            <a:r>
              <a:rPr lang="en-US" dirty="0"/>
              <a:t>CLICK TO EDIT MASTER TEXT STYLES</a:t>
            </a:r>
          </a:p>
        </p:txBody>
      </p:sp>
      <p:sp>
        <p:nvSpPr>
          <p:cNvPr id="6" name="Title 1">
            <a:extLst>
              <a:ext uri="{FF2B5EF4-FFF2-40B4-BE49-F238E27FC236}">
                <a16:creationId xmlns:a16="http://schemas.microsoft.com/office/drawing/2014/main" id="{30773A33-C933-040C-38F4-7E444DEDA5A7}"/>
              </a:ext>
            </a:extLst>
          </p:cNvPr>
          <p:cNvSpPr>
            <a:spLocks noGrp="1"/>
          </p:cNvSpPr>
          <p:nvPr>
            <p:ph type="title" hasCustomPrompt="1"/>
          </p:nvPr>
        </p:nvSpPr>
        <p:spPr>
          <a:xfrm>
            <a:off x="1104900" y="1800808"/>
            <a:ext cx="7092820" cy="1628192"/>
          </a:xfrm>
        </p:spPr>
        <p:txBody>
          <a:bodyPr lIns="0" bIns="0" anchor="b" anchorCtr="0">
            <a:noAutofit/>
          </a:bodyPr>
          <a:lstStyle>
            <a:lvl1pPr>
              <a:defRPr sz="3200" b="1">
                <a:solidFill>
                  <a:schemeClr val="bg1"/>
                </a:solidFill>
              </a:defRPr>
            </a:lvl1pPr>
          </a:lstStyle>
          <a:p>
            <a:r>
              <a:rPr lang="en-US" dirty="0"/>
              <a:t>Sub-section Title (Max Two Lines)</a:t>
            </a:r>
          </a:p>
        </p:txBody>
      </p:sp>
      <p:sp>
        <p:nvSpPr>
          <p:cNvPr id="7" name="Text Placeholder 5">
            <a:extLst>
              <a:ext uri="{FF2B5EF4-FFF2-40B4-BE49-F238E27FC236}">
                <a16:creationId xmlns:a16="http://schemas.microsoft.com/office/drawing/2014/main" id="{03C54B7B-813E-7B62-27B5-633489321878}"/>
              </a:ext>
            </a:extLst>
          </p:cNvPr>
          <p:cNvSpPr>
            <a:spLocks noGrp="1"/>
          </p:cNvSpPr>
          <p:nvPr>
            <p:ph type="body" sz="quarter" idx="18" hasCustomPrompt="1"/>
          </p:nvPr>
        </p:nvSpPr>
        <p:spPr>
          <a:xfrm>
            <a:off x="1104900" y="3652538"/>
            <a:ext cx="7092820" cy="774441"/>
          </a:xfrm>
        </p:spPr>
        <p:txBody>
          <a:bodyPr lIns="0" tIns="0">
            <a:noAutofit/>
          </a:bodyPr>
          <a:lstStyle>
            <a:lvl1pPr marL="0" indent="0">
              <a:lnSpc>
                <a:spcPct val="100000"/>
              </a:lnSpc>
              <a:buClr>
                <a:schemeClr val="accent2"/>
              </a:buClr>
              <a:buFont typeface="Arial" panose="020B0604020202020204" pitchFamily="34" charset="0"/>
              <a:buNone/>
              <a:tabLst/>
              <a:defRPr sz="18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r>
              <a:rPr lang="en-US" dirty="0"/>
              <a:t>Sub-subhead (not required, max two lines)</a:t>
            </a:r>
          </a:p>
          <a:p>
            <a:pPr lvl="0"/>
            <a:endParaRPr lang="en-US" dirty="0"/>
          </a:p>
        </p:txBody>
      </p:sp>
      <p:sp>
        <p:nvSpPr>
          <p:cNvPr id="13" name="Slide Number Placeholder 5">
            <a:extLst>
              <a:ext uri="{FF2B5EF4-FFF2-40B4-BE49-F238E27FC236}">
                <a16:creationId xmlns:a16="http://schemas.microsoft.com/office/drawing/2014/main" id="{C9736184-ED63-6779-B7C5-534556DC2145}"/>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solidFill>
              </a:defRPr>
            </a:lvl1pPr>
          </a:lstStyle>
          <a:p>
            <a:fld id="{BAD56BAB-9B7B-4C09-8A45-659D39241E09}" type="slidenum">
              <a:rPr lang="es-CL" smtClean="0"/>
              <a:t>‹Nº›</a:t>
            </a:fld>
            <a:endParaRPr lang="es-CL"/>
          </a:p>
        </p:txBody>
      </p:sp>
    </p:spTree>
    <p:extLst>
      <p:ext uri="{BB962C8B-B14F-4D97-AF65-F5344CB8AC3E}">
        <p14:creationId xmlns:p14="http://schemas.microsoft.com/office/powerpoint/2010/main" val="1565288315"/>
      </p:ext>
    </p:extLst>
  </p:cSld>
  <p:clrMapOvr>
    <a:masterClrMapping/>
  </p:clrMapOvr>
  <p:extLst>
    <p:ext uri="{DCECCB84-F9BA-43D5-87BE-67443E8EF086}">
      <p15:sldGuideLst xmlns:p15="http://schemas.microsoft.com/office/powerpoint/2012/main"/>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cSld name="Headline-Copy">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5" y="361822"/>
            <a:ext cx="11122188"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6" name="Text Placeholder 5">
            <a:extLst>
              <a:ext uri="{FF2B5EF4-FFF2-40B4-BE49-F238E27FC236}">
                <a16:creationId xmlns:a16="http://schemas.microsoft.com/office/drawing/2014/main" id="{9D09DD77-3C7C-EEB6-765D-0ED3FE5F28B3}"/>
              </a:ext>
            </a:extLst>
          </p:cNvPr>
          <p:cNvSpPr>
            <a:spLocks noGrp="1"/>
          </p:cNvSpPr>
          <p:nvPr>
            <p:ph type="body" sz="quarter" idx="11"/>
          </p:nvPr>
        </p:nvSpPr>
        <p:spPr>
          <a:xfrm>
            <a:off x="522287" y="1056958"/>
            <a:ext cx="11122188" cy="510063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Tree>
    <p:extLst>
      <p:ext uri="{BB962C8B-B14F-4D97-AF65-F5344CB8AC3E}">
        <p14:creationId xmlns:p14="http://schemas.microsoft.com/office/powerpoint/2010/main" val="3909345052"/>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pic>
        <p:nvPicPr>
          <p:cNvPr id="2" name="Graphic 1">
            <a:extLst>
              <a:ext uri="{FF2B5EF4-FFF2-40B4-BE49-F238E27FC236}">
                <a16:creationId xmlns:a16="http://schemas.microsoft.com/office/drawing/2014/main" id="{5A8556FD-943F-2CA8-3B15-1C7401E71D1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5" name="TextBox 4">
            <a:extLst>
              <a:ext uri="{FF2B5EF4-FFF2-40B4-BE49-F238E27FC236}">
                <a16:creationId xmlns:a16="http://schemas.microsoft.com/office/drawing/2014/main" id="{C6B12A91-8583-2E4C-B1C8-7E1F64EF24C9}"/>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850100317"/>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Purple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bg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2" name="TextBox 1">
            <a:extLst>
              <a:ext uri="{FF2B5EF4-FFF2-40B4-BE49-F238E27FC236}">
                <a16:creationId xmlns:a16="http://schemas.microsoft.com/office/drawing/2014/main" id="{8F1688B8-4AFA-00EF-A18F-CE0BE044452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886436383"/>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Green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tx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tx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 name="TextBox 3">
            <a:extLst>
              <a:ext uri="{FF2B5EF4-FFF2-40B4-BE49-F238E27FC236}">
                <a16:creationId xmlns:a16="http://schemas.microsoft.com/office/drawing/2014/main" id="{D2E118B2-5580-3101-C2BB-4FB39252D744}"/>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729791299"/>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Dark 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0A86818C-B6FC-21B3-0821-EE3D8DAE5AE3}"/>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2BC038CA-3E14-5783-3761-76D8A4C63EC0}"/>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0" name="Graphic 9">
            <a:extLst>
              <a:ext uri="{FF2B5EF4-FFF2-40B4-BE49-F238E27FC236}">
                <a16:creationId xmlns:a16="http://schemas.microsoft.com/office/drawing/2014/main" id="{A9D3FE11-F167-1622-761B-F4BFADB0B0E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EBAA974E-55D6-2A02-03A4-AAB7F36BF1B1}"/>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69C30255-143C-EB1C-95B6-9319F7AB9F7D}"/>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sp>
        <p:nvSpPr>
          <p:cNvPr id="7" name="TextBox 6">
            <a:extLst>
              <a:ext uri="{FF2B5EF4-FFF2-40B4-BE49-F238E27FC236}">
                <a16:creationId xmlns:a16="http://schemas.microsoft.com/office/drawing/2014/main" id="{67E32664-E882-9D71-52FE-71612364F8C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680009572"/>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Warm Gray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A2941D41-B5B7-CCE1-1B2C-89AAD5DACBE0}"/>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tx1"/>
                </a:solidFill>
              </a:defRPr>
            </a:lvl1pPr>
          </a:lstStyle>
          <a:p>
            <a:pPr lvl="0"/>
            <a:r>
              <a:rPr lang="en-US" dirty="0"/>
              <a:t>Headline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6600B585-62A4-8333-3077-9DD14A781807}"/>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1" name="Graphic 10">
            <a:extLst>
              <a:ext uri="{FF2B5EF4-FFF2-40B4-BE49-F238E27FC236}">
                <a16:creationId xmlns:a16="http://schemas.microsoft.com/office/drawing/2014/main" id="{21C3DEEA-3CCE-EBD2-6CE3-835C44C810E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74440542-6D19-B6BD-7831-2A113C1E6A79}"/>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30B08173-A7BE-6F86-6CDE-43EC9BEEB3CB}"/>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8" name="TextBox 7">
            <a:extLst>
              <a:ext uri="{FF2B5EF4-FFF2-40B4-BE49-F238E27FC236}">
                <a16:creationId xmlns:a16="http://schemas.microsoft.com/office/drawing/2014/main" id="{AC9D9DE1-FE9F-14AE-4A3F-F4173038006F}"/>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414787368"/>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C2C Cov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7">
            <a:extLst>
              <a:ext uri="{FF2B5EF4-FFF2-40B4-BE49-F238E27FC236}">
                <a16:creationId xmlns:a16="http://schemas.microsoft.com/office/drawing/2014/main" id="{52C18FF9-32C7-751D-36F8-EF5124DF2BE2}"/>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23" name="Text Placeholder 17">
            <a:extLst>
              <a:ext uri="{FF2B5EF4-FFF2-40B4-BE49-F238E27FC236}">
                <a16:creationId xmlns:a16="http://schemas.microsoft.com/office/drawing/2014/main" id="{D8DE661F-53B2-6E8E-9238-FE6484215B1A}"/>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26" name="Graphic 25">
            <a:extLst>
              <a:ext uri="{FF2B5EF4-FFF2-40B4-BE49-F238E27FC236}">
                <a16:creationId xmlns:a16="http://schemas.microsoft.com/office/drawing/2014/main" id="{2590016B-4462-F023-25AF-B00C9285325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7C710057-3FB3-19E3-5D75-F018F116AE47}"/>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6" name="Text Placeholder 17">
            <a:extLst>
              <a:ext uri="{FF2B5EF4-FFF2-40B4-BE49-F238E27FC236}">
                <a16:creationId xmlns:a16="http://schemas.microsoft.com/office/drawing/2014/main" id="{C41EE674-4BC9-86D6-67E5-FF509240DDED}"/>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AE8FAC4F-619C-5E6B-F2B0-D001F5A51111}"/>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201102971"/>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C2C Cover Image">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FBB43B24-12DD-1DD6-963C-7ADA857CCDC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A39E11EF-D17E-E6F4-B66D-C68ABBCCF813}"/>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64D279B7-3D21-DC76-5BCE-6A2D109B8EDB}"/>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3" name="Picture Placeholder 12">
            <a:extLst>
              <a:ext uri="{FF2B5EF4-FFF2-40B4-BE49-F238E27FC236}">
                <a16:creationId xmlns:a16="http://schemas.microsoft.com/office/drawing/2014/main" id="{04B738B6-E606-753D-F43C-ADBDF91B7E2D}"/>
              </a:ext>
            </a:extLst>
          </p:cNvPr>
          <p:cNvSpPr>
            <a:spLocks noGrp="1"/>
          </p:cNvSpPr>
          <p:nvPr>
            <p:ph type="pic" sz="quarter" idx="16" hasCustomPrompt="1"/>
          </p:nvPr>
        </p:nvSpPr>
        <p:spPr>
          <a:xfrm>
            <a:off x="6689725" y="355598"/>
            <a:ext cx="5502275" cy="6146801"/>
          </a:xfrm>
          <a:custGeom>
            <a:avLst/>
            <a:gdLst>
              <a:gd name="connsiteX0" fmla="*/ 0 w 5502275"/>
              <a:gd name="connsiteY0" fmla="*/ 0 h 6135556"/>
              <a:gd name="connsiteX1" fmla="*/ 5502275 w 5502275"/>
              <a:gd name="connsiteY1" fmla="*/ 0 h 6135556"/>
              <a:gd name="connsiteX2" fmla="*/ 5502275 w 5502275"/>
              <a:gd name="connsiteY2" fmla="*/ 218283 h 6135556"/>
              <a:gd name="connsiteX3" fmla="*/ 5502275 w 5502275"/>
              <a:gd name="connsiteY3" fmla="*/ 1268413 h 6135556"/>
              <a:gd name="connsiteX4" fmla="*/ 5502275 w 5502275"/>
              <a:gd name="connsiteY4" fmla="*/ 1731805 h 6135556"/>
              <a:gd name="connsiteX5" fmla="*/ 2676409 w 5502275"/>
              <a:gd name="connsiteY5" fmla="*/ 1731805 h 6135556"/>
              <a:gd name="connsiteX6" fmla="*/ 2676409 w 5502275"/>
              <a:gd name="connsiteY6" fmla="*/ 2311877 h 6135556"/>
              <a:gd name="connsiteX7" fmla="*/ 4972425 w 5502275"/>
              <a:gd name="connsiteY7" fmla="*/ 2311877 h 6135556"/>
              <a:gd name="connsiteX8" fmla="*/ 4972425 w 5502275"/>
              <a:gd name="connsiteY8" fmla="*/ 3825399 h 6135556"/>
              <a:gd name="connsiteX9" fmla="*/ 2676409 w 5502275"/>
              <a:gd name="connsiteY9" fmla="*/ 3825399 h 6135556"/>
              <a:gd name="connsiteX10" fmla="*/ 2676409 w 5502275"/>
              <a:gd name="connsiteY10" fmla="*/ 4414997 h 6135556"/>
              <a:gd name="connsiteX11" fmla="*/ 5502275 w 5502275"/>
              <a:gd name="connsiteY11" fmla="*/ 4414997 h 6135556"/>
              <a:gd name="connsiteX12" fmla="*/ 5502275 w 5502275"/>
              <a:gd name="connsiteY12" fmla="*/ 4867143 h 6135556"/>
              <a:gd name="connsiteX13" fmla="*/ 5502275 w 5502275"/>
              <a:gd name="connsiteY13" fmla="*/ 5928519 h 6135556"/>
              <a:gd name="connsiteX14" fmla="*/ 5502275 w 5502275"/>
              <a:gd name="connsiteY14" fmla="*/ 6135556 h 6135556"/>
              <a:gd name="connsiteX15" fmla="*/ 0 w 5502275"/>
              <a:gd name="connsiteY15" fmla="*/ 6135556 h 6135556"/>
              <a:gd name="connsiteX16" fmla="*/ 0 w 5502275"/>
              <a:gd name="connsiteY16" fmla="*/ 4867143 h 6135556"/>
              <a:gd name="connsiteX17" fmla="*/ 501 w 5502275"/>
              <a:gd name="connsiteY17" fmla="*/ 4867143 h 6135556"/>
              <a:gd name="connsiteX18" fmla="*/ 501 w 5502275"/>
              <a:gd name="connsiteY18" fmla="*/ 1268413 h 6135556"/>
              <a:gd name="connsiteX19" fmla="*/ 0 w 5502275"/>
              <a:gd name="connsiteY19" fmla="*/ 1268413 h 6135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502275" h="6135556">
                <a:moveTo>
                  <a:pt x="0" y="0"/>
                </a:moveTo>
                <a:lnTo>
                  <a:pt x="5502275" y="0"/>
                </a:lnTo>
                <a:lnTo>
                  <a:pt x="5502275" y="218283"/>
                </a:lnTo>
                <a:lnTo>
                  <a:pt x="5502275" y="1268413"/>
                </a:lnTo>
                <a:lnTo>
                  <a:pt x="5502275" y="1731805"/>
                </a:lnTo>
                <a:lnTo>
                  <a:pt x="2676409" y="1731805"/>
                </a:lnTo>
                <a:lnTo>
                  <a:pt x="2676409" y="2311877"/>
                </a:lnTo>
                <a:lnTo>
                  <a:pt x="4972425" y="2311877"/>
                </a:lnTo>
                <a:lnTo>
                  <a:pt x="4972425" y="3825399"/>
                </a:lnTo>
                <a:lnTo>
                  <a:pt x="2676409" y="3825399"/>
                </a:lnTo>
                <a:lnTo>
                  <a:pt x="2676409" y="4414997"/>
                </a:lnTo>
                <a:lnTo>
                  <a:pt x="5502275" y="4414997"/>
                </a:lnTo>
                <a:lnTo>
                  <a:pt x="5502275" y="4867143"/>
                </a:lnTo>
                <a:lnTo>
                  <a:pt x="5502275" y="5928519"/>
                </a:lnTo>
                <a:lnTo>
                  <a:pt x="5502275" y="6135556"/>
                </a:lnTo>
                <a:lnTo>
                  <a:pt x="0" y="6135556"/>
                </a:lnTo>
                <a:lnTo>
                  <a:pt x="0" y="4867143"/>
                </a:lnTo>
                <a:lnTo>
                  <a:pt x="501" y="4867143"/>
                </a:lnTo>
                <a:lnTo>
                  <a:pt x="501" y="1268413"/>
                </a:lnTo>
                <a:lnTo>
                  <a:pt x="0" y="1268413"/>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10" name="Text Placeholder 17">
            <a:extLst>
              <a:ext uri="{FF2B5EF4-FFF2-40B4-BE49-F238E27FC236}">
                <a16:creationId xmlns:a16="http://schemas.microsoft.com/office/drawing/2014/main" id="{1E88AEE2-3A55-B667-5D40-BB6299F48205}"/>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11" name="Text Placeholder 17">
            <a:extLst>
              <a:ext uri="{FF2B5EF4-FFF2-40B4-BE49-F238E27FC236}">
                <a16:creationId xmlns:a16="http://schemas.microsoft.com/office/drawing/2014/main" id="{D376FEF2-D482-FF48-0E21-E85BCDCAE008}"/>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E35B847D-2BA6-4533-FDD7-9CCF9A96A36C}"/>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90075237"/>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719585913"/>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p:cSld name="Headline">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5" y="361822"/>
            <a:ext cx="11122188"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Tree>
    <p:extLst>
      <p:ext uri="{BB962C8B-B14F-4D97-AF65-F5344CB8AC3E}">
        <p14:creationId xmlns:p14="http://schemas.microsoft.com/office/powerpoint/2010/main" val="2130341487"/>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p:cSld name="Content-01">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8599914" cy="278794"/>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229208"/>
            <a:ext cx="8599914" cy="597151"/>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012872"/>
            <a:ext cx="8599572"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1225431651"/>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p:cSld name="Content-02">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529440"/>
            <a:ext cx="4757015"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4" name="Text Placeholder 17">
            <a:extLst>
              <a:ext uri="{FF2B5EF4-FFF2-40B4-BE49-F238E27FC236}">
                <a16:creationId xmlns:a16="http://schemas.microsoft.com/office/drawing/2014/main" id="{D20FA87A-09E8-BDB2-1C69-54F54B22BE31}"/>
              </a:ext>
            </a:extLst>
          </p:cNvPr>
          <p:cNvSpPr>
            <a:spLocks noGrp="1"/>
          </p:cNvSpPr>
          <p:nvPr>
            <p:ph type="body" sz="quarter" idx="15" hasCustomPrompt="1"/>
          </p:nvPr>
        </p:nvSpPr>
        <p:spPr>
          <a:xfrm>
            <a:off x="630383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6" name="Text Placeholder 8">
            <a:extLst>
              <a:ext uri="{FF2B5EF4-FFF2-40B4-BE49-F238E27FC236}">
                <a16:creationId xmlns:a16="http://schemas.microsoft.com/office/drawing/2014/main" id="{349B6786-5FA4-2087-2C3C-22F8A8E171CC}"/>
              </a:ext>
            </a:extLst>
          </p:cNvPr>
          <p:cNvSpPr>
            <a:spLocks noGrp="1"/>
          </p:cNvSpPr>
          <p:nvPr>
            <p:ph type="body" sz="quarter" idx="16" hasCustomPrompt="1"/>
          </p:nvPr>
        </p:nvSpPr>
        <p:spPr>
          <a:xfrm>
            <a:off x="630383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7" name="Text Placeholder 12">
            <a:extLst>
              <a:ext uri="{FF2B5EF4-FFF2-40B4-BE49-F238E27FC236}">
                <a16:creationId xmlns:a16="http://schemas.microsoft.com/office/drawing/2014/main" id="{86BD890A-D326-FD3F-EDA2-9599F756B623}"/>
              </a:ext>
            </a:extLst>
          </p:cNvPr>
          <p:cNvSpPr>
            <a:spLocks noGrp="1"/>
          </p:cNvSpPr>
          <p:nvPr>
            <p:ph type="body" sz="quarter" idx="17"/>
          </p:nvPr>
        </p:nvSpPr>
        <p:spPr>
          <a:xfrm>
            <a:off x="6303555" y="3529440"/>
            <a:ext cx="4757015"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1274978979"/>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p:cSld name="Content-03">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3216914"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16" name="Text Placeholder 17">
            <a:extLst>
              <a:ext uri="{FF2B5EF4-FFF2-40B4-BE49-F238E27FC236}">
                <a16:creationId xmlns:a16="http://schemas.microsoft.com/office/drawing/2014/main" id="{5A431E8C-C0AC-DBC9-2391-1C619D591E69}"/>
              </a:ext>
            </a:extLst>
          </p:cNvPr>
          <p:cNvSpPr>
            <a:spLocks noGrp="1"/>
          </p:cNvSpPr>
          <p:nvPr>
            <p:ph type="body" sz="quarter" idx="15" hasCustomPrompt="1"/>
          </p:nvPr>
        </p:nvSpPr>
        <p:spPr>
          <a:xfrm>
            <a:off x="439375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7" name="Text Placeholder 8">
            <a:extLst>
              <a:ext uri="{FF2B5EF4-FFF2-40B4-BE49-F238E27FC236}">
                <a16:creationId xmlns:a16="http://schemas.microsoft.com/office/drawing/2014/main" id="{7C89246B-18AE-5DA8-795F-679BD7C0617D}"/>
              </a:ext>
            </a:extLst>
          </p:cNvPr>
          <p:cNvSpPr>
            <a:spLocks noGrp="1"/>
          </p:cNvSpPr>
          <p:nvPr>
            <p:ph type="body" sz="quarter" idx="16" hasCustomPrompt="1"/>
          </p:nvPr>
        </p:nvSpPr>
        <p:spPr>
          <a:xfrm>
            <a:off x="439375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8" name="Text Placeholder 12">
            <a:extLst>
              <a:ext uri="{FF2B5EF4-FFF2-40B4-BE49-F238E27FC236}">
                <a16:creationId xmlns:a16="http://schemas.microsoft.com/office/drawing/2014/main" id="{4F617632-1F8F-2092-32FC-7367A36B4B50}"/>
              </a:ext>
            </a:extLst>
          </p:cNvPr>
          <p:cNvSpPr>
            <a:spLocks noGrp="1"/>
          </p:cNvSpPr>
          <p:nvPr>
            <p:ph type="body" sz="quarter" idx="17"/>
          </p:nvPr>
        </p:nvSpPr>
        <p:spPr>
          <a:xfrm>
            <a:off x="4393475" y="3740277"/>
            <a:ext cx="3216914"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19" name="Text Placeholder 17">
            <a:extLst>
              <a:ext uri="{FF2B5EF4-FFF2-40B4-BE49-F238E27FC236}">
                <a16:creationId xmlns:a16="http://schemas.microsoft.com/office/drawing/2014/main" id="{03C76AD3-B446-33B3-D6A6-D34A7B1A9CA9}"/>
              </a:ext>
            </a:extLst>
          </p:cNvPr>
          <p:cNvSpPr>
            <a:spLocks noGrp="1"/>
          </p:cNvSpPr>
          <p:nvPr>
            <p:ph type="body" sz="quarter" idx="18" hasCustomPrompt="1"/>
          </p:nvPr>
        </p:nvSpPr>
        <p:spPr>
          <a:xfrm>
            <a:off x="826471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20" name="Text Placeholder 8">
            <a:extLst>
              <a:ext uri="{FF2B5EF4-FFF2-40B4-BE49-F238E27FC236}">
                <a16:creationId xmlns:a16="http://schemas.microsoft.com/office/drawing/2014/main" id="{EA4DB68B-5ABD-7BD4-0D0C-E218D955694D}"/>
              </a:ext>
            </a:extLst>
          </p:cNvPr>
          <p:cNvSpPr>
            <a:spLocks noGrp="1"/>
          </p:cNvSpPr>
          <p:nvPr>
            <p:ph type="body" sz="quarter" idx="19" hasCustomPrompt="1"/>
          </p:nvPr>
        </p:nvSpPr>
        <p:spPr>
          <a:xfrm>
            <a:off x="826471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21" name="Text Placeholder 12">
            <a:extLst>
              <a:ext uri="{FF2B5EF4-FFF2-40B4-BE49-F238E27FC236}">
                <a16:creationId xmlns:a16="http://schemas.microsoft.com/office/drawing/2014/main" id="{9E284295-AA76-A820-A4B4-F649763A5346}"/>
              </a:ext>
            </a:extLst>
          </p:cNvPr>
          <p:cNvSpPr>
            <a:spLocks noGrp="1"/>
          </p:cNvSpPr>
          <p:nvPr>
            <p:ph type="body" sz="quarter" idx="20"/>
          </p:nvPr>
        </p:nvSpPr>
        <p:spPr>
          <a:xfrm>
            <a:off x="8264435" y="3740277"/>
            <a:ext cx="3216914"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46315618"/>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p:cSld name="Content-04">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86"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86"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4" name="Text Placeholder 17">
            <a:extLst>
              <a:ext uri="{FF2B5EF4-FFF2-40B4-BE49-F238E27FC236}">
                <a16:creationId xmlns:a16="http://schemas.microsoft.com/office/drawing/2014/main" id="{A7841F65-A264-9942-011F-C0257234F038}"/>
              </a:ext>
            </a:extLst>
          </p:cNvPr>
          <p:cNvSpPr>
            <a:spLocks noGrp="1"/>
          </p:cNvSpPr>
          <p:nvPr>
            <p:ph type="body" sz="quarter" idx="15" hasCustomPrompt="1"/>
          </p:nvPr>
        </p:nvSpPr>
        <p:spPr>
          <a:xfrm>
            <a:off x="3370044"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6" name="Text Placeholder 8">
            <a:extLst>
              <a:ext uri="{FF2B5EF4-FFF2-40B4-BE49-F238E27FC236}">
                <a16:creationId xmlns:a16="http://schemas.microsoft.com/office/drawing/2014/main" id="{C15516F4-558F-C634-22F7-1F2C190C2A1A}"/>
              </a:ext>
            </a:extLst>
          </p:cNvPr>
          <p:cNvSpPr>
            <a:spLocks noGrp="1"/>
          </p:cNvSpPr>
          <p:nvPr>
            <p:ph type="body" sz="quarter" idx="16" hasCustomPrompt="1"/>
          </p:nvPr>
        </p:nvSpPr>
        <p:spPr>
          <a:xfrm>
            <a:off x="3370044"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7" name="Text Placeholder 12">
            <a:extLst>
              <a:ext uri="{FF2B5EF4-FFF2-40B4-BE49-F238E27FC236}">
                <a16:creationId xmlns:a16="http://schemas.microsoft.com/office/drawing/2014/main" id="{D46D04B0-DA90-F948-8623-D10B3ED438A3}"/>
              </a:ext>
            </a:extLst>
          </p:cNvPr>
          <p:cNvSpPr>
            <a:spLocks noGrp="1"/>
          </p:cNvSpPr>
          <p:nvPr>
            <p:ph type="body" sz="quarter" idx="17"/>
          </p:nvPr>
        </p:nvSpPr>
        <p:spPr>
          <a:xfrm>
            <a:off x="3369773"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8" name="Text Placeholder 17">
            <a:extLst>
              <a:ext uri="{FF2B5EF4-FFF2-40B4-BE49-F238E27FC236}">
                <a16:creationId xmlns:a16="http://schemas.microsoft.com/office/drawing/2014/main" id="{C45E5508-18D4-B8A0-9554-18C8CC7BA633}"/>
              </a:ext>
            </a:extLst>
          </p:cNvPr>
          <p:cNvSpPr>
            <a:spLocks noGrp="1"/>
          </p:cNvSpPr>
          <p:nvPr>
            <p:ph type="body" sz="quarter" idx="18" hasCustomPrompt="1"/>
          </p:nvPr>
        </p:nvSpPr>
        <p:spPr>
          <a:xfrm>
            <a:off x="6217771"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0" name="Text Placeholder 8">
            <a:extLst>
              <a:ext uri="{FF2B5EF4-FFF2-40B4-BE49-F238E27FC236}">
                <a16:creationId xmlns:a16="http://schemas.microsoft.com/office/drawing/2014/main" id="{9B9FC0B2-A2E1-EE23-DD92-95D99FB7FCBC}"/>
              </a:ext>
            </a:extLst>
          </p:cNvPr>
          <p:cNvSpPr>
            <a:spLocks noGrp="1"/>
          </p:cNvSpPr>
          <p:nvPr>
            <p:ph type="body" sz="quarter" idx="19" hasCustomPrompt="1"/>
          </p:nvPr>
        </p:nvSpPr>
        <p:spPr>
          <a:xfrm>
            <a:off x="6217771"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1" name="Text Placeholder 12">
            <a:extLst>
              <a:ext uri="{FF2B5EF4-FFF2-40B4-BE49-F238E27FC236}">
                <a16:creationId xmlns:a16="http://schemas.microsoft.com/office/drawing/2014/main" id="{9AD3BD22-757B-EEDC-2BED-851D01FAD009}"/>
              </a:ext>
            </a:extLst>
          </p:cNvPr>
          <p:cNvSpPr>
            <a:spLocks noGrp="1"/>
          </p:cNvSpPr>
          <p:nvPr>
            <p:ph type="body" sz="quarter" idx="20"/>
          </p:nvPr>
        </p:nvSpPr>
        <p:spPr>
          <a:xfrm>
            <a:off x="6217500"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12" name="Text Placeholder 17">
            <a:extLst>
              <a:ext uri="{FF2B5EF4-FFF2-40B4-BE49-F238E27FC236}">
                <a16:creationId xmlns:a16="http://schemas.microsoft.com/office/drawing/2014/main" id="{5E75D8B7-36BA-C036-3008-ED7181EA29CE}"/>
              </a:ext>
            </a:extLst>
          </p:cNvPr>
          <p:cNvSpPr>
            <a:spLocks noGrp="1"/>
          </p:cNvSpPr>
          <p:nvPr>
            <p:ph type="body" sz="quarter" idx="21" hasCustomPrompt="1"/>
          </p:nvPr>
        </p:nvSpPr>
        <p:spPr>
          <a:xfrm>
            <a:off x="9065399"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4" name="Text Placeholder 8">
            <a:extLst>
              <a:ext uri="{FF2B5EF4-FFF2-40B4-BE49-F238E27FC236}">
                <a16:creationId xmlns:a16="http://schemas.microsoft.com/office/drawing/2014/main" id="{BD2C72CE-2AC1-03E8-EC6E-6628A5C8EE8B}"/>
              </a:ext>
            </a:extLst>
          </p:cNvPr>
          <p:cNvSpPr>
            <a:spLocks noGrp="1"/>
          </p:cNvSpPr>
          <p:nvPr>
            <p:ph type="body" sz="quarter" idx="22" hasCustomPrompt="1"/>
          </p:nvPr>
        </p:nvSpPr>
        <p:spPr>
          <a:xfrm>
            <a:off x="9065399"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5" name="Text Placeholder 12">
            <a:extLst>
              <a:ext uri="{FF2B5EF4-FFF2-40B4-BE49-F238E27FC236}">
                <a16:creationId xmlns:a16="http://schemas.microsoft.com/office/drawing/2014/main" id="{C86AC0A8-2096-FDDC-FEAB-27E8D3456BF7}"/>
              </a:ext>
            </a:extLst>
          </p:cNvPr>
          <p:cNvSpPr>
            <a:spLocks noGrp="1"/>
          </p:cNvSpPr>
          <p:nvPr>
            <p:ph type="body" sz="quarter" idx="23"/>
          </p:nvPr>
        </p:nvSpPr>
        <p:spPr>
          <a:xfrm>
            <a:off x="9065128"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917827417"/>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1CE7E595-5C3F-0BAF-330D-65E2AD801F66}"/>
              </a:ext>
            </a:extLst>
          </p:cNvPr>
          <p:cNvSpPr>
            <a:spLocks noGrp="1"/>
          </p:cNvSpPr>
          <p:nvPr>
            <p:ph type="body" sz="quarter" idx="18" hasCustomPrompt="1"/>
          </p:nvPr>
        </p:nvSpPr>
        <p:spPr>
          <a:xfrm>
            <a:off x="4571323" y="1133918"/>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9" name="Text Placeholder 7">
            <a:extLst>
              <a:ext uri="{FF2B5EF4-FFF2-40B4-BE49-F238E27FC236}">
                <a16:creationId xmlns:a16="http://schemas.microsoft.com/office/drawing/2014/main" id="{00B49552-BA81-9DEE-DBCE-F9356D66374D}"/>
              </a:ext>
            </a:extLst>
          </p:cNvPr>
          <p:cNvSpPr>
            <a:spLocks noGrp="1"/>
          </p:cNvSpPr>
          <p:nvPr>
            <p:ph type="body" sz="quarter" idx="19" hasCustomPrompt="1"/>
          </p:nvPr>
        </p:nvSpPr>
        <p:spPr>
          <a:xfrm>
            <a:off x="4571323" y="1793136"/>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0" name="Text Placeholder 7">
            <a:extLst>
              <a:ext uri="{FF2B5EF4-FFF2-40B4-BE49-F238E27FC236}">
                <a16:creationId xmlns:a16="http://schemas.microsoft.com/office/drawing/2014/main" id="{03CD231C-30AC-3339-A90C-FF099FDCE126}"/>
              </a:ext>
            </a:extLst>
          </p:cNvPr>
          <p:cNvSpPr>
            <a:spLocks noGrp="1"/>
          </p:cNvSpPr>
          <p:nvPr>
            <p:ph type="body" sz="quarter" idx="20" hasCustomPrompt="1"/>
          </p:nvPr>
        </p:nvSpPr>
        <p:spPr>
          <a:xfrm>
            <a:off x="4571323" y="2452355"/>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1" name="Text Placeholder 7">
            <a:extLst>
              <a:ext uri="{FF2B5EF4-FFF2-40B4-BE49-F238E27FC236}">
                <a16:creationId xmlns:a16="http://schemas.microsoft.com/office/drawing/2014/main" id="{8982B152-EDC0-3186-CD84-DAB96BF42494}"/>
              </a:ext>
            </a:extLst>
          </p:cNvPr>
          <p:cNvSpPr>
            <a:spLocks noGrp="1"/>
          </p:cNvSpPr>
          <p:nvPr>
            <p:ph type="body" sz="quarter" idx="21" hasCustomPrompt="1"/>
          </p:nvPr>
        </p:nvSpPr>
        <p:spPr>
          <a:xfrm>
            <a:off x="4571323" y="3111573"/>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8" name="Text Placeholder 7">
            <a:extLst>
              <a:ext uri="{FF2B5EF4-FFF2-40B4-BE49-F238E27FC236}">
                <a16:creationId xmlns:a16="http://schemas.microsoft.com/office/drawing/2014/main" id="{356610AF-C4CC-A0BF-AEC5-6E3BDD36D990}"/>
              </a:ext>
            </a:extLst>
          </p:cNvPr>
          <p:cNvSpPr>
            <a:spLocks noGrp="1"/>
          </p:cNvSpPr>
          <p:nvPr>
            <p:ph type="body" sz="quarter" idx="22" hasCustomPrompt="1"/>
          </p:nvPr>
        </p:nvSpPr>
        <p:spPr>
          <a:xfrm>
            <a:off x="4571323" y="3770791"/>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9" name="Text Placeholder 7">
            <a:extLst>
              <a:ext uri="{FF2B5EF4-FFF2-40B4-BE49-F238E27FC236}">
                <a16:creationId xmlns:a16="http://schemas.microsoft.com/office/drawing/2014/main" id="{71249665-4BF1-BC80-9E3E-27C6AC131E05}"/>
              </a:ext>
            </a:extLst>
          </p:cNvPr>
          <p:cNvSpPr>
            <a:spLocks noGrp="1"/>
          </p:cNvSpPr>
          <p:nvPr>
            <p:ph type="body" sz="quarter" idx="23" hasCustomPrompt="1"/>
          </p:nvPr>
        </p:nvSpPr>
        <p:spPr>
          <a:xfrm>
            <a:off x="4571323" y="4430010"/>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20" name="Text Placeholder 7">
            <a:extLst>
              <a:ext uri="{FF2B5EF4-FFF2-40B4-BE49-F238E27FC236}">
                <a16:creationId xmlns:a16="http://schemas.microsoft.com/office/drawing/2014/main" id="{5AF120EB-8D6E-49DB-0DA5-20F61C819518}"/>
              </a:ext>
            </a:extLst>
          </p:cNvPr>
          <p:cNvSpPr>
            <a:spLocks noGrp="1"/>
          </p:cNvSpPr>
          <p:nvPr>
            <p:ph type="body" sz="quarter" idx="24" hasCustomPrompt="1"/>
          </p:nvPr>
        </p:nvSpPr>
        <p:spPr>
          <a:xfrm>
            <a:off x="4571323" y="5089229"/>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pic>
        <p:nvPicPr>
          <p:cNvPr id="21" name="Graphic 20">
            <a:extLst>
              <a:ext uri="{FF2B5EF4-FFF2-40B4-BE49-F238E27FC236}">
                <a16:creationId xmlns:a16="http://schemas.microsoft.com/office/drawing/2014/main" id="{B6EDFCBE-296B-864F-13E7-245D40ED0C39}"/>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1647542" y="1793136"/>
            <a:ext cx="789191" cy="789191"/>
          </a:xfrm>
          <a:prstGeom prst="rect">
            <a:avLst/>
          </a:prstGeom>
        </p:spPr>
      </p:pic>
      <p:pic>
        <p:nvPicPr>
          <p:cNvPr id="22" name="Graphic 21">
            <a:extLst>
              <a:ext uri="{FF2B5EF4-FFF2-40B4-BE49-F238E27FC236}">
                <a16:creationId xmlns:a16="http://schemas.microsoft.com/office/drawing/2014/main" id="{D5A0CFA2-F296-A8B7-CB70-C9D00D9E3C9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78777" y="6474193"/>
            <a:ext cx="820683" cy="198585"/>
          </a:xfrm>
          <a:prstGeom prst="rect">
            <a:avLst/>
          </a:prstGeom>
        </p:spPr>
      </p:pic>
      <p:sp>
        <p:nvSpPr>
          <p:cNvPr id="5" name="Text Placeholder 17">
            <a:extLst>
              <a:ext uri="{FF2B5EF4-FFF2-40B4-BE49-F238E27FC236}">
                <a16:creationId xmlns:a16="http://schemas.microsoft.com/office/drawing/2014/main" id="{7CD097DB-9618-CDB1-1F1F-B033BC4801EA}"/>
              </a:ext>
            </a:extLst>
          </p:cNvPr>
          <p:cNvSpPr>
            <a:spLocks noGrp="1"/>
          </p:cNvSpPr>
          <p:nvPr>
            <p:ph type="body" sz="quarter" idx="10" hasCustomPrompt="1"/>
          </p:nvPr>
        </p:nvSpPr>
        <p:spPr>
          <a:xfrm>
            <a:off x="352660" y="2735750"/>
            <a:ext cx="3358665" cy="944810"/>
          </a:xfrm>
        </p:spPr>
        <p:txBody>
          <a:bodyPr wrap="square">
            <a:spAutoFit/>
          </a:bodyPr>
          <a:lstStyle>
            <a:lvl1pPr marL="0" indent="0" algn="ctr">
              <a:lnSpc>
                <a:spcPct val="90000"/>
              </a:lnSpc>
              <a:spcBef>
                <a:spcPts val="0"/>
              </a:spcBef>
              <a:buNone/>
              <a:defRPr sz="3400" b="1">
                <a:solidFill>
                  <a:schemeClr val="bg1"/>
                </a:solidFill>
              </a:defRPr>
            </a:lvl1pPr>
          </a:lstStyle>
          <a:p>
            <a:pPr lvl="0"/>
            <a:r>
              <a:rPr lang="en-US" dirty="0"/>
              <a:t>Agenda or Table of Contents</a:t>
            </a:r>
          </a:p>
        </p:txBody>
      </p:sp>
    </p:spTree>
    <p:extLst>
      <p:ext uri="{BB962C8B-B14F-4D97-AF65-F5344CB8AC3E}">
        <p14:creationId xmlns:p14="http://schemas.microsoft.com/office/powerpoint/2010/main" val="700034205"/>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p:cSld name="Breaker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10" name="TextBox 9">
            <a:extLst>
              <a:ext uri="{FF2B5EF4-FFF2-40B4-BE49-F238E27FC236}">
                <a16:creationId xmlns:a16="http://schemas.microsoft.com/office/drawing/2014/main" id="{490D0730-EC65-31BF-A4FA-992A99E0E4CF}"/>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147069418"/>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p:cSld name="Breaker Dark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BE3200C5-B5A9-AC44-9200-784DFC63364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A2BD6F6F-F10E-C53F-032B-188519D8D1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2" name="TextBox 1">
            <a:extLst>
              <a:ext uri="{FF2B5EF4-FFF2-40B4-BE49-F238E27FC236}">
                <a16:creationId xmlns:a16="http://schemas.microsoft.com/office/drawing/2014/main" id="{8460C111-1CB1-186F-BF66-55001B5779EA}"/>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783314991"/>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p:cSld name="Breaker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tx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642BD9AE-C83A-9EF9-F573-61A0E81EA594}"/>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4188433739"/>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p:cSld name="PUR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563089" y="3740277"/>
            <a:ext cx="523271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2" name="Graphic 1">
            <a:extLst>
              <a:ext uri="{FF2B5EF4-FFF2-40B4-BE49-F238E27FC236}">
                <a16:creationId xmlns:a16="http://schemas.microsoft.com/office/drawing/2014/main" id="{017A8F2F-9330-25BE-0D2E-902E66CDE27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193587261"/>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p:cSld name="Gray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12" name="Graphic 11">
            <a:extLst>
              <a:ext uri="{FF2B5EF4-FFF2-40B4-BE49-F238E27FC236}">
                <a16:creationId xmlns:a16="http://schemas.microsoft.com/office/drawing/2014/main" id="{989C4F93-BF72-9EDD-88A7-D0623456593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508527534"/>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p:cSld name="Green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12" name="Graphic 11">
            <a:extLst>
              <a:ext uri="{FF2B5EF4-FFF2-40B4-BE49-F238E27FC236}">
                <a16:creationId xmlns:a16="http://schemas.microsoft.com/office/drawing/2014/main" id="{AB1728AA-35B4-4BD9-8922-5A10B50EFB7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191198591"/>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p:cSld name="PUR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2" name="Graphic 1">
            <a:extLst>
              <a:ext uri="{FF2B5EF4-FFF2-40B4-BE49-F238E27FC236}">
                <a16:creationId xmlns:a16="http://schemas.microsoft.com/office/drawing/2014/main" id="{01D50BC8-C95D-425B-652A-2D581ADCD81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512076907"/>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p:cSld name="Gray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9" name="Graphic 8">
            <a:extLst>
              <a:ext uri="{FF2B5EF4-FFF2-40B4-BE49-F238E27FC236}">
                <a16:creationId xmlns:a16="http://schemas.microsoft.com/office/drawing/2014/main" id="{E5FB72CE-435D-5F45-16B1-4A77B79AF3C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294606934"/>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p:cSld name="Green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9" name="Graphic 8">
            <a:extLst>
              <a:ext uri="{FF2B5EF4-FFF2-40B4-BE49-F238E27FC236}">
                <a16:creationId xmlns:a16="http://schemas.microsoft.com/office/drawing/2014/main" id="{65A4C054-B1C8-E492-ADA1-D665C51553F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708570085"/>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p:cSld name="Image-Right">
    <p:spTree>
      <p:nvGrpSpPr>
        <p:cNvPr id="1" name=""/>
        <p:cNvGrpSpPr/>
        <p:nvPr/>
      </p:nvGrpSpPr>
      <p:grpSpPr>
        <a:xfrm>
          <a:off x="0" y="0"/>
          <a:ext cx="0" cy="0"/>
          <a:chOff x="0" y="0"/>
          <a:chExt cx="0" cy="0"/>
        </a:xfrm>
      </p:grpSpPr>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38630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38630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386035" y="4139291"/>
            <a:ext cx="5008456"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6096000" y="0"/>
            <a:ext cx="6096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4157576758"/>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p:cSld name="Image-Lef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6096000" cy="6858000"/>
          </a:xfrm>
        </p:spPr>
        <p:txBody>
          <a:bodyPr anchor="ctr" anchorCtr="0">
            <a:noAutofit/>
          </a:bodyPr>
          <a:lstStyle>
            <a:lvl1pPr marL="0" indent="0" algn="ctr">
              <a:buNone/>
              <a:defRPr/>
            </a:lvl1pPr>
          </a:lstStyle>
          <a:p>
            <a:r>
              <a:rPr lang="en-US" dirty="0"/>
              <a:t>[Click to insert image]</a:t>
            </a:r>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666491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66518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66518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664915" y="4139291"/>
            <a:ext cx="5008456"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Tree>
    <p:extLst>
      <p:ext uri="{BB962C8B-B14F-4D97-AF65-F5344CB8AC3E}">
        <p14:creationId xmlns:p14="http://schemas.microsoft.com/office/powerpoint/2010/main" val="3594462165"/>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p:cSld name="Full Page Imag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12192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2254028411"/>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p:cSld name="EFrame Image Purple">
    <p:spTree>
      <p:nvGrpSpPr>
        <p:cNvPr id="1" name=""/>
        <p:cNvGrpSpPr/>
        <p:nvPr/>
      </p:nvGrpSpPr>
      <p:grpSpPr>
        <a:xfrm>
          <a:off x="0" y="0"/>
          <a:ext cx="0" cy="0"/>
          <a:chOff x="0" y="0"/>
          <a:chExt cx="0" cy="0"/>
        </a:xfrm>
      </p:grpSpPr>
      <p:sp>
        <p:nvSpPr>
          <p:cNvPr id="51" name="Rectangle 50">
            <a:extLst>
              <a:ext uri="{FF2B5EF4-FFF2-40B4-BE49-F238E27FC236}">
                <a16:creationId xmlns:a16="http://schemas.microsoft.com/office/drawing/2014/main" id="{5AACD76F-5A98-DE42-2012-2E4698A70B32}"/>
              </a:ext>
            </a:extLst>
          </p:cNvPr>
          <p:cNvSpPr/>
          <p:nvPr/>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Picture Placeholder 43">
            <a:extLst>
              <a:ext uri="{FF2B5EF4-FFF2-40B4-BE49-F238E27FC236}">
                <a16:creationId xmlns:a16="http://schemas.microsoft.com/office/drawing/2014/main" id="{C5980322-EF45-73EA-F45B-05C3C55E7CE2}"/>
              </a:ext>
            </a:extLst>
          </p:cNvPr>
          <p:cNvSpPr>
            <a:spLocks noGrp="1"/>
          </p:cNvSpPr>
          <p:nvPr>
            <p:ph type="pic" sz="quarter" idx="13" hasCustomPrompt="1"/>
          </p:nvPr>
        </p:nvSpPr>
        <p:spPr>
          <a:xfrm>
            <a:off x="5337810" y="573881"/>
            <a:ext cx="6854190" cy="5710237"/>
          </a:xfrm>
          <a:custGeom>
            <a:avLst/>
            <a:gdLst>
              <a:gd name="connsiteX0" fmla="*/ 0 w 6854190"/>
              <a:gd name="connsiteY0" fmla="*/ 0 h 5710237"/>
              <a:gd name="connsiteX1" fmla="*/ 3816350 w 6854190"/>
              <a:gd name="connsiteY1" fmla="*/ 0 h 5710237"/>
              <a:gd name="connsiteX2" fmla="*/ 3816350 w 6854190"/>
              <a:gd name="connsiteY2" fmla="*/ 1 h 5710237"/>
              <a:gd name="connsiteX3" fmla="*/ 6854190 w 6854190"/>
              <a:gd name="connsiteY3" fmla="*/ 1 h 5710237"/>
              <a:gd name="connsiteX4" fmla="*/ 6854190 w 6854190"/>
              <a:gd name="connsiteY4" fmla="*/ 1513523 h 5710237"/>
              <a:gd name="connsiteX5" fmla="*/ 3816350 w 6854190"/>
              <a:gd name="connsiteY5" fmla="*/ 1513523 h 5710237"/>
              <a:gd name="connsiteX6" fmla="*/ 3816350 w 6854190"/>
              <a:gd name="connsiteY6" fmla="*/ 2093595 h 5710237"/>
              <a:gd name="connsiteX7" fmla="*/ 6284595 w 6854190"/>
              <a:gd name="connsiteY7" fmla="*/ 2093595 h 5710237"/>
              <a:gd name="connsiteX8" fmla="*/ 6284595 w 6854190"/>
              <a:gd name="connsiteY8" fmla="*/ 3607117 h 5710237"/>
              <a:gd name="connsiteX9" fmla="*/ 3816350 w 6854190"/>
              <a:gd name="connsiteY9" fmla="*/ 3607117 h 5710237"/>
              <a:gd name="connsiteX10" fmla="*/ 3816350 w 6854190"/>
              <a:gd name="connsiteY10" fmla="*/ 4196715 h 5710237"/>
              <a:gd name="connsiteX11" fmla="*/ 6854190 w 6854190"/>
              <a:gd name="connsiteY11" fmla="*/ 4196715 h 5710237"/>
              <a:gd name="connsiteX12" fmla="*/ 6854190 w 6854190"/>
              <a:gd name="connsiteY12" fmla="*/ 5710237 h 5710237"/>
              <a:gd name="connsiteX13" fmla="*/ 3816350 w 6854190"/>
              <a:gd name="connsiteY13" fmla="*/ 5710237 h 5710237"/>
              <a:gd name="connsiteX14" fmla="*/ 3037840 w 6854190"/>
              <a:gd name="connsiteY14" fmla="*/ 5710237 h 5710237"/>
              <a:gd name="connsiteX15" fmla="*/ 0 w 6854190"/>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854190" h="5710237">
                <a:moveTo>
                  <a:pt x="0" y="0"/>
                </a:moveTo>
                <a:lnTo>
                  <a:pt x="3816350" y="0"/>
                </a:lnTo>
                <a:lnTo>
                  <a:pt x="3816350" y="1"/>
                </a:lnTo>
                <a:lnTo>
                  <a:pt x="6854190" y="1"/>
                </a:lnTo>
                <a:lnTo>
                  <a:pt x="6854190" y="1513523"/>
                </a:lnTo>
                <a:lnTo>
                  <a:pt x="3816350" y="1513523"/>
                </a:lnTo>
                <a:lnTo>
                  <a:pt x="3816350" y="2093595"/>
                </a:lnTo>
                <a:lnTo>
                  <a:pt x="6284595" y="2093595"/>
                </a:lnTo>
                <a:lnTo>
                  <a:pt x="6284595" y="3607117"/>
                </a:lnTo>
                <a:lnTo>
                  <a:pt x="3816350" y="3607117"/>
                </a:lnTo>
                <a:lnTo>
                  <a:pt x="3816350" y="4196715"/>
                </a:lnTo>
                <a:lnTo>
                  <a:pt x="6854190" y="4196715"/>
                </a:lnTo>
                <a:lnTo>
                  <a:pt x="6854190" y="5710237"/>
                </a:lnTo>
                <a:lnTo>
                  <a:pt x="3816350" y="5710237"/>
                </a:lnTo>
                <a:lnTo>
                  <a:pt x="3037840"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7" name="Text Placeholder 17">
            <a:extLst>
              <a:ext uri="{FF2B5EF4-FFF2-40B4-BE49-F238E27FC236}">
                <a16:creationId xmlns:a16="http://schemas.microsoft.com/office/drawing/2014/main" id="{72A36242-E96D-BCC5-8B9A-F727F91C17DD}"/>
              </a:ext>
            </a:extLst>
          </p:cNvPr>
          <p:cNvSpPr>
            <a:spLocks noGrp="1"/>
          </p:cNvSpPr>
          <p:nvPr>
            <p:ph type="body" sz="quarter" idx="10" hasCustomPrompt="1"/>
          </p:nvPr>
        </p:nvSpPr>
        <p:spPr>
          <a:xfrm>
            <a:off x="386035" y="1112251"/>
            <a:ext cx="4317994" cy="944810"/>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endParaRPr lang="en-US" dirty="0"/>
          </a:p>
        </p:txBody>
      </p:sp>
      <p:sp>
        <p:nvSpPr>
          <p:cNvPr id="48" name="Text Placeholder 17">
            <a:extLst>
              <a:ext uri="{FF2B5EF4-FFF2-40B4-BE49-F238E27FC236}">
                <a16:creationId xmlns:a16="http://schemas.microsoft.com/office/drawing/2014/main" id="{E033C30C-F4BF-DEFA-8C82-E924E66CF321}"/>
              </a:ext>
            </a:extLst>
          </p:cNvPr>
          <p:cNvSpPr>
            <a:spLocks noGrp="1"/>
          </p:cNvSpPr>
          <p:nvPr>
            <p:ph type="body" sz="quarter" idx="12" hasCustomPrompt="1"/>
          </p:nvPr>
        </p:nvSpPr>
        <p:spPr>
          <a:xfrm>
            <a:off x="386305" y="2467715"/>
            <a:ext cx="4317775" cy="555793"/>
          </a:xfrm>
        </p:spPr>
        <p:txBody>
          <a:bodyPr wrap="square">
            <a:spAutoFit/>
          </a:bodyPr>
          <a:lstStyle>
            <a:lvl1pPr marL="0" indent="0">
              <a:lnSpc>
                <a:spcPct val="90000"/>
              </a:lnSpc>
              <a:spcBef>
                <a:spcPts val="0"/>
              </a:spcBef>
              <a:buNone/>
              <a:defRPr sz="2000" b="1">
                <a:solidFill>
                  <a:schemeClr val="bg1"/>
                </a:solidFill>
              </a:defRPr>
            </a:lvl1pPr>
          </a:lstStyle>
          <a:p>
            <a:pPr lvl="0"/>
            <a:r>
              <a:rPr lang="en-US" dirty="0"/>
              <a:t>Subhead culpa qui official arum </a:t>
            </a:r>
            <a:r>
              <a:rPr lang="en-US" dirty="0" err="1"/>
              <a:t>quidem</a:t>
            </a:r>
            <a:r>
              <a:rPr lang="en-US" dirty="0"/>
              <a:t> rerum facilis</a:t>
            </a:r>
          </a:p>
        </p:txBody>
      </p:sp>
      <p:sp>
        <p:nvSpPr>
          <p:cNvPr id="49" name="Text Placeholder 8">
            <a:extLst>
              <a:ext uri="{FF2B5EF4-FFF2-40B4-BE49-F238E27FC236}">
                <a16:creationId xmlns:a16="http://schemas.microsoft.com/office/drawing/2014/main" id="{A0F481E4-FC0E-C80A-C2EC-B76F27D262A7}"/>
              </a:ext>
            </a:extLst>
          </p:cNvPr>
          <p:cNvSpPr>
            <a:spLocks noGrp="1"/>
          </p:cNvSpPr>
          <p:nvPr>
            <p:ph type="body" sz="quarter" idx="14" hasCustomPrompt="1"/>
          </p:nvPr>
        </p:nvSpPr>
        <p:spPr>
          <a:xfrm>
            <a:off x="386305" y="3130525"/>
            <a:ext cx="4317775" cy="901850"/>
          </a:xfrm>
        </p:spPr>
        <p:txBody>
          <a:bodyPr wrap="square">
            <a:spAutoFit/>
          </a:bodyPr>
          <a:lstStyle>
            <a:lvl1pPr marL="0" indent="0">
              <a:buNone/>
              <a:defRPr sz="1800">
                <a:solidFill>
                  <a:schemeClr val="bg1"/>
                </a:solidFill>
              </a:defRPr>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a:t>
            </a:r>
          </a:p>
        </p:txBody>
      </p:sp>
      <p:sp>
        <p:nvSpPr>
          <p:cNvPr id="50" name="Text Placeholder 12">
            <a:extLst>
              <a:ext uri="{FF2B5EF4-FFF2-40B4-BE49-F238E27FC236}">
                <a16:creationId xmlns:a16="http://schemas.microsoft.com/office/drawing/2014/main" id="{F28319CA-55ED-F435-6422-E7CAE3A4E5C8}"/>
              </a:ext>
            </a:extLst>
          </p:cNvPr>
          <p:cNvSpPr>
            <a:spLocks noGrp="1"/>
          </p:cNvSpPr>
          <p:nvPr>
            <p:ph type="body" sz="quarter" idx="15"/>
          </p:nvPr>
        </p:nvSpPr>
        <p:spPr>
          <a:xfrm>
            <a:off x="386035" y="4155118"/>
            <a:ext cx="4317603" cy="1684948"/>
          </a:xfrm>
        </p:spPr>
        <p:txBody>
          <a:bodyPr wrap="square">
            <a:sp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2" name="Graphic 1">
            <a:extLst>
              <a:ext uri="{FF2B5EF4-FFF2-40B4-BE49-F238E27FC236}">
                <a16:creationId xmlns:a16="http://schemas.microsoft.com/office/drawing/2014/main" id="{E2FA6E33-C1DD-C1DE-7C6F-82957792F31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8D073452-E314-EB2D-1FC4-135DC2D7775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4" name="TextBox 3">
            <a:extLst>
              <a:ext uri="{FF2B5EF4-FFF2-40B4-BE49-F238E27FC236}">
                <a16:creationId xmlns:a16="http://schemas.microsoft.com/office/drawing/2014/main" id="{A28DAA59-27D2-784E-D2A1-F51D07814DEC}"/>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305960282"/>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p:cSld name="Quote Purpl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bg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bg1"/>
                </a:solidFill>
              </a:defRPr>
            </a:lvl1pPr>
          </a:lstStyle>
          <a:p>
            <a:pPr lvl="0"/>
            <a:r>
              <a:rPr lang="en-US" dirty="0"/>
              <a:t>First &amp; Last Name</a:t>
            </a:r>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2" name="Text Placeholder 17">
            <a:extLst>
              <a:ext uri="{FF2B5EF4-FFF2-40B4-BE49-F238E27FC236}">
                <a16:creationId xmlns:a16="http://schemas.microsoft.com/office/drawing/2014/main" id="{D05DB1F1-ACC3-B191-E3E7-7348B83D3D7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bg1"/>
                </a:solidFill>
              </a:defRPr>
            </a:lvl1pPr>
          </a:lstStyle>
          <a:p>
            <a:pPr lvl="0"/>
            <a:r>
              <a:rPr lang="en-US" dirty="0"/>
              <a:t>Title and Company or Institution</a:t>
            </a:r>
          </a:p>
        </p:txBody>
      </p:sp>
      <p:pic>
        <p:nvPicPr>
          <p:cNvPr id="4" name="Graphic 3">
            <a:extLst>
              <a:ext uri="{FF2B5EF4-FFF2-40B4-BE49-F238E27FC236}">
                <a16:creationId xmlns:a16="http://schemas.microsoft.com/office/drawing/2014/main" id="{3F44E2C7-6484-3A24-48A0-1EC4CE2E334F}"/>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5618540" y="1374718"/>
            <a:ext cx="954921" cy="954921"/>
          </a:xfrm>
          <a:prstGeom prst="rect">
            <a:avLst/>
          </a:prstGeom>
        </p:spPr>
      </p:pic>
      <p:sp>
        <p:nvSpPr>
          <p:cNvPr id="8" name="TextBox 7">
            <a:extLst>
              <a:ext uri="{FF2B5EF4-FFF2-40B4-BE49-F238E27FC236}">
                <a16:creationId xmlns:a16="http://schemas.microsoft.com/office/drawing/2014/main" id="{56538370-0C99-95AF-B7F2-D3F6183791A0}"/>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669005053"/>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p:cSld name="Quote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 Placeholder 17">
            <a:extLst>
              <a:ext uri="{FF2B5EF4-FFF2-40B4-BE49-F238E27FC236}">
                <a16:creationId xmlns:a16="http://schemas.microsoft.com/office/drawing/2014/main" id="{97C25E61-6B43-DBD5-C2CE-87847F39AAE2}"/>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tx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4" name="Text Placeholder 17">
            <a:extLst>
              <a:ext uri="{FF2B5EF4-FFF2-40B4-BE49-F238E27FC236}">
                <a16:creationId xmlns:a16="http://schemas.microsoft.com/office/drawing/2014/main" id="{FCEE0479-D5F9-CE3F-36E7-238BA0F4577F}"/>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tx1"/>
                </a:solidFill>
              </a:defRPr>
            </a:lvl1pPr>
          </a:lstStyle>
          <a:p>
            <a:pPr lvl="0"/>
            <a:r>
              <a:rPr lang="en-US" dirty="0"/>
              <a:t>First &amp; Last Name</a:t>
            </a:r>
          </a:p>
        </p:txBody>
      </p:sp>
      <p:sp>
        <p:nvSpPr>
          <p:cNvPr id="8" name="Text Placeholder 17">
            <a:extLst>
              <a:ext uri="{FF2B5EF4-FFF2-40B4-BE49-F238E27FC236}">
                <a16:creationId xmlns:a16="http://schemas.microsoft.com/office/drawing/2014/main" id="{A76AF4FC-9A53-DBD9-C4E3-8F3D9D7DB7D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tx1"/>
                </a:solidFill>
              </a:defRPr>
            </a:lvl1pPr>
          </a:lstStyle>
          <a:p>
            <a:pPr lvl="0"/>
            <a:r>
              <a:rPr lang="en-US" dirty="0"/>
              <a:t>Title and Company or Institution</a:t>
            </a:r>
          </a:p>
        </p:txBody>
      </p:sp>
      <p:pic>
        <p:nvPicPr>
          <p:cNvPr id="11" name="Graphic 10">
            <a:extLst>
              <a:ext uri="{FF2B5EF4-FFF2-40B4-BE49-F238E27FC236}">
                <a16:creationId xmlns:a16="http://schemas.microsoft.com/office/drawing/2014/main" id="{FF551E89-4ED8-FCF0-7E9B-2446F24111FB}"/>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5618540" y="1374718"/>
            <a:ext cx="954921" cy="954921"/>
          </a:xfrm>
          <a:prstGeom prst="rect">
            <a:avLst/>
          </a:prstGeom>
        </p:spPr>
      </p:pic>
      <p:sp>
        <p:nvSpPr>
          <p:cNvPr id="6" name="TextBox 5">
            <a:extLst>
              <a:ext uri="{FF2B5EF4-FFF2-40B4-BE49-F238E27FC236}">
                <a16:creationId xmlns:a16="http://schemas.microsoft.com/office/drawing/2014/main" id="{759FA4B8-B22A-02CB-D4E5-CDAF1F338C84}"/>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501372371"/>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p:cSld name="Purple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62599"/>
            <a:ext cx="12192000" cy="8815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CC5AC45-371A-D1F2-3506-59FB4F407F5D}"/>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solidFill>
                  <a:schemeClr val="bg1"/>
                </a:solidFill>
              </a:defRPr>
            </a:lvl1pPr>
          </a:lstStyle>
          <a:p>
            <a:pPr lvl="0"/>
            <a:r>
              <a:rPr lang="en-US" dirty="0"/>
              <a:t>Fourth level statement</a:t>
            </a:r>
          </a:p>
        </p:txBody>
      </p:sp>
      <p:pic>
        <p:nvPicPr>
          <p:cNvPr id="2" name="Graphic 1">
            <a:extLst>
              <a:ext uri="{FF2B5EF4-FFF2-40B4-BE49-F238E27FC236}">
                <a16:creationId xmlns:a16="http://schemas.microsoft.com/office/drawing/2014/main" id="{320A3CFF-FF3A-806C-4272-4BD562E4527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83CB4FD4-52E5-7743-832E-878711B6912D}"/>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6" name="TextBox 5">
            <a:extLst>
              <a:ext uri="{FF2B5EF4-FFF2-40B4-BE49-F238E27FC236}">
                <a16:creationId xmlns:a16="http://schemas.microsoft.com/office/drawing/2014/main" id="{8955BA75-BCED-43A8-374C-ED5B5EB749B9}"/>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808619691"/>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p:cSld name="Green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62599"/>
            <a:ext cx="12192000" cy="88157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lvl1pPr>
          </a:lstStyle>
          <a:p>
            <a:pPr lvl="0"/>
            <a:r>
              <a:rPr lang="en-US" dirty="0"/>
              <a:t>Fourth level statement</a:t>
            </a:r>
          </a:p>
        </p:txBody>
      </p:sp>
      <p:sp>
        <p:nvSpPr>
          <p:cNvPr id="2" name="Rectangle 1">
            <a:extLst>
              <a:ext uri="{FF2B5EF4-FFF2-40B4-BE49-F238E27FC236}">
                <a16:creationId xmlns:a16="http://schemas.microsoft.com/office/drawing/2014/main" id="{ABC92165-EA63-BA70-B09C-3AE3A0E3B988}"/>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B8487BB2-49A0-1AD0-6AEA-A6BA00965FB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D645B4-C9BC-C447-40CC-BED53F5C40F2}"/>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4" name="TextBox 3">
            <a:extLst>
              <a:ext uri="{FF2B5EF4-FFF2-40B4-BE49-F238E27FC236}">
                <a16:creationId xmlns:a16="http://schemas.microsoft.com/office/drawing/2014/main" id="{06D9A09A-FC77-0C42-3399-4228AB66473E}"/>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488182112"/>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035BE7A-2092-E334-9925-A2CD0ED61EC1}"/>
              </a:ext>
            </a:extLst>
          </p:cNvPr>
          <p:cNvSpPr txBox="1"/>
          <p:nvPr/>
        </p:nvSpPr>
        <p:spPr>
          <a:xfrm>
            <a:off x="836428" y="2435962"/>
            <a:ext cx="10441173" cy="1769715"/>
          </a:xfrm>
          <a:prstGeom prst="rect">
            <a:avLst/>
          </a:prstGeom>
          <a:noFill/>
        </p:spPr>
        <p:txBody>
          <a:bodyPr wrap="square" lIns="0" tIns="0" rIns="0" bIns="0" rtlCol="0">
            <a:spAutoFit/>
          </a:bodyPr>
          <a:lstStyle/>
          <a:p>
            <a:pPr algn="ctr"/>
            <a:r>
              <a:rPr lang="en-US" sz="11500" b="1" dirty="0">
                <a:solidFill>
                  <a:schemeClr val="bg1"/>
                </a:solidFill>
              </a:rPr>
              <a:t>Thank You</a:t>
            </a:r>
          </a:p>
        </p:txBody>
      </p:sp>
      <p:sp>
        <p:nvSpPr>
          <p:cNvPr id="9" name="Text Placeholder 17">
            <a:extLst>
              <a:ext uri="{FF2B5EF4-FFF2-40B4-BE49-F238E27FC236}">
                <a16:creationId xmlns:a16="http://schemas.microsoft.com/office/drawing/2014/main" id="{C141F636-6F6B-39E0-D74A-E2DC465DEF1A}"/>
              </a:ext>
            </a:extLst>
          </p:cNvPr>
          <p:cNvSpPr>
            <a:spLocks noGrp="1"/>
          </p:cNvSpPr>
          <p:nvPr>
            <p:ph type="body" sz="quarter" idx="11" hasCustomPrompt="1"/>
          </p:nvPr>
        </p:nvSpPr>
        <p:spPr>
          <a:xfrm>
            <a:off x="2556897" y="4302308"/>
            <a:ext cx="7078206" cy="389915"/>
          </a:xfrm>
        </p:spPr>
        <p:txBody>
          <a:bodyPr>
            <a:spAutoFit/>
          </a:bodyPr>
          <a:lstStyle>
            <a:lvl1pPr marL="0" indent="0" algn="ctr">
              <a:spcBef>
                <a:spcPts val="0"/>
              </a:spcBef>
              <a:buNone/>
              <a:defRPr sz="2400" b="1">
                <a:solidFill>
                  <a:schemeClr val="bg1"/>
                </a:solidFill>
              </a:defRPr>
            </a:lvl1pPr>
          </a:lstStyle>
          <a:p>
            <a:pPr lvl="0"/>
            <a:r>
              <a:rPr lang="en-US" dirty="0"/>
              <a:t>Presenter Name</a:t>
            </a:r>
          </a:p>
        </p:txBody>
      </p:sp>
      <p:sp>
        <p:nvSpPr>
          <p:cNvPr id="11" name="Text Placeholder 17">
            <a:extLst>
              <a:ext uri="{FF2B5EF4-FFF2-40B4-BE49-F238E27FC236}">
                <a16:creationId xmlns:a16="http://schemas.microsoft.com/office/drawing/2014/main" id="{15F716EA-D293-96D7-C5A7-61FE08272CBD}"/>
              </a:ext>
            </a:extLst>
          </p:cNvPr>
          <p:cNvSpPr>
            <a:spLocks noGrp="1"/>
          </p:cNvSpPr>
          <p:nvPr>
            <p:ph type="body" sz="quarter" idx="12" hasCustomPrompt="1"/>
          </p:nvPr>
        </p:nvSpPr>
        <p:spPr>
          <a:xfrm>
            <a:off x="2556897" y="4735941"/>
            <a:ext cx="7078206" cy="324961"/>
          </a:xfrm>
        </p:spPr>
        <p:txBody>
          <a:bodyPr>
            <a:spAutoFit/>
          </a:bodyPr>
          <a:lstStyle>
            <a:lvl1pPr marL="0" indent="0" algn="ctr">
              <a:spcBef>
                <a:spcPts val="0"/>
              </a:spcBef>
              <a:buNone/>
              <a:defRPr sz="2000" b="0">
                <a:solidFill>
                  <a:schemeClr val="bg1"/>
                </a:solidFill>
              </a:defRPr>
            </a:lvl1pPr>
          </a:lstStyle>
          <a:p>
            <a:pPr lvl="0"/>
            <a:r>
              <a:rPr lang="en-US" dirty="0" err="1"/>
              <a:t>PresenterEmail@Ellucian.com</a:t>
            </a:r>
            <a:endParaRPr lang="en-US" dirty="0"/>
          </a:p>
        </p:txBody>
      </p:sp>
      <p:pic>
        <p:nvPicPr>
          <p:cNvPr id="2" name="Graphic 1">
            <a:extLst>
              <a:ext uri="{FF2B5EF4-FFF2-40B4-BE49-F238E27FC236}">
                <a16:creationId xmlns:a16="http://schemas.microsoft.com/office/drawing/2014/main" id="{7C871F66-B895-DB0B-1D73-90E74A3951C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53435677-394B-4E5D-4CD3-2D77A2110358}"/>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591813148"/>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p:cSld name="Question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5" name="TextBox 4">
            <a:extLst>
              <a:ext uri="{FF2B5EF4-FFF2-40B4-BE49-F238E27FC236}">
                <a16:creationId xmlns:a16="http://schemas.microsoft.com/office/drawing/2014/main" id="{58229B27-8CB8-A4DF-B214-C621F3644437}"/>
              </a:ext>
            </a:extLst>
          </p:cNvPr>
          <p:cNvSpPr txBox="1"/>
          <p:nvPr/>
        </p:nvSpPr>
        <p:spPr>
          <a:xfrm>
            <a:off x="836428" y="2544142"/>
            <a:ext cx="10441173" cy="1769715"/>
          </a:xfrm>
          <a:prstGeom prst="rect">
            <a:avLst/>
          </a:prstGeom>
          <a:noFill/>
        </p:spPr>
        <p:txBody>
          <a:bodyPr wrap="square" lIns="0" tIns="0" rIns="0" bIns="0" rtlCol="0">
            <a:spAutoFit/>
          </a:bodyPr>
          <a:lstStyle/>
          <a:p>
            <a:pPr algn="ctr"/>
            <a:r>
              <a:rPr lang="en-US" sz="11500" b="1" dirty="0">
                <a:solidFill>
                  <a:schemeClr val="accent1"/>
                </a:solidFill>
              </a:rPr>
              <a:t>Questions?</a:t>
            </a:r>
          </a:p>
        </p:txBody>
      </p:sp>
      <p:pic>
        <p:nvPicPr>
          <p:cNvPr id="2" name="Graphic 1">
            <a:extLst>
              <a:ext uri="{FF2B5EF4-FFF2-40B4-BE49-F238E27FC236}">
                <a16:creationId xmlns:a16="http://schemas.microsoft.com/office/drawing/2014/main" id="{C0225686-2493-61CB-BED8-8CD6B90C882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6" name="TextBox 5">
            <a:extLst>
              <a:ext uri="{FF2B5EF4-FFF2-40B4-BE49-F238E27FC236}">
                <a16:creationId xmlns:a16="http://schemas.microsoft.com/office/drawing/2014/main" id="{3757E6F9-39D1-A7B6-72FA-6CB25BEA039E}"/>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026936295"/>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type="title">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B18488C-B055-D09C-D997-3A7FCA29454A}"/>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419"/>
          </a:p>
        </p:txBody>
      </p:sp>
      <p:sp>
        <p:nvSpPr>
          <p:cNvPr id="3" name="Subtítulo 2">
            <a:extLst>
              <a:ext uri="{FF2B5EF4-FFF2-40B4-BE49-F238E27FC236}">
                <a16:creationId xmlns:a16="http://schemas.microsoft.com/office/drawing/2014/main" id="{4F822AF2-2615-432F-038F-912A880B9AB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419"/>
          </a:p>
        </p:txBody>
      </p:sp>
      <p:sp>
        <p:nvSpPr>
          <p:cNvPr id="4" name="Marcador de fecha 3">
            <a:extLst>
              <a:ext uri="{FF2B5EF4-FFF2-40B4-BE49-F238E27FC236}">
                <a16:creationId xmlns:a16="http://schemas.microsoft.com/office/drawing/2014/main" id="{726FCCEB-ACCA-75CB-F0DF-3F3BC5FBE983}"/>
              </a:ext>
            </a:extLst>
          </p:cNvPr>
          <p:cNvSpPr>
            <a:spLocks noGrp="1"/>
          </p:cNvSpPr>
          <p:nvPr>
            <p:ph type="dt" sz="half" idx="10"/>
          </p:nvPr>
        </p:nvSpPr>
        <p:spPr/>
        <p:txBody>
          <a:bodyPr/>
          <a:lstStyle/>
          <a:p>
            <a:fld id="{C9BA6134-9B25-412B-8FBF-B14BEDBA912D}" type="datetimeFigureOut">
              <a:rPr lang="es-CL" smtClean="0"/>
              <a:t>22-09-2026</a:t>
            </a:fld>
            <a:endParaRPr lang="es-CL"/>
          </a:p>
        </p:txBody>
      </p:sp>
      <p:sp>
        <p:nvSpPr>
          <p:cNvPr id="5" name="Marcador de pie de página 4">
            <a:extLst>
              <a:ext uri="{FF2B5EF4-FFF2-40B4-BE49-F238E27FC236}">
                <a16:creationId xmlns:a16="http://schemas.microsoft.com/office/drawing/2014/main" id="{6B0BEB1F-BCFD-D511-2592-8A4609C73ADD}"/>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F6FC865D-B77C-F26A-FE70-2498C9B6F62F}"/>
              </a:ext>
            </a:extLst>
          </p:cNvPr>
          <p:cNvSpPr>
            <a:spLocks noGrp="1"/>
          </p:cNvSpPr>
          <p:nvPr>
            <p:ph type="sldNum" sz="quarter" idx="12"/>
          </p:nvPr>
        </p:nvSpPr>
        <p:spPr/>
        <p:txBody>
          <a:bodyPr/>
          <a:lstStyle/>
          <a:p>
            <a:fld id="{BAD56BAB-9B7B-4C09-8A45-659D39241E09}" type="slidenum">
              <a:rPr lang="es-CL" smtClean="0"/>
              <a:t>‹Nº›</a:t>
            </a:fld>
            <a:endParaRPr lang="es-CL"/>
          </a:p>
        </p:txBody>
      </p:sp>
    </p:spTree>
    <p:extLst>
      <p:ext uri="{BB962C8B-B14F-4D97-AF65-F5344CB8AC3E}">
        <p14:creationId xmlns:p14="http://schemas.microsoft.com/office/powerpoint/2010/main" val="2611932893"/>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p:cSld name="Cover">
    <p:bg>
      <p:bgPr>
        <a:solidFill>
          <a:srgbClr val="33004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D2615-324D-B5FF-2EBE-81DB544E729B}"/>
              </a:ext>
            </a:extLst>
          </p:cNvPr>
          <p:cNvSpPr>
            <a:spLocks noGrp="1"/>
          </p:cNvSpPr>
          <p:nvPr>
            <p:ph type="title"/>
          </p:nvPr>
        </p:nvSpPr>
        <p:spPr>
          <a:xfrm>
            <a:off x="609599" y="2285997"/>
            <a:ext cx="7317783" cy="1282485"/>
          </a:xfrm>
        </p:spPr>
        <p:txBody>
          <a:bodyPr lIns="0" anchor="b" anchorCtr="0">
            <a:noAutofit/>
          </a:bodyPr>
          <a:lstStyle>
            <a:lvl1pPr>
              <a:defRPr sz="3200" b="1">
                <a:solidFill>
                  <a:schemeClr val="bg1"/>
                </a:solidFill>
              </a:defRPr>
            </a:lvl1pPr>
          </a:lstStyle>
          <a:p>
            <a:r>
              <a:rPr lang="es-MX"/>
              <a:t>Haz clic para modificar el estilo de título del patrón</a:t>
            </a:r>
            <a:endParaRPr lang="en-US" dirty="0"/>
          </a:p>
        </p:txBody>
      </p:sp>
      <p:sp>
        <p:nvSpPr>
          <p:cNvPr id="6" name="Text Placeholder 5">
            <a:extLst>
              <a:ext uri="{FF2B5EF4-FFF2-40B4-BE49-F238E27FC236}">
                <a16:creationId xmlns:a16="http://schemas.microsoft.com/office/drawing/2014/main" id="{698C979F-7ABF-A5C6-5C58-6DD9C3DA76E9}"/>
              </a:ext>
            </a:extLst>
          </p:cNvPr>
          <p:cNvSpPr>
            <a:spLocks noGrp="1"/>
          </p:cNvSpPr>
          <p:nvPr>
            <p:ph type="body" sz="quarter" idx="18"/>
          </p:nvPr>
        </p:nvSpPr>
        <p:spPr>
          <a:xfrm>
            <a:off x="609599" y="3792020"/>
            <a:ext cx="7317783" cy="774441"/>
          </a:xfrm>
        </p:spPr>
        <p:txBody>
          <a:bodyPr lIns="0">
            <a:noAutofit/>
          </a:bodyPr>
          <a:lstStyle>
            <a:lvl1pPr marL="0" indent="0">
              <a:lnSpc>
                <a:spcPct val="100000"/>
              </a:lnSpc>
              <a:buClr>
                <a:schemeClr val="accent2"/>
              </a:buClr>
              <a:buFont typeface="Arial" panose="020B0604020202020204" pitchFamily="34" charset="0"/>
              <a:buNone/>
              <a:tabLst/>
              <a:defRPr sz="18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s-MX"/>
              <a:t>Haga clic para modificar los estilos de texto del patrón</a:t>
            </a:r>
          </a:p>
        </p:txBody>
      </p:sp>
      <p:sp>
        <p:nvSpPr>
          <p:cNvPr id="9" name="Text Placeholder 5">
            <a:extLst>
              <a:ext uri="{FF2B5EF4-FFF2-40B4-BE49-F238E27FC236}">
                <a16:creationId xmlns:a16="http://schemas.microsoft.com/office/drawing/2014/main" id="{7118141F-3632-B706-5864-39BC20F0FDE2}"/>
              </a:ext>
            </a:extLst>
          </p:cNvPr>
          <p:cNvSpPr>
            <a:spLocks noGrp="1"/>
          </p:cNvSpPr>
          <p:nvPr>
            <p:ph type="body" sz="quarter" idx="19" hasCustomPrompt="1"/>
          </p:nvPr>
        </p:nvSpPr>
        <p:spPr>
          <a:xfrm>
            <a:off x="609600" y="5186273"/>
            <a:ext cx="7092820" cy="1056694"/>
          </a:xfrm>
        </p:spPr>
        <p:txBody>
          <a:bodyPr lIns="0" anchor="b">
            <a:noAutofit/>
          </a:bodyPr>
          <a:lstStyle>
            <a:lvl1pPr marL="0" indent="0">
              <a:lnSpc>
                <a:spcPct val="100000"/>
              </a:lnSpc>
              <a:spcBef>
                <a:spcPts val="600"/>
              </a:spcBef>
              <a:buClr>
                <a:schemeClr val="accent2"/>
              </a:buClr>
              <a:buFont typeface="Arial" panose="020B0604020202020204" pitchFamily="34" charset="0"/>
              <a:buNone/>
              <a:tabLst/>
              <a:defRPr sz="12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US" dirty="0"/>
              <a:t>Name, Job Title</a:t>
            </a:r>
          </a:p>
          <a:p>
            <a:pPr marL="0" marR="0" lvl="0" indent="0" algn="l" defTabSz="914400" rtl="0" eaLnBrk="1" fontAlgn="auto" latinLnBrk="0" hangingPunct="1">
              <a:lnSpc>
                <a:spcPct val="100000"/>
              </a:lnSpc>
              <a:spcBef>
                <a:spcPts val="400"/>
              </a:spcBef>
              <a:spcAft>
                <a:spcPts val="0"/>
              </a:spcAft>
              <a:buClr>
                <a:schemeClr val="accent2"/>
              </a:buClr>
              <a:buSzTx/>
              <a:buFont typeface="Arial" panose="020B0604020202020204" pitchFamily="34" charset="0"/>
              <a:buNone/>
              <a:tabLst/>
              <a:defRPr/>
            </a:pPr>
            <a:r>
              <a:rPr lang="en-US" dirty="0"/>
              <a:t>Name, Job Title</a:t>
            </a:r>
          </a:p>
          <a:p>
            <a:pPr marL="0" marR="0" lvl="0" indent="0" algn="l" defTabSz="914400" rtl="0" eaLnBrk="1" fontAlgn="auto" latinLnBrk="0" hangingPunct="1">
              <a:lnSpc>
                <a:spcPct val="100000"/>
              </a:lnSpc>
              <a:spcBef>
                <a:spcPts val="400"/>
              </a:spcBef>
              <a:spcAft>
                <a:spcPts val="0"/>
              </a:spcAft>
              <a:buClr>
                <a:schemeClr val="accent2"/>
              </a:buClr>
              <a:buSzTx/>
              <a:buFont typeface="Arial" panose="020B0604020202020204" pitchFamily="34" charset="0"/>
              <a:buNone/>
              <a:tabLst/>
              <a:defRPr/>
            </a:pPr>
            <a:r>
              <a:rPr lang="en-US" dirty="0"/>
              <a:t>Name, Job Title</a:t>
            </a:r>
          </a:p>
        </p:txBody>
      </p:sp>
      <p:sp>
        <p:nvSpPr>
          <p:cNvPr id="12" name="Text Placeholder 11">
            <a:extLst>
              <a:ext uri="{FF2B5EF4-FFF2-40B4-BE49-F238E27FC236}">
                <a16:creationId xmlns:a16="http://schemas.microsoft.com/office/drawing/2014/main" id="{6176DD36-E885-ABAF-DBBD-C96AC12C7782}"/>
              </a:ext>
            </a:extLst>
          </p:cNvPr>
          <p:cNvSpPr>
            <a:spLocks noGrp="1"/>
          </p:cNvSpPr>
          <p:nvPr>
            <p:ph type="body" sz="quarter" idx="20" hasCustomPrompt="1"/>
          </p:nvPr>
        </p:nvSpPr>
        <p:spPr>
          <a:xfrm>
            <a:off x="9209088" y="5603032"/>
            <a:ext cx="2373312" cy="569168"/>
          </a:xfrm>
        </p:spPr>
        <p:txBody>
          <a:bodyPr rIns="0" bIns="0" anchor="b" anchorCtr="0">
            <a:noAutofit/>
          </a:bodyPr>
          <a:lstStyle>
            <a:lvl1pPr marL="0" indent="0" algn="r">
              <a:buNone/>
              <a:defRPr sz="1200">
                <a:solidFill>
                  <a:schemeClr val="bg1"/>
                </a:solidFill>
              </a:defRPr>
            </a:lvl1pPr>
            <a:lvl2pPr marL="457200" indent="0" algn="r">
              <a:buNone/>
              <a:defRPr sz="1600">
                <a:solidFill>
                  <a:schemeClr val="bg1"/>
                </a:solidFill>
              </a:defRPr>
            </a:lvl2pPr>
            <a:lvl3pPr marL="914400" indent="0" algn="r">
              <a:buNone/>
              <a:defRPr sz="1400">
                <a:solidFill>
                  <a:schemeClr val="bg1"/>
                </a:solidFill>
              </a:defRPr>
            </a:lvl3pPr>
            <a:lvl4pPr marL="1371600" indent="0" algn="r">
              <a:buNone/>
              <a:defRPr sz="1200">
                <a:solidFill>
                  <a:schemeClr val="bg1"/>
                </a:solidFill>
              </a:defRPr>
            </a:lvl4pPr>
            <a:lvl5pPr marL="1828800" indent="0" algn="r">
              <a:buNone/>
              <a:defRPr sz="1200">
                <a:solidFill>
                  <a:schemeClr val="bg1"/>
                </a:solidFill>
              </a:defRPr>
            </a:lvl5pPr>
          </a:lstStyle>
          <a:p>
            <a:pPr lvl="0"/>
            <a:r>
              <a:rPr lang="en-US" dirty="0"/>
              <a:t>Month XX, 20XX</a:t>
            </a:r>
          </a:p>
        </p:txBody>
      </p:sp>
    </p:spTree>
    <p:extLst>
      <p:ext uri="{BB962C8B-B14F-4D97-AF65-F5344CB8AC3E}">
        <p14:creationId xmlns:p14="http://schemas.microsoft.com/office/powerpoint/2010/main" val="206194776"/>
      </p:ext>
    </p:extLst>
  </p:cSld>
  <p:clrMapOvr>
    <a:masterClrMapping/>
  </p:clrMapOvr>
  <p:extLst>
    <p:ext uri="{DCECCB84-F9BA-43D5-87BE-67443E8EF086}">
      <p15:sldGuideLst xmlns:p15="http://schemas.microsoft.com/office/powerpoint/2012/main"/>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p:cSld name="Section Divider">
    <p:bg>
      <p:bgPr>
        <a:solidFill>
          <a:schemeClr val="accent1"/>
        </a:solidFill>
        <a:effectLst/>
      </p:bgPr>
    </p:bg>
    <p:spTree>
      <p:nvGrpSpPr>
        <p:cNvPr id="1" name=""/>
        <p:cNvGrpSpPr/>
        <p:nvPr/>
      </p:nvGrpSpPr>
      <p:grpSpPr>
        <a:xfrm>
          <a:off x="0" y="0"/>
          <a:ext cx="0" cy="0"/>
          <a:chOff x="0" y="0"/>
          <a:chExt cx="0" cy="0"/>
        </a:xfrm>
      </p:grpSpPr>
      <p:sp>
        <p:nvSpPr>
          <p:cNvPr id="2" name="Vertical Text Placeholder 2">
            <a:extLst>
              <a:ext uri="{FF2B5EF4-FFF2-40B4-BE49-F238E27FC236}">
                <a16:creationId xmlns:a16="http://schemas.microsoft.com/office/drawing/2014/main" id="{B4E21473-327B-3C3B-2526-FD5AB3A4428E}"/>
              </a:ext>
            </a:extLst>
          </p:cNvPr>
          <p:cNvSpPr>
            <a:spLocks noGrp="1"/>
          </p:cNvSpPr>
          <p:nvPr>
            <p:ph type="body" orient="vert" sz="quarter" idx="10" hasCustomPrompt="1"/>
          </p:nvPr>
        </p:nvSpPr>
        <p:spPr>
          <a:xfrm>
            <a:off x="0" y="685800"/>
            <a:ext cx="609600" cy="5486399"/>
          </a:xfrm>
        </p:spPr>
        <p:txBody>
          <a:bodyPr vert="vert270" anchor="ctr" anchorCtr="0">
            <a:noAutofit/>
          </a:bodyPr>
          <a:lstStyle>
            <a:lvl1pPr marL="0" indent="0" algn="ctr">
              <a:buNone/>
              <a:defRPr sz="1200" spc="300">
                <a:solidFill>
                  <a:schemeClr val="bg1"/>
                </a:solidFill>
              </a:defRPr>
            </a:lvl1pPr>
            <a:lvl2pPr marL="457200" indent="0" algn="ctr">
              <a:buNone/>
              <a:defRPr sz="1200" spc="300">
                <a:solidFill>
                  <a:schemeClr val="bg1"/>
                </a:solidFill>
              </a:defRPr>
            </a:lvl2pPr>
            <a:lvl3pPr marL="914400" indent="0" algn="ctr">
              <a:buNone/>
              <a:defRPr sz="1100" spc="300">
                <a:solidFill>
                  <a:schemeClr val="bg1"/>
                </a:solidFill>
              </a:defRPr>
            </a:lvl3pPr>
            <a:lvl4pPr marL="1371600" indent="0" algn="ctr">
              <a:buNone/>
              <a:defRPr sz="1050" spc="300">
                <a:solidFill>
                  <a:schemeClr val="bg1"/>
                </a:solidFill>
              </a:defRPr>
            </a:lvl4pPr>
            <a:lvl5pPr marL="1828800" indent="0" algn="ctr">
              <a:buNone/>
              <a:defRPr sz="1050" spc="300">
                <a:solidFill>
                  <a:schemeClr val="bg1"/>
                </a:solidFill>
              </a:defRPr>
            </a:lvl5pPr>
          </a:lstStyle>
          <a:p>
            <a:pPr lvl="0"/>
            <a:r>
              <a:rPr lang="en-US" dirty="0"/>
              <a:t>CLICK TO EDIT MASTER TEXT STYLES</a:t>
            </a:r>
          </a:p>
        </p:txBody>
      </p:sp>
      <p:sp>
        <p:nvSpPr>
          <p:cNvPr id="6" name="Title 1">
            <a:extLst>
              <a:ext uri="{FF2B5EF4-FFF2-40B4-BE49-F238E27FC236}">
                <a16:creationId xmlns:a16="http://schemas.microsoft.com/office/drawing/2014/main" id="{30773A33-C933-040C-38F4-7E444DEDA5A7}"/>
              </a:ext>
            </a:extLst>
          </p:cNvPr>
          <p:cNvSpPr>
            <a:spLocks noGrp="1"/>
          </p:cNvSpPr>
          <p:nvPr>
            <p:ph type="title" hasCustomPrompt="1"/>
          </p:nvPr>
        </p:nvSpPr>
        <p:spPr>
          <a:xfrm>
            <a:off x="1104900" y="1800808"/>
            <a:ext cx="7092820" cy="1628192"/>
          </a:xfrm>
        </p:spPr>
        <p:txBody>
          <a:bodyPr lIns="0" bIns="0" anchor="b" anchorCtr="0">
            <a:noAutofit/>
          </a:bodyPr>
          <a:lstStyle>
            <a:lvl1pPr>
              <a:defRPr sz="3200" b="1">
                <a:solidFill>
                  <a:schemeClr val="bg1"/>
                </a:solidFill>
              </a:defRPr>
            </a:lvl1pPr>
          </a:lstStyle>
          <a:p>
            <a:r>
              <a:rPr lang="en-US" dirty="0"/>
              <a:t>Section Title (Max Two Lines)</a:t>
            </a:r>
          </a:p>
        </p:txBody>
      </p:sp>
      <p:sp>
        <p:nvSpPr>
          <p:cNvPr id="7" name="Text Placeholder 5">
            <a:extLst>
              <a:ext uri="{FF2B5EF4-FFF2-40B4-BE49-F238E27FC236}">
                <a16:creationId xmlns:a16="http://schemas.microsoft.com/office/drawing/2014/main" id="{03C54B7B-813E-7B62-27B5-633489321878}"/>
              </a:ext>
            </a:extLst>
          </p:cNvPr>
          <p:cNvSpPr>
            <a:spLocks noGrp="1"/>
          </p:cNvSpPr>
          <p:nvPr>
            <p:ph type="body" sz="quarter" idx="18" hasCustomPrompt="1"/>
          </p:nvPr>
        </p:nvSpPr>
        <p:spPr>
          <a:xfrm>
            <a:off x="1104900" y="3652538"/>
            <a:ext cx="7092820" cy="774441"/>
          </a:xfrm>
        </p:spPr>
        <p:txBody>
          <a:bodyPr lIns="0" tIns="0">
            <a:noAutofit/>
          </a:bodyPr>
          <a:lstStyle>
            <a:lvl1pPr marL="0" indent="0">
              <a:lnSpc>
                <a:spcPct val="100000"/>
              </a:lnSpc>
              <a:buClr>
                <a:schemeClr val="accent2"/>
              </a:buClr>
              <a:buFont typeface="Arial" panose="020B0604020202020204" pitchFamily="34" charset="0"/>
              <a:buNone/>
              <a:tabLst/>
              <a:defRPr sz="18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r>
              <a:rPr lang="en-US" dirty="0"/>
              <a:t>Subhead (not required, max two lines)</a:t>
            </a:r>
          </a:p>
          <a:p>
            <a:pPr lvl="0"/>
            <a:endParaRPr lang="en-US" dirty="0"/>
          </a:p>
        </p:txBody>
      </p:sp>
      <p:sp>
        <p:nvSpPr>
          <p:cNvPr id="13" name="Slide Number Placeholder 5">
            <a:extLst>
              <a:ext uri="{FF2B5EF4-FFF2-40B4-BE49-F238E27FC236}">
                <a16:creationId xmlns:a16="http://schemas.microsoft.com/office/drawing/2014/main" id="{C9736184-ED63-6779-B7C5-534556DC2145}"/>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solidFill>
              </a:defRPr>
            </a:lvl1pPr>
          </a:lstStyle>
          <a:p>
            <a:fld id="{BAD56BAB-9B7B-4C09-8A45-659D39241E09}" type="slidenum">
              <a:rPr lang="es-CL" smtClean="0"/>
              <a:t>‹Nº›</a:t>
            </a:fld>
            <a:endParaRPr lang="es-CL"/>
          </a:p>
        </p:txBody>
      </p:sp>
    </p:spTree>
    <p:extLst>
      <p:ext uri="{BB962C8B-B14F-4D97-AF65-F5344CB8AC3E}">
        <p14:creationId xmlns:p14="http://schemas.microsoft.com/office/powerpoint/2010/main" val="1760162414"/>
      </p:ext>
    </p:extLst>
  </p:cSld>
  <p:clrMapOvr>
    <a:masterClrMapping/>
  </p:clrMapOvr>
  <p:extLst>
    <p:ext uri="{DCECCB84-F9BA-43D5-87BE-67443E8EF086}">
      <p15:sldGuideLst xmlns:p15="http://schemas.microsoft.com/office/powerpoint/2012/main"/>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p:cSld name="1-Up ">
    <p:bg>
      <p:bgPr>
        <a:solidFill>
          <a:schemeClr val="bg1">
            <a:alpha val="20231"/>
          </a:schemeClr>
        </a:solidFill>
        <a:effectLst/>
      </p:bgPr>
    </p:bg>
    <p:spTree>
      <p:nvGrpSpPr>
        <p:cNvPr id="1" name=""/>
        <p:cNvGrpSpPr/>
        <p:nvPr/>
      </p:nvGrpSpPr>
      <p:grpSpPr>
        <a:xfrm>
          <a:off x="0" y="0"/>
          <a:ext cx="0" cy="0"/>
          <a:chOff x="0" y="0"/>
          <a:chExt cx="0" cy="0"/>
        </a:xfrm>
      </p:grpSpPr>
      <p:sp>
        <p:nvSpPr>
          <p:cNvPr id="3" name="Text Placeholder 5">
            <a:extLst>
              <a:ext uri="{FF2B5EF4-FFF2-40B4-BE49-F238E27FC236}">
                <a16:creationId xmlns:a16="http://schemas.microsoft.com/office/drawing/2014/main" id="{2D92EE01-92FE-27B7-8491-8AE3AAC0FEF1}"/>
              </a:ext>
            </a:extLst>
          </p:cNvPr>
          <p:cNvSpPr>
            <a:spLocks noGrp="1"/>
          </p:cNvSpPr>
          <p:nvPr>
            <p:ph type="body" sz="quarter" idx="18"/>
          </p:nvPr>
        </p:nvSpPr>
        <p:spPr>
          <a:xfrm>
            <a:off x="1104900" y="1905002"/>
            <a:ext cx="10477499" cy="4267198"/>
          </a:xfrm>
        </p:spPr>
        <p:txBody>
          <a:bodyPr>
            <a:noAutofit/>
          </a:bodyPr>
          <a:lstStyle>
            <a:lvl1pPr marL="174625" indent="-174625">
              <a:lnSpc>
                <a:spcPct val="100000"/>
              </a:lnSpc>
              <a:buClr>
                <a:schemeClr val="accent2"/>
              </a:buClr>
              <a:buFont typeface="Arial" panose="020B0604020202020204" pitchFamily="34" charset="0"/>
              <a:buChar char="•"/>
              <a:tabLst/>
              <a:defRPr sz="1600">
                <a:solidFill>
                  <a:schemeClr val="tx1"/>
                </a:solidFill>
              </a:defRPr>
            </a:lvl1pPr>
            <a:lvl2pPr marL="342900" indent="-168275">
              <a:lnSpc>
                <a:spcPct val="100000"/>
              </a:lnSpc>
              <a:buClr>
                <a:schemeClr val="accent2"/>
              </a:buClr>
              <a:buFont typeface="Arial" panose="020B0604020202020204" pitchFamily="34" charset="0"/>
              <a:buChar char="•"/>
              <a:tabLst/>
              <a:defRPr sz="1600">
                <a:solidFill>
                  <a:schemeClr val="tx1"/>
                </a:solidFill>
              </a:defRPr>
            </a:lvl2pPr>
            <a:lvl3pPr marL="519113" indent="-176213">
              <a:lnSpc>
                <a:spcPct val="100000"/>
              </a:lnSpc>
              <a:buClr>
                <a:schemeClr val="accent2"/>
              </a:buClr>
              <a:buFont typeface="Arial" panose="020B0604020202020204" pitchFamily="34" charset="0"/>
              <a:buChar char="•"/>
              <a:tabLst/>
              <a:defRPr sz="1600">
                <a:solidFill>
                  <a:schemeClr val="tx1"/>
                </a:solidFill>
              </a:defRPr>
            </a:lvl3pPr>
            <a:lvl4pPr marL="685800" indent="-166688">
              <a:lnSpc>
                <a:spcPct val="100000"/>
              </a:lnSpc>
              <a:buClr>
                <a:schemeClr val="accent2"/>
              </a:buClr>
              <a:buFont typeface="Arial" panose="020B0604020202020204" pitchFamily="34" charset="0"/>
              <a:buChar char="•"/>
              <a:tabLst/>
              <a:defRPr sz="1600">
                <a:solidFill>
                  <a:schemeClr val="tx1"/>
                </a:solidFill>
              </a:defRPr>
            </a:lvl4pPr>
            <a:lvl5pPr marL="862013" indent="-176213">
              <a:lnSpc>
                <a:spcPct val="100000"/>
              </a:lnSpc>
              <a:buClr>
                <a:schemeClr val="accent2"/>
              </a:buClr>
              <a:buFont typeface="Arial" panose="020B0604020202020204" pitchFamily="34" charset="0"/>
              <a:buChar char="•"/>
              <a:tabLst/>
              <a:defRPr sz="1600">
                <a:solidFill>
                  <a:schemeClr val="tx1"/>
                </a:solidFill>
              </a:defRPr>
            </a:lvl5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Vertical Text Placeholder 13">
            <a:extLst>
              <a:ext uri="{FF2B5EF4-FFF2-40B4-BE49-F238E27FC236}">
                <a16:creationId xmlns:a16="http://schemas.microsoft.com/office/drawing/2014/main" id="{E932BD03-3866-775C-FCE1-9468113E4954}"/>
              </a:ext>
            </a:extLst>
          </p:cNvPr>
          <p:cNvSpPr>
            <a:spLocks noGrp="1"/>
          </p:cNvSpPr>
          <p:nvPr>
            <p:ph type="body" orient="vert" sz="quarter" idx="17" hasCustomPrompt="1"/>
          </p:nvPr>
        </p:nvSpPr>
        <p:spPr>
          <a:xfrm rot="10800000">
            <a:off x="0" y="685800"/>
            <a:ext cx="609600" cy="5486399"/>
          </a:xfrm>
        </p:spPr>
        <p:txBody>
          <a:bodyPr vert="eaVert" anchor="ctr">
            <a:noAutofit/>
          </a:bodyPr>
          <a:lstStyle>
            <a:lvl1pPr marL="0" indent="0" algn="ctr">
              <a:buNone/>
              <a:defRPr sz="1200" spc="300">
                <a:solidFill>
                  <a:schemeClr val="bg1">
                    <a:lumMod val="50000"/>
                  </a:schemeClr>
                </a:solidFill>
              </a:defRPr>
            </a:lvl1pPr>
          </a:lstStyle>
          <a:p>
            <a:pPr lvl="0"/>
            <a:r>
              <a:rPr lang="en-US" dirty="0"/>
              <a:t>SECTION TITLE</a:t>
            </a:r>
          </a:p>
        </p:txBody>
      </p:sp>
      <p:sp>
        <p:nvSpPr>
          <p:cNvPr id="8" name="Slide Number Placeholder 5">
            <a:extLst>
              <a:ext uri="{FF2B5EF4-FFF2-40B4-BE49-F238E27FC236}">
                <a16:creationId xmlns:a16="http://schemas.microsoft.com/office/drawing/2014/main" id="{D3877212-0337-0A89-2140-1837D97F8061}"/>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lumMod val="65000"/>
                  </a:schemeClr>
                </a:solidFill>
              </a:defRPr>
            </a:lvl1pPr>
          </a:lstStyle>
          <a:p>
            <a:fld id="{BAD56BAB-9B7B-4C09-8A45-659D39241E09}" type="slidenum">
              <a:rPr lang="es-CL" smtClean="0"/>
              <a:t>‹Nº›</a:t>
            </a:fld>
            <a:endParaRPr lang="es-CL"/>
          </a:p>
        </p:txBody>
      </p:sp>
      <p:sp>
        <p:nvSpPr>
          <p:cNvPr id="9" name="Title 2">
            <a:extLst>
              <a:ext uri="{FF2B5EF4-FFF2-40B4-BE49-F238E27FC236}">
                <a16:creationId xmlns:a16="http://schemas.microsoft.com/office/drawing/2014/main" id="{50D7E829-0820-3DB9-FA55-7C961469D717}"/>
              </a:ext>
            </a:extLst>
          </p:cNvPr>
          <p:cNvSpPr>
            <a:spLocks noGrp="1"/>
          </p:cNvSpPr>
          <p:nvPr>
            <p:ph type="title"/>
          </p:nvPr>
        </p:nvSpPr>
        <p:spPr>
          <a:xfrm>
            <a:off x="1104900" y="685800"/>
            <a:ext cx="10477497" cy="898555"/>
          </a:xfrm>
        </p:spPr>
        <p:txBody>
          <a:bodyPr anchor="t" anchorCtr="0">
            <a:noAutofit/>
          </a:bodyPr>
          <a:lstStyle>
            <a:lvl1pPr>
              <a:defRPr sz="3200" b="1">
                <a:solidFill>
                  <a:schemeClr val="tx1"/>
                </a:solidFill>
              </a:defRPr>
            </a:lvl1pPr>
          </a:lstStyle>
          <a:p>
            <a:r>
              <a:rPr lang="es-MX"/>
              <a:t>Haz clic para modificar el estilo de título del patrón</a:t>
            </a:r>
            <a:endParaRPr lang="en-US" dirty="0"/>
          </a:p>
        </p:txBody>
      </p:sp>
    </p:spTree>
    <p:extLst>
      <p:ext uri="{BB962C8B-B14F-4D97-AF65-F5344CB8AC3E}">
        <p14:creationId xmlns:p14="http://schemas.microsoft.com/office/powerpoint/2010/main" val="3291672485"/>
      </p:ext>
    </p:extLst>
  </p:cSld>
  <p:clrMapOvr>
    <a:masterClrMapping/>
  </p:clrMapOvr>
  <p:extLst>
    <p:ext uri="{DCECCB84-F9BA-43D5-87BE-67443E8EF086}">
      <p15:sldGuideLst xmlns:p15="http://schemas.microsoft.com/office/powerpoint/2012/main"/>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p:cSld name="Sub-section Divider">
    <p:bg>
      <p:bgPr>
        <a:solidFill>
          <a:schemeClr val="tx1"/>
        </a:solidFill>
        <a:effectLst/>
      </p:bgPr>
    </p:bg>
    <p:spTree>
      <p:nvGrpSpPr>
        <p:cNvPr id="1" name=""/>
        <p:cNvGrpSpPr/>
        <p:nvPr/>
      </p:nvGrpSpPr>
      <p:grpSpPr>
        <a:xfrm>
          <a:off x="0" y="0"/>
          <a:ext cx="0" cy="0"/>
          <a:chOff x="0" y="0"/>
          <a:chExt cx="0" cy="0"/>
        </a:xfrm>
      </p:grpSpPr>
      <p:sp>
        <p:nvSpPr>
          <p:cNvPr id="2" name="Vertical Text Placeholder 2">
            <a:extLst>
              <a:ext uri="{FF2B5EF4-FFF2-40B4-BE49-F238E27FC236}">
                <a16:creationId xmlns:a16="http://schemas.microsoft.com/office/drawing/2014/main" id="{B4E21473-327B-3C3B-2526-FD5AB3A4428E}"/>
              </a:ext>
            </a:extLst>
          </p:cNvPr>
          <p:cNvSpPr>
            <a:spLocks noGrp="1"/>
          </p:cNvSpPr>
          <p:nvPr>
            <p:ph type="body" orient="vert" sz="quarter" idx="10" hasCustomPrompt="1"/>
          </p:nvPr>
        </p:nvSpPr>
        <p:spPr>
          <a:xfrm>
            <a:off x="0" y="685800"/>
            <a:ext cx="609600" cy="5486399"/>
          </a:xfrm>
        </p:spPr>
        <p:txBody>
          <a:bodyPr vert="vert270" anchor="ctr" anchorCtr="0">
            <a:noAutofit/>
          </a:bodyPr>
          <a:lstStyle>
            <a:lvl1pPr marL="0" indent="0" algn="ctr">
              <a:buNone/>
              <a:defRPr sz="1200" spc="300">
                <a:solidFill>
                  <a:schemeClr val="bg1"/>
                </a:solidFill>
              </a:defRPr>
            </a:lvl1pPr>
            <a:lvl2pPr marL="457200" indent="0" algn="ctr">
              <a:buNone/>
              <a:defRPr sz="1200" spc="300">
                <a:solidFill>
                  <a:schemeClr val="bg1"/>
                </a:solidFill>
              </a:defRPr>
            </a:lvl2pPr>
            <a:lvl3pPr marL="914400" indent="0" algn="ctr">
              <a:buNone/>
              <a:defRPr sz="1100" spc="300">
                <a:solidFill>
                  <a:schemeClr val="bg1"/>
                </a:solidFill>
              </a:defRPr>
            </a:lvl3pPr>
            <a:lvl4pPr marL="1371600" indent="0" algn="ctr">
              <a:buNone/>
              <a:defRPr sz="1050" spc="300">
                <a:solidFill>
                  <a:schemeClr val="bg1"/>
                </a:solidFill>
              </a:defRPr>
            </a:lvl4pPr>
            <a:lvl5pPr marL="1828800" indent="0" algn="ctr">
              <a:buNone/>
              <a:defRPr sz="1050" spc="300">
                <a:solidFill>
                  <a:schemeClr val="bg1"/>
                </a:solidFill>
              </a:defRPr>
            </a:lvl5pPr>
          </a:lstStyle>
          <a:p>
            <a:pPr lvl="0"/>
            <a:r>
              <a:rPr lang="en-US" dirty="0"/>
              <a:t>CLICK TO EDIT MASTER TEXT STYLES</a:t>
            </a:r>
          </a:p>
        </p:txBody>
      </p:sp>
      <p:sp>
        <p:nvSpPr>
          <p:cNvPr id="6" name="Title 1">
            <a:extLst>
              <a:ext uri="{FF2B5EF4-FFF2-40B4-BE49-F238E27FC236}">
                <a16:creationId xmlns:a16="http://schemas.microsoft.com/office/drawing/2014/main" id="{30773A33-C933-040C-38F4-7E444DEDA5A7}"/>
              </a:ext>
            </a:extLst>
          </p:cNvPr>
          <p:cNvSpPr>
            <a:spLocks noGrp="1"/>
          </p:cNvSpPr>
          <p:nvPr>
            <p:ph type="title" hasCustomPrompt="1"/>
          </p:nvPr>
        </p:nvSpPr>
        <p:spPr>
          <a:xfrm>
            <a:off x="1104900" y="1800808"/>
            <a:ext cx="7092820" cy="1628192"/>
          </a:xfrm>
        </p:spPr>
        <p:txBody>
          <a:bodyPr lIns="0" bIns="0" anchor="b" anchorCtr="0">
            <a:noAutofit/>
          </a:bodyPr>
          <a:lstStyle>
            <a:lvl1pPr>
              <a:defRPr sz="3200" b="1">
                <a:solidFill>
                  <a:schemeClr val="bg1"/>
                </a:solidFill>
              </a:defRPr>
            </a:lvl1pPr>
          </a:lstStyle>
          <a:p>
            <a:r>
              <a:rPr lang="en-US" dirty="0"/>
              <a:t>Sub-section Title (Max Two Lines)</a:t>
            </a:r>
          </a:p>
        </p:txBody>
      </p:sp>
      <p:sp>
        <p:nvSpPr>
          <p:cNvPr id="7" name="Text Placeholder 5">
            <a:extLst>
              <a:ext uri="{FF2B5EF4-FFF2-40B4-BE49-F238E27FC236}">
                <a16:creationId xmlns:a16="http://schemas.microsoft.com/office/drawing/2014/main" id="{03C54B7B-813E-7B62-27B5-633489321878}"/>
              </a:ext>
            </a:extLst>
          </p:cNvPr>
          <p:cNvSpPr>
            <a:spLocks noGrp="1"/>
          </p:cNvSpPr>
          <p:nvPr>
            <p:ph type="body" sz="quarter" idx="18" hasCustomPrompt="1"/>
          </p:nvPr>
        </p:nvSpPr>
        <p:spPr>
          <a:xfrm>
            <a:off x="1104900" y="3652538"/>
            <a:ext cx="7092820" cy="774441"/>
          </a:xfrm>
        </p:spPr>
        <p:txBody>
          <a:bodyPr lIns="0" tIns="0">
            <a:noAutofit/>
          </a:bodyPr>
          <a:lstStyle>
            <a:lvl1pPr marL="0" indent="0">
              <a:lnSpc>
                <a:spcPct val="100000"/>
              </a:lnSpc>
              <a:buClr>
                <a:schemeClr val="accent2"/>
              </a:buClr>
              <a:buFont typeface="Arial" panose="020B0604020202020204" pitchFamily="34" charset="0"/>
              <a:buNone/>
              <a:tabLst/>
              <a:defRPr sz="18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r>
              <a:rPr lang="en-US" dirty="0"/>
              <a:t>Sub-subhead (not required, max two lines)</a:t>
            </a:r>
          </a:p>
          <a:p>
            <a:pPr lvl="0"/>
            <a:endParaRPr lang="en-US" dirty="0"/>
          </a:p>
        </p:txBody>
      </p:sp>
      <p:sp>
        <p:nvSpPr>
          <p:cNvPr id="13" name="Slide Number Placeholder 5">
            <a:extLst>
              <a:ext uri="{FF2B5EF4-FFF2-40B4-BE49-F238E27FC236}">
                <a16:creationId xmlns:a16="http://schemas.microsoft.com/office/drawing/2014/main" id="{C9736184-ED63-6779-B7C5-534556DC2145}"/>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solidFill>
              </a:defRPr>
            </a:lvl1pPr>
          </a:lstStyle>
          <a:p>
            <a:fld id="{BAD56BAB-9B7B-4C09-8A45-659D39241E09}" type="slidenum">
              <a:rPr lang="es-CL" smtClean="0"/>
              <a:t>‹Nº›</a:t>
            </a:fld>
            <a:endParaRPr lang="es-CL"/>
          </a:p>
        </p:txBody>
      </p:sp>
    </p:spTree>
    <p:extLst>
      <p:ext uri="{BB962C8B-B14F-4D97-AF65-F5344CB8AC3E}">
        <p14:creationId xmlns:p14="http://schemas.microsoft.com/office/powerpoint/2010/main" val="2015578281"/>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4.xml"/><Relationship Id="rId18" Type="http://schemas.openxmlformats.org/officeDocument/2006/relationships/slideLayout" Target="../slideLayouts/slideLayout29.xml"/><Relationship Id="rId26" Type="http://schemas.openxmlformats.org/officeDocument/2006/relationships/slideLayout" Target="../slideLayouts/slideLayout37.xml"/><Relationship Id="rId21" Type="http://schemas.openxmlformats.org/officeDocument/2006/relationships/slideLayout" Target="../slideLayouts/slideLayout32.xml"/><Relationship Id="rId34" Type="http://schemas.openxmlformats.org/officeDocument/2006/relationships/slideLayout" Target="../slideLayouts/slideLayout45.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slideLayout" Target="../slideLayouts/slideLayout36.xml"/><Relationship Id="rId33" Type="http://schemas.openxmlformats.org/officeDocument/2006/relationships/slideLayout" Target="../slideLayouts/slideLayout44.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slideLayout" Target="../slideLayouts/slideLayout31.xml"/><Relationship Id="rId29" Type="http://schemas.openxmlformats.org/officeDocument/2006/relationships/slideLayout" Target="../slideLayouts/slideLayout40.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32" Type="http://schemas.openxmlformats.org/officeDocument/2006/relationships/slideLayout" Target="../slideLayouts/slideLayout43.xml"/><Relationship Id="rId37" Type="http://schemas.openxmlformats.org/officeDocument/2006/relationships/image" Target="../media/image2.svg"/><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28" Type="http://schemas.openxmlformats.org/officeDocument/2006/relationships/slideLayout" Target="../slideLayouts/slideLayout39.xml"/><Relationship Id="rId36" Type="http://schemas.openxmlformats.org/officeDocument/2006/relationships/image" Target="../media/image1.png"/><Relationship Id="rId10" Type="http://schemas.openxmlformats.org/officeDocument/2006/relationships/slideLayout" Target="../slideLayouts/slideLayout21.xml"/><Relationship Id="rId19" Type="http://schemas.openxmlformats.org/officeDocument/2006/relationships/slideLayout" Target="../slideLayouts/slideLayout30.xml"/><Relationship Id="rId31" Type="http://schemas.openxmlformats.org/officeDocument/2006/relationships/slideLayout" Target="../slideLayouts/slideLayout42.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 Id="rId27" Type="http://schemas.openxmlformats.org/officeDocument/2006/relationships/slideLayout" Target="../slideLayouts/slideLayout38.xml"/><Relationship Id="rId30" Type="http://schemas.openxmlformats.org/officeDocument/2006/relationships/slideLayout" Target="../slideLayouts/slideLayout41.xml"/><Relationship Id="rId35" Type="http://schemas.openxmlformats.org/officeDocument/2006/relationships/theme" Target="../theme/theme2.xml"/><Relationship Id="rId8" Type="http://schemas.openxmlformats.org/officeDocument/2006/relationships/slideLayout" Target="../slideLayouts/slideLayout19.xml"/><Relationship Id="rId3" Type="http://schemas.openxmlformats.org/officeDocument/2006/relationships/slideLayout" Target="../slideLayouts/slideLayout14.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58.xml"/><Relationship Id="rId18" Type="http://schemas.openxmlformats.org/officeDocument/2006/relationships/slideLayout" Target="../slideLayouts/slideLayout63.xml"/><Relationship Id="rId26" Type="http://schemas.openxmlformats.org/officeDocument/2006/relationships/slideLayout" Target="../slideLayouts/slideLayout71.xml"/><Relationship Id="rId39" Type="http://schemas.openxmlformats.org/officeDocument/2006/relationships/theme" Target="../theme/theme3.xml"/><Relationship Id="rId21" Type="http://schemas.openxmlformats.org/officeDocument/2006/relationships/slideLayout" Target="../slideLayouts/slideLayout66.xml"/><Relationship Id="rId34" Type="http://schemas.openxmlformats.org/officeDocument/2006/relationships/slideLayout" Target="../slideLayouts/slideLayout79.xml"/><Relationship Id="rId7" Type="http://schemas.openxmlformats.org/officeDocument/2006/relationships/slideLayout" Target="../slideLayouts/slideLayout52.xml"/><Relationship Id="rId2" Type="http://schemas.openxmlformats.org/officeDocument/2006/relationships/slideLayout" Target="../slideLayouts/slideLayout47.xml"/><Relationship Id="rId16" Type="http://schemas.openxmlformats.org/officeDocument/2006/relationships/slideLayout" Target="../slideLayouts/slideLayout61.xml"/><Relationship Id="rId20" Type="http://schemas.openxmlformats.org/officeDocument/2006/relationships/slideLayout" Target="../slideLayouts/slideLayout65.xml"/><Relationship Id="rId29" Type="http://schemas.openxmlformats.org/officeDocument/2006/relationships/slideLayout" Target="../slideLayouts/slideLayout74.xml"/><Relationship Id="rId41" Type="http://schemas.openxmlformats.org/officeDocument/2006/relationships/image" Target="../media/image2.svg"/><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24" Type="http://schemas.openxmlformats.org/officeDocument/2006/relationships/slideLayout" Target="../slideLayouts/slideLayout69.xml"/><Relationship Id="rId32" Type="http://schemas.openxmlformats.org/officeDocument/2006/relationships/slideLayout" Target="../slideLayouts/slideLayout77.xml"/><Relationship Id="rId37" Type="http://schemas.openxmlformats.org/officeDocument/2006/relationships/slideLayout" Target="../slideLayouts/slideLayout82.xml"/><Relationship Id="rId40" Type="http://schemas.openxmlformats.org/officeDocument/2006/relationships/image" Target="../media/image1.png"/><Relationship Id="rId5" Type="http://schemas.openxmlformats.org/officeDocument/2006/relationships/slideLayout" Target="../slideLayouts/slideLayout50.xml"/><Relationship Id="rId15" Type="http://schemas.openxmlformats.org/officeDocument/2006/relationships/slideLayout" Target="../slideLayouts/slideLayout60.xml"/><Relationship Id="rId23" Type="http://schemas.openxmlformats.org/officeDocument/2006/relationships/slideLayout" Target="../slideLayouts/slideLayout68.xml"/><Relationship Id="rId28" Type="http://schemas.openxmlformats.org/officeDocument/2006/relationships/slideLayout" Target="../slideLayouts/slideLayout73.xml"/><Relationship Id="rId36" Type="http://schemas.openxmlformats.org/officeDocument/2006/relationships/slideLayout" Target="../slideLayouts/slideLayout81.xml"/><Relationship Id="rId10" Type="http://schemas.openxmlformats.org/officeDocument/2006/relationships/slideLayout" Target="../slideLayouts/slideLayout55.xml"/><Relationship Id="rId19" Type="http://schemas.openxmlformats.org/officeDocument/2006/relationships/slideLayout" Target="../slideLayouts/slideLayout64.xml"/><Relationship Id="rId31" Type="http://schemas.openxmlformats.org/officeDocument/2006/relationships/slideLayout" Target="../slideLayouts/slideLayout76.xml"/><Relationship Id="rId4" Type="http://schemas.openxmlformats.org/officeDocument/2006/relationships/slideLayout" Target="../slideLayouts/slideLayout49.xml"/><Relationship Id="rId9" Type="http://schemas.openxmlformats.org/officeDocument/2006/relationships/slideLayout" Target="../slideLayouts/slideLayout54.xml"/><Relationship Id="rId14" Type="http://schemas.openxmlformats.org/officeDocument/2006/relationships/slideLayout" Target="../slideLayouts/slideLayout59.xml"/><Relationship Id="rId22" Type="http://schemas.openxmlformats.org/officeDocument/2006/relationships/slideLayout" Target="../slideLayouts/slideLayout67.xml"/><Relationship Id="rId27" Type="http://schemas.openxmlformats.org/officeDocument/2006/relationships/slideLayout" Target="../slideLayouts/slideLayout72.xml"/><Relationship Id="rId30" Type="http://schemas.openxmlformats.org/officeDocument/2006/relationships/slideLayout" Target="../slideLayouts/slideLayout75.xml"/><Relationship Id="rId35" Type="http://schemas.openxmlformats.org/officeDocument/2006/relationships/slideLayout" Target="../slideLayouts/slideLayout80.xml"/><Relationship Id="rId8" Type="http://schemas.openxmlformats.org/officeDocument/2006/relationships/slideLayout" Target="../slideLayouts/slideLayout53.xml"/><Relationship Id="rId3" Type="http://schemas.openxmlformats.org/officeDocument/2006/relationships/slideLayout" Target="../slideLayouts/slideLayout48.xml"/><Relationship Id="rId12" Type="http://schemas.openxmlformats.org/officeDocument/2006/relationships/slideLayout" Target="../slideLayouts/slideLayout57.xml"/><Relationship Id="rId17" Type="http://schemas.openxmlformats.org/officeDocument/2006/relationships/slideLayout" Target="../slideLayouts/slideLayout62.xml"/><Relationship Id="rId25" Type="http://schemas.openxmlformats.org/officeDocument/2006/relationships/slideLayout" Target="../slideLayouts/slideLayout70.xml"/><Relationship Id="rId33" Type="http://schemas.openxmlformats.org/officeDocument/2006/relationships/slideLayout" Target="../slideLayouts/slideLayout78.xml"/><Relationship Id="rId38" Type="http://schemas.openxmlformats.org/officeDocument/2006/relationships/slideLayout" Target="../slideLayouts/slideLayout83.xml"/></Relationships>
</file>

<file path=ppt/slideMasters/_rels/slideMaster4.xml.rels><?xml version="1.0" encoding="UTF-8" standalone="yes"?>
<Relationships xmlns="http://schemas.openxmlformats.org/package/2006/relationships"><Relationship Id="rId13" Type="http://schemas.openxmlformats.org/officeDocument/2006/relationships/slideLayout" Target="../slideLayouts/slideLayout96.xml"/><Relationship Id="rId18" Type="http://schemas.openxmlformats.org/officeDocument/2006/relationships/slideLayout" Target="../slideLayouts/slideLayout101.xml"/><Relationship Id="rId26" Type="http://schemas.openxmlformats.org/officeDocument/2006/relationships/slideLayout" Target="../slideLayouts/slideLayout109.xml"/><Relationship Id="rId39" Type="http://schemas.openxmlformats.org/officeDocument/2006/relationships/theme" Target="../theme/theme4.xml"/><Relationship Id="rId21" Type="http://schemas.openxmlformats.org/officeDocument/2006/relationships/slideLayout" Target="../slideLayouts/slideLayout104.xml"/><Relationship Id="rId34" Type="http://schemas.openxmlformats.org/officeDocument/2006/relationships/slideLayout" Target="../slideLayouts/slideLayout117.xml"/><Relationship Id="rId7" Type="http://schemas.openxmlformats.org/officeDocument/2006/relationships/slideLayout" Target="../slideLayouts/slideLayout90.xml"/><Relationship Id="rId2" Type="http://schemas.openxmlformats.org/officeDocument/2006/relationships/slideLayout" Target="../slideLayouts/slideLayout85.xml"/><Relationship Id="rId16" Type="http://schemas.openxmlformats.org/officeDocument/2006/relationships/slideLayout" Target="../slideLayouts/slideLayout99.xml"/><Relationship Id="rId20" Type="http://schemas.openxmlformats.org/officeDocument/2006/relationships/slideLayout" Target="../slideLayouts/slideLayout103.xml"/><Relationship Id="rId29" Type="http://schemas.openxmlformats.org/officeDocument/2006/relationships/slideLayout" Target="../slideLayouts/slideLayout112.xml"/><Relationship Id="rId41" Type="http://schemas.openxmlformats.org/officeDocument/2006/relationships/image" Target="../media/image2.svg"/><Relationship Id="rId1" Type="http://schemas.openxmlformats.org/officeDocument/2006/relationships/slideLayout" Target="../slideLayouts/slideLayout84.xml"/><Relationship Id="rId6" Type="http://schemas.openxmlformats.org/officeDocument/2006/relationships/slideLayout" Target="../slideLayouts/slideLayout89.xml"/><Relationship Id="rId11" Type="http://schemas.openxmlformats.org/officeDocument/2006/relationships/slideLayout" Target="../slideLayouts/slideLayout94.xml"/><Relationship Id="rId24" Type="http://schemas.openxmlformats.org/officeDocument/2006/relationships/slideLayout" Target="../slideLayouts/slideLayout107.xml"/><Relationship Id="rId32" Type="http://schemas.openxmlformats.org/officeDocument/2006/relationships/slideLayout" Target="../slideLayouts/slideLayout115.xml"/><Relationship Id="rId37" Type="http://schemas.openxmlformats.org/officeDocument/2006/relationships/slideLayout" Target="../slideLayouts/slideLayout120.xml"/><Relationship Id="rId40" Type="http://schemas.openxmlformats.org/officeDocument/2006/relationships/image" Target="../media/image1.png"/><Relationship Id="rId5" Type="http://schemas.openxmlformats.org/officeDocument/2006/relationships/slideLayout" Target="../slideLayouts/slideLayout88.xml"/><Relationship Id="rId15" Type="http://schemas.openxmlformats.org/officeDocument/2006/relationships/slideLayout" Target="../slideLayouts/slideLayout98.xml"/><Relationship Id="rId23" Type="http://schemas.openxmlformats.org/officeDocument/2006/relationships/slideLayout" Target="../slideLayouts/slideLayout106.xml"/><Relationship Id="rId28" Type="http://schemas.openxmlformats.org/officeDocument/2006/relationships/slideLayout" Target="../slideLayouts/slideLayout111.xml"/><Relationship Id="rId36" Type="http://schemas.openxmlformats.org/officeDocument/2006/relationships/slideLayout" Target="../slideLayouts/slideLayout119.xml"/><Relationship Id="rId10" Type="http://schemas.openxmlformats.org/officeDocument/2006/relationships/slideLayout" Target="../slideLayouts/slideLayout93.xml"/><Relationship Id="rId19" Type="http://schemas.openxmlformats.org/officeDocument/2006/relationships/slideLayout" Target="../slideLayouts/slideLayout102.xml"/><Relationship Id="rId31" Type="http://schemas.openxmlformats.org/officeDocument/2006/relationships/slideLayout" Target="../slideLayouts/slideLayout114.xml"/><Relationship Id="rId4" Type="http://schemas.openxmlformats.org/officeDocument/2006/relationships/slideLayout" Target="../slideLayouts/slideLayout87.xml"/><Relationship Id="rId9" Type="http://schemas.openxmlformats.org/officeDocument/2006/relationships/slideLayout" Target="../slideLayouts/slideLayout92.xml"/><Relationship Id="rId14" Type="http://schemas.openxmlformats.org/officeDocument/2006/relationships/slideLayout" Target="../slideLayouts/slideLayout97.xml"/><Relationship Id="rId22" Type="http://schemas.openxmlformats.org/officeDocument/2006/relationships/slideLayout" Target="../slideLayouts/slideLayout105.xml"/><Relationship Id="rId27" Type="http://schemas.openxmlformats.org/officeDocument/2006/relationships/slideLayout" Target="../slideLayouts/slideLayout110.xml"/><Relationship Id="rId30" Type="http://schemas.openxmlformats.org/officeDocument/2006/relationships/slideLayout" Target="../slideLayouts/slideLayout113.xml"/><Relationship Id="rId35" Type="http://schemas.openxmlformats.org/officeDocument/2006/relationships/slideLayout" Target="../slideLayouts/slideLayout118.xml"/><Relationship Id="rId8" Type="http://schemas.openxmlformats.org/officeDocument/2006/relationships/slideLayout" Target="../slideLayouts/slideLayout91.xml"/><Relationship Id="rId3" Type="http://schemas.openxmlformats.org/officeDocument/2006/relationships/slideLayout" Target="../slideLayouts/slideLayout86.xml"/><Relationship Id="rId12" Type="http://schemas.openxmlformats.org/officeDocument/2006/relationships/slideLayout" Target="../slideLayouts/slideLayout95.xml"/><Relationship Id="rId17" Type="http://schemas.openxmlformats.org/officeDocument/2006/relationships/slideLayout" Target="../slideLayouts/slideLayout100.xml"/><Relationship Id="rId25" Type="http://schemas.openxmlformats.org/officeDocument/2006/relationships/slideLayout" Target="../slideLayouts/slideLayout108.xml"/><Relationship Id="rId33" Type="http://schemas.openxmlformats.org/officeDocument/2006/relationships/slideLayout" Target="../slideLayouts/slideLayout116.xml"/><Relationship Id="rId38" Type="http://schemas.openxmlformats.org/officeDocument/2006/relationships/slideLayout" Target="../slideLayouts/slideLayout1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AE123625-4177-94C5-071F-B877E4893AD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PE"/>
          </a:p>
        </p:txBody>
      </p:sp>
      <p:sp>
        <p:nvSpPr>
          <p:cNvPr id="3" name="Marcador de texto 2">
            <a:extLst>
              <a:ext uri="{FF2B5EF4-FFF2-40B4-BE49-F238E27FC236}">
                <a16:creationId xmlns:a16="http://schemas.microsoft.com/office/drawing/2014/main" id="{E5CC5A60-722C-D5E0-88E8-5BB4ECA798C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5707A37D-85C7-5674-D2C3-ADB9632C5B3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728B04F-4F73-48C2-9E46-704F64527F32}" type="datetimeFigureOut">
              <a:rPr lang="es-PE" smtClean="0"/>
              <a:t>22/09/2026</a:t>
            </a:fld>
            <a:endParaRPr lang="es-PE"/>
          </a:p>
        </p:txBody>
      </p:sp>
      <p:sp>
        <p:nvSpPr>
          <p:cNvPr id="5" name="Marcador de pie de página 4">
            <a:extLst>
              <a:ext uri="{FF2B5EF4-FFF2-40B4-BE49-F238E27FC236}">
                <a16:creationId xmlns:a16="http://schemas.microsoft.com/office/drawing/2014/main" id="{6E0165AA-F759-5A1E-FB29-109C5E328E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PE"/>
          </a:p>
        </p:txBody>
      </p:sp>
      <p:sp>
        <p:nvSpPr>
          <p:cNvPr id="6" name="Marcador de número de diapositiva 5">
            <a:extLst>
              <a:ext uri="{FF2B5EF4-FFF2-40B4-BE49-F238E27FC236}">
                <a16:creationId xmlns:a16="http://schemas.microsoft.com/office/drawing/2014/main" id="{20FB6A20-3F4D-79CB-E2F3-BEEDBBCD8CB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44433A7-2339-439A-AF51-9EFDA9A6041C}" type="slidenum">
              <a:rPr lang="es-PE" smtClean="0"/>
              <a:t>‹Nº›</a:t>
            </a:fld>
            <a:endParaRPr lang="es-PE"/>
          </a:p>
        </p:txBody>
      </p:sp>
    </p:spTree>
    <p:extLst>
      <p:ext uri="{BB962C8B-B14F-4D97-AF65-F5344CB8AC3E}">
        <p14:creationId xmlns:p14="http://schemas.microsoft.com/office/powerpoint/2010/main" val="27906756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AE723A-1CD3-C976-D546-D7B1E1A72778}"/>
              </a:ext>
            </a:extLst>
          </p:cNvPr>
          <p:cNvSpPr>
            <a:spLocks noGrp="1"/>
          </p:cNvSpPr>
          <p:nvPr>
            <p:ph type="title"/>
          </p:nvPr>
        </p:nvSpPr>
        <p:spPr>
          <a:xfrm>
            <a:off x="838200" y="365125"/>
            <a:ext cx="10515600" cy="613309"/>
          </a:xfrm>
          <a:prstGeom prst="rect">
            <a:avLst/>
          </a:prstGeom>
        </p:spPr>
        <p:txBody>
          <a:bodyPr vert="horz" lIns="0" tIns="0" rIns="0" bIns="0" rtlCol="0" anchor="t" anchorCtr="0">
            <a:sp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F5A2E2D-CDA6-D65D-5A28-67459EB16D90}"/>
              </a:ext>
            </a:extLst>
          </p:cNvPr>
          <p:cNvSpPr>
            <a:spLocks noGrp="1"/>
          </p:cNvSpPr>
          <p:nvPr>
            <p:ph type="body" idx="1"/>
          </p:nvPr>
        </p:nvSpPr>
        <p:spPr>
          <a:xfrm>
            <a:off x="838200" y="1825625"/>
            <a:ext cx="10515600" cy="1684948"/>
          </a:xfrm>
          <a:prstGeom prst="rect">
            <a:avLst/>
          </a:prstGeom>
        </p:spPr>
        <p:txBody>
          <a:bodyPr vert="horz"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6" name="Graphic 5">
            <a:extLst>
              <a:ext uri="{FF2B5EF4-FFF2-40B4-BE49-F238E27FC236}">
                <a16:creationId xmlns:a16="http://schemas.microsoft.com/office/drawing/2014/main" id="{98C54377-C373-3751-A275-A17B11FE1BB6}"/>
              </a:ext>
            </a:extLst>
          </p:cNvPr>
          <p:cNvPicPr>
            <a:picLocks noChangeAspect="1"/>
          </p:cNvPicPr>
          <p:nvPr/>
        </p:nvPicPr>
        <p:blipFill>
          <a:blip r:embed="rId36">
            <a:extLst>
              <a:ext uri="{96DAC541-7B7A-43D3-8B79-37D633B846F1}">
                <asvg:svgBlip xmlns:asvg="http://schemas.microsoft.com/office/drawing/2016/SVG/main" r:embed="rId37"/>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E00D8F4A-848B-F513-FE1A-5A86C8B8CF84}"/>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4" name="TextBox 3">
            <a:extLst>
              <a:ext uri="{FF2B5EF4-FFF2-40B4-BE49-F238E27FC236}">
                <a16:creationId xmlns:a16="http://schemas.microsoft.com/office/drawing/2014/main" id="{EDA225B6-A2B9-C109-E112-6ACDED1B4458}"/>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111062692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AE723A-1CD3-C976-D546-D7B1E1A72778}"/>
              </a:ext>
            </a:extLst>
          </p:cNvPr>
          <p:cNvSpPr>
            <a:spLocks noGrp="1"/>
          </p:cNvSpPr>
          <p:nvPr>
            <p:ph type="title"/>
          </p:nvPr>
        </p:nvSpPr>
        <p:spPr>
          <a:xfrm>
            <a:off x="838200" y="365125"/>
            <a:ext cx="10515600" cy="613309"/>
          </a:xfrm>
          <a:prstGeom prst="rect">
            <a:avLst/>
          </a:prstGeom>
        </p:spPr>
        <p:txBody>
          <a:bodyPr vert="horz" lIns="0" tIns="0" rIns="0" bIns="0" rtlCol="0" anchor="t" anchorCtr="0">
            <a:spAutoFit/>
          </a:bodyPr>
          <a:lstStyle/>
          <a:p>
            <a:r>
              <a:rPr lang="es-ES"/>
              <a:t>Haga clic para modificar el estilo de título del patrón</a:t>
            </a:r>
            <a:endParaRPr lang="en-US" dirty="0"/>
          </a:p>
        </p:txBody>
      </p:sp>
      <p:sp>
        <p:nvSpPr>
          <p:cNvPr id="3" name="Text Placeholder 2">
            <a:extLst>
              <a:ext uri="{FF2B5EF4-FFF2-40B4-BE49-F238E27FC236}">
                <a16:creationId xmlns:a16="http://schemas.microsoft.com/office/drawing/2014/main" id="{CF5A2E2D-CDA6-D65D-5A28-67459EB16D90}"/>
              </a:ext>
            </a:extLst>
          </p:cNvPr>
          <p:cNvSpPr>
            <a:spLocks noGrp="1"/>
          </p:cNvSpPr>
          <p:nvPr>
            <p:ph type="body" idx="1"/>
          </p:nvPr>
        </p:nvSpPr>
        <p:spPr>
          <a:xfrm>
            <a:off x="838200" y="1825625"/>
            <a:ext cx="10515600" cy="1684948"/>
          </a:xfrm>
          <a:prstGeom prst="rect">
            <a:avLst/>
          </a:prstGeom>
        </p:spPr>
        <p:txBody>
          <a:bodyPr vert="horz" lIns="0" tIns="0" rIns="0" bIns="0" rtlCol="0">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6" name="Graphic 5">
            <a:extLst>
              <a:ext uri="{FF2B5EF4-FFF2-40B4-BE49-F238E27FC236}">
                <a16:creationId xmlns:a16="http://schemas.microsoft.com/office/drawing/2014/main" id="{98C54377-C373-3751-A275-A17B11FE1BB6}"/>
              </a:ext>
            </a:extLst>
          </p:cNvPr>
          <p:cNvPicPr>
            <a:picLocks noChangeAspect="1"/>
          </p:cNvPicPr>
          <p:nvPr/>
        </p:nvPicPr>
        <p:blipFill>
          <a:blip r:embed="rId40">
            <a:extLst>
              <a:ext uri="{96DAC541-7B7A-43D3-8B79-37D633B846F1}">
                <asvg:svgBlip xmlns:asvg="http://schemas.microsoft.com/office/drawing/2016/SVG/main" r:embed="rId41"/>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E00D8F4A-848B-F513-FE1A-5A86C8B8CF84}"/>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4" name="TextBox 3">
            <a:extLst>
              <a:ext uri="{FF2B5EF4-FFF2-40B4-BE49-F238E27FC236}">
                <a16:creationId xmlns:a16="http://schemas.microsoft.com/office/drawing/2014/main" id="{EDA225B6-A2B9-C109-E112-6ACDED1B4458}"/>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563148507"/>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 id="2147483708" r:id="rId13"/>
    <p:sldLayoutId id="2147483709" r:id="rId14"/>
    <p:sldLayoutId id="2147483710" r:id="rId15"/>
    <p:sldLayoutId id="2147483711" r:id="rId16"/>
    <p:sldLayoutId id="2147483712" r:id="rId17"/>
    <p:sldLayoutId id="2147483713" r:id="rId18"/>
    <p:sldLayoutId id="2147483714" r:id="rId19"/>
    <p:sldLayoutId id="2147483715" r:id="rId20"/>
    <p:sldLayoutId id="2147483716" r:id="rId21"/>
    <p:sldLayoutId id="2147483717" r:id="rId22"/>
    <p:sldLayoutId id="2147483718" r:id="rId23"/>
    <p:sldLayoutId id="2147483719" r:id="rId24"/>
    <p:sldLayoutId id="2147483720" r:id="rId25"/>
    <p:sldLayoutId id="2147483721" r:id="rId26"/>
    <p:sldLayoutId id="2147483722" r:id="rId27"/>
    <p:sldLayoutId id="2147483723" r:id="rId28"/>
    <p:sldLayoutId id="2147483724" r:id="rId29"/>
    <p:sldLayoutId id="2147483725" r:id="rId30"/>
    <p:sldLayoutId id="2147483726" r:id="rId31"/>
    <p:sldLayoutId id="2147483727" r:id="rId32"/>
    <p:sldLayoutId id="2147483728" r:id="rId33"/>
    <p:sldLayoutId id="2147483729" r:id="rId34"/>
    <p:sldLayoutId id="2147483730" r:id="rId35"/>
    <p:sldLayoutId id="2147483731" r:id="rId36"/>
    <p:sldLayoutId id="2147483733" r:id="rId37"/>
    <p:sldLayoutId id="2147483734" r:id="rId38"/>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AE723A-1CD3-C976-D546-D7B1E1A72778}"/>
              </a:ext>
            </a:extLst>
          </p:cNvPr>
          <p:cNvSpPr>
            <a:spLocks noGrp="1"/>
          </p:cNvSpPr>
          <p:nvPr>
            <p:ph type="title"/>
          </p:nvPr>
        </p:nvSpPr>
        <p:spPr>
          <a:xfrm>
            <a:off x="838200" y="365125"/>
            <a:ext cx="10515600" cy="613309"/>
          </a:xfrm>
          <a:prstGeom prst="rect">
            <a:avLst/>
          </a:prstGeom>
        </p:spPr>
        <p:txBody>
          <a:bodyPr vert="horz" lIns="0" tIns="0" rIns="0" bIns="0" rtlCol="0" anchor="t" anchorCtr="0">
            <a:spAutoFit/>
          </a:bodyPr>
          <a:lstStyle/>
          <a:p>
            <a:r>
              <a:rPr lang="es-ES"/>
              <a:t>Haga clic para modificar el estilo de título del patrón</a:t>
            </a:r>
            <a:endParaRPr lang="en-US" dirty="0"/>
          </a:p>
        </p:txBody>
      </p:sp>
      <p:sp>
        <p:nvSpPr>
          <p:cNvPr id="3" name="Text Placeholder 2">
            <a:extLst>
              <a:ext uri="{FF2B5EF4-FFF2-40B4-BE49-F238E27FC236}">
                <a16:creationId xmlns:a16="http://schemas.microsoft.com/office/drawing/2014/main" id="{CF5A2E2D-CDA6-D65D-5A28-67459EB16D90}"/>
              </a:ext>
            </a:extLst>
          </p:cNvPr>
          <p:cNvSpPr>
            <a:spLocks noGrp="1"/>
          </p:cNvSpPr>
          <p:nvPr>
            <p:ph type="body" idx="1"/>
          </p:nvPr>
        </p:nvSpPr>
        <p:spPr>
          <a:xfrm>
            <a:off x="838200" y="1825625"/>
            <a:ext cx="10515600" cy="1684948"/>
          </a:xfrm>
          <a:prstGeom prst="rect">
            <a:avLst/>
          </a:prstGeom>
        </p:spPr>
        <p:txBody>
          <a:bodyPr vert="horz" lIns="0" tIns="0" rIns="0" bIns="0" rtlCol="0">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6" name="Graphic 5">
            <a:extLst>
              <a:ext uri="{FF2B5EF4-FFF2-40B4-BE49-F238E27FC236}">
                <a16:creationId xmlns:a16="http://schemas.microsoft.com/office/drawing/2014/main" id="{98C54377-C373-3751-A275-A17B11FE1BB6}"/>
              </a:ext>
            </a:extLst>
          </p:cNvPr>
          <p:cNvPicPr>
            <a:picLocks noChangeAspect="1"/>
          </p:cNvPicPr>
          <p:nvPr/>
        </p:nvPicPr>
        <p:blipFill>
          <a:blip r:embed="rId40">
            <a:extLst>
              <a:ext uri="{96DAC541-7B7A-43D3-8B79-37D633B846F1}">
                <asvg:svgBlip xmlns:asvg="http://schemas.microsoft.com/office/drawing/2016/SVG/main" r:embed="rId41"/>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E00D8F4A-848B-F513-FE1A-5A86C8B8CF84}"/>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4" name="TextBox 3">
            <a:extLst>
              <a:ext uri="{FF2B5EF4-FFF2-40B4-BE49-F238E27FC236}">
                <a16:creationId xmlns:a16="http://schemas.microsoft.com/office/drawing/2014/main" id="{EDA225B6-A2B9-C109-E112-6ACDED1B4458}"/>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89001218"/>
      </p:ext>
    </p:extLst>
  </p:cSld>
  <p:clrMap bg1="lt1" tx1="dk1" bg2="lt2" tx2="dk2" accent1="accent1" accent2="accent2" accent3="accent3" accent4="accent4" accent5="accent5" accent6="accent6" hlink="hlink" folHlink="folHlink"/>
  <p:sldLayoutIdLst>
    <p:sldLayoutId id="2147483736" r:id="rId1"/>
    <p:sldLayoutId id="2147483737" r:id="rId2"/>
    <p:sldLayoutId id="2147483738" r:id="rId3"/>
    <p:sldLayoutId id="2147483739" r:id="rId4"/>
    <p:sldLayoutId id="2147483740" r:id="rId5"/>
    <p:sldLayoutId id="2147483741" r:id="rId6"/>
    <p:sldLayoutId id="2147483742" r:id="rId7"/>
    <p:sldLayoutId id="2147483743" r:id="rId8"/>
    <p:sldLayoutId id="2147483744" r:id="rId9"/>
    <p:sldLayoutId id="2147483745" r:id="rId10"/>
    <p:sldLayoutId id="2147483746" r:id="rId11"/>
    <p:sldLayoutId id="2147483747" r:id="rId12"/>
    <p:sldLayoutId id="2147483748" r:id="rId13"/>
    <p:sldLayoutId id="2147483749" r:id="rId14"/>
    <p:sldLayoutId id="2147483750" r:id="rId15"/>
    <p:sldLayoutId id="2147483751" r:id="rId16"/>
    <p:sldLayoutId id="2147483752" r:id="rId17"/>
    <p:sldLayoutId id="2147483753" r:id="rId18"/>
    <p:sldLayoutId id="2147483754" r:id="rId19"/>
    <p:sldLayoutId id="2147483755" r:id="rId20"/>
    <p:sldLayoutId id="2147483756" r:id="rId21"/>
    <p:sldLayoutId id="2147483757" r:id="rId22"/>
    <p:sldLayoutId id="2147483758" r:id="rId23"/>
    <p:sldLayoutId id="2147483759" r:id="rId24"/>
    <p:sldLayoutId id="2147483760" r:id="rId25"/>
    <p:sldLayoutId id="2147483761" r:id="rId26"/>
    <p:sldLayoutId id="2147483762" r:id="rId27"/>
    <p:sldLayoutId id="2147483763" r:id="rId28"/>
    <p:sldLayoutId id="2147483764" r:id="rId29"/>
    <p:sldLayoutId id="2147483765" r:id="rId30"/>
    <p:sldLayoutId id="2147483766" r:id="rId31"/>
    <p:sldLayoutId id="2147483767" r:id="rId32"/>
    <p:sldLayoutId id="2147483768" r:id="rId33"/>
    <p:sldLayoutId id="2147483769" r:id="rId34"/>
    <p:sldLayoutId id="2147483770" r:id="rId35"/>
    <p:sldLayoutId id="2147483771" r:id="rId36"/>
    <p:sldLayoutId id="2147483772" r:id="rId37"/>
    <p:sldLayoutId id="2147483774" r:id="rId38"/>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9.png"/><Relationship Id="rId1" Type="http://schemas.openxmlformats.org/officeDocument/2006/relationships/slideLayout" Target="../slideLayouts/slideLayout7.xml"/><Relationship Id="rId5" Type="http://schemas.openxmlformats.org/officeDocument/2006/relationships/image" Target="../media/image21.png"/><Relationship Id="rId4" Type="http://schemas.openxmlformats.org/officeDocument/2006/relationships/image" Target="../media/image20.png"/></Relationships>
</file>

<file path=ppt/slides/_rels/slide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2.png"/><Relationship Id="rId1" Type="http://schemas.openxmlformats.org/officeDocument/2006/relationships/slideLayout" Target="../slideLayouts/slideLayout7.xml"/><Relationship Id="rId5" Type="http://schemas.openxmlformats.org/officeDocument/2006/relationships/image" Target="../media/image20.png"/><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9.png"/><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0.png"/><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0.png"/><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0.png"/><Relationship Id="rId1" Type="http://schemas.openxmlformats.org/officeDocument/2006/relationships/slideLayout" Target="../slideLayouts/slideLayout7.xml"/><Relationship Id="rId4" Type="http://schemas.openxmlformats.org/officeDocument/2006/relationships/image" Target="../media/image26.png"/></Relationships>
</file>

<file path=ppt/slides/_rels/slide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9.png"/><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0.png"/><Relationship Id="rId1" Type="http://schemas.openxmlformats.org/officeDocument/2006/relationships/slideLayout" Target="../slideLayouts/slideLayout7.xml"/><Relationship Id="rId4" Type="http://schemas.openxmlformats.org/officeDocument/2006/relationships/image" Target="../media/image27.png"/></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0.png"/><Relationship Id="rId1" Type="http://schemas.openxmlformats.org/officeDocument/2006/relationships/slideLayout" Target="../slideLayouts/slideLayout7.xml"/><Relationship Id="rId5" Type="http://schemas.openxmlformats.org/officeDocument/2006/relationships/slide" Target="slide13.xml"/><Relationship Id="rId4" Type="http://schemas.openxmlformats.org/officeDocument/2006/relationships/image" Target="../media/image27.png"/></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0.png"/><Relationship Id="rId1" Type="http://schemas.openxmlformats.org/officeDocument/2006/relationships/slideLayout" Target="../slideLayouts/slideLayout7.xml"/><Relationship Id="rId6" Type="http://schemas.openxmlformats.org/officeDocument/2006/relationships/slide" Target="slide16.xml"/><Relationship Id="rId5" Type="http://schemas.openxmlformats.org/officeDocument/2006/relationships/slide" Target="slide12.xml"/><Relationship Id="rId4" Type="http://schemas.openxmlformats.org/officeDocument/2006/relationships/image" Target="../media/image27.png"/></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0.png"/><Relationship Id="rId1" Type="http://schemas.openxmlformats.org/officeDocument/2006/relationships/slideLayout" Target="../slideLayouts/slideLayout7.xml"/><Relationship Id="rId4" Type="http://schemas.openxmlformats.org/officeDocument/2006/relationships/image" Target="../media/image27.png"/></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2.png"/><Relationship Id="rId1" Type="http://schemas.openxmlformats.org/officeDocument/2006/relationships/slideLayout" Target="../slideLayouts/slideLayout7.xml"/><Relationship Id="rId5" Type="http://schemas.openxmlformats.org/officeDocument/2006/relationships/image" Target="../media/image20.png"/><Relationship Id="rId4" Type="http://schemas.microsoft.com/office/2007/relationships/hdphoto" Target="../media/hdphoto1.wdp"/></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0.png"/><Relationship Id="rId1" Type="http://schemas.openxmlformats.org/officeDocument/2006/relationships/slideLayout" Target="../slideLayouts/slideLayout7.xml"/><Relationship Id="rId5" Type="http://schemas.openxmlformats.org/officeDocument/2006/relationships/slide" Target="slide15.xml"/><Relationship Id="rId4" Type="http://schemas.openxmlformats.org/officeDocument/2006/relationships/image" Target="../media/image28.png"/></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9.png"/><Relationship Id="rId1" Type="http://schemas.openxmlformats.org/officeDocument/2006/relationships/slideLayout" Target="../slideLayouts/slideLayout7.xml"/><Relationship Id="rId5" Type="http://schemas.openxmlformats.org/officeDocument/2006/relationships/slide" Target="slide15.xml"/><Relationship Id="rId4" Type="http://schemas.openxmlformats.org/officeDocument/2006/relationships/image" Target="../media/image23.png"/></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9.png"/><Relationship Id="rId1" Type="http://schemas.openxmlformats.org/officeDocument/2006/relationships/slideLayout" Target="../slideLayouts/slideLayout7.xml"/><Relationship Id="rId5" Type="http://schemas.openxmlformats.org/officeDocument/2006/relationships/slide" Target="slide15.xml"/><Relationship Id="rId4" Type="http://schemas.openxmlformats.org/officeDocument/2006/relationships/image" Target="../media/image23.png"/></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9.png"/><Relationship Id="rId1" Type="http://schemas.openxmlformats.org/officeDocument/2006/relationships/slideLayout" Target="../slideLayouts/slideLayout7.xml"/><Relationship Id="rId5" Type="http://schemas.openxmlformats.org/officeDocument/2006/relationships/slide" Target="slide15.xml"/><Relationship Id="rId4" Type="http://schemas.openxmlformats.org/officeDocument/2006/relationships/image" Target="../media/image23.png"/></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9.png"/><Relationship Id="rId1" Type="http://schemas.openxmlformats.org/officeDocument/2006/relationships/slideLayout" Target="../slideLayouts/slideLayout7.xml"/><Relationship Id="rId5" Type="http://schemas.openxmlformats.org/officeDocument/2006/relationships/slide" Target="slide15.xml"/><Relationship Id="rId4" Type="http://schemas.openxmlformats.org/officeDocument/2006/relationships/image" Target="../media/image23.png"/></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9.png"/><Relationship Id="rId1" Type="http://schemas.openxmlformats.org/officeDocument/2006/relationships/slideLayout" Target="../slideLayouts/slideLayout7.xml"/><Relationship Id="rId5" Type="http://schemas.openxmlformats.org/officeDocument/2006/relationships/slide" Target="slide15.xml"/><Relationship Id="rId4" Type="http://schemas.openxmlformats.org/officeDocument/2006/relationships/image" Target="../media/image23.png"/></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9.png"/><Relationship Id="rId1" Type="http://schemas.openxmlformats.org/officeDocument/2006/relationships/slideLayout" Target="../slideLayouts/slideLayout7.xml"/><Relationship Id="rId5" Type="http://schemas.openxmlformats.org/officeDocument/2006/relationships/slide" Target="slide15.xml"/><Relationship Id="rId4" Type="http://schemas.openxmlformats.org/officeDocument/2006/relationships/image" Target="../media/image23.png"/></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9.png"/><Relationship Id="rId1" Type="http://schemas.openxmlformats.org/officeDocument/2006/relationships/slideLayout" Target="../slideLayouts/slideLayout7.xml"/><Relationship Id="rId5" Type="http://schemas.openxmlformats.org/officeDocument/2006/relationships/slide" Target="slide15.xml"/><Relationship Id="rId4" Type="http://schemas.openxmlformats.org/officeDocument/2006/relationships/image" Target="../media/image23.png"/></Relationships>
</file>

<file path=ppt/slides/_rels/slide2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9.png"/><Relationship Id="rId1" Type="http://schemas.openxmlformats.org/officeDocument/2006/relationships/slideLayout" Target="../slideLayouts/slideLayout7.xml"/><Relationship Id="rId5" Type="http://schemas.openxmlformats.org/officeDocument/2006/relationships/slide" Target="slide15.xml"/><Relationship Id="rId4" Type="http://schemas.openxmlformats.org/officeDocument/2006/relationships/image" Target="../media/image23.png"/></Relationships>
</file>

<file path=ppt/slides/_rels/slide2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30.png"/><Relationship Id="rId1" Type="http://schemas.openxmlformats.org/officeDocument/2006/relationships/slideLayout" Target="../slideLayouts/slideLayout7.xml"/><Relationship Id="rId5" Type="http://schemas.openxmlformats.org/officeDocument/2006/relationships/slide" Target="slide15.xml"/><Relationship Id="rId4" Type="http://schemas.openxmlformats.org/officeDocument/2006/relationships/image" Target="../media/image23.png"/></Relationships>
</file>

<file path=ppt/slides/_rels/slide3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30.png"/><Relationship Id="rId1" Type="http://schemas.openxmlformats.org/officeDocument/2006/relationships/slideLayout" Target="../slideLayouts/slideLayout7.xml"/><Relationship Id="rId5" Type="http://schemas.openxmlformats.org/officeDocument/2006/relationships/slide" Target="slide15.xml"/><Relationship Id="rId4" Type="http://schemas.openxmlformats.org/officeDocument/2006/relationships/image" Target="../media/image23.png"/></Relationships>
</file>

<file path=ppt/slides/_rels/slide3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30.png"/><Relationship Id="rId1" Type="http://schemas.openxmlformats.org/officeDocument/2006/relationships/slideLayout" Target="../slideLayouts/slideLayout7.xml"/><Relationship Id="rId5" Type="http://schemas.openxmlformats.org/officeDocument/2006/relationships/slide" Target="slide15.xml"/><Relationship Id="rId4" Type="http://schemas.openxmlformats.org/officeDocument/2006/relationships/image" Target="../media/image23.png"/></Relationships>
</file>

<file path=ppt/slides/_rels/slide3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30.png"/><Relationship Id="rId1" Type="http://schemas.openxmlformats.org/officeDocument/2006/relationships/slideLayout" Target="../slideLayouts/slideLayout7.xml"/><Relationship Id="rId5" Type="http://schemas.openxmlformats.org/officeDocument/2006/relationships/slide" Target="slide15.xml"/><Relationship Id="rId4" Type="http://schemas.openxmlformats.org/officeDocument/2006/relationships/image" Target="../media/image23.png"/></Relationships>
</file>

<file path=ppt/slides/_rels/slide3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0.png"/><Relationship Id="rId1" Type="http://schemas.openxmlformats.org/officeDocument/2006/relationships/slideLayout" Target="../slideLayouts/slideLayout7.xml"/><Relationship Id="rId5" Type="http://schemas.openxmlformats.org/officeDocument/2006/relationships/slide" Target="slide15.xml"/><Relationship Id="rId4" Type="http://schemas.openxmlformats.org/officeDocument/2006/relationships/image" Target="../media/image31.png"/></Relationships>
</file>

<file path=ppt/slides/_rels/slide3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0.png"/><Relationship Id="rId1" Type="http://schemas.openxmlformats.org/officeDocument/2006/relationships/slideLayout" Target="../slideLayouts/slideLayout7.xml"/><Relationship Id="rId5" Type="http://schemas.openxmlformats.org/officeDocument/2006/relationships/slide" Target="slide15.xml"/><Relationship Id="rId4" Type="http://schemas.openxmlformats.org/officeDocument/2006/relationships/image" Target="../media/image32.png"/></Relationships>
</file>

<file path=ppt/slides/_rels/slide3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33.png"/><Relationship Id="rId1" Type="http://schemas.openxmlformats.org/officeDocument/2006/relationships/slideLayout" Target="../slideLayouts/slideLayout7.xml"/><Relationship Id="rId5" Type="http://schemas.openxmlformats.org/officeDocument/2006/relationships/slide" Target="slide15.xml"/><Relationship Id="rId4" Type="http://schemas.openxmlformats.org/officeDocument/2006/relationships/image" Target="../media/image23.png"/></Relationships>
</file>

<file path=ppt/slides/_rels/slide3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34.png"/><Relationship Id="rId1" Type="http://schemas.openxmlformats.org/officeDocument/2006/relationships/slideLayout" Target="../slideLayouts/slideLayout7.xml"/><Relationship Id="rId5" Type="http://schemas.openxmlformats.org/officeDocument/2006/relationships/slide" Target="slide15.xml"/><Relationship Id="rId4" Type="http://schemas.openxmlformats.org/officeDocument/2006/relationships/image" Target="../media/image23.png"/></Relationships>
</file>

<file path=ppt/slides/_rels/slide4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35.png"/><Relationship Id="rId1" Type="http://schemas.openxmlformats.org/officeDocument/2006/relationships/slideLayout" Target="../slideLayouts/slideLayout7.xml"/><Relationship Id="rId5" Type="http://schemas.openxmlformats.org/officeDocument/2006/relationships/slide" Target="slide15.xml"/><Relationship Id="rId4" Type="http://schemas.openxmlformats.org/officeDocument/2006/relationships/image" Target="../media/image23.png"/></Relationships>
</file>

<file path=ppt/slides/_rels/slide4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36.png"/><Relationship Id="rId1" Type="http://schemas.openxmlformats.org/officeDocument/2006/relationships/slideLayout" Target="../slideLayouts/slideLayout7.xml"/><Relationship Id="rId5" Type="http://schemas.openxmlformats.org/officeDocument/2006/relationships/slide" Target="slide15.xml"/><Relationship Id="rId4" Type="http://schemas.openxmlformats.org/officeDocument/2006/relationships/image" Target="../media/image23.png"/></Relationships>
</file>

<file path=ppt/slides/_rels/slide4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0.png"/><Relationship Id="rId1" Type="http://schemas.openxmlformats.org/officeDocument/2006/relationships/slideLayout" Target="../slideLayouts/slideLayout7.xml"/><Relationship Id="rId5" Type="http://schemas.openxmlformats.org/officeDocument/2006/relationships/slide" Target="slide15.xml"/><Relationship Id="rId4" Type="http://schemas.openxmlformats.org/officeDocument/2006/relationships/image" Target="../media/image37.png"/></Relationships>
</file>

<file path=ppt/slides/_rels/slide4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38.png"/><Relationship Id="rId1" Type="http://schemas.openxmlformats.org/officeDocument/2006/relationships/slideLayout" Target="../slideLayouts/slideLayout7.xml"/><Relationship Id="rId5" Type="http://schemas.openxmlformats.org/officeDocument/2006/relationships/slide" Target="slide15.xml"/><Relationship Id="rId4" Type="http://schemas.openxmlformats.org/officeDocument/2006/relationships/image" Target="../media/image23.png"/></Relationships>
</file>

<file path=ppt/slides/_rels/slide4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0.png"/><Relationship Id="rId1" Type="http://schemas.openxmlformats.org/officeDocument/2006/relationships/slideLayout" Target="../slideLayouts/slideLayout7.xml"/><Relationship Id="rId5" Type="http://schemas.openxmlformats.org/officeDocument/2006/relationships/slide" Target="slide15.xml"/><Relationship Id="rId4" Type="http://schemas.openxmlformats.org/officeDocument/2006/relationships/image" Target="../media/image39.png"/></Relationships>
</file>

<file path=ppt/slides/_rels/slide4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0.png"/><Relationship Id="rId1" Type="http://schemas.openxmlformats.org/officeDocument/2006/relationships/slideLayout" Target="../slideLayouts/slideLayout7.xml"/><Relationship Id="rId5" Type="http://schemas.openxmlformats.org/officeDocument/2006/relationships/slide" Target="slide15.xml"/><Relationship Id="rId4" Type="http://schemas.openxmlformats.org/officeDocument/2006/relationships/image" Target="../media/image40.png"/></Relationships>
</file>

<file path=ppt/slides/_rels/slide4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0.png"/><Relationship Id="rId1" Type="http://schemas.openxmlformats.org/officeDocument/2006/relationships/slideLayout" Target="../slideLayouts/slideLayout7.xml"/><Relationship Id="rId5" Type="http://schemas.openxmlformats.org/officeDocument/2006/relationships/slide" Target="slide15.xml"/><Relationship Id="rId4" Type="http://schemas.openxmlformats.org/officeDocument/2006/relationships/image" Target="../media/image40.png"/></Relationships>
</file>

<file path=ppt/slides/_rels/slide4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41.png"/><Relationship Id="rId1" Type="http://schemas.openxmlformats.org/officeDocument/2006/relationships/slideLayout" Target="../slideLayouts/slideLayout7.xml"/><Relationship Id="rId5" Type="http://schemas.openxmlformats.org/officeDocument/2006/relationships/slide" Target="slide15.xml"/><Relationship Id="rId4" Type="http://schemas.openxmlformats.org/officeDocument/2006/relationships/image" Target="../media/image23.png"/></Relationships>
</file>

<file path=ppt/slides/_rels/slide4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0.png"/><Relationship Id="rId1" Type="http://schemas.openxmlformats.org/officeDocument/2006/relationships/slideLayout" Target="../slideLayouts/slideLayout7.xml"/><Relationship Id="rId5" Type="http://schemas.openxmlformats.org/officeDocument/2006/relationships/slide" Target="slide15.xml"/><Relationship Id="rId4" Type="http://schemas.openxmlformats.org/officeDocument/2006/relationships/image" Target="../media/image40.png"/></Relationships>
</file>

<file path=ppt/slides/_rels/slide4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0.png"/><Relationship Id="rId1" Type="http://schemas.openxmlformats.org/officeDocument/2006/relationships/slideLayout" Target="../slideLayouts/slideLayout7.xml"/><Relationship Id="rId5" Type="http://schemas.openxmlformats.org/officeDocument/2006/relationships/slide" Target="slide15.xml"/><Relationship Id="rId4" Type="http://schemas.openxmlformats.org/officeDocument/2006/relationships/image" Target="../media/image40.png"/></Relationships>
</file>

<file path=ppt/slides/_rels/slide5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0.png"/><Relationship Id="rId1" Type="http://schemas.openxmlformats.org/officeDocument/2006/relationships/slideLayout" Target="../slideLayouts/slideLayout7.xml"/><Relationship Id="rId4" Type="http://schemas.openxmlformats.org/officeDocument/2006/relationships/image" Target="../media/image42.png"/></Relationships>
</file>

<file path=ppt/slides/_rels/slide5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0.png"/><Relationship Id="rId1" Type="http://schemas.openxmlformats.org/officeDocument/2006/relationships/slideLayout" Target="../slideLayouts/slideLayout7.xml"/><Relationship Id="rId4" Type="http://schemas.openxmlformats.org/officeDocument/2006/relationships/image" Target="../media/image42.png"/></Relationships>
</file>

<file path=ppt/slides/_rels/slide5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9.png"/><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5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43.png"/><Relationship Id="rId1" Type="http://schemas.openxmlformats.org/officeDocument/2006/relationships/slideLayout" Target="../slideLayouts/slideLayout7.xml"/><Relationship Id="rId5" Type="http://schemas.openxmlformats.org/officeDocument/2006/relationships/slide" Target="slide15.xml"/><Relationship Id="rId4" Type="http://schemas.openxmlformats.org/officeDocument/2006/relationships/image" Target="../media/image23.png"/></Relationships>
</file>

<file path=ppt/slides/_rels/slide5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0.png"/><Relationship Id="rId1" Type="http://schemas.openxmlformats.org/officeDocument/2006/relationships/slideLayout" Target="../slideLayouts/slideLayout7.xml"/><Relationship Id="rId5" Type="http://schemas.openxmlformats.org/officeDocument/2006/relationships/slide" Target="slide15.xml"/><Relationship Id="rId4" Type="http://schemas.openxmlformats.org/officeDocument/2006/relationships/image" Target="../media/image44.png"/></Relationships>
</file>

<file path=ppt/slides/_rels/slide5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45.png"/><Relationship Id="rId1" Type="http://schemas.openxmlformats.org/officeDocument/2006/relationships/slideLayout" Target="../slideLayouts/slideLayout7.xml"/><Relationship Id="rId5" Type="http://schemas.openxmlformats.org/officeDocument/2006/relationships/slide" Target="slide15.xml"/><Relationship Id="rId4" Type="http://schemas.openxmlformats.org/officeDocument/2006/relationships/image" Target="../media/image23.png"/></Relationships>
</file>

<file path=ppt/slides/_rels/slide5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0.png"/><Relationship Id="rId1" Type="http://schemas.openxmlformats.org/officeDocument/2006/relationships/slideLayout" Target="../slideLayouts/slideLayout7.xml"/><Relationship Id="rId5" Type="http://schemas.openxmlformats.org/officeDocument/2006/relationships/slide" Target="slide15.xml"/><Relationship Id="rId4" Type="http://schemas.openxmlformats.org/officeDocument/2006/relationships/image" Target="../media/image46.png"/></Relationships>
</file>

<file path=ppt/slides/_rels/slide5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9.png"/><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5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0.png"/><Relationship Id="rId1" Type="http://schemas.openxmlformats.org/officeDocument/2006/relationships/slideLayout" Target="../slideLayouts/slideLayout7.xml"/><Relationship Id="rId5" Type="http://schemas.openxmlformats.org/officeDocument/2006/relationships/slide" Target="slide15.xml"/><Relationship Id="rId4" Type="http://schemas.openxmlformats.org/officeDocument/2006/relationships/image" Target="../media/image47.png"/></Relationships>
</file>

<file path=ppt/slides/_rels/slide59.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5C2193"/>
        </a:solidFill>
        <a:effectLst/>
      </p:bgPr>
    </p:bg>
    <p:spTree>
      <p:nvGrpSpPr>
        <p:cNvPr id="1" name=""/>
        <p:cNvGrpSpPr/>
        <p:nvPr/>
      </p:nvGrpSpPr>
      <p:grpSpPr>
        <a:xfrm>
          <a:off x="0" y="0"/>
          <a:ext cx="0" cy="0"/>
          <a:chOff x="0" y="0"/>
          <a:chExt cx="0" cy="0"/>
        </a:xfrm>
      </p:grpSpPr>
      <p:pic>
        <p:nvPicPr>
          <p:cNvPr id="1028" name="Picture 4" descr="Ellucian Student Reseñas 2026: Detalles, Precios y Características | G2">
            <a:extLst>
              <a:ext uri="{FF2B5EF4-FFF2-40B4-BE49-F238E27FC236}">
                <a16:creationId xmlns:a16="http://schemas.microsoft.com/office/drawing/2014/main" id="{3EBF1EA5-190E-0F8F-B4F4-56B5380AED44}"/>
              </a:ext>
            </a:extLst>
          </p:cNvPr>
          <p:cNvPicPr>
            <a:picLocks noChangeAspect="1" noChangeArrowheads="1"/>
          </p:cNvPicPr>
          <p:nvPr/>
        </p:nvPicPr>
        <p:blipFill>
          <a:blip r:embed="rId2">
            <a:biLevel thresh="25000"/>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7850909" y="0"/>
            <a:ext cx="3744190" cy="1965700"/>
          </a:xfrm>
          <a:prstGeom prst="rect">
            <a:avLst/>
          </a:prstGeom>
          <a:noFill/>
          <a:extLst>
            <a:ext uri="{909E8E84-426E-40DD-AFC4-6F175D3DCCD1}">
              <a14:hiddenFill xmlns:a14="http://schemas.microsoft.com/office/drawing/2010/main">
                <a:solidFill>
                  <a:srgbClr val="FFFFFF"/>
                </a:solidFill>
              </a14:hiddenFill>
            </a:ext>
          </a:extLst>
        </p:spPr>
      </p:pic>
      <p:pic>
        <p:nvPicPr>
          <p:cNvPr id="8" name="Imagen 7">
            <a:extLst>
              <a:ext uri="{FF2B5EF4-FFF2-40B4-BE49-F238E27FC236}">
                <a16:creationId xmlns:a16="http://schemas.microsoft.com/office/drawing/2014/main" id="{F3B12AA1-09DB-029E-CEFB-090B28455E75}"/>
              </a:ext>
            </a:extLst>
          </p:cNvPr>
          <p:cNvPicPr>
            <a:picLocks noChangeAspect="1"/>
          </p:cNvPicPr>
          <p:nvPr/>
        </p:nvPicPr>
        <p:blipFill>
          <a:blip r:embed="rId4">
            <a:lum bright="70000" contrast="-70000"/>
            <a:extLst>
              <a:ext uri="{28A0092B-C50C-407E-A947-70E740481C1C}">
                <a14:useLocalDpi xmlns:a14="http://schemas.microsoft.com/office/drawing/2010/main" val="0"/>
              </a:ext>
            </a:extLst>
          </a:blip>
          <a:stretch>
            <a:fillRect/>
          </a:stretch>
        </p:blipFill>
        <p:spPr>
          <a:xfrm>
            <a:off x="596901" y="418320"/>
            <a:ext cx="4053898" cy="954256"/>
          </a:xfrm>
          <a:prstGeom prst="rect">
            <a:avLst/>
          </a:prstGeom>
        </p:spPr>
      </p:pic>
      <p:pic>
        <p:nvPicPr>
          <p:cNvPr id="16" name="Imagen 15">
            <a:extLst>
              <a:ext uri="{FF2B5EF4-FFF2-40B4-BE49-F238E27FC236}">
                <a16:creationId xmlns:a16="http://schemas.microsoft.com/office/drawing/2014/main" id="{47F56B21-165B-13C1-F495-3576889CB7BE}"/>
              </a:ext>
            </a:extLst>
          </p:cNvPr>
          <p:cNvPicPr>
            <a:picLocks noChangeAspect="1"/>
          </p:cNvPicPr>
          <p:nvPr/>
        </p:nvPicPr>
        <p:blipFill>
          <a:blip r:embed="rId5"/>
          <a:srcRect l="10623" r="3279"/>
          <a:stretch>
            <a:fillRect/>
          </a:stretch>
        </p:blipFill>
        <p:spPr>
          <a:xfrm>
            <a:off x="6096000" y="1880558"/>
            <a:ext cx="6096000" cy="4719037"/>
          </a:xfrm>
          <a:custGeom>
            <a:avLst/>
            <a:gdLst>
              <a:gd name="connsiteX0" fmla="*/ 1 w 6548583"/>
              <a:gd name="connsiteY0" fmla="*/ 0 h 5069391"/>
              <a:gd name="connsiteX1" fmla="*/ 6548583 w 6548583"/>
              <a:gd name="connsiteY1" fmla="*/ 0 h 5069391"/>
              <a:gd name="connsiteX2" fmla="*/ 6548583 w 6548583"/>
              <a:gd name="connsiteY2" fmla="*/ 1424774 h 5069391"/>
              <a:gd name="connsiteX3" fmla="*/ 1440000 w 6548583"/>
              <a:gd name="connsiteY3" fmla="*/ 1424774 h 5069391"/>
              <a:gd name="connsiteX4" fmla="*/ 1440000 w 6548583"/>
              <a:gd name="connsiteY4" fmla="*/ 1807083 h 5069391"/>
              <a:gd name="connsiteX5" fmla="*/ 6548583 w 6548583"/>
              <a:gd name="connsiteY5" fmla="*/ 1807083 h 5069391"/>
              <a:gd name="connsiteX6" fmla="*/ 6548583 w 6548583"/>
              <a:gd name="connsiteY6" fmla="*/ 3247083 h 5069391"/>
              <a:gd name="connsiteX7" fmla="*/ 1440000 w 6548583"/>
              <a:gd name="connsiteY7" fmla="*/ 3247082 h 5069391"/>
              <a:gd name="connsiteX8" fmla="*/ 1440000 w 6548583"/>
              <a:gd name="connsiteY8" fmla="*/ 3629391 h 5069391"/>
              <a:gd name="connsiteX9" fmla="*/ 6548582 w 6548583"/>
              <a:gd name="connsiteY9" fmla="*/ 3629392 h 5069391"/>
              <a:gd name="connsiteX10" fmla="*/ 6548582 w 6548583"/>
              <a:gd name="connsiteY10" fmla="*/ 5069391 h 5069391"/>
              <a:gd name="connsiteX11" fmla="*/ 1440000 w 6548583"/>
              <a:gd name="connsiteY11" fmla="*/ 5069391 h 5069391"/>
              <a:gd name="connsiteX12" fmla="*/ 0 w 6548583"/>
              <a:gd name="connsiteY12" fmla="*/ 5069391 h 5069391"/>
              <a:gd name="connsiteX13" fmla="*/ 0 w 6548583"/>
              <a:gd name="connsiteY13" fmla="*/ 1 h 5069391"/>
              <a:gd name="connsiteX14" fmla="*/ 1 w 6548583"/>
              <a:gd name="connsiteY14" fmla="*/ 1 h 5069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548583" h="5069391">
                <a:moveTo>
                  <a:pt x="1" y="0"/>
                </a:moveTo>
                <a:lnTo>
                  <a:pt x="6548583" y="0"/>
                </a:lnTo>
                <a:lnTo>
                  <a:pt x="6548583" y="1424774"/>
                </a:lnTo>
                <a:lnTo>
                  <a:pt x="1440000" y="1424774"/>
                </a:lnTo>
                <a:lnTo>
                  <a:pt x="1440000" y="1807083"/>
                </a:lnTo>
                <a:lnTo>
                  <a:pt x="6548583" y="1807083"/>
                </a:lnTo>
                <a:lnTo>
                  <a:pt x="6548583" y="3247083"/>
                </a:lnTo>
                <a:lnTo>
                  <a:pt x="1440000" y="3247082"/>
                </a:lnTo>
                <a:lnTo>
                  <a:pt x="1440000" y="3629391"/>
                </a:lnTo>
                <a:lnTo>
                  <a:pt x="6548582" y="3629392"/>
                </a:lnTo>
                <a:lnTo>
                  <a:pt x="6548582" y="5069391"/>
                </a:lnTo>
                <a:lnTo>
                  <a:pt x="1440000" y="5069391"/>
                </a:lnTo>
                <a:lnTo>
                  <a:pt x="0" y="5069391"/>
                </a:lnTo>
                <a:lnTo>
                  <a:pt x="0" y="1"/>
                </a:lnTo>
                <a:lnTo>
                  <a:pt x="1" y="1"/>
                </a:lnTo>
                <a:close/>
              </a:path>
            </a:pathLst>
          </a:custGeom>
        </p:spPr>
      </p:pic>
      <p:sp>
        <p:nvSpPr>
          <p:cNvPr id="17" name="CuadroTexto 16">
            <a:extLst>
              <a:ext uri="{FF2B5EF4-FFF2-40B4-BE49-F238E27FC236}">
                <a16:creationId xmlns:a16="http://schemas.microsoft.com/office/drawing/2014/main" id="{D0BC250B-0A63-B351-C809-BDD7940DFA1A}"/>
              </a:ext>
            </a:extLst>
          </p:cNvPr>
          <p:cNvSpPr txBox="1"/>
          <p:nvPr/>
        </p:nvSpPr>
        <p:spPr>
          <a:xfrm>
            <a:off x="596901" y="2940424"/>
            <a:ext cx="5225929" cy="1754326"/>
          </a:xfrm>
          <a:prstGeom prst="rect">
            <a:avLst/>
          </a:prstGeom>
          <a:noFill/>
        </p:spPr>
        <p:txBody>
          <a:bodyPr wrap="square" rtlCol="0">
            <a:spAutoFit/>
          </a:bodyPr>
          <a:lstStyle/>
          <a:p>
            <a:r>
              <a:rPr lang="es-ES" sz="5400" b="1" dirty="0">
                <a:solidFill>
                  <a:schemeClr val="accent3">
                    <a:lumMod val="60000"/>
                    <a:lumOff val="40000"/>
                  </a:schemeClr>
                </a:solidFill>
                <a:latin typeface="Montserrat" pitchFamily="2" charset="0"/>
              </a:rPr>
              <a:t>PERIODOS ACADÉMICOS</a:t>
            </a:r>
            <a:endParaRPr lang="es-PE" sz="5400" b="1" dirty="0">
              <a:solidFill>
                <a:schemeClr val="accent3">
                  <a:lumMod val="60000"/>
                  <a:lumOff val="40000"/>
                </a:schemeClr>
              </a:solidFill>
              <a:latin typeface="Montserrat" pitchFamily="2" charset="0"/>
            </a:endParaRPr>
          </a:p>
        </p:txBody>
      </p:sp>
      <p:sp>
        <p:nvSpPr>
          <p:cNvPr id="2" name="CuadroTexto 1">
            <a:extLst>
              <a:ext uri="{FF2B5EF4-FFF2-40B4-BE49-F238E27FC236}">
                <a16:creationId xmlns:a16="http://schemas.microsoft.com/office/drawing/2014/main" id="{CDF3A99F-357C-A6F7-37E7-45E55D8F10F5}"/>
              </a:ext>
            </a:extLst>
          </p:cNvPr>
          <p:cNvSpPr txBox="1"/>
          <p:nvPr/>
        </p:nvSpPr>
        <p:spPr>
          <a:xfrm>
            <a:off x="596901" y="6322596"/>
            <a:ext cx="3134128" cy="276999"/>
          </a:xfrm>
          <a:prstGeom prst="rect">
            <a:avLst/>
          </a:prstGeom>
          <a:noFill/>
        </p:spPr>
        <p:txBody>
          <a:bodyPr wrap="none" rtlCol="0">
            <a:spAutoFit/>
          </a:bodyPr>
          <a:lstStyle/>
          <a:p>
            <a:r>
              <a:rPr lang="es-ES" sz="1200" i="1" dirty="0">
                <a:solidFill>
                  <a:schemeClr val="bg1"/>
                </a:solidFill>
              </a:rPr>
              <a:t>Elaborado por: Ing. Liliana Ocampo Moreno</a:t>
            </a:r>
            <a:endParaRPr lang="es-PE" sz="1200" i="1" dirty="0">
              <a:solidFill>
                <a:schemeClr val="bg1"/>
              </a:solidFill>
            </a:endParaRPr>
          </a:p>
        </p:txBody>
      </p:sp>
    </p:spTree>
    <p:extLst>
      <p:ext uri="{BB962C8B-B14F-4D97-AF65-F5344CB8AC3E}">
        <p14:creationId xmlns:p14="http://schemas.microsoft.com/office/powerpoint/2010/main" val="24873687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5C2193"/>
        </a:solidFill>
        <a:effectLst/>
      </p:bgPr>
    </p:bg>
    <p:spTree>
      <p:nvGrpSpPr>
        <p:cNvPr id="1" name=""/>
        <p:cNvGrpSpPr/>
        <p:nvPr/>
      </p:nvGrpSpPr>
      <p:grpSpPr>
        <a:xfrm>
          <a:off x="0" y="0"/>
          <a:ext cx="0" cy="0"/>
          <a:chOff x="0" y="0"/>
          <a:chExt cx="0" cy="0"/>
        </a:xfrm>
      </p:grpSpPr>
      <p:pic>
        <p:nvPicPr>
          <p:cNvPr id="2" name="Imagen 1" descr="Patrón de fondo&#10;&#10;El contenido generado por IA puede ser incorrecto.">
            <a:extLst>
              <a:ext uri="{FF2B5EF4-FFF2-40B4-BE49-F238E27FC236}">
                <a16:creationId xmlns:a16="http://schemas.microsoft.com/office/drawing/2014/main" id="{5F046F4F-DB6A-C646-3CFC-7D9F9B79AB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66" y="0"/>
            <a:ext cx="12189533" cy="6859388"/>
          </a:xfrm>
          <a:prstGeom prst="rect">
            <a:avLst/>
          </a:prstGeom>
        </p:spPr>
      </p:pic>
      <p:pic>
        <p:nvPicPr>
          <p:cNvPr id="1028" name="Picture 4" descr="Ellucian Student Reseñas 2026: Detalles, Precios y Características | G2">
            <a:extLst>
              <a:ext uri="{FF2B5EF4-FFF2-40B4-BE49-F238E27FC236}">
                <a16:creationId xmlns:a16="http://schemas.microsoft.com/office/drawing/2014/main" id="{3EBF1EA5-190E-0F8F-B4F4-56B5380AED44}"/>
              </a:ext>
            </a:extLst>
          </p:cNvPr>
          <p:cNvPicPr>
            <a:picLocks noChangeAspect="1" noChangeArrowheads="1"/>
          </p:cNvPicPr>
          <p:nvPr/>
        </p:nvPicPr>
        <p:blipFill>
          <a:blip r:embed="rId3">
            <a:biLevel thresh="25000"/>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8405244" y="5091953"/>
            <a:ext cx="3363899" cy="1766047"/>
          </a:xfrm>
          <a:prstGeom prst="rect">
            <a:avLst/>
          </a:prstGeom>
          <a:noFill/>
          <a:extLst>
            <a:ext uri="{909E8E84-426E-40DD-AFC4-6F175D3DCCD1}">
              <a14:hiddenFill xmlns:a14="http://schemas.microsoft.com/office/drawing/2010/main">
                <a:solidFill>
                  <a:srgbClr val="FFFFFF"/>
                </a:solidFill>
              </a14:hiddenFill>
            </a:ext>
          </a:extLst>
        </p:spPr>
      </p:pic>
      <p:pic>
        <p:nvPicPr>
          <p:cNvPr id="8" name="Imagen 7">
            <a:extLst>
              <a:ext uri="{FF2B5EF4-FFF2-40B4-BE49-F238E27FC236}">
                <a16:creationId xmlns:a16="http://schemas.microsoft.com/office/drawing/2014/main" id="{F3B12AA1-09DB-029E-CEFB-090B28455E75}"/>
              </a:ext>
            </a:extLst>
          </p:cNvPr>
          <p:cNvPicPr>
            <a:picLocks noChangeAspect="1"/>
          </p:cNvPicPr>
          <p:nvPr/>
        </p:nvPicPr>
        <p:blipFill>
          <a:blip r:embed="rId5">
            <a:lum bright="70000" contrast="-70000"/>
            <a:extLst>
              <a:ext uri="{28A0092B-C50C-407E-A947-70E740481C1C}">
                <a14:useLocalDpi xmlns:a14="http://schemas.microsoft.com/office/drawing/2010/main" val="0"/>
              </a:ext>
            </a:extLst>
          </a:blip>
          <a:stretch>
            <a:fillRect/>
          </a:stretch>
        </p:blipFill>
        <p:spPr>
          <a:xfrm>
            <a:off x="596901" y="418320"/>
            <a:ext cx="3688228" cy="868180"/>
          </a:xfrm>
          <a:prstGeom prst="rect">
            <a:avLst/>
          </a:prstGeom>
        </p:spPr>
      </p:pic>
      <p:sp>
        <p:nvSpPr>
          <p:cNvPr id="17" name="CuadroTexto 16">
            <a:extLst>
              <a:ext uri="{FF2B5EF4-FFF2-40B4-BE49-F238E27FC236}">
                <a16:creationId xmlns:a16="http://schemas.microsoft.com/office/drawing/2014/main" id="{D0BC250B-0A63-B351-C809-BDD7940DFA1A}"/>
              </a:ext>
            </a:extLst>
          </p:cNvPr>
          <p:cNvSpPr txBox="1"/>
          <p:nvPr/>
        </p:nvSpPr>
        <p:spPr>
          <a:xfrm>
            <a:off x="2447365" y="2828835"/>
            <a:ext cx="7297270" cy="1200329"/>
          </a:xfrm>
          <a:prstGeom prst="rect">
            <a:avLst/>
          </a:prstGeom>
          <a:noFill/>
        </p:spPr>
        <p:txBody>
          <a:bodyPr wrap="square" rtlCol="0">
            <a:spAutoFit/>
          </a:bodyPr>
          <a:lstStyle/>
          <a:p>
            <a:r>
              <a:rPr lang="es-ES" sz="7200" b="1" dirty="0">
                <a:solidFill>
                  <a:schemeClr val="accent3">
                    <a:lumMod val="60000"/>
                    <a:lumOff val="40000"/>
                  </a:schemeClr>
                </a:solidFill>
                <a:latin typeface="Montserrat" pitchFamily="2" charset="0"/>
              </a:rPr>
              <a:t>DEFINICIONES</a:t>
            </a:r>
            <a:endParaRPr lang="es-PE" sz="7200" b="1" dirty="0">
              <a:solidFill>
                <a:schemeClr val="accent3">
                  <a:lumMod val="60000"/>
                  <a:lumOff val="40000"/>
                </a:schemeClr>
              </a:solidFill>
              <a:latin typeface="Montserrat" pitchFamily="2" charset="0"/>
            </a:endParaRPr>
          </a:p>
        </p:txBody>
      </p:sp>
      <p:sp>
        <p:nvSpPr>
          <p:cNvPr id="3" name="CuadroTexto 2">
            <a:extLst>
              <a:ext uri="{FF2B5EF4-FFF2-40B4-BE49-F238E27FC236}">
                <a16:creationId xmlns:a16="http://schemas.microsoft.com/office/drawing/2014/main" id="{3EEB4538-9A01-61FC-2736-55C412E04D72}"/>
              </a:ext>
            </a:extLst>
          </p:cNvPr>
          <p:cNvSpPr txBox="1"/>
          <p:nvPr/>
        </p:nvSpPr>
        <p:spPr>
          <a:xfrm>
            <a:off x="596901" y="6322596"/>
            <a:ext cx="3134128" cy="276999"/>
          </a:xfrm>
          <a:prstGeom prst="rect">
            <a:avLst/>
          </a:prstGeom>
          <a:noFill/>
        </p:spPr>
        <p:txBody>
          <a:bodyPr wrap="none" rtlCol="0">
            <a:spAutoFit/>
          </a:bodyPr>
          <a:lstStyle/>
          <a:p>
            <a:r>
              <a:rPr lang="es-ES" sz="1200" i="1" dirty="0">
                <a:solidFill>
                  <a:schemeClr val="bg1"/>
                </a:solidFill>
              </a:rPr>
              <a:t>Elaborado por: Ing. Liliana Ocampo Moreno</a:t>
            </a:r>
            <a:endParaRPr lang="es-PE" sz="1200" i="1" dirty="0">
              <a:solidFill>
                <a:schemeClr val="bg1"/>
              </a:solidFill>
            </a:endParaRPr>
          </a:p>
        </p:txBody>
      </p:sp>
    </p:spTree>
    <p:extLst>
      <p:ext uri="{BB962C8B-B14F-4D97-AF65-F5344CB8AC3E}">
        <p14:creationId xmlns:p14="http://schemas.microsoft.com/office/powerpoint/2010/main" val="904659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ángulo 20">
            <a:extLst>
              <a:ext uri="{FF2B5EF4-FFF2-40B4-BE49-F238E27FC236}">
                <a16:creationId xmlns:a16="http://schemas.microsoft.com/office/drawing/2014/main" id="{64510F6B-34CB-D223-7B7C-865DDDC55CFA}"/>
              </a:ext>
            </a:extLst>
          </p:cNvPr>
          <p:cNvSpPr/>
          <p:nvPr/>
        </p:nvSpPr>
        <p:spPr>
          <a:xfrm>
            <a:off x="6334810" y="3991622"/>
            <a:ext cx="5374421" cy="1862425"/>
          </a:xfrm>
          <a:prstGeom prst="rect">
            <a:avLst/>
          </a:prstGeom>
          <a:solidFill>
            <a:srgbClr val="F7F7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7" name="Rectángulo 16">
            <a:extLst>
              <a:ext uri="{FF2B5EF4-FFF2-40B4-BE49-F238E27FC236}">
                <a16:creationId xmlns:a16="http://schemas.microsoft.com/office/drawing/2014/main" id="{765DD133-4ED1-03B1-8F73-586A37E0CD66}"/>
              </a:ext>
            </a:extLst>
          </p:cNvPr>
          <p:cNvSpPr/>
          <p:nvPr/>
        </p:nvSpPr>
        <p:spPr>
          <a:xfrm>
            <a:off x="7382954" y="2359041"/>
            <a:ext cx="2232000" cy="1043279"/>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s-PE"/>
          </a:p>
        </p:txBody>
      </p:sp>
      <p:sp>
        <p:nvSpPr>
          <p:cNvPr id="16" name="Rectángulo 15">
            <a:extLst>
              <a:ext uri="{FF2B5EF4-FFF2-40B4-BE49-F238E27FC236}">
                <a16:creationId xmlns:a16="http://schemas.microsoft.com/office/drawing/2014/main" id="{0AAF4A7A-7616-7056-94F9-00937BDDB8D3}"/>
              </a:ext>
            </a:extLst>
          </p:cNvPr>
          <p:cNvSpPr/>
          <p:nvPr/>
        </p:nvSpPr>
        <p:spPr>
          <a:xfrm>
            <a:off x="4881791" y="2361458"/>
            <a:ext cx="2232000" cy="1043279"/>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s-PE"/>
          </a:p>
        </p:txBody>
      </p:sp>
      <p:sp>
        <p:nvSpPr>
          <p:cNvPr id="15" name="Rectángulo 14">
            <a:extLst>
              <a:ext uri="{FF2B5EF4-FFF2-40B4-BE49-F238E27FC236}">
                <a16:creationId xmlns:a16="http://schemas.microsoft.com/office/drawing/2014/main" id="{8F31EA70-8D55-F28F-2335-6D0B59A1E10E}"/>
              </a:ext>
            </a:extLst>
          </p:cNvPr>
          <p:cNvSpPr/>
          <p:nvPr/>
        </p:nvSpPr>
        <p:spPr>
          <a:xfrm>
            <a:off x="2406770" y="2356621"/>
            <a:ext cx="2232000" cy="1043279"/>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s-PE"/>
          </a:p>
        </p:txBody>
      </p:sp>
      <p:pic>
        <p:nvPicPr>
          <p:cNvPr id="3" name="Imagen 2">
            <a:extLst>
              <a:ext uri="{FF2B5EF4-FFF2-40B4-BE49-F238E27FC236}">
                <a16:creationId xmlns:a16="http://schemas.microsoft.com/office/drawing/2014/main" id="{7CAB2B86-4E3B-C98C-411E-958BEFE187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2528" y="6154887"/>
            <a:ext cx="2234242" cy="525923"/>
          </a:xfrm>
          <a:prstGeom prst="rect">
            <a:avLst/>
          </a:prstGeom>
        </p:spPr>
      </p:pic>
      <p:pic>
        <p:nvPicPr>
          <p:cNvPr id="4" name="Picture 4" descr="Ellucian Student Reseñas 2026: Detalles, Precios y Características | G2">
            <a:extLst>
              <a:ext uri="{FF2B5EF4-FFF2-40B4-BE49-F238E27FC236}">
                <a16:creationId xmlns:a16="http://schemas.microsoft.com/office/drawing/2014/main" id="{7352B780-8C7C-7B91-F3EE-5E6EF2C2E4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98101" y="5901780"/>
            <a:ext cx="1821371" cy="956220"/>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0AEBA78F-8C98-5D4D-384F-95B753FFADE4}"/>
              </a:ext>
            </a:extLst>
          </p:cNvPr>
          <p:cNvSpPr txBox="1"/>
          <p:nvPr/>
        </p:nvSpPr>
        <p:spPr>
          <a:xfrm>
            <a:off x="431320" y="241540"/>
            <a:ext cx="4443845" cy="523220"/>
          </a:xfrm>
          <a:prstGeom prst="rect">
            <a:avLst/>
          </a:prstGeom>
          <a:noFill/>
        </p:spPr>
        <p:txBody>
          <a:bodyPr wrap="none" rtlCol="0">
            <a:spAutoFit/>
          </a:bodyPr>
          <a:lstStyle/>
          <a:p>
            <a:r>
              <a:rPr lang="es-ES" sz="2800" b="1" dirty="0">
                <a:latin typeface="Montserrat" pitchFamily="2" charset="0"/>
              </a:rPr>
              <a:t>PERIODO ACADÉMICO</a:t>
            </a:r>
            <a:endParaRPr lang="es-PE" sz="2800" b="1" dirty="0">
              <a:latin typeface="Montserrat" pitchFamily="2" charset="0"/>
            </a:endParaRPr>
          </a:p>
        </p:txBody>
      </p:sp>
      <p:sp>
        <p:nvSpPr>
          <p:cNvPr id="8" name="Rectángulo 7">
            <a:extLst>
              <a:ext uri="{FF2B5EF4-FFF2-40B4-BE49-F238E27FC236}">
                <a16:creationId xmlns:a16="http://schemas.microsoft.com/office/drawing/2014/main" id="{A16BCE08-E23C-F264-A6E3-E4019979D2E2}"/>
              </a:ext>
            </a:extLst>
          </p:cNvPr>
          <p:cNvSpPr/>
          <p:nvPr/>
        </p:nvSpPr>
        <p:spPr>
          <a:xfrm>
            <a:off x="4875165" y="241540"/>
            <a:ext cx="7316834" cy="445583"/>
          </a:xfrm>
          <a:prstGeom prst="rect">
            <a:avLst/>
          </a:prstGeom>
          <a:gradFill flip="none" rotWithShape="1">
            <a:gsLst>
              <a:gs pos="0">
                <a:schemeClr val="accent6">
                  <a:lumMod val="0"/>
                  <a:lumOff val="100000"/>
                </a:schemeClr>
              </a:gs>
              <a:gs pos="66000">
                <a:schemeClr val="accent6">
                  <a:lumMod val="100000"/>
                </a:schemeClr>
              </a:gs>
            </a:gsLst>
            <a:lin ang="0" scaled="1"/>
            <a:tileRect/>
          </a:gra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s-PE"/>
          </a:p>
        </p:txBody>
      </p:sp>
      <p:sp>
        <p:nvSpPr>
          <p:cNvPr id="6" name="CuadroTexto 5">
            <a:extLst>
              <a:ext uri="{FF2B5EF4-FFF2-40B4-BE49-F238E27FC236}">
                <a16:creationId xmlns:a16="http://schemas.microsoft.com/office/drawing/2014/main" id="{7156BA0E-7523-F5DC-4F37-07665F5BDAA2}"/>
              </a:ext>
            </a:extLst>
          </p:cNvPr>
          <p:cNvSpPr txBox="1"/>
          <p:nvPr/>
        </p:nvSpPr>
        <p:spPr>
          <a:xfrm>
            <a:off x="431320" y="1214781"/>
            <a:ext cx="11400462" cy="646331"/>
          </a:xfrm>
          <a:prstGeom prst="rect">
            <a:avLst/>
          </a:prstGeom>
          <a:noFill/>
        </p:spPr>
        <p:txBody>
          <a:bodyPr wrap="square">
            <a:spAutoFit/>
          </a:bodyPr>
          <a:lstStyle/>
          <a:p>
            <a:pPr algn="just"/>
            <a:r>
              <a:rPr lang="es-ES" dirty="0"/>
              <a:t>Lapso en el que se desarrollan actividades académicas y administrativas de la institución: admisión, inscripción de cursos (matrícula), ingreso de calificaciones, ingreso de asistencia, procesos financieros, etc.</a:t>
            </a:r>
            <a:endParaRPr lang="es-PE" dirty="0"/>
          </a:p>
        </p:txBody>
      </p:sp>
      <p:sp>
        <p:nvSpPr>
          <p:cNvPr id="12" name="CuadroTexto 11">
            <a:extLst>
              <a:ext uri="{FF2B5EF4-FFF2-40B4-BE49-F238E27FC236}">
                <a16:creationId xmlns:a16="http://schemas.microsoft.com/office/drawing/2014/main" id="{6D583495-222A-DC0E-BD83-2E1274B037CE}"/>
              </a:ext>
            </a:extLst>
          </p:cNvPr>
          <p:cNvSpPr txBox="1"/>
          <p:nvPr/>
        </p:nvSpPr>
        <p:spPr>
          <a:xfrm>
            <a:off x="2637849" y="2555095"/>
            <a:ext cx="1769843" cy="646331"/>
          </a:xfrm>
          <a:prstGeom prst="rect">
            <a:avLst/>
          </a:prstGeom>
          <a:noFill/>
        </p:spPr>
        <p:txBody>
          <a:bodyPr wrap="none" rtlCol="0">
            <a:spAutoFit/>
          </a:bodyPr>
          <a:lstStyle/>
          <a:p>
            <a:pPr algn="ctr"/>
            <a:r>
              <a:rPr lang="es-ES" b="1" dirty="0"/>
              <a:t>4 caracteres</a:t>
            </a:r>
          </a:p>
          <a:p>
            <a:pPr algn="ctr"/>
            <a:r>
              <a:rPr lang="es-ES" dirty="0"/>
              <a:t>Indicarán el año</a:t>
            </a:r>
            <a:endParaRPr lang="es-PE" dirty="0"/>
          </a:p>
        </p:txBody>
      </p:sp>
      <p:sp>
        <p:nvSpPr>
          <p:cNvPr id="13" name="CuadroTexto 12">
            <a:extLst>
              <a:ext uri="{FF2B5EF4-FFF2-40B4-BE49-F238E27FC236}">
                <a16:creationId xmlns:a16="http://schemas.microsoft.com/office/drawing/2014/main" id="{32522630-DBDF-2CCE-0526-8533868193E7}"/>
              </a:ext>
            </a:extLst>
          </p:cNvPr>
          <p:cNvSpPr txBox="1"/>
          <p:nvPr/>
        </p:nvSpPr>
        <p:spPr>
          <a:xfrm>
            <a:off x="4886935" y="2421432"/>
            <a:ext cx="2221712" cy="923330"/>
          </a:xfrm>
          <a:prstGeom prst="rect">
            <a:avLst/>
          </a:prstGeom>
          <a:noFill/>
        </p:spPr>
        <p:txBody>
          <a:bodyPr wrap="square" rtlCol="0">
            <a:spAutoFit/>
          </a:bodyPr>
          <a:lstStyle/>
          <a:p>
            <a:pPr algn="ctr"/>
            <a:r>
              <a:rPr lang="es-ES" b="1" dirty="0"/>
              <a:t>1 </a:t>
            </a:r>
            <a:r>
              <a:rPr lang="es-ES" b="1" dirty="0" err="1"/>
              <a:t>caracter</a:t>
            </a:r>
            <a:endParaRPr lang="es-ES" b="1" dirty="0"/>
          </a:p>
          <a:p>
            <a:pPr algn="ctr"/>
            <a:r>
              <a:rPr lang="es-ES" dirty="0"/>
              <a:t>Indicará el nivel académico</a:t>
            </a:r>
            <a:endParaRPr lang="es-PE" dirty="0"/>
          </a:p>
        </p:txBody>
      </p:sp>
      <p:sp>
        <p:nvSpPr>
          <p:cNvPr id="14" name="CuadroTexto 13">
            <a:extLst>
              <a:ext uri="{FF2B5EF4-FFF2-40B4-BE49-F238E27FC236}">
                <a16:creationId xmlns:a16="http://schemas.microsoft.com/office/drawing/2014/main" id="{086CD24E-684B-152A-FB2C-021D44F6C398}"/>
              </a:ext>
            </a:extLst>
          </p:cNvPr>
          <p:cNvSpPr txBox="1"/>
          <p:nvPr/>
        </p:nvSpPr>
        <p:spPr>
          <a:xfrm>
            <a:off x="7339394" y="2419015"/>
            <a:ext cx="2319120" cy="923330"/>
          </a:xfrm>
          <a:prstGeom prst="rect">
            <a:avLst/>
          </a:prstGeom>
          <a:noFill/>
        </p:spPr>
        <p:txBody>
          <a:bodyPr wrap="square" rtlCol="0">
            <a:spAutoFit/>
          </a:bodyPr>
          <a:lstStyle/>
          <a:p>
            <a:pPr algn="ctr"/>
            <a:r>
              <a:rPr lang="es-ES" b="1" dirty="0"/>
              <a:t>1 </a:t>
            </a:r>
            <a:r>
              <a:rPr lang="es-ES" b="1" dirty="0" err="1"/>
              <a:t>caracter</a:t>
            </a:r>
            <a:endParaRPr lang="es-ES" b="1" dirty="0"/>
          </a:p>
          <a:p>
            <a:pPr algn="ctr"/>
            <a:r>
              <a:rPr lang="es-ES" dirty="0"/>
              <a:t>Indicará la secuencia del periodo</a:t>
            </a:r>
            <a:endParaRPr lang="es-PE" dirty="0"/>
          </a:p>
        </p:txBody>
      </p:sp>
      <p:graphicFrame>
        <p:nvGraphicFramePr>
          <p:cNvPr id="19" name="Tabla 18">
            <a:extLst>
              <a:ext uri="{FF2B5EF4-FFF2-40B4-BE49-F238E27FC236}">
                <a16:creationId xmlns:a16="http://schemas.microsoft.com/office/drawing/2014/main" id="{D7B95435-0899-E16A-67FC-1A3DA1419691}"/>
              </a:ext>
            </a:extLst>
          </p:cNvPr>
          <p:cNvGraphicFramePr>
            <a:graphicFrameLocks noGrp="1"/>
          </p:cNvGraphicFramePr>
          <p:nvPr>
            <p:extLst>
              <p:ext uri="{D42A27DB-BD31-4B8C-83A1-F6EECF244321}">
                <p14:modId xmlns:p14="http://schemas.microsoft.com/office/powerpoint/2010/main" val="2429094864"/>
              </p:ext>
            </p:extLst>
          </p:nvPr>
        </p:nvGraphicFramePr>
        <p:xfrm>
          <a:off x="582148" y="4159859"/>
          <a:ext cx="4990426" cy="1483360"/>
        </p:xfrm>
        <a:graphic>
          <a:graphicData uri="http://schemas.openxmlformats.org/drawingml/2006/table">
            <a:tbl>
              <a:tblPr firstRow="1" bandRow="1">
                <a:tableStyleId>{93296810-A885-4BE3-A3E7-6D5BEEA58F35}</a:tableStyleId>
              </a:tblPr>
              <a:tblGrid>
                <a:gridCol w="1972516">
                  <a:extLst>
                    <a:ext uri="{9D8B030D-6E8A-4147-A177-3AD203B41FA5}">
                      <a16:colId xmlns:a16="http://schemas.microsoft.com/office/drawing/2014/main" val="3770437958"/>
                    </a:ext>
                  </a:extLst>
                </a:gridCol>
                <a:gridCol w="3017910">
                  <a:extLst>
                    <a:ext uri="{9D8B030D-6E8A-4147-A177-3AD203B41FA5}">
                      <a16:colId xmlns:a16="http://schemas.microsoft.com/office/drawing/2014/main" val="3338192893"/>
                    </a:ext>
                  </a:extLst>
                </a:gridCol>
              </a:tblGrid>
              <a:tr h="370840">
                <a:tc>
                  <a:txBody>
                    <a:bodyPr/>
                    <a:lstStyle/>
                    <a:p>
                      <a:r>
                        <a:rPr lang="es-ES" dirty="0"/>
                        <a:t>Código de Nivel</a:t>
                      </a:r>
                      <a:endParaRPr lang="es-PE" dirty="0"/>
                    </a:p>
                  </a:txBody>
                  <a:tcPr/>
                </a:tc>
                <a:tc>
                  <a:txBody>
                    <a:bodyPr/>
                    <a:lstStyle/>
                    <a:p>
                      <a:r>
                        <a:rPr lang="es-ES" dirty="0"/>
                        <a:t>Secuencia del Periodo</a:t>
                      </a:r>
                      <a:endParaRPr lang="es-PE" dirty="0"/>
                    </a:p>
                  </a:txBody>
                  <a:tcPr/>
                </a:tc>
                <a:extLst>
                  <a:ext uri="{0D108BD9-81ED-4DB2-BD59-A6C34878D82A}">
                    <a16:rowId xmlns:a16="http://schemas.microsoft.com/office/drawing/2014/main" val="511437500"/>
                  </a:ext>
                </a:extLst>
              </a:tr>
              <a:tr h="370840">
                <a:tc rowSpan="3">
                  <a:txBody>
                    <a:bodyPr/>
                    <a:lstStyle/>
                    <a:p>
                      <a:pPr marL="263525" indent="-263525"/>
                      <a:r>
                        <a:rPr lang="es-ES" b="1" dirty="0"/>
                        <a:t>5:</a:t>
                      </a:r>
                      <a:r>
                        <a:rPr lang="es-ES" dirty="0"/>
                        <a:t>	Centros Empresariales</a:t>
                      </a:r>
                      <a:endParaRPr lang="es-PE" dirty="0"/>
                    </a:p>
                  </a:txBody>
                  <a:tcPr anchor="ctr">
                    <a:solidFill>
                      <a:srgbClr val="F7F7F7"/>
                    </a:solidFill>
                  </a:tcPr>
                </a:tc>
                <a:tc>
                  <a:txBody>
                    <a:bodyPr/>
                    <a:lstStyle/>
                    <a:p>
                      <a:r>
                        <a:rPr lang="es-ES" b="1" dirty="0"/>
                        <a:t>1:</a:t>
                      </a:r>
                      <a:r>
                        <a:rPr lang="es-ES" dirty="0"/>
                        <a:t> Ciclo de Verano</a:t>
                      </a:r>
                      <a:endParaRPr lang="es-PE" dirty="0"/>
                    </a:p>
                  </a:txBody>
                  <a:tcPr>
                    <a:solidFill>
                      <a:schemeClr val="bg2"/>
                    </a:solidFill>
                  </a:tcPr>
                </a:tc>
                <a:extLst>
                  <a:ext uri="{0D108BD9-81ED-4DB2-BD59-A6C34878D82A}">
                    <a16:rowId xmlns:a16="http://schemas.microsoft.com/office/drawing/2014/main" val="261337782"/>
                  </a:ext>
                </a:extLst>
              </a:tr>
              <a:tr h="370840">
                <a:tc vMerge="1">
                  <a:txBody>
                    <a:bodyPr/>
                    <a:lstStyle/>
                    <a:p>
                      <a:endParaRPr lang="es-PE" dirty="0"/>
                    </a:p>
                  </a:txBody>
                  <a:tcPr/>
                </a:tc>
                <a:tc>
                  <a:txBody>
                    <a:bodyPr/>
                    <a:lstStyle/>
                    <a:p>
                      <a:r>
                        <a:rPr lang="es-ES" b="1" dirty="0"/>
                        <a:t>4:</a:t>
                      </a:r>
                      <a:r>
                        <a:rPr lang="es-ES" dirty="0"/>
                        <a:t> Semestre I</a:t>
                      </a:r>
                      <a:endParaRPr lang="es-PE" dirty="0"/>
                    </a:p>
                  </a:txBody>
                  <a:tcPr>
                    <a:solidFill>
                      <a:srgbClr val="F7F7F7"/>
                    </a:solidFill>
                  </a:tcPr>
                </a:tc>
                <a:extLst>
                  <a:ext uri="{0D108BD9-81ED-4DB2-BD59-A6C34878D82A}">
                    <a16:rowId xmlns:a16="http://schemas.microsoft.com/office/drawing/2014/main" val="3759850334"/>
                  </a:ext>
                </a:extLst>
              </a:tr>
              <a:tr h="370840">
                <a:tc vMerge="1">
                  <a:txBody>
                    <a:bodyPr/>
                    <a:lstStyle/>
                    <a:p>
                      <a:endParaRPr lang="es-PE" dirty="0"/>
                    </a:p>
                  </a:txBody>
                  <a:tcPr/>
                </a:tc>
                <a:tc>
                  <a:txBody>
                    <a:bodyPr/>
                    <a:lstStyle/>
                    <a:p>
                      <a:r>
                        <a:rPr lang="es-ES" b="1" dirty="0"/>
                        <a:t>6:</a:t>
                      </a:r>
                      <a:r>
                        <a:rPr lang="es-ES" dirty="0"/>
                        <a:t> Semestre II</a:t>
                      </a:r>
                      <a:endParaRPr lang="es-PE" dirty="0"/>
                    </a:p>
                  </a:txBody>
                  <a:tcPr>
                    <a:solidFill>
                      <a:schemeClr val="bg2"/>
                    </a:solidFill>
                  </a:tcPr>
                </a:tc>
                <a:extLst>
                  <a:ext uri="{0D108BD9-81ED-4DB2-BD59-A6C34878D82A}">
                    <a16:rowId xmlns:a16="http://schemas.microsoft.com/office/drawing/2014/main" val="4177834851"/>
                  </a:ext>
                </a:extLst>
              </a:tr>
            </a:tbl>
          </a:graphicData>
        </a:graphic>
      </p:graphicFrame>
      <p:sp>
        <p:nvSpPr>
          <p:cNvPr id="20" name="CuadroTexto 19">
            <a:extLst>
              <a:ext uri="{FF2B5EF4-FFF2-40B4-BE49-F238E27FC236}">
                <a16:creationId xmlns:a16="http://schemas.microsoft.com/office/drawing/2014/main" id="{7BEB7209-5C60-C2B7-DD36-68AAC241D359}"/>
              </a:ext>
            </a:extLst>
          </p:cNvPr>
          <p:cNvSpPr txBox="1"/>
          <p:nvPr/>
        </p:nvSpPr>
        <p:spPr>
          <a:xfrm>
            <a:off x="6594446" y="3991622"/>
            <a:ext cx="5114785" cy="2062103"/>
          </a:xfrm>
          <a:prstGeom prst="rect">
            <a:avLst/>
          </a:prstGeom>
          <a:noFill/>
        </p:spPr>
        <p:txBody>
          <a:bodyPr wrap="square" rtlCol="0">
            <a:spAutoFit/>
          </a:bodyPr>
          <a:lstStyle/>
          <a:p>
            <a:r>
              <a:rPr lang="es-ES" b="1" dirty="0"/>
              <a:t>EJEMPLO:</a:t>
            </a:r>
          </a:p>
          <a:p>
            <a:endParaRPr lang="es-ES" dirty="0"/>
          </a:p>
          <a:p>
            <a:r>
              <a:rPr lang="es-ES" dirty="0"/>
              <a:t>Para el periodo 2026-I de Centros Empresariales, en </a:t>
            </a:r>
            <a:r>
              <a:rPr lang="es-ES" dirty="0" err="1"/>
              <a:t>Ellucian</a:t>
            </a:r>
            <a:r>
              <a:rPr lang="es-ES" dirty="0"/>
              <a:t> se codifica:</a:t>
            </a:r>
          </a:p>
          <a:p>
            <a:endParaRPr lang="es-ES" sz="1400" dirty="0"/>
          </a:p>
          <a:p>
            <a:pPr algn="ctr"/>
            <a:r>
              <a:rPr lang="es-ES" sz="2400" b="1" dirty="0">
                <a:solidFill>
                  <a:schemeClr val="accent5"/>
                </a:solidFill>
              </a:rPr>
              <a:t>2026</a:t>
            </a:r>
            <a:r>
              <a:rPr lang="es-ES" sz="2400" b="1" dirty="0">
                <a:solidFill>
                  <a:schemeClr val="accent4"/>
                </a:solidFill>
              </a:rPr>
              <a:t>5</a:t>
            </a:r>
            <a:r>
              <a:rPr lang="es-ES" sz="2400" b="1" dirty="0">
                <a:solidFill>
                  <a:schemeClr val="accent6"/>
                </a:solidFill>
              </a:rPr>
              <a:t>4</a:t>
            </a:r>
          </a:p>
          <a:p>
            <a:endParaRPr lang="es-PE" dirty="0"/>
          </a:p>
        </p:txBody>
      </p:sp>
      <p:sp>
        <p:nvSpPr>
          <p:cNvPr id="22" name="CuadroTexto 21">
            <a:extLst>
              <a:ext uri="{FF2B5EF4-FFF2-40B4-BE49-F238E27FC236}">
                <a16:creationId xmlns:a16="http://schemas.microsoft.com/office/drawing/2014/main" id="{859F8E66-8BA6-6E61-60FB-04CA3AB4EC89}"/>
              </a:ext>
            </a:extLst>
          </p:cNvPr>
          <p:cNvSpPr txBox="1"/>
          <p:nvPr/>
        </p:nvSpPr>
        <p:spPr>
          <a:xfrm>
            <a:off x="4528936" y="6386396"/>
            <a:ext cx="3134128" cy="276999"/>
          </a:xfrm>
          <a:prstGeom prst="rect">
            <a:avLst/>
          </a:prstGeom>
          <a:noFill/>
        </p:spPr>
        <p:txBody>
          <a:bodyPr wrap="none" rtlCol="0">
            <a:spAutoFit/>
          </a:bodyPr>
          <a:lstStyle/>
          <a:p>
            <a:pPr algn="ctr"/>
            <a:r>
              <a:rPr lang="es-ES" sz="1200" i="1" dirty="0"/>
              <a:t>Elaborado por: Ing. Liliana Ocampo Moreno</a:t>
            </a:r>
            <a:endParaRPr lang="es-PE" sz="1200" i="1" dirty="0"/>
          </a:p>
        </p:txBody>
      </p:sp>
    </p:spTree>
    <p:extLst>
      <p:ext uri="{BB962C8B-B14F-4D97-AF65-F5344CB8AC3E}">
        <p14:creationId xmlns:p14="http://schemas.microsoft.com/office/powerpoint/2010/main" val="15327141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left)">
                                      <p:cBhvr>
                                        <p:cTn id="10" dur="500"/>
                                        <p:tgtEl>
                                          <p:spTgt spid="8"/>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childTnLst>
                          </p:cTn>
                        </p:par>
                        <p:par>
                          <p:cTn id="15" fill="hold">
                            <p:stCondLst>
                              <p:cond delay="1000"/>
                            </p:stCondLst>
                            <p:childTnLst>
                              <p:par>
                                <p:cTn id="16" presetID="53" presetClass="entr" presetSubtype="16" fill="hold" grpId="0" nodeType="afterEffect">
                                  <p:stCondLst>
                                    <p:cond delay="0"/>
                                  </p:stCondLst>
                                  <p:childTnLst>
                                    <p:set>
                                      <p:cBhvr>
                                        <p:cTn id="17" dur="1" fill="hold">
                                          <p:stCondLst>
                                            <p:cond delay="0"/>
                                          </p:stCondLst>
                                        </p:cTn>
                                        <p:tgtEl>
                                          <p:spTgt spid="15"/>
                                        </p:tgtEl>
                                        <p:attrNameLst>
                                          <p:attrName>style.visibility</p:attrName>
                                        </p:attrNameLst>
                                      </p:cBhvr>
                                      <p:to>
                                        <p:strVal val="visible"/>
                                      </p:to>
                                    </p:set>
                                    <p:anim calcmode="lin" valueType="num">
                                      <p:cBhvr>
                                        <p:cTn id="18" dur="500" fill="hold"/>
                                        <p:tgtEl>
                                          <p:spTgt spid="15"/>
                                        </p:tgtEl>
                                        <p:attrNameLst>
                                          <p:attrName>ppt_w</p:attrName>
                                        </p:attrNameLst>
                                      </p:cBhvr>
                                      <p:tavLst>
                                        <p:tav tm="0">
                                          <p:val>
                                            <p:fltVal val="0"/>
                                          </p:val>
                                        </p:tav>
                                        <p:tav tm="100000">
                                          <p:val>
                                            <p:strVal val="#ppt_w"/>
                                          </p:val>
                                        </p:tav>
                                      </p:tavLst>
                                    </p:anim>
                                    <p:anim calcmode="lin" valueType="num">
                                      <p:cBhvr>
                                        <p:cTn id="19" dur="500" fill="hold"/>
                                        <p:tgtEl>
                                          <p:spTgt spid="15"/>
                                        </p:tgtEl>
                                        <p:attrNameLst>
                                          <p:attrName>ppt_h</p:attrName>
                                        </p:attrNameLst>
                                      </p:cBhvr>
                                      <p:tavLst>
                                        <p:tav tm="0">
                                          <p:val>
                                            <p:fltVal val="0"/>
                                          </p:val>
                                        </p:tav>
                                        <p:tav tm="100000">
                                          <p:val>
                                            <p:strVal val="#ppt_h"/>
                                          </p:val>
                                        </p:tav>
                                      </p:tavLst>
                                    </p:anim>
                                    <p:animEffect transition="in" filter="fade">
                                      <p:cBhvr>
                                        <p:cTn id="20" dur="500"/>
                                        <p:tgtEl>
                                          <p:spTgt spid="15"/>
                                        </p:tgtEl>
                                      </p:cBhvr>
                                    </p:animEffect>
                                  </p:childTnLst>
                                </p:cTn>
                              </p:par>
                            </p:childTnLst>
                          </p:cTn>
                        </p:par>
                        <p:par>
                          <p:cTn id="21" fill="hold">
                            <p:stCondLst>
                              <p:cond delay="1500"/>
                            </p:stCondLst>
                            <p:childTnLst>
                              <p:par>
                                <p:cTn id="22" presetID="10" presetClass="entr" presetSubtype="0" fill="hold" grpId="0" nodeType="after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500"/>
                                        <p:tgtEl>
                                          <p:spTgt spid="12"/>
                                        </p:tgtEl>
                                      </p:cBhvr>
                                    </p:animEffect>
                                  </p:childTnLst>
                                </p:cTn>
                              </p:par>
                            </p:childTnLst>
                          </p:cTn>
                        </p:par>
                        <p:par>
                          <p:cTn id="25" fill="hold">
                            <p:stCondLst>
                              <p:cond delay="2000"/>
                            </p:stCondLst>
                            <p:childTnLst>
                              <p:par>
                                <p:cTn id="26" presetID="53" presetClass="entr" presetSubtype="16" fill="hold" grpId="0" nodeType="afterEffect">
                                  <p:stCondLst>
                                    <p:cond delay="0"/>
                                  </p:stCondLst>
                                  <p:childTnLst>
                                    <p:set>
                                      <p:cBhvr>
                                        <p:cTn id="27" dur="1" fill="hold">
                                          <p:stCondLst>
                                            <p:cond delay="0"/>
                                          </p:stCondLst>
                                        </p:cTn>
                                        <p:tgtEl>
                                          <p:spTgt spid="16"/>
                                        </p:tgtEl>
                                        <p:attrNameLst>
                                          <p:attrName>style.visibility</p:attrName>
                                        </p:attrNameLst>
                                      </p:cBhvr>
                                      <p:to>
                                        <p:strVal val="visible"/>
                                      </p:to>
                                    </p:set>
                                    <p:anim calcmode="lin" valueType="num">
                                      <p:cBhvr>
                                        <p:cTn id="28" dur="500" fill="hold"/>
                                        <p:tgtEl>
                                          <p:spTgt spid="16"/>
                                        </p:tgtEl>
                                        <p:attrNameLst>
                                          <p:attrName>ppt_w</p:attrName>
                                        </p:attrNameLst>
                                      </p:cBhvr>
                                      <p:tavLst>
                                        <p:tav tm="0">
                                          <p:val>
                                            <p:fltVal val="0"/>
                                          </p:val>
                                        </p:tav>
                                        <p:tav tm="100000">
                                          <p:val>
                                            <p:strVal val="#ppt_w"/>
                                          </p:val>
                                        </p:tav>
                                      </p:tavLst>
                                    </p:anim>
                                    <p:anim calcmode="lin" valueType="num">
                                      <p:cBhvr>
                                        <p:cTn id="29" dur="500" fill="hold"/>
                                        <p:tgtEl>
                                          <p:spTgt spid="16"/>
                                        </p:tgtEl>
                                        <p:attrNameLst>
                                          <p:attrName>ppt_h</p:attrName>
                                        </p:attrNameLst>
                                      </p:cBhvr>
                                      <p:tavLst>
                                        <p:tav tm="0">
                                          <p:val>
                                            <p:fltVal val="0"/>
                                          </p:val>
                                        </p:tav>
                                        <p:tav tm="100000">
                                          <p:val>
                                            <p:strVal val="#ppt_h"/>
                                          </p:val>
                                        </p:tav>
                                      </p:tavLst>
                                    </p:anim>
                                    <p:animEffect transition="in" filter="fade">
                                      <p:cBhvr>
                                        <p:cTn id="30" dur="500"/>
                                        <p:tgtEl>
                                          <p:spTgt spid="16"/>
                                        </p:tgtEl>
                                      </p:cBhvr>
                                    </p:animEffect>
                                  </p:childTnLst>
                                </p:cTn>
                              </p:par>
                            </p:childTnLst>
                          </p:cTn>
                        </p:par>
                        <p:par>
                          <p:cTn id="31" fill="hold">
                            <p:stCondLst>
                              <p:cond delay="2500"/>
                            </p:stCondLst>
                            <p:childTnLst>
                              <p:par>
                                <p:cTn id="32" presetID="10" presetClass="entr" presetSubtype="0" fill="hold" grpId="0" nodeType="after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00"/>
                                        <p:tgtEl>
                                          <p:spTgt spid="13"/>
                                        </p:tgtEl>
                                      </p:cBhvr>
                                    </p:animEffect>
                                  </p:childTnLst>
                                </p:cTn>
                              </p:par>
                            </p:childTnLst>
                          </p:cTn>
                        </p:par>
                        <p:par>
                          <p:cTn id="35" fill="hold">
                            <p:stCondLst>
                              <p:cond delay="3000"/>
                            </p:stCondLst>
                            <p:childTnLst>
                              <p:par>
                                <p:cTn id="36" presetID="53" presetClass="entr" presetSubtype="16" fill="hold" grpId="0" nodeType="afterEffect">
                                  <p:stCondLst>
                                    <p:cond delay="0"/>
                                  </p:stCondLst>
                                  <p:childTnLst>
                                    <p:set>
                                      <p:cBhvr>
                                        <p:cTn id="37" dur="1" fill="hold">
                                          <p:stCondLst>
                                            <p:cond delay="0"/>
                                          </p:stCondLst>
                                        </p:cTn>
                                        <p:tgtEl>
                                          <p:spTgt spid="17"/>
                                        </p:tgtEl>
                                        <p:attrNameLst>
                                          <p:attrName>style.visibility</p:attrName>
                                        </p:attrNameLst>
                                      </p:cBhvr>
                                      <p:to>
                                        <p:strVal val="visible"/>
                                      </p:to>
                                    </p:set>
                                    <p:anim calcmode="lin" valueType="num">
                                      <p:cBhvr>
                                        <p:cTn id="38" dur="500" fill="hold"/>
                                        <p:tgtEl>
                                          <p:spTgt spid="17"/>
                                        </p:tgtEl>
                                        <p:attrNameLst>
                                          <p:attrName>ppt_w</p:attrName>
                                        </p:attrNameLst>
                                      </p:cBhvr>
                                      <p:tavLst>
                                        <p:tav tm="0">
                                          <p:val>
                                            <p:fltVal val="0"/>
                                          </p:val>
                                        </p:tav>
                                        <p:tav tm="100000">
                                          <p:val>
                                            <p:strVal val="#ppt_w"/>
                                          </p:val>
                                        </p:tav>
                                      </p:tavLst>
                                    </p:anim>
                                    <p:anim calcmode="lin" valueType="num">
                                      <p:cBhvr>
                                        <p:cTn id="39" dur="500" fill="hold"/>
                                        <p:tgtEl>
                                          <p:spTgt spid="17"/>
                                        </p:tgtEl>
                                        <p:attrNameLst>
                                          <p:attrName>ppt_h</p:attrName>
                                        </p:attrNameLst>
                                      </p:cBhvr>
                                      <p:tavLst>
                                        <p:tav tm="0">
                                          <p:val>
                                            <p:fltVal val="0"/>
                                          </p:val>
                                        </p:tav>
                                        <p:tav tm="100000">
                                          <p:val>
                                            <p:strVal val="#ppt_h"/>
                                          </p:val>
                                        </p:tav>
                                      </p:tavLst>
                                    </p:anim>
                                    <p:animEffect transition="in" filter="fade">
                                      <p:cBhvr>
                                        <p:cTn id="40" dur="500"/>
                                        <p:tgtEl>
                                          <p:spTgt spid="17"/>
                                        </p:tgtEl>
                                      </p:cBhvr>
                                    </p:animEffect>
                                  </p:childTnLst>
                                </p:cTn>
                              </p:par>
                            </p:childTnLst>
                          </p:cTn>
                        </p:par>
                        <p:par>
                          <p:cTn id="41" fill="hold">
                            <p:stCondLst>
                              <p:cond delay="3500"/>
                            </p:stCondLst>
                            <p:childTnLst>
                              <p:par>
                                <p:cTn id="42" presetID="10" presetClass="entr" presetSubtype="0" fill="hold" grpId="0" nodeType="after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500"/>
                                        <p:tgtEl>
                                          <p:spTgt spid="14"/>
                                        </p:tgtEl>
                                      </p:cBhvr>
                                    </p:animEffect>
                                  </p:childTnLst>
                                </p:cTn>
                              </p:par>
                            </p:childTnLst>
                          </p:cTn>
                        </p:par>
                        <p:par>
                          <p:cTn id="45" fill="hold">
                            <p:stCondLst>
                              <p:cond delay="4000"/>
                            </p:stCondLst>
                            <p:childTnLst>
                              <p:par>
                                <p:cTn id="46" presetID="22" presetClass="entr" presetSubtype="1" fill="hold" nodeType="after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wipe(up)">
                                      <p:cBhvr>
                                        <p:cTn id="48" dur="500"/>
                                        <p:tgtEl>
                                          <p:spTgt spid="19"/>
                                        </p:tgtEl>
                                      </p:cBhvr>
                                    </p:animEffect>
                                  </p:childTnLst>
                                </p:cTn>
                              </p:par>
                            </p:childTnLst>
                          </p:cTn>
                        </p:par>
                        <p:par>
                          <p:cTn id="49" fill="hold">
                            <p:stCondLst>
                              <p:cond delay="4500"/>
                            </p:stCondLst>
                            <p:childTnLst>
                              <p:par>
                                <p:cTn id="50" presetID="10" presetClass="entr" presetSubtype="0" fill="hold" grpId="0" nodeType="afterEffect">
                                  <p:stCondLst>
                                    <p:cond delay="0"/>
                                  </p:stCondLst>
                                  <p:childTnLst>
                                    <p:set>
                                      <p:cBhvr>
                                        <p:cTn id="51" dur="1" fill="hold">
                                          <p:stCondLst>
                                            <p:cond delay="0"/>
                                          </p:stCondLst>
                                        </p:cTn>
                                        <p:tgtEl>
                                          <p:spTgt spid="20">
                                            <p:txEl>
                                              <p:pRg st="0" end="0"/>
                                            </p:txEl>
                                          </p:spTgt>
                                        </p:tgtEl>
                                        <p:attrNameLst>
                                          <p:attrName>style.visibility</p:attrName>
                                        </p:attrNameLst>
                                      </p:cBhvr>
                                      <p:to>
                                        <p:strVal val="visible"/>
                                      </p:to>
                                    </p:set>
                                    <p:animEffect transition="in" filter="fade">
                                      <p:cBhvr>
                                        <p:cTn id="52" dur="500"/>
                                        <p:tgtEl>
                                          <p:spTgt spid="20">
                                            <p:txEl>
                                              <p:pRg st="0" end="0"/>
                                            </p:txEl>
                                          </p:spTgt>
                                        </p:tgtEl>
                                      </p:cBhvr>
                                    </p:animEffect>
                                  </p:childTnLst>
                                </p:cTn>
                              </p:par>
                            </p:childTnLst>
                          </p:cTn>
                        </p:par>
                        <p:par>
                          <p:cTn id="53" fill="hold">
                            <p:stCondLst>
                              <p:cond delay="5000"/>
                            </p:stCondLst>
                            <p:childTnLst>
                              <p:par>
                                <p:cTn id="54" presetID="10" presetClass="entr" presetSubtype="0" fill="hold" grpId="0" nodeType="afterEffect">
                                  <p:stCondLst>
                                    <p:cond delay="0"/>
                                  </p:stCondLst>
                                  <p:childTnLst>
                                    <p:set>
                                      <p:cBhvr>
                                        <p:cTn id="55" dur="1" fill="hold">
                                          <p:stCondLst>
                                            <p:cond delay="0"/>
                                          </p:stCondLst>
                                        </p:cTn>
                                        <p:tgtEl>
                                          <p:spTgt spid="20">
                                            <p:txEl>
                                              <p:pRg st="2" end="2"/>
                                            </p:txEl>
                                          </p:spTgt>
                                        </p:tgtEl>
                                        <p:attrNameLst>
                                          <p:attrName>style.visibility</p:attrName>
                                        </p:attrNameLst>
                                      </p:cBhvr>
                                      <p:to>
                                        <p:strVal val="visible"/>
                                      </p:to>
                                    </p:set>
                                    <p:animEffect transition="in" filter="fade">
                                      <p:cBhvr>
                                        <p:cTn id="56" dur="500"/>
                                        <p:tgtEl>
                                          <p:spTgt spid="20">
                                            <p:txEl>
                                              <p:pRg st="2" end="2"/>
                                            </p:txEl>
                                          </p:spTgt>
                                        </p:tgtEl>
                                      </p:cBhvr>
                                    </p:animEffect>
                                  </p:childTnLst>
                                </p:cTn>
                              </p:par>
                            </p:childTnLst>
                          </p:cTn>
                        </p:par>
                        <p:par>
                          <p:cTn id="57" fill="hold">
                            <p:stCondLst>
                              <p:cond delay="5500"/>
                            </p:stCondLst>
                            <p:childTnLst>
                              <p:par>
                                <p:cTn id="58" presetID="10" presetClass="entr" presetSubtype="0" fill="hold" grpId="0" nodeType="afterEffect">
                                  <p:stCondLst>
                                    <p:cond delay="0"/>
                                  </p:stCondLst>
                                  <p:childTnLst>
                                    <p:set>
                                      <p:cBhvr>
                                        <p:cTn id="59" dur="1" fill="hold">
                                          <p:stCondLst>
                                            <p:cond delay="0"/>
                                          </p:stCondLst>
                                        </p:cTn>
                                        <p:tgtEl>
                                          <p:spTgt spid="20">
                                            <p:txEl>
                                              <p:pRg st="4" end="4"/>
                                            </p:txEl>
                                          </p:spTgt>
                                        </p:tgtEl>
                                        <p:attrNameLst>
                                          <p:attrName>style.visibility</p:attrName>
                                        </p:attrNameLst>
                                      </p:cBhvr>
                                      <p:to>
                                        <p:strVal val="visible"/>
                                      </p:to>
                                    </p:set>
                                    <p:animEffect transition="in" filter="fade">
                                      <p:cBhvr>
                                        <p:cTn id="60" dur="500"/>
                                        <p:tgtEl>
                                          <p:spTgt spid="20">
                                            <p:txEl>
                                              <p:pRg st="4" end="4"/>
                                            </p:txEl>
                                          </p:spTgt>
                                        </p:tgtEl>
                                      </p:cBhvr>
                                    </p:animEffect>
                                  </p:childTnLst>
                                </p:cTn>
                              </p:par>
                            </p:childTnLst>
                          </p:cTn>
                        </p:par>
                        <p:par>
                          <p:cTn id="61" fill="hold">
                            <p:stCondLst>
                              <p:cond delay="6000"/>
                            </p:stCondLst>
                            <p:childTnLst>
                              <p:par>
                                <p:cTn id="62" presetID="10" presetClass="entr" presetSubtype="0" fill="hold" grpId="0" nodeType="afterEffect">
                                  <p:stCondLst>
                                    <p:cond delay="0"/>
                                  </p:stCondLst>
                                  <p:childTnLst>
                                    <p:set>
                                      <p:cBhvr>
                                        <p:cTn id="63" dur="1" fill="hold">
                                          <p:stCondLst>
                                            <p:cond delay="0"/>
                                          </p:stCondLst>
                                        </p:cTn>
                                        <p:tgtEl>
                                          <p:spTgt spid="21"/>
                                        </p:tgtEl>
                                        <p:attrNameLst>
                                          <p:attrName>style.visibility</p:attrName>
                                        </p:attrNameLst>
                                      </p:cBhvr>
                                      <p:to>
                                        <p:strVal val="visible"/>
                                      </p:to>
                                    </p:set>
                                    <p:animEffect transition="in" filter="fade">
                                      <p:cBhvr>
                                        <p:cTn id="64"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17" grpId="0" animBg="1"/>
      <p:bldP spid="16" grpId="0" animBg="1"/>
      <p:bldP spid="15" grpId="0" animBg="1"/>
      <p:bldP spid="7" grpId="0"/>
      <p:bldP spid="8" grpId="0" animBg="1"/>
      <p:bldP spid="6" grpId="0"/>
      <p:bldP spid="12" grpId="0"/>
      <p:bldP spid="13" grpId="0"/>
      <p:bldP spid="14" grpId="0"/>
      <p:bldP spid="20"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7CAB2B86-4E3B-C98C-411E-958BEFE187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2528" y="6154887"/>
            <a:ext cx="2234242" cy="525923"/>
          </a:xfrm>
          <a:prstGeom prst="rect">
            <a:avLst/>
          </a:prstGeom>
        </p:spPr>
      </p:pic>
      <p:pic>
        <p:nvPicPr>
          <p:cNvPr id="4" name="Picture 4" descr="Ellucian Student Reseñas 2026: Detalles, Precios y Características | G2">
            <a:extLst>
              <a:ext uri="{FF2B5EF4-FFF2-40B4-BE49-F238E27FC236}">
                <a16:creationId xmlns:a16="http://schemas.microsoft.com/office/drawing/2014/main" id="{7352B780-8C7C-7B91-F3EE-5E6EF2C2E4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98101" y="5901780"/>
            <a:ext cx="1821371" cy="956220"/>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0AEBA78F-8C98-5D4D-384F-95B753FFADE4}"/>
              </a:ext>
            </a:extLst>
          </p:cNvPr>
          <p:cNvSpPr txBox="1"/>
          <p:nvPr/>
        </p:nvSpPr>
        <p:spPr>
          <a:xfrm>
            <a:off x="431320" y="241540"/>
            <a:ext cx="4204997" cy="523220"/>
          </a:xfrm>
          <a:prstGeom prst="rect">
            <a:avLst/>
          </a:prstGeom>
          <a:noFill/>
        </p:spPr>
        <p:txBody>
          <a:bodyPr wrap="none" rtlCol="0">
            <a:spAutoFit/>
          </a:bodyPr>
          <a:lstStyle/>
          <a:p>
            <a:r>
              <a:rPr lang="es-ES" sz="2800" b="1" dirty="0">
                <a:latin typeface="Montserrat" pitchFamily="2" charset="0"/>
              </a:rPr>
              <a:t>PARTES DE PERIODO</a:t>
            </a:r>
            <a:endParaRPr lang="es-PE" sz="2800" b="1" dirty="0">
              <a:latin typeface="Montserrat" pitchFamily="2" charset="0"/>
            </a:endParaRPr>
          </a:p>
        </p:txBody>
      </p:sp>
      <p:sp>
        <p:nvSpPr>
          <p:cNvPr id="8" name="Rectángulo 7">
            <a:extLst>
              <a:ext uri="{FF2B5EF4-FFF2-40B4-BE49-F238E27FC236}">
                <a16:creationId xmlns:a16="http://schemas.microsoft.com/office/drawing/2014/main" id="{A16BCE08-E23C-F264-A6E3-E4019979D2E2}"/>
              </a:ext>
            </a:extLst>
          </p:cNvPr>
          <p:cNvSpPr/>
          <p:nvPr/>
        </p:nvSpPr>
        <p:spPr>
          <a:xfrm>
            <a:off x="4636317" y="241540"/>
            <a:ext cx="7555682" cy="445583"/>
          </a:xfrm>
          <a:prstGeom prst="rect">
            <a:avLst/>
          </a:prstGeom>
          <a:gradFill flip="none" rotWithShape="1">
            <a:gsLst>
              <a:gs pos="0">
                <a:schemeClr val="accent6">
                  <a:lumMod val="0"/>
                  <a:lumOff val="100000"/>
                </a:schemeClr>
              </a:gs>
              <a:gs pos="66000">
                <a:schemeClr val="accent6">
                  <a:lumMod val="100000"/>
                </a:schemeClr>
              </a:gs>
            </a:gsLst>
            <a:lin ang="0" scaled="1"/>
            <a:tileRect/>
          </a:gra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s-PE"/>
          </a:p>
        </p:txBody>
      </p:sp>
      <p:sp>
        <p:nvSpPr>
          <p:cNvPr id="5" name="CuadroTexto 4">
            <a:extLst>
              <a:ext uri="{FF2B5EF4-FFF2-40B4-BE49-F238E27FC236}">
                <a16:creationId xmlns:a16="http://schemas.microsoft.com/office/drawing/2014/main" id="{FC0D776F-FB24-55F0-39E0-C1FC5874D4C3}"/>
              </a:ext>
            </a:extLst>
          </p:cNvPr>
          <p:cNvSpPr txBox="1"/>
          <p:nvPr/>
        </p:nvSpPr>
        <p:spPr>
          <a:xfrm>
            <a:off x="430813" y="1039924"/>
            <a:ext cx="11330373" cy="646331"/>
          </a:xfrm>
          <a:prstGeom prst="rect">
            <a:avLst/>
          </a:prstGeom>
          <a:noFill/>
        </p:spPr>
        <p:txBody>
          <a:bodyPr wrap="square">
            <a:spAutoFit/>
          </a:bodyPr>
          <a:lstStyle/>
          <a:p>
            <a:pPr algn="just"/>
            <a:r>
              <a:rPr lang="es-ES" dirty="0"/>
              <a:t>Subdivisión del periodo académico que permite establecer </a:t>
            </a:r>
            <a:r>
              <a:rPr lang="es-ES" b="1" dirty="0"/>
              <a:t>fechas y reglas específicas</a:t>
            </a:r>
            <a:r>
              <a:rPr lang="es-ES" dirty="0"/>
              <a:t> para determinado grupos de cursos. Para cada Centro Empresarial, se ha creador 12 partes de periodo, para iniciar cada mes.</a:t>
            </a:r>
            <a:endParaRPr lang="es-PE" dirty="0"/>
          </a:p>
        </p:txBody>
      </p:sp>
      <p:sp>
        <p:nvSpPr>
          <p:cNvPr id="10" name="CuadroTexto 9">
            <a:extLst>
              <a:ext uri="{FF2B5EF4-FFF2-40B4-BE49-F238E27FC236}">
                <a16:creationId xmlns:a16="http://schemas.microsoft.com/office/drawing/2014/main" id="{0FB689FA-2325-B813-599B-4BB839AC342D}"/>
              </a:ext>
            </a:extLst>
          </p:cNvPr>
          <p:cNvSpPr txBox="1"/>
          <p:nvPr/>
        </p:nvSpPr>
        <p:spPr>
          <a:xfrm>
            <a:off x="4528936" y="6386396"/>
            <a:ext cx="3134128" cy="276999"/>
          </a:xfrm>
          <a:prstGeom prst="rect">
            <a:avLst/>
          </a:prstGeom>
          <a:noFill/>
        </p:spPr>
        <p:txBody>
          <a:bodyPr wrap="none" rtlCol="0">
            <a:spAutoFit/>
          </a:bodyPr>
          <a:lstStyle/>
          <a:p>
            <a:pPr algn="ctr"/>
            <a:r>
              <a:rPr lang="es-ES" sz="1200" i="1" dirty="0"/>
              <a:t>Elaborado por: Ing. Liliana Ocampo Moreno</a:t>
            </a:r>
            <a:endParaRPr lang="es-PE" sz="1200" i="1" dirty="0"/>
          </a:p>
        </p:txBody>
      </p:sp>
      <p:sp>
        <p:nvSpPr>
          <p:cNvPr id="11" name="Rectángulo 10">
            <a:extLst>
              <a:ext uri="{FF2B5EF4-FFF2-40B4-BE49-F238E27FC236}">
                <a16:creationId xmlns:a16="http://schemas.microsoft.com/office/drawing/2014/main" id="{79ACB1A7-FA92-4A09-15DB-0823023DAF0B}"/>
              </a:ext>
            </a:extLst>
          </p:cNvPr>
          <p:cNvSpPr/>
          <p:nvPr/>
        </p:nvSpPr>
        <p:spPr>
          <a:xfrm>
            <a:off x="524181" y="2385721"/>
            <a:ext cx="3097559" cy="3432355"/>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s-PE"/>
          </a:p>
        </p:txBody>
      </p:sp>
      <p:sp>
        <p:nvSpPr>
          <p:cNvPr id="18" name="Rectángulo 17">
            <a:extLst>
              <a:ext uri="{FF2B5EF4-FFF2-40B4-BE49-F238E27FC236}">
                <a16:creationId xmlns:a16="http://schemas.microsoft.com/office/drawing/2014/main" id="{B54D2F06-5BC8-E71E-C568-621C306275C4}"/>
              </a:ext>
            </a:extLst>
          </p:cNvPr>
          <p:cNvSpPr/>
          <p:nvPr/>
        </p:nvSpPr>
        <p:spPr>
          <a:xfrm>
            <a:off x="4547221" y="2385720"/>
            <a:ext cx="3097559" cy="3432355"/>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s-PE"/>
          </a:p>
        </p:txBody>
      </p:sp>
      <p:sp>
        <p:nvSpPr>
          <p:cNvPr id="22" name="Rectángulo 21">
            <a:extLst>
              <a:ext uri="{FF2B5EF4-FFF2-40B4-BE49-F238E27FC236}">
                <a16:creationId xmlns:a16="http://schemas.microsoft.com/office/drawing/2014/main" id="{2AA806A4-5336-3E42-79C3-4A7DE66E0C47}"/>
              </a:ext>
            </a:extLst>
          </p:cNvPr>
          <p:cNvSpPr/>
          <p:nvPr/>
        </p:nvSpPr>
        <p:spPr>
          <a:xfrm>
            <a:off x="8570260" y="2381238"/>
            <a:ext cx="3097559" cy="3432355"/>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s-PE"/>
          </a:p>
        </p:txBody>
      </p:sp>
      <p:sp>
        <p:nvSpPr>
          <p:cNvPr id="23" name="Rectángulo 22">
            <a:extLst>
              <a:ext uri="{FF2B5EF4-FFF2-40B4-BE49-F238E27FC236}">
                <a16:creationId xmlns:a16="http://schemas.microsoft.com/office/drawing/2014/main" id="{D398CA18-F9AB-6629-48BE-4C42750CCDA7}"/>
              </a:ext>
            </a:extLst>
          </p:cNvPr>
          <p:cNvSpPr/>
          <p:nvPr/>
        </p:nvSpPr>
        <p:spPr>
          <a:xfrm>
            <a:off x="4547221" y="1941334"/>
            <a:ext cx="3097559" cy="426932"/>
          </a:xfrm>
          <a:prstGeom prst="rect">
            <a:avLst/>
          </a:prstGeom>
        </p:spPr>
        <p:style>
          <a:lnRef idx="3">
            <a:schemeClr val="lt1"/>
          </a:lnRef>
          <a:fillRef idx="1">
            <a:schemeClr val="accent4"/>
          </a:fillRef>
          <a:effectRef idx="1">
            <a:schemeClr val="accent4"/>
          </a:effectRef>
          <a:fontRef idx="minor">
            <a:schemeClr val="lt1"/>
          </a:fontRef>
        </p:style>
        <p:txBody>
          <a:bodyPr rtlCol="0" anchor="ctr"/>
          <a:lstStyle/>
          <a:p>
            <a:pPr algn="ctr"/>
            <a:endParaRPr lang="es-PE"/>
          </a:p>
        </p:txBody>
      </p:sp>
      <p:sp>
        <p:nvSpPr>
          <p:cNvPr id="24" name="Rectángulo 23">
            <a:extLst>
              <a:ext uri="{FF2B5EF4-FFF2-40B4-BE49-F238E27FC236}">
                <a16:creationId xmlns:a16="http://schemas.microsoft.com/office/drawing/2014/main" id="{D9FB5CB5-9820-380D-CF5B-91DBDCB58EF3}"/>
              </a:ext>
            </a:extLst>
          </p:cNvPr>
          <p:cNvSpPr/>
          <p:nvPr/>
        </p:nvSpPr>
        <p:spPr>
          <a:xfrm>
            <a:off x="524180" y="1941334"/>
            <a:ext cx="3097559" cy="426932"/>
          </a:xfrm>
          <a:prstGeom prst="rect">
            <a:avLst/>
          </a:prstGeom>
        </p:spPr>
        <p:style>
          <a:lnRef idx="3">
            <a:schemeClr val="lt1"/>
          </a:lnRef>
          <a:fillRef idx="1">
            <a:schemeClr val="accent5"/>
          </a:fillRef>
          <a:effectRef idx="1">
            <a:schemeClr val="accent5"/>
          </a:effectRef>
          <a:fontRef idx="minor">
            <a:schemeClr val="lt1"/>
          </a:fontRef>
        </p:style>
        <p:txBody>
          <a:bodyPr rtlCol="0" anchor="ctr"/>
          <a:lstStyle/>
          <a:p>
            <a:pPr algn="ctr"/>
            <a:endParaRPr lang="es-PE"/>
          </a:p>
        </p:txBody>
      </p:sp>
      <p:sp>
        <p:nvSpPr>
          <p:cNvPr id="25" name="Rectángulo 24">
            <a:extLst>
              <a:ext uri="{FF2B5EF4-FFF2-40B4-BE49-F238E27FC236}">
                <a16:creationId xmlns:a16="http://schemas.microsoft.com/office/drawing/2014/main" id="{7D5FD3FD-0762-3AA5-94A0-9E84FBFB1F58}"/>
              </a:ext>
            </a:extLst>
          </p:cNvPr>
          <p:cNvSpPr/>
          <p:nvPr/>
        </p:nvSpPr>
        <p:spPr>
          <a:xfrm>
            <a:off x="8570259" y="1941334"/>
            <a:ext cx="3097559" cy="426932"/>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es-PE"/>
          </a:p>
        </p:txBody>
      </p:sp>
      <p:sp>
        <p:nvSpPr>
          <p:cNvPr id="26" name="CuadroTexto 25">
            <a:extLst>
              <a:ext uri="{FF2B5EF4-FFF2-40B4-BE49-F238E27FC236}">
                <a16:creationId xmlns:a16="http://schemas.microsoft.com/office/drawing/2014/main" id="{75F2449A-866A-C185-27D8-0C7A3D8BB392}"/>
              </a:ext>
            </a:extLst>
          </p:cNvPr>
          <p:cNvSpPr txBox="1"/>
          <p:nvPr/>
        </p:nvSpPr>
        <p:spPr>
          <a:xfrm>
            <a:off x="1439612" y="1970134"/>
            <a:ext cx="1266693" cy="369332"/>
          </a:xfrm>
          <a:prstGeom prst="rect">
            <a:avLst/>
          </a:prstGeom>
          <a:noFill/>
        </p:spPr>
        <p:txBody>
          <a:bodyPr wrap="none" rtlCol="0">
            <a:spAutoFit/>
          </a:bodyPr>
          <a:lstStyle/>
          <a:p>
            <a:pPr algn="ctr"/>
            <a:r>
              <a:rPr lang="es-ES" b="1" dirty="0">
                <a:solidFill>
                  <a:schemeClr val="bg1"/>
                </a:solidFill>
                <a:latin typeface="Montserrat" pitchFamily="2" charset="0"/>
              </a:rPr>
              <a:t>IDIOMAS</a:t>
            </a:r>
            <a:endParaRPr lang="es-PE" b="1" dirty="0">
              <a:solidFill>
                <a:schemeClr val="bg1"/>
              </a:solidFill>
              <a:latin typeface="Montserrat" pitchFamily="2" charset="0"/>
            </a:endParaRPr>
          </a:p>
        </p:txBody>
      </p:sp>
      <p:sp>
        <p:nvSpPr>
          <p:cNvPr id="27" name="CuadroTexto 26">
            <a:extLst>
              <a:ext uri="{FF2B5EF4-FFF2-40B4-BE49-F238E27FC236}">
                <a16:creationId xmlns:a16="http://schemas.microsoft.com/office/drawing/2014/main" id="{D623C10F-6447-4F38-9FBF-214382DC4DCC}"/>
              </a:ext>
            </a:extLst>
          </p:cNvPr>
          <p:cNvSpPr txBox="1"/>
          <p:nvPr/>
        </p:nvSpPr>
        <p:spPr>
          <a:xfrm>
            <a:off x="5065912" y="1970134"/>
            <a:ext cx="2060179" cy="369332"/>
          </a:xfrm>
          <a:prstGeom prst="rect">
            <a:avLst/>
          </a:prstGeom>
          <a:noFill/>
        </p:spPr>
        <p:txBody>
          <a:bodyPr wrap="none" rtlCol="0">
            <a:spAutoFit/>
          </a:bodyPr>
          <a:lstStyle/>
          <a:p>
            <a:pPr algn="ctr"/>
            <a:r>
              <a:rPr lang="es-ES" b="1" dirty="0">
                <a:solidFill>
                  <a:schemeClr val="bg1"/>
                </a:solidFill>
                <a:latin typeface="Montserrat" pitchFamily="2" charset="0"/>
              </a:rPr>
              <a:t>COMPUTACIÓN</a:t>
            </a:r>
            <a:endParaRPr lang="es-PE" b="1" dirty="0">
              <a:solidFill>
                <a:schemeClr val="bg1"/>
              </a:solidFill>
              <a:latin typeface="Montserrat" pitchFamily="2" charset="0"/>
            </a:endParaRPr>
          </a:p>
        </p:txBody>
      </p:sp>
      <p:sp>
        <p:nvSpPr>
          <p:cNvPr id="28" name="CuadroTexto 27">
            <a:extLst>
              <a:ext uri="{FF2B5EF4-FFF2-40B4-BE49-F238E27FC236}">
                <a16:creationId xmlns:a16="http://schemas.microsoft.com/office/drawing/2014/main" id="{F3CECBA7-CB00-8543-4395-938353C94668}"/>
              </a:ext>
            </a:extLst>
          </p:cNvPr>
          <p:cNvSpPr txBox="1"/>
          <p:nvPr/>
        </p:nvSpPr>
        <p:spPr>
          <a:xfrm>
            <a:off x="8956416" y="1989114"/>
            <a:ext cx="2483372" cy="369332"/>
          </a:xfrm>
          <a:prstGeom prst="rect">
            <a:avLst/>
          </a:prstGeom>
          <a:noFill/>
        </p:spPr>
        <p:txBody>
          <a:bodyPr wrap="none" rtlCol="0">
            <a:spAutoFit/>
          </a:bodyPr>
          <a:lstStyle/>
          <a:p>
            <a:pPr algn="ctr"/>
            <a:r>
              <a:rPr lang="es-ES" b="1" dirty="0">
                <a:solidFill>
                  <a:schemeClr val="bg1"/>
                </a:solidFill>
                <a:latin typeface="Montserrat" pitchFamily="2" charset="0"/>
              </a:rPr>
              <a:t>EMPRENDIMIENTO</a:t>
            </a:r>
            <a:endParaRPr lang="es-PE" b="1" dirty="0">
              <a:solidFill>
                <a:schemeClr val="bg1"/>
              </a:solidFill>
              <a:latin typeface="Montserrat" pitchFamily="2" charset="0"/>
            </a:endParaRPr>
          </a:p>
        </p:txBody>
      </p:sp>
      <p:sp>
        <p:nvSpPr>
          <p:cNvPr id="29" name="CuadroTexto 28">
            <a:extLst>
              <a:ext uri="{FF2B5EF4-FFF2-40B4-BE49-F238E27FC236}">
                <a16:creationId xmlns:a16="http://schemas.microsoft.com/office/drawing/2014/main" id="{43862488-8E07-A6B8-6765-3561D3E5C213}"/>
              </a:ext>
            </a:extLst>
          </p:cNvPr>
          <p:cNvSpPr txBox="1"/>
          <p:nvPr/>
        </p:nvSpPr>
        <p:spPr>
          <a:xfrm>
            <a:off x="555810" y="2492313"/>
            <a:ext cx="3040256" cy="3293209"/>
          </a:xfrm>
          <a:prstGeom prst="rect">
            <a:avLst/>
          </a:prstGeom>
          <a:noFill/>
        </p:spPr>
        <p:txBody>
          <a:bodyPr wrap="none" rtlCol="0">
            <a:spAutoFit/>
          </a:bodyPr>
          <a:lstStyle/>
          <a:p>
            <a:pPr algn="ctr"/>
            <a:r>
              <a:rPr lang="es-ES" sz="1600" dirty="0"/>
              <a:t>IGE: Periodo General de Idiomas</a:t>
            </a:r>
          </a:p>
          <a:p>
            <a:pPr algn="ctr"/>
            <a:r>
              <a:rPr lang="es-ES" sz="1600" dirty="0"/>
              <a:t>I01: Idiomas Grupo 01</a:t>
            </a:r>
          </a:p>
          <a:p>
            <a:pPr algn="ctr"/>
            <a:r>
              <a:rPr lang="es-ES" sz="1600" dirty="0"/>
              <a:t>I02: Idiomas Grupo 02</a:t>
            </a:r>
          </a:p>
          <a:p>
            <a:pPr algn="ctr"/>
            <a:r>
              <a:rPr lang="es-ES" sz="1600" dirty="0"/>
              <a:t>I0</a:t>
            </a:r>
            <a:r>
              <a:rPr lang="es-PE" sz="1600" dirty="0"/>
              <a:t>3: Idiomas Grupo 03</a:t>
            </a:r>
          </a:p>
          <a:p>
            <a:pPr algn="ctr"/>
            <a:r>
              <a:rPr lang="es-PE" sz="1600" dirty="0"/>
              <a:t>I04: Idiomas Grupo 04</a:t>
            </a:r>
          </a:p>
          <a:p>
            <a:pPr algn="ctr"/>
            <a:r>
              <a:rPr lang="es-PE" sz="1600" dirty="0"/>
              <a:t>I05: Idiomas Grupo 05</a:t>
            </a:r>
          </a:p>
          <a:p>
            <a:pPr algn="ctr"/>
            <a:r>
              <a:rPr lang="es-PE" sz="1600" dirty="0"/>
              <a:t>I06: Idiomas Grupo 06</a:t>
            </a:r>
          </a:p>
          <a:p>
            <a:pPr algn="ctr"/>
            <a:r>
              <a:rPr lang="es-PE" sz="1600" dirty="0"/>
              <a:t>I07: Idiomas Grupo 07</a:t>
            </a:r>
          </a:p>
          <a:p>
            <a:pPr algn="ctr"/>
            <a:r>
              <a:rPr lang="es-PE" sz="1600" dirty="0"/>
              <a:t>I08: Idiomas Grupo 08</a:t>
            </a:r>
          </a:p>
          <a:p>
            <a:pPr algn="ctr"/>
            <a:r>
              <a:rPr lang="es-PE" sz="1600" dirty="0"/>
              <a:t>I09: Idiomas Grupo 09</a:t>
            </a:r>
          </a:p>
          <a:p>
            <a:pPr algn="ctr"/>
            <a:r>
              <a:rPr lang="es-PE" sz="1600" dirty="0"/>
              <a:t>I10: Idiomas Grupo 10</a:t>
            </a:r>
          </a:p>
          <a:p>
            <a:pPr algn="ctr"/>
            <a:r>
              <a:rPr lang="es-PE" sz="1600" dirty="0"/>
              <a:t>I11: Idiomas Grupo 11</a:t>
            </a:r>
          </a:p>
          <a:p>
            <a:pPr algn="ctr"/>
            <a:r>
              <a:rPr lang="es-PE" sz="1600" dirty="0"/>
              <a:t>I12: Idiomas Grupo 12</a:t>
            </a:r>
            <a:endParaRPr lang="es-ES" sz="1600" dirty="0"/>
          </a:p>
        </p:txBody>
      </p:sp>
      <p:sp>
        <p:nvSpPr>
          <p:cNvPr id="30" name="CuadroTexto 29">
            <a:extLst>
              <a:ext uri="{FF2B5EF4-FFF2-40B4-BE49-F238E27FC236}">
                <a16:creationId xmlns:a16="http://schemas.microsoft.com/office/drawing/2014/main" id="{C0EA37FD-6FCF-2FD9-8376-FCF367B7A9AF}"/>
              </a:ext>
            </a:extLst>
          </p:cNvPr>
          <p:cNvSpPr txBox="1"/>
          <p:nvPr/>
        </p:nvSpPr>
        <p:spPr>
          <a:xfrm>
            <a:off x="4487438" y="2492313"/>
            <a:ext cx="3205493" cy="3262432"/>
          </a:xfrm>
          <a:prstGeom prst="rect">
            <a:avLst/>
          </a:prstGeom>
          <a:noFill/>
        </p:spPr>
        <p:txBody>
          <a:bodyPr wrap="none" rtlCol="0">
            <a:spAutoFit/>
          </a:bodyPr>
          <a:lstStyle/>
          <a:p>
            <a:pPr algn="ctr"/>
            <a:r>
              <a:rPr lang="es-ES" sz="1400" dirty="0"/>
              <a:t>CGE: Periodo General de Computación</a:t>
            </a:r>
          </a:p>
          <a:p>
            <a:pPr algn="ctr"/>
            <a:r>
              <a:rPr lang="es-ES" sz="1600" dirty="0"/>
              <a:t>X01: Computación Grupo 01</a:t>
            </a:r>
          </a:p>
          <a:p>
            <a:pPr algn="ctr"/>
            <a:r>
              <a:rPr lang="es-ES" sz="1600" dirty="0"/>
              <a:t>X02: Computación Grupo 02</a:t>
            </a:r>
          </a:p>
          <a:p>
            <a:pPr algn="ctr"/>
            <a:r>
              <a:rPr lang="es-ES" sz="1600" dirty="0"/>
              <a:t>X0</a:t>
            </a:r>
            <a:r>
              <a:rPr lang="es-PE" sz="1600" dirty="0"/>
              <a:t>3: Computación Grupo 03</a:t>
            </a:r>
          </a:p>
          <a:p>
            <a:pPr algn="ctr"/>
            <a:r>
              <a:rPr lang="es-PE" sz="1600" dirty="0"/>
              <a:t>X04: Computación Grupo 04</a:t>
            </a:r>
          </a:p>
          <a:p>
            <a:pPr algn="ctr"/>
            <a:r>
              <a:rPr lang="es-PE" sz="1600" dirty="0"/>
              <a:t>X05: Computación Grupo 05</a:t>
            </a:r>
          </a:p>
          <a:p>
            <a:pPr algn="ctr"/>
            <a:r>
              <a:rPr lang="es-PE" sz="1600" dirty="0"/>
              <a:t>X06: Computación Grupo 06</a:t>
            </a:r>
          </a:p>
          <a:p>
            <a:pPr algn="ctr"/>
            <a:r>
              <a:rPr lang="es-PE" sz="1600" dirty="0"/>
              <a:t>X07: Computación Grupo 07</a:t>
            </a:r>
          </a:p>
          <a:p>
            <a:pPr algn="ctr"/>
            <a:r>
              <a:rPr lang="es-PE" sz="1600" dirty="0"/>
              <a:t>X08: Computación Grupo 08</a:t>
            </a:r>
          </a:p>
          <a:p>
            <a:pPr algn="ctr"/>
            <a:r>
              <a:rPr lang="es-PE" sz="1600" dirty="0"/>
              <a:t>X09: Computación Grupo 09</a:t>
            </a:r>
          </a:p>
          <a:p>
            <a:pPr algn="ctr"/>
            <a:r>
              <a:rPr lang="es-PE" sz="1600" dirty="0"/>
              <a:t>X10: Computación Grupo 10</a:t>
            </a:r>
          </a:p>
          <a:p>
            <a:pPr algn="ctr"/>
            <a:r>
              <a:rPr lang="es-PE" sz="1600" dirty="0"/>
              <a:t>X11: Computación Grupo 11</a:t>
            </a:r>
          </a:p>
          <a:p>
            <a:pPr algn="ctr"/>
            <a:r>
              <a:rPr lang="es-PE" sz="1600" dirty="0"/>
              <a:t>X12: Computación Grupo 12</a:t>
            </a:r>
            <a:endParaRPr lang="es-ES" sz="1600" dirty="0"/>
          </a:p>
        </p:txBody>
      </p:sp>
      <p:sp>
        <p:nvSpPr>
          <p:cNvPr id="31" name="CuadroTexto 30">
            <a:extLst>
              <a:ext uri="{FF2B5EF4-FFF2-40B4-BE49-F238E27FC236}">
                <a16:creationId xmlns:a16="http://schemas.microsoft.com/office/drawing/2014/main" id="{41C0A238-977A-A739-D323-A034142E6933}"/>
              </a:ext>
            </a:extLst>
          </p:cNvPr>
          <p:cNvSpPr txBox="1"/>
          <p:nvPr/>
        </p:nvSpPr>
        <p:spPr>
          <a:xfrm>
            <a:off x="8646208" y="2492313"/>
            <a:ext cx="2947987" cy="3231654"/>
          </a:xfrm>
          <a:prstGeom prst="rect">
            <a:avLst/>
          </a:prstGeom>
          <a:noFill/>
        </p:spPr>
        <p:txBody>
          <a:bodyPr wrap="none" rtlCol="0">
            <a:spAutoFit/>
          </a:bodyPr>
          <a:lstStyle/>
          <a:p>
            <a:pPr algn="ctr"/>
            <a:r>
              <a:rPr lang="es-ES" sz="1200" dirty="0"/>
              <a:t>EGE: Periodo General de Emprendimiento</a:t>
            </a:r>
          </a:p>
          <a:p>
            <a:pPr algn="ctr"/>
            <a:r>
              <a:rPr lang="es-ES" sz="1600" dirty="0"/>
              <a:t>P01: Emprendimiento Grupo 01</a:t>
            </a:r>
          </a:p>
          <a:p>
            <a:pPr algn="ctr"/>
            <a:r>
              <a:rPr lang="es-ES" sz="1600" dirty="0"/>
              <a:t>P02: Emprendimiento Grupo 02</a:t>
            </a:r>
          </a:p>
          <a:p>
            <a:pPr algn="ctr"/>
            <a:r>
              <a:rPr lang="es-ES" sz="1600" dirty="0"/>
              <a:t>P0</a:t>
            </a:r>
            <a:r>
              <a:rPr lang="es-PE" sz="1600" dirty="0"/>
              <a:t>3: Emprendimiento Grupo 03</a:t>
            </a:r>
          </a:p>
          <a:p>
            <a:pPr algn="ctr"/>
            <a:r>
              <a:rPr lang="es-PE" sz="1600" dirty="0"/>
              <a:t>P04: Emprendimiento Grupo 04</a:t>
            </a:r>
          </a:p>
          <a:p>
            <a:pPr algn="ctr"/>
            <a:r>
              <a:rPr lang="es-PE" sz="1600" dirty="0"/>
              <a:t>P05: Emprendimiento Grupo 05</a:t>
            </a:r>
          </a:p>
          <a:p>
            <a:pPr algn="ctr"/>
            <a:r>
              <a:rPr lang="es-PE" sz="1600" dirty="0"/>
              <a:t>P06: Emprendimiento Grupo 06</a:t>
            </a:r>
          </a:p>
          <a:p>
            <a:pPr algn="ctr"/>
            <a:r>
              <a:rPr lang="es-PE" sz="1600" dirty="0"/>
              <a:t>P07: Emprendimiento Grupo 07</a:t>
            </a:r>
          </a:p>
          <a:p>
            <a:pPr algn="ctr"/>
            <a:r>
              <a:rPr lang="es-PE" sz="1600" dirty="0"/>
              <a:t>P08: Emprendimiento Grupo 08</a:t>
            </a:r>
          </a:p>
          <a:p>
            <a:pPr algn="ctr"/>
            <a:r>
              <a:rPr lang="es-PE" sz="1600" dirty="0"/>
              <a:t>P09: Emprendimiento Grupo 09</a:t>
            </a:r>
          </a:p>
          <a:p>
            <a:pPr algn="ctr"/>
            <a:r>
              <a:rPr lang="es-PE" sz="1600" dirty="0"/>
              <a:t>P10: Emprendimiento Grupo 10</a:t>
            </a:r>
          </a:p>
          <a:p>
            <a:pPr algn="ctr"/>
            <a:r>
              <a:rPr lang="es-PE" sz="1600" dirty="0"/>
              <a:t>P11: Emprendimiento Grupo 11</a:t>
            </a:r>
          </a:p>
          <a:p>
            <a:pPr algn="ctr"/>
            <a:r>
              <a:rPr lang="es-PE" sz="1600" dirty="0"/>
              <a:t>P12: Emprendimiento Grupo 12</a:t>
            </a:r>
            <a:endParaRPr lang="es-ES" sz="1600" dirty="0"/>
          </a:p>
        </p:txBody>
      </p:sp>
    </p:spTree>
    <p:extLst>
      <p:ext uri="{BB962C8B-B14F-4D97-AF65-F5344CB8AC3E}">
        <p14:creationId xmlns:p14="http://schemas.microsoft.com/office/powerpoint/2010/main" val="14136545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left)">
                                      <p:cBhvr>
                                        <p:cTn id="10" dur="500"/>
                                        <p:tgtEl>
                                          <p:spTgt spid="8"/>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00"/>
                                        <p:tgtEl>
                                          <p:spTgt spid="5"/>
                                        </p:tgtEl>
                                      </p:cBhvr>
                                    </p:animEffect>
                                  </p:childTnLst>
                                </p:cTn>
                              </p:par>
                            </p:childTnLst>
                          </p:cTn>
                        </p:par>
                        <p:par>
                          <p:cTn id="15" fill="hold">
                            <p:stCondLst>
                              <p:cond delay="2500"/>
                            </p:stCondLst>
                            <p:childTnLst>
                              <p:par>
                                <p:cTn id="16" presetID="42" presetClass="entr" presetSubtype="0" fill="hold" grpId="0" nodeType="afterEffect">
                                  <p:stCondLst>
                                    <p:cond delay="0"/>
                                  </p:stCondLst>
                                  <p:childTnLst>
                                    <p:set>
                                      <p:cBhvr>
                                        <p:cTn id="17" dur="1" fill="hold">
                                          <p:stCondLst>
                                            <p:cond delay="0"/>
                                          </p:stCondLst>
                                        </p:cTn>
                                        <p:tgtEl>
                                          <p:spTgt spid="24"/>
                                        </p:tgtEl>
                                        <p:attrNameLst>
                                          <p:attrName>style.visibility</p:attrName>
                                        </p:attrNameLst>
                                      </p:cBhvr>
                                      <p:to>
                                        <p:strVal val="visible"/>
                                      </p:to>
                                    </p:set>
                                    <p:animEffect transition="in" filter="fade">
                                      <p:cBhvr>
                                        <p:cTn id="18" dur="1000"/>
                                        <p:tgtEl>
                                          <p:spTgt spid="24"/>
                                        </p:tgtEl>
                                      </p:cBhvr>
                                    </p:animEffect>
                                    <p:anim calcmode="lin" valueType="num">
                                      <p:cBhvr>
                                        <p:cTn id="19" dur="1000" fill="hold"/>
                                        <p:tgtEl>
                                          <p:spTgt spid="24"/>
                                        </p:tgtEl>
                                        <p:attrNameLst>
                                          <p:attrName>ppt_x</p:attrName>
                                        </p:attrNameLst>
                                      </p:cBhvr>
                                      <p:tavLst>
                                        <p:tav tm="0">
                                          <p:val>
                                            <p:strVal val="#ppt_x"/>
                                          </p:val>
                                        </p:tav>
                                        <p:tav tm="100000">
                                          <p:val>
                                            <p:strVal val="#ppt_x"/>
                                          </p:val>
                                        </p:tav>
                                      </p:tavLst>
                                    </p:anim>
                                    <p:anim calcmode="lin" valueType="num">
                                      <p:cBhvr>
                                        <p:cTn id="20" dur="1000" fill="hold"/>
                                        <p:tgtEl>
                                          <p:spTgt spid="24"/>
                                        </p:tgtEl>
                                        <p:attrNameLst>
                                          <p:attrName>ppt_y</p:attrName>
                                        </p:attrNameLst>
                                      </p:cBhvr>
                                      <p:tavLst>
                                        <p:tav tm="0">
                                          <p:val>
                                            <p:strVal val="#ppt_y+.1"/>
                                          </p:val>
                                        </p:tav>
                                        <p:tav tm="100000">
                                          <p:val>
                                            <p:strVal val="#ppt_y"/>
                                          </p:val>
                                        </p:tav>
                                      </p:tavLst>
                                    </p:anim>
                                  </p:childTnLst>
                                </p:cTn>
                              </p:par>
                            </p:childTnLst>
                          </p:cTn>
                        </p:par>
                        <p:par>
                          <p:cTn id="21" fill="hold">
                            <p:stCondLst>
                              <p:cond delay="3500"/>
                            </p:stCondLst>
                            <p:childTnLst>
                              <p:par>
                                <p:cTn id="22" presetID="10" presetClass="entr" presetSubtype="0" fill="hold" grpId="0" nodeType="afterEffect">
                                  <p:stCondLst>
                                    <p:cond delay="0"/>
                                  </p:stCondLst>
                                  <p:childTnLst>
                                    <p:set>
                                      <p:cBhvr>
                                        <p:cTn id="23" dur="1" fill="hold">
                                          <p:stCondLst>
                                            <p:cond delay="0"/>
                                          </p:stCondLst>
                                        </p:cTn>
                                        <p:tgtEl>
                                          <p:spTgt spid="26"/>
                                        </p:tgtEl>
                                        <p:attrNameLst>
                                          <p:attrName>style.visibility</p:attrName>
                                        </p:attrNameLst>
                                      </p:cBhvr>
                                      <p:to>
                                        <p:strVal val="visible"/>
                                      </p:to>
                                    </p:set>
                                    <p:animEffect transition="in" filter="fade">
                                      <p:cBhvr>
                                        <p:cTn id="24" dur="500"/>
                                        <p:tgtEl>
                                          <p:spTgt spid="26"/>
                                        </p:tgtEl>
                                      </p:cBhvr>
                                    </p:animEffect>
                                  </p:childTnLst>
                                </p:cTn>
                              </p:par>
                            </p:childTnLst>
                          </p:cTn>
                        </p:par>
                        <p:par>
                          <p:cTn id="25" fill="hold">
                            <p:stCondLst>
                              <p:cond delay="4000"/>
                            </p:stCondLst>
                            <p:childTnLst>
                              <p:par>
                                <p:cTn id="26" presetID="53" presetClass="entr" presetSubtype="16" fill="hold" grpId="0" nodeType="afterEffect">
                                  <p:stCondLst>
                                    <p:cond delay="0"/>
                                  </p:stCondLst>
                                  <p:childTnLst>
                                    <p:set>
                                      <p:cBhvr>
                                        <p:cTn id="27" dur="1" fill="hold">
                                          <p:stCondLst>
                                            <p:cond delay="0"/>
                                          </p:stCondLst>
                                        </p:cTn>
                                        <p:tgtEl>
                                          <p:spTgt spid="11"/>
                                        </p:tgtEl>
                                        <p:attrNameLst>
                                          <p:attrName>style.visibility</p:attrName>
                                        </p:attrNameLst>
                                      </p:cBhvr>
                                      <p:to>
                                        <p:strVal val="visible"/>
                                      </p:to>
                                    </p:set>
                                    <p:anim calcmode="lin" valueType="num">
                                      <p:cBhvr>
                                        <p:cTn id="28" dur="500" fill="hold"/>
                                        <p:tgtEl>
                                          <p:spTgt spid="11"/>
                                        </p:tgtEl>
                                        <p:attrNameLst>
                                          <p:attrName>ppt_w</p:attrName>
                                        </p:attrNameLst>
                                      </p:cBhvr>
                                      <p:tavLst>
                                        <p:tav tm="0">
                                          <p:val>
                                            <p:fltVal val="0"/>
                                          </p:val>
                                        </p:tav>
                                        <p:tav tm="100000">
                                          <p:val>
                                            <p:strVal val="#ppt_w"/>
                                          </p:val>
                                        </p:tav>
                                      </p:tavLst>
                                    </p:anim>
                                    <p:anim calcmode="lin" valueType="num">
                                      <p:cBhvr>
                                        <p:cTn id="29" dur="500" fill="hold"/>
                                        <p:tgtEl>
                                          <p:spTgt spid="11"/>
                                        </p:tgtEl>
                                        <p:attrNameLst>
                                          <p:attrName>ppt_h</p:attrName>
                                        </p:attrNameLst>
                                      </p:cBhvr>
                                      <p:tavLst>
                                        <p:tav tm="0">
                                          <p:val>
                                            <p:fltVal val="0"/>
                                          </p:val>
                                        </p:tav>
                                        <p:tav tm="100000">
                                          <p:val>
                                            <p:strVal val="#ppt_h"/>
                                          </p:val>
                                        </p:tav>
                                      </p:tavLst>
                                    </p:anim>
                                    <p:animEffect transition="in" filter="fade">
                                      <p:cBhvr>
                                        <p:cTn id="30" dur="500"/>
                                        <p:tgtEl>
                                          <p:spTgt spid="11"/>
                                        </p:tgtEl>
                                      </p:cBhvr>
                                    </p:animEffect>
                                  </p:childTnLst>
                                </p:cTn>
                              </p:par>
                            </p:childTnLst>
                          </p:cTn>
                        </p:par>
                        <p:par>
                          <p:cTn id="31" fill="hold">
                            <p:stCondLst>
                              <p:cond delay="4500"/>
                            </p:stCondLst>
                            <p:childTnLst>
                              <p:par>
                                <p:cTn id="32" presetID="10" presetClass="entr" presetSubtype="0" fill="hold" grpId="0" nodeType="after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500"/>
                                        <p:tgtEl>
                                          <p:spTgt spid="29"/>
                                        </p:tgtEl>
                                      </p:cBhvr>
                                    </p:animEffect>
                                  </p:childTnLst>
                                </p:cTn>
                              </p:par>
                            </p:childTnLst>
                          </p:cTn>
                        </p:par>
                        <p:par>
                          <p:cTn id="35" fill="hold">
                            <p:stCondLst>
                              <p:cond delay="5000"/>
                            </p:stCondLst>
                            <p:childTnLst>
                              <p:par>
                                <p:cTn id="36" presetID="42" presetClass="entr" presetSubtype="0" fill="hold" grpId="0" nodeType="afterEffect">
                                  <p:stCondLst>
                                    <p:cond delay="0"/>
                                  </p:stCondLst>
                                  <p:childTnLst>
                                    <p:set>
                                      <p:cBhvr>
                                        <p:cTn id="37" dur="1" fill="hold">
                                          <p:stCondLst>
                                            <p:cond delay="0"/>
                                          </p:stCondLst>
                                        </p:cTn>
                                        <p:tgtEl>
                                          <p:spTgt spid="23"/>
                                        </p:tgtEl>
                                        <p:attrNameLst>
                                          <p:attrName>style.visibility</p:attrName>
                                        </p:attrNameLst>
                                      </p:cBhvr>
                                      <p:to>
                                        <p:strVal val="visible"/>
                                      </p:to>
                                    </p:set>
                                    <p:animEffect transition="in" filter="fade">
                                      <p:cBhvr>
                                        <p:cTn id="38" dur="1000"/>
                                        <p:tgtEl>
                                          <p:spTgt spid="23"/>
                                        </p:tgtEl>
                                      </p:cBhvr>
                                    </p:animEffect>
                                    <p:anim calcmode="lin" valueType="num">
                                      <p:cBhvr>
                                        <p:cTn id="39" dur="1000" fill="hold"/>
                                        <p:tgtEl>
                                          <p:spTgt spid="23"/>
                                        </p:tgtEl>
                                        <p:attrNameLst>
                                          <p:attrName>ppt_x</p:attrName>
                                        </p:attrNameLst>
                                      </p:cBhvr>
                                      <p:tavLst>
                                        <p:tav tm="0">
                                          <p:val>
                                            <p:strVal val="#ppt_x"/>
                                          </p:val>
                                        </p:tav>
                                        <p:tav tm="100000">
                                          <p:val>
                                            <p:strVal val="#ppt_x"/>
                                          </p:val>
                                        </p:tav>
                                      </p:tavLst>
                                    </p:anim>
                                    <p:anim calcmode="lin" valueType="num">
                                      <p:cBhvr>
                                        <p:cTn id="40" dur="1000" fill="hold"/>
                                        <p:tgtEl>
                                          <p:spTgt spid="23"/>
                                        </p:tgtEl>
                                        <p:attrNameLst>
                                          <p:attrName>ppt_y</p:attrName>
                                        </p:attrNameLst>
                                      </p:cBhvr>
                                      <p:tavLst>
                                        <p:tav tm="0">
                                          <p:val>
                                            <p:strVal val="#ppt_y+.1"/>
                                          </p:val>
                                        </p:tav>
                                        <p:tav tm="100000">
                                          <p:val>
                                            <p:strVal val="#ppt_y"/>
                                          </p:val>
                                        </p:tav>
                                      </p:tavLst>
                                    </p:anim>
                                  </p:childTnLst>
                                </p:cTn>
                              </p:par>
                            </p:childTnLst>
                          </p:cTn>
                        </p:par>
                        <p:par>
                          <p:cTn id="41" fill="hold">
                            <p:stCondLst>
                              <p:cond delay="6000"/>
                            </p:stCondLst>
                            <p:childTnLst>
                              <p:par>
                                <p:cTn id="42" presetID="10" presetClass="entr" presetSubtype="0" fill="hold" grpId="0" nodeType="afterEffect">
                                  <p:stCondLst>
                                    <p:cond delay="0"/>
                                  </p:stCondLst>
                                  <p:childTnLst>
                                    <p:set>
                                      <p:cBhvr>
                                        <p:cTn id="43" dur="1" fill="hold">
                                          <p:stCondLst>
                                            <p:cond delay="0"/>
                                          </p:stCondLst>
                                        </p:cTn>
                                        <p:tgtEl>
                                          <p:spTgt spid="27"/>
                                        </p:tgtEl>
                                        <p:attrNameLst>
                                          <p:attrName>style.visibility</p:attrName>
                                        </p:attrNameLst>
                                      </p:cBhvr>
                                      <p:to>
                                        <p:strVal val="visible"/>
                                      </p:to>
                                    </p:set>
                                    <p:animEffect transition="in" filter="fade">
                                      <p:cBhvr>
                                        <p:cTn id="44" dur="500"/>
                                        <p:tgtEl>
                                          <p:spTgt spid="27"/>
                                        </p:tgtEl>
                                      </p:cBhvr>
                                    </p:animEffect>
                                  </p:childTnLst>
                                </p:cTn>
                              </p:par>
                            </p:childTnLst>
                          </p:cTn>
                        </p:par>
                        <p:par>
                          <p:cTn id="45" fill="hold">
                            <p:stCondLst>
                              <p:cond delay="6500"/>
                            </p:stCondLst>
                            <p:childTnLst>
                              <p:par>
                                <p:cTn id="46" presetID="53" presetClass="entr" presetSubtype="16" fill="hold" grpId="0" nodeType="afterEffect">
                                  <p:stCondLst>
                                    <p:cond delay="0"/>
                                  </p:stCondLst>
                                  <p:childTnLst>
                                    <p:set>
                                      <p:cBhvr>
                                        <p:cTn id="47" dur="1" fill="hold">
                                          <p:stCondLst>
                                            <p:cond delay="0"/>
                                          </p:stCondLst>
                                        </p:cTn>
                                        <p:tgtEl>
                                          <p:spTgt spid="18"/>
                                        </p:tgtEl>
                                        <p:attrNameLst>
                                          <p:attrName>style.visibility</p:attrName>
                                        </p:attrNameLst>
                                      </p:cBhvr>
                                      <p:to>
                                        <p:strVal val="visible"/>
                                      </p:to>
                                    </p:set>
                                    <p:anim calcmode="lin" valueType="num">
                                      <p:cBhvr>
                                        <p:cTn id="48" dur="500" fill="hold"/>
                                        <p:tgtEl>
                                          <p:spTgt spid="18"/>
                                        </p:tgtEl>
                                        <p:attrNameLst>
                                          <p:attrName>ppt_w</p:attrName>
                                        </p:attrNameLst>
                                      </p:cBhvr>
                                      <p:tavLst>
                                        <p:tav tm="0">
                                          <p:val>
                                            <p:fltVal val="0"/>
                                          </p:val>
                                        </p:tav>
                                        <p:tav tm="100000">
                                          <p:val>
                                            <p:strVal val="#ppt_w"/>
                                          </p:val>
                                        </p:tav>
                                      </p:tavLst>
                                    </p:anim>
                                    <p:anim calcmode="lin" valueType="num">
                                      <p:cBhvr>
                                        <p:cTn id="49" dur="500" fill="hold"/>
                                        <p:tgtEl>
                                          <p:spTgt spid="18"/>
                                        </p:tgtEl>
                                        <p:attrNameLst>
                                          <p:attrName>ppt_h</p:attrName>
                                        </p:attrNameLst>
                                      </p:cBhvr>
                                      <p:tavLst>
                                        <p:tav tm="0">
                                          <p:val>
                                            <p:fltVal val="0"/>
                                          </p:val>
                                        </p:tav>
                                        <p:tav tm="100000">
                                          <p:val>
                                            <p:strVal val="#ppt_h"/>
                                          </p:val>
                                        </p:tav>
                                      </p:tavLst>
                                    </p:anim>
                                    <p:animEffect transition="in" filter="fade">
                                      <p:cBhvr>
                                        <p:cTn id="50" dur="500"/>
                                        <p:tgtEl>
                                          <p:spTgt spid="18"/>
                                        </p:tgtEl>
                                      </p:cBhvr>
                                    </p:animEffect>
                                  </p:childTnLst>
                                </p:cTn>
                              </p:par>
                            </p:childTnLst>
                          </p:cTn>
                        </p:par>
                        <p:par>
                          <p:cTn id="51" fill="hold">
                            <p:stCondLst>
                              <p:cond delay="7000"/>
                            </p:stCondLst>
                            <p:childTnLst>
                              <p:par>
                                <p:cTn id="52" presetID="10" presetClass="entr" presetSubtype="0" fill="hold" grpId="0" nodeType="afterEffect">
                                  <p:stCondLst>
                                    <p:cond delay="0"/>
                                  </p:stCondLst>
                                  <p:childTnLst>
                                    <p:set>
                                      <p:cBhvr>
                                        <p:cTn id="53" dur="1" fill="hold">
                                          <p:stCondLst>
                                            <p:cond delay="0"/>
                                          </p:stCondLst>
                                        </p:cTn>
                                        <p:tgtEl>
                                          <p:spTgt spid="30"/>
                                        </p:tgtEl>
                                        <p:attrNameLst>
                                          <p:attrName>style.visibility</p:attrName>
                                        </p:attrNameLst>
                                      </p:cBhvr>
                                      <p:to>
                                        <p:strVal val="visible"/>
                                      </p:to>
                                    </p:set>
                                    <p:animEffect transition="in" filter="fade">
                                      <p:cBhvr>
                                        <p:cTn id="54" dur="500"/>
                                        <p:tgtEl>
                                          <p:spTgt spid="30"/>
                                        </p:tgtEl>
                                      </p:cBhvr>
                                    </p:animEffect>
                                  </p:childTnLst>
                                </p:cTn>
                              </p:par>
                            </p:childTnLst>
                          </p:cTn>
                        </p:par>
                        <p:par>
                          <p:cTn id="55" fill="hold">
                            <p:stCondLst>
                              <p:cond delay="7500"/>
                            </p:stCondLst>
                            <p:childTnLst>
                              <p:par>
                                <p:cTn id="56" presetID="42" presetClass="entr" presetSubtype="0" fill="hold" grpId="0" nodeType="afterEffect">
                                  <p:stCondLst>
                                    <p:cond delay="0"/>
                                  </p:stCondLst>
                                  <p:childTnLst>
                                    <p:set>
                                      <p:cBhvr>
                                        <p:cTn id="57" dur="1" fill="hold">
                                          <p:stCondLst>
                                            <p:cond delay="0"/>
                                          </p:stCondLst>
                                        </p:cTn>
                                        <p:tgtEl>
                                          <p:spTgt spid="25"/>
                                        </p:tgtEl>
                                        <p:attrNameLst>
                                          <p:attrName>style.visibility</p:attrName>
                                        </p:attrNameLst>
                                      </p:cBhvr>
                                      <p:to>
                                        <p:strVal val="visible"/>
                                      </p:to>
                                    </p:set>
                                    <p:animEffect transition="in" filter="fade">
                                      <p:cBhvr>
                                        <p:cTn id="58" dur="1000"/>
                                        <p:tgtEl>
                                          <p:spTgt spid="25"/>
                                        </p:tgtEl>
                                      </p:cBhvr>
                                    </p:animEffect>
                                    <p:anim calcmode="lin" valueType="num">
                                      <p:cBhvr>
                                        <p:cTn id="59" dur="1000" fill="hold"/>
                                        <p:tgtEl>
                                          <p:spTgt spid="25"/>
                                        </p:tgtEl>
                                        <p:attrNameLst>
                                          <p:attrName>ppt_x</p:attrName>
                                        </p:attrNameLst>
                                      </p:cBhvr>
                                      <p:tavLst>
                                        <p:tav tm="0">
                                          <p:val>
                                            <p:strVal val="#ppt_x"/>
                                          </p:val>
                                        </p:tav>
                                        <p:tav tm="100000">
                                          <p:val>
                                            <p:strVal val="#ppt_x"/>
                                          </p:val>
                                        </p:tav>
                                      </p:tavLst>
                                    </p:anim>
                                    <p:anim calcmode="lin" valueType="num">
                                      <p:cBhvr>
                                        <p:cTn id="60" dur="1000" fill="hold"/>
                                        <p:tgtEl>
                                          <p:spTgt spid="25"/>
                                        </p:tgtEl>
                                        <p:attrNameLst>
                                          <p:attrName>ppt_y</p:attrName>
                                        </p:attrNameLst>
                                      </p:cBhvr>
                                      <p:tavLst>
                                        <p:tav tm="0">
                                          <p:val>
                                            <p:strVal val="#ppt_y+.1"/>
                                          </p:val>
                                        </p:tav>
                                        <p:tav tm="100000">
                                          <p:val>
                                            <p:strVal val="#ppt_y"/>
                                          </p:val>
                                        </p:tav>
                                      </p:tavLst>
                                    </p:anim>
                                  </p:childTnLst>
                                </p:cTn>
                              </p:par>
                            </p:childTnLst>
                          </p:cTn>
                        </p:par>
                        <p:par>
                          <p:cTn id="61" fill="hold">
                            <p:stCondLst>
                              <p:cond delay="8500"/>
                            </p:stCondLst>
                            <p:childTnLst>
                              <p:par>
                                <p:cTn id="62" presetID="10" presetClass="entr" presetSubtype="0" fill="hold" grpId="0" nodeType="afterEffect">
                                  <p:stCondLst>
                                    <p:cond delay="0"/>
                                  </p:stCondLst>
                                  <p:childTnLst>
                                    <p:set>
                                      <p:cBhvr>
                                        <p:cTn id="63" dur="1" fill="hold">
                                          <p:stCondLst>
                                            <p:cond delay="0"/>
                                          </p:stCondLst>
                                        </p:cTn>
                                        <p:tgtEl>
                                          <p:spTgt spid="28"/>
                                        </p:tgtEl>
                                        <p:attrNameLst>
                                          <p:attrName>style.visibility</p:attrName>
                                        </p:attrNameLst>
                                      </p:cBhvr>
                                      <p:to>
                                        <p:strVal val="visible"/>
                                      </p:to>
                                    </p:set>
                                    <p:animEffect transition="in" filter="fade">
                                      <p:cBhvr>
                                        <p:cTn id="64" dur="500"/>
                                        <p:tgtEl>
                                          <p:spTgt spid="28"/>
                                        </p:tgtEl>
                                      </p:cBhvr>
                                    </p:animEffect>
                                  </p:childTnLst>
                                </p:cTn>
                              </p:par>
                            </p:childTnLst>
                          </p:cTn>
                        </p:par>
                        <p:par>
                          <p:cTn id="65" fill="hold">
                            <p:stCondLst>
                              <p:cond delay="9000"/>
                            </p:stCondLst>
                            <p:childTnLst>
                              <p:par>
                                <p:cTn id="66" presetID="53" presetClass="entr" presetSubtype="16" fill="hold" grpId="0" nodeType="afterEffect">
                                  <p:stCondLst>
                                    <p:cond delay="0"/>
                                  </p:stCondLst>
                                  <p:childTnLst>
                                    <p:set>
                                      <p:cBhvr>
                                        <p:cTn id="67" dur="1" fill="hold">
                                          <p:stCondLst>
                                            <p:cond delay="0"/>
                                          </p:stCondLst>
                                        </p:cTn>
                                        <p:tgtEl>
                                          <p:spTgt spid="22"/>
                                        </p:tgtEl>
                                        <p:attrNameLst>
                                          <p:attrName>style.visibility</p:attrName>
                                        </p:attrNameLst>
                                      </p:cBhvr>
                                      <p:to>
                                        <p:strVal val="visible"/>
                                      </p:to>
                                    </p:set>
                                    <p:anim calcmode="lin" valueType="num">
                                      <p:cBhvr>
                                        <p:cTn id="68" dur="500" fill="hold"/>
                                        <p:tgtEl>
                                          <p:spTgt spid="22"/>
                                        </p:tgtEl>
                                        <p:attrNameLst>
                                          <p:attrName>ppt_w</p:attrName>
                                        </p:attrNameLst>
                                      </p:cBhvr>
                                      <p:tavLst>
                                        <p:tav tm="0">
                                          <p:val>
                                            <p:fltVal val="0"/>
                                          </p:val>
                                        </p:tav>
                                        <p:tav tm="100000">
                                          <p:val>
                                            <p:strVal val="#ppt_w"/>
                                          </p:val>
                                        </p:tav>
                                      </p:tavLst>
                                    </p:anim>
                                    <p:anim calcmode="lin" valueType="num">
                                      <p:cBhvr>
                                        <p:cTn id="69" dur="500" fill="hold"/>
                                        <p:tgtEl>
                                          <p:spTgt spid="22"/>
                                        </p:tgtEl>
                                        <p:attrNameLst>
                                          <p:attrName>ppt_h</p:attrName>
                                        </p:attrNameLst>
                                      </p:cBhvr>
                                      <p:tavLst>
                                        <p:tav tm="0">
                                          <p:val>
                                            <p:fltVal val="0"/>
                                          </p:val>
                                        </p:tav>
                                        <p:tav tm="100000">
                                          <p:val>
                                            <p:strVal val="#ppt_h"/>
                                          </p:val>
                                        </p:tav>
                                      </p:tavLst>
                                    </p:anim>
                                    <p:animEffect transition="in" filter="fade">
                                      <p:cBhvr>
                                        <p:cTn id="70" dur="500"/>
                                        <p:tgtEl>
                                          <p:spTgt spid="22"/>
                                        </p:tgtEl>
                                      </p:cBhvr>
                                    </p:animEffect>
                                  </p:childTnLst>
                                </p:cTn>
                              </p:par>
                            </p:childTnLst>
                          </p:cTn>
                        </p:par>
                        <p:par>
                          <p:cTn id="71" fill="hold">
                            <p:stCondLst>
                              <p:cond delay="9500"/>
                            </p:stCondLst>
                            <p:childTnLst>
                              <p:par>
                                <p:cTn id="72" presetID="10" presetClass="entr" presetSubtype="0" fill="hold" grpId="0" nodeType="afterEffect">
                                  <p:stCondLst>
                                    <p:cond delay="0"/>
                                  </p:stCondLst>
                                  <p:childTnLst>
                                    <p:set>
                                      <p:cBhvr>
                                        <p:cTn id="73" dur="1" fill="hold">
                                          <p:stCondLst>
                                            <p:cond delay="0"/>
                                          </p:stCondLst>
                                        </p:cTn>
                                        <p:tgtEl>
                                          <p:spTgt spid="31"/>
                                        </p:tgtEl>
                                        <p:attrNameLst>
                                          <p:attrName>style.visibility</p:attrName>
                                        </p:attrNameLst>
                                      </p:cBhvr>
                                      <p:to>
                                        <p:strVal val="visible"/>
                                      </p:to>
                                    </p:set>
                                    <p:animEffect transition="in" filter="fade">
                                      <p:cBhvr>
                                        <p:cTn id="74"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5" grpId="0"/>
      <p:bldP spid="11" grpId="0" animBg="1"/>
      <p:bldP spid="18" grpId="0" animBg="1"/>
      <p:bldP spid="22" grpId="0" animBg="1"/>
      <p:bldP spid="23" grpId="0" animBg="1"/>
      <p:bldP spid="24" grpId="0" animBg="1"/>
      <p:bldP spid="25" grpId="0" animBg="1"/>
      <p:bldP spid="26" grpId="0"/>
      <p:bldP spid="27" grpId="0"/>
      <p:bldP spid="28" grpId="0"/>
      <p:bldP spid="29" grpId="0"/>
      <p:bldP spid="30" grpId="0"/>
      <p:bldP spid="3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7CAB2B86-4E3B-C98C-411E-958BEFE187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2528" y="6154887"/>
            <a:ext cx="2234242" cy="525923"/>
          </a:xfrm>
          <a:prstGeom prst="rect">
            <a:avLst/>
          </a:prstGeom>
        </p:spPr>
      </p:pic>
      <p:pic>
        <p:nvPicPr>
          <p:cNvPr id="4" name="Picture 4" descr="Ellucian Student Reseñas 2026: Detalles, Precios y Características | G2">
            <a:extLst>
              <a:ext uri="{FF2B5EF4-FFF2-40B4-BE49-F238E27FC236}">
                <a16:creationId xmlns:a16="http://schemas.microsoft.com/office/drawing/2014/main" id="{7352B780-8C7C-7B91-F3EE-5E6EF2C2E4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98101" y="5901780"/>
            <a:ext cx="1821371" cy="956220"/>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0AEBA78F-8C98-5D4D-384F-95B753FFADE4}"/>
              </a:ext>
            </a:extLst>
          </p:cNvPr>
          <p:cNvSpPr txBox="1"/>
          <p:nvPr/>
        </p:nvSpPr>
        <p:spPr>
          <a:xfrm>
            <a:off x="431320" y="241540"/>
            <a:ext cx="3615092" cy="523220"/>
          </a:xfrm>
          <a:prstGeom prst="rect">
            <a:avLst/>
          </a:prstGeom>
          <a:noFill/>
        </p:spPr>
        <p:txBody>
          <a:bodyPr wrap="none" rtlCol="0">
            <a:spAutoFit/>
          </a:bodyPr>
          <a:lstStyle/>
          <a:p>
            <a:r>
              <a:rPr lang="es-ES" sz="2800" b="1" dirty="0">
                <a:latin typeface="Montserrat" pitchFamily="2" charset="0"/>
              </a:rPr>
              <a:t>TIPO DE PERIODO</a:t>
            </a:r>
            <a:endParaRPr lang="es-PE" sz="2800" b="1" dirty="0">
              <a:latin typeface="Montserrat" pitchFamily="2" charset="0"/>
            </a:endParaRPr>
          </a:p>
        </p:txBody>
      </p:sp>
      <p:sp>
        <p:nvSpPr>
          <p:cNvPr id="8" name="Rectángulo 7">
            <a:extLst>
              <a:ext uri="{FF2B5EF4-FFF2-40B4-BE49-F238E27FC236}">
                <a16:creationId xmlns:a16="http://schemas.microsoft.com/office/drawing/2014/main" id="{A16BCE08-E23C-F264-A6E3-E4019979D2E2}"/>
              </a:ext>
            </a:extLst>
          </p:cNvPr>
          <p:cNvSpPr/>
          <p:nvPr/>
        </p:nvSpPr>
        <p:spPr>
          <a:xfrm>
            <a:off x="4046412" y="241540"/>
            <a:ext cx="8145587" cy="445583"/>
          </a:xfrm>
          <a:prstGeom prst="rect">
            <a:avLst/>
          </a:prstGeom>
          <a:gradFill flip="none" rotWithShape="1">
            <a:gsLst>
              <a:gs pos="0">
                <a:schemeClr val="accent6">
                  <a:lumMod val="0"/>
                  <a:lumOff val="100000"/>
                </a:schemeClr>
              </a:gs>
              <a:gs pos="66000">
                <a:schemeClr val="accent6">
                  <a:lumMod val="100000"/>
                </a:schemeClr>
              </a:gs>
            </a:gsLst>
            <a:lin ang="0" scaled="1"/>
            <a:tileRect/>
          </a:gra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s-PE"/>
          </a:p>
        </p:txBody>
      </p:sp>
      <p:sp>
        <p:nvSpPr>
          <p:cNvPr id="5" name="CuadroTexto 4">
            <a:extLst>
              <a:ext uri="{FF2B5EF4-FFF2-40B4-BE49-F238E27FC236}">
                <a16:creationId xmlns:a16="http://schemas.microsoft.com/office/drawing/2014/main" id="{FC0D776F-FB24-55F0-39E0-C1FC5874D4C3}"/>
              </a:ext>
            </a:extLst>
          </p:cNvPr>
          <p:cNvSpPr txBox="1"/>
          <p:nvPr/>
        </p:nvSpPr>
        <p:spPr>
          <a:xfrm>
            <a:off x="430811" y="1409256"/>
            <a:ext cx="11330373" cy="369332"/>
          </a:xfrm>
          <a:prstGeom prst="rect">
            <a:avLst/>
          </a:prstGeom>
          <a:noFill/>
        </p:spPr>
        <p:txBody>
          <a:bodyPr wrap="square">
            <a:spAutoFit/>
          </a:bodyPr>
          <a:lstStyle/>
          <a:p>
            <a:r>
              <a:rPr lang="es-ES" dirty="0"/>
              <a:t>Clasificación del periodo según su duración.</a:t>
            </a:r>
            <a:endParaRPr lang="es-PE" dirty="0"/>
          </a:p>
        </p:txBody>
      </p:sp>
      <p:sp>
        <p:nvSpPr>
          <p:cNvPr id="6" name="CuadroTexto 5">
            <a:extLst>
              <a:ext uri="{FF2B5EF4-FFF2-40B4-BE49-F238E27FC236}">
                <a16:creationId xmlns:a16="http://schemas.microsoft.com/office/drawing/2014/main" id="{AC33DC36-253A-547B-7A30-A152C2F6B4CE}"/>
              </a:ext>
            </a:extLst>
          </p:cNvPr>
          <p:cNvSpPr txBox="1"/>
          <p:nvPr/>
        </p:nvSpPr>
        <p:spPr>
          <a:xfrm>
            <a:off x="4528936" y="6386396"/>
            <a:ext cx="3134128" cy="276999"/>
          </a:xfrm>
          <a:prstGeom prst="rect">
            <a:avLst/>
          </a:prstGeom>
          <a:noFill/>
        </p:spPr>
        <p:txBody>
          <a:bodyPr wrap="none" rtlCol="0">
            <a:spAutoFit/>
          </a:bodyPr>
          <a:lstStyle/>
          <a:p>
            <a:pPr algn="ctr"/>
            <a:r>
              <a:rPr lang="es-ES" sz="1200" i="1" dirty="0"/>
              <a:t>Elaborado por: Ing. Liliana Ocampo Moreno</a:t>
            </a:r>
            <a:endParaRPr lang="es-PE" sz="1200" i="1" dirty="0"/>
          </a:p>
        </p:txBody>
      </p:sp>
      <p:graphicFrame>
        <p:nvGraphicFramePr>
          <p:cNvPr id="10" name="Tabla 9">
            <a:extLst>
              <a:ext uri="{FF2B5EF4-FFF2-40B4-BE49-F238E27FC236}">
                <a16:creationId xmlns:a16="http://schemas.microsoft.com/office/drawing/2014/main" id="{A367A928-BCDE-1594-B52D-0CF8F51ADA26}"/>
              </a:ext>
            </a:extLst>
          </p:cNvPr>
          <p:cNvGraphicFramePr>
            <a:graphicFrameLocks noGrp="1"/>
          </p:cNvGraphicFramePr>
          <p:nvPr>
            <p:extLst>
              <p:ext uri="{D42A27DB-BD31-4B8C-83A1-F6EECF244321}">
                <p14:modId xmlns:p14="http://schemas.microsoft.com/office/powerpoint/2010/main" val="1741308838"/>
              </p:ext>
            </p:extLst>
          </p:nvPr>
        </p:nvGraphicFramePr>
        <p:xfrm>
          <a:off x="4170386" y="2599886"/>
          <a:ext cx="3851225" cy="2595880"/>
        </p:xfrm>
        <a:graphic>
          <a:graphicData uri="http://schemas.openxmlformats.org/drawingml/2006/table">
            <a:tbl>
              <a:tblPr firstRow="1" bandRow="1">
                <a:tableStyleId>{93296810-A885-4BE3-A3E7-6D5BEEA58F35}</a:tableStyleId>
              </a:tblPr>
              <a:tblGrid>
                <a:gridCol w="964311">
                  <a:extLst>
                    <a:ext uri="{9D8B030D-6E8A-4147-A177-3AD203B41FA5}">
                      <a16:colId xmlns:a16="http://schemas.microsoft.com/office/drawing/2014/main" val="3338192893"/>
                    </a:ext>
                  </a:extLst>
                </a:gridCol>
                <a:gridCol w="2886914">
                  <a:extLst>
                    <a:ext uri="{9D8B030D-6E8A-4147-A177-3AD203B41FA5}">
                      <a16:colId xmlns:a16="http://schemas.microsoft.com/office/drawing/2014/main" val="3162185953"/>
                    </a:ext>
                  </a:extLst>
                </a:gridCol>
              </a:tblGrid>
              <a:tr h="370840">
                <a:tc>
                  <a:txBody>
                    <a:bodyPr/>
                    <a:lstStyle/>
                    <a:p>
                      <a:r>
                        <a:rPr lang="es-ES" dirty="0"/>
                        <a:t>Código</a:t>
                      </a:r>
                      <a:endParaRPr lang="es-PE" dirty="0"/>
                    </a:p>
                  </a:txBody>
                  <a:tcPr/>
                </a:tc>
                <a:tc>
                  <a:txBody>
                    <a:bodyPr/>
                    <a:lstStyle/>
                    <a:p>
                      <a:r>
                        <a:rPr lang="es-ES" dirty="0"/>
                        <a:t>Descripción</a:t>
                      </a:r>
                      <a:endParaRPr lang="es-PE" dirty="0"/>
                    </a:p>
                  </a:txBody>
                  <a:tcPr/>
                </a:tc>
                <a:extLst>
                  <a:ext uri="{0D108BD9-81ED-4DB2-BD59-A6C34878D82A}">
                    <a16:rowId xmlns:a16="http://schemas.microsoft.com/office/drawing/2014/main" val="511437500"/>
                  </a:ext>
                </a:extLst>
              </a:tr>
              <a:tr h="370840">
                <a:tc>
                  <a:txBody>
                    <a:bodyPr/>
                    <a:lstStyle/>
                    <a:p>
                      <a:pPr algn="ctr"/>
                      <a:r>
                        <a:rPr lang="es-ES" b="1" dirty="0"/>
                        <a:t>M</a:t>
                      </a:r>
                      <a:endParaRPr lang="es-PE" b="1" dirty="0"/>
                    </a:p>
                  </a:txBody>
                  <a:tcPr>
                    <a:solidFill>
                      <a:schemeClr val="bg2"/>
                    </a:solidFill>
                  </a:tcPr>
                </a:tc>
                <a:tc>
                  <a:txBody>
                    <a:bodyPr/>
                    <a:lstStyle/>
                    <a:p>
                      <a:r>
                        <a:rPr lang="es-ES" dirty="0"/>
                        <a:t>Mensual</a:t>
                      </a:r>
                      <a:endParaRPr lang="es-PE" dirty="0"/>
                    </a:p>
                  </a:txBody>
                  <a:tcPr>
                    <a:solidFill>
                      <a:schemeClr val="bg2"/>
                    </a:solidFill>
                  </a:tcPr>
                </a:tc>
                <a:extLst>
                  <a:ext uri="{0D108BD9-81ED-4DB2-BD59-A6C34878D82A}">
                    <a16:rowId xmlns:a16="http://schemas.microsoft.com/office/drawing/2014/main" val="261337782"/>
                  </a:ext>
                </a:extLst>
              </a:tr>
              <a:tr h="370840">
                <a:tc>
                  <a:txBody>
                    <a:bodyPr/>
                    <a:lstStyle/>
                    <a:p>
                      <a:pPr algn="ctr"/>
                      <a:r>
                        <a:rPr lang="es-ES" b="1" dirty="0"/>
                        <a:t>B</a:t>
                      </a:r>
                      <a:endParaRPr lang="es-PE" b="1" dirty="0"/>
                    </a:p>
                  </a:txBody>
                  <a:tcPr>
                    <a:solidFill>
                      <a:srgbClr val="F7F7F7"/>
                    </a:solidFill>
                  </a:tcPr>
                </a:tc>
                <a:tc>
                  <a:txBody>
                    <a:bodyPr/>
                    <a:lstStyle/>
                    <a:p>
                      <a:r>
                        <a:rPr lang="es-ES" dirty="0"/>
                        <a:t>Bimestral</a:t>
                      </a:r>
                      <a:endParaRPr lang="es-PE" dirty="0"/>
                    </a:p>
                  </a:txBody>
                  <a:tcPr>
                    <a:solidFill>
                      <a:srgbClr val="F7F7F7"/>
                    </a:solidFill>
                  </a:tcPr>
                </a:tc>
                <a:extLst>
                  <a:ext uri="{0D108BD9-81ED-4DB2-BD59-A6C34878D82A}">
                    <a16:rowId xmlns:a16="http://schemas.microsoft.com/office/drawing/2014/main" val="3759850334"/>
                  </a:ext>
                </a:extLst>
              </a:tr>
              <a:tr h="370840">
                <a:tc>
                  <a:txBody>
                    <a:bodyPr/>
                    <a:lstStyle/>
                    <a:p>
                      <a:pPr algn="ctr"/>
                      <a:r>
                        <a:rPr lang="es-ES" b="1" dirty="0"/>
                        <a:t>T</a:t>
                      </a:r>
                      <a:endParaRPr lang="es-PE" b="1" dirty="0"/>
                    </a:p>
                  </a:txBody>
                  <a:tcPr>
                    <a:solidFill>
                      <a:schemeClr val="bg2"/>
                    </a:solidFill>
                  </a:tcPr>
                </a:tc>
                <a:tc>
                  <a:txBody>
                    <a:bodyPr/>
                    <a:lstStyle/>
                    <a:p>
                      <a:r>
                        <a:rPr lang="es-ES" dirty="0"/>
                        <a:t>Trimestral</a:t>
                      </a:r>
                      <a:endParaRPr lang="es-PE" dirty="0"/>
                    </a:p>
                  </a:txBody>
                  <a:tcPr>
                    <a:solidFill>
                      <a:schemeClr val="bg2"/>
                    </a:solidFill>
                  </a:tcPr>
                </a:tc>
                <a:extLst>
                  <a:ext uri="{0D108BD9-81ED-4DB2-BD59-A6C34878D82A}">
                    <a16:rowId xmlns:a16="http://schemas.microsoft.com/office/drawing/2014/main" val="4177834851"/>
                  </a:ext>
                </a:extLst>
              </a:tr>
              <a:tr h="370840">
                <a:tc>
                  <a:txBody>
                    <a:bodyPr/>
                    <a:lstStyle/>
                    <a:p>
                      <a:pPr algn="ctr"/>
                      <a:r>
                        <a:rPr lang="es-ES" b="1" dirty="0"/>
                        <a:t>C</a:t>
                      </a:r>
                      <a:endParaRPr lang="es-PE" b="1" dirty="0"/>
                    </a:p>
                  </a:txBody>
                  <a:tcPr>
                    <a:solidFill>
                      <a:srgbClr val="F7F7F7"/>
                    </a:solidFill>
                  </a:tcPr>
                </a:tc>
                <a:tc>
                  <a:txBody>
                    <a:bodyPr/>
                    <a:lstStyle/>
                    <a:p>
                      <a:r>
                        <a:rPr lang="es-ES" dirty="0"/>
                        <a:t>Cuatrimestral</a:t>
                      </a:r>
                      <a:endParaRPr lang="es-PE" dirty="0"/>
                    </a:p>
                  </a:txBody>
                  <a:tcPr>
                    <a:solidFill>
                      <a:srgbClr val="F7F7F7"/>
                    </a:solidFill>
                  </a:tcPr>
                </a:tc>
                <a:extLst>
                  <a:ext uri="{0D108BD9-81ED-4DB2-BD59-A6C34878D82A}">
                    <a16:rowId xmlns:a16="http://schemas.microsoft.com/office/drawing/2014/main" val="272307897"/>
                  </a:ext>
                </a:extLst>
              </a:tr>
              <a:tr h="370840">
                <a:tc>
                  <a:txBody>
                    <a:bodyPr/>
                    <a:lstStyle/>
                    <a:p>
                      <a:pPr algn="ctr"/>
                      <a:r>
                        <a:rPr lang="es-ES" b="1" dirty="0"/>
                        <a:t>S</a:t>
                      </a:r>
                      <a:endParaRPr lang="es-PE" b="1" dirty="0"/>
                    </a:p>
                  </a:txBody>
                  <a:tcPr>
                    <a:solidFill>
                      <a:schemeClr val="bg2"/>
                    </a:solidFill>
                  </a:tcPr>
                </a:tc>
                <a:tc>
                  <a:txBody>
                    <a:bodyPr/>
                    <a:lstStyle/>
                    <a:p>
                      <a:r>
                        <a:rPr lang="es-ES" dirty="0"/>
                        <a:t>Semestral</a:t>
                      </a:r>
                      <a:endParaRPr lang="es-PE" dirty="0"/>
                    </a:p>
                  </a:txBody>
                  <a:tcPr>
                    <a:solidFill>
                      <a:schemeClr val="bg2"/>
                    </a:solidFill>
                  </a:tcPr>
                </a:tc>
                <a:extLst>
                  <a:ext uri="{0D108BD9-81ED-4DB2-BD59-A6C34878D82A}">
                    <a16:rowId xmlns:a16="http://schemas.microsoft.com/office/drawing/2014/main" val="4105150676"/>
                  </a:ext>
                </a:extLst>
              </a:tr>
              <a:tr h="370840">
                <a:tc>
                  <a:txBody>
                    <a:bodyPr/>
                    <a:lstStyle/>
                    <a:p>
                      <a:pPr algn="ctr"/>
                      <a:r>
                        <a:rPr lang="es-ES" b="1" dirty="0"/>
                        <a:t>A</a:t>
                      </a:r>
                      <a:endParaRPr lang="es-PE" b="1" dirty="0"/>
                    </a:p>
                  </a:txBody>
                  <a:tcPr>
                    <a:solidFill>
                      <a:srgbClr val="F7F7F7"/>
                    </a:solidFill>
                  </a:tcPr>
                </a:tc>
                <a:tc>
                  <a:txBody>
                    <a:bodyPr/>
                    <a:lstStyle/>
                    <a:p>
                      <a:r>
                        <a:rPr lang="es-ES" dirty="0"/>
                        <a:t>Anual</a:t>
                      </a:r>
                      <a:endParaRPr lang="es-PE" dirty="0"/>
                    </a:p>
                  </a:txBody>
                  <a:tcPr>
                    <a:solidFill>
                      <a:srgbClr val="F7F7F7"/>
                    </a:solidFill>
                  </a:tcPr>
                </a:tc>
                <a:extLst>
                  <a:ext uri="{0D108BD9-81ED-4DB2-BD59-A6C34878D82A}">
                    <a16:rowId xmlns:a16="http://schemas.microsoft.com/office/drawing/2014/main" val="323075377"/>
                  </a:ext>
                </a:extLst>
              </a:tr>
            </a:tbl>
          </a:graphicData>
        </a:graphic>
      </p:graphicFrame>
    </p:spTree>
    <p:extLst>
      <p:ext uri="{BB962C8B-B14F-4D97-AF65-F5344CB8AC3E}">
        <p14:creationId xmlns:p14="http://schemas.microsoft.com/office/powerpoint/2010/main" val="33613348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left)">
                                      <p:cBhvr>
                                        <p:cTn id="10" dur="500"/>
                                        <p:tgtEl>
                                          <p:spTgt spid="8"/>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00"/>
                                        <p:tgtEl>
                                          <p:spTgt spid="5"/>
                                        </p:tgtEl>
                                      </p:cBhvr>
                                    </p:animEffect>
                                  </p:childTnLst>
                                </p:cTn>
                              </p:par>
                            </p:childTnLst>
                          </p:cTn>
                        </p:par>
                        <p:par>
                          <p:cTn id="15" fill="hold">
                            <p:stCondLst>
                              <p:cond delay="1000"/>
                            </p:stCondLst>
                            <p:childTnLst>
                              <p:par>
                                <p:cTn id="16" presetID="22" presetClass="entr" presetSubtype="1" fill="hold" nodeType="after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wipe(up)">
                                      <p:cBhvr>
                                        <p:cTn id="18"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7CAB2B86-4E3B-C98C-411E-958BEFE187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2528" y="6154887"/>
            <a:ext cx="2234242" cy="525923"/>
          </a:xfrm>
          <a:prstGeom prst="rect">
            <a:avLst/>
          </a:prstGeom>
        </p:spPr>
      </p:pic>
      <p:pic>
        <p:nvPicPr>
          <p:cNvPr id="4" name="Picture 4" descr="Ellucian Student Reseñas 2026: Detalles, Precios y Características | G2">
            <a:extLst>
              <a:ext uri="{FF2B5EF4-FFF2-40B4-BE49-F238E27FC236}">
                <a16:creationId xmlns:a16="http://schemas.microsoft.com/office/drawing/2014/main" id="{7352B780-8C7C-7B91-F3EE-5E6EF2C2E4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98101" y="5901780"/>
            <a:ext cx="1821371" cy="956220"/>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0AEBA78F-8C98-5D4D-384F-95B753FFADE4}"/>
              </a:ext>
            </a:extLst>
          </p:cNvPr>
          <p:cNvSpPr txBox="1"/>
          <p:nvPr/>
        </p:nvSpPr>
        <p:spPr>
          <a:xfrm>
            <a:off x="431320" y="241540"/>
            <a:ext cx="7295587" cy="523220"/>
          </a:xfrm>
          <a:prstGeom prst="rect">
            <a:avLst/>
          </a:prstGeom>
          <a:noFill/>
        </p:spPr>
        <p:txBody>
          <a:bodyPr wrap="none" rtlCol="0">
            <a:spAutoFit/>
          </a:bodyPr>
          <a:lstStyle/>
          <a:p>
            <a:r>
              <a:rPr lang="es-ES" sz="2800" b="1" dirty="0">
                <a:latin typeface="Montserrat" pitchFamily="2" charset="0"/>
              </a:rPr>
              <a:t>CRONOGRAMA ACADÉMICO IDIOMAS</a:t>
            </a:r>
            <a:endParaRPr lang="es-PE" sz="2800" b="1" dirty="0">
              <a:latin typeface="Montserrat" pitchFamily="2" charset="0"/>
            </a:endParaRPr>
          </a:p>
        </p:txBody>
      </p:sp>
      <p:sp>
        <p:nvSpPr>
          <p:cNvPr id="8" name="Rectángulo 7">
            <a:extLst>
              <a:ext uri="{FF2B5EF4-FFF2-40B4-BE49-F238E27FC236}">
                <a16:creationId xmlns:a16="http://schemas.microsoft.com/office/drawing/2014/main" id="{A16BCE08-E23C-F264-A6E3-E4019979D2E2}"/>
              </a:ext>
            </a:extLst>
          </p:cNvPr>
          <p:cNvSpPr/>
          <p:nvPr/>
        </p:nvSpPr>
        <p:spPr>
          <a:xfrm>
            <a:off x="7663064" y="241540"/>
            <a:ext cx="4528935" cy="445583"/>
          </a:xfrm>
          <a:prstGeom prst="rect">
            <a:avLst/>
          </a:prstGeom>
          <a:gradFill flip="none" rotWithShape="1">
            <a:gsLst>
              <a:gs pos="0">
                <a:schemeClr val="accent6">
                  <a:lumMod val="0"/>
                  <a:lumOff val="100000"/>
                </a:schemeClr>
              </a:gs>
              <a:gs pos="66000">
                <a:schemeClr val="accent6">
                  <a:lumMod val="100000"/>
                </a:schemeClr>
              </a:gs>
            </a:gsLst>
            <a:lin ang="0" scaled="1"/>
            <a:tileRect/>
          </a:gra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s-PE"/>
          </a:p>
        </p:txBody>
      </p:sp>
      <p:sp>
        <p:nvSpPr>
          <p:cNvPr id="6" name="CuadroTexto 5">
            <a:extLst>
              <a:ext uri="{FF2B5EF4-FFF2-40B4-BE49-F238E27FC236}">
                <a16:creationId xmlns:a16="http://schemas.microsoft.com/office/drawing/2014/main" id="{AC33DC36-253A-547B-7A30-A152C2F6B4CE}"/>
              </a:ext>
            </a:extLst>
          </p:cNvPr>
          <p:cNvSpPr txBox="1"/>
          <p:nvPr/>
        </p:nvSpPr>
        <p:spPr>
          <a:xfrm>
            <a:off x="4528936" y="6386396"/>
            <a:ext cx="3134128" cy="276999"/>
          </a:xfrm>
          <a:prstGeom prst="rect">
            <a:avLst/>
          </a:prstGeom>
          <a:noFill/>
        </p:spPr>
        <p:txBody>
          <a:bodyPr wrap="none" rtlCol="0">
            <a:spAutoFit/>
          </a:bodyPr>
          <a:lstStyle/>
          <a:p>
            <a:pPr algn="ctr"/>
            <a:r>
              <a:rPr lang="es-ES" sz="1200" i="1" dirty="0"/>
              <a:t>Elaborado por: Ing. Liliana Ocampo Moreno</a:t>
            </a:r>
            <a:endParaRPr lang="es-PE" sz="1200" i="1" dirty="0"/>
          </a:p>
        </p:txBody>
      </p:sp>
      <p:graphicFrame>
        <p:nvGraphicFramePr>
          <p:cNvPr id="2" name="Tabla 1">
            <a:extLst>
              <a:ext uri="{FF2B5EF4-FFF2-40B4-BE49-F238E27FC236}">
                <a16:creationId xmlns:a16="http://schemas.microsoft.com/office/drawing/2014/main" id="{9A465329-22E7-9DB2-412A-372697E6482B}"/>
              </a:ext>
            </a:extLst>
          </p:cNvPr>
          <p:cNvGraphicFramePr>
            <a:graphicFrameLocks noGrp="1"/>
          </p:cNvGraphicFramePr>
          <p:nvPr>
            <p:extLst>
              <p:ext uri="{D42A27DB-BD31-4B8C-83A1-F6EECF244321}">
                <p14:modId xmlns:p14="http://schemas.microsoft.com/office/powerpoint/2010/main" val="1520537658"/>
              </p:ext>
            </p:extLst>
          </p:nvPr>
        </p:nvGraphicFramePr>
        <p:xfrm>
          <a:off x="431320" y="838543"/>
          <a:ext cx="11509664" cy="5242560"/>
        </p:xfrm>
        <a:graphic>
          <a:graphicData uri="http://schemas.openxmlformats.org/drawingml/2006/table">
            <a:tbl>
              <a:tblPr/>
              <a:tblGrid>
                <a:gridCol w="1071943">
                  <a:extLst>
                    <a:ext uri="{9D8B030D-6E8A-4147-A177-3AD203B41FA5}">
                      <a16:colId xmlns:a16="http://schemas.microsoft.com/office/drawing/2014/main" val="1368989997"/>
                    </a:ext>
                  </a:extLst>
                </a:gridCol>
                <a:gridCol w="1071943">
                  <a:extLst>
                    <a:ext uri="{9D8B030D-6E8A-4147-A177-3AD203B41FA5}">
                      <a16:colId xmlns:a16="http://schemas.microsoft.com/office/drawing/2014/main" val="1207633649"/>
                    </a:ext>
                  </a:extLst>
                </a:gridCol>
                <a:gridCol w="1616999">
                  <a:extLst>
                    <a:ext uri="{9D8B030D-6E8A-4147-A177-3AD203B41FA5}">
                      <a16:colId xmlns:a16="http://schemas.microsoft.com/office/drawing/2014/main" val="2368633657"/>
                    </a:ext>
                  </a:extLst>
                </a:gridCol>
                <a:gridCol w="881167">
                  <a:extLst>
                    <a:ext uri="{9D8B030D-6E8A-4147-A177-3AD203B41FA5}">
                      <a16:colId xmlns:a16="http://schemas.microsoft.com/office/drawing/2014/main" val="1175077991"/>
                    </a:ext>
                  </a:extLst>
                </a:gridCol>
                <a:gridCol w="763068">
                  <a:extLst>
                    <a:ext uri="{9D8B030D-6E8A-4147-A177-3AD203B41FA5}">
                      <a16:colId xmlns:a16="http://schemas.microsoft.com/office/drawing/2014/main" val="3976670645"/>
                    </a:ext>
                  </a:extLst>
                </a:gridCol>
                <a:gridCol w="763068">
                  <a:extLst>
                    <a:ext uri="{9D8B030D-6E8A-4147-A177-3AD203B41FA5}">
                      <a16:colId xmlns:a16="http://schemas.microsoft.com/office/drawing/2014/main" val="534549670"/>
                    </a:ext>
                  </a:extLst>
                </a:gridCol>
                <a:gridCol w="763068">
                  <a:extLst>
                    <a:ext uri="{9D8B030D-6E8A-4147-A177-3AD203B41FA5}">
                      <a16:colId xmlns:a16="http://schemas.microsoft.com/office/drawing/2014/main" val="3277531109"/>
                    </a:ext>
                  </a:extLst>
                </a:gridCol>
                <a:gridCol w="763068">
                  <a:extLst>
                    <a:ext uri="{9D8B030D-6E8A-4147-A177-3AD203B41FA5}">
                      <a16:colId xmlns:a16="http://schemas.microsoft.com/office/drawing/2014/main" val="392860015"/>
                    </a:ext>
                  </a:extLst>
                </a:gridCol>
                <a:gridCol w="763068">
                  <a:extLst>
                    <a:ext uri="{9D8B030D-6E8A-4147-A177-3AD203B41FA5}">
                      <a16:colId xmlns:a16="http://schemas.microsoft.com/office/drawing/2014/main" val="66783011"/>
                    </a:ext>
                  </a:extLst>
                </a:gridCol>
                <a:gridCol w="763068">
                  <a:extLst>
                    <a:ext uri="{9D8B030D-6E8A-4147-A177-3AD203B41FA5}">
                      <a16:colId xmlns:a16="http://schemas.microsoft.com/office/drawing/2014/main" val="2308158793"/>
                    </a:ext>
                  </a:extLst>
                </a:gridCol>
                <a:gridCol w="763068">
                  <a:extLst>
                    <a:ext uri="{9D8B030D-6E8A-4147-A177-3AD203B41FA5}">
                      <a16:colId xmlns:a16="http://schemas.microsoft.com/office/drawing/2014/main" val="1338561530"/>
                    </a:ext>
                  </a:extLst>
                </a:gridCol>
                <a:gridCol w="763068">
                  <a:extLst>
                    <a:ext uri="{9D8B030D-6E8A-4147-A177-3AD203B41FA5}">
                      <a16:colId xmlns:a16="http://schemas.microsoft.com/office/drawing/2014/main" val="1278967688"/>
                    </a:ext>
                  </a:extLst>
                </a:gridCol>
                <a:gridCol w="763068">
                  <a:extLst>
                    <a:ext uri="{9D8B030D-6E8A-4147-A177-3AD203B41FA5}">
                      <a16:colId xmlns:a16="http://schemas.microsoft.com/office/drawing/2014/main" val="1485003453"/>
                    </a:ext>
                  </a:extLst>
                </a:gridCol>
              </a:tblGrid>
              <a:tr h="45156">
                <a:tc>
                  <a:txBody>
                    <a:bodyPr/>
                    <a:lstStyle/>
                    <a:p>
                      <a:pPr rtl="0" fontAlgn="b"/>
                      <a:r>
                        <a:rPr lang="es-PE" sz="800" b="1">
                          <a:solidFill>
                            <a:srgbClr val="FFFFFF"/>
                          </a:solidFill>
                          <a:effectLst/>
                          <a:latin typeface="+mn-lt"/>
                        </a:rPr>
                        <a:t>PERIODO</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3F3F3F"/>
                    </a:solidFill>
                  </a:tcPr>
                </a:tc>
                <a:tc>
                  <a:txBody>
                    <a:bodyPr/>
                    <a:lstStyle/>
                    <a:p>
                      <a:pPr rtl="0" fontAlgn="b"/>
                      <a:r>
                        <a:rPr lang="es-PE" sz="800" b="1" dirty="0">
                          <a:solidFill>
                            <a:srgbClr val="FFFFFF"/>
                          </a:solidFill>
                          <a:effectLst/>
                          <a:latin typeface="+mn-lt"/>
                        </a:rPr>
                        <a:t>PARTE DE PERIODO</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3F3F3F"/>
                    </a:solidFill>
                  </a:tcPr>
                </a:tc>
                <a:tc>
                  <a:txBody>
                    <a:bodyPr/>
                    <a:lstStyle/>
                    <a:p>
                      <a:pPr rtl="0" fontAlgn="b"/>
                      <a:r>
                        <a:rPr lang="es-PE" sz="800" b="1">
                          <a:solidFill>
                            <a:srgbClr val="FFFFFF"/>
                          </a:solidFill>
                          <a:effectLst/>
                          <a:latin typeface="+mn-lt"/>
                        </a:rPr>
                        <a:t>CURSO</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3F3F3F"/>
                    </a:solidFill>
                  </a:tcPr>
                </a:tc>
                <a:tc>
                  <a:txBody>
                    <a:bodyPr/>
                    <a:lstStyle/>
                    <a:p>
                      <a:pPr algn="ctr" rtl="0" fontAlgn="b"/>
                      <a:r>
                        <a:rPr lang="es-PE" sz="800" b="1">
                          <a:solidFill>
                            <a:srgbClr val="FFFFFF"/>
                          </a:solidFill>
                          <a:effectLst/>
                          <a:latin typeface="+mn-lt"/>
                        </a:rPr>
                        <a:t>DURACIÓN</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3F3F3F"/>
                    </a:solidFill>
                  </a:tcPr>
                </a:tc>
                <a:tc>
                  <a:txBody>
                    <a:bodyPr/>
                    <a:lstStyle/>
                    <a:p>
                      <a:pPr algn="ctr" rtl="0" fontAlgn="b"/>
                      <a:r>
                        <a:rPr lang="es-PE" sz="800" b="1">
                          <a:solidFill>
                            <a:srgbClr val="FFFFFF"/>
                          </a:solidFill>
                          <a:effectLst/>
                          <a:latin typeface="+mn-lt"/>
                        </a:rPr>
                        <a:t>ENERO</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3F3F3F"/>
                    </a:solidFill>
                  </a:tcPr>
                </a:tc>
                <a:tc>
                  <a:txBody>
                    <a:bodyPr/>
                    <a:lstStyle/>
                    <a:p>
                      <a:pPr algn="ctr" rtl="0" fontAlgn="b"/>
                      <a:r>
                        <a:rPr lang="es-PE" sz="800" b="1">
                          <a:solidFill>
                            <a:srgbClr val="FFFFFF"/>
                          </a:solidFill>
                          <a:effectLst/>
                          <a:latin typeface="+mn-lt"/>
                        </a:rPr>
                        <a:t>FEBRERO</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3F3F3F"/>
                    </a:solidFill>
                  </a:tcPr>
                </a:tc>
                <a:tc>
                  <a:txBody>
                    <a:bodyPr/>
                    <a:lstStyle/>
                    <a:p>
                      <a:pPr algn="ctr" rtl="0" fontAlgn="b"/>
                      <a:r>
                        <a:rPr lang="es-PE" sz="800" b="1">
                          <a:solidFill>
                            <a:srgbClr val="FFFFFF"/>
                          </a:solidFill>
                          <a:effectLst/>
                          <a:latin typeface="+mn-lt"/>
                        </a:rPr>
                        <a:t>MARZO</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3F3F3F"/>
                    </a:solidFill>
                  </a:tcPr>
                </a:tc>
                <a:tc>
                  <a:txBody>
                    <a:bodyPr/>
                    <a:lstStyle/>
                    <a:p>
                      <a:pPr algn="ctr" rtl="0" fontAlgn="b"/>
                      <a:r>
                        <a:rPr lang="es-PE" sz="800" b="1">
                          <a:solidFill>
                            <a:srgbClr val="FFFFFF"/>
                          </a:solidFill>
                          <a:effectLst/>
                          <a:latin typeface="+mn-lt"/>
                        </a:rPr>
                        <a:t>ABRIL</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3F3F3F"/>
                    </a:solidFill>
                  </a:tcPr>
                </a:tc>
                <a:tc>
                  <a:txBody>
                    <a:bodyPr/>
                    <a:lstStyle/>
                    <a:p>
                      <a:pPr algn="ctr" rtl="0" fontAlgn="b"/>
                      <a:r>
                        <a:rPr lang="es-PE" sz="800" b="1">
                          <a:solidFill>
                            <a:srgbClr val="FFFFFF"/>
                          </a:solidFill>
                          <a:effectLst/>
                          <a:latin typeface="+mn-lt"/>
                        </a:rPr>
                        <a:t>MAYO</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3F3F3F"/>
                    </a:solidFill>
                  </a:tcPr>
                </a:tc>
                <a:tc>
                  <a:txBody>
                    <a:bodyPr/>
                    <a:lstStyle/>
                    <a:p>
                      <a:pPr algn="ctr" rtl="0" fontAlgn="b"/>
                      <a:r>
                        <a:rPr lang="es-PE" sz="800" b="1">
                          <a:solidFill>
                            <a:srgbClr val="FFFFFF"/>
                          </a:solidFill>
                          <a:effectLst/>
                          <a:latin typeface="+mn-lt"/>
                        </a:rPr>
                        <a:t>JUNIO</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3F3F3F"/>
                    </a:solidFill>
                  </a:tcPr>
                </a:tc>
                <a:tc>
                  <a:txBody>
                    <a:bodyPr/>
                    <a:lstStyle/>
                    <a:p>
                      <a:pPr algn="ctr" rtl="0" fontAlgn="b"/>
                      <a:r>
                        <a:rPr lang="es-PE" sz="800" b="1">
                          <a:solidFill>
                            <a:srgbClr val="FFFFFF"/>
                          </a:solidFill>
                          <a:effectLst/>
                          <a:latin typeface="+mn-lt"/>
                        </a:rPr>
                        <a:t>JULIO</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3F3F3F"/>
                    </a:solidFill>
                  </a:tcPr>
                </a:tc>
                <a:tc>
                  <a:txBody>
                    <a:bodyPr/>
                    <a:lstStyle/>
                    <a:p>
                      <a:pPr algn="ctr" rtl="0" fontAlgn="b"/>
                      <a:r>
                        <a:rPr lang="es-PE" sz="800" b="1">
                          <a:solidFill>
                            <a:srgbClr val="FFFFFF"/>
                          </a:solidFill>
                          <a:effectLst/>
                          <a:latin typeface="+mn-lt"/>
                        </a:rPr>
                        <a:t>AGOSTO</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3F3F3F"/>
                    </a:solidFill>
                  </a:tcPr>
                </a:tc>
                <a:tc>
                  <a:txBody>
                    <a:bodyPr/>
                    <a:lstStyle/>
                    <a:p>
                      <a:pPr algn="ctr" rtl="0" fontAlgn="b"/>
                      <a:r>
                        <a:rPr lang="es-PE" sz="800" b="1">
                          <a:solidFill>
                            <a:srgbClr val="FFFFFF"/>
                          </a:solidFill>
                          <a:effectLst/>
                          <a:latin typeface="+mn-lt"/>
                        </a:rPr>
                        <a:t>SETIEMBRE</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3F3F3F"/>
                    </a:solidFill>
                  </a:tcPr>
                </a:tc>
                <a:extLst>
                  <a:ext uri="{0D108BD9-81ED-4DB2-BD59-A6C34878D82A}">
                    <a16:rowId xmlns:a16="http://schemas.microsoft.com/office/drawing/2014/main" val="2531412315"/>
                  </a:ext>
                </a:extLst>
              </a:tr>
              <a:tr h="67733">
                <a:tc rowSpan="18">
                  <a:txBody>
                    <a:bodyPr/>
                    <a:lstStyle/>
                    <a:p>
                      <a:pPr algn="ctr" rtl="0" fontAlgn="ctr"/>
                      <a:r>
                        <a:rPr lang="es-PE" sz="800" b="0">
                          <a:effectLst/>
                          <a:latin typeface="+mn-lt"/>
                        </a:rPr>
                        <a:t>202651</a:t>
                      </a:r>
                    </a:p>
                  </a:txBody>
                  <a:tcPr marL="2079" marR="2079"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rowSpan="6">
                  <a:txBody>
                    <a:bodyPr/>
                    <a:lstStyle/>
                    <a:p>
                      <a:pPr algn="ctr" rtl="0" fontAlgn="ctr"/>
                      <a:r>
                        <a:rPr lang="es-PE" sz="800" b="0">
                          <a:effectLst/>
                          <a:latin typeface="+mn-lt"/>
                        </a:rPr>
                        <a:t>I01</a:t>
                      </a:r>
                    </a:p>
                  </a:txBody>
                  <a:tcPr marL="2079" marR="2079"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r>
                        <a:rPr lang="es-PE" sz="800" b="0">
                          <a:effectLst/>
                          <a:latin typeface="+mn-lt"/>
                        </a:rPr>
                        <a:t>BASIC I</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r>
                        <a:rPr lang="es-PE" sz="800" b="0">
                          <a:effectLst/>
                          <a:latin typeface="+mn-lt"/>
                        </a:rPr>
                        <a:t>6 SEMANAS</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rtl="0" fontAlgn="b"/>
                      <a:r>
                        <a:rPr lang="es-PE" sz="800" b="0">
                          <a:effectLst/>
                          <a:latin typeface="+mn-lt"/>
                        </a:rPr>
                        <a:t>5/1/2026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9F2D0"/>
                    </a:solidFill>
                  </a:tcPr>
                </a:tc>
                <a:tc>
                  <a:txBody>
                    <a:bodyPr/>
                    <a:lstStyle/>
                    <a:p>
                      <a:pPr algn="r" rtl="0" fontAlgn="b"/>
                      <a:r>
                        <a:rPr lang="es-PE" sz="800" b="0">
                          <a:effectLst/>
                          <a:latin typeface="+mn-lt"/>
                        </a:rPr>
                        <a:t>15/2/2026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9F2D0"/>
                    </a:solid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07968123"/>
                  </a:ext>
                </a:extLst>
              </a:tr>
              <a:tr h="67733">
                <a:tc vMerge="1">
                  <a:txBody>
                    <a:bodyPr/>
                    <a:lstStyle/>
                    <a:p>
                      <a:endParaRPr lang="es-PE"/>
                    </a:p>
                  </a:txBody>
                  <a:tcPr/>
                </a:tc>
                <a:tc vMerge="1">
                  <a:txBody>
                    <a:bodyPr/>
                    <a:lstStyle/>
                    <a:p>
                      <a:endParaRPr lang="es-PE"/>
                    </a:p>
                  </a:txBody>
                  <a:tcPr/>
                </a:tc>
                <a:tc>
                  <a:txBody>
                    <a:bodyPr/>
                    <a:lstStyle/>
                    <a:p>
                      <a:pPr rtl="0" fontAlgn="b"/>
                      <a:r>
                        <a:rPr lang="es-PE" sz="800" b="0">
                          <a:effectLst/>
                          <a:latin typeface="+mn-lt"/>
                        </a:rPr>
                        <a:t>BASIC II</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r>
                        <a:rPr lang="es-PE" sz="800" b="0">
                          <a:effectLst/>
                          <a:latin typeface="+mn-lt"/>
                        </a:rPr>
                        <a:t>6 SEMANAS</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rtl="0" fontAlgn="b"/>
                      <a:r>
                        <a:rPr lang="es-PE" sz="800" b="0">
                          <a:effectLst/>
                          <a:latin typeface="+mn-lt"/>
                        </a:rPr>
                        <a:t>5/1/2026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9F2D0"/>
                    </a:solidFill>
                  </a:tcPr>
                </a:tc>
                <a:tc>
                  <a:txBody>
                    <a:bodyPr/>
                    <a:lstStyle/>
                    <a:p>
                      <a:pPr algn="r" rtl="0" fontAlgn="b"/>
                      <a:r>
                        <a:rPr lang="es-PE" sz="800" b="0">
                          <a:effectLst/>
                          <a:latin typeface="+mn-lt"/>
                        </a:rPr>
                        <a:t>15/2/2026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9F2D0"/>
                    </a:solid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5874524"/>
                  </a:ext>
                </a:extLst>
              </a:tr>
              <a:tr h="67733">
                <a:tc vMerge="1">
                  <a:txBody>
                    <a:bodyPr/>
                    <a:lstStyle/>
                    <a:p>
                      <a:endParaRPr lang="es-PE"/>
                    </a:p>
                  </a:txBody>
                  <a:tcPr/>
                </a:tc>
                <a:tc vMerge="1">
                  <a:txBody>
                    <a:bodyPr/>
                    <a:lstStyle/>
                    <a:p>
                      <a:endParaRPr lang="es-PE"/>
                    </a:p>
                  </a:txBody>
                  <a:tcPr/>
                </a:tc>
                <a:tc>
                  <a:txBody>
                    <a:bodyPr/>
                    <a:lstStyle/>
                    <a:p>
                      <a:pPr rtl="0" fontAlgn="b"/>
                      <a:r>
                        <a:rPr lang="es-PE" sz="800" b="0">
                          <a:effectLst/>
                          <a:latin typeface="+mn-lt"/>
                        </a:rPr>
                        <a:t>BASIC III</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r>
                        <a:rPr lang="es-PE" sz="800" b="0">
                          <a:effectLst/>
                          <a:latin typeface="+mn-lt"/>
                        </a:rPr>
                        <a:t>12 SEMANAS</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rtl="0" fontAlgn="b"/>
                      <a:r>
                        <a:rPr lang="es-PE" sz="800" b="0">
                          <a:effectLst/>
                          <a:latin typeface="+mn-lt"/>
                        </a:rPr>
                        <a:t>5/1/2026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9F2D0"/>
                    </a:solid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9F2D0"/>
                    </a:solidFill>
                  </a:tcPr>
                </a:tc>
                <a:tc>
                  <a:txBody>
                    <a:bodyPr/>
                    <a:lstStyle/>
                    <a:p>
                      <a:pPr algn="r" rtl="0" fontAlgn="b"/>
                      <a:r>
                        <a:rPr lang="es-PE" sz="800" b="0">
                          <a:effectLst/>
                          <a:latin typeface="+mn-lt"/>
                        </a:rPr>
                        <a:t>31/3/2026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9F2D0"/>
                    </a:solid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41522840"/>
                  </a:ext>
                </a:extLst>
              </a:tr>
              <a:tr h="67733">
                <a:tc vMerge="1">
                  <a:txBody>
                    <a:bodyPr/>
                    <a:lstStyle/>
                    <a:p>
                      <a:endParaRPr lang="es-PE"/>
                    </a:p>
                  </a:txBody>
                  <a:tcPr/>
                </a:tc>
                <a:tc vMerge="1">
                  <a:txBody>
                    <a:bodyPr/>
                    <a:lstStyle/>
                    <a:p>
                      <a:endParaRPr lang="es-PE"/>
                    </a:p>
                  </a:txBody>
                  <a:tcPr/>
                </a:tc>
                <a:tc>
                  <a:txBody>
                    <a:bodyPr/>
                    <a:lstStyle/>
                    <a:p>
                      <a:pPr rtl="0" fontAlgn="b"/>
                      <a:r>
                        <a:rPr lang="es-PE" sz="800" b="0">
                          <a:effectLst/>
                          <a:latin typeface="+mn-lt"/>
                        </a:rPr>
                        <a:t>INTERMEDIATE I</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r>
                        <a:rPr lang="es-PE" sz="800" b="0">
                          <a:effectLst/>
                          <a:latin typeface="+mn-lt"/>
                        </a:rPr>
                        <a:t>6 SEMANAS</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rtl="0" fontAlgn="b"/>
                      <a:r>
                        <a:rPr lang="es-PE" sz="800" b="0">
                          <a:effectLst/>
                          <a:latin typeface="+mn-lt"/>
                        </a:rPr>
                        <a:t>5/1/2026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9F2D0"/>
                    </a:solidFill>
                  </a:tcPr>
                </a:tc>
                <a:tc>
                  <a:txBody>
                    <a:bodyPr/>
                    <a:lstStyle/>
                    <a:p>
                      <a:pPr algn="r" rtl="0" fontAlgn="b"/>
                      <a:r>
                        <a:rPr lang="es-PE" sz="800" b="0">
                          <a:effectLst/>
                          <a:latin typeface="+mn-lt"/>
                        </a:rPr>
                        <a:t>15/2/2026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9F2D0"/>
                    </a:solid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82811993"/>
                  </a:ext>
                </a:extLst>
              </a:tr>
              <a:tr h="67733">
                <a:tc vMerge="1">
                  <a:txBody>
                    <a:bodyPr/>
                    <a:lstStyle/>
                    <a:p>
                      <a:endParaRPr lang="es-PE"/>
                    </a:p>
                  </a:txBody>
                  <a:tcPr/>
                </a:tc>
                <a:tc vMerge="1">
                  <a:txBody>
                    <a:bodyPr/>
                    <a:lstStyle/>
                    <a:p>
                      <a:endParaRPr lang="es-PE"/>
                    </a:p>
                  </a:txBody>
                  <a:tcPr/>
                </a:tc>
                <a:tc>
                  <a:txBody>
                    <a:bodyPr/>
                    <a:lstStyle/>
                    <a:p>
                      <a:pPr rtl="0" fontAlgn="b"/>
                      <a:r>
                        <a:rPr lang="es-PE" sz="800" b="0">
                          <a:effectLst/>
                          <a:latin typeface="+mn-lt"/>
                        </a:rPr>
                        <a:t>INTERMEDIATE II</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r>
                        <a:rPr lang="es-PE" sz="800" b="0">
                          <a:effectLst/>
                          <a:latin typeface="+mn-lt"/>
                        </a:rPr>
                        <a:t>6 SEMANAS</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rtl="0" fontAlgn="b"/>
                      <a:r>
                        <a:rPr lang="es-PE" sz="800" b="0">
                          <a:effectLst/>
                          <a:latin typeface="+mn-lt"/>
                        </a:rPr>
                        <a:t>5/1/2026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9F2D0"/>
                    </a:solidFill>
                  </a:tcPr>
                </a:tc>
                <a:tc>
                  <a:txBody>
                    <a:bodyPr/>
                    <a:lstStyle/>
                    <a:p>
                      <a:pPr algn="r" rtl="0" fontAlgn="b"/>
                      <a:r>
                        <a:rPr lang="es-PE" sz="800" b="0">
                          <a:effectLst/>
                          <a:latin typeface="+mn-lt"/>
                        </a:rPr>
                        <a:t>15/2/2026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9F2D0"/>
                    </a:solid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74757368"/>
                  </a:ext>
                </a:extLst>
              </a:tr>
              <a:tr h="67733">
                <a:tc vMerge="1">
                  <a:txBody>
                    <a:bodyPr/>
                    <a:lstStyle/>
                    <a:p>
                      <a:endParaRPr lang="es-PE"/>
                    </a:p>
                  </a:txBody>
                  <a:tcPr/>
                </a:tc>
                <a:tc vMerge="1">
                  <a:txBody>
                    <a:bodyPr/>
                    <a:lstStyle/>
                    <a:p>
                      <a:endParaRPr lang="es-PE"/>
                    </a:p>
                  </a:txBody>
                  <a:tcPr/>
                </a:tc>
                <a:tc>
                  <a:txBody>
                    <a:bodyPr/>
                    <a:lstStyle/>
                    <a:p>
                      <a:pPr rtl="0" fontAlgn="b"/>
                      <a:r>
                        <a:rPr lang="es-PE" sz="800" b="0">
                          <a:effectLst/>
                          <a:latin typeface="+mn-lt"/>
                        </a:rPr>
                        <a:t>INTERMEDIATE III</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r>
                        <a:rPr lang="es-PE" sz="800" b="0">
                          <a:effectLst/>
                          <a:latin typeface="+mn-lt"/>
                        </a:rPr>
                        <a:t>12 SEMANAS</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rtl="0" fontAlgn="b"/>
                      <a:r>
                        <a:rPr lang="es-PE" sz="800" b="0">
                          <a:effectLst/>
                          <a:latin typeface="+mn-lt"/>
                        </a:rPr>
                        <a:t>5/1/2026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9F2D0"/>
                    </a:solid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9F2D0"/>
                    </a:solidFill>
                  </a:tcPr>
                </a:tc>
                <a:tc>
                  <a:txBody>
                    <a:bodyPr/>
                    <a:lstStyle/>
                    <a:p>
                      <a:pPr algn="r" rtl="0" fontAlgn="b"/>
                      <a:r>
                        <a:rPr lang="es-PE" sz="800" b="0">
                          <a:effectLst/>
                          <a:latin typeface="+mn-lt"/>
                        </a:rPr>
                        <a:t>31/3/2026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9F2D0"/>
                    </a:solid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15191512"/>
                  </a:ext>
                </a:extLst>
              </a:tr>
              <a:tr h="67733">
                <a:tc vMerge="1">
                  <a:txBody>
                    <a:bodyPr/>
                    <a:lstStyle/>
                    <a:p>
                      <a:endParaRPr lang="es-PE"/>
                    </a:p>
                  </a:txBody>
                  <a:tcPr/>
                </a:tc>
                <a:tc rowSpan="6">
                  <a:txBody>
                    <a:bodyPr/>
                    <a:lstStyle/>
                    <a:p>
                      <a:pPr algn="ctr" rtl="0" fontAlgn="ctr"/>
                      <a:r>
                        <a:rPr lang="es-PE" sz="800" b="0">
                          <a:effectLst/>
                          <a:latin typeface="+mn-lt"/>
                        </a:rPr>
                        <a:t>I02</a:t>
                      </a:r>
                    </a:p>
                  </a:txBody>
                  <a:tcPr marL="2079" marR="2079"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r>
                        <a:rPr lang="es-PE" sz="800" b="0">
                          <a:effectLst/>
                          <a:latin typeface="+mn-lt"/>
                        </a:rPr>
                        <a:t>BASIC I</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r>
                        <a:rPr lang="es-PE" sz="800" b="0">
                          <a:effectLst/>
                          <a:latin typeface="+mn-lt"/>
                        </a:rPr>
                        <a:t>8 SEMANAS</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rtl="0" fontAlgn="b"/>
                      <a:r>
                        <a:rPr lang="es-PE" sz="800" b="0">
                          <a:effectLst/>
                          <a:latin typeface="+mn-lt"/>
                        </a:rPr>
                        <a:t>2/2/2026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1CEEE"/>
                    </a:solidFill>
                  </a:tcPr>
                </a:tc>
                <a:tc>
                  <a:txBody>
                    <a:bodyPr/>
                    <a:lstStyle/>
                    <a:p>
                      <a:pPr algn="r" rtl="0" fontAlgn="b"/>
                      <a:r>
                        <a:rPr lang="es-PE" sz="800" b="0">
                          <a:effectLst/>
                          <a:latin typeface="+mn-lt"/>
                        </a:rPr>
                        <a:t>29/3/2026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1CEEE"/>
                    </a:solid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27987424"/>
                  </a:ext>
                </a:extLst>
              </a:tr>
              <a:tr h="67733">
                <a:tc vMerge="1">
                  <a:txBody>
                    <a:bodyPr/>
                    <a:lstStyle/>
                    <a:p>
                      <a:endParaRPr lang="es-PE"/>
                    </a:p>
                  </a:txBody>
                  <a:tcPr/>
                </a:tc>
                <a:tc vMerge="1">
                  <a:txBody>
                    <a:bodyPr/>
                    <a:lstStyle/>
                    <a:p>
                      <a:endParaRPr lang="es-PE"/>
                    </a:p>
                  </a:txBody>
                  <a:tcPr/>
                </a:tc>
                <a:tc>
                  <a:txBody>
                    <a:bodyPr/>
                    <a:lstStyle/>
                    <a:p>
                      <a:pPr rtl="0" fontAlgn="b"/>
                      <a:r>
                        <a:rPr lang="es-PE" sz="800" b="0">
                          <a:effectLst/>
                          <a:latin typeface="+mn-lt"/>
                        </a:rPr>
                        <a:t>BASIC II</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r>
                        <a:rPr lang="es-PE" sz="800" b="0">
                          <a:effectLst/>
                          <a:latin typeface="+mn-lt"/>
                        </a:rPr>
                        <a:t>8 SEMANAS</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rtl="0" fontAlgn="b"/>
                      <a:r>
                        <a:rPr lang="es-PE" sz="800" b="0">
                          <a:effectLst/>
                          <a:latin typeface="+mn-lt"/>
                        </a:rPr>
                        <a:t>2/2/2026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1CEEE"/>
                    </a:solidFill>
                  </a:tcPr>
                </a:tc>
                <a:tc>
                  <a:txBody>
                    <a:bodyPr/>
                    <a:lstStyle/>
                    <a:p>
                      <a:pPr algn="r" rtl="0" fontAlgn="b"/>
                      <a:r>
                        <a:rPr lang="es-PE" sz="800" b="0">
                          <a:effectLst/>
                          <a:latin typeface="+mn-lt"/>
                        </a:rPr>
                        <a:t>29/3/2026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1CEEE"/>
                    </a:solid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95889792"/>
                  </a:ext>
                </a:extLst>
              </a:tr>
              <a:tr h="67733">
                <a:tc vMerge="1">
                  <a:txBody>
                    <a:bodyPr/>
                    <a:lstStyle/>
                    <a:p>
                      <a:endParaRPr lang="es-PE"/>
                    </a:p>
                  </a:txBody>
                  <a:tcPr/>
                </a:tc>
                <a:tc vMerge="1">
                  <a:txBody>
                    <a:bodyPr/>
                    <a:lstStyle/>
                    <a:p>
                      <a:endParaRPr lang="es-PE"/>
                    </a:p>
                  </a:txBody>
                  <a:tcPr/>
                </a:tc>
                <a:tc>
                  <a:txBody>
                    <a:bodyPr/>
                    <a:lstStyle/>
                    <a:p>
                      <a:pPr rtl="0" fontAlgn="b"/>
                      <a:r>
                        <a:rPr lang="es-PE" sz="800" b="0">
                          <a:effectLst/>
                          <a:latin typeface="+mn-lt"/>
                        </a:rPr>
                        <a:t>BASIC III</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r>
                        <a:rPr lang="es-PE" sz="800" b="0">
                          <a:effectLst/>
                          <a:latin typeface="+mn-lt"/>
                        </a:rPr>
                        <a:t>13 SEMANAS</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rtl="0" fontAlgn="b"/>
                      <a:r>
                        <a:rPr lang="es-PE" sz="800" b="0">
                          <a:effectLst/>
                          <a:latin typeface="+mn-lt"/>
                        </a:rPr>
                        <a:t>2/2/2026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1CEEE"/>
                    </a:solid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1CEEE"/>
                    </a:solidFill>
                  </a:tcPr>
                </a:tc>
                <a:tc>
                  <a:txBody>
                    <a:bodyPr/>
                    <a:lstStyle/>
                    <a:p>
                      <a:pPr algn="r" rtl="0" fontAlgn="b"/>
                      <a:r>
                        <a:rPr lang="es-PE" sz="800" b="0">
                          <a:effectLst/>
                          <a:latin typeface="+mn-lt"/>
                        </a:rPr>
                        <a:t>30/4/2026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1CEEE"/>
                    </a:solid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29598111"/>
                  </a:ext>
                </a:extLst>
              </a:tr>
              <a:tr h="67733">
                <a:tc vMerge="1">
                  <a:txBody>
                    <a:bodyPr/>
                    <a:lstStyle/>
                    <a:p>
                      <a:endParaRPr lang="es-PE"/>
                    </a:p>
                  </a:txBody>
                  <a:tcPr/>
                </a:tc>
                <a:tc vMerge="1">
                  <a:txBody>
                    <a:bodyPr/>
                    <a:lstStyle/>
                    <a:p>
                      <a:endParaRPr lang="es-PE"/>
                    </a:p>
                  </a:txBody>
                  <a:tcPr/>
                </a:tc>
                <a:tc>
                  <a:txBody>
                    <a:bodyPr/>
                    <a:lstStyle/>
                    <a:p>
                      <a:pPr rtl="0" fontAlgn="b"/>
                      <a:r>
                        <a:rPr lang="es-PE" sz="800" b="0">
                          <a:effectLst/>
                          <a:latin typeface="+mn-lt"/>
                        </a:rPr>
                        <a:t>INTERMEDIATE I</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r>
                        <a:rPr lang="es-PE" sz="800" b="0">
                          <a:effectLst/>
                          <a:latin typeface="+mn-lt"/>
                        </a:rPr>
                        <a:t>8 SEMANAS</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rtl="0" fontAlgn="b"/>
                      <a:r>
                        <a:rPr lang="es-PE" sz="800" b="0">
                          <a:effectLst/>
                          <a:latin typeface="+mn-lt"/>
                        </a:rPr>
                        <a:t>2/2/2026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1CEEE"/>
                    </a:solidFill>
                  </a:tcPr>
                </a:tc>
                <a:tc>
                  <a:txBody>
                    <a:bodyPr/>
                    <a:lstStyle/>
                    <a:p>
                      <a:pPr algn="r" rtl="0" fontAlgn="b"/>
                      <a:r>
                        <a:rPr lang="es-PE" sz="800" b="0">
                          <a:effectLst/>
                          <a:latin typeface="+mn-lt"/>
                        </a:rPr>
                        <a:t>29/3/2026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1CEEE"/>
                    </a:solid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88325492"/>
                  </a:ext>
                </a:extLst>
              </a:tr>
              <a:tr h="67733">
                <a:tc vMerge="1">
                  <a:txBody>
                    <a:bodyPr/>
                    <a:lstStyle/>
                    <a:p>
                      <a:endParaRPr lang="es-PE"/>
                    </a:p>
                  </a:txBody>
                  <a:tcPr/>
                </a:tc>
                <a:tc vMerge="1">
                  <a:txBody>
                    <a:bodyPr/>
                    <a:lstStyle/>
                    <a:p>
                      <a:endParaRPr lang="es-PE"/>
                    </a:p>
                  </a:txBody>
                  <a:tcPr/>
                </a:tc>
                <a:tc>
                  <a:txBody>
                    <a:bodyPr/>
                    <a:lstStyle/>
                    <a:p>
                      <a:pPr rtl="0" fontAlgn="b"/>
                      <a:r>
                        <a:rPr lang="es-PE" sz="800" b="0">
                          <a:effectLst/>
                          <a:latin typeface="+mn-lt"/>
                        </a:rPr>
                        <a:t>INTERMEDIATE II</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r>
                        <a:rPr lang="es-PE" sz="800" b="0">
                          <a:effectLst/>
                          <a:latin typeface="+mn-lt"/>
                        </a:rPr>
                        <a:t>8 SEMANAS</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rtl="0" fontAlgn="b"/>
                      <a:r>
                        <a:rPr lang="es-PE" sz="800" b="0">
                          <a:effectLst/>
                          <a:latin typeface="+mn-lt"/>
                        </a:rPr>
                        <a:t>2/2/2026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1CEEE"/>
                    </a:solidFill>
                  </a:tcPr>
                </a:tc>
                <a:tc>
                  <a:txBody>
                    <a:bodyPr/>
                    <a:lstStyle/>
                    <a:p>
                      <a:pPr algn="r" rtl="0" fontAlgn="b"/>
                      <a:r>
                        <a:rPr lang="es-PE" sz="800" b="0">
                          <a:effectLst/>
                          <a:latin typeface="+mn-lt"/>
                        </a:rPr>
                        <a:t>29/3/2026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1CEEE"/>
                    </a:solid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32328239"/>
                  </a:ext>
                </a:extLst>
              </a:tr>
              <a:tr h="67733">
                <a:tc vMerge="1">
                  <a:txBody>
                    <a:bodyPr/>
                    <a:lstStyle/>
                    <a:p>
                      <a:endParaRPr lang="es-PE"/>
                    </a:p>
                  </a:txBody>
                  <a:tcPr/>
                </a:tc>
                <a:tc vMerge="1">
                  <a:txBody>
                    <a:bodyPr/>
                    <a:lstStyle/>
                    <a:p>
                      <a:endParaRPr lang="es-PE"/>
                    </a:p>
                  </a:txBody>
                  <a:tcPr/>
                </a:tc>
                <a:tc>
                  <a:txBody>
                    <a:bodyPr/>
                    <a:lstStyle/>
                    <a:p>
                      <a:pPr rtl="0" fontAlgn="b"/>
                      <a:r>
                        <a:rPr lang="es-PE" sz="800" b="0" dirty="0">
                          <a:effectLst/>
                          <a:latin typeface="+mn-lt"/>
                        </a:rPr>
                        <a:t>INTERMEDIATE III</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r>
                        <a:rPr lang="es-PE" sz="800" b="0">
                          <a:effectLst/>
                          <a:latin typeface="+mn-lt"/>
                        </a:rPr>
                        <a:t>13 SEMANAS</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rtl="0" fontAlgn="b"/>
                      <a:r>
                        <a:rPr lang="es-PE" sz="800" b="0">
                          <a:effectLst/>
                          <a:latin typeface="+mn-lt"/>
                        </a:rPr>
                        <a:t>2/2/2026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1CEEE"/>
                    </a:solid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1CEEE"/>
                    </a:solidFill>
                  </a:tcPr>
                </a:tc>
                <a:tc>
                  <a:txBody>
                    <a:bodyPr/>
                    <a:lstStyle/>
                    <a:p>
                      <a:pPr algn="r" rtl="0" fontAlgn="b"/>
                      <a:r>
                        <a:rPr lang="es-PE" sz="800" b="0">
                          <a:effectLst/>
                          <a:latin typeface="+mn-lt"/>
                        </a:rPr>
                        <a:t>30/4/2026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1CEEE"/>
                    </a:solid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56455309"/>
                  </a:ext>
                </a:extLst>
              </a:tr>
              <a:tr h="67733">
                <a:tc vMerge="1">
                  <a:txBody>
                    <a:bodyPr/>
                    <a:lstStyle/>
                    <a:p>
                      <a:endParaRPr lang="es-PE"/>
                    </a:p>
                  </a:txBody>
                  <a:tcPr/>
                </a:tc>
                <a:tc rowSpan="6">
                  <a:txBody>
                    <a:bodyPr/>
                    <a:lstStyle/>
                    <a:p>
                      <a:pPr algn="ctr" rtl="0" fontAlgn="ctr"/>
                      <a:r>
                        <a:rPr lang="es-PE" sz="800" b="0">
                          <a:effectLst/>
                          <a:latin typeface="+mn-lt"/>
                        </a:rPr>
                        <a:t>I03</a:t>
                      </a:r>
                    </a:p>
                  </a:txBody>
                  <a:tcPr marL="2079" marR="2079"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r>
                        <a:rPr lang="es-PE" sz="800" b="0">
                          <a:effectLst/>
                          <a:latin typeface="+mn-lt"/>
                        </a:rPr>
                        <a:t>BASIC I</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r>
                        <a:rPr lang="es-PE" sz="800" b="0">
                          <a:effectLst/>
                          <a:latin typeface="+mn-lt"/>
                        </a:rPr>
                        <a:t>8 SEMANAS</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rtl="0" fontAlgn="b"/>
                      <a:r>
                        <a:rPr lang="es-PE" sz="800" b="0">
                          <a:effectLst/>
                          <a:latin typeface="+mn-lt"/>
                        </a:rPr>
                        <a:t>2/3/2026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CAEDFB"/>
                    </a:solidFill>
                  </a:tcPr>
                </a:tc>
                <a:tc>
                  <a:txBody>
                    <a:bodyPr/>
                    <a:lstStyle/>
                    <a:p>
                      <a:pPr algn="r" rtl="0" fontAlgn="b"/>
                      <a:r>
                        <a:rPr lang="es-PE" sz="800" b="0">
                          <a:effectLst/>
                          <a:latin typeface="+mn-lt"/>
                        </a:rPr>
                        <a:t>26/4/2026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CAEDFB"/>
                    </a:solid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93493638"/>
                  </a:ext>
                </a:extLst>
              </a:tr>
              <a:tr h="67733">
                <a:tc vMerge="1">
                  <a:txBody>
                    <a:bodyPr/>
                    <a:lstStyle/>
                    <a:p>
                      <a:endParaRPr lang="es-PE"/>
                    </a:p>
                  </a:txBody>
                  <a:tcPr/>
                </a:tc>
                <a:tc vMerge="1">
                  <a:txBody>
                    <a:bodyPr/>
                    <a:lstStyle/>
                    <a:p>
                      <a:endParaRPr lang="es-PE"/>
                    </a:p>
                  </a:txBody>
                  <a:tcPr/>
                </a:tc>
                <a:tc>
                  <a:txBody>
                    <a:bodyPr/>
                    <a:lstStyle/>
                    <a:p>
                      <a:pPr rtl="0" fontAlgn="b"/>
                      <a:r>
                        <a:rPr lang="es-PE" sz="800" b="0">
                          <a:effectLst/>
                          <a:latin typeface="+mn-lt"/>
                        </a:rPr>
                        <a:t>BASIC II</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r>
                        <a:rPr lang="es-PE" sz="800" b="0">
                          <a:effectLst/>
                          <a:latin typeface="+mn-lt"/>
                        </a:rPr>
                        <a:t>8 SEMANAS</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rtl="0" fontAlgn="b"/>
                      <a:r>
                        <a:rPr lang="es-PE" sz="800" b="0">
                          <a:effectLst/>
                          <a:latin typeface="+mn-lt"/>
                        </a:rPr>
                        <a:t>2/3/2026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CAEDFB"/>
                    </a:solidFill>
                  </a:tcPr>
                </a:tc>
                <a:tc>
                  <a:txBody>
                    <a:bodyPr/>
                    <a:lstStyle/>
                    <a:p>
                      <a:pPr algn="r" rtl="0" fontAlgn="b"/>
                      <a:r>
                        <a:rPr lang="es-PE" sz="800" b="0">
                          <a:effectLst/>
                          <a:latin typeface="+mn-lt"/>
                        </a:rPr>
                        <a:t>26/4/2026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CAEDFB"/>
                    </a:solid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46731234"/>
                  </a:ext>
                </a:extLst>
              </a:tr>
              <a:tr h="67733">
                <a:tc vMerge="1">
                  <a:txBody>
                    <a:bodyPr/>
                    <a:lstStyle/>
                    <a:p>
                      <a:endParaRPr lang="es-PE"/>
                    </a:p>
                  </a:txBody>
                  <a:tcPr/>
                </a:tc>
                <a:tc vMerge="1">
                  <a:txBody>
                    <a:bodyPr/>
                    <a:lstStyle/>
                    <a:p>
                      <a:endParaRPr lang="es-PE"/>
                    </a:p>
                  </a:txBody>
                  <a:tcPr/>
                </a:tc>
                <a:tc>
                  <a:txBody>
                    <a:bodyPr/>
                    <a:lstStyle/>
                    <a:p>
                      <a:pPr rtl="0" fontAlgn="b"/>
                      <a:r>
                        <a:rPr lang="es-PE" sz="800" b="0">
                          <a:effectLst/>
                          <a:latin typeface="+mn-lt"/>
                        </a:rPr>
                        <a:t>BASIC III</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r>
                        <a:rPr lang="es-PE" sz="800" b="0">
                          <a:effectLst/>
                          <a:latin typeface="+mn-lt"/>
                        </a:rPr>
                        <a:t>13 SEMANAS</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rtl="0" fontAlgn="b"/>
                      <a:r>
                        <a:rPr lang="es-PE" sz="800" b="0">
                          <a:effectLst/>
                          <a:latin typeface="+mn-lt"/>
                        </a:rPr>
                        <a:t>2/3/2026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CAEDFB"/>
                    </a:solid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CAEDFB"/>
                    </a:solidFill>
                  </a:tcPr>
                </a:tc>
                <a:tc>
                  <a:txBody>
                    <a:bodyPr/>
                    <a:lstStyle/>
                    <a:p>
                      <a:pPr algn="r" rtl="0" fontAlgn="b"/>
                      <a:r>
                        <a:rPr lang="es-PE" sz="800" b="0">
                          <a:effectLst/>
                          <a:latin typeface="+mn-lt"/>
                        </a:rPr>
                        <a:t>31/5/2026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CAEDFB"/>
                    </a:solid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65683337"/>
                  </a:ext>
                </a:extLst>
              </a:tr>
              <a:tr h="67733">
                <a:tc vMerge="1">
                  <a:txBody>
                    <a:bodyPr/>
                    <a:lstStyle/>
                    <a:p>
                      <a:endParaRPr lang="es-PE"/>
                    </a:p>
                  </a:txBody>
                  <a:tcPr/>
                </a:tc>
                <a:tc vMerge="1">
                  <a:txBody>
                    <a:bodyPr/>
                    <a:lstStyle/>
                    <a:p>
                      <a:endParaRPr lang="es-PE"/>
                    </a:p>
                  </a:txBody>
                  <a:tcPr/>
                </a:tc>
                <a:tc>
                  <a:txBody>
                    <a:bodyPr/>
                    <a:lstStyle/>
                    <a:p>
                      <a:pPr rtl="0" fontAlgn="b"/>
                      <a:r>
                        <a:rPr lang="es-PE" sz="800" b="0">
                          <a:effectLst/>
                          <a:latin typeface="+mn-lt"/>
                        </a:rPr>
                        <a:t>INTERMEDIATE I</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r>
                        <a:rPr lang="es-PE" sz="800" b="0">
                          <a:effectLst/>
                          <a:latin typeface="+mn-lt"/>
                        </a:rPr>
                        <a:t>8 SEMANAS</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rtl="0" fontAlgn="b"/>
                      <a:r>
                        <a:rPr lang="es-PE" sz="800" b="0">
                          <a:effectLst/>
                          <a:latin typeface="+mn-lt"/>
                        </a:rPr>
                        <a:t>2/3/2026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CAEDFB"/>
                    </a:solidFill>
                  </a:tcPr>
                </a:tc>
                <a:tc>
                  <a:txBody>
                    <a:bodyPr/>
                    <a:lstStyle/>
                    <a:p>
                      <a:pPr algn="r" rtl="0" fontAlgn="b"/>
                      <a:r>
                        <a:rPr lang="es-PE" sz="800" b="0">
                          <a:effectLst/>
                          <a:latin typeface="+mn-lt"/>
                        </a:rPr>
                        <a:t>26/4/2026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CAEDFB"/>
                    </a:solid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77160952"/>
                  </a:ext>
                </a:extLst>
              </a:tr>
              <a:tr h="67733">
                <a:tc vMerge="1">
                  <a:txBody>
                    <a:bodyPr/>
                    <a:lstStyle/>
                    <a:p>
                      <a:endParaRPr lang="es-PE"/>
                    </a:p>
                  </a:txBody>
                  <a:tcPr/>
                </a:tc>
                <a:tc vMerge="1">
                  <a:txBody>
                    <a:bodyPr/>
                    <a:lstStyle/>
                    <a:p>
                      <a:endParaRPr lang="es-PE"/>
                    </a:p>
                  </a:txBody>
                  <a:tcPr/>
                </a:tc>
                <a:tc>
                  <a:txBody>
                    <a:bodyPr/>
                    <a:lstStyle/>
                    <a:p>
                      <a:pPr rtl="0" fontAlgn="b"/>
                      <a:r>
                        <a:rPr lang="es-PE" sz="800" b="0">
                          <a:effectLst/>
                          <a:latin typeface="+mn-lt"/>
                        </a:rPr>
                        <a:t>INTERMEDIATE II</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r>
                        <a:rPr lang="es-PE" sz="800" b="0">
                          <a:effectLst/>
                          <a:latin typeface="+mn-lt"/>
                        </a:rPr>
                        <a:t>8 SEMANAS</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rtl="0" fontAlgn="b"/>
                      <a:r>
                        <a:rPr lang="es-PE" sz="800" b="0">
                          <a:effectLst/>
                          <a:latin typeface="+mn-lt"/>
                        </a:rPr>
                        <a:t>2/3/2026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CAEDFB"/>
                    </a:solidFill>
                  </a:tcPr>
                </a:tc>
                <a:tc>
                  <a:txBody>
                    <a:bodyPr/>
                    <a:lstStyle/>
                    <a:p>
                      <a:pPr algn="r" rtl="0" fontAlgn="b"/>
                      <a:r>
                        <a:rPr lang="es-PE" sz="800" b="0">
                          <a:effectLst/>
                          <a:latin typeface="+mn-lt"/>
                        </a:rPr>
                        <a:t>26/4/2026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CAEDFB"/>
                    </a:solid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0703885"/>
                  </a:ext>
                </a:extLst>
              </a:tr>
              <a:tr h="67733">
                <a:tc vMerge="1">
                  <a:txBody>
                    <a:bodyPr/>
                    <a:lstStyle/>
                    <a:p>
                      <a:endParaRPr lang="es-PE"/>
                    </a:p>
                  </a:txBody>
                  <a:tcPr/>
                </a:tc>
                <a:tc vMerge="1">
                  <a:txBody>
                    <a:bodyPr/>
                    <a:lstStyle/>
                    <a:p>
                      <a:endParaRPr lang="es-PE"/>
                    </a:p>
                  </a:txBody>
                  <a:tcPr/>
                </a:tc>
                <a:tc>
                  <a:txBody>
                    <a:bodyPr/>
                    <a:lstStyle/>
                    <a:p>
                      <a:pPr rtl="0" fontAlgn="b"/>
                      <a:r>
                        <a:rPr lang="es-PE" sz="800" b="0">
                          <a:effectLst/>
                          <a:latin typeface="+mn-lt"/>
                        </a:rPr>
                        <a:t>INTERMEDIATE III</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r>
                        <a:rPr lang="es-PE" sz="800" b="0">
                          <a:effectLst/>
                          <a:latin typeface="+mn-lt"/>
                        </a:rPr>
                        <a:t>13 SEMANAS</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rtl="0" fontAlgn="b"/>
                      <a:r>
                        <a:rPr lang="es-PE" sz="800" b="0">
                          <a:effectLst/>
                          <a:latin typeface="+mn-lt"/>
                        </a:rPr>
                        <a:t>2/3/2026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CAEDFB"/>
                    </a:solid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CAEDFB"/>
                    </a:solidFill>
                  </a:tcPr>
                </a:tc>
                <a:tc>
                  <a:txBody>
                    <a:bodyPr/>
                    <a:lstStyle/>
                    <a:p>
                      <a:pPr algn="r" rtl="0" fontAlgn="b"/>
                      <a:r>
                        <a:rPr lang="es-PE" sz="800" b="0">
                          <a:effectLst/>
                          <a:latin typeface="+mn-lt"/>
                        </a:rPr>
                        <a:t>31/5/2026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CAEDFB"/>
                    </a:solid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06341344"/>
                  </a:ext>
                </a:extLst>
              </a:tr>
              <a:tr h="67733">
                <a:tc rowSpan="24">
                  <a:txBody>
                    <a:bodyPr/>
                    <a:lstStyle/>
                    <a:p>
                      <a:pPr algn="ctr" rtl="0" fontAlgn="ctr"/>
                      <a:r>
                        <a:rPr lang="es-PE" sz="800" b="0">
                          <a:effectLst/>
                          <a:latin typeface="+mn-lt"/>
                        </a:rPr>
                        <a:t>202654</a:t>
                      </a:r>
                    </a:p>
                  </a:txBody>
                  <a:tcPr marL="2079" marR="2079"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rowSpan="6">
                  <a:txBody>
                    <a:bodyPr/>
                    <a:lstStyle/>
                    <a:p>
                      <a:pPr algn="ctr" rtl="0" fontAlgn="ctr"/>
                      <a:r>
                        <a:rPr lang="es-PE" sz="800" b="0">
                          <a:effectLst/>
                          <a:latin typeface="+mn-lt"/>
                        </a:rPr>
                        <a:t>I04</a:t>
                      </a:r>
                    </a:p>
                  </a:txBody>
                  <a:tcPr marL="2079" marR="2079"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r>
                        <a:rPr lang="es-PE" sz="800" b="0">
                          <a:effectLst/>
                          <a:latin typeface="+mn-lt"/>
                        </a:rPr>
                        <a:t>BASIC I</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r>
                        <a:rPr lang="es-PE" sz="800" b="0">
                          <a:effectLst/>
                          <a:latin typeface="+mn-lt"/>
                        </a:rPr>
                        <a:t>8 SEMANAS</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rtl="0" fontAlgn="b"/>
                      <a:r>
                        <a:rPr lang="es-PE" sz="800" b="0">
                          <a:effectLst/>
                          <a:latin typeface="+mn-lt"/>
                        </a:rPr>
                        <a:t>6/4/2026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AE2D5"/>
                    </a:solidFill>
                  </a:tcPr>
                </a:tc>
                <a:tc>
                  <a:txBody>
                    <a:bodyPr/>
                    <a:lstStyle/>
                    <a:p>
                      <a:pPr algn="r" rtl="0" fontAlgn="b"/>
                      <a:r>
                        <a:rPr lang="es-PE" sz="800" b="0">
                          <a:effectLst/>
                          <a:latin typeface="+mn-lt"/>
                        </a:rPr>
                        <a:t>31/5/2026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AE2D5"/>
                    </a:solid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63280081"/>
                  </a:ext>
                </a:extLst>
              </a:tr>
              <a:tr h="67733">
                <a:tc vMerge="1">
                  <a:txBody>
                    <a:bodyPr/>
                    <a:lstStyle/>
                    <a:p>
                      <a:endParaRPr lang="es-PE"/>
                    </a:p>
                  </a:txBody>
                  <a:tcPr/>
                </a:tc>
                <a:tc vMerge="1">
                  <a:txBody>
                    <a:bodyPr/>
                    <a:lstStyle/>
                    <a:p>
                      <a:endParaRPr lang="es-PE"/>
                    </a:p>
                  </a:txBody>
                  <a:tcPr/>
                </a:tc>
                <a:tc>
                  <a:txBody>
                    <a:bodyPr/>
                    <a:lstStyle/>
                    <a:p>
                      <a:pPr rtl="0" fontAlgn="b"/>
                      <a:r>
                        <a:rPr lang="es-PE" sz="800" b="0">
                          <a:effectLst/>
                          <a:latin typeface="+mn-lt"/>
                        </a:rPr>
                        <a:t>BASIC II</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r>
                        <a:rPr lang="es-PE" sz="800" b="0">
                          <a:effectLst/>
                          <a:latin typeface="+mn-lt"/>
                        </a:rPr>
                        <a:t>8 SEMANAS</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rtl="0" fontAlgn="b"/>
                      <a:r>
                        <a:rPr lang="es-PE" sz="800" b="0">
                          <a:effectLst/>
                          <a:latin typeface="+mn-lt"/>
                        </a:rPr>
                        <a:t>6/4/2026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AE2D5"/>
                    </a:solidFill>
                  </a:tcPr>
                </a:tc>
                <a:tc>
                  <a:txBody>
                    <a:bodyPr/>
                    <a:lstStyle/>
                    <a:p>
                      <a:pPr algn="r" rtl="0" fontAlgn="b"/>
                      <a:r>
                        <a:rPr lang="es-PE" sz="800" b="0">
                          <a:effectLst/>
                          <a:latin typeface="+mn-lt"/>
                        </a:rPr>
                        <a:t>31/5/2026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AE2D5"/>
                    </a:solid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48173399"/>
                  </a:ext>
                </a:extLst>
              </a:tr>
              <a:tr h="67733">
                <a:tc vMerge="1">
                  <a:txBody>
                    <a:bodyPr/>
                    <a:lstStyle/>
                    <a:p>
                      <a:endParaRPr lang="es-PE"/>
                    </a:p>
                  </a:txBody>
                  <a:tcPr/>
                </a:tc>
                <a:tc vMerge="1">
                  <a:txBody>
                    <a:bodyPr/>
                    <a:lstStyle/>
                    <a:p>
                      <a:endParaRPr lang="es-PE"/>
                    </a:p>
                  </a:txBody>
                  <a:tcPr/>
                </a:tc>
                <a:tc>
                  <a:txBody>
                    <a:bodyPr/>
                    <a:lstStyle/>
                    <a:p>
                      <a:pPr rtl="0" fontAlgn="b"/>
                      <a:r>
                        <a:rPr lang="es-PE" sz="800" b="0">
                          <a:effectLst/>
                          <a:latin typeface="+mn-lt"/>
                        </a:rPr>
                        <a:t>BASIC III</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r>
                        <a:rPr lang="es-PE" sz="800" b="0">
                          <a:effectLst/>
                          <a:latin typeface="+mn-lt"/>
                        </a:rPr>
                        <a:t>12 SEMANAS</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rtl="0" fontAlgn="b"/>
                      <a:r>
                        <a:rPr lang="es-PE" sz="800" b="0">
                          <a:effectLst/>
                          <a:latin typeface="+mn-lt"/>
                        </a:rPr>
                        <a:t>6/4/2026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AE2D5"/>
                    </a:solid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AE2D5"/>
                    </a:solidFill>
                  </a:tcPr>
                </a:tc>
                <a:tc>
                  <a:txBody>
                    <a:bodyPr/>
                    <a:lstStyle/>
                    <a:p>
                      <a:pPr algn="r" rtl="0" fontAlgn="b"/>
                      <a:r>
                        <a:rPr lang="es-PE" sz="800" b="0">
                          <a:effectLst/>
                          <a:latin typeface="+mn-lt"/>
                        </a:rPr>
                        <a:t>30/6/2026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AE2D5"/>
                    </a:solid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65836362"/>
                  </a:ext>
                </a:extLst>
              </a:tr>
              <a:tr h="67733">
                <a:tc vMerge="1">
                  <a:txBody>
                    <a:bodyPr/>
                    <a:lstStyle/>
                    <a:p>
                      <a:endParaRPr lang="es-PE"/>
                    </a:p>
                  </a:txBody>
                  <a:tcPr/>
                </a:tc>
                <a:tc vMerge="1">
                  <a:txBody>
                    <a:bodyPr/>
                    <a:lstStyle/>
                    <a:p>
                      <a:endParaRPr lang="es-PE"/>
                    </a:p>
                  </a:txBody>
                  <a:tcPr/>
                </a:tc>
                <a:tc>
                  <a:txBody>
                    <a:bodyPr/>
                    <a:lstStyle/>
                    <a:p>
                      <a:pPr rtl="0" fontAlgn="b"/>
                      <a:r>
                        <a:rPr lang="es-PE" sz="800" b="0">
                          <a:effectLst/>
                          <a:latin typeface="+mn-lt"/>
                        </a:rPr>
                        <a:t>INTERMEDIATE I</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r>
                        <a:rPr lang="es-PE" sz="800" b="0">
                          <a:effectLst/>
                          <a:latin typeface="+mn-lt"/>
                        </a:rPr>
                        <a:t>8 SEMANAS</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rtl="0" fontAlgn="b"/>
                      <a:r>
                        <a:rPr lang="es-PE" sz="800" b="0">
                          <a:effectLst/>
                          <a:latin typeface="+mn-lt"/>
                        </a:rPr>
                        <a:t>6/4/2026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AE2D5"/>
                    </a:solidFill>
                  </a:tcPr>
                </a:tc>
                <a:tc>
                  <a:txBody>
                    <a:bodyPr/>
                    <a:lstStyle/>
                    <a:p>
                      <a:pPr algn="r" rtl="0" fontAlgn="b"/>
                      <a:r>
                        <a:rPr lang="es-PE" sz="800" b="0">
                          <a:effectLst/>
                          <a:latin typeface="+mn-lt"/>
                        </a:rPr>
                        <a:t>31/5/2026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AE2D5"/>
                    </a:solid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46553038"/>
                  </a:ext>
                </a:extLst>
              </a:tr>
              <a:tr h="67733">
                <a:tc vMerge="1">
                  <a:txBody>
                    <a:bodyPr/>
                    <a:lstStyle/>
                    <a:p>
                      <a:endParaRPr lang="es-PE"/>
                    </a:p>
                  </a:txBody>
                  <a:tcPr/>
                </a:tc>
                <a:tc vMerge="1">
                  <a:txBody>
                    <a:bodyPr/>
                    <a:lstStyle/>
                    <a:p>
                      <a:endParaRPr lang="es-PE"/>
                    </a:p>
                  </a:txBody>
                  <a:tcPr/>
                </a:tc>
                <a:tc>
                  <a:txBody>
                    <a:bodyPr/>
                    <a:lstStyle/>
                    <a:p>
                      <a:pPr rtl="0" fontAlgn="b"/>
                      <a:r>
                        <a:rPr lang="es-PE" sz="800" b="0">
                          <a:effectLst/>
                          <a:latin typeface="+mn-lt"/>
                        </a:rPr>
                        <a:t>INTERMEDIATE II</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r>
                        <a:rPr lang="es-PE" sz="800" b="0">
                          <a:effectLst/>
                          <a:latin typeface="+mn-lt"/>
                        </a:rPr>
                        <a:t>8 SEMANAS</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rtl="0" fontAlgn="b"/>
                      <a:r>
                        <a:rPr lang="es-PE" sz="800" b="0">
                          <a:effectLst/>
                          <a:latin typeface="+mn-lt"/>
                        </a:rPr>
                        <a:t>6/4/2026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AE2D5"/>
                    </a:solidFill>
                  </a:tcPr>
                </a:tc>
                <a:tc>
                  <a:txBody>
                    <a:bodyPr/>
                    <a:lstStyle/>
                    <a:p>
                      <a:pPr algn="r" rtl="0" fontAlgn="b"/>
                      <a:r>
                        <a:rPr lang="es-PE" sz="800" b="0">
                          <a:effectLst/>
                          <a:latin typeface="+mn-lt"/>
                        </a:rPr>
                        <a:t>31/5/2026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AE2D5"/>
                    </a:solid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11483241"/>
                  </a:ext>
                </a:extLst>
              </a:tr>
              <a:tr h="67733">
                <a:tc vMerge="1">
                  <a:txBody>
                    <a:bodyPr/>
                    <a:lstStyle/>
                    <a:p>
                      <a:endParaRPr lang="es-PE"/>
                    </a:p>
                  </a:txBody>
                  <a:tcPr/>
                </a:tc>
                <a:tc vMerge="1">
                  <a:txBody>
                    <a:bodyPr/>
                    <a:lstStyle/>
                    <a:p>
                      <a:endParaRPr lang="es-PE"/>
                    </a:p>
                  </a:txBody>
                  <a:tcPr/>
                </a:tc>
                <a:tc>
                  <a:txBody>
                    <a:bodyPr/>
                    <a:lstStyle/>
                    <a:p>
                      <a:pPr rtl="0" fontAlgn="b"/>
                      <a:r>
                        <a:rPr lang="es-PE" sz="800" b="0">
                          <a:effectLst/>
                          <a:latin typeface="+mn-lt"/>
                        </a:rPr>
                        <a:t>INTERMEDIATE III</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r>
                        <a:rPr lang="es-PE" sz="800" b="0">
                          <a:effectLst/>
                          <a:latin typeface="+mn-lt"/>
                        </a:rPr>
                        <a:t>12 SEMANAS</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rtl="0" fontAlgn="b"/>
                      <a:r>
                        <a:rPr lang="es-PE" sz="800" b="0">
                          <a:effectLst/>
                          <a:latin typeface="+mn-lt"/>
                        </a:rPr>
                        <a:t>6/4/2026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AE2D5"/>
                    </a:solid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AE2D5"/>
                    </a:solidFill>
                  </a:tcPr>
                </a:tc>
                <a:tc>
                  <a:txBody>
                    <a:bodyPr/>
                    <a:lstStyle/>
                    <a:p>
                      <a:pPr algn="r" rtl="0" fontAlgn="b"/>
                      <a:r>
                        <a:rPr lang="es-PE" sz="800" b="0">
                          <a:effectLst/>
                          <a:latin typeface="+mn-lt"/>
                        </a:rPr>
                        <a:t>30/6/2026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AE2D5"/>
                    </a:solid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34644163"/>
                  </a:ext>
                </a:extLst>
              </a:tr>
              <a:tr h="67733">
                <a:tc vMerge="1">
                  <a:txBody>
                    <a:bodyPr/>
                    <a:lstStyle/>
                    <a:p>
                      <a:endParaRPr lang="es-PE"/>
                    </a:p>
                  </a:txBody>
                  <a:tcPr/>
                </a:tc>
                <a:tc rowSpan="6">
                  <a:txBody>
                    <a:bodyPr/>
                    <a:lstStyle/>
                    <a:p>
                      <a:pPr algn="ctr" rtl="0" fontAlgn="ctr"/>
                      <a:r>
                        <a:rPr lang="es-PE" sz="800" b="0">
                          <a:effectLst/>
                          <a:latin typeface="+mn-lt"/>
                        </a:rPr>
                        <a:t>I05</a:t>
                      </a:r>
                    </a:p>
                  </a:txBody>
                  <a:tcPr marL="2079" marR="2079"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r>
                        <a:rPr lang="es-PE" sz="800" b="0">
                          <a:effectLst/>
                          <a:latin typeface="+mn-lt"/>
                        </a:rPr>
                        <a:t>BASIC I</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r>
                        <a:rPr lang="es-PE" sz="800" b="0">
                          <a:effectLst/>
                          <a:latin typeface="+mn-lt"/>
                        </a:rPr>
                        <a:t>8 SEMANAS</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rtl="0" fontAlgn="b"/>
                      <a:r>
                        <a:rPr lang="es-PE" sz="800" b="0">
                          <a:effectLst/>
                          <a:latin typeface="+mn-lt"/>
                        </a:rPr>
                        <a:t>4/5/2026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9F2D0"/>
                    </a:solidFill>
                  </a:tcPr>
                </a:tc>
                <a:tc>
                  <a:txBody>
                    <a:bodyPr/>
                    <a:lstStyle/>
                    <a:p>
                      <a:pPr algn="r" rtl="0" fontAlgn="b"/>
                      <a:r>
                        <a:rPr lang="es-PE" sz="800" b="0">
                          <a:effectLst/>
                          <a:latin typeface="+mn-lt"/>
                        </a:rPr>
                        <a:t>28/6/2026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9F2D0"/>
                    </a:solid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15170063"/>
                  </a:ext>
                </a:extLst>
              </a:tr>
              <a:tr h="67733">
                <a:tc vMerge="1">
                  <a:txBody>
                    <a:bodyPr/>
                    <a:lstStyle/>
                    <a:p>
                      <a:endParaRPr lang="es-PE"/>
                    </a:p>
                  </a:txBody>
                  <a:tcPr/>
                </a:tc>
                <a:tc vMerge="1">
                  <a:txBody>
                    <a:bodyPr/>
                    <a:lstStyle/>
                    <a:p>
                      <a:endParaRPr lang="es-PE"/>
                    </a:p>
                  </a:txBody>
                  <a:tcPr/>
                </a:tc>
                <a:tc>
                  <a:txBody>
                    <a:bodyPr/>
                    <a:lstStyle/>
                    <a:p>
                      <a:pPr rtl="0" fontAlgn="b"/>
                      <a:r>
                        <a:rPr lang="es-PE" sz="800" b="0">
                          <a:effectLst/>
                          <a:latin typeface="+mn-lt"/>
                        </a:rPr>
                        <a:t>BASIC II</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r>
                        <a:rPr lang="es-PE" sz="800" b="0">
                          <a:effectLst/>
                          <a:latin typeface="+mn-lt"/>
                        </a:rPr>
                        <a:t>8 SEMANAS</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rtl="0" fontAlgn="b"/>
                      <a:r>
                        <a:rPr lang="es-PE" sz="800" b="0">
                          <a:effectLst/>
                          <a:latin typeface="+mn-lt"/>
                        </a:rPr>
                        <a:t>4/5/2026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9F2D0"/>
                    </a:solidFill>
                  </a:tcPr>
                </a:tc>
                <a:tc>
                  <a:txBody>
                    <a:bodyPr/>
                    <a:lstStyle/>
                    <a:p>
                      <a:pPr algn="r" rtl="0" fontAlgn="b"/>
                      <a:r>
                        <a:rPr lang="es-PE" sz="800" b="0">
                          <a:effectLst/>
                          <a:latin typeface="+mn-lt"/>
                        </a:rPr>
                        <a:t>28/6/2026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9F2D0"/>
                    </a:solid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91811388"/>
                  </a:ext>
                </a:extLst>
              </a:tr>
              <a:tr h="67733">
                <a:tc vMerge="1">
                  <a:txBody>
                    <a:bodyPr/>
                    <a:lstStyle/>
                    <a:p>
                      <a:endParaRPr lang="es-PE"/>
                    </a:p>
                  </a:txBody>
                  <a:tcPr/>
                </a:tc>
                <a:tc vMerge="1">
                  <a:txBody>
                    <a:bodyPr/>
                    <a:lstStyle/>
                    <a:p>
                      <a:endParaRPr lang="es-PE"/>
                    </a:p>
                  </a:txBody>
                  <a:tcPr/>
                </a:tc>
                <a:tc>
                  <a:txBody>
                    <a:bodyPr/>
                    <a:lstStyle/>
                    <a:p>
                      <a:pPr rtl="0" fontAlgn="b"/>
                      <a:r>
                        <a:rPr lang="es-PE" sz="800" b="0">
                          <a:effectLst/>
                          <a:latin typeface="+mn-lt"/>
                        </a:rPr>
                        <a:t>BASIC III</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r>
                        <a:rPr lang="es-PE" sz="800" b="0">
                          <a:effectLst/>
                          <a:latin typeface="+mn-lt"/>
                        </a:rPr>
                        <a:t>13 SEMANAS</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rtl="0" fontAlgn="b"/>
                      <a:r>
                        <a:rPr lang="es-PE" sz="800" b="0">
                          <a:effectLst/>
                          <a:latin typeface="+mn-lt"/>
                        </a:rPr>
                        <a:t>4/5/2026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9F2D0"/>
                    </a:solid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9F2D0"/>
                    </a:solidFill>
                  </a:tcPr>
                </a:tc>
                <a:tc>
                  <a:txBody>
                    <a:bodyPr/>
                    <a:lstStyle/>
                    <a:p>
                      <a:pPr algn="r" rtl="0" fontAlgn="b"/>
                      <a:r>
                        <a:rPr lang="es-PE" sz="800" b="0">
                          <a:effectLst/>
                          <a:latin typeface="+mn-lt"/>
                        </a:rPr>
                        <a:t>31/7/2026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9F2D0"/>
                    </a:solid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17711648"/>
                  </a:ext>
                </a:extLst>
              </a:tr>
              <a:tr h="67733">
                <a:tc vMerge="1">
                  <a:txBody>
                    <a:bodyPr/>
                    <a:lstStyle/>
                    <a:p>
                      <a:endParaRPr lang="es-PE"/>
                    </a:p>
                  </a:txBody>
                  <a:tcPr/>
                </a:tc>
                <a:tc vMerge="1">
                  <a:txBody>
                    <a:bodyPr/>
                    <a:lstStyle/>
                    <a:p>
                      <a:endParaRPr lang="es-PE"/>
                    </a:p>
                  </a:txBody>
                  <a:tcPr/>
                </a:tc>
                <a:tc>
                  <a:txBody>
                    <a:bodyPr/>
                    <a:lstStyle/>
                    <a:p>
                      <a:pPr rtl="0" fontAlgn="b"/>
                      <a:r>
                        <a:rPr lang="es-PE" sz="800" b="0">
                          <a:effectLst/>
                          <a:latin typeface="+mn-lt"/>
                        </a:rPr>
                        <a:t>INTERMEDIATE I</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r>
                        <a:rPr lang="es-PE" sz="800" b="0">
                          <a:effectLst/>
                          <a:latin typeface="+mn-lt"/>
                        </a:rPr>
                        <a:t>8 SEMANAS</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rtl="0" fontAlgn="b"/>
                      <a:r>
                        <a:rPr lang="es-PE" sz="800" b="0">
                          <a:effectLst/>
                          <a:latin typeface="+mn-lt"/>
                        </a:rPr>
                        <a:t>4/5/2026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9F2D0"/>
                    </a:solidFill>
                  </a:tcPr>
                </a:tc>
                <a:tc>
                  <a:txBody>
                    <a:bodyPr/>
                    <a:lstStyle/>
                    <a:p>
                      <a:pPr algn="r" rtl="0" fontAlgn="b"/>
                      <a:r>
                        <a:rPr lang="es-PE" sz="800" b="0">
                          <a:effectLst/>
                          <a:latin typeface="+mn-lt"/>
                        </a:rPr>
                        <a:t>28/6/2026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9F2D0"/>
                    </a:solid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74446631"/>
                  </a:ext>
                </a:extLst>
              </a:tr>
              <a:tr h="67733">
                <a:tc vMerge="1">
                  <a:txBody>
                    <a:bodyPr/>
                    <a:lstStyle/>
                    <a:p>
                      <a:endParaRPr lang="es-PE"/>
                    </a:p>
                  </a:txBody>
                  <a:tcPr/>
                </a:tc>
                <a:tc vMerge="1">
                  <a:txBody>
                    <a:bodyPr/>
                    <a:lstStyle/>
                    <a:p>
                      <a:endParaRPr lang="es-PE"/>
                    </a:p>
                  </a:txBody>
                  <a:tcPr/>
                </a:tc>
                <a:tc>
                  <a:txBody>
                    <a:bodyPr/>
                    <a:lstStyle/>
                    <a:p>
                      <a:pPr rtl="0" fontAlgn="b"/>
                      <a:r>
                        <a:rPr lang="es-PE" sz="800" b="0">
                          <a:effectLst/>
                          <a:latin typeface="+mn-lt"/>
                        </a:rPr>
                        <a:t>INTERMEDIATE II</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r>
                        <a:rPr lang="es-PE" sz="800" b="0">
                          <a:effectLst/>
                          <a:latin typeface="+mn-lt"/>
                        </a:rPr>
                        <a:t>8 SEMANAS</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rtl="0" fontAlgn="b"/>
                      <a:r>
                        <a:rPr lang="es-PE" sz="800" b="0">
                          <a:effectLst/>
                          <a:latin typeface="+mn-lt"/>
                        </a:rPr>
                        <a:t>4/5/2026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9F2D0"/>
                    </a:solidFill>
                  </a:tcPr>
                </a:tc>
                <a:tc>
                  <a:txBody>
                    <a:bodyPr/>
                    <a:lstStyle/>
                    <a:p>
                      <a:pPr algn="r" rtl="0" fontAlgn="b"/>
                      <a:r>
                        <a:rPr lang="es-PE" sz="800" b="0">
                          <a:effectLst/>
                          <a:latin typeface="+mn-lt"/>
                        </a:rPr>
                        <a:t>28/6/2026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9F2D0"/>
                    </a:solid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92431521"/>
                  </a:ext>
                </a:extLst>
              </a:tr>
              <a:tr h="67733">
                <a:tc vMerge="1">
                  <a:txBody>
                    <a:bodyPr/>
                    <a:lstStyle/>
                    <a:p>
                      <a:endParaRPr lang="es-PE"/>
                    </a:p>
                  </a:txBody>
                  <a:tcPr/>
                </a:tc>
                <a:tc vMerge="1">
                  <a:txBody>
                    <a:bodyPr/>
                    <a:lstStyle/>
                    <a:p>
                      <a:endParaRPr lang="es-PE"/>
                    </a:p>
                  </a:txBody>
                  <a:tcPr/>
                </a:tc>
                <a:tc>
                  <a:txBody>
                    <a:bodyPr/>
                    <a:lstStyle/>
                    <a:p>
                      <a:pPr rtl="0" fontAlgn="b"/>
                      <a:r>
                        <a:rPr lang="es-PE" sz="800" b="0">
                          <a:effectLst/>
                          <a:latin typeface="+mn-lt"/>
                        </a:rPr>
                        <a:t>INTERMEDIATE III</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r>
                        <a:rPr lang="es-PE" sz="800" b="0">
                          <a:effectLst/>
                          <a:latin typeface="+mn-lt"/>
                        </a:rPr>
                        <a:t>13 SEMANAS</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rtl="0" fontAlgn="b"/>
                      <a:r>
                        <a:rPr lang="es-PE" sz="800" b="0">
                          <a:effectLst/>
                          <a:latin typeface="+mn-lt"/>
                        </a:rPr>
                        <a:t>4/5/2026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9F2D0"/>
                    </a:solid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9F2D0"/>
                    </a:solidFill>
                  </a:tcPr>
                </a:tc>
                <a:tc>
                  <a:txBody>
                    <a:bodyPr/>
                    <a:lstStyle/>
                    <a:p>
                      <a:pPr algn="r" rtl="0" fontAlgn="b"/>
                      <a:r>
                        <a:rPr lang="es-PE" sz="800" b="0">
                          <a:effectLst/>
                          <a:latin typeface="+mn-lt"/>
                        </a:rPr>
                        <a:t>31/7/2026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9F2D0"/>
                    </a:solid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03791478"/>
                  </a:ext>
                </a:extLst>
              </a:tr>
              <a:tr h="67733">
                <a:tc vMerge="1">
                  <a:txBody>
                    <a:bodyPr/>
                    <a:lstStyle/>
                    <a:p>
                      <a:endParaRPr lang="es-PE"/>
                    </a:p>
                  </a:txBody>
                  <a:tcPr/>
                </a:tc>
                <a:tc rowSpan="6">
                  <a:txBody>
                    <a:bodyPr/>
                    <a:lstStyle/>
                    <a:p>
                      <a:pPr algn="ctr" rtl="0" fontAlgn="ctr"/>
                      <a:r>
                        <a:rPr lang="es-PE" sz="800" b="0">
                          <a:effectLst/>
                          <a:latin typeface="+mn-lt"/>
                        </a:rPr>
                        <a:t>I06</a:t>
                      </a:r>
                    </a:p>
                  </a:txBody>
                  <a:tcPr marL="2079" marR="2079"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r>
                        <a:rPr lang="es-PE" sz="800" b="0">
                          <a:effectLst/>
                          <a:latin typeface="+mn-lt"/>
                        </a:rPr>
                        <a:t>BASIC I</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r>
                        <a:rPr lang="es-PE" sz="800" b="0">
                          <a:effectLst/>
                          <a:latin typeface="+mn-lt"/>
                        </a:rPr>
                        <a:t>8 SEMANAS</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rtl="0" fontAlgn="b"/>
                      <a:r>
                        <a:rPr lang="es-PE" sz="800" b="0">
                          <a:effectLst/>
                          <a:latin typeface="+mn-lt"/>
                        </a:rPr>
                        <a:t>1/6/2026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1CEEE"/>
                    </a:solidFill>
                  </a:tcPr>
                </a:tc>
                <a:tc>
                  <a:txBody>
                    <a:bodyPr/>
                    <a:lstStyle/>
                    <a:p>
                      <a:pPr algn="r" rtl="0" fontAlgn="b"/>
                      <a:r>
                        <a:rPr lang="es-PE" sz="800" b="0">
                          <a:effectLst/>
                          <a:latin typeface="+mn-lt"/>
                        </a:rPr>
                        <a:t>26/7/2026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1CEEE"/>
                    </a:solid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69905812"/>
                  </a:ext>
                </a:extLst>
              </a:tr>
              <a:tr h="67733">
                <a:tc vMerge="1">
                  <a:txBody>
                    <a:bodyPr/>
                    <a:lstStyle/>
                    <a:p>
                      <a:endParaRPr lang="es-PE"/>
                    </a:p>
                  </a:txBody>
                  <a:tcPr/>
                </a:tc>
                <a:tc vMerge="1">
                  <a:txBody>
                    <a:bodyPr/>
                    <a:lstStyle/>
                    <a:p>
                      <a:endParaRPr lang="es-PE"/>
                    </a:p>
                  </a:txBody>
                  <a:tcPr/>
                </a:tc>
                <a:tc>
                  <a:txBody>
                    <a:bodyPr/>
                    <a:lstStyle/>
                    <a:p>
                      <a:pPr rtl="0" fontAlgn="b"/>
                      <a:r>
                        <a:rPr lang="es-PE" sz="800" b="0">
                          <a:effectLst/>
                          <a:latin typeface="+mn-lt"/>
                        </a:rPr>
                        <a:t>BASIC II</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r>
                        <a:rPr lang="es-PE" sz="800" b="0">
                          <a:effectLst/>
                          <a:latin typeface="+mn-lt"/>
                        </a:rPr>
                        <a:t>8 SEMANAS</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rtl="0" fontAlgn="b"/>
                      <a:r>
                        <a:rPr lang="es-PE" sz="800" b="0">
                          <a:effectLst/>
                          <a:latin typeface="+mn-lt"/>
                        </a:rPr>
                        <a:t>1/6/2026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1CEEE"/>
                    </a:solidFill>
                  </a:tcPr>
                </a:tc>
                <a:tc>
                  <a:txBody>
                    <a:bodyPr/>
                    <a:lstStyle/>
                    <a:p>
                      <a:pPr algn="r" rtl="0" fontAlgn="b"/>
                      <a:r>
                        <a:rPr lang="es-PE" sz="800" b="0">
                          <a:effectLst/>
                          <a:latin typeface="+mn-lt"/>
                        </a:rPr>
                        <a:t>26/7/2026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1CEEE"/>
                    </a:solid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28663482"/>
                  </a:ext>
                </a:extLst>
              </a:tr>
              <a:tr h="67733">
                <a:tc vMerge="1">
                  <a:txBody>
                    <a:bodyPr/>
                    <a:lstStyle/>
                    <a:p>
                      <a:endParaRPr lang="es-PE"/>
                    </a:p>
                  </a:txBody>
                  <a:tcPr/>
                </a:tc>
                <a:tc vMerge="1">
                  <a:txBody>
                    <a:bodyPr/>
                    <a:lstStyle/>
                    <a:p>
                      <a:endParaRPr lang="es-PE"/>
                    </a:p>
                  </a:txBody>
                  <a:tcPr/>
                </a:tc>
                <a:tc>
                  <a:txBody>
                    <a:bodyPr/>
                    <a:lstStyle/>
                    <a:p>
                      <a:pPr rtl="0" fontAlgn="b"/>
                      <a:r>
                        <a:rPr lang="es-PE" sz="800" b="0">
                          <a:effectLst/>
                          <a:latin typeface="+mn-lt"/>
                        </a:rPr>
                        <a:t>BASIC III</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r>
                        <a:rPr lang="es-PE" sz="800" b="0">
                          <a:effectLst/>
                          <a:latin typeface="+mn-lt"/>
                        </a:rPr>
                        <a:t>13 SEMANAS</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rtl="0" fontAlgn="b"/>
                      <a:r>
                        <a:rPr lang="es-PE" sz="800" b="0">
                          <a:effectLst/>
                          <a:latin typeface="+mn-lt"/>
                        </a:rPr>
                        <a:t>1/6/2026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1CEEE"/>
                    </a:solid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1CEEE"/>
                    </a:solidFill>
                  </a:tcPr>
                </a:tc>
                <a:tc>
                  <a:txBody>
                    <a:bodyPr/>
                    <a:lstStyle/>
                    <a:p>
                      <a:pPr algn="r" rtl="0" fontAlgn="b"/>
                      <a:r>
                        <a:rPr lang="es-PE" sz="800" b="0">
                          <a:effectLst/>
                          <a:latin typeface="+mn-lt"/>
                        </a:rPr>
                        <a:t>31/8/2026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1CEEE"/>
                    </a:solid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29678795"/>
                  </a:ext>
                </a:extLst>
              </a:tr>
              <a:tr h="67733">
                <a:tc vMerge="1">
                  <a:txBody>
                    <a:bodyPr/>
                    <a:lstStyle/>
                    <a:p>
                      <a:endParaRPr lang="es-PE"/>
                    </a:p>
                  </a:txBody>
                  <a:tcPr/>
                </a:tc>
                <a:tc vMerge="1">
                  <a:txBody>
                    <a:bodyPr/>
                    <a:lstStyle/>
                    <a:p>
                      <a:endParaRPr lang="es-PE"/>
                    </a:p>
                  </a:txBody>
                  <a:tcPr/>
                </a:tc>
                <a:tc>
                  <a:txBody>
                    <a:bodyPr/>
                    <a:lstStyle/>
                    <a:p>
                      <a:pPr rtl="0" fontAlgn="b"/>
                      <a:r>
                        <a:rPr lang="es-PE" sz="800" b="0">
                          <a:effectLst/>
                          <a:latin typeface="+mn-lt"/>
                        </a:rPr>
                        <a:t>INTERMEDIATE I</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r>
                        <a:rPr lang="es-PE" sz="800" b="0">
                          <a:effectLst/>
                          <a:latin typeface="+mn-lt"/>
                        </a:rPr>
                        <a:t>8 SEMANAS</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rtl="0" fontAlgn="b"/>
                      <a:r>
                        <a:rPr lang="es-PE" sz="800" b="0">
                          <a:effectLst/>
                          <a:latin typeface="+mn-lt"/>
                        </a:rPr>
                        <a:t>1/6/2026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1CEEE"/>
                    </a:solidFill>
                  </a:tcPr>
                </a:tc>
                <a:tc>
                  <a:txBody>
                    <a:bodyPr/>
                    <a:lstStyle/>
                    <a:p>
                      <a:pPr algn="r" rtl="0" fontAlgn="b"/>
                      <a:r>
                        <a:rPr lang="es-PE" sz="800" b="0">
                          <a:effectLst/>
                          <a:latin typeface="+mn-lt"/>
                        </a:rPr>
                        <a:t>26/7/2026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1CEEE"/>
                    </a:solid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92142748"/>
                  </a:ext>
                </a:extLst>
              </a:tr>
              <a:tr h="67733">
                <a:tc vMerge="1">
                  <a:txBody>
                    <a:bodyPr/>
                    <a:lstStyle/>
                    <a:p>
                      <a:endParaRPr lang="es-PE"/>
                    </a:p>
                  </a:txBody>
                  <a:tcPr/>
                </a:tc>
                <a:tc vMerge="1">
                  <a:txBody>
                    <a:bodyPr/>
                    <a:lstStyle/>
                    <a:p>
                      <a:endParaRPr lang="es-PE"/>
                    </a:p>
                  </a:txBody>
                  <a:tcPr/>
                </a:tc>
                <a:tc>
                  <a:txBody>
                    <a:bodyPr/>
                    <a:lstStyle/>
                    <a:p>
                      <a:pPr rtl="0" fontAlgn="b"/>
                      <a:r>
                        <a:rPr lang="es-PE" sz="800" b="0">
                          <a:effectLst/>
                          <a:latin typeface="+mn-lt"/>
                        </a:rPr>
                        <a:t>INTERMEDIATE II</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r>
                        <a:rPr lang="es-PE" sz="800" b="0">
                          <a:effectLst/>
                          <a:latin typeface="+mn-lt"/>
                        </a:rPr>
                        <a:t>8 SEMANAS</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rtl="0" fontAlgn="b"/>
                      <a:r>
                        <a:rPr lang="es-PE" sz="800" b="0">
                          <a:effectLst/>
                          <a:latin typeface="+mn-lt"/>
                        </a:rPr>
                        <a:t>1/6/2026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1CEEE"/>
                    </a:solidFill>
                  </a:tcPr>
                </a:tc>
                <a:tc>
                  <a:txBody>
                    <a:bodyPr/>
                    <a:lstStyle/>
                    <a:p>
                      <a:pPr algn="r" rtl="0" fontAlgn="b"/>
                      <a:r>
                        <a:rPr lang="es-PE" sz="800" b="0">
                          <a:effectLst/>
                          <a:latin typeface="+mn-lt"/>
                        </a:rPr>
                        <a:t>26/7/2026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1CEEE"/>
                    </a:solid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75313501"/>
                  </a:ext>
                </a:extLst>
              </a:tr>
              <a:tr h="67733">
                <a:tc vMerge="1">
                  <a:txBody>
                    <a:bodyPr/>
                    <a:lstStyle/>
                    <a:p>
                      <a:endParaRPr lang="es-PE"/>
                    </a:p>
                  </a:txBody>
                  <a:tcPr/>
                </a:tc>
                <a:tc vMerge="1">
                  <a:txBody>
                    <a:bodyPr/>
                    <a:lstStyle/>
                    <a:p>
                      <a:endParaRPr lang="es-PE"/>
                    </a:p>
                  </a:txBody>
                  <a:tcPr/>
                </a:tc>
                <a:tc>
                  <a:txBody>
                    <a:bodyPr/>
                    <a:lstStyle/>
                    <a:p>
                      <a:pPr rtl="0" fontAlgn="b"/>
                      <a:r>
                        <a:rPr lang="es-PE" sz="800" b="0">
                          <a:effectLst/>
                          <a:latin typeface="+mn-lt"/>
                        </a:rPr>
                        <a:t>INTERMEDIATE III</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r>
                        <a:rPr lang="es-PE" sz="800" b="0">
                          <a:effectLst/>
                          <a:latin typeface="+mn-lt"/>
                        </a:rPr>
                        <a:t>13 SEMANAS</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rtl="0" fontAlgn="b"/>
                      <a:r>
                        <a:rPr lang="es-PE" sz="800" b="0">
                          <a:effectLst/>
                          <a:latin typeface="+mn-lt"/>
                        </a:rPr>
                        <a:t>1/6/2026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1CEEE"/>
                    </a:solid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1CEEE"/>
                    </a:solidFill>
                  </a:tcPr>
                </a:tc>
                <a:tc>
                  <a:txBody>
                    <a:bodyPr/>
                    <a:lstStyle/>
                    <a:p>
                      <a:pPr algn="r" rtl="0" fontAlgn="b"/>
                      <a:r>
                        <a:rPr lang="es-PE" sz="800" b="0">
                          <a:effectLst/>
                          <a:latin typeface="+mn-lt"/>
                        </a:rPr>
                        <a:t>31/8/2026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1CEEE"/>
                    </a:solid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75255056"/>
                  </a:ext>
                </a:extLst>
              </a:tr>
              <a:tr h="67733">
                <a:tc vMerge="1">
                  <a:txBody>
                    <a:bodyPr/>
                    <a:lstStyle/>
                    <a:p>
                      <a:endParaRPr lang="es-PE"/>
                    </a:p>
                  </a:txBody>
                  <a:tcPr/>
                </a:tc>
                <a:tc rowSpan="6">
                  <a:txBody>
                    <a:bodyPr/>
                    <a:lstStyle/>
                    <a:p>
                      <a:pPr algn="ctr" rtl="0" fontAlgn="ctr"/>
                      <a:r>
                        <a:rPr lang="es-PE" sz="800" b="0">
                          <a:effectLst/>
                          <a:latin typeface="+mn-lt"/>
                        </a:rPr>
                        <a:t>I07</a:t>
                      </a:r>
                    </a:p>
                  </a:txBody>
                  <a:tcPr marL="2079" marR="2079"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r>
                        <a:rPr lang="es-PE" sz="800" b="0">
                          <a:effectLst/>
                          <a:latin typeface="+mn-lt"/>
                        </a:rPr>
                        <a:t>BASIC I</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r>
                        <a:rPr lang="es-PE" sz="800" b="0">
                          <a:effectLst/>
                          <a:latin typeface="+mn-lt"/>
                        </a:rPr>
                        <a:t>8 SEMANAS</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rtl="0" fontAlgn="b"/>
                      <a:r>
                        <a:rPr lang="es-PE" sz="800" b="0">
                          <a:effectLst/>
                          <a:latin typeface="+mn-lt"/>
                        </a:rPr>
                        <a:t>6/7/2026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CAEDFB"/>
                    </a:solidFill>
                  </a:tcPr>
                </a:tc>
                <a:tc>
                  <a:txBody>
                    <a:bodyPr/>
                    <a:lstStyle/>
                    <a:p>
                      <a:pPr algn="r" rtl="0" fontAlgn="b"/>
                      <a:r>
                        <a:rPr lang="es-PE" sz="800" b="0">
                          <a:effectLst/>
                          <a:latin typeface="+mn-lt"/>
                        </a:rPr>
                        <a:t>30/8/2026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CAEDFB"/>
                    </a:solid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3562230"/>
                  </a:ext>
                </a:extLst>
              </a:tr>
              <a:tr h="67733">
                <a:tc vMerge="1">
                  <a:txBody>
                    <a:bodyPr/>
                    <a:lstStyle/>
                    <a:p>
                      <a:endParaRPr lang="es-PE"/>
                    </a:p>
                  </a:txBody>
                  <a:tcPr/>
                </a:tc>
                <a:tc vMerge="1">
                  <a:txBody>
                    <a:bodyPr/>
                    <a:lstStyle/>
                    <a:p>
                      <a:endParaRPr lang="es-PE"/>
                    </a:p>
                  </a:txBody>
                  <a:tcPr/>
                </a:tc>
                <a:tc>
                  <a:txBody>
                    <a:bodyPr/>
                    <a:lstStyle/>
                    <a:p>
                      <a:pPr rtl="0" fontAlgn="b"/>
                      <a:r>
                        <a:rPr lang="es-PE" sz="800" b="0">
                          <a:effectLst/>
                          <a:latin typeface="+mn-lt"/>
                        </a:rPr>
                        <a:t>BASIC II</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r>
                        <a:rPr lang="es-PE" sz="800" b="0">
                          <a:effectLst/>
                          <a:latin typeface="+mn-lt"/>
                        </a:rPr>
                        <a:t>8 SEMANAS</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rtl="0" fontAlgn="b"/>
                      <a:r>
                        <a:rPr lang="es-PE" sz="800" b="0">
                          <a:effectLst/>
                          <a:latin typeface="+mn-lt"/>
                        </a:rPr>
                        <a:t>6/7/2026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CAEDFB"/>
                    </a:solidFill>
                  </a:tcPr>
                </a:tc>
                <a:tc>
                  <a:txBody>
                    <a:bodyPr/>
                    <a:lstStyle/>
                    <a:p>
                      <a:pPr algn="r" rtl="0" fontAlgn="b"/>
                      <a:r>
                        <a:rPr lang="es-PE" sz="800" b="0">
                          <a:effectLst/>
                          <a:latin typeface="+mn-lt"/>
                        </a:rPr>
                        <a:t>30/8/2026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CAEDFB"/>
                    </a:solid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214546"/>
                  </a:ext>
                </a:extLst>
              </a:tr>
              <a:tr h="67733">
                <a:tc vMerge="1">
                  <a:txBody>
                    <a:bodyPr/>
                    <a:lstStyle/>
                    <a:p>
                      <a:endParaRPr lang="es-PE"/>
                    </a:p>
                  </a:txBody>
                  <a:tcPr/>
                </a:tc>
                <a:tc vMerge="1">
                  <a:txBody>
                    <a:bodyPr/>
                    <a:lstStyle/>
                    <a:p>
                      <a:endParaRPr lang="es-PE"/>
                    </a:p>
                  </a:txBody>
                  <a:tcPr/>
                </a:tc>
                <a:tc>
                  <a:txBody>
                    <a:bodyPr/>
                    <a:lstStyle/>
                    <a:p>
                      <a:pPr rtl="0" fontAlgn="b"/>
                      <a:r>
                        <a:rPr lang="es-PE" sz="800" b="0">
                          <a:effectLst/>
                          <a:latin typeface="+mn-lt"/>
                        </a:rPr>
                        <a:t>BASIC III</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r>
                        <a:rPr lang="es-PE" sz="800" b="0">
                          <a:effectLst/>
                          <a:latin typeface="+mn-lt"/>
                        </a:rPr>
                        <a:t>13 SEMANAS</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rtl="0" fontAlgn="b"/>
                      <a:r>
                        <a:rPr lang="es-PE" sz="800" b="0">
                          <a:effectLst/>
                          <a:latin typeface="+mn-lt"/>
                        </a:rPr>
                        <a:t>6/7/2026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CAEDFB"/>
                    </a:solid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CAEDFB"/>
                    </a:solidFill>
                  </a:tcPr>
                </a:tc>
                <a:tc>
                  <a:txBody>
                    <a:bodyPr/>
                    <a:lstStyle/>
                    <a:p>
                      <a:pPr algn="r" rtl="0" fontAlgn="b"/>
                      <a:r>
                        <a:rPr lang="es-PE" sz="800" b="0">
                          <a:effectLst/>
                          <a:latin typeface="+mn-lt"/>
                        </a:rPr>
                        <a:t>30/9/2026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CAEDFB"/>
                    </a:solidFill>
                  </a:tcPr>
                </a:tc>
                <a:extLst>
                  <a:ext uri="{0D108BD9-81ED-4DB2-BD59-A6C34878D82A}">
                    <a16:rowId xmlns:a16="http://schemas.microsoft.com/office/drawing/2014/main" val="3007411199"/>
                  </a:ext>
                </a:extLst>
              </a:tr>
              <a:tr h="67733">
                <a:tc vMerge="1">
                  <a:txBody>
                    <a:bodyPr/>
                    <a:lstStyle/>
                    <a:p>
                      <a:endParaRPr lang="es-PE"/>
                    </a:p>
                  </a:txBody>
                  <a:tcPr/>
                </a:tc>
                <a:tc vMerge="1">
                  <a:txBody>
                    <a:bodyPr/>
                    <a:lstStyle/>
                    <a:p>
                      <a:endParaRPr lang="es-PE"/>
                    </a:p>
                  </a:txBody>
                  <a:tcPr/>
                </a:tc>
                <a:tc>
                  <a:txBody>
                    <a:bodyPr/>
                    <a:lstStyle/>
                    <a:p>
                      <a:pPr rtl="0" fontAlgn="b"/>
                      <a:r>
                        <a:rPr lang="es-PE" sz="800" b="0">
                          <a:effectLst/>
                          <a:latin typeface="+mn-lt"/>
                        </a:rPr>
                        <a:t>INTERMEDIATE I</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r>
                        <a:rPr lang="es-PE" sz="800" b="0">
                          <a:effectLst/>
                          <a:latin typeface="+mn-lt"/>
                        </a:rPr>
                        <a:t>8 SEMANAS</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rtl="0" fontAlgn="b"/>
                      <a:r>
                        <a:rPr lang="es-PE" sz="800" b="0">
                          <a:effectLst/>
                          <a:latin typeface="+mn-lt"/>
                        </a:rPr>
                        <a:t>6/7/2026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CAEDFB"/>
                    </a:solidFill>
                  </a:tcPr>
                </a:tc>
                <a:tc>
                  <a:txBody>
                    <a:bodyPr/>
                    <a:lstStyle/>
                    <a:p>
                      <a:pPr algn="r" rtl="0" fontAlgn="b"/>
                      <a:r>
                        <a:rPr lang="es-PE" sz="800" b="0">
                          <a:effectLst/>
                          <a:latin typeface="+mn-lt"/>
                        </a:rPr>
                        <a:t>30/8/2026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CAEDFB"/>
                    </a:solid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97703712"/>
                  </a:ext>
                </a:extLst>
              </a:tr>
              <a:tr h="67733">
                <a:tc vMerge="1">
                  <a:txBody>
                    <a:bodyPr/>
                    <a:lstStyle/>
                    <a:p>
                      <a:endParaRPr lang="es-PE"/>
                    </a:p>
                  </a:txBody>
                  <a:tcPr/>
                </a:tc>
                <a:tc vMerge="1">
                  <a:txBody>
                    <a:bodyPr/>
                    <a:lstStyle/>
                    <a:p>
                      <a:endParaRPr lang="es-PE"/>
                    </a:p>
                  </a:txBody>
                  <a:tcPr/>
                </a:tc>
                <a:tc>
                  <a:txBody>
                    <a:bodyPr/>
                    <a:lstStyle/>
                    <a:p>
                      <a:pPr rtl="0" fontAlgn="b"/>
                      <a:r>
                        <a:rPr lang="es-PE" sz="800" b="0">
                          <a:effectLst/>
                          <a:latin typeface="+mn-lt"/>
                        </a:rPr>
                        <a:t>INTERMEDIATE II</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r>
                        <a:rPr lang="es-PE" sz="800" b="0">
                          <a:effectLst/>
                          <a:latin typeface="+mn-lt"/>
                        </a:rPr>
                        <a:t>8 SEMANAS</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rtl="0" fontAlgn="b"/>
                      <a:r>
                        <a:rPr lang="es-PE" sz="800" b="0">
                          <a:effectLst/>
                          <a:latin typeface="+mn-lt"/>
                        </a:rPr>
                        <a:t>6/7/2026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CAEDFB"/>
                    </a:solidFill>
                  </a:tcPr>
                </a:tc>
                <a:tc>
                  <a:txBody>
                    <a:bodyPr/>
                    <a:lstStyle/>
                    <a:p>
                      <a:pPr algn="r" rtl="0" fontAlgn="b"/>
                      <a:r>
                        <a:rPr lang="es-PE" sz="800" b="0">
                          <a:effectLst/>
                          <a:latin typeface="+mn-lt"/>
                        </a:rPr>
                        <a:t>30/8/2026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CAEDFB"/>
                    </a:solid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88256853"/>
                  </a:ext>
                </a:extLst>
              </a:tr>
              <a:tr h="67733">
                <a:tc vMerge="1">
                  <a:txBody>
                    <a:bodyPr/>
                    <a:lstStyle/>
                    <a:p>
                      <a:endParaRPr lang="es-PE"/>
                    </a:p>
                  </a:txBody>
                  <a:tcPr/>
                </a:tc>
                <a:tc vMerge="1">
                  <a:txBody>
                    <a:bodyPr/>
                    <a:lstStyle/>
                    <a:p>
                      <a:endParaRPr lang="es-PE"/>
                    </a:p>
                  </a:txBody>
                  <a:tcPr/>
                </a:tc>
                <a:tc>
                  <a:txBody>
                    <a:bodyPr/>
                    <a:lstStyle/>
                    <a:p>
                      <a:pPr rtl="0" fontAlgn="b"/>
                      <a:r>
                        <a:rPr lang="es-PE" sz="800" b="0">
                          <a:effectLst/>
                          <a:latin typeface="+mn-lt"/>
                        </a:rPr>
                        <a:t>INTERMEDIATE III</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r>
                        <a:rPr lang="es-PE" sz="800" b="0">
                          <a:effectLst/>
                          <a:latin typeface="+mn-lt"/>
                        </a:rPr>
                        <a:t>13 SEMANAS</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rtl="0" fontAlgn="b"/>
                      <a:r>
                        <a:rPr lang="es-PE" sz="800" b="0">
                          <a:effectLst/>
                          <a:latin typeface="+mn-lt"/>
                        </a:rPr>
                        <a:t>6/7/2026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CAEDFB"/>
                    </a:solid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CAEDFB"/>
                    </a:solidFill>
                  </a:tcPr>
                </a:tc>
                <a:tc>
                  <a:txBody>
                    <a:bodyPr/>
                    <a:lstStyle/>
                    <a:p>
                      <a:pPr algn="r" rtl="0" fontAlgn="b"/>
                      <a:r>
                        <a:rPr lang="es-PE" sz="800" b="0" dirty="0">
                          <a:effectLst/>
                          <a:latin typeface="+mn-lt"/>
                        </a:rPr>
                        <a:t>30/9/2026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CAEDFB"/>
                    </a:solidFill>
                  </a:tcPr>
                </a:tc>
                <a:extLst>
                  <a:ext uri="{0D108BD9-81ED-4DB2-BD59-A6C34878D82A}">
                    <a16:rowId xmlns:a16="http://schemas.microsoft.com/office/drawing/2014/main" val="3075132527"/>
                  </a:ext>
                </a:extLst>
              </a:tr>
            </a:tbl>
          </a:graphicData>
        </a:graphic>
      </p:graphicFrame>
    </p:spTree>
    <p:extLst>
      <p:ext uri="{BB962C8B-B14F-4D97-AF65-F5344CB8AC3E}">
        <p14:creationId xmlns:p14="http://schemas.microsoft.com/office/powerpoint/2010/main" val="42797711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left)">
                                      <p:cBhvr>
                                        <p:cTn id="10" dur="500"/>
                                        <p:tgtEl>
                                          <p:spTgt spid="8"/>
                                        </p:tgtEl>
                                      </p:cBhvr>
                                    </p:animEffect>
                                  </p:childTnLst>
                                </p:cTn>
                              </p:par>
                            </p:childTnLst>
                          </p:cTn>
                        </p:par>
                        <p:par>
                          <p:cTn id="11" fill="hold">
                            <p:stCondLst>
                              <p:cond delay="500"/>
                            </p:stCondLst>
                            <p:childTnLst>
                              <p:par>
                                <p:cTn id="12" presetID="22" presetClass="entr" presetSubtype="1" fill="hold" nodeType="after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wipe(up)">
                                      <p:cBhvr>
                                        <p:cTn id="14"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7CAB2B86-4E3B-C98C-411E-958BEFE187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2528" y="6154887"/>
            <a:ext cx="2234242" cy="525923"/>
          </a:xfrm>
          <a:prstGeom prst="rect">
            <a:avLst/>
          </a:prstGeom>
        </p:spPr>
      </p:pic>
      <p:pic>
        <p:nvPicPr>
          <p:cNvPr id="4" name="Picture 4" descr="Ellucian Student Reseñas 2026: Detalles, Precios y Características | G2">
            <a:extLst>
              <a:ext uri="{FF2B5EF4-FFF2-40B4-BE49-F238E27FC236}">
                <a16:creationId xmlns:a16="http://schemas.microsoft.com/office/drawing/2014/main" id="{7352B780-8C7C-7B91-F3EE-5E6EF2C2E4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98101" y="5901780"/>
            <a:ext cx="1821371" cy="956220"/>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0AEBA78F-8C98-5D4D-384F-95B753FFADE4}"/>
              </a:ext>
            </a:extLst>
          </p:cNvPr>
          <p:cNvSpPr txBox="1"/>
          <p:nvPr/>
        </p:nvSpPr>
        <p:spPr>
          <a:xfrm>
            <a:off x="431320" y="241540"/>
            <a:ext cx="7295587" cy="523220"/>
          </a:xfrm>
          <a:prstGeom prst="rect">
            <a:avLst/>
          </a:prstGeom>
          <a:noFill/>
        </p:spPr>
        <p:txBody>
          <a:bodyPr wrap="none" rtlCol="0">
            <a:spAutoFit/>
          </a:bodyPr>
          <a:lstStyle/>
          <a:p>
            <a:r>
              <a:rPr lang="es-ES" sz="2800" b="1" dirty="0">
                <a:latin typeface="Montserrat" pitchFamily="2" charset="0"/>
              </a:rPr>
              <a:t>CRONOGRAMA ACADÉMICO IDIOMAS</a:t>
            </a:r>
            <a:endParaRPr lang="es-PE" sz="2800" b="1" dirty="0">
              <a:latin typeface="Montserrat" pitchFamily="2" charset="0"/>
            </a:endParaRPr>
          </a:p>
        </p:txBody>
      </p:sp>
      <p:sp>
        <p:nvSpPr>
          <p:cNvPr id="8" name="Rectángulo 7">
            <a:extLst>
              <a:ext uri="{FF2B5EF4-FFF2-40B4-BE49-F238E27FC236}">
                <a16:creationId xmlns:a16="http://schemas.microsoft.com/office/drawing/2014/main" id="{A16BCE08-E23C-F264-A6E3-E4019979D2E2}"/>
              </a:ext>
            </a:extLst>
          </p:cNvPr>
          <p:cNvSpPr/>
          <p:nvPr/>
        </p:nvSpPr>
        <p:spPr>
          <a:xfrm>
            <a:off x="7663064" y="241540"/>
            <a:ext cx="4528935" cy="445583"/>
          </a:xfrm>
          <a:prstGeom prst="rect">
            <a:avLst/>
          </a:prstGeom>
          <a:gradFill flip="none" rotWithShape="1">
            <a:gsLst>
              <a:gs pos="0">
                <a:schemeClr val="accent6">
                  <a:lumMod val="0"/>
                  <a:lumOff val="100000"/>
                </a:schemeClr>
              </a:gs>
              <a:gs pos="66000">
                <a:schemeClr val="accent6">
                  <a:lumMod val="100000"/>
                </a:schemeClr>
              </a:gs>
            </a:gsLst>
            <a:lin ang="0" scaled="1"/>
            <a:tileRect/>
          </a:gra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s-PE"/>
          </a:p>
        </p:txBody>
      </p:sp>
      <p:sp>
        <p:nvSpPr>
          <p:cNvPr id="6" name="CuadroTexto 5">
            <a:extLst>
              <a:ext uri="{FF2B5EF4-FFF2-40B4-BE49-F238E27FC236}">
                <a16:creationId xmlns:a16="http://schemas.microsoft.com/office/drawing/2014/main" id="{AC33DC36-253A-547B-7A30-A152C2F6B4CE}"/>
              </a:ext>
            </a:extLst>
          </p:cNvPr>
          <p:cNvSpPr txBox="1"/>
          <p:nvPr/>
        </p:nvSpPr>
        <p:spPr>
          <a:xfrm>
            <a:off x="4528936" y="6386396"/>
            <a:ext cx="3134128" cy="276999"/>
          </a:xfrm>
          <a:prstGeom prst="rect">
            <a:avLst/>
          </a:prstGeom>
          <a:noFill/>
        </p:spPr>
        <p:txBody>
          <a:bodyPr wrap="none" rtlCol="0">
            <a:spAutoFit/>
          </a:bodyPr>
          <a:lstStyle/>
          <a:p>
            <a:pPr algn="ctr"/>
            <a:r>
              <a:rPr lang="es-ES" sz="1200" i="1" dirty="0"/>
              <a:t>Elaborado por: Ing. Liliana Ocampo Moreno</a:t>
            </a:r>
            <a:endParaRPr lang="es-PE" sz="1200" i="1" dirty="0"/>
          </a:p>
        </p:txBody>
      </p:sp>
      <p:graphicFrame>
        <p:nvGraphicFramePr>
          <p:cNvPr id="5" name="Tabla 4">
            <a:extLst>
              <a:ext uri="{FF2B5EF4-FFF2-40B4-BE49-F238E27FC236}">
                <a16:creationId xmlns:a16="http://schemas.microsoft.com/office/drawing/2014/main" id="{4EEDD470-2B28-FC88-B13B-06B3A0CB5638}"/>
              </a:ext>
            </a:extLst>
          </p:cNvPr>
          <p:cNvGraphicFramePr>
            <a:graphicFrameLocks noGrp="1"/>
          </p:cNvGraphicFramePr>
          <p:nvPr>
            <p:extLst>
              <p:ext uri="{D42A27DB-BD31-4B8C-83A1-F6EECF244321}">
                <p14:modId xmlns:p14="http://schemas.microsoft.com/office/powerpoint/2010/main" val="787544847"/>
              </p:ext>
            </p:extLst>
          </p:nvPr>
        </p:nvGraphicFramePr>
        <p:xfrm>
          <a:off x="353682" y="1454309"/>
          <a:ext cx="11484635" cy="3901440"/>
        </p:xfrm>
        <a:graphic>
          <a:graphicData uri="http://schemas.openxmlformats.org/drawingml/2006/table">
            <a:tbl>
              <a:tblPr/>
              <a:tblGrid>
                <a:gridCol w="803319">
                  <a:extLst>
                    <a:ext uri="{9D8B030D-6E8A-4147-A177-3AD203B41FA5}">
                      <a16:colId xmlns:a16="http://schemas.microsoft.com/office/drawing/2014/main" val="1249337315"/>
                    </a:ext>
                  </a:extLst>
                </a:gridCol>
                <a:gridCol w="803319">
                  <a:extLst>
                    <a:ext uri="{9D8B030D-6E8A-4147-A177-3AD203B41FA5}">
                      <a16:colId xmlns:a16="http://schemas.microsoft.com/office/drawing/2014/main" val="2901043594"/>
                    </a:ext>
                  </a:extLst>
                </a:gridCol>
                <a:gridCol w="1211786">
                  <a:extLst>
                    <a:ext uri="{9D8B030D-6E8A-4147-A177-3AD203B41FA5}">
                      <a16:colId xmlns:a16="http://schemas.microsoft.com/office/drawing/2014/main" val="2984408479"/>
                    </a:ext>
                  </a:extLst>
                </a:gridCol>
                <a:gridCol w="660350">
                  <a:extLst>
                    <a:ext uri="{9D8B030D-6E8A-4147-A177-3AD203B41FA5}">
                      <a16:colId xmlns:a16="http://schemas.microsoft.com/office/drawing/2014/main" val="3940658435"/>
                    </a:ext>
                  </a:extLst>
                </a:gridCol>
                <a:gridCol w="554223">
                  <a:extLst>
                    <a:ext uri="{9D8B030D-6E8A-4147-A177-3AD203B41FA5}">
                      <a16:colId xmlns:a16="http://schemas.microsoft.com/office/drawing/2014/main" val="317769749"/>
                    </a:ext>
                  </a:extLst>
                </a:gridCol>
                <a:gridCol w="554223">
                  <a:extLst>
                    <a:ext uri="{9D8B030D-6E8A-4147-A177-3AD203B41FA5}">
                      <a16:colId xmlns:a16="http://schemas.microsoft.com/office/drawing/2014/main" val="3632591588"/>
                    </a:ext>
                  </a:extLst>
                </a:gridCol>
                <a:gridCol w="554223">
                  <a:extLst>
                    <a:ext uri="{9D8B030D-6E8A-4147-A177-3AD203B41FA5}">
                      <a16:colId xmlns:a16="http://schemas.microsoft.com/office/drawing/2014/main" val="3208994128"/>
                    </a:ext>
                  </a:extLst>
                </a:gridCol>
                <a:gridCol w="554223">
                  <a:extLst>
                    <a:ext uri="{9D8B030D-6E8A-4147-A177-3AD203B41FA5}">
                      <a16:colId xmlns:a16="http://schemas.microsoft.com/office/drawing/2014/main" val="400554162"/>
                    </a:ext>
                  </a:extLst>
                </a:gridCol>
                <a:gridCol w="554223">
                  <a:extLst>
                    <a:ext uri="{9D8B030D-6E8A-4147-A177-3AD203B41FA5}">
                      <a16:colId xmlns:a16="http://schemas.microsoft.com/office/drawing/2014/main" val="3793973045"/>
                    </a:ext>
                  </a:extLst>
                </a:gridCol>
                <a:gridCol w="554223">
                  <a:extLst>
                    <a:ext uri="{9D8B030D-6E8A-4147-A177-3AD203B41FA5}">
                      <a16:colId xmlns:a16="http://schemas.microsoft.com/office/drawing/2014/main" val="2125317779"/>
                    </a:ext>
                  </a:extLst>
                </a:gridCol>
                <a:gridCol w="554223">
                  <a:extLst>
                    <a:ext uri="{9D8B030D-6E8A-4147-A177-3AD203B41FA5}">
                      <a16:colId xmlns:a16="http://schemas.microsoft.com/office/drawing/2014/main" val="3567991909"/>
                    </a:ext>
                  </a:extLst>
                </a:gridCol>
                <a:gridCol w="595222">
                  <a:extLst>
                    <a:ext uri="{9D8B030D-6E8A-4147-A177-3AD203B41FA5}">
                      <a16:colId xmlns:a16="http://schemas.microsoft.com/office/drawing/2014/main" val="2880454685"/>
                    </a:ext>
                  </a:extLst>
                </a:gridCol>
                <a:gridCol w="543465">
                  <a:extLst>
                    <a:ext uri="{9D8B030D-6E8A-4147-A177-3AD203B41FA5}">
                      <a16:colId xmlns:a16="http://schemas.microsoft.com/office/drawing/2014/main" val="4152465967"/>
                    </a:ext>
                  </a:extLst>
                </a:gridCol>
                <a:gridCol w="629728">
                  <a:extLst>
                    <a:ext uri="{9D8B030D-6E8A-4147-A177-3AD203B41FA5}">
                      <a16:colId xmlns:a16="http://schemas.microsoft.com/office/drawing/2014/main" val="4260842394"/>
                    </a:ext>
                  </a:extLst>
                </a:gridCol>
                <a:gridCol w="642344">
                  <a:extLst>
                    <a:ext uri="{9D8B030D-6E8A-4147-A177-3AD203B41FA5}">
                      <a16:colId xmlns:a16="http://schemas.microsoft.com/office/drawing/2014/main" val="2554431935"/>
                    </a:ext>
                  </a:extLst>
                </a:gridCol>
                <a:gridCol w="571847">
                  <a:extLst>
                    <a:ext uri="{9D8B030D-6E8A-4147-A177-3AD203B41FA5}">
                      <a16:colId xmlns:a16="http://schemas.microsoft.com/office/drawing/2014/main" val="911551695"/>
                    </a:ext>
                  </a:extLst>
                </a:gridCol>
                <a:gridCol w="571847">
                  <a:extLst>
                    <a:ext uri="{9D8B030D-6E8A-4147-A177-3AD203B41FA5}">
                      <a16:colId xmlns:a16="http://schemas.microsoft.com/office/drawing/2014/main" val="3098135095"/>
                    </a:ext>
                  </a:extLst>
                </a:gridCol>
                <a:gridCol w="571847">
                  <a:extLst>
                    <a:ext uri="{9D8B030D-6E8A-4147-A177-3AD203B41FA5}">
                      <a16:colId xmlns:a16="http://schemas.microsoft.com/office/drawing/2014/main" val="3838178668"/>
                    </a:ext>
                  </a:extLst>
                </a:gridCol>
              </a:tblGrid>
              <a:tr h="46418">
                <a:tc>
                  <a:txBody>
                    <a:bodyPr/>
                    <a:lstStyle/>
                    <a:p>
                      <a:pPr rtl="0" fontAlgn="b"/>
                      <a:r>
                        <a:rPr lang="es-PE" sz="800" b="1" dirty="0">
                          <a:solidFill>
                            <a:srgbClr val="FFFFFF"/>
                          </a:solidFill>
                          <a:effectLst/>
                          <a:latin typeface="+mn-lt"/>
                        </a:rPr>
                        <a:t>PERIODO</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3F3F3F"/>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s-PE" sz="800" b="1" dirty="0">
                          <a:solidFill>
                            <a:srgbClr val="FFFFFF"/>
                          </a:solidFill>
                          <a:effectLst/>
                          <a:latin typeface="+mn-lt"/>
                        </a:rPr>
                        <a:t>PARTE DE PERIODO</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3F3F3F"/>
                    </a:solidFill>
                  </a:tcPr>
                </a:tc>
                <a:tc>
                  <a:txBody>
                    <a:bodyPr/>
                    <a:lstStyle/>
                    <a:p>
                      <a:pPr rtl="0" fontAlgn="b"/>
                      <a:r>
                        <a:rPr lang="es-PE" sz="800" b="1">
                          <a:solidFill>
                            <a:srgbClr val="FFFFFF"/>
                          </a:solidFill>
                          <a:effectLst/>
                          <a:latin typeface="+mn-lt"/>
                        </a:rPr>
                        <a:t>CURSO</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3F3F3F"/>
                    </a:solidFill>
                  </a:tcPr>
                </a:tc>
                <a:tc>
                  <a:txBody>
                    <a:bodyPr/>
                    <a:lstStyle/>
                    <a:p>
                      <a:pPr algn="ctr" rtl="0" fontAlgn="b"/>
                      <a:r>
                        <a:rPr lang="es-PE" sz="800" b="1" dirty="0">
                          <a:solidFill>
                            <a:srgbClr val="FFFFFF"/>
                          </a:solidFill>
                          <a:effectLst/>
                          <a:latin typeface="+mn-lt"/>
                        </a:rPr>
                        <a:t>DURACIÓN</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3F3F3F"/>
                    </a:solidFill>
                  </a:tcPr>
                </a:tc>
                <a:tc>
                  <a:txBody>
                    <a:bodyPr/>
                    <a:lstStyle/>
                    <a:p>
                      <a:pPr algn="ctr" rtl="0" fontAlgn="b"/>
                      <a:r>
                        <a:rPr lang="es-PE" sz="800" b="1" dirty="0">
                          <a:solidFill>
                            <a:srgbClr val="FFFFFF"/>
                          </a:solidFill>
                          <a:effectLst/>
                          <a:latin typeface="+mn-lt"/>
                        </a:rPr>
                        <a:t>ENERO</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3F3F3F"/>
                    </a:solidFill>
                  </a:tcPr>
                </a:tc>
                <a:tc>
                  <a:txBody>
                    <a:bodyPr/>
                    <a:lstStyle/>
                    <a:p>
                      <a:pPr algn="ctr" rtl="0" fontAlgn="b"/>
                      <a:r>
                        <a:rPr lang="es-PE" sz="800" b="1">
                          <a:solidFill>
                            <a:srgbClr val="FFFFFF"/>
                          </a:solidFill>
                          <a:effectLst/>
                          <a:latin typeface="+mn-lt"/>
                        </a:rPr>
                        <a:t>FEBRERO</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3F3F3F"/>
                    </a:solidFill>
                  </a:tcPr>
                </a:tc>
                <a:tc>
                  <a:txBody>
                    <a:bodyPr/>
                    <a:lstStyle/>
                    <a:p>
                      <a:pPr algn="ctr" rtl="0" fontAlgn="b"/>
                      <a:r>
                        <a:rPr lang="es-PE" sz="800" b="1">
                          <a:solidFill>
                            <a:srgbClr val="FFFFFF"/>
                          </a:solidFill>
                          <a:effectLst/>
                          <a:latin typeface="+mn-lt"/>
                        </a:rPr>
                        <a:t>MARZO</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3F3F3F"/>
                    </a:solidFill>
                  </a:tcPr>
                </a:tc>
                <a:tc>
                  <a:txBody>
                    <a:bodyPr/>
                    <a:lstStyle/>
                    <a:p>
                      <a:pPr algn="ctr" rtl="0" fontAlgn="b"/>
                      <a:r>
                        <a:rPr lang="es-PE" sz="800" b="1">
                          <a:solidFill>
                            <a:srgbClr val="FFFFFF"/>
                          </a:solidFill>
                          <a:effectLst/>
                          <a:latin typeface="+mn-lt"/>
                        </a:rPr>
                        <a:t>ABRIL</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3F3F3F"/>
                    </a:solidFill>
                  </a:tcPr>
                </a:tc>
                <a:tc>
                  <a:txBody>
                    <a:bodyPr/>
                    <a:lstStyle/>
                    <a:p>
                      <a:pPr algn="ctr" rtl="0" fontAlgn="b"/>
                      <a:r>
                        <a:rPr lang="es-PE" sz="800" b="1">
                          <a:solidFill>
                            <a:srgbClr val="FFFFFF"/>
                          </a:solidFill>
                          <a:effectLst/>
                          <a:latin typeface="+mn-lt"/>
                        </a:rPr>
                        <a:t>MAYO</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3F3F3F"/>
                    </a:solidFill>
                  </a:tcPr>
                </a:tc>
                <a:tc>
                  <a:txBody>
                    <a:bodyPr/>
                    <a:lstStyle/>
                    <a:p>
                      <a:pPr algn="ctr" rtl="0" fontAlgn="b"/>
                      <a:r>
                        <a:rPr lang="es-PE" sz="800" b="1">
                          <a:solidFill>
                            <a:srgbClr val="FFFFFF"/>
                          </a:solidFill>
                          <a:effectLst/>
                          <a:latin typeface="+mn-lt"/>
                        </a:rPr>
                        <a:t>JUNIO</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3F3F3F"/>
                    </a:solidFill>
                  </a:tcPr>
                </a:tc>
                <a:tc>
                  <a:txBody>
                    <a:bodyPr/>
                    <a:lstStyle/>
                    <a:p>
                      <a:pPr algn="ctr" rtl="0" fontAlgn="b"/>
                      <a:r>
                        <a:rPr lang="es-PE" sz="800" b="1">
                          <a:solidFill>
                            <a:srgbClr val="FFFFFF"/>
                          </a:solidFill>
                          <a:effectLst/>
                          <a:latin typeface="+mn-lt"/>
                        </a:rPr>
                        <a:t>JULIO</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3F3F3F"/>
                    </a:solidFill>
                  </a:tcPr>
                </a:tc>
                <a:tc>
                  <a:txBody>
                    <a:bodyPr/>
                    <a:lstStyle/>
                    <a:p>
                      <a:pPr algn="ctr" rtl="0" fontAlgn="b"/>
                      <a:r>
                        <a:rPr lang="es-PE" sz="800" b="1">
                          <a:solidFill>
                            <a:srgbClr val="FFFFFF"/>
                          </a:solidFill>
                          <a:effectLst/>
                          <a:latin typeface="+mn-lt"/>
                        </a:rPr>
                        <a:t>AGOSTO</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3F3F3F"/>
                    </a:solidFill>
                  </a:tcPr>
                </a:tc>
                <a:tc>
                  <a:txBody>
                    <a:bodyPr/>
                    <a:lstStyle/>
                    <a:p>
                      <a:pPr algn="ctr" rtl="0" fontAlgn="b"/>
                      <a:r>
                        <a:rPr lang="es-PE" sz="800" b="1">
                          <a:solidFill>
                            <a:srgbClr val="FFFFFF"/>
                          </a:solidFill>
                          <a:effectLst/>
                          <a:latin typeface="+mn-lt"/>
                        </a:rPr>
                        <a:t>SETIEMBRE</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3F3F3F"/>
                    </a:solidFill>
                  </a:tcPr>
                </a:tc>
                <a:tc>
                  <a:txBody>
                    <a:bodyPr/>
                    <a:lstStyle/>
                    <a:p>
                      <a:pPr algn="ctr" rtl="0" fontAlgn="b"/>
                      <a:r>
                        <a:rPr lang="es-PE" sz="800" b="1">
                          <a:solidFill>
                            <a:srgbClr val="FFFFFF"/>
                          </a:solidFill>
                          <a:effectLst/>
                          <a:latin typeface="+mn-lt"/>
                        </a:rPr>
                        <a:t>OCTUBRE</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3F3F3F"/>
                    </a:solidFill>
                  </a:tcPr>
                </a:tc>
                <a:tc>
                  <a:txBody>
                    <a:bodyPr/>
                    <a:lstStyle/>
                    <a:p>
                      <a:pPr algn="ctr" rtl="0" fontAlgn="b"/>
                      <a:r>
                        <a:rPr lang="es-PE" sz="800" b="1">
                          <a:solidFill>
                            <a:srgbClr val="FFFFFF"/>
                          </a:solidFill>
                          <a:effectLst/>
                          <a:latin typeface="+mn-lt"/>
                        </a:rPr>
                        <a:t>NOVIEMBRE</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3F3F3F"/>
                    </a:solidFill>
                  </a:tcPr>
                </a:tc>
                <a:tc>
                  <a:txBody>
                    <a:bodyPr/>
                    <a:lstStyle/>
                    <a:p>
                      <a:pPr algn="ctr" rtl="0" fontAlgn="b"/>
                      <a:r>
                        <a:rPr lang="es-PE" sz="800" b="1">
                          <a:solidFill>
                            <a:srgbClr val="FFFFFF"/>
                          </a:solidFill>
                          <a:effectLst/>
                          <a:latin typeface="+mn-lt"/>
                        </a:rPr>
                        <a:t>DICIEMBRE</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3F3F3F"/>
                    </a:solidFill>
                  </a:tcPr>
                </a:tc>
                <a:tc>
                  <a:txBody>
                    <a:bodyPr/>
                    <a:lstStyle/>
                    <a:p>
                      <a:pPr algn="ctr" rtl="0" fontAlgn="b"/>
                      <a:r>
                        <a:rPr lang="es-PE" sz="800" b="1">
                          <a:solidFill>
                            <a:srgbClr val="FFFFFF"/>
                          </a:solidFill>
                          <a:effectLst/>
                          <a:latin typeface="+mn-lt"/>
                        </a:rPr>
                        <a:t>ENERO</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3F3F3F"/>
                    </a:solidFill>
                  </a:tcPr>
                </a:tc>
                <a:tc>
                  <a:txBody>
                    <a:bodyPr/>
                    <a:lstStyle/>
                    <a:p>
                      <a:pPr algn="ctr" rtl="0" fontAlgn="b"/>
                      <a:r>
                        <a:rPr lang="es-PE" sz="800" b="1">
                          <a:solidFill>
                            <a:srgbClr val="FFFFFF"/>
                          </a:solidFill>
                          <a:effectLst/>
                          <a:latin typeface="+mn-lt"/>
                        </a:rPr>
                        <a:t>FEBRERO</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3F3F3F"/>
                    </a:solidFill>
                  </a:tcPr>
                </a:tc>
                <a:extLst>
                  <a:ext uri="{0D108BD9-81ED-4DB2-BD59-A6C34878D82A}">
                    <a16:rowId xmlns:a16="http://schemas.microsoft.com/office/drawing/2014/main" val="1327061825"/>
                  </a:ext>
                </a:extLst>
              </a:tr>
              <a:tr h="69627">
                <a:tc rowSpan="30">
                  <a:txBody>
                    <a:bodyPr/>
                    <a:lstStyle/>
                    <a:p>
                      <a:pPr algn="ctr" rtl="0" fontAlgn="ctr"/>
                      <a:r>
                        <a:rPr lang="es-PE" sz="800" b="0">
                          <a:effectLst/>
                          <a:latin typeface="+mn-lt"/>
                        </a:rPr>
                        <a:t>202656</a:t>
                      </a:r>
                    </a:p>
                  </a:txBody>
                  <a:tcPr marL="2079" marR="2079"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rowSpan="6">
                  <a:txBody>
                    <a:bodyPr/>
                    <a:lstStyle/>
                    <a:p>
                      <a:pPr algn="ctr" rtl="0" fontAlgn="ctr"/>
                      <a:r>
                        <a:rPr lang="es-PE" sz="800" b="0">
                          <a:effectLst/>
                          <a:latin typeface="+mn-lt"/>
                        </a:rPr>
                        <a:t>I08</a:t>
                      </a:r>
                    </a:p>
                  </a:txBody>
                  <a:tcPr marL="2079" marR="2079"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r>
                        <a:rPr lang="es-PE" sz="800" b="0">
                          <a:effectLst/>
                          <a:latin typeface="+mn-lt"/>
                        </a:rPr>
                        <a:t>BASIC I</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r>
                        <a:rPr lang="es-PE" sz="800" b="0">
                          <a:effectLst/>
                          <a:latin typeface="+mn-lt"/>
                        </a:rPr>
                        <a:t>8 SEMANAS</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dirty="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rtl="0" fontAlgn="b"/>
                      <a:r>
                        <a:rPr lang="es-PE" sz="800" b="0">
                          <a:effectLst/>
                          <a:latin typeface="+mn-lt"/>
                        </a:rPr>
                        <a:t>3/8/2026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AE2D5"/>
                    </a:solidFill>
                  </a:tcPr>
                </a:tc>
                <a:tc>
                  <a:txBody>
                    <a:bodyPr/>
                    <a:lstStyle/>
                    <a:p>
                      <a:pPr algn="r" rtl="0" fontAlgn="b"/>
                      <a:r>
                        <a:rPr lang="es-PE" sz="800" b="0">
                          <a:effectLst/>
                          <a:latin typeface="+mn-lt"/>
                        </a:rPr>
                        <a:t>27/9/2026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AE2D5"/>
                    </a:solid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dirty="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0959323"/>
                  </a:ext>
                </a:extLst>
              </a:tr>
              <a:tr h="69627">
                <a:tc vMerge="1">
                  <a:txBody>
                    <a:bodyPr/>
                    <a:lstStyle/>
                    <a:p>
                      <a:endParaRPr lang="es-PE"/>
                    </a:p>
                  </a:txBody>
                  <a:tcPr/>
                </a:tc>
                <a:tc vMerge="1">
                  <a:txBody>
                    <a:bodyPr/>
                    <a:lstStyle/>
                    <a:p>
                      <a:endParaRPr lang="es-PE"/>
                    </a:p>
                  </a:txBody>
                  <a:tcPr/>
                </a:tc>
                <a:tc>
                  <a:txBody>
                    <a:bodyPr/>
                    <a:lstStyle/>
                    <a:p>
                      <a:pPr rtl="0" fontAlgn="b"/>
                      <a:r>
                        <a:rPr lang="es-PE" sz="800" b="0">
                          <a:effectLst/>
                          <a:latin typeface="+mn-lt"/>
                        </a:rPr>
                        <a:t>BASIC II</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r>
                        <a:rPr lang="es-PE" sz="800" b="0">
                          <a:effectLst/>
                          <a:latin typeface="+mn-lt"/>
                        </a:rPr>
                        <a:t>8 SEMANAS</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dirty="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rtl="0" fontAlgn="b"/>
                      <a:r>
                        <a:rPr lang="es-PE" sz="800" b="0">
                          <a:effectLst/>
                          <a:latin typeface="+mn-lt"/>
                        </a:rPr>
                        <a:t>3/8/2026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AE2D5"/>
                    </a:solidFill>
                  </a:tcPr>
                </a:tc>
                <a:tc>
                  <a:txBody>
                    <a:bodyPr/>
                    <a:lstStyle/>
                    <a:p>
                      <a:pPr algn="r" rtl="0" fontAlgn="b"/>
                      <a:r>
                        <a:rPr lang="es-PE" sz="800" b="0">
                          <a:effectLst/>
                          <a:latin typeface="+mn-lt"/>
                        </a:rPr>
                        <a:t>27/9/2026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AE2D5"/>
                    </a:solid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36971067"/>
                  </a:ext>
                </a:extLst>
              </a:tr>
              <a:tr h="69627">
                <a:tc vMerge="1">
                  <a:txBody>
                    <a:bodyPr/>
                    <a:lstStyle/>
                    <a:p>
                      <a:endParaRPr lang="es-PE"/>
                    </a:p>
                  </a:txBody>
                  <a:tcPr/>
                </a:tc>
                <a:tc vMerge="1">
                  <a:txBody>
                    <a:bodyPr/>
                    <a:lstStyle/>
                    <a:p>
                      <a:endParaRPr lang="es-PE"/>
                    </a:p>
                  </a:txBody>
                  <a:tcPr/>
                </a:tc>
                <a:tc>
                  <a:txBody>
                    <a:bodyPr/>
                    <a:lstStyle/>
                    <a:p>
                      <a:pPr rtl="0" fontAlgn="b"/>
                      <a:r>
                        <a:rPr lang="es-PE" sz="800" b="0">
                          <a:effectLst/>
                          <a:latin typeface="+mn-lt"/>
                        </a:rPr>
                        <a:t>BASIC III</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r>
                        <a:rPr lang="es-PE" sz="800" b="0">
                          <a:effectLst/>
                          <a:latin typeface="+mn-lt"/>
                        </a:rPr>
                        <a:t>13 SEMANAS</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dirty="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rtl="0" fontAlgn="b"/>
                      <a:r>
                        <a:rPr lang="es-PE" sz="800" b="0">
                          <a:effectLst/>
                          <a:latin typeface="+mn-lt"/>
                        </a:rPr>
                        <a:t>3/8/2026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AE2D5"/>
                    </a:solid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AE2D5"/>
                    </a:solidFill>
                  </a:tcPr>
                </a:tc>
                <a:tc>
                  <a:txBody>
                    <a:bodyPr/>
                    <a:lstStyle/>
                    <a:p>
                      <a:pPr algn="r" rtl="0" fontAlgn="b"/>
                      <a:r>
                        <a:rPr lang="es-PE" sz="800" b="0">
                          <a:effectLst/>
                          <a:latin typeface="+mn-lt"/>
                        </a:rPr>
                        <a:t>31/10/2026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AE2D5"/>
                    </a:solid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52492670"/>
                  </a:ext>
                </a:extLst>
              </a:tr>
              <a:tr h="69627">
                <a:tc vMerge="1">
                  <a:txBody>
                    <a:bodyPr/>
                    <a:lstStyle/>
                    <a:p>
                      <a:endParaRPr lang="es-PE"/>
                    </a:p>
                  </a:txBody>
                  <a:tcPr/>
                </a:tc>
                <a:tc vMerge="1">
                  <a:txBody>
                    <a:bodyPr/>
                    <a:lstStyle/>
                    <a:p>
                      <a:endParaRPr lang="es-PE"/>
                    </a:p>
                  </a:txBody>
                  <a:tcPr/>
                </a:tc>
                <a:tc>
                  <a:txBody>
                    <a:bodyPr/>
                    <a:lstStyle/>
                    <a:p>
                      <a:pPr rtl="0" fontAlgn="b"/>
                      <a:r>
                        <a:rPr lang="es-PE" sz="800" b="0">
                          <a:effectLst/>
                          <a:latin typeface="+mn-lt"/>
                        </a:rPr>
                        <a:t>INTERMEDIATE I</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r>
                        <a:rPr lang="es-PE" sz="800" b="0">
                          <a:effectLst/>
                          <a:latin typeface="+mn-lt"/>
                        </a:rPr>
                        <a:t>8 SEMANAS</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dirty="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rtl="0" fontAlgn="b"/>
                      <a:r>
                        <a:rPr lang="es-PE" sz="800" b="0">
                          <a:effectLst/>
                          <a:latin typeface="+mn-lt"/>
                        </a:rPr>
                        <a:t>3/8/2026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AE2D5"/>
                    </a:solidFill>
                  </a:tcPr>
                </a:tc>
                <a:tc>
                  <a:txBody>
                    <a:bodyPr/>
                    <a:lstStyle/>
                    <a:p>
                      <a:pPr algn="r" rtl="0" fontAlgn="b"/>
                      <a:r>
                        <a:rPr lang="es-PE" sz="800" b="0">
                          <a:effectLst/>
                          <a:latin typeface="+mn-lt"/>
                        </a:rPr>
                        <a:t>27/9/2026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AE2D5"/>
                    </a:solid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97863629"/>
                  </a:ext>
                </a:extLst>
              </a:tr>
              <a:tr h="69627">
                <a:tc vMerge="1">
                  <a:txBody>
                    <a:bodyPr/>
                    <a:lstStyle/>
                    <a:p>
                      <a:endParaRPr lang="es-PE"/>
                    </a:p>
                  </a:txBody>
                  <a:tcPr/>
                </a:tc>
                <a:tc vMerge="1">
                  <a:txBody>
                    <a:bodyPr/>
                    <a:lstStyle/>
                    <a:p>
                      <a:endParaRPr lang="es-PE"/>
                    </a:p>
                  </a:txBody>
                  <a:tcPr/>
                </a:tc>
                <a:tc>
                  <a:txBody>
                    <a:bodyPr/>
                    <a:lstStyle/>
                    <a:p>
                      <a:pPr rtl="0" fontAlgn="b"/>
                      <a:r>
                        <a:rPr lang="es-PE" sz="800" b="0">
                          <a:effectLst/>
                          <a:latin typeface="+mn-lt"/>
                        </a:rPr>
                        <a:t>INTERMEDIATE II</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r>
                        <a:rPr lang="es-PE" sz="800" b="0">
                          <a:effectLst/>
                          <a:latin typeface="+mn-lt"/>
                        </a:rPr>
                        <a:t>8 SEMANAS</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dirty="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rtl="0" fontAlgn="b"/>
                      <a:r>
                        <a:rPr lang="es-PE" sz="800" b="0">
                          <a:effectLst/>
                          <a:latin typeface="+mn-lt"/>
                        </a:rPr>
                        <a:t>3/8/2026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AE2D5"/>
                    </a:solidFill>
                  </a:tcPr>
                </a:tc>
                <a:tc>
                  <a:txBody>
                    <a:bodyPr/>
                    <a:lstStyle/>
                    <a:p>
                      <a:pPr algn="r" rtl="0" fontAlgn="b"/>
                      <a:r>
                        <a:rPr lang="es-PE" sz="800" b="0">
                          <a:effectLst/>
                          <a:latin typeface="+mn-lt"/>
                        </a:rPr>
                        <a:t>27/9/2026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AE2D5"/>
                    </a:solid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7951421"/>
                  </a:ext>
                </a:extLst>
              </a:tr>
              <a:tr h="69627">
                <a:tc vMerge="1">
                  <a:txBody>
                    <a:bodyPr/>
                    <a:lstStyle/>
                    <a:p>
                      <a:endParaRPr lang="es-PE"/>
                    </a:p>
                  </a:txBody>
                  <a:tcPr/>
                </a:tc>
                <a:tc vMerge="1">
                  <a:txBody>
                    <a:bodyPr/>
                    <a:lstStyle/>
                    <a:p>
                      <a:endParaRPr lang="es-PE"/>
                    </a:p>
                  </a:txBody>
                  <a:tcPr/>
                </a:tc>
                <a:tc>
                  <a:txBody>
                    <a:bodyPr/>
                    <a:lstStyle/>
                    <a:p>
                      <a:pPr rtl="0" fontAlgn="b"/>
                      <a:r>
                        <a:rPr lang="es-PE" sz="800" b="0">
                          <a:effectLst/>
                          <a:latin typeface="+mn-lt"/>
                        </a:rPr>
                        <a:t>INTERMEDIATE III</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r>
                        <a:rPr lang="es-PE" sz="800" b="0">
                          <a:effectLst/>
                          <a:latin typeface="+mn-lt"/>
                        </a:rPr>
                        <a:t>13 SEMANAS</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dirty="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rtl="0" fontAlgn="b"/>
                      <a:r>
                        <a:rPr lang="es-PE" sz="800" b="0">
                          <a:effectLst/>
                          <a:latin typeface="+mn-lt"/>
                        </a:rPr>
                        <a:t>3/8/2026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AE2D5"/>
                    </a:solid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AE2D5"/>
                    </a:solidFill>
                  </a:tcPr>
                </a:tc>
                <a:tc>
                  <a:txBody>
                    <a:bodyPr/>
                    <a:lstStyle/>
                    <a:p>
                      <a:pPr algn="r" rtl="0" fontAlgn="b"/>
                      <a:r>
                        <a:rPr lang="es-PE" sz="800" b="0">
                          <a:effectLst/>
                          <a:latin typeface="+mn-lt"/>
                        </a:rPr>
                        <a:t>31/10/2026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AE2D5"/>
                    </a:solid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04840"/>
                  </a:ext>
                </a:extLst>
              </a:tr>
              <a:tr h="69627">
                <a:tc vMerge="1">
                  <a:txBody>
                    <a:bodyPr/>
                    <a:lstStyle/>
                    <a:p>
                      <a:endParaRPr lang="es-PE"/>
                    </a:p>
                  </a:txBody>
                  <a:tcPr/>
                </a:tc>
                <a:tc rowSpan="6">
                  <a:txBody>
                    <a:bodyPr/>
                    <a:lstStyle/>
                    <a:p>
                      <a:pPr algn="ctr" rtl="0" fontAlgn="ctr"/>
                      <a:r>
                        <a:rPr lang="es-PE" sz="800" b="0">
                          <a:effectLst/>
                          <a:latin typeface="+mn-lt"/>
                        </a:rPr>
                        <a:t>I09</a:t>
                      </a:r>
                    </a:p>
                  </a:txBody>
                  <a:tcPr marL="2079" marR="2079"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r>
                        <a:rPr lang="es-PE" sz="800" b="0">
                          <a:effectLst/>
                          <a:latin typeface="+mn-lt"/>
                        </a:rPr>
                        <a:t>BASIC I</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r>
                        <a:rPr lang="es-PE" sz="800" b="0">
                          <a:effectLst/>
                          <a:latin typeface="+mn-lt"/>
                        </a:rPr>
                        <a:t>8 SEMANAS</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dirty="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rtl="0" fontAlgn="b"/>
                      <a:r>
                        <a:rPr lang="es-PE" sz="800" b="0">
                          <a:effectLst/>
                          <a:latin typeface="+mn-lt"/>
                        </a:rPr>
                        <a:t>7/9/2026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9F2D0"/>
                    </a:solidFill>
                  </a:tcPr>
                </a:tc>
                <a:tc>
                  <a:txBody>
                    <a:bodyPr/>
                    <a:lstStyle/>
                    <a:p>
                      <a:pPr algn="r" rtl="0" fontAlgn="b"/>
                      <a:r>
                        <a:rPr lang="es-PE" sz="800" b="0">
                          <a:effectLst/>
                          <a:latin typeface="+mn-lt"/>
                        </a:rPr>
                        <a:t>31/10/2026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9F2D0"/>
                    </a:solid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56849388"/>
                  </a:ext>
                </a:extLst>
              </a:tr>
              <a:tr h="69627">
                <a:tc vMerge="1">
                  <a:txBody>
                    <a:bodyPr/>
                    <a:lstStyle/>
                    <a:p>
                      <a:endParaRPr lang="es-PE"/>
                    </a:p>
                  </a:txBody>
                  <a:tcPr/>
                </a:tc>
                <a:tc vMerge="1">
                  <a:txBody>
                    <a:bodyPr/>
                    <a:lstStyle/>
                    <a:p>
                      <a:endParaRPr lang="es-PE"/>
                    </a:p>
                  </a:txBody>
                  <a:tcPr/>
                </a:tc>
                <a:tc>
                  <a:txBody>
                    <a:bodyPr/>
                    <a:lstStyle/>
                    <a:p>
                      <a:pPr rtl="0" fontAlgn="b"/>
                      <a:r>
                        <a:rPr lang="es-PE" sz="800" b="0">
                          <a:effectLst/>
                          <a:latin typeface="+mn-lt"/>
                        </a:rPr>
                        <a:t>BASIC II</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r>
                        <a:rPr lang="es-PE" sz="800" b="0">
                          <a:effectLst/>
                          <a:latin typeface="+mn-lt"/>
                        </a:rPr>
                        <a:t>8 SEMANAS</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dirty="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rtl="0" fontAlgn="b"/>
                      <a:r>
                        <a:rPr lang="es-PE" sz="800" b="0">
                          <a:effectLst/>
                          <a:latin typeface="+mn-lt"/>
                        </a:rPr>
                        <a:t>7/9/2026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9F2D0"/>
                    </a:solidFill>
                  </a:tcPr>
                </a:tc>
                <a:tc>
                  <a:txBody>
                    <a:bodyPr/>
                    <a:lstStyle/>
                    <a:p>
                      <a:pPr algn="r" rtl="0" fontAlgn="b"/>
                      <a:r>
                        <a:rPr lang="es-PE" sz="800" b="0">
                          <a:effectLst/>
                          <a:latin typeface="+mn-lt"/>
                        </a:rPr>
                        <a:t>31/10/2026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9F2D0"/>
                    </a:solid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28855272"/>
                  </a:ext>
                </a:extLst>
              </a:tr>
              <a:tr h="69627">
                <a:tc vMerge="1">
                  <a:txBody>
                    <a:bodyPr/>
                    <a:lstStyle/>
                    <a:p>
                      <a:endParaRPr lang="es-PE"/>
                    </a:p>
                  </a:txBody>
                  <a:tcPr/>
                </a:tc>
                <a:tc vMerge="1">
                  <a:txBody>
                    <a:bodyPr/>
                    <a:lstStyle/>
                    <a:p>
                      <a:endParaRPr lang="es-PE"/>
                    </a:p>
                  </a:txBody>
                  <a:tcPr/>
                </a:tc>
                <a:tc>
                  <a:txBody>
                    <a:bodyPr/>
                    <a:lstStyle/>
                    <a:p>
                      <a:pPr rtl="0" fontAlgn="b"/>
                      <a:r>
                        <a:rPr lang="es-PE" sz="800" b="0">
                          <a:effectLst/>
                          <a:latin typeface="+mn-lt"/>
                        </a:rPr>
                        <a:t>BASIC III</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r>
                        <a:rPr lang="es-PE" sz="800" b="0">
                          <a:effectLst/>
                          <a:latin typeface="+mn-lt"/>
                        </a:rPr>
                        <a:t>12 SEMANAS</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dirty="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rtl="0" fontAlgn="b"/>
                      <a:r>
                        <a:rPr lang="es-PE" sz="800" b="0">
                          <a:effectLst/>
                          <a:latin typeface="+mn-lt"/>
                        </a:rPr>
                        <a:t>7/9/2026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9F2D0"/>
                    </a:solid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9F2D0"/>
                    </a:solidFill>
                  </a:tcPr>
                </a:tc>
                <a:tc>
                  <a:txBody>
                    <a:bodyPr/>
                    <a:lstStyle/>
                    <a:p>
                      <a:pPr algn="r" rtl="0" fontAlgn="b"/>
                      <a:r>
                        <a:rPr lang="es-PE" sz="800" b="0">
                          <a:effectLst/>
                          <a:latin typeface="+mn-lt"/>
                        </a:rPr>
                        <a:t>30/11/2026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9F2D0"/>
                    </a:solid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79145578"/>
                  </a:ext>
                </a:extLst>
              </a:tr>
              <a:tr h="69627">
                <a:tc vMerge="1">
                  <a:txBody>
                    <a:bodyPr/>
                    <a:lstStyle/>
                    <a:p>
                      <a:endParaRPr lang="es-PE"/>
                    </a:p>
                  </a:txBody>
                  <a:tcPr/>
                </a:tc>
                <a:tc vMerge="1">
                  <a:txBody>
                    <a:bodyPr/>
                    <a:lstStyle/>
                    <a:p>
                      <a:endParaRPr lang="es-PE"/>
                    </a:p>
                  </a:txBody>
                  <a:tcPr/>
                </a:tc>
                <a:tc>
                  <a:txBody>
                    <a:bodyPr/>
                    <a:lstStyle/>
                    <a:p>
                      <a:pPr rtl="0" fontAlgn="b"/>
                      <a:r>
                        <a:rPr lang="es-PE" sz="800" b="0">
                          <a:effectLst/>
                          <a:latin typeface="+mn-lt"/>
                        </a:rPr>
                        <a:t>INTERMEDIATE I</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r>
                        <a:rPr lang="es-PE" sz="800" b="0">
                          <a:effectLst/>
                          <a:latin typeface="+mn-lt"/>
                        </a:rPr>
                        <a:t>8 SEMANAS</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dirty="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rtl="0" fontAlgn="b"/>
                      <a:r>
                        <a:rPr lang="es-PE" sz="800" b="0">
                          <a:effectLst/>
                          <a:latin typeface="+mn-lt"/>
                        </a:rPr>
                        <a:t>7/9/2026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9F2D0"/>
                    </a:solidFill>
                  </a:tcPr>
                </a:tc>
                <a:tc>
                  <a:txBody>
                    <a:bodyPr/>
                    <a:lstStyle/>
                    <a:p>
                      <a:pPr algn="r" rtl="0" fontAlgn="b"/>
                      <a:r>
                        <a:rPr lang="es-PE" sz="800" b="0">
                          <a:effectLst/>
                          <a:latin typeface="+mn-lt"/>
                        </a:rPr>
                        <a:t>31/10/2026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9F2D0"/>
                    </a:solid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74808064"/>
                  </a:ext>
                </a:extLst>
              </a:tr>
              <a:tr h="69627">
                <a:tc vMerge="1">
                  <a:txBody>
                    <a:bodyPr/>
                    <a:lstStyle/>
                    <a:p>
                      <a:endParaRPr lang="es-PE"/>
                    </a:p>
                  </a:txBody>
                  <a:tcPr/>
                </a:tc>
                <a:tc vMerge="1">
                  <a:txBody>
                    <a:bodyPr/>
                    <a:lstStyle/>
                    <a:p>
                      <a:endParaRPr lang="es-PE"/>
                    </a:p>
                  </a:txBody>
                  <a:tcPr/>
                </a:tc>
                <a:tc>
                  <a:txBody>
                    <a:bodyPr/>
                    <a:lstStyle/>
                    <a:p>
                      <a:pPr rtl="0" fontAlgn="b"/>
                      <a:r>
                        <a:rPr lang="es-PE" sz="800" b="0">
                          <a:effectLst/>
                          <a:latin typeface="+mn-lt"/>
                        </a:rPr>
                        <a:t>INTERMEDIATE II</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r>
                        <a:rPr lang="es-PE" sz="800" b="0">
                          <a:effectLst/>
                          <a:latin typeface="+mn-lt"/>
                        </a:rPr>
                        <a:t>8 SEMANAS</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dirty="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rtl="0" fontAlgn="b"/>
                      <a:r>
                        <a:rPr lang="es-PE" sz="800" b="0">
                          <a:effectLst/>
                          <a:latin typeface="+mn-lt"/>
                        </a:rPr>
                        <a:t>7/9/2026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9F2D0"/>
                    </a:solidFill>
                  </a:tcPr>
                </a:tc>
                <a:tc>
                  <a:txBody>
                    <a:bodyPr/>
                    <a:lstStyle/>
                    <a:p>
                      <a:pPr algn="r" rtl="0" fontAlgn="b"/>
                      <a:r>
                        <a:rPr lang="es-PE" sz="800" b="0">
                          <a:effectLst/>
                          <a:latin typeface="+mn-lt"/>
                        </a:rPr>
                        <a:t>31/10/2026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9F2D0"/>
                    </a:solid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5823167"/>
                  </a:ext>
                </a:extLst>
              </a:tr>
              <a:tr h="69627">
                <a:tc vMerge="1">
                  <a:txBody>
                    <a:bodyPr/>
                    <a:lstStyle/>
                    <a:p>
                      <a:endParaRPr lang="es-PE"/>
                    </a:p>
                  </a:txBody>
                  <a:tcPr/>
                </a:tc>
                <a:tc vMerge="1">
                  <a:txBody>
                    <a:bodyPr/>
                    <a:lstStyle/>
                    <a:p>
                      <a:endParaRPr lang="es-PE"/>
                    </a:p>
                  </a:txBody>
                  <a:tcPr/>
                </a:tc>
                <a:tc>
                  <a:txBody>
                    <a:bodyPr/>
                    <a:lstStyle/>
                    <a:p>
                      <a:pPr rtl="0" fontAlgn="b"/>
                      <a:r>
                        <a:rPr lang="es-PE" sz="800" b="0">
                          <a:effectLst/>
                          <a:latin typeface="+mn-lt"/>
                        </a:rPr>
                        <a:t>INTERMEDIATE III</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r>
                        <a:rPr lang="es-PE" sz="800" b="0">
                          <a:effectLst/>
                          <a:latin typeface="+mn-lt"/>
                        </a:rPr>
                        <a:t>12 SEMANAS</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dirty="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rtl="0" fontAlgn="b"/>
                      <a:r>
                        <a:rPr lang="es-PE" sz="800" b="0">
                          <a:effectLst/>
                          <a:latin typeface="+mn-lt"/>
                        </a:rPr>
                        <a:t>7/9/2026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9F2D0"/>
                    </a:solid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9F2D0"/>
                    </a:solidFill>
                  </a:tcPr>
                </a:tc>
                <a:tc>
                  <a:txBody>
                    <a:bodyPr/>
                    <a:lstStyle/>
                    <a:p>
                      <a:pPr algn="r" rtl="0" fontAlgn="b"/>
                      <a:r>
                        <a:rPr lang="es-PE" sz="800" b="0">
                          <a:effectLst/>
                          <a:latin typeface="+mn-lt"/>
                        </a:rPr>
                        <a:t>30/11/2026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9F2D0"/>
                    </a:solid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12803307"/>
                  </a:ext>
                </a:extLst>
              </a:tr>
              <a:tr h="69627">
                <a:tc vMerge="1">
                  <a:txBody>
                    <a:bodyPr/>
                    <a:lstStyle/>
                    <a:p>
                      <a:endParaRPr lang="es-PE"/>
                    </a:p>
                  </a:txBody>
                  <a:tcPr/>
                </a:tc>
                <a:tc rowSpan="6">
                  <a:txBody>
                    <a:bodyPr/>
                    <a:lstStyle/>
                    <a:p>
                      <a:pPr algn="ctr" rtl="0" fontAlgn="ctr"/>
                      <a:r>
                        <a:rPr lang="es-PE" sz="800" b="0">
                          <a:effectLst/>
                          <a:latin typeface="+mn-lt"/>
                        </a:rPr>
                        <a:t>I10</a:t>
                      </a:r>
                    </a:p>
                  </a:txBody>
                  <a:tcPr marL="2079" marR="2079"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r>
                        <a:rPr lang="es-PE" sz="800" b="0">
                          <a:effectLst/>
                          <a:latin typeface="+mn-lt"/>
                        </a:rPr>
                        <a:t>BASIC I</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r>
                        <a:rPr lang="es-PE" sz="800" b="0">
                          <a:effectLst/>
                          <a:latin typeface="+mn-lt"/>
                        </a:rPr>
                        <a:t>8 SEMANAS</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dirty="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rtl="0" fontAlgn="b"/>
                      <a:r>
                        <a:rPr lang="es-PE" sz="800" b="0">
                          <a:effectLst/>
                          <a:latin typeface="+mn-lt"/>
                        </a:rPr>
                        <a:t>5/10/2026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1CEEE"/>
                    </a:solidFill>
                  </a:tcPr>
                </a:tc>
                <a:tc>
                  <a:txBody>
                    <a:bodyPr/>
                    <a:lstStyle/>
                    <a:p>
                      <a:pPr algn="r" rtl="0" fontAlgn="b"/>
                      <a:r>
                        <a:rPr lang="es-PE" sz="800" b="0">
                          <a:effectLst/>
                          <a:latin typeface="+mn-lt"/>
                        </a:rPr>
                        <a:t>29/11/2026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1CEEE"/>
                    </a:solid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42873431"/>
                  </a:ext>
                </a:extLst>
              </a:tr>
              <a:tr h="69627">
                <a:tc vMerge="1">
                  <a:txBody>
                    <a:bodyPr/>
                    <a:lstStyle/>
                    <a:p>
                      <a:endParaRPr lang="es-PE"/>
                    </a:p>
                  </a:txBody>
                  <a:tcPr/>
                </a:tc>
                <a:tc vMerge="1">
                  <a:txBody>
                    <a:bodyPr/>
                    <a:lstStyle/>
                    <a:p>
                      <a:endParaRPr lang="es-PE"/>
                    </a:p>
                  </a:txBody>
                  <a:tcPr/>
                </a:tc>
                <a:tc>
                  <a:txBody>
                    <a:bodyPr/>
                    <a:lstStyle/>
                    <a:p>
                      <a:pPr rtl="0" fontAlgn="b"/>
                      <a:r>
                        <a:rPr lang="es-PE" sz="800" b="0">
                          <a:effectLst/>
                          <a:latin typeface="+mn-lt"/>
                        </a:rPr>
                        <a:t>BASIC II</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r>
                        <a:rPr lang="es-PE" sz="800" b="0">
                          <a:effectLst/>
                          <a:latin typeface="+mn-lt"/>
                        </a:rPr>
                        <a:t>8 SEMANAS</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dirty="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rtl="0" fontAlgn="b"/>
                      <a:r>
                        <a:rPr lang="es-PE" sz="800" b="0">
                          <a:effectLst/>
                          <a:latin typeface="+mn-lt"/>
                        </a:rPr>
                        <a:t>5/10/2026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1CEEE"/>
                    </a:solidFill>
                  </a:tcPr>
                </a:tc>
                <a:tc>
                  <a:txBody>
                    <a:bodyPr/>
                    <a:lstStyle/>
                    <a:p>
                      <a:pPr algn="r" rtl="0" fontAlgn="b"/>
                      <a:r>
                        <a:rPr lang="es-PE" sz="800" b="0">
                          <a:effectLst/>
                          <a:latin typeface="+mn-lt"/>
                        </a:rPr>
                        <a:t>29/11/2026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1CEEE"/>
                    </a:solid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41699342"/>
                  </a:ext>
                </a:extLst>
              </a:tr>
              <a:tr h="69627">
                <a:tc vMerge="1">
                  <a:txBody>
                    <a:bodyPr/>
                    <a:lstStyle/>
                    <a:p>
                      <a:endParaRPr lang="es-PE"/>
                    </a:p>
                  </a:txBody>
                  <a:tcPr/>
                </a:tc>
                <a:tc vMerge="1">
                  <a:txBody>
                    <a:bodyPr/>
                    <a:lstStyle/>
                    <a:p>
                      <a:endParaRPr lang="es-PE"/>
                    </a:p>
                  </a:txBody>
                  <a:tcPr/>
                </a:tc>
                <a:tc>
                  <a:txBody>
                    <a:bodyPr/>
                    <a:lstStyle/>
                    <a:p>
                      <a:pPr rtl="0" fontAlgn="b"/>
                      <a:r>
                        <a:rPr lang="es-PE" sz="800" b="0">
                          <a:effectLst/>
                          <a:latin typeface="+mn-lt"/>
                        </a:rPr>
                        <a:t>BASIC III</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r>
                        <a:rPr lang="es-PE" sz="800" b="0">
                          <a:effectLst/>
                          <a:latin typeface="+mn-lt"/>
                        </a:rPr>
                        <a:t>13 SEMANAS</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dirty="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rtl="0" fontAlgn="b"/>
                      <a:r>
                        <a:rPr lang="es-PE" sz="800" b="0">
                          <a:effectLst/>
                          <a:latin typeface="+mn-lt"/>
                        </a:rPr>
                        <a:t>5/10/2026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1CEEE"/>
                    </a:solid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1CEEE"/>
                    </a:solidFill>
                  </a:tcPr>
                </a:tc>
                <a:tc>
                  <a:txBody>
                    <a:bodyPr/>
                    <a:lstStyle/>
                    <a:p>
                      <a:pPr algn="r" rtl="0" fontAlgn="b"/>
                      <a:r>
                        <a:rPr lang="es-PE" sz="800" b="0">
                          <a:effectLst/>
                          <a:latin typeface="+mn-lt"/>
                        </a:rPr>
                        <a:t>31/12/2026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1CEEE"/>
                    </a:solid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75849777"/>
                  </a:ext>
                </a:extLst>
              </a:tr>
              <a:tr h="69627">
                <a:tc vMerge="1">
                  <a:txBody>
                    <a:bodyPr/>
                    <a:lstStyle/>
                    <a:p>
                      <a:endParaRPr lang="es-PE"/>
                    </a:p>
                  </a:txBody>
                  <a:tcPr/>
                </a:tc>
                <a:tc vMerge="1">
                  <a:txBody>
                    <a:bodyPr/>
                    <a:lstStyle/>
                    <a:p>
                      <a:endParaRPr lang="es-PE"/>
                    </a:p>
                  </a:txBody>
                  <a:tcPr/>
                </a:tc>
                <a:tc>
                  <a:txBody>
                    <a:bodyPr/>
                    <a:lstStyle/>
                    <a:p>
                      <a:pPr rtl="0" fontAlgn="b"/>
                      <a:r>
                        <a:rPr lang="es-PE" sz="800" b="0">
                          <a:effectLst/>
                          <a:latin typeface="+mn-lt"/>
                        </a:rPr>
                        <a:t>INTERMEDIATE I</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r>
                        <a:rPr lang="es-PE" sz="800" b="0">
                          <a:effectLst/>
                          <a:latin typeface="+mn-lt"/>
                        </a:rPr>
                        <a:t>8 SEMANAS</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dirty="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rtl="0" fontAlgn="b"/>
                      <a:r>
                        <a:rPr lang="es-PE" sz="800" b="0">
                          <a:effectLst/>
                          <a:latin typeface="+mn-lt"/>
                        </a:rPr>
                        <a:t>5/10/2026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1CEEE"/>
                    </a:solidFill>
                  </a:tcPr>
                </a:tc>
                <a:tc>
                  <a:txBody>
                    <a:bodyPr/>
                    <a:lstStyle/>
                    <a:p>
                      <a:pPr algn="r" rtl="0" fontAlgn="b"/>
                      <a:r>
                        <a:rPr lang="es-PE" sz="800" b="0">
                          <a:effectLst/>
                          <a:latin typeface="+mn-lt"/>
                        </a:rPr>
                        <a:t>29/11/2026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1CEEE"/>
                    </a:solid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51501656"/>
                  </a:ext>
                </a:extLst>
              </a:tr>
              <a:tr h="69627">
                <a:tc vMerge="1">
                  <a:txBody>
                    <a:bodyPr/>
                    <a:lstStyle/>
                    <a:p>
                      <a:endParaRPr lang="es-PE"/>
                    </a:p>
                  </a:txBody>
                  <a:tcPr/>
                </a:tc>
                <a:tc vMerge="1">
                  <a:txBody>
                    <a:bodyPr/>
                    <a:lstStyle/>
                    <a:p>
                      <a:endParaRPr lang="es-PE"/>
                    </a:p>
                  </a:txBody>
                  <a:tcPr/>
                </a:tc>
                <a:tc>
                  <a:txBody>
                    <a:bodyPr/>
                    <a:lstStyle/>
                    <a:p>
                      <a:pPr rtl="0" fontAlgn="b"/>
                      <a:r>
                        <a:rPr lang="es-PE" sz="800" b="0">
                          <a:effectLst/>
                          <a:latin typeface="+mn-lt"/>
                        </a:rPr>
                        <a:t>INTERMEDIATE II</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r>
                        <a:rPr lang="es-PE" sz="800" b="0">
                          <a:effectLst/>
                          <a:latin typeface="+mn-lt"/>
                        </a:rPr>
                        <a:t>8 SEMANAS</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dirty="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rtl="0" fontAlgn="b"/>
                      <a:r>
                        <a:rPr lang="es-PE" sz="800" b="0">
                          <a:effectLst/>
                          <a:latin typeface="+mn-lt"/>
                        </a:rPr>
                        <a:t>5/10/2026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1CEEE"/>
                    </a:solidFill>
                  </a:tcPr>
                </a:tc>
                <a:tc>
                  <a:txBody>
                    <a:bodyPr/>
                    <a:lstStyle/>
                    <a:p>
                      <a:pPr algn="r" rtl="0" fontAlgn="b"/>
                      <a:r>
                        <a:rPr lang="es-PE" sz="800" b="0">
                          <a:effectLst/>
                          <a:latin typeface="+mn-lt"/>
                        </a:rPr>
                        <a:t>29/11/2026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1CEEE"/>
                    </a:solid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18361425"/>
                  </a:ext>
                </a:extLst>
              </a:tr>
              <a:tr h="69627">
                <a:tc vMerge="1">
                  <a:txBody>
                    <a:bodyPr/>
                    <a:lstStyle/>
                    <a:p>
                      <a:endParaRPr lang="es-PE"/>
                    </a:p>
                  </a:txBody>
                  <a:tcPr/>
                </a:tc>
                <a:tc vMerge="1">
                  <a:txBody>
                    <a:bodyPr/>
                    <a:lstStyle/>
                    <a:p>
                      <a:endParaRPr lang="es-PE"/>
                    </a:p>
                  </a:txBody>
                  <a:tcPr/>
                </a:tc>
                <a:tc>
                  <a:txBody>
                    <a:bodyPr/>
                    <a:lstStyle/>
                    <a:p>
                      <a:pPr rtl="0" fontAlgn="b"/>
                      <a:r>
                        <a:rPr lang="es-PE" sz="800" b="0">
                          <a:effectLst/>
                          <a:latin typeface="+mn-lt"/>
                        </a:rPr>
                        <a:t>INTERMEDIATE III</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r>
                        <a:rPr lang="es-PE" sz="800" b="0">
                          <a:effectLst/>
                          <a:latin typeface="+mn-lt"/>
                        </a:rPr>
                        <a:t>13 SEMANAS</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dirty="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rtl="0" fontAlgn="b"/>
                      <a:r>
                        <a:rPr lang="es-PE" sz="800" b="0">
                          <a:effectLst/>
                          <a:latin typeface="+mn-lt"/>
                        </a:rPr>
                        <a:t>5/10/2026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1CEEE"/>
                    </a:solid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1CEEE"/>
                    </a:solidFill>
                  </a:tcPr>
                </a:tc>
                <a:tc>
                  <a:txBody>
                    <a:bodyPr/>
                    <a:lstStyle/>
                    <a:p>
                      <a:pPr algn="r" rtl="0" fontAlgn="b"/>
                      <a:r>
                        <a:rPr lang="es-PE" sz="800" b="0">
                          <a:effectLst/>
                          <a:latin typeface="+mn-lt"/>
                        </a:rPr>
                        <a:t>31/12/2026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1CEEE"/>
                    </a:solid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9184288"/>
                  </a:ext>
                </a:extLst>
              </a:tr>
              <a:tr h="69627">
                <a:tc vMerge="1">
                  <a:txBody>
                    <a:bodyPr/>
                    <a:lstStyle/>
                    <a:p>
                      <a:endParaRPr lang="es-PE"/>
                    </a:p>
                  </a:txBody>
                  <a:tcPr/>
                </a:tc>
                <a:tc rowSpan="6">
                  <a:txBody>
                    <a:bodyPr/>
                    <a:lstStyle/>
                    <a:p>
                      <a:pPr algn="ctr" rtl="0" fontAlgn="ctr"/>
                      <a:r>
                        <a:rPr lang="es-PE" sz="800" b="0" dirty="0">
                          <a:effectLst/>
                          <a:latin typeface="+mn-lt"/>
                        </a:rPr>
                        <a:t>I11</a:t>
                      </a:r>
                    </a:p>
                  </a:txBody>
                  <a:tcPr marL="2079" marR="2079"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r>
                        <a:rPr lang="es-PE" sz="800" b="0">
                          <a:effectLst/>
                          <a:latin typeface="+mn-lt"/>
                        </a:rPr>
                        <a:t>BASIC I</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r>
                        <a:rPr lang="es-PE" sz="800" b="0">
                          <a:effectLst/>
                          <a:latin typeface="+mn-lt"/>
                        </a:rPr>
                        <a:t>8 SEMANAS</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dirty="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rtl="0" fontAlgn="b"/>
                      <a:r>
                        <a:rPr lang="es-PE" sz="800" b="0">
                          <a:effectLst/>
                          <a:latin typeface="+mn-lt"/>
                        </a:rPr>
                        <a:t>2/11/2026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CAEDFB"/>
                    </a:solidFill>
                  </a:tcPr>
                </a:tc>
                <a:tc>
                  <a:txBody>
                    <a:bodyPr/>
                    <a:lstStyle/>
                    <a:p>
                      <a:pPr algn="r" rtl="0" fontAlgn="b"/>
                      <a:r>
                        <a:rPr lang="es-PE" sz="800" b="0">
                          <a:effectLst/>
                          <a:latin typeface="+mn-lt"/>
                        </a:rPr>
                        <a:t>27/12/2026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CAEDFB"/>
                    </a:solid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50755575"/>
                  </a:ext>
                </a:extLst>
              </a:tr>
              <a:tr h="69627">
                <a:tc vMerge="1">
                  <a:txBody>
                    <a:bodyPr/>
                    <a:lstStyle/>
                    <a:p>
                      <a:endParaRPr lang="es-PE"/>
                    </a:p>
                  </a:txBody>
                  <a:tcPr/>
                </a:tc>
                <a:tc vMerge="1">
                  <a:txBody>
                    <a:bodyPr/>
                    <a:lstStyle/>
                    <a:p>
                      <a:endParaRPr lang="es-PE"/>
                    </a:p>
                  </a:txBody>
                  <a:tcPr/>
                </a:tc>
                <a:tc>
                  <a:txBody>
                    <a:bodyPr/>
                    <a:lstStyle/>
                    <a:p>
                      <a:pPr rtl="0" fontAlgn="b"/>
                      <a:r>
                        <a:rPr lang="es-PE" sz="800" b="0">
                          <a:effectLst/>
                          <a:latin typeface="+mn-lt"/>
                        </a:rPr>
                        <a:t>BASIC II</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r>
                        <a:rPr lang="es-PE" sz="800" b="0">
                          <a:effectLst/>
                          <a:latin typeface="+mn-lt"/>
                        </a:rPr>
                        <a:t>8 SEMANAS</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dirty="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rtl="0" fontAlgn="b"/>
                      <a:r>
                        <a:rPr lang="es-PE" sz="800" b="0">
                          <a:effectLst/>
                          <a:latin typeface="+mn-lt"/>
                        </a:rPr>
                        <a:t>2/11/2026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CAEDFB"/>
                    </a:solidFill>
                  </a:tcPr>
                </a:tc>
                <a:tc>
                  <a:txBody>
                    <a:bodyPr/>
                    <a:lstStyle/>
                    <a:p>
                      <a:pPr algn="r" rtl="0" fontAlgn="b"/>
                      <a:r>
                        <a:rPr lang="es-PE" sz="800" b="0">
                          <a:effectLst/>
                          <a:latin typeface="+mn-lt"/>
                        </a:rPr>
                        <a:t>27/12/2026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CAEDFB"/>
                    </a:solid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75449351"/>
                  </a:ext>
                </a:extLst>
              </a:tr>
              <a:tr h="69627">
                <a:tc vMerge="1">
                  <a:txBody>
                    <a:bodyPr/>
                    <a:lstStyle/>
                    <a:p>
                      <a:endParaRPr lang="es-PE"/>
                    </a:p>
                  </a:txBody>
                  <a:tcPr/>
                </a:tc>
                <a:tc vMerge="1">
                  <a:txBody>
                    <a:bodyPr/>
                    <a:lstStyle/>
                    <a:p>
                      <a:endParaRPr lang="es-PE"/>
                    </a:p>
                  </a:txBody>
                  <a:tcPr/>
                </a:tc>
                <a:tc>
                  <a:txBody>
                    <a:bodyPr/>
                    <a:lstStyle/>
                    <a:p>
                      <a:pPr rtl="0" fontAlgn="b"/>
                      <a:r>
                        <a:rPr lang="es-PE" sz="800" b="0">
                          <a:effectLst/>
                          <a:latin typeface="+mn-lt"/>
                        </a:rPr>
                        <a:t>BASIC III</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r>
                        <a:rPr lang="es-PE" sz="800" b="0">
                          <a:effectLst/>
                          <a:latin typeface="+mn-lt"/>
                        </a:rPr>
                        <a:t>13 SEMANAS</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dirty="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rtl="0" fontAlgn="b"/>
                      <a:r>
                        <a:rPr lang="es-PE" sz="800" b="0">
                          <a:effectLst/>
                          <a:latin typeface="+mn-lt"/>
                        </a:rPr>
                        <a:t>2/11/2026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CAEDFB"/>
                    </a:solid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CAEDFB"/>
                    </a:solidFill>
                  </a:tcPr>
                </a:tc>
                <a:tc>
                  <a:txBody>
                    <a:bodyPr/>
                    <a:lstStyle/>
                    <a:p>
                      <a:pPr algn="r" rtl="0" fontAlgn="b"/>
                      <a:r>
                        <a:rPr lang="es-PE" sz="800" b="0">
                          <a:effectLst/>
                          <a:latin typeface="+mn-lt"/>
                        </a:rPr>
                        <a:t>31/1/2027</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CAEDFB"/>
                    </a:solid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23823552"/>
                  </a:ext>
                </a:extLst>
              </a:tr>
              <a:tr h="69627">
                <a:tc vMerge="1">
                  <a:txBody>
                    <a:bodyPr/>
                    <a:lstStyle/>
                    <a:p>
                      <a:endParaRPr lang="es-PE"/>
                    </a:p>
                  </a:txBody>
                  <a:tcPr/>
                </a:tc>
                <a:tc vMerge="1">
                  <a:txBody>
                    <a:bodyPr/>
                    <a:lstStyle/>
                    <a:p>
                      <a:endParaRPr lang="es-PE"/>
                    </a:p>
                  </a:txBody>
                  <a:tcPr/>
                </a:tc>
                <a:tc>
                  <a:txBody>
                    <a:bodyPr/>
                    <a:lstStyle/>
                    <a:p>
                      <a:pPr rtl="0" fontAlgn="b"/>
                      <a:r>
                        <a:rPr lang="es-PE" sz="800" b="0" dirty="0">
                          <a:effectLst/>
                          <a:latin typeface="+mn-lt"/>
                        </a:rPr>
                        <a:t>INTERMEDIATE I</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r>
                        <a:rPr lang="es-PE" sz="800" b="0" dirty="0">
                          <a:effectLst/>
                          <a:latin typeface="+mn-lt"/>
                        </a:rPr>
                        <a:t>8 SEMANAS</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dirty="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rtl="0" fontAlgn="b"/>
                      <a:r>
                        <a:rPr lang="es-PE" sz="800" b="0">
                          <a:effectLst/>
                          <a:latin typeface="+mn-lt"/>
                        </a:rPr>
                        <a:t>2/11/2026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CAEDFB"/>
                    </a:solidFill>
                  </a:tcPr>
                </a:tc>
                <a:tc>
                  <a:txBody>
                    <a:bodyPr/>
                    <a:lstStyle/>
                    <a:p>
                      <a:pPr algn="r" rtl="0" fontAlgn="b"/>
                      <a:r>
                        <a:rPr lang="es-PE" sz="800" b="0">
                          <a:effectLst/>
                          <a:latin typeface="+mn-lt"/>
                        </a:rPr>
                        <a:t>27/12/2026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CAEDFB"/>
                    </a:solid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36527921"/>
                  </a:ext>
                </a:extLst>
              </a:tr>
              <a:tr h="69627">
                <a:tc vMerge="1">
                  <a:txBody>
                    <a:bodyPr/>
                    <a:lstStyle/>
                    <a:p>
                      <a:endParaRPr lang="es-PE"/>
                    </a:p>
                  </a:txBody>
                  <a:tcPr/>
                </a:tc>
                <a:tc vMerge="1">
                  <a:txBody>
                    <a:bodyPr/>
                    <a:lstStyle/>
                    <a:p>
                      <a:endParaRPr lang="es-PE"/>
                    </a:p>
                  </a:txBody>
                  <a:tcPr/>
                </a:tc>
                <a:tc>
                  <a:txBody>
                    <a:bodyPr/>
                    <a:lstStyle/>
                    <a:p>
                      <a:pPr rtl="0" fontAlgn="b"/>
                      <a:r>
                        <a:rPr lang="es-PE" sz="800" b="0">
                          <a:effectLst/>
                          <a:latin typeface="+mn-lt"/>
                        </a:rPr>
                        <a:t>INTERMEDIATE II</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r>
                        <a:rPr lang="es-PE" sz="800" b="0">
                          <a:effectLst/>
                          <a:latin typeface="+mn-lt"/>
                        </a:rPr>
                        <a:t>8 SEMANAS</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dirty="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rtl="0" fontAlgn="b"/>
                      <a:r>
                        <a:rPr lang="es-PE" sz="800" b="0">
                          <a:effectLst/>
                          <a:latin typeface="+mn-lt"/>
                        </a:rPr>
                        <a:t>2/11/2026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CAEDFB"/>
                    </a:solidFill>
                  </a:tcPr>
                </a:tc>
                <a:tc>
                  <a:txBody>
                    <a:bodyPr/>
                    <a:lstStyle/>
                    <a:p>
                      <a:pPr algn="r" rtl="0" fontAlgn="b"/>
                      <a:r>
                        <a:rPr lang="es-PE" sz="800" b="0">
                          <a:effectLst/>
                          <a:latin typeface="+mn-lt"/>
                        </a:rPr>
                        <a:t>27/12/2026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CAEDFB"/>
                    </a:solid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25941224"/>
                  </a:ext>
                </a:extLst>
              </a:tr>
              <a:tr h="69627">
                <a:tc vMerge="1">
                  <a:txBody>
                    <a:bodyPr/>
                    <a:lstStyle/>
                    <a:p>
                      <a:endParaRPr lang="es-PE"/>
                    </a:p>
                  </a:txBody>
                  <a:tcPr/>
                </a:tc>
                <a:tc vMerge="1">
                  <a:txBody>
                    <a:bodyPr/>
                    <a:lstStyle/>
                    <a:p>
                      <a:endParaRPr lang="es-PE"/>
                    </a:p>
                  </a:txBody>
                  <a:tcPr/>
                </a:tc>
                <a:tc>
                  <a:txBody>
                    <a:bodyPr/>
                    <a:lstStyle/>
                    <a:p>
                      <a:pPr rtl="0" fontAlgn="b"/>
                      <a:r>
                        <a:rPr lang="es-PE" sz="800" b="0">
                          <a:effectLst/>
                          <a:latin typeface="+mn-lt"/>
                        </a:rPr>
                        <a:t>INTERMEDIATE III</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r>
                        <a:rPr lang="es-PE" sz="800" b="0">
                          <a:effectLst/>
                          <a:latin typeface="+mn-lt"/>
                        </a:rPr>
                        <a:t>13 SEMANAS</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dirty="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rtl="0" fontAlgn="b"/>
                      <a:r>
                        <a:rPr lang="es-PE" sz="800" b="0">
                          <a:effectLst/>
                          <a:latin typeface="+mn-lt"/>
                        </a:rPr>
                        <a:t>2/11/2026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CAEDFB"/>
                    </a:solid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CAEDFB"/>
                    </a:solidFill>
                  </a:tcPr>
                </a:tc>
                <a:tc>
                  <a:txBody>
                    <a:bodyPr/>
                    <a:lstStyle/>
                    <a:p>
                      <a:pPr algn="r" rtl="0" fontAlgn="b"/>
                      <a:r>
                        <a:rPr lang="es-PE" sz="800" b="0">
                          <a:effectLst/>
                          <a:latin typeface="+mn-lt"/>
                        </a:rPr>
                        <a:t>31/1/2027</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CAEDFB"/>
                    </a:solid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06194627"/>
                  </a:ext>
                </a:extLst>
              </a:tr>
              <a:tr h="69627">
                <a:tc vMerge="1">
                  <a:txBody>
                    <a:bodyPr/>
                    <a:lstStyle/>
                    <a:p>
                      <a:endParaRPr lang="es-PE"/>
                    </a:p>
                  </a:txBody>
                  <a:tcPr/>
                </a:tc>
                <a:tc rowSpan="6">
                  <a:txBody>
                    <a:bodyPr/>
                    <a:lstStyle/>
                    <a:p>
                      <a:pPr algn="ctr" rtl="0" fontAlgn="ctr"/>
                      <a:r>
                        <a:rPr lang="es-PE" sz="800" b="0">
                          <a:effectLst/>
                          <a:latin typeface="+mn-lt"/>
                        </a:rPr>
                        <a:t>I12</a:t>
                      </a:r>
                    </a:p>
                  </a:txBody>
                  <a:tcPr marL="2079" marR="2079"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r>
                        <a:rPr lang="es-PE" sz="800" b="0">
                          <a:effectLst/>
                          <a:latin typeface="+mn-lt"/>
                        </a:rPr>
                        <a:t>BASIC I</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r>
                        <a:rPr lang="es-PE" sz="800" b="0">
                          <a:effectLst/>
                          <a:latin typeface="+mn-lt"/>
                        </a:rPr>
                        <a:t>8 SEMANAS</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dirty="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rtl="0" fontAlgn="b"/>
                      <a:r>
                        <a:rPr lang="es-PE" sz="800" b="0">
                          <a:effectLst/>
                          <a:latin typeface="+mn-lt"/>
                        </a:rPr>
                        <a:t>7/12/2026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AE2D5"/>
                    </a:solidFill>
                  </a:tcPr>
                </a:tc>
                <a:tc>
                  <a:txBody>
                    <a:bodyPr/>
                    <a:lstStyle/>
                    <a:p>
                      <a:pPr algn="r" rtl="0" fontAlgn="b"/>
                      <a:r>
                        <a:rPr lang="es-PE" sz="800" b="0">
                          <a:effectLst/>
                          <a:latin typeface="+mn-lt"/>
                        </a:rPr>
                        <a:t>31/1/2027</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AE2D5"/>
                    </a:solid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17772729"/>
                  </a:ext>
                </a:extLst>
              </a:tr>
              <a:tr h="69627">
                <a:tc vMerge="1">
                  <a:txBody>
                    <a:bodyPr/>
                    <a:lstStyle/>
                    <a:p>
                      <a:endParaRPr lang="es-PE"/>
                    </a:p>
                  </a:txBody>
                  <a:tcPr/>
                </a:tc>
                <a:tc vMerge="1">
                  <a:txBody>
                    <a:bodyPr/>
                    <a:lstStyle/>
                    <a:p>
                      <a:endParaRPr lang="es-PE"/>
                    </a:p>
                  </a:txBody>
                  <a:tcPr/>
                </a:tc>
                <a:tc>
                  <a:txBody>
                    <a:bodyPr/>
                    <a:lstStyle/>
                    <a:p>
                      <a:pPr rtl="0" fontAlgn="b"/>
                      <a:r>
                        <a:rPr lang="es-PE" sz="800" b="0">
                          <a:effectLst/>
                          <a:latin typeface="+mn-lt"/>
                        </a:rPr>
                        <a:t>BASIC II</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r>
                        <a:rPr lang="es-PE" sz="800" b="0">
                          <a:effectLst/>
                          <a:latin typeface="+mn-lt"/>
                        </a:rPr>
                        <a:t>8 SEMANAS</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dirty="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rtl="0" fontAlgn="b"/>
                      <a:r>
                        <a:rPr lang="es-PE" sz="800" b="0">
                          <a:effectLst/>
                          <a:latin typeface="+mn-lt"/>
                        </a:rPr>
                        <a:t>7/12/2026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AE2D5"/>
                    </a:solidFill>
                  </a:tcPr>
                </a:tc>
                <a:tc>
                  <a:txBody>
                    <a:bodyPr/>
                    <a:lstStyle/>
                    <a:p>
                      <a:pPr algn="r" rtl="0" fontAlgn="b"/>
                      <a:r>
                        <a:rPr lang="es-PE" sz="800" b="0">
                          <a:effectLst/>
                          <a:latin typeface="+mn-lt"/>
                        </a:rPr>
                        <a:t>31/1/2027</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AE2D5"/>
                    </a:solid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4969741"/>
                  </a:ext>
                </a:extLst>
              </a:tr>
              <a:tr h="69627">
                <a:tc vMerge="1">
                  <a:txBody>
                    <a:bodyPr/>
                    <a:lstStyle/>
                    <a:p>
                      <a:endParaRPr lang="es-PE"/>
                    </a:p>
                  </a:txBody>
                  <a:tcPr/>
                </a:tc>
                <a:tc vMerge="1">
                  <a:txBody>
                    <a:bodyPr/>
                    <a:lstStyle/>
                    <a:p>
                      <a:endParaRPr lang="es-PE"/>
                    </a:p>
                  </a:txBody>
                  <a:tcPr/>
                </a:tc>
                <a:tc>
                  <a:txBody>
                    <a:bodyPr/>
                    <a:lstStyle/>
                    <a:p>
                      <a:pPr rtl="0" fontAlgn="b"/>
                      <a:r>
                        <a:rPr lang="es-PE" sz="800" b="0">
                          <a:effectLst/>
                          <a:latin typeface="+mn-lt"/>
                        </a:rPr>
                        <a:t>BASIC III</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r>
                        <a:rPr lang="es-PE" sz="800" b="0">
                          <a:effectLst/>
                          <a:latin typeface="+mn-lt"/>
                        </a:rPr>
                        <a:t>12 SEMANAS</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dirty="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rtl="0" fontAlgn="b"/>
                      <a:r>
                        <a:rPr lang="es-PE" sz="800" b="0">
                          <a:effectLst/>
                          <a:latin typeface="+mn-lt"/>
                        </a:rPr>
                        <a:t>7/12/2026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AE2D5"/>
                    </a:solid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AE2D5"/>
                    </a:solidFill>
                  </a:tcPr>
                </a:tc>
                <a:tc>
                  <a:txBody>
                    <a:bodyPr/>
                    <a:lstStyle/>
                    <a:p>
                      <a:pPr algn="r" rtl="0" fontAlgn="b"/>
                      <a:r>
                        <a:rPr lang="es-PE" sz="800" b="0">
                          <a:effectLst/>
                          <a:latin typeface="+mn-lt"/>
                        </a:rPr>
                        <a:t>28/2/2027</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AE2D5"/>
                    </a:solidFill>
                  </a:tcPr>
                </a:tc>
                <a:extLst>
                  <a:ext uri="{0D108BD9-81ED-4DB2-BD59-A6C34878D82A}">
                    <a16:rowId xmlns:a16="http://schemas.microsoft.com/office/drawing/2014/main" val="3786036885"/>
                  </a:ext>
                </a:extLst>
              </a:tr>
              <a:tr h="69627">
                <a:tc vMerge="1">
                  <a:txBody>
                    <a:bodyPr/>
                    <a:lstStyle/>
                    <a:p>
                      <a:endParaRPr lang="es-PE"/>
                    </a:p>
                  </a:txBody>
                  <a:tcPr/>
                </a:tc>
                <a:tc vMerge="1">
                  <a:txBody>
                    <a:bodyPr/>
                    <a:lstStyle/>
                    <a:p>
                      <a:endParaRPr lang="es-PE"/>
                    </a:p>
                  </a:txBody>
                  <a:tcPr/>
                </a:tc>
                <a:tc>
                  <a:txBody>
                    <a:bodyPr/>
                    <a:lstStyle/>
                    <a:p>
                      <a:pPr rtl="0" fontAlgn="b"/>
                      <a:r>
                        <a:rPr lang="es-PE" sz="800" b="0">
                          <a:effectLst/>
                          <a:latin typeface="+mn-lt"/>
                        </a:rPr>
                        <a:t>INTERMEDIATE I</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r>
                        <a:rPr lang="es-PE" sz="800" b="0">
                          <a:effectLst/>
                          <a:latin typeface="+mn-lt"/>
                        </a:rPr>
                        <a:t>8 SEMANAS</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dirty="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rtl="0" fontAlgn="b"/>
                      <a:r>
                        <a:rPr lang="es-PE" sz="800" b="0">
                          <a:effectLst/>
                          <a:latin typeface="+mn-lt"/>
                        </a:rPr>
                        <a:t>7/12/2026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AE2D5"/>
                    </a:solidFill>
                  </a:tcPr>
                </a:tc>
                <a:tc>
                  <a:txBody>
                    <a:bodyPr/>
                    <a:lstStyle/>
                    <a:p>
                      <a:pPr algn="r" rtl="0" fontAlgn="b"/>
                      <a:r>
                        <a:rPr lang="es-PE" sz="800" b="0">
                          <a:effectLst/>
                          <a:latin typeface="+mn-lt"/>
                        </a:rPr>
                        <a:t>31/1/2027</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AE2D5"/>
                    </a:solid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27598593"/>
                  </a:ext>
                </a:extLst>
              </a:tr>
              <a:tr h="69627">
                <a:tc vMerge="1">
                  <a:txBody>
                    <a:bodyPr/>
                    <a:lstStyle/>
                    <a:p>
                      <a:endParaRPr lang="es-PE"/>
                    </a:p>
                  </a:txBody>
                  <a:tcPr/>
                </a:tc>
                <a:tc vMerge="1">
                  <a:txBody>
                    <a:bodyPr/>
                    <a:lstStyle/>
                    <a:p>
                      <a:endParaRPr lang="es-PE"/>
                    </a:p>
                  </a:txBody>
                  <a:tcPr/>
                </a:tc>
                <a:tc>
                  <a:txBody>
                    <a:bodyPr/>
                    <a:lstStyle/>
                    <a:p>
                      <a:pPr rtl="0" fontAlgn="b"/>
                      <a:r>
                        <a:rPr lang="es-PE" sz="800" b="0">
                          <a:effectLst/>
                          <a:latin typeface="+mn-lt"/>
                        </a:rPr>
                        <a:t>INTERMEDIATE II</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r>
                        <a:rPr lang="es-PE" sz="800" b="0">
                          <a:effectLst/>
                          <a:latin typeface="+mn-lt"/>
                        </a:rPr>
                        <a:t>8 SEMANAS</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dirty="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rtl="0" fontAlgn="b"/>
                      <a:r>
                        <a:rPr lang="es-PE" sz="800" b="0">
                          <a:effectLst/>
                          <a:latin typeface="+mn-lt"/>
                        </a:rPr>
                        <a:t>7/12/2026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AE2D5"/>
                    </a:solidFill>
                  </a:tcPr>
                </a:tc>
                <a:tc>
                  <a:txBody>
                    <a:bodyPr/>
                    <a:lstStyle/>
                    <a:p>
                      <a:pPr algn="r" rtl="0" fontAlgn="b"/>
                      <a:r>
                        <a:rPr lang="es-PE" sz="800" b="0">
                          <a:effectLst/>
                          <a:latin typeface="+mn-lt"/>
                        </a:rPr>
                        <a:t>31/1/2027</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AE2D5"/>
                    </a:solidFill>
                  </a:tcPr>
                </a:tc>
                <a:tc>
                  <a:txBody>
                    <a:bodyPr/>
                    <a:lstStyle/>
                    <a:p>
                      <a:pPr rtl="0" fontAlgn="b"/>
                      <a:endParaRPr lang="es-PE" sz="80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3369695"/>
                  </a:ext>
                </a:extLst>
              </a:tr>
              <a:tr h="69627">
                <a:tc vMerge="1">
                  <a:txBody>
                    <a:bodyPr/>
                    <a:lstStyle/>
                    <a:p>
                      <a:endParaRPr lang="es-PE"/>
                    </a:p>
                  </a:txBody>
                  <a:tcPr/>
                </a:tc>
                <a:tc vMerge="1">
                  <a:txBody>
                    <a:bodyPr/>
                    <a:lstStyle/>
                    <a:p>
                      <a:endParaRPr lang="es-PE"/>
                    </a:p>
                  </a:txBody>
                  <a:tcPr/>
                </a:tc>
                <a:tc>
                  <a:txBody>
                    <a:bodyPr/>
                    <a:lstStyle/>
                    <a:p>
                      <a:pPr rtl="0" fontAlgn="b"/>
                      <a:r>
                        <a:rPr lang="es-PE" sz="800" b="0">
                          <a:effectLst/>
                          <a:latin typeface="+mn-lt"/>
                        </a:rPr>
                        <a:t>INTERMEDIATE III</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r>
                        <a:rPr lang="es-PE" sz="800" b="0">
                          <a:effectLst/>
                          <a:latin typeface="+mn-lt"/>
                        </a:rPr>
                        <a:t>12 SEMANAS</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dirty="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dirty="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dirty="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dirty="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dirty="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dirty="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dirty="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dirty="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dirty="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dirty="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b"/>
                      <a:endParaRPr lang="es-PE" sz="800" dirty="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rtl="0" fontAlgn="b"/>
                      <a:r>
                        <a:rPr lang="es-PE" sz="800" b="0" dirty="0">
                          <a:effectLst/>
                          <a:latin typeface="+mn-lt"/>
                        </a:rPr>
                        <a:t>7/12/2026</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AE2D5"/>
                    </a:solidFill>
                  </a:tcPr>
                </a:tc>
                <a:tc>
                  <a:txBody>
                    <a:bodyPr/>
                    <a:lstStyle/>
                    <a:p>
                      <a:pPr rtl="0" fontAlgn="b"/>
                      <a:endParaRPr lang="es-PE" sz="800" dirty="0">
                        <a:effectLst/>
                        <a:latin typeface="+mn-lt"/>
                      </a:endParaRP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AE2D5"/>
                    </a:solidFill>
                  </a:tcPr>
                </a:tc>
                <a:tc>
                  <a:txBody>
                    <a:bodyPr/>
                    <a:lstStyle/>
                    <a:p>
                      <a:pPr algn="r" rtl="0" fontAlgn="b"/>
                      <a:r>
                        <a:rPr lang="es-PE" sz="800" b="0" dirty="0">
                          <a:effectLst/>
                          <a:latin typeface="+mn-lt"/>
                        </a:rPr>
                        <a:t>28/2/2027</a:t>
                      </a:r>
                    </a:p>
                  </a:txBody>
                  <a:tcPr marL="2079" marR="2079"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AE2D5"/>
                    </a:solidFill>
                  </a:tcPr>
                </a:tc>
                <a:extLst>
                  <a:ext uri="{0D108BD9-81ED-4DB2-BD59-A6C34878D82A}">
                    <a16:rowId xmlns:a16="http://schemas.microsoft.com/office/drawing/2014/main" val="3181930176"/>
                  </a:ext>
                </a:extLst>
              </a:tr>
            </a:tbl>
          </a:graphicData>
        </a:graphic>
      </p:graphicFrame>
    </p:spTree>
    <p:extLst>
      <p:ext uri="{BB962C8B-B14F-4D97-AF65-F5344CB8AC3E}">
        <p14:creationId xmlns:p14="http://schemas.microsoft.com/office/powerpoint/2010/main" val="9850979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left)">
                                      <p:cBhvr>
                                        <p:cTn id="10" dur="500"/>
                                        <p:tgtEl>
                                          <p:spTgt spid="8"/>
                                        </p:tgtEl>
                                      </p:cBhvr>
                                    </p:animEffect>
                                  </p:childTnLst>
                                </p:cTn>
                              </p:par>
                            </p:childTnLst>
                          </p:cTn>
                        </p:par>
                        <p:par>
                          <p:cTn id="11" fill="hold">
                            <p:stCondLst>
                              <p:cond delay="500"/>
                            </p:stCondLst>
                            <p:childTnLst>
                              <p:par>
                                <p:cTn id="12" presetID="22" presetClass="entr" presetSubtype="1" fill="hold"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wipe(up)">
                                      <p:cBhvr>
                                        <p:cTn id="14"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7CAB2B86-4E3B-C98C-411E-958BEFE187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2528" y="6154887"/>
            <a:ext cx="2234242" cy="525923"/>
          </a:xfrm>
          <a:prstGeom prst="rect">
            <a:avLst/>
          </a:prstGeom>
        </p:spPr>
      </p:pic>
      <p:pic>
        <p:nvPicPr>
          <p:cNvPr id="4" name="Picture 4" descr="Ellucian Student Reseñas 2026: Detalles, Precios y Características | G2">
            <a:extLst>
              <a:ext uri="{FF2B5EF4-FFF2-40B4-BE49-F238E27FC236}">
                <a16:creationId xmlns:a16="http://schemas.microsoft.com/office/drawing/2014/main" id="{7352B780-8C7C-7B91-F3EE-5E6EF2C2E4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98101" y="5901780"/>
            <a:ext cx="1821371" cy="956220"/>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0AEBA78F-8C98-5D4D-384F-95B753FFADE4}"/>
              </a:ext>
            </a:extLst>
          </p:cNvPr>
          <p:cNvSpPr txBox="1"/>
          <p:nvPr/>
        </p:nvSpPr>
        <p:spPr>
          <a:xfrm>
            <a:off x="431320" y="241540"/>
            <a:ext cx="8533105" cy="523220"/>
          </a:xfrm>
          <a:prstGeom prst="rect">
            <a:avLst/>
          </a:prstGeom>
          <a:noFill/>
        </p:spPr>
        <p:txBody>
          <a:bodyPr wrap="none" rtlCol="0">
            <a:spAutoFit/>
          </a:bodyPr>
          <a:lstStyle/>
          <a:p>
            <a:r>
              <a:rPr lang="es-ES" sz="2800" b="1" dirty="0">
                <a:latin typeface="Montserrat" pitchFamily="2" charset="0"/>
              </a:rPr>
              <a:t>CRONOGRAMA ACADÉMICO COMPUTACIÓN</a:t>
            </a:r>
            <a:endParaRPr lang="es-PE" sz="2800" b="1" dirty="0">
              <a:latin typeface="Montserrat" pitchFamily="2" charset="0"/>
            </a:endParaRPr>
          </a:p>
        </p:txBody>
      </p:sp>
      <p:sp>
        <p:nvSpPr>
          <p:cNvPr id="8" name="Rectángulo 7">
            <a:extLst>
              <a:ext uri="{FF2B5EF4-FFF2-40B4-BE49-F238E27FC236}">
                <a16:creationId xmlns:a16="http://schemas.microsoft.com/office/drawing/2014/main" id="{A16BCE08-E23C-F264-A6E3-E4019979D2E2}"/>
              </a:ext>
            </a:extLst>
          </p:cNvPr>
          <p:cNvSpPr/>
          <p:nvPr/>
        </p:nvSpPr>
        <p:spPr>
          <a:xfrm>
            <a:off x="9054353" y="241540"/>
            <a:ext cx="3137646" cy="445583"/>
          </a:xfrm>
          <a:prstGeom prst="rect">
            <a:avLst/>
          </a:prstGeom>
          <a:gradFill flip="none" rotWithShape="1">
            <a:gsLst>
              <a:gs pos="0">
                <a:schemeClr val="accent6">
                  <a:lumMod val="0"/>
                  <a:lumOff val="100000"/>
                </a:schemeClr>
              </a:gs>
              <a:gs pos="66000">
                <a:schemeClr val="accent6">
                  <a:lumMod val="100000"/>
                </a:schemeClr>
              </a:gs>
            </a:gsLst>
            <a:lin ang="0" scaled="1"/>
            <a:tileRect/>
          </a:gra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s-PE"/>
          </a:p>
        </p:txBody>
      </p:sp>
      <p:sp>
        <p:nvSpPr>
          <p:cNvPr id="6" name="CuadroTexto 5">
            <a:extLst>
              <a:ext uri="{FF2B5EF4-FFF2-40B4-BE49-F238E27FC236}">
                <a16:creationId xmlns:a16="http://schemas.microsoft.com/office/drawing/2014/main" id="{AC33DC36-253A-547B-7A30-A152C2F6B4CE}"/>
              </a:ext>
            </a:extLst>
          </p:cNvPr>
          <p:cNvSpPr txBox="1"/>
          <p:nvPr/>
        </p:nvSpPr>
        <p:spPr>
          <a:xfrm>
            <a:off x="4528936" y="6386396"/>
            <a:ext cx="3134128" cy="276999"/>
          </a:xfrm>
          <a:prstGeom prst="rect">
            <a:avLst/>
          </a:prstGeom>
          <a:noFill/>
        </p:spPr>
        <p:txBody>
          <a:bodyPr wrap="none" rtlCol="0">
            <a:spAutoFit/>
          </a:bodyPr>
          <a:lstStyle/>
          <a:p>
            <a:pPr algn="ctr"/>
            <a:r>
              <a:rPr lang="es-ES" sz="1200" i="1" dirty="0"/>
              <a:t>Elaborado por: Ing. Liliana Ocampo Moreno</a:t>
            </a:r>
            <a:endParaRPr lang="es-PE" sz="1200" i="1" dirty="0"/>
          </a:p>
        </p:txBody>
      </p:sp>
      <p:graphicFrame>
        <p:nvGraphicFramePr>
          <p:cNvPr id="5" name="Tabla 4">
            <a:extLst>
              <a:ext uri="{FF2B5EF4-FFF2-40B4-BE49-F238E27FC236}">
                <a16:creationId xmlns:a16="http://schemas.microsoft.com/office/drawing/2014/main" id="{6DF519F4-8CFC-537A-03F7-EE7E1143C1ED}"/>
              </a:ext>
            </a:extLst>
          </p:cNvPr>
          <p:cNvGraphicFramePr>
            <a:graphicFrameLocks noGrp="1"/>
          </p:cNvGraphicFramePr>
          <p:nvPr>
            <p:extLst>
              <p:ext uri="{D42A27DB-BD31-4B8C-83A1-F6EECF244321}">
                <p14:modId xmlns:p14="http://schemas.microsoft.com/office/powerpoint/2010/main" val="4254640653"/>
              </p:ext>
            </p:extLst>
          </p:nvPr>
        </p:nvGraphicFramePr>
        <p:xfrm>
          <a:off x="356518" y="1253330"/>
          <a:ext cx="11575506" cy="4351340"/>
        </p:xfrm>
        <a:graphic>
          <a:graphicData uri="http://schemas.openxmlformats.org/drawingml/2006/table">
            <a:tbl>
              <a:tblPr/>
              <a:tblGrid>
                <a:gridCol w="602706">
                  <a:extLst>
                    <a:ext uri="{9D8B030D-6E8A-4147-A177-3AD203B41FA5}">
                      <a16:colId xmlns:a16="http://schemas.microsoft.com/office/drawing/2014/main" val="2636194435"/>
                    </a:ext>
                  </a:extLst>
                </a:gridCol>
                <a:gridCol w="824752">
                  <a:extLst>
                    <a:ext uri="{9D8B030D-6E8A-4147-A177-3AD203B41FA5}">
                      <a16:colId xmlns:a16="http://schemas.microsoft.com/office/drawing/2014/main" val="2219321225"/>
                    </a:ext>
                  </a:extLst>
                </a:gridCol>
                <a:gridCol w="618565">
                  <a:extLst>
                    <a:ext uri="{9D8B030D-6E8A-4147-A177-3AD203B41FA5}">
                      <a16:colId xmlns:a16="http://schemas.microsoft.com/office/drawing/2014/main" val="586384013"/>
                    </a:ext>
                  </a:extLst>
                </a:gridCol>
                <a:gridCol w="806824">
                  <a:extLst>
                    <a:ext uri="{9D8B030D-6E8A-4147-A177-3AD203B41FA5}">
                      <a16:colId xmlns:a16="http://schemas.microsoft.com/office/drawing/2014/main" val="2873474812"/>
                    </a:ext>
                  </a:extLst>
                </a:gridCol>
                <a:gridCol w="708211">
                  <a:extLst>
                    <a:ext uri="{9D8B030D-6E8A-4147-A177-3AD203B41FA5}">
                      <a16:colId xmlns:a16="http://schemas.microsoft.com/office/drawing/2014/main" val="1650151251"/>
                    </a:ext>
                  </a:extLst>
                </a:gridCol>
                <a:gridCol w="815789">
                  <a:extLst>
                    <a:ext uri="{9D8B030D-6E8A-4147-A177-3AD203B41FA5}">
                      <a16:colId xmlns:a16="http://schemas.microsoft.com/office/drawing/2014/main" val="541097720"/>
                    </a:ext>
                  </a:extLst>
                </a:gridCol>
                <a:gridCol w="502023">
                  <a:extLst>
                    <a:ext uri="{9D8B030D-6E8A-4147-A177-3AD203B41FA5}">
                      <a16:colId xmlns:a16="http://schemas.microsoft.com/office/drawing/2014/main" val="4036453610"/>
                    </a:ext>
                  </a:extLst>
                </a:gridCol>
                <a:gridCol w="681318">
                  <a:extLst>
                    <a:ext uri="{9D8B030D-6E8A-4147-A177-3AD203B41FA5}">
                      <a16:colId xmlns:a16="http://schemas.microsoft.com/office/drawing/2014/main" val="3856955642"/>
                    </a:ext>
                  </a:extLst>
                </a:gridCol>
                <a:gridCol w="672353">
                  <a:extLst>
                    <a:ext uri="{9D8B030D-6E8A-4147-A177-3AD203B41FA5}">
                      <a16:colId xmlns:a16="http://schemas.microsoft.com/office/drawing/2014/main" val="4128884815"/>
                    </a:ext>
                  </a:extLst>
                </a:gridCol>
                <a:gridCol w="753035">
                  <a:extLst>
                    <a:ext uri="{9D8B030D-6E8A-4147-A177-3AD203B41FA5}">
                      <a16:colId xmlns:a16="http://schemas.microsoft.com/office/drawing/2014/main" val="2884547165"/>
                    </a:ext>
                  </a:extLst>
                </a:gridCol>
                <a:gridCol w="726141">
                  <a:extLst>
                    <a:ext uri="{9D8B030D-6E8A-4147-A177-3AD203B41FA5}">
                      <a16:colId xmlns:a16="http://schemas.microsoft.com/office/drawing/2014/main" val="1038922655"/>
                    </a:ext>
                  </a:extLst>
                </a:gridCol>
                <a:gridCol w="779930">
                  <a:extLst>
                    <a:ext uri="{9D8B030D-6E8A-4147-A177-3AD203B41FA5}">
                      <a16:colId xmlns:a16="http://schemas.microsoft.com/office/drawing/2014/main" val="2430263941"/>
                    </a:ext>
                  </a:extLst>
                </a:gridCol>
                <a:gridCol w="753035">
                  <a:extLst>
                    <a:ext uri="{9D8B030D-6E8A-4147-A177-3AD203B41FA5}">
                      <a16:colId xmlns:a16="http://schemas.microsoft.com/office/drawing/2014/main" val="1617709700"/>
                    </a:ext>
                  </a:extLst>
                </a:gridCol>
                <a:gridCol w="788894">
                  <a:extLst>
                    <a:ext uri="{9D8B030D-6E8A-4147-A177-3AD203B41FA5}">
                      <a16:colId xmlns:a16="http://schemas.microsoft.com/office/drawing/2014/main" val="3723571805"/>
                    </a:ext>
                  </a:extLst>
                </a:gridCol>
                <a:gridCol w="788894">
                  <a:extLst>
                    <a:ext uri="{9D8B030D-6E8A-4147-A177-3AD203B41FA5}">
                      <a16:colId xmlns:a16="http://schemas.microsoft.com/office/drawing/2014/main" val="569474580"/>
                    </a:ext>
                  </a:extLst>
                </a:gridCol>
                <a:gridCol w="753036">
                  <a:extLst>
                    <a:ext uri="{9D8B030D-6E8A-4147-A177-3AD203B41FA5}">
                      <a16:colId xmlns:a16="http://schemas.microsoft.com/office/drawing/2014/main" val="2716383013"/>
                    </a:ext>
                  </a:extLst>
                </a:gridCol>
              </a:tblGrid>
              <a:tr h="348107">
                <a:tc>
                  <a:txBody>
                    <a:bodyPr/>
                    <a:lstStyle/>
                    <a:p>
                      <a:pPr rtl="0" fontAlgn="b"/>
                      <a:r>
                        <a:rPr lang="es-PE" sz="1100" b="1">
                          <a:solidFill>
                            <a:srgbClr val="FFFFFF"/>
                          </a:solidFill>
                          <a:effectLst/>
                          <a:latin typeface="Calibri" panose="020F0502020204030204" pitchFamily="34" charset="0"/>
                        </a:rPr>
                        <a:t>PERIODO</a:t>
                      </a:r>
                    </a:p>
                  </a:txBody>
                  <a:tcPr marL="18131" marR="18131"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3F3F3F"/>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s-PE" sz="1100" b="1" dirty="0">
                          <a:solidFill>
                            <a:srgbClr val="FFFFFF"/>
                          </a:solidFill>
                          <a:effectLst/>
                          <a:latin typeface="+mn-lt"/>
                        </a:rPr>
                        <a:t>PARTE DE PERIODO</a:t>
                      </a:r>
                    </a:p>
                  </a:txBody>
                  <a:tcPr marL="18131" marR="18131"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3F3F3F"/>
                    </a:solidFill>
                  </a:tcPr>
                </a:tc>
                <a:tc>
                  <a:txBody>
                    <a:bodyPr/>
                    <a:lstStyle/>
                    <a:p>
                      <a:pPr rtl="0" fontAlgn="b"/>
                      <a:r>
                        <a:rPr lang="es-PE" sz="1100" b="1" dirty="0">
                          <a:solidFill>
                            <a:srgbClr val="FFFFFF"/>
                          </a:solidFill>
                          <a:effectLst/>
                          <a:latin typeface="Calibri" panose="020F0502020204030204" pitchFamily="34" charset="0"/>
                        </a:rPr>
                        <a:t>CURSO</a:t>
                      </a:r>
                    </a:p>
                  </a:txBody>
                  <a:tcPr marL="18131" marR="18131"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3F3F3F"/>
                    </a:solidFill>
                  </a:tcPr>
                </a:tc>
                <a:tc>
                  <a:txBody>
                    <a:bodyPr/>
                    <a:lstStyle/>
                    <a:p>
                      <a:pPr algn="ctr" rtl="0" fontAlgn="b"/>
                      <a:r>
                        <a:rPr lang="es-PE" sz="1100" b="1" dirty="0">
                          <a:solidFill>
                            <a:srgbClr val="FFFFFF"/>
                          </a:solidFill>
                          <a:effectLst/>
                          <a:latin typeface="Calibri" panose="020F0502020204030204" pitchFamily="34" charset="0"/>
                        </a:rPr>
                        <a:t>DURACIÓN</a:t>
                      </a:r>
                    </a:p>
                  </a:txBody>
                  <a:tcPr marL="18131" marR="18131"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3F3F3F"/>
                    </a:solidFill>
                  </a:tcPr>
                </a:tc>
                <a:tc>
                  <a:txBody>
                    <a:bodyPr/>
                    <a:lstStyle/>
                    <a:p>
                      <a:pPr algn="ctr" rtl="0" fontAlgn="b"/>
                      <a:r>
                        <a:rPr lang="es-PE" sz="1100" b="1" dirty="0">
                          <a:solidFill>
                            <a:srgbClr val="FFFFFF"/>
                          </a:solidFill>
                          <a:effectLst/>
                          <a:latin typeface="Calibri" panose="020F0502020204030204" pitchFamily="34" charset="0"/>
                        </a:rPr>
                        <a:t>ENERO</a:t>
                      </a:r>
                    </a:p>
                  </a:txBody>
                  <a:tcPr marL="18131" marR="18131"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3F3F3F"/>
                    </a:solidFill>
                  </a:tcPr>
                </a:tc>
                <a:tc>
                  <a:txBody>
                    <a:bodyPr/>
                    <a:lstStyle/>
                    <a:p>
                      <a:pPr algn="ctr" rtl="0" fontAlgn="b"/>
                      <a:r>
                        <a:rPr lang="es-PE" sz="1100" b="1">
                          <a:solidFill>
                            <a:srgbClr val="FFFFFF"/>
                          </a:solidFill>
                          <a:effectLst/>
                          <a:latin typeface="Calibri" panose="020F0502020204030204" pitchFamily="34" charset="0"/>
                        </a:rPr>
                        <a:t>FEBRERO</a:t>
                      </a:r>
                    </a:p>
                  </a:txBody>
                  <a:tcPr marL="18131" marR="18131"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3F3F3F"/>
                    </a:solidFill>
                  </a:tcPr>
                </a:tc>
                <a:tc>
                  <a:txBody>
                    <a:bodyPr/>
                    <a:lstStyle/>
                    <a:p>
                      <a:pPr algn="ctr" rtl="0" fontAlgn="b"/>
                      <a:r>
                        <a:rPr lang="es-PE" sz="1100" b="1" dirty="0">
                          <a:solidFill>
                            <a:srgbClr val="FFFFFF"/>
                          </a:solidFill>
                          <a:effectLst/>
                          <a:latin typeface="Calibri" panose="020F0502020204030204" pitchFamily="34" charset="0"/>
                        </a:rPr>
                        <a:t>MARZO</a:t>
                      </a:r>
                    </a:p>
                  </a:txBody>
                  <a:tcPr marL="18131" marR="18131"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3F3F3F"/>
                    </a:solidFill>
                  </a:tcPr>
                </a:tc>
                <a:tc>
                  <a:txBody>
                    <a:bodyPr/>
                    <a:lstStyle/>
                    <a:p>
                      <a:pPr algn="ctr" rtl="0" fontAlgn="b"/>
                      <a:r>
                        <a:rPr lang="es-PE" sz="1100" b="1">
                          <a:solidFill>
                            <a:srgbClr val="FFFFFF"/>
                          </a:solidFill>
                          <a:effectLst/>
                          <a:latin typeface="Calibri" panose="020F0502020204030204" pitchFamily="34" charset="0"/>
                        </a:rPr>
                        <a:t>ABRIL</a:t>
                      </a:r>
                    </a:p>
                  </a:txBody>
                  <a:tcPr marL="18131" marR="18131"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3F3F3F"/>
                    </a:solidFill>
                  </a:tcPr>
                </a:tc>
                <a:tc>
                  <a:txBody>
                    <a:bodyPr/>
                    <a:lstStyle/>
                    <a:p>
                      <a:pPr algn="ctr" rtl="0" fontAlgn="b"/>
                      <a:r>
                        <a:rPr lang="es-PE" sz="1100" b="1">
                          <a:solidFill>
                            <a:srgbClr val="FFFFFF"/>
                          </a:solidFill>
                          <a:effectLst/>
                          <a:latin typeface="Calibri" panose="020F0502020204030204" pitchFamily="34" charset="0"/>
                        </a:rPr>
                        <a:t>MAYO</a:t>
                      </a:r>
                    </a:p>
                  </a:txBody>
                  <a:tcPr marL="18131" marR="18131"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3F3F3F"/>
                    </a:solidFill>
                  </a:tcPr>
                </a:tc>
                <a:tc>
                  <a:txBody>
                    <a:bodyPr/>
                    <a:lstStyle/>
                    <a:p>
                      <a:pPr algn="ctr" rtl="0" fontAlgn="b"/>
                      <a:r>
                        <a:rPr lang="es-PE" sz="1100" b="1">
                          <a:solidFill>
                            <a:srgbClr val="FFFFFF"/>
                          </a:solidFill>
                          <a:effectLst/>
                          <a:latin typeface="Calibri" panose="020F0502020204030204" pitchFamily="34" charset="0"/>
                        </a:rPr>
                        <a:t>JUNIO</a:t>
                      </a:r>
                    </a:p>
                  </a:txBody>
                  <a:tcPr marL="18131" marR="18131"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3F3F3F"/>
                    </a:solidFill>
                  </a:tcPr>
                </a:tc>
                <a:tc>
                  <a:txBody>
                    <a:bodyPr/>
                    <a:lstStyle/>
                    <a:p>
                      <a:pPr algn="ctr" rtl="0" fontAlgn="b"/>
                      <a:r>
                        <a:rPr lang="es-PE" sz="1100" b="1">
                          <a:solidFill>
                            <a:srgbClr val="FFFFFF"/>
                          </a:solidFill>
                          <a:effectLst/>
                          <a:latin typeface="Calibri" panose="020F0502020204030204" pitchFamily="34" charset="0"/>
                        </a:rPr>
                        <a:t>JULIO</a:t>
                      </a:r>
                    </a:p>
                  </a:txBody>
                  <a:tcPr marL="18131" marR="18131"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3F3F3F"/>
                    </a:solidFill>
                  </a:tcPr>
                </a:tc>
                <a:tc>
                  <a:txBody>
                    <a:bodyPr/>
                    <a:lstStyle/>
                    <a:p>
                      <a:pPr algn="ctr" rtl="0" fontAlgn="b"/>
                      <a:r>
                        <a:rPr lang="es-PE" sz="1100" b="1">
                          <a:solidFill>
                            <a:srgbClr val="FFFFFF"/>
                          </a:solidFill>
                          <a:effectLst/>
                          <a:latin typeface="Calibri" panose="020F0502020204030204" pitchFamily="34" charset="0"/>
                        </a:rPr>
                        <a:t>AGOSTO</a:t>
                      </a:r>
                    </a:p>
                  </a:txBody>
                  <a:tcPr marL="18131" marR="18131"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3F3F3F"/>
                    </a:solidFill>
                  </a:tcPr>
                </a:tc>
                <a:tc>
                  <a:txBody>
                    <a:bodyPr/>
                    <a:lstStyle/>
                    <a:p>
                      <a:pPr algn="ctr" rtl="0" fontAlgn="b"/>
                      <a:r>
                        <a:rPr lang="es-PE" sz="1100" b="1">
                          <a:solidFill>
                            <a:srgbClr val="FFFFFF"/>
                          </a:solidFill>
                          <a:effectLst/>
                          <a:latin typeface="Calibri" panose="020F0502020204030204" pitchFamily="34" charset="0"/>
                        </a:rPr>
                        <a:t>SETIEMBRE</a:t>
                      </a:r>
                    </a:p>
                  </a:txBody>
                  <a:tcPr marL="18131" marR="18131"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3F3F3F"/>
                    </a:solidFill>
                  </a:tcPr>
                </a:tc>
                <a:tc>
                  <a:txBody>
                    <a:bodyPr/>
                    <a:lstStyle/>
                    <a:p>
                      <a:pPr algn="ctr" rtl="0" fontAlgn="b"/>
                      <a:r>
                        <a:rPr lang="es-PE" sz="1100" b="1">
                          <a:solidFill>
                            <a:srgbClr val="FFFFFF"/>
                          </a:solidFill>
                          <a:effectLst/>
                          <a:latin typeface="Calibri" panose="020F0502020204030204" pitchFamily="34" charset="0"/>
                        </a:rPr>
                        <a:t>OCTUBRE</a:t>
                      </a:r>
                    </a:p>
                  </a:txBody>
                  <a:tcPr marL="18131" marR="18131"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3F3F3F"/>
                    </a:solidFill>
                  </a:tcPr>
                </a:tc>
                <a:tc>
                  <a:txBody>
                    <a:bodyPr/>
                    <a:lstStyle/>
                    <a:p>
                      <a:pPr algn="ctr" rtl="0" fontAlgn="b"/>
                      <a:r>
                        <a:rPr lang="es-PE" sz="1100" b="1">
                          <a:solidFill>
                            <a:srgbClr val="FFFFFF"/>
                          </a:solidFill>
                          <a:effectLst/>
                          <a:latin typeface="Calibri" panose="020F0502020204030204" pitchFamily="34" charset="0"/>
                        </a:rPr>
                        <a:t>NOVIEMBRE</a:t>
                      </a:r>
                    </a:p>
                  </a:txBody>
                  <a:tcPr marL="18131" marR="18131"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3F3F3F"/>
                    </a:solidFill>
                  </a:tcPr>
                </a:tc>
                <a:tc>
                  <a:txBody>
                    <a:bodyPr/>
                    <a:lstStyle/>
                    <a:p>
                      <a:pPr algn="ctr" rtl="0" fontAlgn="b"/>
                      <a:r>
                        <a:rPr lang="es-PE" sz="1100" b="1">
                          <a:solidFill>
                            <a:srgbClr val="FFFFFF"/>
                          </a:solidFill>
                          <a:effectLst/>
                          <a:latin typeface="Calibri" panose="020F0502020204030204" pitchFamily="34" charset="0"/>
                        </a:rPr>
                        <a:t>DICIEMBRE</a:t>
                      </a:r>
                    </a:p>
                  </a:txBody>
                  <a:tcPr marL="18131" marR="18131" marT="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3F3F3F"/>
                    </a:solidFill>
                  </a:tcPr>
                </a:tc>
                <a:extLst>
                  <a:ext uri="{0D108BD9-81ED-4DB2-BD59-A6C34878D82A}">
                    <a16:rowId xmlns:a16="http://schemas.microsoft.com/office/drawing/2014/main" val="1108055945"/>
                  </a:ext>
                </a:extLst>
              </a:tr>
              <a:tr h="522161">
                <a:tc rowSpan="2">
                  <a:txBody>
                    <a:bodyPr/>
                    <a:lstStyle/>
                    <a:p>
                      <a:pPr algn="ctr" rtl="0" fontAlgn="ctr"/>
                      <a:r>
                        <a:rPr lang="es-PE" sz="1100" b="0" dirty="0">
                          <a:effectLst/>
                          <a:latin typeface="Calibri" panose="020F0502020204030204" pitchFamily="34" charset="0"/>
                        </a:rPr>
                        <a:t>202651</a:t>
                      </a:r>
                    </a:p>
                  </a:txBody>
                  <a:tcPr marL="18131" marR="18131"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ctr"/>
                      <a:r>
                        <a:rPr lang="es-PE" sz="1100" b="0">
                          <a:effectLst/>
                          <a:latin typeface="Calibri" panose="020F0502020204030204" pitchFamily="34" charset="0"/>
                        </a:rPr>
                        <a:t>X01</a:t>
                      </a:r>
                    </a:p>
                  </a:txBody>
                  <a:tcPr marL="18131" marR="18131"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ctr"/>
                      <a:r>
                        <a:rPr lang="es-PE" sz="1100" b="0">
                          <a:effectLst/>
                          <a:latin typeface="Calibri" panose="020F0502020204030204" pitchFamily="34" charset="0"/>
                        </a:rPr>
                        <a:t>TODOS</a:t>
                      </a:r>
                    </a:p>
                  </a:txBody>
                  <a:tcPr marL="18131" marR="18131"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ctr"/>
                      <a:r>
                        <a:rPr lang="es-PE" sz="1100" b="0">
                          <a:effectLst/>
                          <a:latin typeface="Calibri" panose="020F0502020204030204" pitchFamily="34" charset="0"/>
                        </a:rPr>
                        <a:t>6 SEMANAS</a:t>
                      </a:r>
                    </a:p>
                  </a:txBody>
                  <a:tcPr marL="18131" marR="18131"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ctr"/>
                      <a:r>
                        <a:rPr lang="es-PE" sz="1100" b="0" dirty="0">
                          <a:effectLst/>
                          <a:latin typeface="Calibri" panose="020F0502020204030204" pitchFamily="34" charset="0"/>
                        </a:rPr>
                        <a:t>12/1/2026</a:t>
                      </a:r>
                    </a:p>
                  </a:txBody>
                  <a:tcPr marL="18131" marR="18131"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9F2D0"/>
                    </a:solidFill>
                  </a:tcPr>
                </a:tc>
                <a:tc>
                  <a:txBody>
                    <a:bodyPr/>
                    <a:lstStyle/>
                    <a:p>
                      <a:pPr algn="ctr" rtl="0" fontAlgn="ctr"/>
                      <a:r>
                        <a:rPr lang="es-PE" sz="1100" b="0">
                          <a:effectLst/>
                          <a:latin typeface="Calibri" panose="020F0502020204030204" pitchFamily="34" charset="0"/>
                        </a:rPr>
                        <a:t>22/2/2026</a:t>
                      </a:r>
                    </a:p>
                  </a:txBody>
                  <a:tcPr marL="18131" marR="18131"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9F2D0"/>
                    </a:solidFill>
                  </a:tcPr>
                </a:tc>
                <a:tc>
                  <a:txBody>
                    <a:bodyPr/>
                    <a:lstStyle/>
                    <a:p>
                      <a:pPr algn="ctr" rtl="0" fontAlgn="ctr"/>
                      <a:endParaRPr lang="es-PE" sz="1100" dirty="0">
                        <a:effectLst/>
                      </a:endParaRPr>
                    </a:p>
                  </a:txBody>
                  <a:tcPr marL="18131" marR="18131"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ctr"/>
                      <a:endParaRPr lang="es-PE" sz="1100" dirty="0">
                        <a:effectLst/>
                      </a:endParaRPr>
                    </a:p>
                  </a:txBody>
                  <a:tcPr marL="18131" marR="18131"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ctr"/>
                      <a:endParaRPr lang="es-PE" sz="1100" dirty="0">
                        <a:effectLst/>
                      </a:endParaRPr>
                    </a:p>
                  </a:txBody>
                  <a:tcPr marL="18131" marR="18131"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ctr"/>
                      <a:endParaRPr lang="es-PE" sz="1100">
                        <a:effectLst/>
                      </a:endParaRPr>
                    </a:p>
                  </a:txBody>
                  <a:tcPr marL="18131" marR="18131"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ctr"/>
                      <a:endParaRPr lang="es-PE" sz="1100">
                        <a:effectLst/>
                      </a:endParaRPr>
                    </a:p>
                  </a:txBody>
                  <a:tcPr marL="18131" marR="18131"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ctr"/>
                      <a:endParaRPr lang="es-PE" sz="1100">
                        <a:effectLst/>
                      </a:endParaRPr>
                    </a:p>
                  </a:txBody>
                  <a:tcPr marL="18131" marR="18131"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ctr"/>
                      <a:endParaRPr lang="es-PE" sz="1100">
                        <a:effectLst/>
                      </a:endParaRPr>
                    </a:p>
                  </a:txBody>
                  <a:tcPr marL="18131" marR="18131"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ctr"/>
                      <a:endParaRPr lang="es-PE" sz="1100">
                        <a:effectLst/>
                      </a:endParaRPr>
                    </a:p>
                  </a:txBody>
                  <a:tcPr marL="18131" marR="18131"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ctr"/>
                      <a:endParaRPr lang="es-PE" sz="1100">
                        <a:effectLst/>
                      </a:endParaRPr>
                    </a:p>
                  </a:txBody>
                  <a:tcPr marL="18131" marR="18131"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ctr"/>
                      <a:endParaRPr lang="es-PE" sz="1100">
                        <a:effectLst/>
                      </a:endParaRPr>
                    </a:p>
                  </a:txBody>
                  <a:tcPr marL="18131" marR="18131"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85729791"/>
                  </a:ext>
                </a:extLst>
              </a:tr>
              <a:tr h="696214">
                <a:tc vMerge="1">
                  <a:txBody>
                    <a:bodyPr/>
                    <a:lstStyle/>
                    <a:p>
                      <a:endParaRPr lang="es-PE"/>
                    </a:p>
                  </a:txBody>
                  <a:tcPr/>
                </a:tc>
                <a:tc>
                  <a:txBody>
                    <a:bodyPr/>
                    <a:lstStyle/>
                    <a:p>
                      <a:pPr algn="ctr" rtl="0" fontAlgn="ctr"/>
                      <a:r>
                        <a:rPr lang="es-PE" sz="1100" b="0" dirty="0">
                          <a:effectLst/>
                          <a:latin typeface="Calibri" panose="020F0502020204030204" pitchFamily="34" charset="0"/>
                        </a:rPr>
                        <a:t>X02</a:t>
                      </a:r>
                    </a:p>
                  </a:txBody>
                  <a:tcPr marL="18131" marR="18131"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ctr"/>
                      <a:r>
                        <a:rPr lang="es-PE" sz="1100" b="0">
                          <a:effectLst/>
                          <a:latin typeface="Calibri" panose="020F0502020204030204" pitchFamily="34" charset="0"/>
                        </a:rPr>
                        <a:t>TODOS</a:t>
                      </a:r>
                    </a:p>
                  </a:txBody>
                  <a:tcPr marL="18131" marR="18131"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ctr"/>
                      <a:r>
                        <a:rPr lang="es-PE" sz="1100" b="0">
                          <a:effectLst/>
                          <a:latin typeface="Calibri" panose="020F0502020204030204" pitchFamily="34" charset="0"/>
                        </a:rPr>
                        <a:t>4 SEMANAS</a:t>
                      </a:r>
                    </a:p>
                  </a:txBody>
                  <a:tcPr marL="18131" marR="18131"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ctr"/>
                      <a:endParaRPr lang="es-PE" sz="1100">
                        <a:effectLst/>
                      </a:endParaRPr>
                    </a:p>
                  </a:txBody>
                  <a:tcPr marL="18131" marR="18131"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ctr"/>
                      <a:r>
                        <a:rPr lang="es-PE" sz="1100" b="0">
                          <a:effectLst/>
                          <a:latin typeface="Calibri" panose="020F0502020204030204" pitchFamily="34" charset="0"/>
                        </a:rPr>
                        <a:t>23/02/2026</a:t>
                      </a:r>
                      <a:br>
                        <a:rPr lang="es-PE" sz="1100" b="0">
                          <a:effectLst/>
                          <a:latin typeface="Calibri" panose="020F0502020204030204" pitchFamily="34" charset="0"/>
                        </a:rPr>
                      </a:br>
                      <a:r>
                        <a:rPr lang="es-PE" sz="1100" b="0">
                          <a:effectLst/>
                          <a:latin typeface="Calibri" panose="020F0502020204030204" pitchFamily="34" charset="0"/>
                        </a:rPr>
                        <a:t>22/03/2026</a:t>
                      </a:r>
                    </a:p>
                  </a:txBody>
                  <a:tcPr marL="18131" marR="18131"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1CEEE"/>
                    </a:solidFill>
                  </a:tcPr>
                </a:tc>
                <a:tc>
                  <a:txBody>
                    <a:bodyPr/>
                    <a:lstStyle/>
                    <a:p>
                      <a:pPr algn="ctr" rtl="0" fontAlgn="ctr"/>
                      <a:endParaRPr lang="es-PE" sz="1100">
                        <a:effectLst/>
                      </a:endParaRPr>
                    </a:p>
                  </a:txBody>
                  <a:tcPr marL="18131" marR="18131"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ctr"/>
                      <a:endParaRPr lang="es-PE" sz="1100">
                        <a:effectLst/>
                      </a:endParaRPr>
                    </a:p>
                  </a:txBody>
                  <a:tcPr marL="18131" marR="18131"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ctr"/>
                      <a:endParaRPr lang="es-PE" sz="1100">
                        <a:effectLst/>
                      </a:endParaRPr>
                    </a:p>
                  </a:txBody>
                  <a:tcPr marL="18131" marR="18131"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ctr"/>
                      <a:endParaRPr lang="es-PE" sz="1100" dirty="0">
                        <a:effectLst/>
                      </a:endParaRPr>
                    </a:p>
                  </a:txBody>
                  <a:tcPr marL="18131" marR="18131"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ctr"/>
                      <a:endParaRPr lang="es-PE" sz="1100" dirty="0">
                        <a:effectLst/>
                      </a:endParaRPr>
                    </a:p>
                  </a:txBody>
                  <a:tcPr marL="18131" marR="18131"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ctr"/>
                      <a:endParaRPr lang="es-PE" sz="1100" dirty="0">
                        <a:effectLst/>
                      </a:endParaRPr>
                    </a:p>
                  </a:txBody>
                  <a:tcPr marL="18131" marR="18131"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ctr"/>
                      <a:endParaRPr lang="es-PE" sz="1100" dirty="0">
                        <a:effectLst/>
                      </a:endParaRPr>
                    </a:p>
                  </a:txBody>
                  <a:tcPr marL="18131" marR="18131"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ctr"/>
                      <a:endParaRPr lang="es-PE" sz="1100" dirty="0">
                        <a:effectLst/>
                      </a:endParaRPr>
                    </a:p>
                  </a:txBody>
                  <a:tcPr marL="18131" marR="18131"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ctr"/>
                      <a:endParaRPr lang="es-PE" sz="1100" dirty="0">
                        <a:effectLst/>
                      </a:endParaRPr>
                    </a:p>
                  </a:txBody>
                  <a:tcPr marL="18131" marR="18131"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ctr"/>
                      <a:endParaRPr lang="es-PE" sz="1100">
                        <a:effectLst/>
                      </a:endParaRPr>
                    </a:p>
                  </a:txBody>
                  <a:tcPr marL="18131" marR="18131"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92910413"/>
                  </a:ext>
                </a:extLst>
              </a:tr>
              <a:tr h="522161">
                <a:tc rowSpan="2">
                  <a:txBody>
                    <a:bodyPr/>
                    <a:lstStyle/>
                    <a:p>
                      <a:pPr algn="ctr" rtl="0" fontAlgn="ctr"/>
                      <a:r>
                        <a:rPr lang="es-PE" sz="1100" b="0">
                          <a:effectLst/>
                          <a:latin typeface="Calibri" panose="020F0502020204030204" pitchFamily="34" charset="0"/>
                        </a:rPr>
                        <a:t>202654</a:t>
                      </a:r>
                    </a:p>
                  </a:txBody>
                  <a:tcPr marL="18131" marR="18131"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ctr"/>
                      <a:r>
                        <a:rPr lang="es-PE" sz="1100" b="0">
                          <a:effectLst/>
                          <a:latin typeface="Calibri" panose="020F0502020204030204" pitchFamily="34" charset="0"/>
                        </a:rPr>
                        <a:t>X03</a:t>
                      </a:r>
                    </a:p>
                  </a:txBody>
                  <a:tcPr marL="18131" marR="18131"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ctr"/>
                      <a:r>
                        <a:rPr lang="es-PE" sz="1100" b="0" dirty="0">
                          <a:effectLst/>
                          <a:latin typeface="Calibri" panose="020F0502020204030204" pitchFamily="34" charset="0"/>
                        </a:rPr>
                        <a:t>TODOS</a:t>
                      </a:r>
                    </a:p>
                  </a:txBody>
                  <a:tcPr marL="18131" marR="18131"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ctr"/>
                      <a:r>
                        <a:rPr lang="es-PE" sz="1100" b="0">
                          <a:effectLst/>
                          <a:latin typeface="Calibri" panose="020F0502020204030204" pitchFamily="34" charset="0"/>
                        </a:rPr>
                        <a:t>8 SEMANAS</a:t>
                      </a:r>
                    </a:p>
                  </a:txBody>
                  <a:tcPr marL="18131" marR="18131"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ctr"/>
                      <a:endParaRPr lang="es-PE" sz="1100" dirty="0">
                        <a:effectLst/>
                      </a:endParaRPr>
                    </a:p>
                  </a:txBody>
                  <a:tcPr marL="18131" marR="18131"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ctr"/>
                      <a:endParaRPr lang="es-PE" sz="1100">
                        <a:effectLst/>
                      </a:endParaRPr>
                    </a:p>
                  </a:txBody>
                  <a:tcPr marL="18131" marR="18131"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ctr"/>
                      <a:endParaRPr lang="es-PE" sz="1100">
                        <a:effectLst/>
                      </a:endParaRPr>
                    </a:p>
                  </a:txBody>
                  <a:tcPr marL="18131" marR="18131"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ctr"/>
                      <a:r>
                        <a:rPr lang="es-PE" sz="1100" b="0">
                          <a:effectLst/>
                          <a:latin typeface="Calibri" panose="020F0502020204030204" pitchFamily="34" charset="0"/>
                        </a:rPr>
                        <a:t>6/4/2026</a:t>
                      </a:r>
                    </a:p>
                  </a:txBody>
                  <a:tcPr marL="18131" marR="18131"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CAEDFB"/>
                    </a:solidFill>
                  </a:tcPr>
                </a:tc>
                <a:tc>
                  <a:txBody>
                    <a:bodyPr/>
                    <a:lstStyle/>
                    <a:p>
                      <a:pPr algn="ctr" rtl="0" fontAlgn="ctr"/>
                      <a:r>
                        <a:rPr lang="es-PE" sz="1100" b="0">
                          <a:effectLst/>
                          <a:latin typeface="Calibri" panose="020F0502020204030204" pitchFamily="34" charset="0"/>
                        </a:rPr>
                        <a:t>31/5/2026</a:t>
                      </a:r>
                    </a:p>
                  </a:txBody>
                  <a:tcPr marL="18131" marR="18131"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CAEDFB"/>
                    </a:solidFill>
                  </a:tcPr>
                </a:tc>
                <a:tc>
                  <a:txBody>
                    <a:bodyPr/>
                    <a:lstStyle/>
                    <a:p>
                      <a:pPr algn="ctr" rtl="0" fontAlgn="ctr"/>
                      <a:endParaRPr lang="es-PE" sz="1100">
                        <a:effectLst/>
                      </a:endParaRPr>
                    </a:p>
                  </a:txBody>
                  <a:tcPr marL="18131" marR="18131"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ctr"/>
                      <a:endParaRPr lang="es-PE" sz="1100">
                        <a:effectLst/>
                      </a:endParaRPr>
                    </a:p>
                  </a:txBody>
                  <a:tcPr marL="18131" marR="18131"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ctr"/>
                      <a:endParaRPr lang="es-PE" sz="1100" dirty="0">
                        <a:effectLst/>
                      </a:endParaRPr>
                    </a:p>
                  </a:txBody>
                  <a:tcPr marL="18131" marR="18131"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ctr"/>
                      <a:endParaRPr lang="es-PE" sz="1100" dirty="0">
                        <a:effectLst/>
                      </a:endParaRPr>
                    </a:p>
                  </a:txBody>
                  <a:tcPr marL="18131" marR="18131"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ctr"/>
                      <a:endParaRPr lang="es-PE" sz="1100" dirty="0">
                        <a:effectLst/>
                      </a:endParaRPr>
                    </a:p>
                  </a:txBody>
                  <a:tcPr marL="18131" marR="18131"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ctr"/>
                      <a:endParaRPr lang="es-PE" sz="1100" dirty="0">
                        <a:effectLst/>
                      </a:endParaRPr>
                    </a:p>
                  </a:txBody>
                  <a:tcPr marL="18131" marR="18131"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ctr"/>
                      <a:endParaRPr lang="es-PE" sz="1100">
                        <a:effectLst/>
                      </a:endParaRPr>
                    </a:p>
                  </a:txBody>
                  <a:tcPr marL="18131" marR="18131"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88465576"/>
                  </a:ext>
                </a:extLst>
              </a:tr>
              <a:tr h="522161">
                <a:tc vMerge="1">
                  <a:txBody>
                    <a:bodyPr/>
                    <a:lstStyle/>
                    <a:p>
                      <a:endParaRPr lang="es-PE"/>
                    </a:p>
                  </a:txBody>
                  <a:tcPr/>
                </a:tc>
                <a:tc>
                  <a:txBody>
                    <a:bodyPr/>
                    <a:lstStyle/>
                    <a:p>
                      <a:pPr algn="ctr" rtl="0" fontAlgn="ctr"/>
                      <a:r>
                        <a:rPr lang="es-PE" sz="1100" b="0">
                          <a:effectLst/>
                          <a:latin typeface="Calibri" panose="020F0502020204030204" pitchFamily="34" charset="0"/>
                        </a:rPr>
                        <a:t>X04</a:t>
                      </a:r>
                    </a:p>
                  </a:txBody>
                  <a:tcPr marL="18131" marR="18131"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ctr"/>
                      <a:r>
                        <a:rPr lang="es-PE" sz="1100" b="0" dirty="0">
                          <a:effectLst/>
                          <a:latin typeface="Calibri" panose="020F0502020204030204" pitchFamily="34" charset="0"/>
                        </a:rPr>
                        <a:t>TODOS</a:t>
                      </a:r>
                    </a:p>
                  </a:txBody>
                  <a:tcPr marL="18131" marR="18131"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ctr"/>
                      <a:r>
                        <a:rPr lang="es-PE" sz="1100" b="0" dirty="0">
                          <a:effectLst/>
                          <a:latin typeface="Calibri" panose="020F0502020204030204" pitchFamily="34" charset="0"/>
                        </a:rPr>
                        <a:t>6 SEMANAS</a:t>
                      </a:r>
                    </a:p>
                  </a:txBody>
                  <a:tcPr marL="18131" marR="18131"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ctr"/>
                      <a:endParaRPr lang="es-PE" sz="1100">
                        <a:effectLst/>
                      </a:endParaRPr>
                    </a:p>
                  </a:txBody>
                  <a:tcPr marL="18131" marR="18131"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ctr"/>
                      <a:endParaRPr lang="es-PE" sz="1100">
                        <a:effectLst/>
                      </a:endParaRPr>
                    </a:p>
                  </a:txBody>
                  <a:tcPr marL="18131" marR="18131"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ctr"/>
                      <a:endParaRPr lang="es-PE" sz="1100">
                        <a:effectLst/>
                      </a:endParaRPr>
                    </a:p>
                  </a:txBody>
                  <a:tcPr marL="18131" marR="18131"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ctr"/>
                      <a:endParaRPr lang="es-PE" sz="1100">
                        <a:effectLst/>
                      </a:endParaRPr>
                    </a:p>
                  </a:txBody>
                  <a:tcPr marL="18131" marR="18131"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ctr"/>
                      <a:endParaRPr lang="es-PE" sz="1100">
                        <a:effectLst/>
                      </a:endParaRPr>
                    </a:p>
                  </a:txBody>
                  <a:tcPr marL="18131" marR="18131"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ctr"/>
                      <a:r>
                        <a:rPr lang="es-PE" sz="1100" b="0">
                          <a:effectLst/>
                          <a:latin typeface="Calibri" panose="020F0502020204030204" pitchFamily="34" charset="0"/>
                        </a:rPr>
                        <a:t>1/6/2026</a:t>
                      </a:r>
                    </a:p>
                  </a:txBody>
                  <a:tcPr marL="18131" marR="18131"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9F2D0"/>
                    </a:solidFill>
                  </a:tcPr>
                </a:tc>
                <a:tc>
                  <a:txBody>
                    <a:bodyPr/>
                    <a:lstStyle/>
                    <a:p>
                      <a:pPr algn="ctr" rtl="0" fontAlgn="ctr"/>
                      <a:r>
                        <a:rPr lang="es-PE" sz="1100" b="0">
                          <a:effectLst/>
                          <a:latin typeface="Calibri" panose="020F0502020204030204" pitchFamily="34" charset="0"/>
                        </a:rPr>
                        <a:t>12/7/2026</a:t>
                      </a:r>
                    </a:p>
                  </a:txBody>
                  <a:tcPr marL="18131" marR="18131"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9F2D0"/>
                    </a:solidFill>
                  </a:tcPr>
                </a:tc>
                <a:tc>
                  <a:txBody>
                    <a:bodyPr/>
                    <a:lstStyle/>
                    <a:p>
                      <a:pPr algn="ctr" rtl="0" fontAlgn="ctr"/>
                      <a:endParaRPr lang="es-PE" sz="1100" dirty="0">
                        <a:effectLst/>
                      </a:endParaRPr>
                    </a:p>
                  </a:txBody>
                  <a:tcPr marL="18131" marR="18131"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ctr"/>
                      <a:endParaRPr lang="es-PE" sz="1100" dirty="0">
                        <a:effectLst/>
                      </a:endParaRPr>
                    </a:p>
                  </a:txBody>
                  <a:tcPr marL="18131" marR="18131"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ctr"/>
                      <a:endParaRPr lang="es-PE" sz="1100">
                        <a:effectLst/>
                      </a:endParaRPr>
                    </a:p>
                  </a:txBody>
                  <a:tcPr marL="18131" marR="18131"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ctr"/>
                      <a:endParaRPr lang="es-PE" sz="1100">
                        <a:effectLst/>
                      </a:endParaRPr>
                    </a:p>
                  </a:txBody>
                  <a:tcPr marL="18131" marR="18131"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ctr"/>
                      <a:endParaRPr lang="es-PE" sz="1100">
                        <a:effectLst/>
                      </a:endParaRPr>
                    </a:p>
                  </a:txBody>
                  <a:tcPr marL="18131" marR="18131"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43219133"/>
                  </a:ext>
                </a:extLst>
              </a:tr>
              <a:tr h="696214">
                <a:tc rowSpan="3">
                  <a:txBody>
                    <a:bodyPr/>
                    <a:lstStyle/>
                    <a:p>
                      <a:pPr algn="ctr" rtl="0" fontAlgn="ctr"/>
                      <a:r>
                        <a:rPr lang="es-PE" sz="1100" b="0">
                          <a:effectLst/>
                          <a:latin typeface="Calibri" panose="020F0502020204030204" pitchFamily="34" charset="0"/>
                        </a:rPr>
                        <a:t>202656</a:t>
                      </a:r>
                    </a:p>
                  </a:txBody>
                  <a:tcPr marL="18131" marR="18131"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ctr"/>
                      <a:r>
                        <a:rPr lang="es-PE" sz="1100" b="0">
                          <a:effectLst/>
                          <a:latin typeface="Calibri" panose="020F0502020204030204" pitchFamily="34" charset="0"/>
                        </a:rPr>
                        <a:t>X05</a:t>
                      </a:r>
                    </a:p>
                  </a:txBody>
                  <a:tcPr marL="18131" marR="18131"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ctr"/>
                      <a:r>
                        <a:rPr lang="es-PE" sz="1100" b="0">
                          <a:effectLst/>
                          <a:latin typeface="Calibri" panose="020F0502020204030204" pitchFamily="34" charset="0"/>
                        </a:rPr>
                        <a:t>TODOS</a:t>
                      </a:r>
                    </a:p>
                  </a:txBody>
                  <a:tcPr marL="18131" marR="18131"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ctr"/>
                      <a:r>
                        <a:rPr lang="es-PE" sz="1100" b="0" dirty="0">
                          <a:effectLst/>
                          <a:latin typeface="Calibri" panose="020F0502020204030204" pitchFamily="34" charset="0"/>
                        </a:rPr>
                        <a:t>4 SEMANAS</a:t>
                      </a:r>
                    </a:p>
                  </a:txBody>
                  <a:tcPr marL="18131" marR="18131"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ctr"/>
                      <a:endParaRPr lang="es-PE" sz="1100">
                        <a:effectLst/>
                      </a:endParaRPr>
                    </a:p>
                  </a:txBody>
                  <a:tcPr marL="18131" marR="18131"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ctr"/>
                      <a:endParaRPr lang="es-PE" sz="1100">
                        <a:effectLst/>
                      </a:endParaRPr>
                    </a:p>
                  </a:txBody>
                  <a:tcPr marL="18131" marR="18131"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ctr"/>
                      <a:endParaRPr lang="es-PE" sz="1100">
                        <a:effectLst/>
                      </a:endParaRPr>
                    </a:p>
                  </a:txBody>
                  <a:tcPr marL="18131" marR="18131"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ctr"/>
                      <a:endParaRPr lang="es-PE" sz="1100">
                        <a:effectLst/>
                      </a:endParaRPr>
                    </a:p>
                  </a:txBody>
                  <a:tcPr marL="18131" marR="18131"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ctr"/>
                      <a:endParaRPr lang="es-PE" sz="1100" dirty="0">
                        <a:effectLst/>
                      </a:endParaRPr>
                    </a:p>
                  </a:txBody>
                  <a:tcPr marL="18131" marR="18131"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ctr"/>
                      <a:endParaRPr lang="es-PE" sz="1100">
                        <a:effectLst/>
                      </a:endParaRPr>
                    </a:p>
                  </a:txBody>
                  <a:tcPr marL="18131" marR="18131"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ctr"/>
                      <a:endParaRPr lang="es-PE" sz="1100">
                        <a:effectLst/>
                      </a:endParaRPr>
                    </a:p>
                  </a:txBody>
                  <a:tcPr marL="18131" marR="18131"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ctr"/>
                      <a:r>
                        <a:rPr lang="es-PE" sz="1100" b="0">
                          <a:effectLst/>
                          <a:latin typeface="Calibri" panose="020F0502020204030204" pitchFamily="34" charset="0"/>
                        </a:rPr>
                        <a:t>3/08/2026</a:t>
                      </a:r>
                      <a:br>
                        <a:rPr lang="es-PE" sz="1100" b="0">
                          <a:effectLst/>
                          <a:latin typeface="Calibri" panose="020F0502020204030204" pitchFamily="34" charset="0"/>
                        </a:rPr>
                      </a:br>
                      <a:r>
                        <a:rPr lang="es-PE" sz="1100" b="0">
                          <a:effectLst/>
                          <a:latin typeface="Calibri" panose="020F0502020204030204" pitchFamily="34" charset="0"/>
                        </a:rPr>
                        <a:t>30/08/2026</a:t>
                      </a:r>
                    </a:p>
                  </a:txBody>
                  <a:tcPr marL="18131" marR="18131"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1CEEE"/>
                    </a:solidFill>
                  </a:tcPr>
                </a:tc>
                <a:tc>
                  <a:txBody>
                    <a:bodyPr/>
                    <a:lstStyle/>
                    <a:p>
                      <a:pPr algn="ctr" rtl="0" fontAlgn="ctr"/>
                      <a:endParaRPr lang="es-PE" sz="1100" dirty="0">
                        <a:effectLst/>
                      </a:endParaRPr>
                    </a:p>
                  </a:txBody>
                  <a:tcPr marL="18131" marR="18131"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ctr"/>
                      <a:endParaRPr lang="es-PE" sz="1100" dirty="0">
                        <a:effectLst/>
                      </a:endParaRPr>
                    </a:p>
                  </a:txBody>
                  <a:tcPr marL="18131" marR="18131"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ctr"/>
                      <a:endParaRPr lang="es-PE" sz="1100" dirty="0">
                        <a:effectLst/>
                      </a:endParaRPr>
                    </a:p>
                  </a:txBody>
                  <a:tcPr marL="18131" marR="18131"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ctr"/>
                      <a:endParaRPr lang="es-PE" sz="1100">
                        <a:effectLst/>
                      </a:endParaRPr>
                    </a:p>
                  </a:txBody>
                  <a:tcPr marL="18131" marR="18131"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91605122"/>
                  </a:ext>
                </a:extLst>
              </a:tr>
              <a:tr h="522161">
                <a:tc vMerge="1">
                  <a:txBody>
                    <a:bodyPr/>
                    <a:lstStyle/>
                    <a:p>
                      <a:endParaRPr lang="es-PE"/>
                    </a:p>
                  </a:txBody>
                  <a:tcPr/>
                </a:tc>
                <a:tc>
                  <a:txBody>
                    <a:bodyPr/>
                    <a:lstStyle/>
                    <a:p>
                      <a:pPr algn="ctr" rtl="0" fontAlgn="ctr"/>
                      <a:r>
                        <a:rPr lang="es-PE" sz="1100" b="0">
                          <a:effectLst/>
                          <a:latin typeface="Calibri" panose="020F0502020204030204" pitchFamily="34" charset="0"/>
                        </a:rPr>
                        <a:t>X06</a:t>
                      </a:r>
                    </a:p>
                  </a:txBody>
                  <a:tcPr marL="18131" marR="18131"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ctr"/>
                      <a:r>
                        <a:rPr lang="es-PE" sz="1100" b="0">
                          <a:effectLst/>
                          <a:latin typeface="Calibri" panose="020F0502020204030204" pitchFamily="34" charset="0"/>
                        </a:rPr>
                        <a:t>TODOS</a:t>
                      </a:r>
                    </a:p>
                  </a:txBody>
                  <a:tcPr marL="18131" marR="18131"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ctr"/>
                      <a:r>
                        <a:rPr lang="es-PE" sz="1100" b="0" dirty="0">
                          <a:effectLst/>
                          <a:latin typeface="Calibri" panose="020F0502020204030204" pitchFamily="34" charset="0"/>
                        </a:rPr>
                        <a:t>8 SEMANAS</a:t>
                      </a:r>
                    </a:p>
                  </a:txBody>
                  <a:tcPr marL="18131" marR="18131"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ctr"/>
                      <a:endParaRPr lang="es-PE" sz="1100">
                        <a:effectLst/>
                      </a:endParaRPr>
                    </a:p>
                  </a:txBody>
                  <a:tcPr marL="18131" marR="18131"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ctr"/>
                      <a:endParaRPr lang="es-PE" sz="1100">
                        <a:effectLst/>
                      </a:endParaRPr>
                    </a:p>
                  </a:txBody>
                  <a:tcPr marL="18131" marR="18131"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ctr"/>
                      <a:endParaRPr lang="es-PE" sz="1100">
                        <a:effectLst/>
                      </a:endParaRPr>
                    </a:p>
                  </a:txBody>
                  <a:tcPr marL="18131" marR="18131"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ctr"/>
                      <a:endParaRPr lang="es-PE" sz="1100">
                        <a:effectLst/>
                      </a:endParaRPr>
                    </a:p>
                  </a:txBody>
                  <a:tcPr marL="18131" marR="18131"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ctr"/>
                      <a:endParaRPr lang="es-PE" sz="1100">
                        <a:effectLst/>
                      </a:endParaRPr>
                    </a:p>
                  </a:txBody>
                  <a:tcPr marL="18131" marR="18131"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ctr"/>
                      <a:endParaRPr lang="es-PE" sz="1100">
                        <a:effectLst/>
                      </a:endParaRPr>
                    </a:p>
                  </a:txBody>
                  <a:tcPr marL="18131" marR="18131"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ctr"/>
                      <a:endParaRPr lang="es-PE" sz="1100">
                        <a:effectLst/>
                      </a:endParaRPr>
                    </a:p>
                  </a:txBody>
                  <a:tcPr marL="18131" marR="18131"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ctr"/>
                      <a:endParaRPr lang="es-PE" sz="1100">
                        <a:effectLst/>
                      </a:endParaRPr>
                    </a:p>
                  </a:txBody>
                  <a:tcPr marL="18131" marR="18131"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ctr"/>
                      <a:r>
                        <a:rPr lang="es-PE" sz="1100" b="0">
                          <a:effectLst/>
                          <a:latin typeface="Calibri" panose="020F0502020204030204" pitchFamily="34" charset="0"/>
                        </a:rPr>
                        <a:t>7/9/2026</a:t>
                      </a:r>
                    </a:p>
                  </a:txBody>
                  <a:tcPr marL="18131" marR="18131"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CAEDFB"/>
                    </a:solidFill>
                  </a:tcPr>
                </a:tc>
                <a:tc>
                  <a:txBody>
                    <a:bodyPr/>
                    <a:lstStyle/>
                    <a:p>
                      <a:pPr algn="ctr" rtl="0" fontAlgn="ctr"/>
                      <a:r>
                        <a:rPr lang="es-PE" sz="1100" b="0" dirty="0">
                          <a:effectLst/>
                          <a:latin typeface="Calibri" panose="020F0502020204030204" pitchFamily="34" charset="0"/>
                        </a:rPr>
                        <a:t>31/10/2026</a:t>
                      </a:r>
                    </a:p>
                  </a:txBody>
                  <a:tcPr marL="18131" marR="18131"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CAEDFB"/>
                    </a:solidFill>
                  </a:tcPr>
                </a:tc>
                <a:tc>
                  <a:txBody>
                    <a:bodyPr/>
                    <a:lstStyle/>
                    <a:p>
                      <a:pPr algn="ctr" rtl="0" fontAlgn="ctr"/>
                      <a:endParaRPr lang="es-PE" sz="1100" dirty="0">
                        <a:effectLst/>
                      </a:endParaRPr>
                    </a:p>
                  </a:txBody>
                  <a:tcPr marL="18131" marR="18131"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ctr"/>
                      <a:endParaRPr lang="es-PE" sz="1100" dirty="0">
                        <a:effectLst/>
                      </a:endParaRPr>
                    </a:p>
                  </a:txBody>
                  <a:tcPr marL="18131" marR="18131"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89239675"/>
                  </a:ext>
                </a:extLst>
              </a:tr>
              <a:tr h="522161">
                <a:tc vMerge="1">
                  <a:txBody>
                    <a:bodyPr/>
                    <a:lstStyle/>
                    <a:p>
                      <a:endParaRPr lang="es-PE"/>
                    </a:p>
                  </a:txBody>
                  <a:tcPr/>
                </a:tc>
                <a:tc>
                  <a:txBody>
                    <a:bodyPr/>
                    <a:lstStyle/>
                    <a:p>
                      <a:pPr algn="ctr" rtl="0" fontAlgn="ctr"/>
                      <a:r>
                        <a:rPr lang="es-PE" sz="1100" b="0">
                          <a:effectLst/>
                          <a:latin typeface="Calibri" panose="020F0502020204030204" pitchFamily="34" charset="0"/>
                        </a:rPr>
                        <a:t>X07</a:t>
                      </a:r>
                    </a:p>
                  </a:txBody>
                  <a:tcPr marL="18131" marR="18131"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ctr"/>
                      <a:r>
                        <a:rPr lang="es-PE" sz="1100" b="0">
                          <a:effectLst/>
                          <a:latin typeface="Calibri" panose="020F0502020204030204" pitchFamily="34" charset="0"/>
                        </a:rPr>
                        <a:t>TODOS</a:t>
                      </a:r>
                    </a:p>
                  </a:txBody>
                  <a:tcPr marL="18131" marR="18131"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ctr"/>
                      <a:r>
                        <a:rPr lang="es-PE" sz="1100" b="0" dirty="0">
                          <a:effectLst/>
                          <a:latin typeface="Calibri" panose="020F0502020204030204" pitchFamily="34" charset="0"/>
                        </a:rPr>
                        <a:t>6 SEMANAS</a:t>
                      </a:r>
                    </a:p>
                  </a:txBody>
                  <a:tcPr marL="18131" marR="18131"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ctr"/>
                      <a:endParaRPr lang="es-PE" sz="1100">
                        <a:effectLst/>
                      </a:endParaRPr>
                    </a:p>
                  </a:txBody>
                  <a:tcPr marL="18131" marR="18131"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ctr"/>
                      <a:endParaRPr lang="es-PE" sz="1100">
                        <a:effectLst/>
                      </a:endParaRPr>
                    </a:p>
                  </a:txBody>
                  <a:tcPr marL="18131" marR="18131"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ctr"/>
                      <a:endParaRPr lang="es-PE" sz="1100">
                        <a:effectLst/>
                      </a:endParaRPr>
                    </a:p>
                  </a:txBody>
                  <a:tcPr marL="18131" marR="18131"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ctr"/>
                      <a:endParaRPr lang="es-PE" sz="1100">
                        <a:effectLst/>
                      </a:endParaRPr>
                    </a:p>
                  </a:txBody>
                  <a:tcPr marL="18131" marR="18131"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ctr"/>
                      <a:endParaRPr lang="es-PE" sz="1100">
                        <a:effectLst/>
                      </a:endParaRPr>
                    </a:p>
                  </a:txBody>
                  <a:tcPr marL="18131" marR="18131"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ctr"/>
                      <a:endParaRPr lang="es-PE" sz="1100">
                        <a:effectLst/>
                      </a:endParaRPr>
                    </a:p>
                  </a:txBody>
                  <a:tcPr marL="18131" marR="18131"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ctr"/>
                      <a:endParaRPr lang="es-PE" sz="1100">
                        <a:effectLst/>
                      </a:endParaRPr>
                    </a:p>
                  </a:txBody>
                  <a:tcPr marL="18131" marR="18131"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ctr"/>
                      <a:endParaRPr lang="es-PE" sz="1100">
                        <a:effectLst/>
                      </a:endParaRPr>
                    </a:p>
                  </a:txBody>
                  <a:tcPr marL="18131" marR="18131"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ctr"/>
                      <a:endParaRPr lang="es-PE" sz="1100">
                        <a:effectLst/>
                      </a:endParaRPr>
                    </a:p>
                  </a:txBody>
                  <a:tcPr marL="18131" marR="18131"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ctr"/>
                      <a:endParaRPr lang="es-PE" sz="1100">
                        <a:effectLst/>
                      </a:endParaRPr>
                    </a:p>
                  </a:txBody>
                  <a:tcPr marL="18131" marR="18131"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ctr"/>
                      <a:r>
                        <a:rPr lang="es-PE" sz="1100" b="0" dirty="0">
                          <a:effectLst/>
                          <a:latin typeface="Calibri" panose="020F0502020204030204" pitchFamily="34" charset="0"/>
                        </a:rPr>
                        <a:t>2/11/2026</a:t>
                      </a:r>
                    </a:p>
                  </a:txBody>
                  <a:tcPr marL="18131" marR="18131"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9F2D0"/>
                    </a:solidFill>
                  </a:tcPr>
                </a:tc>
                <a:tc>
                  <a:txBody>
                    <a:bodyPr/>
                    <a:lstStyle/>
                    <a:p>
                      <a:pPr algn="ctr" rtl="0" fontAlgn="ctr"/>
                      <a:r>
                        <a:rPr lang="es-PE" sz="1100" b="0" dirty="0">
                          <a:effectLst/>
                          <a:latin typeface="Calibri" panose="020F0502020204030204" pitchFamily="34" charset="0"/>
                        </a:rPr>
                        <a:t>13/12/2026</a:t>
                      </a:r>
                    </a:p>
                  </a:txBody>
                  <a:tcPr marL="18131" marR="18131"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9F2D0"/>
                    </a:solidFill>
                  </a:tcPr>
                </a:tc>
                <a:extLst>
                  <a:ext uri="{0D108BD9-81ED-4DB2-BD59-A6C34878D82A}">
                    <a16:rowId xmlns:a16="http://schemas.microsoft.com/office/drawing/2014/main" val="758130295"/>
                  </a:ext>
                </a:extLst>
              </a:tr>
            </a:tbl>
          </a:graphicData>
        </a:graphic>
      </p:graphicFrame>
    </p:spTree>
    <p:extLst>
      <p:ext uri="{BB962C8B-B14F-4D97-AF65-F5344CB8AC3E}">
        <p14:creationId xmlns:p14="http://schemas.microsoft.com/office/powerpoint/2010/main" val="734481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left)">
                                      <p:cBhvr>
                                        <p:cTn id="1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7CAB2B86-4E3B-C98C-411E-958BEFE187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2528" y="6154887"/>
            <a:ext cx="2234242" cy="525923"/>
          </a:xfrm>
          <a:prstGeom prst="rect">
            <a:avLst/>
          </a:prstGeom>
        </p:spPr>
      </p:pic>
      <p:pic>
        <p:nvPicPr>
          <p:cNvPr id="4" name="Picture 4" descr="Ellucian Student Reseñas 2026: Detalles, Precios y Características | G2">
            <a:extLst>
              <a:ext uri="{FF2B5EF4-FFF2-40B4-BE49-F238E27FC236}">
                <a16:creationId xmlns:a16="http://schemas.microsoft.com/office/drawing/2014/main" id="{7352B780-8C7C-7B91-F3EE-5E6EF2C2E4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98101" y="5901780"/>
            <a:ext cx="1821371" cy="956220"/>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0AEBA78F-8C98-5D4D-384F-95B753FFADE4}"/>
              </a:ext>
            </a:extLst>
          </p:cNvPr>
          <p:cNvSpPr txBox="1"/>
          <p:nvPr/>
        </p:nvSpPr>
        <p:spPr>
          <a:xfrm>
            <a:off x="431320" y="241540"/>
            <a:ext cx="9183924" cy="523220"/>
          </a:xfrm>
          <a:prstGeom prst="rect">
            <a:avLst/>
          </a:prstGeom>
          <a:noFill/>
        </p:spPr>
        <p:txBody>
          <a:bodyPr wrap="none" rtlCol="0">
            <a:spAutoFit/>
          </a:bodyPr>
          <a:lstStyle/>
          <a:p>
            <a:r>
              <a:rPr lang="es-ES" sz="2800" b="1" dirty="0">
                <a:latin typeface="Montserrat" pitchFamily="2" charset="0"/>
              </a:rPr>
              <a:t>CRONOGRAMA ACADÉMICO EMPRENDIMIENTO</a:t>
            </a:r>
            <a:endParaRPr lang="es-PE" sz="2800" b="1" dirty="0">
              <a:latin typeface="Montserrat" pitchFamily="2" charset="0"/>
            </a:endParaRPr>
          </a:p>
        </p:txBody>
      </p:sp>
      <p:sp>
        <p:nvSpPr>
          <p:cNvPr id="8" name="Rectángulo 7">
            <a:extLst>
              <a:ext uri="{FF2B5EF4-FFF2-40B4-BE49-F238E27FC236}">
                <a16:creationId xmlns:a16="http://schemas.microsoft.com/office/drawing/2014/main" id="{A16BCE08-E23C-F264-A6E3-E4019979D2E2}"/>
              </a:ext>
            </a:extLst>
          </p:cNvPr>
          <p:cNvSpPr/>
          <p:nvPr/>
        </p:nvSpPr>
        <p:spPr>
          <a:xfrm>
            <a:off x="9511553" y="241540"/>
            <a:ext cx="2680446" cy="445583"/>
          </a:xfrm>
          <a:prstGeom prst="rect">
            <a:avLst/>
          </a:prstGeom>
          <a:gradFill flip="none" rotWithShape="1">
            <a:gsLst>
              <a:gs pos="0">
                <a:schemeClr val="accent6">
                  <a:lumMod val="0"/>
                  <a:lumOff val="100000"/>
                </a:schemeClr>
              </a:gs>
              <a:gs pos="66000">
                <a:schemeClr val="accent6">
                  <a:lumMod val="100000"/>
                </a:schemeClr>
              </a:gs>
            </a:gsLst>
            <a:lin ang="0" scaled="1"/>
            <a:tileRect/>
          </a:gra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s-PE"/>
          </a:p>
        </p:txBody>
      </p:sp>
      <p:sp>
        <p:nvSpPr>
          <p:cNvPr id="6" name="CuadroTexto 5">
            <a:extLst>
              <a:ext uri="{FF2B5EF4-FFF2-40B4-BE49-F238E27FC236}">
                <a16:creationId xmlns:a16="http://schemas.microsoft.com/office/drawing/2014/main" id="{AC33DC36-253A-547B-7A30-A152C2F6B4CE}"/>
              </a:ext>
            </a:extLst>
          </p:cNvPr>
          <p:cNvSpPr txBox="1"/>
          <p:nvPr/>
        </p:nvSpPr>
        <p:spPr>
          <a:xfrm>
            <a:off x="4528936" y="6386396"/>
            <a:ext cx="3134128" cy="276999"/>
          </a:xfrm>
          <a:prstGeom prst="rect">
            <a:avLst/>
          </a:prstGeom>
          <a:noFill/>
        </p:spPr>
        <p:txBody>
          <a:bodyPr wrap="none" rtlCol="0">
            <a:spAutoFit/>
          </a:bodyPr>
          <a:lstStyle/>
          <a:p>
            <a:pPr algn="ctr"/>
            <a:r>
              <a:rPr lang="es-ES" sz="1200" i="1" dirty="0"/>
              <a:t>Elaborado por: Ing. Liliana Ocampo Moreno</a:t>
            </a:r>
            <a:endParaRPr lang="es-PE" sz="1200" i="1" dirty="0"/>
          </a:p>
        </p:txBody>
      </p:sp>
      <p:graphicFrame>
        <p:nvGraphicFramePr>
          <p:cNvPr id="5" name="Tabla 4">
            <a:extLst>
              <a:ext uri="{FF2B5EF4-FFF2-40B4-BE49-F238E27FC236}">
                <a16:creationId xmlns:a16="http://schemas.microsoft.com/office/drawing/2014/main" id="{6D99B847-5F18-43E6-E27F-7D3EF83D8B9C}"/>
              </a:ext>
            </a:extLst>
          </p:cNvPr>
          <p:cNvGraphicFramePr>
            <a:graphicFrameLocks noGrp="1"/>
          </p:cNvGraphicFramePr>
          <p:nvPr>
            <p:extLst>
              <p:ext uri="{D42A27DB-BD31-4B8C-83A1-F6EECF244321}">
                <p14:modId xmlns:p14="http://schemas.microsoft.com/office/powerpoint/2010/main" val="3227290677"/>
              </p:ext>
            </p:extLst>
          </p:nvPr>
        </p:nvGraphicFramePr>
        <p:xfrm>
          <a:off x="497543" y="1238488"/>
          <a:ext cx="11255185" cy="4220894"/>
        </p:xfrm>
        <a:graphic>
          <a:graphicData uri="http://schemas.openxmlformats.org/drawingml/2006/table">
            <a:tbl>
              <a:tblPr/>
              <a:tblGrid>
                <a:gridCol w="925513">
                  <a:extLst>
                    <a:ext uri="{9D8B030D-6E8A-4147-A177-3AD203B41FA5}">
                      <a16:colId xmlns:a16="http://schemas.microsoft.com/office/drawing/2014/main" val="3561401590"/>
                    </a:ext>
                  </a:extLst>
                </a:gridCol>
                <a:gridCol w="925513">
                  <a:extLst>
                    <a:ext uri="{9D8B030D-6E8A-4147-A177-3AD203B41FA5}">
                      <a16:colId xmlns:a16="http://schemas.microsoft.com/office/drawing/2014/main" val="2212928401"/>
                    </a:ext>
                  </a:extLst>
                </a:gridCol>
                <a:gridCol w="762184">
                  <a:extLst>
                    <a:ext uri="{9D8B030D-6E8A-4147-A177-3AD203B41FA5}">
                      <a16:colId xmlns:a16="http://schemas.microsoft.com/office/drawing/2014/main" val="3436096060"/>
                    </a:ext>
                  </a:extLst>
                </a:gridCol>
                <a:gridCol w="959223">
                  <a:extLst>
                    <a:ext uri="{9D8B030D-6E8A-4147-A177-3AD203B41FA5}">
                      <a16:colId xmlns:a16="http://schemas.microsoft.com/office/drawing/2014/main" val="2871930528"/>
                    </a:ext>
                  </a:extLst>
                </a:gridCol>
                <a:gridCol w="698432">
                  <a:extLst>
                    <a:ext uri="{9D8B030D-6E8A-4147-A177-3AD203B41FA5}">
                      <a16:colId xmlns:a16="http://schemas.microsoft.com/office/drawing/2014/main" val="3668610283"/>
                    </a:ext>
                  </a:extLst>
                </a:gridCol>
                <a:gridCol w="698432">
                  <a:extLst>
                    <a:ext uri="{9D8B030D-6E8A-4147-A177-3AD203B41FA5}">
                      <a16:colId xmlns:a16="http://schemas.microsoft.com/office/drawing/2014/main" val="3915026061"/>
                    </a:ext>
                  </a:extLst>
                </a:gridCol>
                <a:gridCol w="698432">
                  <a:extLst>
                    <a:ext uri="{9D8B030D-6E8A-4147-A177-3AD203B41FA5}">
                      <a16:colId xmlns:a16="http://schemas.microsoft.com/office/drawing/2014/main" val="3014684781"/>
                    </a:ext>
                  </a:extLst>
                </a:gridCol>
                <a:gridCol w="698432">
                  <a:extLst>
                    <a:ext uri="{9D8B030D-6E8A-4147-A177-3AD203B41FA5}">
                      <a16:colId xmlns:a16="http://schemas.microsoft.com/office/drawing/2014/main" val="2275869392"/>
                    </a:ext>
                  </a:extLst>
                </a:gridCol>
                <a:gridCol w="698432">
                  <a:extLst>
                    <a:ext uri="{9D8B030D-6E8A-4147-A177-3AD203B41FA5}">
                      <a16:colId xmlns:a16="http://schemas.microsoft.com/office/drawing/2014/main" val="4157207092"/>
                    </a:ext>
                  </a:extLst>
                </a:gridCol>
                <a:gridCol w="595746">
                  <a:extLst>
                    <a:ext uri="{9D8B030D-6E8A-4147-A177-3AD203B41FA5}">
                      <a16:colId xmlns:a16="http://schemas.microsoft.com/office/drawing/2014/main" val="4113583652"/>
                    </a:ext>
                  </a:extLst>
                </a:gridCol>
                <a:gridCol w="690283">
                  <a:extLst>
                    <a:ext uri="{9D8B030D-6E8A-4147-A177-3AD203B41FA5}">
                      <a16:colId xmlns:a16="http://schemas.microsoft.com/office/drawing/2014/main" val="1686175968"/>
                    </a:ext>
                  </a:extLst>
                </a:gridCol>
                <a:gridCol w="681317">
                  <a:extLst>
                    <a:ext uri="{9D8B030D-6E8A-4147-A177-3AD203B41FA5}">
                      <a16:colId xmlns:a16="http://schemas.microsoft.com/office/drawing/2014/main" val="228975246"/>
                    </a:ext>
                  </a:extLst>
                </a:gridCol>
                <a:gridCol w="717177">
                  <a:extLst>
                    <a:ext uri="{9D8B030D-6E8A-4147-A177-3AD203B41FA5}">
                      <a16:colId xmlns:a16="http://schemas.microsoft.com/office/drawing/2014/main" val="1226193533"/>
                    </a:ext>
                  </a:extLst>
                </a:gridCol>
                <a:gridCol w="735106">
                  <a:extLst>
                    <a:ext uri="{9D8B030D-6E8A-4147-A177-3AD203B41FA5}">
                      <a16:colId xmlns:a16="http://schemas.microsoft.com/office/drawing/2014/main" val="3583990006"/>
                    </a:ext>
                  </a:extLst>
                </a:gridCol>
                <a:gridCol w="770963">
                  <a:extLst>
                    <a:ext uri="{9D8B030D-6E8A-4147-A177-3AD203B41FA5}">
                      <a16:colId xmlns:a16="http://schemas.microsoft.com/office/drawing/2014/main" val="3157375419"/>
                    </a:ext>
                  </a:extLst>
                </a:gridCol>
              </a:tblGrid>
              <a:tr h="422090">
                <a:tc>
                  <a:txBody>
                    <a:bodyPr/>
                    <a:lstStyle/>
                    <a:p>
                      <a:pPr algn="ctr" rtl="0" fontAlgn="b"/>
                      <a:r>
                        <a:rPr lang="es-PE" sz="1100" b="1" dirty="0">
                          <a:solidFill>
                            <a:srgbClr val="FFFFFF"/>
                          </a:solidFill>
                          <a:effectLst/>
                          <a:latin typeface="Calibri" panose="020F0502020204030204" pitchFamily="34" charset="0"/>
                        </a:rPr>
                        <a:t>PERIODO</a:t>
                      </a:r>
                    </a:p>
                  </a:txBody>
                  <a:tcPr marL="21984" marR="21984"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3F3F3F"/>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s-PE" sz="1100" b="1" dirty="0">
                          <a:solidFill>
                            <a:srgbClr val="FFFFFF"/>
                          </a:solidFill>
                          <a:effectLst/>
                          <a:latin typeface="+mn-lt"/>
                        </a:rPr>
                        <a:t>PARTE DE PERIODO</a:t>
                      </a:r>
                    </a:p>
                  </a:txBody>
                  <a:tcPr marL="21984" marR="21984"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3F3F3F"/>
                    </a:solidFill>
                  </a:tcPr>
                </a:tc>
                <a:tc>
                  <a:txBody>
                    <a:bodyPr/>
                    <a:lstStyle/>
                    <a:p>
                      <a:pPr algn="ctr" rtl="0" fontAlgn="b"/>
                      <a:r>
                        <a:rPr lang="es-PE" sz="1100" b="1" dirty="0">
                          <a:solidFill>
                            <a:srgbClr val="FFFFFF"/>
                          </a:solidFill>
                          <a:effectLst/>
                          <a:latin typeface="Calibri" panose="020F0502020204030204" pitchFamily="34" charset="0"/>
                        </a:rPr>
                        <a:t>CURSO</a:t>
                      </a:r>
                    </a:p>
                  </a:txBody>
                  <a:tcPr marL="21984" marR="21984"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3F3F3F"/>
                    </a:solidFill>
                  </a:tcPr>
                </a:tc>
                <a:tc>
                  <a:txBody>
                    <a:bodyPr/>
                    <a:lstStyle/>
                    <a:p>
                      <a:pPr algn="ctr" rtl="0" fontAlgn="b"/>
                      <a:r>
                        <a:rPr lang="es-PE" sz="1100" b="1">
                          <a:solidFill>
                            <a:srgbClr val="FFFFFF"/>
                          </a:solidFill>
                          <a:effectLst/>
                          <a:latin typeface="Calibri" panose="020F0502020204030204" pitchFamily="34" charset="0"/>
                        </a:rPr>
                        <a:t>DURACIÓN</a:t>
                      </a:r>
                    </a:p>
                  </a:txBody>
                  <a:tcPr marL="21984" marR="21984"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3F3F3F"/>
                    </a:solidFill>
                  </a:tcPr>
                </a:tc>
                <a:tc>
                  <a:txBody>
                    <a:bodyPr/>
                    <a:lstStyle/>
                    <a:p>
                      <a:pPr algn="ctr" rtl="0" fontAlgn="b"/>
                      <a:r>
                        <a:rPr lang="es-PE" sz="1100" b="1" dirty="0">
                          <a:solidFill>
                            <a:srgbClr val="FFFFFF"/>
                          </a:solidFill>
                          <a:effectLst/>
                          <a:latin typeface="Calibri" panose="020F0502020204030204" pitchFamily="34" charset="0"/>
                        </a:rPr>
                        <a:t>ENERO</a:t>
                      </a:r>
                    </a:p>
                  </a:txBody>
                  <a:tcPr marL="21984" marR="21984"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3F3F3F"/>
                    </a:solidFill>
                  </a:tcPr>
                </a:tc>
                <a:tc>
                  <a:txBody>
                    <a:bodyPr/>
                    <a:lstStyle/>
                    <a:p>
                      <a:pPr algn="ctr" rtl="0" fontAlgn="b"/>
                      <a:r>
                        <a:rPr lang="es-PE" sz="1100" b="1">
                          <a:solidFill>
                            <a:srgbClr val="FFFFFF"/>
                          </a:solidFill>
                          <a:effectLst/>
                          <a:latin typeface="Calibri" panose="020F0502020204030204" pitchFamily="34" charset="0"/>
                        </a:rPr>
                        <a:t>FEBRERO</a:t>
                      </a:r>
                    </a:p>
                  </a:txBody>
                  <a:tcPr marL="21984" marR="21984"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3F3F3F"/>
                    </a:solidFill>
                  </a:tcPr>
                </a:tc>
                <a:tc>
                  <a:txBody>
                    <a:bodyPr/>
                    <a:lstStyle/>
                    <a:p>
                      <a:pPr algn="ctr" rtl="0" fontAlgn="b"/>
                      <a:r>
                        <a:rPr lang="es-PE" sz="1100" b="1">
                          <a:solidFill>
                            <a:srgbClr val="FFFFFF"/>
                          </a:solidFill>
                          <a:effectLst/>
                          <a:latin typeface="Calibri" panose="020F0502020204030204" pitchFamily="34" charset="0"/>
                        </a:rPr>
                        <a:t>MARZO</a:t>
                      </a:r>
                    </a:p>
                  </a:txBody>
                  <a:tcPr marL="21984" marR="21984"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3F3F3F"/>
                    </a:solidFill>
                  </a:tcPr>
                </a:tc>
                <a:tc>
                  <a:txBody>
                    <a:bodyPr/>
                    <a:lstStyle/>
                    <a:p>
                      <a:pPr algn="ctr" rtl="0" fontAlgn="b"/>
                      <a:r>
                        <a:rPr lang="es-PE" sz="1100" b="1">
                          <a:solidFill>
                            <a:srgbClr val="FFFFFF"/>
                          </a:solidFill>
                          <a:effectLst/>
                          <a:latin typeface="Calibri" panose="020F0502020204030204" pitchFamily="34" charset="0"/>
                        </a:rPr>
                        <a:t>ABRIL</a:t>
                      </a:r>
                    </a:p>
                  </a:txBody>
                  <a:tcPr marL="21984" marR="21984"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3F3F3F"/>
                    </a:solidFill>
                  </a:tcPr>
                </a:tc>
                <a:tc>
                  <a:txBody>
                    <a:bodyPr/>
                    <a:lstStyle/>
                    <a:p>
                      <a:pPr algn="ctr" rtl="0" fontAlgn="b"/>
                      <a:r>
                        <a:rPr lang="es-PE" sz="1100" b="1">
                          <a:solidFill>
                            <a:srgbClr val="FFFFFF"/>
                          </a:solidFill>
                          <a:effectLst/>
                          <a:latin typeface="Calibri" panose="020F0502020204030204" pitchFamily="34" charset="0"/>
                        </a:rPr>
                        <a:t>MAYO</a:t>
                      </a:r>
                    </a:p>
                  </a:txBody>
                  <a:tcPr marL="21984" marR="21984"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3F3F3F"/>
                    </a:solidFill>
                  </a:tcPr>
                </a:tc>
                <a:tc>
                  <a:txBody>
                    <a:bodyPr/>
                    <a:lstStyle/>
                    <a:p>
                      <a:pPr algn="ctr" rtl="0" fontAlgn="b"/>
                      <a:r>
                        <a:rPr lang="es-PE" sz="1100" b="1">
                          <a:solidFill>
                            <a:srgbClr val="FFFFFF"/>
                          </a:solidFill>
                          <a:effectLst/>
                          <a:latin typeface="Calibri" panose="020F0502020204030204" pitchFamily="34" charset="0"/>
                        </a:rPr>
                        <a:t>JUNIO</a:t>
                      </a:r>
                    </a:p>
                  </a:txBody>
                  <a:tcPr marL="21984" marR="21984"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3F3F3F"/>
                    </a:solidFill>
                  </a:tcPr>
                </a:tc>
                <a:tc>
                  <a:txBody>
                    <a:bodyPr/>
                    <a:lstStyle/>
                    <a:p>
                      <a:pPr algn="ctr" rtl="0" fontAlgn="b"/>
                      <a:r>
                        <a:rPr lang="es-PE" sz="1100" b="1">
                          <a:solidFill>
                            <a:srgbClr val="FFFFFF"/>
                          </a:solidFill>
                          <a:effectLst/>
                          <a:latin typeface="Calibri" panose="020F0502020204030204" pitchFamily="34" charset="0"/>
                        </a:rPr>
                        <a:t>JULIO</a:t>
                      </a:r>
                    </a:p>
                  </a:txBody>
                  <a:tcPr marL="21984" marR="21984"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3F3F3F"/>
                    </a:solidFill>
                  </a:tcPr>
                </a:tc>
                <a:tc>
                  <a:txBody>
                    <a:bodyPr/>
                    <a:lstStyle/>
                    <a:p>
                      <a:pPr algn="ctr" rtl="0" fontAlgn="b"/>
                      <a:r>
                        <a:rPr lang="es-PE" sz="1100" b="1">
                          <a:solidFill>
                            <a:srgbClr val="FFFFFF"/>
                          </a:solidFill>
                          <a:effectLst/>
                          <a:latin typeface="Calibri" panose="020F0502020204030204" pitchFamily="34" charset="0"/>
                        </a:rPr>
                        <a:t>AGOSTO</a:t>
                      </a:r>
                    </a:p>
                  </a:txBody>
                  <a:tcPr marL="21984" marR="21984"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3F3F3F"/>
                    </a:solidFill>
                  </a:tcPr>
                </a:tc>
                <a:tc>
                  <a:txBody>
                    <a:bodyPr/>
                    <a:lstStyle/>
                    <a:p>
                      <a:pPr algn="ctr" rtl="0" fontAlgn="b"/>
                      <a:r>
                        <a:rPr lang="es-PE" sz="1100" b="1">
                          <a:solidFill>
                            <a:srgbClr val="FFFFFF"/>
                          </a:solidFill>
                          <a:effectLst/>
                          <a:latin typeface="Calibri" panose="020F0502020204030204" pitchFamily="34" charset="0"/>
                        </a:rPr>
                        <a:t>SETIEMBRE</a:t>
                      </a:r>
                    </a:p>
                  </a:txBody>
                  <a:tcPr marL="21984" marR="21984"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3F3F3F"/>
                    </a:solidFill>
                  </a:tcPr>
                </a:tc>
                <a:tc>
                  <a:txBody>
                    <a:bodyPr/>
                    <a:lstStyle/>
                    <a:p>
                      <a:pPr algn="ctr" rtl="0" fontAlgn="b"/>
                      <a:r>
                        <a:rPr lang="es-PE" sz="1100" b="1">
                          <a:solidFill>
                            <a:srgbClr val="FFFFFF"/>
                          </a:solidFill>
                          <a:effectLst/>
                          <a:latin typeface="Calibri" panose="020F0502020204030204" pitchFamily="34" charset="0"/>
                        </a:rPr>
                        <a:t>OCTUBRE</a:t>
                      </a:r>
                    </a:p>
                  </a:txBody>
                  <a:tcPr marL="21984" marR="21984"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3F3F3F"/>
                    </a:solidFill>
                  </a:tcPr>
                </a:tc>
                <a:tc>
                  <a:txBody>
                    <a:bodyPr/>
                    <a:lstStyle/>
                    <a:p>
                      <a:pPr algn="ctr" rtl="0" fontAlgn="b"/>
                      <a:r>
                        <a:rPr lang="es-PE" sz="1100" b="1">
                          <a:solidFill>
                            <a:srgbClr val="FFFFFF"/>
                          </a:solidFill>
                          <a:effectLst/>
                          <a:latin typeface="Calibri" panose="020F0502020204030204" pitchFamily="34" charset="0"/>
                        </a:rPr>
                        <a:t>NOVIEMBRE</a:t>
                      </a:r>
                    </a:p>
                  </a:txBody>
                  <a:tcPr marL="21984" marR="21984"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3F3F3F"/>
                    </a:solidFill>
                  </a:tcPr>
                </a:tc>
                <a:extLst>
                  <a:ext uri="{0D108BD9-81ED-4DB2-BD59-A6C34878D82A}">
                    <a16:rowId xmlns:a16="http://schemas.microsoft.com/office/drawing/2014/main" val="2076031519"/>
                  </a:ext>
                </a:extLst>
              </a:tr>
              <a:tr h="633134">
                <a:tc rowSpan="3">
                  <a:txBody>
                    <a:bodyPr/>
                    <a:lstStyle/>
                    <a:p>
                      <a:pPr algn="ctr" rtl="0" fontAlgn="ctr"/>
                      <a:r>
                        <a:rPr lang="es-PE" sz="1100" b="0">
                          <a:effectLst/>
                          <a:latin typeface="Calibri" panose="020F0502020204030204" pitchFamily="34" charset="0"/>
                        </a:rPr>
                        <a:t>202651</a:t>
                      </a:r>
                    </a:p>
                  </a:txBody>
                  <a:tcPr marL="21984" marR="21984"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r>
                        <a:rPr lang="es-PE" sz="1100" b="0" dirty="0">
                          <a:effectLst/>
                          <a:latin typeface="Calibri" panose="020F0502020204030204" pitchFamily="34" charset="0"/>
                        </a:rPr>
                        <a:t>P01</a:t>
                      </a:r>
                    </a:p>
                  </a:txBody>
                  <a:tcPr marL="21984" marR="21984"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r>
                        <a:rPr lang="es-PE" sz="1100" b="0" dirty="0">
                          <a:effectLst/>
                          <a:latin typeface="Calibri" panose="020F0502020204030204" pitchFamily="34" charset="0"/>
                        </a:rPr>
                        <a:t>TODOS</a:t>
                      </a:r>
                    </a:p>
                  </a:txBody>
                  <a:tcPr marL="21984" marR="21984"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r>
                        <a:rPr lang="es-PE" sz="1100" b="0">
                          <a:effectLst/>
                          <a:latin typeface="Calibri" panose="020F0502020204030204" pitchFamily="34" charset="0"/>
                        </a:rPr>
                        <a:t>10 SEMANAS</a:t>
                      </a:r>
                    </a:p>
                  </a:txBody>
                  <a:tcPr marL="21984" marR="21984"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r>
                        <a:rPr lang="es-PE" sz="1100" b="0">
                          <a:effectLst/>
                          <a:latin typeface="Calibri" panose="020F0502020204030204" pitchFamily="34" charset="0"/>
                        </a:rPr>
                        <a:t>7/1/2026</a:t>
                      </a:r>
                    </a:p>
                  </a:txBody>
                  <a:tcPr marL="21984" marR="21984"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9F2D0"/>
                    </a:solidFill>
                  </a:tcPr>
                </a:tc>
                <a:tc>
                  <a:txBody>
                    <a:bodyPr/>
                    <a:lstStyle/>
                    <a:p>
                      <a:pPr algn="ctr" rtl="0" fontAlgn="b"/>
                      <a:endParaRPr lang="es-PE" sz="1100" dirty="0">
                        <a:effectLst/>
                      </a:endParaRPr>
                    </a:p>
                  </a:txBody>
                  <a:tcPr marL="21984" marR="21984"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9F2D0"/>
                    </a:solidFill>
                  </a:tcPr>
                </a:tc>
                <a:tc>
                  <a:txBody>
                    <a:bodyPr/>
                    <a:lstStyle/>
                    <a:p>
                      <a:pPr algn="ctr" rtl="0" fontAlgn="b"/>
                      <a:r>
                        <a:rPr lang="es-PE" sz="1100" b="0" dirty="0">
                          <a:effectLst/>
                          <a:latin typeface="Calibri" panose="020F0502020204030204" pitchFamily="34" charset="0"/>
                        </a:rPr>
                        <a:t>15/3/2026</a:t>
                      </a:r>
                    </a:p>
                  </a:txBody>
                  <a:tcPr marL="21984" marR="21984"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9F2D0"/>
                    </a:solidFill>
                  </a:tcPr>
                </a:tc>
                <a:tc>
                  <a:txBody>
                    <a:bodyPr/>
                    <a:lstStyle/>
                    <a:p>
                      <a:pPr algn="ctr" rtl="0" fontAlgn="b"/>
                      <a:endParaRPr lang="es-PE" sz="1100">
                        <a:effectLst/>
                      </a:endParaRPr>
                    </a:p>
                  </a:txBody>
                  <a:tcPr marL="21984" marR="21984"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endParaRPr lang="es-PE" sz="1100">
                        <a:effectLst/>
                      </a:endParaRPr>
                    </a:p>
                  </a:txBody>
                  <a:tcPr marL="21984" marR="21984"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endParaRPr lang="es-PE" sz="1100">
                        <a:effectLst/>
                      </a:endParaRPr>
                    </a:p>
                  </a:txBody>
                  <a:tcPr marL="21984" marR="21984"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endParaRPr lang="es-PE" sz="1100">
                        <a:effectLst/>
                      </a:endParaRPr>
                    </a:p>
                  </a:txBody>
                  <a:tcPr marL="21984" marR="21984"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endParaRPr lang="es-PE" sz="1100">
                        <a:effectLst/>
                      </a:endParaRPr>
                    </a:p>
                  </a:txBody>
                  <a:tcPr marL="21984" marR="21984"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endParaRPr lang="es-PE" sz="1100">
                        <a:effectLst/>
                      </a:endParaRPr>
                    </a:p>
                  </a:txBody>
                  <a:tcPr marL="21984" marR="21984"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endParaRPr lang="es-PE" sz="1100">
                        <a:effectLst/>
                      </a:endParaRPr>
                    </a:p>
                  </a:txBody>
                  <a:tcPr marL="21984" marR="21984"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endParaRPr lang="es-PE" sz="1100">
                        <a:effectLst/>
                      </a:endParaRPr>
                    </a:p>
                  </a:txBody>
                  <a:tcPr marL="21984" marR="21984"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70679484"/>
                  </a:ext>
                </a:extLst>
              </a:tr>
              <a:tr h="633134">
                <a:tc vMerge="1">
                  <a:txBody>
                    <a:bodyPr/>
                    <a:lstStyle/>
                    <a:p>
                      <a:endParaRPr lang="es-PE"/>
                    </a:p>
                  </a:txBody>
                  <a:tcPr/>
                </a:tc>
                <a:tc>
                  <a:txBody>
                    <a:bodyPr/>
                    <a:lstStyle/>
                    <a:p>
                      <a:pPr algn="ctr" rtl="0" fontAlgn="b"/>
                      <a:r>
                        <a:rPr lang="es-PE" sz="1100" b="0">
                          <a:effectLst/>
                          <a:latin typeface="Calibri" panose="020F0502020204030204" pitchFamily="34" charset="0"/>
                        </a:rPr>
                        <a:t>P02</a:t>
                      </a:r>
                    </a:p>
                  </a:txBody>
                  <a:tcPr marL="21984" marR="21984"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r>
                        <a:rPr lang="es-PE" sz="1100" b="0">
                          <a:effectLst/>
                          <a:latin typeface="Calibri" panose="020F0502020204030204" pitchFamily="34" charset="0"/>
                        </a:rPr>
                        <a:t>TODOS</a:t>
                      </a:r>
                    </a:p>
                  </a:txBody>
                  <a:tcPr marL="21984" marR="21984"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r>
                        <a:rPr lang="es-PE" sz="1100" b="0" dirty="0">
                          <a:effectLst/>
                          <a:latin typeface="Calibri" panose="020F0502020204030204" pitchFamily="34" charset="0"/>
                        </a:rPr>
                        <a:t>10 SEMANAS</a:t>
                      </a:r>
                    </a:p>
                  </a:txBody>
                  <a:tcPr marL="21984" marR="21984"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endParaRPr lang="es-PE" sz="1100">
                        <a:effectLst/>
                      </a:endParaRPr>
                    </a:p>
                  </a:txBody>
                  <a:tcPr marL="21984" marR="21984"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r>
                        <a:rPr lang="es-PE" sz="1100" b="0" dirty="0">
                          <a:effectLst/>
                          <a:latin typeface="Calibri" panose="020F0502020204030204" pitchFamily="34" charset="0"/>
                        </a:rPr>
                        <a:t>4/2/2026</a:t>
                      </a:r>
                    </a:p>
                  </a:txBody>
                  <a:tcPr marL="21984" marR="21984"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1CEEE"/>
                    </a:solidFill>
                  </a:tcPr>
                </a:tc>
                <a:tc>
                  <a:txBody>
                    <a:bodyPr/>
                    <a:lstStyle/>
                    <a:p>
                      <a:pPr algn="ctr" rtl="0" fontAlgn="b"/>
                      <a:endParaRPr lang="es-PE" sz="1100">
                        <a:effectLst/>
                      </a:endParaRPr>
                    </a:p>
                  </a:txBody>
                  <a:tcPr marL="21984" marR="21984"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1CEEE"/>
                    </a:solidFill>
                  </a:tcPr>
                </a:tc>
                <a:tc>
                  <a:txBody>
                    <a:bodyPr/>
                    <a:lstStyle/>
                    <a:p>
                      <a:pPr algn="ctr" rtl="0" fontAlgn="b"/>
                      <a:r>
                        <a:rPr lang="es-PE" sz="1100" b="0" dirty="0">
                          <a:effectLst/>
                          <a:latin typeface="Calibri" panose="020F0502020204030204" pitchFamily="34" charset="0"/>
                        </a:rPr>
                        <a:t>12/4/2026</a:t>
                      </a:r>
                    </a:p>
                  </a:txBody>
                  <a:tcPr marL="21984" marR="21984"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1CEEE"/>
                    </a:solidFill>
                  </a:tcPr>
                </a:tc>
                <a:tc>
                  <a:txBody>
                    <a:bodyPr/>
                    <a:lstStyle/>
                    <a:p>
                      <a:pPr algn="ctr" rtl="0" fontAlgn="b"/>
                      <a:endParaRPr lang="es-PE" sz="1100" dirty="0">
                        <a:effectLst/>
                      </a:endParaRPr>
                    </a:p>
                  </a:txBody>
                  <a:tcPr marL="21984" marR="21984"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endParaRPr lang="es-PE" sz="1100">
                        <a:effectLst/>
                      </a:endParaRPr>
                    </a:p>
                  </a:txBody>
                  <a:tcPr marL="21984" marR="21984"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endParaRPr lang="es-PE" sz="1100" dirty="0">
                        <a:effectLst/>
                      </a:endParaRPr>
                    </a:p>
                  </a:txBody>
                  <a:tcPr marL="21984" marR="21984"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endParaRPr lang="es-PE" sz="1100" dirty="0">
                        <a:effectLst/>
                      </a:endParaRPr>
                    </a:p>
                  </a:txBody>
                  <a:tcPr marL="21984" marR="21984"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endParaRPr lang="es-PE" sz="1100">
                        <a:effectLst/>
                      </a:endParaRPr>
                    </a:p>
                  </a:txBody>
                  <a:tcPr marL="21984" marR="21984"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endParaRPr lang="es-PE" sz="1100">
                        <a:effectLst/>
                      </a:endParaRPr>
                    </a:p>
                  </a:txBody>
                  <a:tcPr marL="21984" marR="21984"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endParaRPr lang="es-PE" sz="1100">
                        <a:effectLst/>
                      </a:endParaRPr>
                    </a:p>
                  </a:txBody>
                  <a:tcPr marL="21984" marR="21984"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50223423"/>
                  </a:ext>
                </a:extLst>
              </a:tr>
              <a:tr h="633134">
                <a:tc vMerge="1">
                  <a:txBody>
                    <a:bodyPr/>
                    <a:lstStyle/>
                    <a:p>
                      <a:endParaRPr lang="es-PE"/>
                    </a:p>
                  </a:txBody>
                  <a:tcPr/>
                </a:tc>
                <a:tc>
                  <a:txBody>
                    <a:bodyPr/>
                    <a:lstStyle/>
                    <a:p>
                      <a:pPr algn="ctr" rtl="0" fontAlgn="b"/>
                      <a:r>
                        <a:rPr lang="es-PE" sz="1100" b="0">
                          <a:effectLst/>
                          <a:latin typeface="Calibri" panose="020F0502020204030204" pitchFamily="34" charset="0"/>
                        </a:rPr>
                        <a:t>P03</a:t>
                      </a:r>
                    </a:p>
                  </a:txBody>
                  <a:tcPr marL="21984" marR="21984"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r>
                        <a:rPr lang="es-PE" sz="1100" b="0">
                          <a:effectLst/>
                          <a:latin typeface="Calibri" panose="020F0502020204030204" pitchFamily="34" charset="0"/>
                        </a:rPr>
                        <a:t>TODOS</a:t>
                      </a:r>
                    </a:p>
                  </a:txBody>
                  <a:tcPr marL="21984" marR="21984"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r>
                        <a:rPr lang="es-PE" sz="1100" b="0" dirty="0">
                          <a:effectLst/>
                          <a:latin typeface="Calibri" panose="020F0502020204030204" pitchFamily="34" charset="0"/>
                        </a:rPr>
                        <a:t>10 SEMANAS</a:t>
                      </a:r>
                    </a:p>
                  </a:txBody>
                  <a:tcPr marL="21984" marR="21984"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endParaRPr lang="es-PE" sz="1100">
                        <a:effectLst/>
                      </a:endParaRPr>
                    </a:p>
                  </a:txBody>
                  <a:tcPr marL="21984" marR="21984"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endParaRPr lang="es-PE" sz="1100" dirty="0">
                        <a:effectLst/>
                      </a:endParaRPr>
                    </a:p>
                  </a:txBody>
                  <a:tcPr marL="21984" marR="21984"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r>
                        <a:rPr lang="es-PE" sz="1100" b="0">
                          <a:effectLst/>
                          <a:latin typeface="Calibri" panose="020F0502020204030204" pitchFamily="34" charset="0"/>
                        </a:rPr>
                        <a:t>11/3/2026</a:t>
                      </a:r>
                    </a:p>
                  </a:txBody>
                  <a:tcPr marL="21984" marR="21984"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CAEDFB"/>
                    </a:solidFill>
                  </a:tcPr>
                </a:tc>
                <a:tc>
                  <a:txBody>
                    <a:bodyPr/>
                    <a:lstStyle/>
                    <a:p>
                      <a:pPr algn="ctr" rtl="0" fontAlgn="b"/>
                      <a:endParaRPr lang="es-PE" sz="1100">
                        <a:effectLst/>
                      </a:endParaRPr>
                    </a:p>
                  </a:txBody>
                  <a:tcPr marL="21984" marR="21984"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CAEDFB"/>
                    </a:solidFill>
                  </a:tcPr>
                </a:tc>
                <a:tc>
                  <a:txBody>
                    <a:bodyPr/>
                    <a:lstStyle/>
                    <a:p>
                      <a:pPr algn="ctr" rtl="0" fontAlgn="b"/>
                      <a:r>
                        <a:rPr lang="es-PE" sz="1100" b="0">
                          <a:effectLst/>
                          <a:latin typeface="Calibri" panose="020F0502020204030204" pitchFamily="34" charset="0"/>
                        </a:rPr>
                        <a:t>17/5/2026</a:t>
                      </a:r>
                    </a:p>
                  </a:txBody>
                  <a:tcPr marL="21984" marR="21984"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CAEDFB"/>
                    </a:solidFill>
                  </a:tcPr>
                </a:tc>
                <a:tc>
                  <a:txBody>
                    <a:bodyPr/>
                    <a:lstStyle/>
                    <a:p>
                      <a:pPr algn="ctr" rtl="0" fontAlgn="b"/>
                      <a:endParaRPr lang="es-PE" sz="1100" dirty="0">
                        <a:effectLst/>
                      </a:endParaRPr>
                    </a:p>
                  </a:txBody>
                  <a:tcPr marL="21984" marR="21984"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endParaRPr lang="es-PE" sz="1100">
                        <a:effectLst/>
                      </a:endParaRPr>
                    </a:p>
                  </a:txBody>
                  <a:tcPr marL="21984" marR="21984"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endParaRPr lang="es-PE" sz="1100">
                        <a:effectLst/>
                      </a:endParaRPr>
                    </a:p>
                  </a:txBody>
                  <a:tcPr marL="21984" marR="21984"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endParaRPr lang="es-PE" sz="1100">
                        <a:effectLst/>
                      </a:endParaRPr>
                    </a:p>
                  </a:txBody>
                  <a:tcPr marL="21984" marR="21984"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endParaRPr lang="es-PE" sz="1100">
                        <a:effectLst/>
                      </a:endParaRPr>
                    </a:p>
                  </a:txBody>
                  <a:tcPr marL="21984" marR="21984"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endParaRPr lang="es-PE" sz="1100">
                        <a:effectLst/>
                      </a:endParaRPr>
                    </a:p>
                  </a:txBody>
                  <a:tcPr marL="21984" marR="21984"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54339098"/>
                  </a:ext>
                </a:extLst>
              </a:tr>
              <a:tr h="633134">
                <a:tc>
                  <a:txBody>
                    <a:bodyPr/>
                    <a:lstStyle/>
                    <a:p>
                      <a:pPr algn="ctr" rtl="0" fontAlgn="ctr"/>
                      <a:r>
                        <a:rPr lang="es-PE" sz="1100" b="0">
                          <a:effectLst/>
                          <a:latin typeface="Calibri" panose="020F0502020204030204" pitchFamily="34" charset="0"/>
                        </a:rPr>
                        <a:t>202654</a:t>
                      </a:r>
                    </a:p>
                  </a:txBody>
                  <a:tcPr marL="21984" marR="21984"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r>
                        <a:rPr lang="es-PE" sz="1100" b="0">
                          <a:effectLst/>
                          <a:latin typeface="Calibri" panose="020F0502020204030204" pitchFamily="34" charset="0"/>
                        </a:rPr>
                        <a:t>P04</a:t>
                      </a:r>
                    </a:p>
                  </a:txBody>
                  <a:tcPr marL="21984" marR="21984"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r>
                        <a:rPr lang="es-PE" sz="1100" b="0">
                          <a:effectLst/>
                          <a:latin typeface="Calibri" panose="020F0502020204030204" pitchFamily="34" charset="0"/>
                        </a:rPr>
                        <a:t>TODOS</a:t>
                      </a:r>
                    </a:p>
                  </a:txBody>
                  <a:tcPr marL="21984" marR="21984"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r>
                        <a:rPr lang="es-PE" sz="1100" b="0">
                          <a:effectLst/>
                          <a:latin typeface="Calibri" panose="020F0502020204030204" pitchFamily="34" charset="0"/>
                        </a:rPr>
                        <a:t>10 SEMANAS</a:t>
                      </a:r>
                    </a:p>
                  </a:txBody>
                  <a:tcPr marL="21984" marR="21984"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endParaRPr lang="es-PE" sz="1100">
                        <a:effectLst/>
                      </a:endParaRPr>
                    </a:p>
                  </a:txBody>
                  <a:tcPr marL="21984" marR="21984"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endParaRPr lang="es-PE" sz="1100" dirty="0">
                        <a:effectLst/>
                      </a:endParaRPr>
                    </a:p>
                  </a:txBody>
                  <a:tcPr marL="21984" marR="21984"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endParaRPr lang="es-PE" sz="1100">
                        <a:effectLst/>
                      </a:endParaRPr>
                    </a:p>
                  </a:txBody>
                  <a:tcPr marL="21984" marR="21984"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endParaRPr lang="es-PE" sz="1100">
                        <a:effectLst/>
                      </a:endParaRPr>
                    </a:p>
                  </a:txBody>
                  <a:tcPr marL="21984" marR="21984"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r>
                        <a:rPr lang="es-PE" sz="1100" b="0">
                          <a:effectLst/>
                          <a:latin typeface="Calibri" panose="020F0502020204030204" pitchFamily="34" charset="0"/>
                        </a:rPr>
                        <a:t>6/5/2026</a:t>
                      </a:r>
                    </a:p>
                  </a:txBody>
                  <a:tcPr marL="21984" marR="21984"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9F2D0"/>
                    </a:solidFill>
                  </a:tcPr>
                </a:tc>
                <a:tc>
                  <a:txBody>
                    <a:bodyPr/>
                    <a:lstStyle/>
                    <a:p>
                      <a:pPr algn="ctr" rtl="0" fontAlgn="b"/>
                      <a:endParaRPr lang="es-PE" sz="1100">
                        <a:effectLst/>
                      </a:endParaRPr>
                    </a:p>
                  </a:txBody>
                  <a:tcPr marL="21984" marR="21984"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9F2D0"/>
                    </a:solidFill>
                  </a:tcPr>
                </a:tc>
                <a:tc>
                  <a:txBody>
                    <a:bodyPr/>
                    <a:lstStyle/>
                    <a:p>
                      <a:pPr algn="ctr" rtl="0" fontAlgn="b"/>
                      <a:r>
                        <a:rPr lang="es-PE" sz="1100" b="0" dirty="0">
                          <a:effectLst/>
                          <a:latin typeface="Calibri" panose="020F0502020204030204" pitchFamily="34" charset="0"/>
                        </a:rPr>
                        <a:t>12/7/2026</a:t>
                      </a:r>
                    </a:p>
                  </a:txBody>
                  <a:tcPr marL="21984" marR="21984"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9F2D0"/>
                    </a:solidFill>
                  </a:tcPr>
                </a:tc>
                <a:tc>
                  <a:txBody>
                    <a:bodyPr/>
                    <a:lstStyle/>
                    <a:p>
                      <a:pPr algn="ctr" rtl="0" fontAlgn="b"/>
                      <a:endParaRPr lang="es-PE" sz="1100" dirty="0">
                        <a:effectLst/>
                      </a:endParaRPr>
                    </a:p>
                  </a:txBody>
                  <a:tcPr marL="21984" marR="21984"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endParaRPr lang="es-PE" sz="1100" dirty="0">
                        <a:effectLst/>
                      </a:endParaRPr>
                    </a:p>
                  </a:txBody>
                  <a:tcPr marL="21984" marR="21984"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endParaRPr lang="es-PE" sz="1100">
                        <a:effectLst/>
                      </a:endParaRPr>
                    </a:p>
                  </a:txBody>
                  <a:tcPr marL="21984" marR="21984"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endParaRPr lang="es-PE" sz="1100">
                        <a:effectLst/>
                      </a:endParaRPr>
                    </a:p>
                  </a:txBody>
                  <a:tcPr marL="21984" marR="21984"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22219934"/>
                  </a:ext>
                </a:extLst>
              </a:tr>
              <a:tr h="633134">
                <a:tc rowSpan="2">
                  <a:txBody>
                    <a:bodyPr/>
                    <a:lstStyle/>
                    <a:p>
                      <a:pPr algn="ctr" rtl="0" fontAlgn="ctr"/>
                      <a:r>
                        <a:rPr lang="es-PE" sz="1100" b="0">
                          <a:effectLst/>
                          <a:latin typeface="Calibri" panose="020F0502020204030204" pitchFamily="34" charset="0"/>
                        </a:rPr>
                        <a:t>202656</a:t>
                      </a:r>
                    </a:p>
                  </a:txBody>
                  <a:tcPr marL="21984" marR="21984"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r>
                        <a:rPr lang="es-PE" sz="1100" b="0">
                          <a:effectLst/>
                          <a:latin typeface="Calibri" panose="020F0502020204030204" pitchFamily="34" charset="0"/>
                        </a:rPr>
                        <a:t>P05</a:t>
                      </a:r>
                    </a:p>
                  </a:txBody>
                  <a:tcPr marL="21984" marR="21984"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r>
                        <a:rPr lang="es-PE" sz="1100" b="0">
                          <a:effectLst/>
                          <a:latin typeface="Calibri" panose="020F0502020204030204" pitchFamily="34" charset="0"/>
                        </a:rPr>
                        <a:t>TODOS</a:t>
                      </a:r>
                    </a:p>
                  </a:txBody>
                  <a:tcPr marL="21984" marR="21984"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r>
                        <a:rPr lang="es-PE" sz="1100" b="0">
                          <a:effectLst/>
                          <a:latin typeface="Calibri" panose="020F0502020204030204" pitchFamily="34" charset="0"/>
                        </a:rPr>
                        <a:t>10 SEMANAS</a:t>
                      </a:r>
                    </a:p>
                  </a:txBody>
                  <a:tcPr marL="21984" marR="21984"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endParaRPr lang="es-PE" sz="1100">
                        <a:effectLst/>
                      </a:endParaRPr>
                    </a:p>
                  </a:txBody>
                  <a:tcPr marL="21984" marR="21984"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endParaRPr lang="es-PE" sz="1100">
                        <a:effectLst/>
                      </a:endParaRPr>
                    </a:p>
                  </a:txBody>
                  <a:tcPr marL="21984" marR="21984"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endParaRPr lang="es-PE" sz="1100">
                        <a:effectLst/>
                      </a:endParaRPr>
                    </a:p>
                  </a:txBody>
                  <a:tcPr marL="21984" marR="21984"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endParaRPr lang="es-PE" sz="1100">
                        <a:effectLst/>
                      </a:endParaRPr>
                    </a:p>
                  </a:txBody>
                  <a:tcPr marL="21984" marR="21984"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endParaRPr lang="es-PE" sz="1100">
                        <a:effectLst/>
                      </a:endParaRPr>
                    </a:p>
                  </a:txBody>
                  <a:tcPr marL="21984" marR="21984"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endParaRPr lang="es-PE" sz="1100">
                        <a:effectLst/>
                      </a:endParaRPr>
                    </a:p>
                  </a:txBody>
                  <a:tcPr marL="21984" marR="21984"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endParaRPr lang="es-PE" sz="1100">
                        <a:effectLst/>
                      </a:endParaRPr>
                    </a:p>
                  </a:txBody>
                  <a:tcPr marL="21984" marR="21984"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r>
                        <a:rPr lang="es-PE" sz="1100" b="0">
                          <a:effectLst/>
                          <a:latin typeface="Calibri" panose="020F0502020204030204" pitchFamily="34" charset="0"/>
                        </a:rPr>
                        <a:t>5/8/2026</a:t>
                      </a:r>
                    </a:p>
                  </a:txBody>
                  <a:tcPr marL="21984" marR="21984"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CAEDFB"/>
                    </a:solidFill>
                  </a:tcPr>
                </a:tc>
                <a:tc>
                  <a:txBody>
                    <a:bodyPr/>
                    <a:lstStyle/>
                    <a:p>
                      <a:pPr algn="ctr" rtl="0" fontAlgn="b"/>
                      <a:endParaRPr lang="es-PE" sz="1100" dirty="0">
                        <a:effectLst/>
                      </a:endParaRPr>
                    </a:p>
                  </a:txBody>
                  <a:tcPr marL="21984" marR="21984"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CAEDFB"/>
                    </a:solidFill>
                  </a:tcPr>
                </a:tc>
                <a:tc>
                  <a:txBody>
                    <a:bodyPr/>
                    <a:lstStyle/>
                    <a:p>
                      <a:pPr algn="ctr" rtl="0" fontAlgn="b"/>
                      <a:r>
                        <a:rPr lang="es-PE" sz="1100" b="0" dirty="0">
                          <a:effectLst/>
                          <a:latin typeface="Calibri" panose="020F0502020204030204" pitchFamily="34" charset="0"/>
                        </a:rPr>
                        <a:t>11/10/2026</a:t>
                      </a:r>
                    </a:p>
                  </a:txBody>
                  <a:tcPr marL="21984" marR="21984"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CAEDFB"/>
                    </a:solidFill>
                  </a:tcPr>
                </a:tc>
                <a:tc>
                  <a:txBody>
                    <a:bodyPr/>
                    <a:lstStyle/>
                    <a:p>
                      <a:pPr algn="ctr" rtl="0" fontAlgn="b"/>
                      <a:endParaRPr lang="es-PE" sz="1100" dirty="0">
                        <a:effectLst/>
                      </a:endParaRPr>
                    </a:p>
                  </a:txBody>
                  <a:tcPr marL="21984" marR="21984"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23319843"/>
                  </a:ext>
                </a:extLst>
              </a:tr>
              <a:tr h="633134">
                <a:tc vMerge="1">
                  <a:txBody>
                    <a:bodyPr/>
                    <a:lstStyle/>
                    <a:p>
                      <a:endParaRPr lang="es-PE"/>
                    </a:p>
                  </a:txBody>
                  <a:tcPr/>
                </a:tc>
                <a:tc>
                  <a:txBody>
                    <a:bodyPr/>
                    <a:lstStyle/>
                    <a:p>
                      <a:pPr algn="ctr" rtl="0" fontAlgn="b"/>
                      <a:r>
                        <a:rPr lang="es-PE" sz="1100" b="0">
                          <a:effectLst/>
                          <a:latin typeface="Calibri" panose="020F0502020204030204" pitchFamily="34" charset="0"/>
                        </a:rPr>
                        <a:t>P06</a:t>
                      </a:r>
                    </a:p>
                  </a:txBody>
                  <a:tcPr marL="21984" marR="21984"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r>
                        <a:rPr lang="es-PE" sz="1100" b="0">
                          <a:effectLst/>
                          <a:latin typeface="Calibri" panose="020F0502020204030204" pitchFamily="34" charset="0"/>
                        </a:rPr>
                        <a:t>TODOS</a:t>
                      </a:r>
                    </a:p>
                  </a:txBody>
                  <a:tcPr marL="21984" marR="21984"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r>
                        <a:rPr lang="es-PE" sz="1100" b="0">
                          <a:effectLst/>
                          <a:latin typeface="Calibri" panose="020F0502020204030204" pitchFamily="34" charset="0"/>
                        </a:rPr>
                        <a:t>10 SEMANAS</a:t>
                      </a:r>
                    </a:p>
                  </a:txBody>
                  <a:tcPr marL="21984" marR="21984"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endParaRPr lang="es-PE" sz="1100">
                        <a:effectLst/>
                      </a:endParaRPr>
                    </a:p>
                  </a:txBody>
                  <a:tcPr marL="21984" marR="21984"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endParaRPr lang="es-PE" sz="1100">
                        <a:effectLst/>
                      </a:endParaRPr>
                    </a:p>
                  </a:txBody>
                  <a:tcPr marL="21984" marR="21984"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endParaRPr lang="es-PE" sz="1100">
                        <a:effectLst/>
                      </a:endParaRPr>
                    </a:p>
                  </a:txBody>
                  <a:tcPr marL="21984" marR="21984"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endParaRPr lang="es-PE" sz="1100">
                        <a:effectLst/>
                      </a:endParaRPr>
                    </a:p>
                  </a:txBody>
                  <a:tcPr marL="21984" marR="21984"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endParaRPr lang="es-PE" sz="1100">
                        <a:effectLst/>
                      </a:endParaRPr>
                    </a:p>
                  </a:txBody>
                  <a:tcPr marL="21984" marR="21984"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endParaRPr lang="es-PE" sz="1100">
                        <a:effectLst/>
                      </a:endParaRPr>
                    </a:p>
                  </a:txBody>
                  <a:tcPr marL="21984" marR="21984"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endParaRPr lang="es-PE" sz="1100">
                        <a:effectLst/>
                      </a:endParaRPr>
                    </a:p>
                  </a:txBody>
                  <a:tcPr marL="21984" marR="21984"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endParaRPr lang="es-PE" sz="1100">
                        <a:effectLst/>
                      </a:endParaRPr>
                    </a:p>
                  </a:txBody>
                  <a:tcPr marL="21984" marR="21984"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b"/>
                      <a:r>
                        <a:rPr lang="es-PE" sz="1100" b="0">
                          <a:effectLst/>
                          <a:latin typeface="Calibri" panose="020F0502020204030204" pitchFamily="34" charset="0"/>
                        </a:rPr>
                        <a:t>30/9/2026</a:t>
                      </a:r>
                    </a:p>
                  </a:txBody>
                  <a:tcPr marL="21984" marR="21984"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1CEEE"/>
                    </a:solidFill>
                  </a:tcPr>
                </a:tc>
                <a:tc>
                  <a:txBody>
                    <a:bodyPr/>
                    <a:lstStyle/>
                    <a:p>
                      <a:pPr algn="ctr" rtl="0" fontAlgn="b"/>
                      <a:endParaRPr lang="es-PE" sz="1100" dirty="0">
                        <a:effectLst/>
                      </a:endParaRPr>
                    </a:p>
                  </a:txBody>
                  <a:tcPr marL="21984" marR="21984"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1CEEE"/>
                    </a:solidFill>
                  </a:tcPr>
                </a:tc>
                <a:tc>
                  <a:txBody>
                    <a:bodyPr/>
                    <a:lstStyle/>
                    <a:p>
                      <a:pPr algn="ctr" rtl="0" fontAlgn="b"/>
                      <a:r>
                        <a:rPr lang="es-PE" sz="1100" b="0" dirty="0">
                          <a:effectLst/>
                          <a:latin typeface="Calibri" panose="020F0502020204030204" pitchFamily="34" charset="0"/>
                        </a:rPr>
                        <a:t>6/12/2026</a:t>
                      </a:r>
                    </a:p>
                  </a:txBody>
                  <a:tcPr marL="21984" marR="21984"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1CEEE"/>
                    </a:solidFill>
                  </a:tcPr>
                </a:tc>
                <a:extLst>
                  <a:ext uri="{0D108BD9-81ED-4DB2-BD59-A6C34878D82A}">
                    <a16:rowId xmlns:a16="http://schemas.microsoft.com/office/drawing/2014/main" val="915671834"/>
                  </a:ext>
                </a:extLst>
              </a:tr>
            </a:tbl>
          </a:graphicData>
        </a:graphic>
      </p:graphicFrame>
    </p:spTree>
    <p:extLst>
      <p:ext uri="{BB962C8B-B14F-4D97-AF65-F5344CB8AC3E}">
        <p14:creationId xmlns:p14="http://schemas.microsoft.com/office/powerpoint/2010/main" val="13194702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left)">
                                      <p:cBhvr>
                                        <p:cTn id="10" dur="500"/>
                                        <p:tgtEl>
                                          <p:spTgt spid="8"/>
                                        </p:tgtEl>
                                      </p:cBhvr>
                                    </p:animEffect>
                                  </p:childTnLst>
                                </p:cTn>
                              </p:par>
                            </p:childTnLst>
                          </p:cTn>
                        </p:par>
                        <p:par>
                          <p:cTn id="11" fill="hold">
                            <p:stCondLst>
                              <p:cond delay="500"/>
                            </p:stCondLst>
                            <p:childTnLst>
                              <p:par>
                                <p:cTn id="12" presetID="22" presetClass="entr" presetSubtype="1" fill="hold"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wipe(up)">
                                      <p:cBhvr>
                                        <p:cTn id="14"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5C2193"/>
        </a:solidFill>
        <a:effectLst/>
      </p:bgPr>
    </p:bg>
    <p:spTree>
      <p:nvGrpSpPr>
        <p:cNvPr id="1" name=""/>
        <p:cNvGrpSpPr/>
        <p:nvPr/>
      </p:nvGrpSpPr>
      <p:grpSpPr>
        <a:xfrm>
          <a:off x="0" y="0"/>
          <a:ext cx="0" cy="0"/>
          <a:chOff x="0" y="0"/>
          <a:chExt cx="0" cy="0"/>
        </a:xfrm>
      </p:grpSpPr>
      <p:pic>
        <p:nvPicPr>
          <p:cNvPr id="1028" name="Picture 4" descr="Ellucian Student Reseñas 2026: Detalles, Precios y Características | G2">
            <a:extLst>
              <a:ext uri="{FF2B5EF4-FFF2-40B4-BE49-F238E27FC236}">
                <a16:creationId xmlns:a16="http://schemas.microsoft.com/office/drawing/2014/main" id="{3EBF1EA5-190E-0F8F-B4F4-56B5380AED44}"/>
              </a:ext>
            </a:extLst>
          </p:cNvPr>
          <p:cNvPicPr>
            <a:picLocks noChangeAspect="1" noChangeArrowheads="1"/>
          </p:cNvPicPr>
          <p:nvPr/>
        </p:nvPicPr>
        <p:blipFill>
          <a:blip r:embed="rId2">
            <a:biLevel thresh="25000"/>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8405244" y="5091953"/>
            <a:ext cx="3363899" cy="1766047"/>
          </a:xfrm>
          <a:prstGeom prst="rect">
            <a:avLst/>
          </a:prstGeom>
          <a:noFill/>
          <a:extLst>
            <a:ext uri="{909E8E84-426E-40DD-AFC4-6F175D3DCCD1}">
              <a14:hiddenFill xmlns:a14="http://schemas.microsoft.com/office/drawing/2010/main">
                <a:solidFill>
                  <a:srgbClr val="FFFFFF"/>
                </a:solidFill>
              </a14:hiddenFill>
            </a:ext>
          </a:extLst>
        </p:spPr>
      </p:pic>
      <p:pic>
        <p:nvPicPr>
          <p:cNvPr id="8" name="Imagen 7">
            <a:extLst>
              <a:ext uri="{FF2B5EF4-FFF2-40B4-BE49-F238E27FC236}">
                <a16:creationId xmlns:a16="http://schemas.microsoft.com/office/drawing/2014/main" id="{F3B12AA1-09DB-029E-CEFB-090B28455E75}"/>
              </a:ext>
            </a:extLst>
          </p:cNvPr>
          <p:cNvPicPr>
            <a:picLocks noChangeAspect="1"/>
          </p:cNvPicPr>
          <p:nvPr/>
        </p:nvPicPr>
        <p:blipFill>
          <a:blip r:embed="rId4">
            <a:lum bright="70000" contrast="-70000"/>
            <a:extLst>
              <a:ext uri="{28A0092B-C50C-407E-A947-70E740481C1C}">
                <a14:useLocalDpi xmlns:a14="http://schemas.microsoft.com/office/drawing/2010/main" val="0"/>
              </a:ext>
            </a:extLst>
          </a:blip>
          <a:stretch>
            <a:fillRect/>
          </a:stretch>
        </p:blipFill>
        <p:spPr>
          <a:xfrm>
            <a:off x="596901" y="418320"/>
            <a:ext cx="3688228" cy="868180"/>
          </a:xfrm>
          <a:prstGeom prst="rect">
            <a:avLst/>
          </a:prstGeom>
        </p:spPr>
      </p:pic>
      <p:sp>
        <p:nvSpPr>
          <p:cNvPr id="17" name="CuadroTexto 16">
            <a:extLst>
              <a:ext uri="{FF2B5EF4-FFF2-40B4-BE49-F238E27FC236}">
                <a16:creationId xmlns:a16="http://schemas.microsoft.com/office/drawing/2014/main" id="{D0BC250B-0A63-B351-C809-BDD7940DFA1A}"/>
              </a:ext>
            </a:extLst>
          </p:cNvPr>
          <p:cNvSpPr txBox="1"/>
          <p:nvPr/>
        </p:nvSpPr>
        <p:spPr>
          <a:xfrm>
            <a:off x="1096992" y="2353719"/>
            <a:ext cx="9998015" cy="120032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7200" b="1" dirty="0">
                <a:solidFill>
                  <a:srgbClr val="196B24">
                    <a:lumMod val="60000"/>
                    <a:lumOff val="40000"/>
                  </a:srgbClr>
                </a:solidFill>
                <a:latin typeface="Montserrat" pitchFamily="2" charset="0"/>
              </a:rPr>
              <a:t>CONFIGURACIONES</a:t>
            </a:r>
            <a:endParaRPr kumimoji="0" lang="es-PE" sz="7200" b="1" i="0" u="none" strike="noStrike" kern="1200" cap="none" spc="0" normalizeH="0" baseline="0" noProof="0" dirty="0">
              <a:ln>
                <a:noFill/>
              </a:ln>
              <a:solidFill>
                <a:srgbClr val="196B24">
                  <a:lumMod val="60000"/>
                  <a:lumOff val="40000"/>
                </a:srgbClr>
              </a:solidFill>
              <a:effectLst/>
              <a:uLnTx/>
              <a:uFillTx/>
              <a:latin typeface="Montserrat" pitchFamily="2" charset="0"/>
              <a:ea typeface="+mn-ea"/>
              <a:cs typeface="+mn-cs"/>
            </a:endParaRPr>
          </a:p>
        </p:txBody>
      </p:sp>
      <p:sp>
        <p:nvSpPr>
          <p:cNvPr id="3" name="CuadroTexto 2">
            <a:extLst>
              <a:ext uri="{FF2B5EF4-FFF2-40B4-BE49-F238E27FC236}">
                <a16:creationId xmlns:a16="http://schemas.microsoft.com/office/drawing/2014/main" id="{3EEB4538-9A01-61FC-2736-55C412E04D72}"/>
              </a:ext>
            </a:extLst>
          </p:cNvPr>
          <p:cNvSpPr txBox="1"/>
          <p:nvPr/>
        </p:nvSpPr>
        <p:spPr>
          <a:xfrm>
            <a:off x="596901" y="6322596"/>
            <a:ext cx="3134128"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200" b="0" i="1" u="none" strike="noStrike" kern="1200" cap="none" spc="0" normalizeH="0" baseline="0" noProof="0" dirty="0">
                <a:ln>
                  <a:noFill/>
                </a:ln>
                <a:solidFill>
                  <a:prstClr val="white"/>
                </a:solidFill>
                <a:effectLst/>
                <a:uLnTx/>
                <a:uFillTx/>
                <a:latin typeface="Aptos" panose="02110004020202020204"/>
                <a:ea typeface="+mn-ea"/>
                <a:cs typeface="+mn-cs"/>
              </a:rPr>
              <a:t>Elaborado por: Ing. Liliana Ocampo Moreno</a:t>
            </a:r>
            <a:endParaRPr kumimoji="0" lang="es-PE" sz="1200" b="0" i="1"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4" name="CuadroTexto 3">
            <a:extLst>
              <a:ext uri="{FF2B5EF4-FFF2-40B4-BE49-F238E27FC236}">
                <a16:creationId xmlns:a16="http://schemas.microsoft.com/office/drawing/2014/main" id="{1E17B715-F902-4310-1CD1-8D77D576CA53}"/>
              </a:ext>
            </a:extLst>
          </p:cNvPr>
          <p:cNvSpPr txBox="1"/>
          <p:nvPr/>
        </p:nvSpPr>
        <p:spPr>
          <a:xfrm>
            <a:off x="1326669" y="3897577"/>
            <a:ext cx="9538659" cy="1200329"/>
          </a:xfrm>
          <a:prstGeom prst="rect">
            <a:avLst/>
          </a:prstGeom>
          <a:noFill/>
        </p:spPr>
        <p:txBody>
          <a:bodyPr wrap="square">
            <a:spAutoFit/>
          </a:bodyPr>
          <a:lstStyle/>
          <a:p>
            <a:pPr rtl="0">
              <a:spcBef>
                <a:spcPts val="0"/>
              </a:spcBef>
              <a:spcAft>
                <a:spcPts val="0"/>
              </a:spcAft>
            </a:pPr>
            <a:r>
              <a:rPr lang="es-ES" sz="1800" b="0" i="0" u="none" strike="noStrike" dirty="0">
                <a:solidFill>
                  <a:srgbClr val="FFFFFF"/>
                </a:solidFill>
                <a:effectLst/>
              </a:rPr>
              <a:t>Se indican las páginas que se deben configurar para poder definir la estructura de los periodos académicos.</a:t>
            </a:r>
            <a:endParaRPr lang="es-ES" b="0" dirty="0">
              <a:effectLst/>
            </a:endParaRPr>
          </a:p>
          <a:p>
            <a:br>
              <a:rPr lang="es-ES" dirty="0"/>
            </a:br>
            <a:endParaRPr lang="es-PE" dirty="0"/>
          </a:p>
        </p:txBody>
      </p:sp>
    </p:spTree>
    <p:extLst>
      <p:ext uri="{BB962C8B-B14F-4D97-AF65-F5344CB8AC3E}">
        <p14:creationId xmlns:p14="http://schemas.microsoft.com/office/powerpoint/2010/main" val="37643886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7CAB2B86-4E3B-C98C-411E-958BEFE187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2528" y="6154887"/>
            <a:ext cx="2234242" cy="525923"/>
          </a:xfrm>
          <a:prstGeom prst="rect">
            <a:avLst/>
          </a:prstGeom>
        </p:spPr>
      </p:pic>
      <p:pic>
        <p:nvPicPr>
          <p:cNvPr id="4" name="Picture 4" descr="Ellucian Student Reseñas 2026: Detalles, Precios y Características | G2">
            <a:extLst>
              <a:ext uri="{FF2B5EF4-FFF2-40B4-BE49-F238E27FC236}">
                <a16:creationId xmlns:a16="http://schemas.microsoft.com/office/drawing/2014/main" id="{7352B780-8C7C-7B91-F3EE-5E6EF2C2E4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98101" y="5901780"/>
            <a:ext cx="1821371" cy="956220"/>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0AEBA78F-8C98-5D4D-384F-95B753FFADE4}"/>
              </a:ext>
            </a:extLst>
          </p:cNvPr>
          <p:cNvSpPr txBox="1"/>
          <p:nvPr/>
        </p:nvSpPr>
        <p:spPr>
          <a:xfrm>
            <a:off x="431320" y="241540"/>
            <a:ext cx="9826729" cy="523220"/>
          </a:xfrm>
          <a:prstGeom prst="rect">
            <a:avLst/>
          </a:prstGeom>
          <a:noFill/>
        </p:spPr>
        <p:txBody>
          <a:bodyPr wrap="none" rtlCol="0">
            <a:spAutoFit/>
          </a:bodyPr>
          <a:lstStyle/>
          <a:p>
            <a:r>
              <a:rPr lang="es-ES" sz="2800" b="1" dirty="0">
                <a:latin typeface="Montserrat" pitchFamily="2" charset="0"/>
              </a:rPr>
              <a:t>CONFIGURACIÓN: PARTES DE PERIODO - STVPTRM</a:t>
            </a:r>
            <a:endParaRPr lang="es-PE" sz="2800" b="1" dirty="0">
              <a:latin typeface="Montserrat" pitchFamily="2" charset="0"/>
            </a:endParaRPr>
          </a:p>
        </p:txBody>
      </p:sp>
      <p:sp>
        <p:nvSpPr>
          <p:cNvPr id="8" name="Rectángulo 7">
            <a:extLst>
              <a:ext uri="{FF2B5EF4-FFF2-40B4-BE49-F238E27FC236}">
                <a16:creationId xmlns:a16="http://schemas.microsoft.com/office/drawing/2014/main" id="{A16BCE08-E23C-F264-A6E3-E4019979D2E2}"/>
              </a:ext>
            </a:extLst>
          </p:cNvPr>
          <p:cNvSpPr/>
          <p:nvPr/>
        </p:nvSpPr>
        <p:spPr>
          <a:xfrm>
            <a:off x="10198101" y="241540"/>
            <a:ext cx="1993898" cy="445583"/>
          </a:xfrm>
          <a:prstGeom prst="rect">
            <a:avLst/>
          </a:prstGeom>
          <a:gradFill flip="none" rotWithShape="1">
            <a:gsLst>
              <a:gs pos="0">
                <a:schemeClr val="accent6">
                  <a:lumMod val="0"/>
                  <a:lumOff val="100000"/>
                </a:schemeClr>
              </a:gs>
              <a:gs pos="66000">
                <a:schemeClr val="accent6">
                  <a:lumMod val="100000"/>
                </a:schemeClr>
              </a:gs>
            </a:gsLst>
            <a:lin ang="0" scaled="1"/>
            <a:tileRect/>
          </a:gra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s-PE"/>
          </a:p>
        </p:txBody>
      </p:sp>
      <p:sp>
        <p:nvSpPr>
          <p:cNvPr id="6" name="CuadroTexto 5">
            <a:extLst>
              <a:ext uri="{FF2B5EF4-FFF2-40B4-BE49-F238E27FC236}">
                <a16:creationId xmlns:a16="http://schemas.microsoft.com/office/drawing/2014/main" id="{AC33DC36-253A-547B-7A30-A152C2F6B4CE}"/>
              </a:ext>
            </a:extLst>
          </p:cNvPr>
          <p:cNvSpPr txBox="1"/>
          <p:nvPr/>
        </p:nvSpPr>
        <p:spPr>
          <a:xfrm>
            <a:off x="4528936" y="6386396"/>
            <a:ext cx="3134128" cy="276999"/>
          </a:xfrm>
          <a:prstGeom prst="rect">
            <a:avLst/>
          </a:prstGeom>
          <a:noFill/>
        </p:spPr>
        <p:txBody>
          <a:bodyPr wrap="none" rtlCol="0">
            <a:spAutoFit/>
          </a:bodyPr>
          <a:lstStyle/>
          <a:p>
            <a:pPr algn="ctr"/>
            <a:r>
              <a:rPr lang="es-ES" sz="1200" i="1" dirty="0"/>
              <a:t>Elaborado por: Ing. Liliana Ocampo Moreno</a:t>
            </a:r>
            <a:endParaRPr lang="es-PE" sz="1200" i="1" dirty="0"/>
          </a:p>
        </p:txBody>
      </p:sp>
      <p:pic>
        <p:nvPicPr>
          <p:cNvPr id="5" name="Imagen 4">
            <a:extLst>
              <a:ext uri="{FF2B5EF4-FFF2-40B4-BE49-F238E27FC236}">
                <a16:creationId xmlns:a16="http://schemas.microsoft.com/office/drawing/2014/main" id="{E1582DD2-2FA5-0E33-E482-A363050D5A3E}"/>
              </a:ext>
            </a:extLst>
          </p:cNvPr>
          <p:cNvPicPr>
            <a:picLocks noChangeAspect="1"/>
          </p:cNvPicPr>
          <p:nvPr/>
        </p:nvPicPr>
        <p:blipFill>
          <a:blip r:embed="rId4"/>
          <a:stretch>
            <a:fillRect/>
          </a:stretch>
        </p:blipFill>
        <p:spPr>
          <a:xfrm>
            <a:off x="497456" y="949772"/>
            <a:ext cx="11197087" cy="5029645"/>
          </a:xfrm>
          <a:prstGeom prst="rect">
            <a:avLst/>
          </a:prstGeom>
        </p:spPr>
      </p:pic>
      <p:sp>
        <p:nvSpPr>
          <p:cNvPr id="9" name="Rectángulo 8">
            <a:extLst>
              <a:ext uri="{FF2B5EF4-FFF2-40B4-BE49-F238E27FC236}">
                <a16:creationId xmlns:a16="http://schemas.microsoft.com/office/drawing/2014/main" id="{C601FCC6-87F6-AFE9-BD3C-241B9136BD92}"/>
              </a:ext>
            </a:extLst>
          </p:cNvPr>
          <p:cNvSpPr/>
          <p:nvPr/>
        </p:nvSpPr>
        <p:spPr>
          <a:xfrm>
            <a:off x="10903789" y="1199072"/>
            <a:ext cx="215660" cy="224286"/>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10" name="Rectángulo: esquinas redondeadas 9">
            <a:extLst>
              <a:ext uri="{FF2B5EF4-FFF2-40B4-BE49-F238E27FC236}">
                <a16:creationId xmlns:a16="http://schemas.microsoft.com/office/drawing/2014/main" id="{3F1590F8-E4A1-DDD9-6AB7-166E259BBE1A}"/>
              </a:ext>
            </a:extLst>
          </p:cNvPr>
          <p:cNvSpPr/>
          <p:nvPr/>
        </p:nvSpPr>
        <p:spPr>
          <a:xfrm>
            <a:off x="10554419" y="1207698"/>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t>1</a:t>
            </a:r>
            <a:endParaRPr lang="es-PE" sz="1100" b="1" dirty="0"/>
          </a:p>
        </p:txBody>
      </p:sp>
      <p:sp>
        <p:nvSpPr>
          <p:cNvPr id="14" name="CuadroTexto 13">
            <a:extLst>
              <a:ext uri="{FF2B5EF4-FFF2-40B4-BE49-F238E27FC236}">
                <a16:creationId xmlns:a16="http://schemas.microsoft.com/office/drawing/2014/main" id="{052EBA80-FE68-B4F9-0FBF-DE0868F94823}"/>
              </a:ext>
            </a:extLst>
          </p:cNvPr>
          <p:cNvSpPr txBox="1"/>
          <p:nvPr/>
        </p:nvSpPr>
        <p:spPr>
          <a:xfrm>
            <a:off x="8742872" y="1199072"/>
            <a:ext cx="1744692" cy="623381"/>
          </a:xfrm>
          <a:prstGeom prst="roundRect">
            <a:avLst>
              <a:gd name="adj" fmla="val 7573"/>
            </a:avLst>
          </a:prstGeom>
          <a:solidFill>
            <a:srgbClr val="7030A0"/>
          </a:solidFill>
        </p:spPr>
        <p:txBody>
          <a:bodyPr wrap="square">
            <a:spAutoFit/>
          </a:bodyPr>
          <a:lstStyle/>
          <a:p>
            <a:pPr algn="ctr" rtl="0">
              <a:spcBef>
                <a:spcPts val="0"/>
              </a:spcBef>
              <a:spcAft>
                <a:spcPts val="0"/>
              </a:spcAft>
            </a:pPr>
            <a:r>
              <a:rPr lang="es-ES" sz="1100" b="0" i="0" u="none" strike="noStrike" dirty="0">
                <a:solidFill>
                  <a:srgbClr val="FFFFFF"/>
                </a:solidFill>
                <a:effectLst/>
              </a:rPr>
              <a:t>Para ingresar un nuevo código, debe hacer clic en la opción </a:t>
            </a:r>
            <a:r>
              <a:rPr lang="es-ES" sz="1100" b="1" i="0" u="none" strike="noStrike" dirty="0">
                <a:solidFill>
                  <a:srgbClr val="92D050"/>
                </a:solidFill>
                <a:effectLst/>
              </a:rPr>
              <a:t>+</a:t>
            </a:r>
            <a:endParaRPr lang="es-ES" b="1" dirty="0">
              <a:solidFill>
                <a:srgbClr val="92D050"/>
              </a:solidFill>
              <a:effectLst/>
            </a:endParaRPr>
          </a:p>
        </p:txBody>
      </p:sp>
      <p:sp>
        <p:nvSpPr>
          <p:cNvPr id="15" name="Rectángulo 14">
            <a:extLst>
              <a:ext uri="{FF2B5EF4-FFF2-40B4-BE49-F238E27FC236}">
                <a16:creationId xmlns:a16="http://schemas.microsoft.com/office/drawing/2014/main" id="{9A320337-4969-B876-AD4D-8F5AABA78901}"/>
              </a:ext>
            </a:extLst>
          </p:cNvPr>
          <p:cNvSpPr/>
          <p:nvPr/>
        </p:nvSpPr>
        <p:spPr>
          <a:xfrm>
            <a:off x="497456" y="1544127"/>
            <a:ext cx="684363" cy="189781"/>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17" name="Rectángulo: esquinas redondeadas 16">
            <a:extLst>
              <a:ext uri="{FF2B5EF4-FFF2-40B4-BE49-F238E27FC236}">
                <a16:creationId xmlns:a16="http://schemas.microsoft.com/office/drawing/2014/main" id="{30E3FDBE-DF88-4544-BF9A-D79A4FF6943A}"/>
              </a:ext>
            </a:extLst>
          </p:cNvPr>
          <p:cNvSpPr/>
          <p:nvPr/>
        </p:nvSpPr>
        <p:spPr>
          <a:xfrm>
            <a:off x="848265" y="1817230"/>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t>2</a:t>
            </a:r>
            <a:endParaRPr lang="es-PE" sz="1100" b="1" dirty="0"/>
          </a:p>
        </p:txBody>
      </p:sp>
      <p:sp>
        <p:nvSpPr>
          <p:cNvPr id="18" name="CuadroTexto 17">
            <a:extLst>
              <a:ext uri="{FF2B5EF4-FFF2-40B4-BE49-F238E27FC236}">
                <a16:creationId xmlns:a16="http://schemas.microsoft.com/office/drawing/2014/main" id="{9B2AF034-068C-C063-3E90-CE6AE525C167}"/>
              </a:ext>
            </a:extLst>
          </p:cNvPr>
          <p:cNvSpPr txBox="1"/>
          <p:nvPr/>
        </p:nvSpPr>
        <p:spPr>
          <a:xfrm>
            <a:off x="191579" y="2124838"/>
            <a:ext cx="1744692" cy="799207"/>
          </a:xfrm>
          <a:prstGeom prst="roundRect">
            <a:avLst>
              <a:gd name="adj" fmla="val 7573"/>
            </a:avLst>
          </a:prstGeom>
          <a:solidFill>
            <a:srgbClr val="7030A0"/>
          </a:solidFill>
        </p:spPr>
        <p:txBody>
          <a:bodyPr wrap="square">
            <a:spAutoFit/>
          </a:bodyPr>
          <a:lstStyle/>
          <a:p>
            <a:pPr algn="ctr"/>
            <a:r>
              <a:rPr lang="es-ES" sz="1100" dirty="0">
                <a:solidFill>
                  <a:srgbClr val="FFFFFF"/>
                </a:solidFill>
              </a:rPr>
              <a:t>Se debe crear un </a:t>
            </a:r>
            <a:r>
              <a:rPr lang="es-ES" sz="1100" b="1" dirty="0">
                <a:solidFill>
                  <a:srgbClr val="92D050"/>
                </a:solidFill>
              </a:rPr>
              <a:t>Código</a:t>
            </a:r>
            <a:r>
              <a:rPr lang="es-ES" sz="1100" dirty="0">
                <a:solidFill>
                  <a:srgbClr val="FFFFFF"/>
                </a:solidFill>
              </a:rPr>
              <a:t> de la parte de período. Máximo:  3 caracteres. (Requerido)</a:t>
            </a:r>
            <a:endParaRPr lang="es-ES" b="0" dirty="0">
              <a:effectLst/>
            </a:endParaRPr>
          </a:p>
        </p:txBody>
      </p:sp>
      <p:sp>
        <p:nvSpPr>
          <p:cNvPr id="19" name="Rectángulo 18">
            <a:extLst>
              <a:ext uri="{FF2B5EF4-FFF2-40B4-BE49-F238E27FC236}">
                <a16:creationId xmlns:a16="http://schemas.microsoft.com/office/drawing/2014/main" id="{09BCAA55-E5E2-5288-EDDA-32D82E985509}"/>
              </a:ext>
            </a:extLst>
          </p:cNvPr>
          <p:cNvSpPr/>
          <p:nvPr/>
        </p:nvSpPr>
        <p:spPr>
          <a:xfrm>
            <a:off x="1289649" y="1528890"/>
            <a:ext cx="6085936" cy="205018"/>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20" name="Rectángulo: esquinas redondeadas 19">
            <a:extLst>
              <a:ext uri="{FF2B5EF4-FFF2-40B4-BE49-F238E27FC236}">
                <a16:creationId xmlns:a16="http://schemas.microsoft.com/office/drawing/2014/main" id="{36F1473F-1E0F-2687-5DEA-7EB143958678}"/>
              </a:ext>
            </a:extLst>
          </p:cNvPr>
          <p:cNvSpPr/>
          <p:nvPr/>
        </p:nvSpPr>
        <p:spPr>
          <a:xfrm>
            <a:off x="4421106" y="1822324"/>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t>3</a:t>
            </a:r>
            <a:endParaRPr lang="es-PE" sz="1100" b="1" dirty="0"/>
          </a:p>
        </p:txBody>
      </p:sp>
      <p:sp>
        <p:nvSpPr>
          <p:cNvPr id="21" name="CuadroTexto 20">
            <a:extLst>
              <a:ext uri="{FF2B5EF4-FFF2-40B4-BE49-F238E27FC236}">
                <a16:creationId xmlns:a16="http://schemas.microsoft.com/office/drawing/2014/main" id="{55B6CC51-1B7E-6D64-BAE3-23051FB50969}"/>
              </a:ext>
            </a:extLst>
          </p:cNvPr>
          <p:cNvSpPr txBox="1"/>
          <p:nvPr/>
        </p:nvSpPr>
        <p:spPr>
          <a:xfrm>
            <a:off x="2872596" y="2124838"/>
            <a:ext cx="3390182" cy="799207"/>
          </a:xfrm>
          <a:prstGeom prst="roundRect">
            <a:avLst>
              <a:gd name="adj" fmla="val 7573"/>
            </a:avLst>
          </a:prstGeom>
          <a:solidFill>
            <a:srgbClr val="7030A0"/>
          </a:solidFill>
        </p:spPr>
        <p:txBody>
          <a:bodyPr wrap="square">
            <a:spAutoFit/>
          </a:bodyPr>
          <a:lstStyle/>
          <a:p>
            <a:pPr algn="ctr"/>
            <a:r>
              <a:rPr lang="es-ES" sz="1100" dirty="0">
                <a:solidFill>
                  <a:srgbClr val="FFFFFF"/>
                </a:solidFill>
              </a:rPr>
              <a:t>Se debe incorporar la </a:t>
            </a:r>
            <a:r>
              <a:rPr lang="es-ES" sz="1100" b="1" dirty="0">
                <a:solidFill>
                  <a:srgbClr val="92D050"/>
                </a:solidFill>
              </a:rPr>
              <a:t>Descripción</a:t>
            </a:r>
            <a:r>
              <a:rPr lang="es-ES" sz="1100" dirty="0">
                <a:solidFill>
                  <a:srgbClr val="FFFFFF"/>
                </a:solidFill>
              </a:rPr>
              <a:t> del código correspondiente.</a:t>
            </a:r>
          </a:p>
          <a:p>
            <a:pPr algn="ctr"/>
            <a:r>
              <a:rPr lang="es-ES" sz="1100" dirty="0">
                <a:solidFill>
                  <a:srgbClr val="FFFFFF"/>
                </a:solidFill>
              </a:rPr>
              <a:t>Máximo: 30 caracteres.</a:t>
            </a:r>
          </a:p>
          <a:p>
            <a:pPr algn="ctr"/>
            <a:r>
              <a:rPr lang="es-ES" sz="1100" dirty="0">
                <a:solidFill>
                  <a:srgbClr val="FFFFFF"/>
                </a:solidFill>
              </a:rPr>
              <a:t>(Requerido)</a:t>
            </a:r>
          </a:p>
        </p:txBody>
      </p:sp>
      <p:sp>
        <p:nvSpPr>
          <p:cNvPr id="22" name="Rectángulo 21">
            <a:extLst>
              <a:ext uri="{FF2B5EF4-FFF2-40B4-BE49-F238E27FC236}">
                <a16:creationId xmlns:a16="http://schemas.microsoft.com/office/drawing/2014/main" id="{418B0BF3-0142-EF32-E7F9-BEB176E2380C}"/>
              </a:ext>
            </a:extLst>
          </p:cNvPr>
          <p:cNvSpPr/>
          <p:nvPr/>
        </p:nvSpPr>
        <p:spPr>
          <a:xfrm>
            <a:off x="11110823" y="5614167"/>
            <a:ext cx="684363" cy="347998"/>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23" name="Rectángulo: esquinas redondeadas 22">
            <a:extLst>
              <a:ext uri="{FF2B5EF4-FFF2-40B4-BE49-F238E27FC236}">
                <a16:creationId xmlns:a16="http://schemas.microsoft.com/office/drawing/2014/main" id="{3045432A-8014-A3A8-9E20-C09F715F5236}"/>
              </a:ext>
            </a:extLst>
          </p:cNvPr>
          <p:cNvSpPr/>
          <p:nvPr/>
        </p:nvSpPr>
        <p:spPr>
          <a:xfrm>
            <a:off x="10794520" y="5676023"/>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t>4</a:t>
            </a:r>
            <a:endParaRPr lang="es-PE" sz="1100" b="1" dirty="0"/>
          </a:p>
        </p:txBody>
      </p:sp>
      <p:sp>
        <p:nvSpPr>
          <p:cNvPr id="24" name="CuadroTexto 23">
            <a:extLst>
              <a:ext uri="{FF2B5EF4-FFF2-40B4-BE49-F238E27FC236}">
                <a16:creationId xmlns:a16="http://schemas.microsoft.com/office/drawing/2014/main" id="{66F00218-333E-A081-9F03-9E008D427CE8}"/>
              </a:ext>
            </a:extLst>
          </p:cNvPr>
          <p:cNvSpPr txBox="1"/>
          <p:nvPr/>
        </p:nvSpPr>
        <p:spPr>
          <a:xfrm>
            <a:off x="9432985" y="4835384"/>
            <a:ext cx="2242868" cy="623381"/>
          </a:xfrm>
          <a:prstGeom prst="roundRect">
            <a:avLst>
              <a:gd name="adj" fmla="val 7573"/>
            </a:avLst>
          </a:prstGeom>
          <a:solidFill>
            <a:srgbClr val="7030A0"/>
          </a:solidFill>
        </p:spPr>
        <p:txBody>
          <a:bodyPr wrap="square">
            <a:spAutoFit/>
          </a:bodyPr>
          <a:lstStyle/>
          <a:p>
            <a:pPr algn="ctr"/>
            <a:r>
              <a:rPr lang="es-ES" sz="1100" dirty="0">
                <a:solidFill>
                  <a:srgbClr val="FFFFFF"/>
                </a:solidFill>
              </a:rPr>
              <a:t>Se debe presionar </a:t>
            </a:r>
            <a:r>
              <a:rPr lang="es-ES" sz="1100" b="1" dirty="0">
                <a:solidFill>
                  <a:srgbClr val="92D050"/>
                </a:solidFill>
              </a:rPr>
              <a:t>Guardar</a:t>
            </a:r>
            <a:r>
              <a:rPr lang="es-ES" sz="1100" dirty="0">
                <a:solidFill>
                  <a:srgbClr val="FFFFFF"/>
                </a:solidFill>
              </a:rPr>
              <a:t> para que la información quede registrada en el sistema</a:t>
            </a:r>
          </a:p>
        </p:txBody>
      </p:sp>
      <p:sp>
        <p:nvSpPr>
          <p:cNvPr id="25" name="CuadroTexto 24">
            <a:extLst>
              <a:ext uri="{FF2B5EF4-FFF2-40B4-BE49-F238E27FC236}">
                <a16:creationId xmlns:a16="http://schemas.microsoft.com/office/drawing/2014/main" id="{543AAF0B-5DBA-7F6E-F9DE-3F400E3E6EEB}"/>
              </a:ext>
            </a:extLst>
          </p:cNvPr>
          <p:cNvSpPr txBox="1"/>
          <p:nvPr/>
        </p:nvSpPr>
        <p:spPr>
          <a:xfrm>
            <a:off x="2475849" y="4659558"/>
            <a:ext cx="2242868" cy="799207"/>
          </a:xfrm>
          <a:prstGeom prst="roundRect">
            <a:avLst>
              <a:gd name="adj" fmla="val 7573"/>
            </a:avLst>
          </a:prstGeom>
          <a:solidFill>
            <a:srgbClr val="7030A0"/>
          </a:solidFill>
        </p:spPr>
        <p:txBody>
          <a:bodyPr wrap="square">
            <a:spAutoFit/>
          </a:bodyPr>
          <a:lstStyle/>
          <a:p>
            <a:pPr algn="ctr"/>
            <a:r>
              <a:rPr lang="es-ES" sz="1100" dirty="0">
                <a:solidFill>
                  <a:srgbClr val="FFFFFF"/>
                </a:solidFill>
              </a:rPr>
              <a:t>Debe existir la parte de </a:t>
            </a:r>
            <a:r>
              <a:rPr lang="es-ES" sz="1100" b="1" dirty="0">
                <a:solidFill>
                  <a:srgbClr val="92D050"/>
                </a:solidFill>
              </a:rPr>
              <a:t>periodo 1</a:t>
            </a:r>
            <a:r>
              <a:rPr lang="es-ES" sz="1100" dirty="0">
                <a:solidFill>
                  <a:srgbClr val="FFFFFF"/>
                </a:solidFill>
              </a:rPr>
              <a:t>, se puede dar la descripción que requiera, por ejemplo: </a:t>
            </a:r>
            <a:r>
              <a:rPr lang="es-ES" sz="1100" b="1" dirty="0">
                <a:solidFill>
                  <a:srgbClr val="FFFFFF"/>
                </a:solidFill>
              </a:rPr>
              <a:t>Periodo Completo</a:t>
            </a:r>
          </a:p>
        </p:txBody>
      </p:sp>
    </p:spTree>
    <p:extLst>
      <p:ext uri="{BB962C8B-B14F-4D97-AF65-F5344CB8AC3E}">
        <p14:creationId xmlns:p14="http://schemas.microsoft.com/office/powerpoint/2010/main" val="11048166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left)">
                                      <p:cBhvr>
                                        <p:cTn id="10" dur="500"/>
                                        <p:tgtEl>
                                          <p:spTgt spid="8"/>
                                        </p:tgtEl>
                                      </p:cBhvr>
                                    </p:animEffect>
                                  </p:childTnLst>
                                </p:cTn>
                              </p:par>
                            </p:childTnLst>
                          </p:cTn>
                        </p:par>
                        <p:par>
                          <p:cTn id="11" fill="hold">
                            <p:stCondLst>
                              <p:cond delay="500"/>
                            </p:stCondLst>
                            <p:childTnLst>
                              <p:par>
                                <p:cTn id="12" presetID="9" presetClass="entr" presetSubtype="0" fill="hold"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dissolve">
                                      <p:cBhvr>
                                        <p:cTn id="14" dur="500"/>
                                        <p:tgtEl>
                                          <p:spTgt spid="5"/>
                                        </p:tgtEl>
                                      </p:cBhvr>
                                    </p:animEffect>
                                  </p:childTnLst>
                                </p:cTn>
                              </p:par>
                            </p:childTnLst>
                          </p:cTn>
                        </p:par>
                        <p:par>
                          <p:cTn id="15" fill="hold">
                            <p:stCondLst>
                              <p:cond delay="1000"/>
                            </p:stCondLst>
                            <p:childTnLst>
                              <p:par>
                                <p:cTn id="16" presetID="21" presetClass="entr" presetSubtype="1" fill="hold" grpId="0" nodeType="after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wheel(1)">
                                      <p:cBhvr>
                                        <p:cTn id="18" dur="2000"/>
                                        <p:tgtEl>
                                          <p:spTgt spid="9"/>
                                        </p:tgtEl>
                                      </p:cBhvr>
                                    </p:animEffect>
                                  </p:childTnLst>
                                </p:cTn>
                              </p:par>
                            </p:childTnLst>
                          </p:cTn>
                        </p:par>
                        <p:par>
                          <p:cTn id="19" fill="hold">
                            <p:stCondLst>
                              <p:cond delay="3000"/>
                            </p:stCondLst>
                            <p:childTnLst>
                              <p:par>
                                <p:cTn id="20" presetID="53" presetClass="entr" presetSubtype="16" fill="hold" grpId="0" nodeType="afterEffect">
                                  <p:stCondLst>
                                    <p:cond delay="0"/>
                                  </p:stCondLst>
                                  <p:childTnLst>
                                    <p:set>
                                      <p:cBhvr>
                                        <p:cTn id="21" dur="1" fill="hold">
                                          <p:stCondLst>
                                            <p:cond delay="0"/>
                                          </p:stCondLst>
                                        </p:cTn>
                                        <p:tgtEl>
                                          <p:spTgt spid="10"/>
                                        </p:tgtEl>
                                        <p:attrNameLst>
                                          <p:attrName>style.visibility</p:attrName>
                                        </p:attrNameLst>
                                      </p:cBhvr>
                                      <p:to>
                                        <p:strVal val="visible"/>
                                      </p:to>
                                    </p:set>
                                    <p:anim calcmode="lin" valueType="num">
                                      <p:cBhvr>
                                        <p:cTn id="22" dur="500" fill="hold"/>
                                        <p:tgtEl>
                                          <p:spTgt spid="10"/>
                                        </p:tgtEl>
                                        <p:attrNameLst>
                                          <p:attrName>ppt_w</p:attrName>
                                        </p:attrNameLst>
                                      </p:cBhvr>
                                      <p:tavLst>
                                        <p:tav tm="0">
                                          <p:val>
                                            <p:fltVal val="0"/>
                                          </p:val>
                                        </p:tav>
                                        <p:tav tm="100000">
                                          <p:val>
                                            <p:strVal val="#ppt_w"/>
                                          </p:val>
                                        </p:tav>
                                      </p:tavLst>
                                    </p:anim>
                                    <p:anim calcmode="lin" valueType="num">
                                      <p:cBhvr>
                                        <p:cTn id="23" dur="500" fill="hold"/>
                                        <p:tgtEl>
                                          <p:spTgt spid="10"/>
                                        </p:tgtEl>
                                        <p:attrNameLst>
                                          <p:attrName>ppt_h</p:attrName>
                                        </p:attrNameLst>
                                      </p:cBhvr>
                                      <p:tavLst>
                                        <p:tav tm="0">
                                          <p:val>
                                            <p:fltVal val="0"/>
                                          </p:val>
                                        </p:tav>
                                        <p:tav tm="100000">
                                          <p:val>
                                            <p:strVal val="#ppt_h"/>
                                          </p:val>
                                        </p:tav>
                                      </p:tavLst>
                                    </p:anim>
                                    <p:animEffect transition="in" filter="fade">
                                      <p:cBhvr>
                                        <p:cTn id="24" dur="500"/>
                                        <p:tgtEl>
                                          <p:spTgt spid="10"/>
                                        </p:tgtEl>
                                      </p:cBhvr>
                                    </p:animEffect>
                                  </p:childTnLst>
                                </p:cTn>
                              </p:par>
                            </p:childTnLst>
                          </p:cTn>
                        </p:par>
                        <p:par>
                          <p:cTn id="25" fill="hold">
                            <p:stCondLst>
                              <p:cond delay="3500"/>
                            </p:stCondLst>
                            <p:childTnLst>
                              <p:par>
                                <p:cTn id="26" presetID="10" presetClass="entr" presetSubtype="0" fill="hold" grpId="0" nodeType="after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500"/>
                                        <p:tgtEl>
                                          <p:spTgt spid="14"/>
                                        </p:tgtEl>
                                      </p:cBhvr>
                                    </p:animEffect>
                                  </p:childTnLst>
                                </p:cTn>
                              </p:par>
                            </p:childTnLst>
                          </p:cTn>
                        </p:par>
                        <p:par>
                          <p:cTn id="29" fill="hold">
                            <p:stCondLst>
                              <p:cond delay="4000"/>
                            </p:stCondLst>
                            <p:childTnLst>
                              <p:par>
                                <p:cTn id="30" presetID="21" presetClass="entr" presetSubtype="1" fill="hold" grpId="0" nodeType="after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wheel(1)">
                                      <p:cBhvr>
                                        <p:cTn id="32" dur="2000"/>
                                        <p:tgtEl>
                                          <p:spTgt spid="15"/>
                                        </p:tgtEl>
                                      </p:cBhvr>
                                    </p:animEffect>
                                  </p:childTnLst>
                                </p:cTn>
                              </p:par>
                            </p:childTnLst>
                          </p:cTn>
                        </p:par>
                        <p:par>
                          <p:cTn id="33" fill="hold">
                            <p:stCondLst>
                              <p:cond delay="6000"/>
                            </p:stCondLst>
                            <p:childTnLst>
                              <p:par>
                                <p:cTn id="34" presetID="53" presetClass="entr" presetSubtype="16" fill="hold" grpId="0" nodeType="afterEffect">
                                  <p:stCondLst>
                                    <p:cond delay="0"/>
                                  </p:stCondLst>
                                  <p:childTnLst>
                                    <p:set>
                                      <p:cBhvr>
                                        <p:cTn id="35" dur="1" fill="hold">
                                          <p:stCondLst>
                                            <p:cond delay="0"/>
                                          </p:stCondLst>
                                        </p:cTn>
                                        <p:tgtEl>
                                          <p:spTgt spid="17"/>
                                        </p:tgtEl>
                                        <p:attrNameLst>
                                          <p:attrName>style.visibility</p:attrName>
                                        </p:attrNameLst>
                                      </p:cBhvr>
                                      <p:to>
                                        <p:strVal val="visible"/>
                                      </p:to>
                                    </p:set>
                                    <p:anim calcmode="lin" valueType="num">
                                      <p:cBhvr>
                                        <p:cTn id="36" dur="500" fill="hold"/>
                                        <p:tgtEl>
                                          <p:spTgt spid="17"/>
                                        </p:tgtEl>
                                        <p:attrNameLst>
                                          <p:attrName>ppt_w</p:attrName>
                                        </p:attrNameLst>
                                      </p:cBhvr>
                                      <p:tavLst>
                                        <p:tav tm="0">
                                          <p:val>
                                            <p:fltVal val="0"/>
                                          </p:val>
                                        </p:tav>
                                        <p:tav tm="100000">
                                          <p:val>
                                            <p:strVal val="#ppt_w"/>
                                          </p:val>
                                        </p:tav>
                                      </p:tavLst>
                                    </p:anim>
                                    <p:anim calcmode="lin" valueType="num">
                                      <p:cBhvr>
                                        <p:cTn id="37" dur="500" fill="hold"/>
                                        <p:tgtEl>
                                          <p:spTgt spid="17"/>
                                        </p:tgtEl>
                                        <p:attrNameLst>
                                          <p:attrName>ppt_h</p:attrName>
                                        </p:attrNameLst>
                                      </p:cBhvr>
                                      <p:tavLst>
                                        <p:tav tm="0">
                                          <p:val>
                                            <p:fltVal val="0"/>
                                          </p:val>
                                        </p:tav>
                                        <p:tav tm="100000">
                                          <p:val>
                                            <p:strVal val="#ppt_h"/>
                                          </p:val>
                                        </p:tav>
                                      </p:tavLst>
                                    </p:anim>
                                    <p:animEffect transition="in" filter="fade">
                                      <p:cBhvr>
                                        <p:cTn id="38" dur="500"/>
                                        <p:tgtEl>
                                          <p:spTgt spid="17"/>
                                        </p:tgtEl>
                                      </p:cBhvr>
                                    </p:animEffect>
                                  </p:childTnLst>
                                </p:cTn>
                              </p:par>
                            </p:childTnLst>
                          </p:cTn>
                        </p:par>
                        <p:par>
                          <p:cTn id="39" fill="hold">
                            <p:stCondLst>
                              <p:cond delay="6500"/>
                            </p:stCondLst>
                            <p:childTnLst>
                              <p:par>
                                <p:cTn id="40" presetID="10" presetClass="entr" presetSubtype="0" fill="hold" grpId="0" nodeType="after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fade">
                                      <p:cBhvr>
                                        <p:cTn id="42" dur="500"/>
                                        <p:tgtEl>
                                          <p:spTgt spid="18"/>
                                        </p:tgtEl>
                                      </p:cBhvr>
                                    </p:animEffect>
                                  </p:childTnLst>
                                </p:cTn>
                              </p:par>
                            </p:childTnLst>
                          </p:cTn>
                        </p:par>
                        <p:par>
                          <p:cTn id="43" fill="hold">
                            <p:stCondLst>
                              <p:cond delay="7000"/>
                            </p:stCondLst>
                            <p:childTnLst>
                              <p:par>
                                <p:cTn id="44" presetID="21" presetClass="entr" presetSubtype="1" fill="hold" grpId="0" nodeType="after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wheel(1)">
                                      <p:cBhvr>
                                        <p:cTn id="46" dur="2000"/>
                                        <p:tgtEl>
                                          <p:spTgt spid="19"/>
                                        </p:tgtEl>
                                      </p:cBhvr>
                                    </p:animEffect>
                                  </p:childTnLst>
                                </p:cTn>
                              </p:par>
                            </p:childTnLst>
                          </p:cTn>
                        </p:par>
                        <p:par>
                          <p:cTn id="47" fill="hold">
                            <p:stCondLst>
                              <p:cond delay="9000"/>
                            </p:stCondLst>
                            <p:childTnLst>
                              <p:par>
                                <p:cTn id="48" presetID="53" presetClass="entr" presetSubtype="16" fill="hold" grpId="0" nodeType="afterEffect">
                                  <p:stCondLst>
                                    <p:cond delay="0"/>
                                  </p:stCondLst>
                                  <p:childTnLst>
                                    <p:set>
                                      <p:cBhvr>
                                        <p:cTn id="49" dur="1" fill="hold">
                                          <p:stCondLst>
                                            <p:cond delay="0"/>
                                          </p:stCondLst>
                                        </p:cTn>
                                        <p:tgtEl>
                                          <p:spTgt spid="20"/>
                                        </p:tgtEl>
                                        <p:attrNameLst>
                                          <p:attrName>style.visibility</p:attrName>
                                        </p:attrNameLst>
                                      </p:cBhvr>
                                      <p:to>
                                        <p:strVal val="visible"/>
                                      </p:to>
                                    </p:set>
                                    <p:anim calcmode="lin" valueType="num">
                                      <p:cBhvr>
                                        <p:cTn id="50" dur="500" fill="hold"/>
                                        <p:tgtEl>
                                          <p:spTgt spid="20"/>
                                        </p:tgtEl>
                                        <p:attrNameLst>
                                          <p:attrName>ppt_w</p:attrName>
                                        </p:attrNameLst>
                                      </p:cBhvr>
                                      <p:tavLst>
                                        <p:tav tm="0">
                                          <p:val>
                                            <p:fltVal val="0"/>
                                          </p:val>
                                        </p:tav>
                                        <p:tav tm="100000">
                                          <p:val>
                                            <p:strVal val="#ppt_w"/>
                                          </p:val>
                                        </p:tav>
                                      </p:tavLst>
                                    </p:anim>
                                    <p:anim calcmode="lin" valueType="num">
                                      <p:cBhvr>
                                        <p:cTn id="51" dur="500" fill="hold"/>
                                        <p:tgtEl>
                                          <p:spTgt spid="20"/>
                                        </p:tgtEl>
                                        <p:attrNameLst>
                                          <p:attrName>ppt_h</p:attrName>
                                        </p:attrNameLst>
                                      </p:cBhvr>
                                      <p:tavLst>
                                        <p:tav tm="0">
                                          <p:val>
                                            <p:fltVal val="0"/>
                                          </p:val>
                                        </p:tav>
                                        <p:tav tm="100000">
                                          <p:val>
                                            <p:strVal val="#ppt_h"/>
                                          </p:val>
                                        </p:tav>
                                      </p:tavLst>
                                    </p:anim>
                                    <p:animEffect transition="in" filter="fade">
                                      <p:cBhvr>
                                        <p:cTn id="52" dur="500"/>
                                        <p:tgtEl>
                                          <p:spTgt spid="20"/>
                                        </p:tgtEl>
                                      </p:cBhvr>
                                    </p:animEffect>
                                  </p:childTnLst>
                                </p:cTn>
                              </p:par>
                            </p:childTnLst>
                          </p:cTn>
                        </p:par>
                        <p:par>
                          <p:cTn id="53" fill="hold">
                            <p:stCondLst>
                              <p:cond delay="9500"/>
                            </p:stCondLst>
                            <p:childTnLst>
                              <p:par>
                                <p:cTn id="54" presetID="10" presetClass="entr" presetSubtype="0" fill="hold" grpId="0" nodeType="afterEffect">
                                  <p:stCondLst>
                                    <p:cond delay="0"/>
                                  </p:stCondLst>
                                  <p:childTnLst>
                                    <p:set>
                                      <p:cBhvr>
                                        <p:cTn id="55" dur="1" fill="hold">
                                          <p:stCondLst>
                                            <p:cond delay="0"/>
                                          </p:stCondLst>
                                        </p:cTn>
                                        <p:tgtEl>
                                          <p:spTgt spid="21"/>
                                        </p:tgtEl>
                                        <p:attrNameLst>
                                          <p:attrName>style.visibility</p:attrName>
                                        </p:attrNameLst>
                                      </p:cBhvr>
                                      <p:to>
                                        <p:strVal val="visible"/>
                                      </p:to>
                                    </p:set>
                                    <p:animEffect transition="in" filter="fade">
                                      <p:cBhvr>
                                        <p:cTn id="56" dur="500"/>
                                        <p:tgtEl>
                                          <p:spTgt spid="21"/>
                                        </p:tgtEl>
                                      </p:cBhvr>
                                    </p:animEffect>
                                  </p:childTnLst>
                                </p:cTn>
                              </p:par>
                            </p:childTnLst>
                          </p:cTn>
                        </p:par>
                        <p:par>
                          <p:cTn id="57" fill="hold">
                            <p:stCondLst>
                              <p:cond delay="10000"/>
                            </p:stCondLst>
                            <p:childTnLst>
                              <p:par>
                                <p:cTn id="58" presetID="21" presetClass="entr" presetSubtype="1" fill="hold" grpId="0" nodeType="afterEffect">
                                  <p:stCondLst>
                                    <p:cond delay="0"/>
                                  </p:stCondLst>
                                  <p:childTnLst>
                                    <p:set>
                                      <p:cBhvr>
                                        <p:cTn id="59" dur="1" fill="hold">
                                          <p:stCondLst>
                                            <p:cond delay="0"/>
                                          </p:stCondLst>
                                        </p:cTn>
                                        <p:tgtEl>
                                          <p:spTgt spid="22"/>
                                        </p:tgtEl>
                                        <p:attrNameLst>
                                          <p:attrName>style.visibility</p:attrName>
                                        </p:attrNameLst>
                                      </p:cBhvr>
                                      <p:to>
                                        <p:strVal val="visible"/>
                                      </p:to>
                                    </p:set>
                                    <p:animEffect transition="in" filter="wheel(1)">
                                      <p:cBhvr>
                                        <p:cTn id="60" dur="2000"/>
                                        <p:tgtEl>
                                          <p:spTgt spid="22"/>
                                        </p:tgtEl>
                                      </p:cBhvr>
                                    </p:animEffect>
                                  </p:childTnLst>
                                </p:cTn>
                              </p:par>
                            </p:childTnLst>
                          </p:cTn>
                        </p:par>
                        <p:par>
                          <p:cTn id="61" fill="hold">
                            <p:stCondLst>
                              <p:cond delay="12000"/>
                            </p:stCondLst>
                            <p:childTnLst>
                              <p:par>
                                <p:cTn id="62" presetID="53" presetClass="entr" presetSubtype="16" fill="hold" grpId="0" nodeType="afterEffect">
                                  <p:stCondLst>
                                    <p:cond delay="0"/>
                                  </p:stCondLst>
                                  <p:childTnLst>
                                    <p:set>
                                      <p:cBhvr>
                                        <p:cTn id="63" dur="1" fill="hold">
                                          <p:stCondLst>
                                            <p:cond delay="0"/>
                                          </p:stCondLst>
                                        </p:cTn>
                                        <p:tgtEl>
                                          <p:spTgt spid="23"/>
                                        </p:tgtEl>
                                        <p:attrNameLst>
                                          <p:attrName>style.visibility</p:attrName>
                                        </p:attrNameLst>
                                      </p:cBhvr>
                                      <p:to>
                                        <p:strVal val="visible"/>
                                      </p:to>
                                    </p:set>
                                    <p:anim calcmode="lin" valueType="num">
                                      <p:cBhvr>
                                        <p:cTn id="64" dur="500" fill="hold"/>
                                        <p:tgtEl>
                                          <p:spTgt spid="23"/>
                                        </p:tgtEl>
                                        <p:attrNameLst>
                                          <p:attrName>ppt_w</p:attrName>
                                        </p:attrNameLst>
                                      </p:cBhvr>
                                      <p:tavLst>
                                        <p:tav tm="0">
                                          <p:val>
                                            <p:fltVal val="0"/>
                                          </p:val>
                                        </p:tav>
                                        <p:tav tm="100000">
                                          <p:val>
                                            <p:strVal val="#ppt_w"/>
                                          </p:val>
                                        </p:tav>
                                      </p:tavLst>
                                    </p:anim>
                                    <p:anim calcmode="lin" valueType="num">
                                      <p:cBhvr>
                                        <p:cTn id="65" dur="500" fill="hold"/>
                                        <p:tgtEl>
                                          <p:spTgt spid="23"/>
                                        </p:tgtEl>
                                        <p:attrNameLst>
                                          <p:attrName>ppt_h</p:attrName>
                                        </p:attrNameLst>
                                      </p:cBhvr>
                                      <p:tavLst>
                                        <p:tav tm="0">
                                          <p:val>
                                            <p:fltVal val="0"/>
                                          </p:val>
                                        </p:tav>
                                        <p:tav tm="100000">
                                          <p:val>
                                            <p:strVal val="#ppt_h"/>
                                          </p:val>
                                        </p:tav>
                                      </p:tavLst>
                                    </p:anim>
                                    <p:animEffect transition="in" filter="fade">
                                      <p:cBhvr>
                                        <p:cTn id="66" dur="500"/>
                                        <p:tgtEl>
                                          <p:spTgt spid="23"/>
                                        </p:tgtEl>
                                      </p:cBhvr>
                                    </p:animEffect>
                                  </p:childTnLst>
                                </p:cTn>
                              </p:par>
                            </p:childTnLst>
                          </p:cTn>
                        </p:par>
                        <p:par>
                          <p:cTn id="67" fill="hold">
                            <p:stCondLst>
                              <p:cond delay="12500"/>
                            </p:stCondLst>
                            <p:childTnLst>
                              <p:par>
                                <p:cTn id="68" presetID="10" presetClass="entr" presetSubtype="0" fill="hold" grpId="0" nodeType="after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500"/>
                                        <p:tgtEl>
                                          <p:spTgt spid="24"/>
                                        </p:tgtEl>
                                      </p:cBhvr>
                                    </p:animEffect>
                                  </p:childTnLst>
                                </p:cTn>
                              </p:par>
                            </p:childTnLst>
                          </p:cTn>
                        </p:par>
                        <p:par>
                          <p:cTn id="71" fill="hold">
                            <p:stCondLst>
                              <p:cond delay="13000"/>
                            </p:stCondLst>
                            <p:childTnLst>
                              <p:par>
                                <p:cTn id="72" presetID="10" presetClass="entr" presetSubtype="0" fill="hold" grpId="0" nodeType="afterEffect">
                                  <p:stCondLst>
                                    <p:cond delay="0"/>
                                  </p:stCondLst>
                                  <p:childTnLst>
                                    <p:set>
                                      <p:cBhvr>
                                        <p:cTn id="73" dur="1" fill="hold">
                                          <p:stCondLst>
                                            <p:cond delay="0"/>
                                          </p:stCondLst>
                                        </p:cTn>
                                        <p:tgtEl>
                                          <p:spTgt spid="25"/>
                                        </p:tgtEl>
                                        <p:attrNameLst>
                                          <p:attrName>style.visibility</p:attrName>
                                        </p:attrNameLst>
                                      </p:cBhvr>
                                      <p:to>
                                        <p:strVal val="visible"/>
                                      </p:to>
                                    </p:set>
                                    <p:animEffect transition="in" filter="fade">
                                      <p:cBhvr>
                                        <p:cTn id="74"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9" grpId="0" animBg="1"/>
      <p:bldP spid="10" grpId="0" animBg="1"/>
      <p:bldP spid="14" grpId="0" animBg="1"/>
      <p:bldP spid="15" grpId="0" animBg="1"/>
      <p:bldP spid="17" grpId="0" animBg="1"/>
      <p:bldP spid="18" grpId="0" animBg="1"/>
      <p:bldP spid="19" grpId="0" animBg="1"/>
      <p:bldP spid="20" grpId="0" animBg="1"/>
      <p:bldP spid="21" grpId="0" animBg="1"/>
      <p:bldP spid="22" grpId="0" animBg="1"/>
      <p:bldP spid="23" grpId="0" animBg="1"/>
      <p:bldP spid="24" grpId="0" animBg="1"/>
      <p:bldP spid="25"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7CAB2B86-4E3B-C98C-411E-958BEFE187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2528" y="6154887"/>
            <a:ext cx="2234242" cy="525923"/>
          </a:xfrm>
          <a:prstGeom prst="rect">
            <a:avLst/>
          </a:prstGeom>
        </p:spPr>
      </p:pic>
      <p:pic>
        <p:nvPicPr>
          <p:cNvPr id="4" name="Picture 4" descr="Ellucian Student Reseñas 2026: Detalles, Precios y Características | G2">
            <a:extLst>
              <a:ext uri="{FF2B5EF4-FFF2-40B4-BE49-F238E27FC236}">
                <a16:creationId xmlns:a16="http://schemas.microsoft.com/office/drawing/2014/main" id="{7352B780-8C7C-7B91-F3EE-5E6EF2C2E4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98101" y="5901780"/>
            <a:ext cx="1821371" cy="956220"/>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0AEBA78F-8C98-5D4D-384F-95B753FFADE4}"/>
              </a:ext>
            </a:extLst>
          </p:cNvPr>
          <p:cNvSpPr txBox="1"/>
          <p:nvPr/>
        </p:nvSpPr>
        <p:spPr>
          <a:xfrm>
            <a:off x="431320" y="241540"/>
            <a:ext cx="9565439" cy="523220"/>
          </a:xfrm>
          <a:prstGeom prst="rect">
            <a:avLst/>
          </a:prstGeom>
          <a:noFill/>
        </p:spPr>
        <p:txBody>
          <a:bodyPr wrap="none" rtlCol="0">
            <a:spAutoFit/>
          </a:bodyPr>
          <a:lstStyle/>
          <a:p>
            <a:r>
              <a:rPr lang="es-ES" sz="2800" b="1" dirty="0">
                <a:latin typeface="Montserrat" pitchFamily="2" charset="0"/>
              </a:rPr>
              <a:t>CONFIGURACIÓN: AÑOS ACADÉMICOS - STVACYR</a:t>
            </a:r>
            <a:endParaRPr lang="es-PE" sz="2800" b="1" dirty="0">
              <a:latin typeface="Montserrat" pitchFamily="2" charset="0"/>
            </a:endParaRPr>
          </a:p>
        </p:txBody>
      </p:sp>
      <p:sp>
        <p:nvSpPr>
          <p:cNvPr id="8" name="Rectángulo 7">
            <a:extLst>
              <a:ext uri="{FF2B5EF4-FFF2-40B4-BE49-F238E27FC236}">
                <a16:creationId xmlns:a16="http://schemas.microsoft.com/office/drawing/2014/main" id="{A16BCE08-E23C-F264-A6E3-E4019979D2E2}"/>
              </a:ext>
            </a:extLst>
          </p:cNvPr>
          <p:cNvSpPr/>
          <p:nvPr/>
        </p:nvSpPr>
        <p:spPr>
          <a:xfrm>
            <a:off x="9868619" y="241540"/>
            <a:ext cx="2323380" cy="445583"/>
          </a:xfrm>
          <a:prstGeom prst="rect">
            <a:avLst/>
          </a:prstGeom>
          <a:gradFill flip="none" rotWithShape="1">
            <a:gsLst>
              <a:gs pos="0">
                <a:schemeClr val="accent6">
                  <a:lumMod val="0"/>
                  <a:lumOff val="100000"/>
                </a:schemeClr>
              </a:gs>
              <a:gs pos="66000">
                <a:schemeClr val="accent6">
                  <a:lumMod val="100000"/>
                </a:schemeClr>
              </a:gs>
            </a:gsLst>
            <a:lin ang="0" scaled="1"/>
            <a:tileRect/>
          </a:gra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s-PE"/>
          </a:p>
        </p:txBody>
      </p:sp>
      <p:sp>
        <p:nvSpPr>
          <p:cNvPr id="6" name="CuadroTexto 5">
            <a:extLst>
              <a:ext uri="{FF2B5EF4-FFF2-40B4-BE49-F238E27FC236}">
                <a16:creationId xmlns:a16="http://schemas.microsoft.com/office/drawing/2014/main" id="{AC33DC36-253A-547B-7A30-A152C2F6B4CE}"/>
              </a:ext>
            </a:extLst>
          </p:cNvPr>
          <p:cNvSpPr txBox="1"/>
          <p:nvPr/>
        </p:nvSpPr>
        <p:spPr>
          <a:xfrm>
            <a:off x="4528936" y="6386396"/>
            <a:ext cx="3134128" cy="276999"/>
          </a:xfrm>
          <a:prstGeom prst="rect">
            <a:avLst/>
          </a:prstGeom>
          <a:noFill/>
        </p:spPr>
        <p:txBody>
          <a:bodyPr wrap="none" rtlCol="0">
            <a:spAutoFit/>
          </a:bodyPr>
          <a:lstStyle/>
          <a:p>
            <a:pPr algn="ctr"/>
            <a:r>
              <a:rPr lang="es-ES" sz="1200" i="1" dirty="0"/>
              <a:t>Elaborado por: Ing. Liliana Ocampo Moreno</a:t>
            </a:r>
            <a:endParaRPr lang="es-PE" sz="1200" i="1" dirty="0"/>
          </a:p>
        </p:txBody>
      </p:sp>
      <p:pic>
        <p:nvPicPr>
          <p:cNvPr id="5" name="Imagen 4">
            <a:extLst>
              <a:ext uri="{FF2B5EF4-FFF2-40B4-BE49-F238E27FC236}">
                <a16:creationId xmlns:a16="http://schemas.microsoft.com/office/drawing/2014/main" id="{F56A5669-6E8F-0F69-D983-E4F05054C2C4}"/>
              </a:ext>
            </a:extLst>
          </p:cNvPr>
          <p:cNvPicPr>
            <a:picLocks noChangeAspect="1"/>
          </p:cNvPicPr>
          <p:nvPr/>
        </p:nvPicPr>
        <p:blipFill>
          <a:blip r:embed="rId4"/>
          <a:stretch>
            <a:fillRect/>
          </a:stretch>
        </p:blipFill>
        <p:spPr>
          <a:xfrm>
            <a:off x="504645" y="1022252"/>
            <a:ext cx="11182709" cy="5029014"/>
          </a:xfrm>
          <a:prstGeom prst="rect">
            <a:avLst/>
          </a:prstGeom>
        </p:spPr>
      </p:pic>
      <p:sp>
        <p:nvSpPr>
          <p:cNvPr id="9" name="Rectángulo 8">
            <a:extLst>
              <a:ext uri="{FF2B5EF4-FFF2-40B4-BE49-F238E27FC236}">
                <a16:creationId xmlns:a16="http://schemas.microsoft.com/office/drawing/2014/main" id="{8A2D5A51-4D56-0E85-A735-26A51E751730}"/>
              </a:ext>
            </a:extLst>
          </p:cNvPr>
          <p:cNvSpPr/>
          <p:nvPr/>
        </p:nvSpPr>
        <p:spPr>
          <a:xfrm>
            <a:off x="10895162" y="1293962"/>
            <a:ext cx="215660" cy="224286"/>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10" name="Rectángulo: esquinas redondeadas 9">
            <a:extLst>
              <a:ext uri="{FF2B5EF4-FFF2-40B4-BE49-F238E27FC236}">
                <a16:creationId xmlns:a16="http://schemas.microsoft.com/office/drawing/2014/main" id="{6075E738-57F5-606A-E434-AE10E6A5B73F}"/>
              </a:ext>
            </a:extLst>
          </p:cNvPr>
          <p:cNvSpPr/>
          <p:nvPr/>
        </p:nvSpPr>
        <p:spPr>
          <a:xfrm>
            <a:off x="10545792" y="1276708"/>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t>1</a:t>
            </a:r>
            <a:endParaRPr lang="es-PE" sz="1100" b="1" dirty="0"/>
          </a:p>
        </p:txBody>
      </p:sp>
      <p:sp>
        <p:nvSpPr>
          <p:cNvPr id="11" name="CuadroTexto 10">
            <a:extLst>
              <a:ext uri="{FF2B5EF4-FFF2-40B4-BE49-F238E27FC236}">
                <a16:creationId xmlns:a16="http://schemas.microsoft.com/office/drawing/2014/main" id="{9A751B09-268A-79FF-34C4-9A29193DF36E}"/>
              </a:ext>
            </a:extLst>
          </p:cNvPr>
          <p:cNvSpPr txBox="1"/>
          <p:nvPr/>
        </p:nvSpPr>
        <p:spPr>
          <a:xfrm>
            <a:off x="8734245" y="877613"/>
            <a:ext cx="1744692" cy="623381"/>
          </a:xfrm>
          <a:prstGeom prst="roundRect">
            <a:avLst>
              <a:gd name="adj" fmla="val 7573"/>
            </a:avLst>
          </a:prstGeom>
          <a:solidFill>
            <a:srgbClr val="7030A0"/>
          </a:solidFill>
        </p:spPr>
        <p:txBody>
          <a:bodyPr wrap="square">
            <a:spAutoFit/>
          </a:bodyPr>
          <a:lstStyle/>
          <a:p>
            <a:pPr algn="ctr" rtl="0">
              <a:spcBef>
                <a:spcPts val="0"/>
              </a:spcBef>
              <a:spcAft>
                <a:spcPts val="0"/>
              </a:spcAft>
            </a:pPr>
            <a:r>
              <a:rPr lang="es-ES" sz="1100" b="0" i="0" u="none" strike="noStrike" dirty="0">
                <a:solidFill>
                  <a:srgbClr val="FFFFFF"/>
                </a:solidFill>
                <a:effectLst/>
              </a:rPr>
              <a:t>Para ingresar un nuevo año, debe hacer clic en la opción </a:t>
            </a:r>
            <a:r>
              <a:rPr lang="es-ES" sz="1100" b="1" i="0" u="none" strike="noStrike" dirty="0">
                <a:solidFill>
                  <a:srgbClr val="92D050"/>
                </a:solidFill>
                <a:effectLst/>
              </a:rPr>
              <a:t>+</a:t>
            </a:r>
            <a:endParaRPr lang="es-ES" b="1" dirty="0">
              <a:solidFill>
                <a:srgbClr val="92D050"/>
              </a:solidFill>
              <a:effectLst/>
            </a:endParaRPr>
          </a:p>
        </p:txBody>
      </p:sp>
      <p:sp>
        <p:nvSpPr>
          <p:cNvPr id="12" name="Rectángulo 11">
            <a:extLst>
              <a:ext uri="{FF2B5EF4-FFF2-40B4-BE49-F238E27FC236}">
                <a16:creationId xmlns:a16="http://schemas.microsoft.com/office/drawing/2014/main" id="{0F2851B1-2066-20CB-51A8-969C78EE6FB2}"/>
              </a:ext>
            </a:extLst>
          </p:cNvPr>
          <p:cNvSpPr/>
          <p:nvPr/>
        </p:nvSpPr>
        <p:spPr>
          <a:xfrm>
            <a:off x="497456" y="1621761"/>
            <a:ext cx="684363" cy="189781"/>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13" name="Rectángulo: esquinas redondeadas 12">
            <a:extLst>
              <a:ext uri="{FF2B5EF4-FFF2-40B4-BE49-F238E27FC236}">
                <a16:creationId xmlns:a16="http://schemas.microsoft.com/office/drawing/2014/main" id="{3D7FC9C0-CD79-E0D6-E434-3E70EBD6A5F6}"/>
              </a:ext>
            </a:extLst>
          </p:cNvPr>
          <p:cNvSpPr/>
          <p:nvPr/>
        </p:nvSpPr>
        <p:spPr>
          <a:xfrm>
            <a:off x="779257" y="1894864"/>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t>2</a:t>
            </a:r>
            <a:endParaRPr lang="es-PE" sz="1100" b="1" dirty="0"/>
          </a:p>
        </p:txBody>
      </p:sp>
      <p:sp>
        <p:nvSpPr>
          <p:cNvPr id="14" name="CuadroTexto 13">
            <a:extLst>
              <a:ext uri="{FF2B5EF4-FFF2-40B4-BE49-F238E27FC236}">
                <a16:creationId xmlns:a16="http://schemas.microsoft.com/office/drawing/2014/main" id="{C835CD2A-C1CE-3DEA-B7EB-C1B5DECADA1A}"/>
              </a:ext>
            </a:extLst>
          </p:cNvPr>
          <p:cNvSpPr txBox="1"/>
          <p:nvPr/>
        </p:nvSpPr>
        <p:spPr>
          <a:xfrm>
            <a:off x="191579" y="2202472"/>
            <a:ext cx="1559583" cy="1150858"/>
          </a:xfrm>
          <a:prstGeom prst="roundRect">
            <a:avLst>
              <a:gd name="adj" fmla="val 7573"/>
            </a:avLst>
          </a:prstGeom>
          <a:solidFill>
            <a:srgbClr val="7030A0"/>
          </a:solidFill>
        </p:spPr>
        <p:txBody>
          <a:bodyPr wrap="square">
            <a:spAutoFit/>
          </a:bodyPr>
          <a:lstStyle/>
          <a:p>
            <a:pPr algn="ctr"/>
            <a:r>
              <a:rPr lang="es-ES" sz="1100" dirty="0">
                <a:solidFill>
                  <a:srgbClr val="FFFFFF"/>
                </a:solidFill>
              </a:rPr>
              <a:t>Se debe ingresar el </a:t>
            </a:r>
            <a:r>
              <a:rPr lang="es-ES" sz="1100" b="1" dirty="0">
                <a:solidFill>
                  <a:srgbClr val="92D050"/>
                </a:solidFill>
              </a:rPr>
              <a:t>Año</a:t>
            </a:r>
            <a:r>
              <a:rPr lang="es-ES" sz="1100" b="1" dirty="0">
                <a:solidFill>
                  <a:schemeClr val="bg1"/>
                </a:solidFill>
              </a:rPr>
              <a:t>.</a:t>
            </a:r>
            <a:r>
              <a:rPr lang="es-ES" sz="1100" dirty="0">
                <a:solidFill>
                  <a:srgbClr val="FFFFFF"/>
                </a:solidFill>
              </a:rPr>
              <a:t> Código alfanumérico de 4 caracteres que representa el año. (Requerido)</a:t>
            </a:r>
            <a:endParaRPr lang="es-ES" b="0" dirty="0">
              <a:effectLst/>
            </a:endParaRPr>
          </a:p>
        </p:txBody>
      </p:sp>
      <p:sp>
        <p:nvSpPr>
          <p:cNvPr id="15" name="Rectángulo 14">
            <a:extLst>
              <a:ext uri="{FF2B5EF4-FFF2-40B4-BE49-F238E27FC236}">
                <a16:creationId xmlns:a16="http://schemas.microsoft.com/office/drawing/2014/main" id="{58D6AC7D-4DCA-E637-0AD9-97D1D29A525C}"/>
              </a:ext>
            </a:extLst>
          </p:cNvPr>
          <p:cNvSpPr/>
          <p:nvPr/>
        </p:nvSpPr>
        <p:spPr>
          <a:xfrm>
            <a:off x="1928007" y="1615152"/>
            <a:ext cx="3713668" cy="224286"/>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16" name="Rectángulo: esquinas redondeadas 15">
            <a:extLst>
              <a:ext uri="{FF2B5EF4-FFF2-40B4-BE49-F238E27FC236}">
                <a16:creationId xmlns:a16="http://schemas.microsoft.com/office/drawing/2014/main" id="{99987750-9AE6-FEDF-6E74-9AF5EB6315E8}"/>
              </a:ext>
            </a:extLst>
          </p:cNvPr>
          <p:cNvSpPr/>
          <p:nvPr/>
        </p:nvSpPr>
        <p:spPr>
          <a:xfrm>
            <a:off x="3644740" y="1908586"/>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t>3</a:t>
            </a:r>
            <a:endParaRPr lang="es-PE" sz="1100" b="1" dirty="0"/>
          </a:p>
        </p:txBody>
      </p:sp>
      <p:sp>
        <p:nvSpPr>
          <p:cNvPr id="17" name="CuadroTexto 16">
            <a:extLst>
              <a:ext uri="{FF2B5EF4-FFF2-40B4-BE49-F238E27FC236}">
                <a16:creationId xmlns:a16="http://schemas.microsoft.com/office/drawing/2014/main" id="{38D4EE32-3976-7526-B769-A1AE49E2924C}"/>
              </a:ext>
            </a:extLst>
          </p:cNvPr>
          <p:cNvSpPr txBox="1"/>
          <p:nvPr/>
        </p:nvSpPr>
        <p:spPr>
          <a:xfrm>
            <a:off x="2622432" y="2211100"/>
            <a:ext cx="2251494" cy="799207"/>
          </a:xfrm>
          <a:prstGeom prst="roundRect">
            <a:avLst>
              <a:gd name="adj" fmla="val 7573"/>
            </a:avLst>
          </a:prstGeom>
          <a:solidFill>
            <a:srgbClr val="7030A0"/>
          </a:solidFill>
        </p:spPr>
        <p:txBody>
          <a:bodyPr wrap="square">
            <a:spAutoFit/>
          </a:bodyPr>
          <a:lstStyle/>
          <a:p>
            <a:pPr algn="ctr"/>
            <a:r>
              <a:rPr lang="es-ES" sz="1100" dirty="0">
                <a:solidFill>
                  <a:srgbClr val="FFFFFF"/>
                </a:solidFill>
              </a:rPr>
              <a:t>Se debe incorporar la </a:t>
            </a:r>
            <a:r>
              <a:rPr lang="es-ES" sz="1100" b="1" dirty="0">
                <a:solidFill>
                  <a:srgbClr val="92D050"/>
                </a:solidFill>
              </a:rPr>
              <a:t>Descripción</a:t>
            </a:r>
            <a:r>
              <a:rPr lang="es-ES" sz="1100" dirty="0">
                <a:solidFill>
                  <a:srgbClr val="FFFFFF"/>
                </a:solidFill>
              </a:rPr>
              <a:t> del año creado.</a:t>
            </a:r>
          </a:p>
          <a:p>
            <a:pPr algn="ctr"/>
            <a:r>
              <a:rPr lang="es-ES" sz="1100" dirty="0">
                <a:solidFill>
                  <a:srgbClr val="FFFFFF"/>
                </a:solidFill>
              </a:rPr>
              <a:t>Máximo: 30 caracteres.</a:t>
            </a:r>
          </a:p>
          <a:p>
            <a:pPr algn="ctr"/>
            <a:r>
              <a:rPr lang="es-ES" sz="1100" dirty="0">
                <a:solidFill>
                  <a:srgbClr val="FFFFFF"/>
                </a:solidFill>
              </a:rPr>
              <a:t>(Requerido)</a:t>
            </a:r>
          </a:p>
        </p:txBody>
      </p:sp>
      <p:sp>
        <p:nvSpPr>
          <p:cNvPr id="18" name="Rectángulo 17">
            <a:extLst>
              <a:ext uri="{FF2B5EF4-FFF2-40B4-BE49-F238E27FC236}">
                <a16:creationId xmlns:a16="http://schemas.microsoft.com/office/drawing/2014/main" id="{59CD9A05-0851-81D3-ABEF-5A9B5C59B747}"/>
              </a:ext>
            </a:extLst>
          </p:cNvPr>
          <p:cNvSpPr/>
          <p:nvPr/>
        </p:nvSpPr>
        <p:spPr>
          <a:xfrm>
            <a:off x="6401877" y="1630389"/>
            <a:ext cx="684363" cy="189781"/>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19" name="Rectángulo: esquinas redondeadas 18">
            <a:extLst>
              <a:ext uri="{FF2B5EF4-FFF2-40B4-BE49-F238E27FC236}">
                <a16:creationId xmlns:a16="http://schemas.microsoft.com/office/drawing/2014/main" id="{69A73B37-EA44-B673-A537-B6D9B442FD69}"/>
              </a:ext>
            </a:extLst>
          </p:cNvPr>
          <p:cNvSpPr/>
          <p:nvPr/>
        </p:nvSpPr>
        <p:spPr>
          <a:xfrm>
            <a:off x="6683678" y="1903492"/>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t>4</a:t>
            </a:r>
            <a:endParaRPr lang="es-PE" sz="1100" b="1" dirty="0"/>
          </a:p>
        </p:txBody>
      </p:sp>
      <p:sp>
        <p:nvSpPr>
          <p:cNvPr id="20" name="CuadroTexto 19">
            <a:extLst>
              <a:ext uri="{FF2B5EF4-FFF2-40B4-BE49-F238E27FC236}">
                <a16:creationId xmlns:a16="http://schemas.microsoft.com/office/drawing/2014/main" id="{F0D9623D-1BD4-BC3F-02AC-7DDF0C613585}"/>
              </a:ext>
            </a:extLst>
          </p:cNvPr>
          <p:cNvSpPr txBox="1"/>
          <p:nvPr/>
        </p:nvSpPr>
        <p:spPr>
          <a:xfrm>
            <a:off x="6096000" y="2211100"/>
            <a:ext cx="1559583" cy="799207"/>
          </a:xfrm>
          <a:prstGeom prst="roundRect">
            <a:avLst>
              <a:gd name="adj" fmla="val 7573"/>
            </a:avLst>
          </a:prstGeom>
          <a:solidFill>
            <a:srgbClr val="7030A0"/>
          </a:solidFill>
        </p:spPr>
        <p:txBody>
          <a:bodyPr wrap="square">
            <a:spAutoFit/>
          </a:bodyPr>
          <a:lstStyle/>
          <a:p>
            <a:pPr algn="ctr"/>
            <a:r>
              <a:rPr lang="es-ES" sz="1100" dirty="0">
                <a:solidFill>
                  <a:srgbClr val="FFFFFF"/>
                </a:solidFill>
              </a:rPr>
              <a:t>Activar </a:t>
            </a:r>
            <a:r>
              <a:rPr lang="es-ES" sz="1100" dirty="0" err="1">
                <a:solidFill>
                  <a:srgbClr val="FFFFFF"/>
                </a:solidFill>
              </a:rPr>
              <a:t>checkbox</a:t>
            </a:r>
            <a:r>
              <a:rPr lang="es-ES" sz="1100" dirty="0">
                <a:solidFill>
                  <a:srgbClr val="FFFFFF"/>
                </a:solidFill>
              </a:rPr>
              <a:t> </a:t>
            </a:r>
            <a:r>
              <a:rPr lang="es-ES" sz="1100" b="1" dirty="0">
                <a:solidFill>
                  <a:srgbClr val="92D050"/>
                </a:solidFill>
              </a:rPr>
              <a:t>Requerido por el sistema</a:t>
            </a:r>
            <a:r>
              <a:rPr lang="es-ES" sz="1100" dirty="0">
                <a:solidFill>
                  <a:srgbClr val="FFFFFF"/>
                </a:solidFill>
              </a:rPr>
              <a:t> solo para los años ‘0000’ y ‘9999’.</a:t>
            </a:r>
            <a:endParaRPr lang="es-ES" b="0" dirty="0">
              <a:effectLst/>
            </a:endParaRPr>
          </a:p>
        </p:txBody>
      </p:sp>
      <p:sp>
        <p:nvSpPr>
          <p:cNvPr id="21" name="Rectángulo 20">
            <a:extLst>
              <a:ext uri="{FF2B5EF4-FFF2-40B4-BE49-F238E27FC236}">
                <a16:creationId xmlns:a16="http://schemas.microsoft.com/office/drawing/2014/main" id="{9F0954EA-2208-A4E5-E886-99D7673E0266}"/>
              </a:ext>
            </a:extLst>
          </p:cNvPr>
          <p:cNvSpPr/>
          <p:nvPr/>
        </p:nvSpPr>
        <p:spPr>
          <a:xfrm>
            <a:off x="7760617" y="1616846"/>
            <a:ext cx="3272567" cy="219277"/>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22" name="Rectángulo: esquinas redondeadas 21">
            <a:extLst>
              <a:ext uri="{FF2B5EF4-FFF2-40B4-BE49-F238E27FC236}">
                <a16:creationId xmlns:a16="http://schemas.microsoft.com/office/drawing/2014/main" id="{3E770D30-A792-871E-6884-89F26A1BF7CC}"/>
              </a:ext>
            </a:extLst>
          </p:cNvPr>
          <p:cNvSpPr/>
          <p:nvPr/>
        </p:nvSpPr>
        <p:spPr>
          <a:xfrm>
            <a:off x="9361537" y="1889949"/>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t>5</a:t>
            </a:r>
            <a:endParaRPr lang="es-PE" sz="1100" b="1" dirty="0"/>
          </a:p>
        </p:txBody>
      </p:sp>
      <p:sp>
        <p:nvSpPr>
          <p:cNvPr id="23" name="CuadroTexto 22">
            <a:extLst>
              <a:ext uri="{FF2B5EF4-FFF2-40B4-BE49-F238E27FC236}">
                <a16:creationId xmlns:a16="http://schemas.microsoft.com/office/drawing/2014/main" id="{5E2E7C91-E1E6-D2FB-3CCC-9D3205B1C05C}"/>
              </a:ext>
            </a:extLst>
          </p:cNvPr>
          <p:cNvSpPr txBox="1"/>
          <p:nvPr/>
        </p:nvSpPr>
        <p:spPr>
          <a:xfrm>
            <a:off x="8515069" y="2197557"/>
            <a:ext cx="1963868" cy="623381"/>
          </a:xfrm>
          <a:prstGeom prst="roundRect">
            <a:avLst>
              <a:gd name="adj" fmla="val 7573"/>
            </a:avLst>
          </a:prstGeom>
          <a:solidFill>
            <a:srgbClr val="7030A0"/>
          </a:solidFill>
        </p:spPr>
        <p:txBody>
          <a:bodyPr wrap="square">
            <a:spAutoFit/>
          </a:bodyPr>
          <a:lstStyle/>
          <a:p>
            <a:pPr algn="ctr"/>
            <a:r>
              <a:rPr lang="es-ES" sz="1100" dirty="0">
                <a:solidFill>
                  <a:srgbClr val="FFFFFF"/>
                </a:solidFill>
              </a:rPr>
              <a:t>Ingresar las </a:t>
            </a:r>
            <a:r>
              <a:rPr lang="es-ES" sz="1100" b="1" dirty="0">
                <a:solidFill>
                  <a:srgbClr val="92D050"/>
                </a:solidFill>
              </a:rPr>
              <a:t>fechas de inicio</a:t>
            </a:r>
            <a:r>
              <a:rPr lang="es-ES" sz="1100" dirty="0">
                <a:solidFill>
                  <a:srgbClr val="FFFFFF"/>
                </a:solidFill>
              </a:rPr>
              <a:t> y </a:t>
            </a:r>
            <a:r>
              <a:rPr lang="es-ES" sz="1100" b="1" dirty="0">
                <a:solidFill>
                  <a:srgbClr val="92D050"/>
                </a:solidFill>
              </a:rPr>
              <a:t>fin</a:t>
            </a:r>
            <a:r>
              <a:rPr lang="es-ES" sz="1100" dirty="0">
                <a:solidFill>
                  <a:srgbClr val="FFFFFF"/>
                </a:solidFill>
              </a:rPr>
              <a:t> del año creado. </a:t>
            </a:r>
            <a:r>
              <a:rPr lang="es-ES" sz="1100" b="1" dirty="0">
                <a:solidFill>
                  <a:srgbClr val="FFFFFF"/>
                </a:solidFill>
              </a:rPr>
              <a:t>Campo opcional.</a:t>
            </a:r>
            <a:endParaRPr lang="es-ES" b="1" dirty="0">
              <a:effectLst/>
            </a:endParaRPr>
          </a:p>
        </p:txBody>
      </p:sp>
      <p:sp>
        <p:nvSpPr>
          <p:cNvPr id="24" name="Rectángulo 23">
            <a:extLst>
              <a:ext uri="{FF2B5EF4-FFF2-40B4-BE49-F238E27FC236}">
                <a16:creationId xmlns:a16="http://schemas.microsoft.com/office/drawing/2014/main" id="{E9749C78-CBCC-8F43-FC21-11F0F53D9B47}"/>
              </a:ext>
            </a:extLst>
          </p:cNvPr>
          <p:cNvSpPr/>
          <p:nvPr/>
        </p:nvSpPr>
        <p:spPr>
          <a:xfrm>
            <a:off x="11110823" y="5683175"/>
            <a:ext cx="684363" cy="347998"/>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25" name="Rectángulo: esquinas redondeadas 24">
            <a:extLst>
              <a:ext uri="{FF2B5EF4-FFF2-40B4-BE49-F238E27FC236}">
                <a16:creationId xmlns:a16="http://schemas.microsoft.com/office/drawing/2014/main" id="{BEB74300-F0AF-6CF0-EDFC-76AF24407926}"/>
              </a:ext>
            </a:extLst>
          </p:cNvPr>
          <p:cNvSpPr/>
          <p:nvPr/>
        </p:nvSpPr>
        <p:spPr>
          <a:xfrm>
            <a:off x="10794520" y="5745031"/>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t>6</a:t>
            </a:r>
            <a:endParaRPr lang="es-PE" sz="1100" b="1" dirty="0"/>
          </a:p>
        </p:txBody>
      </p:sp>
      <p:sp>
        <p:nvSpPr>
          <p:cNvPr id="26" name="CuadroTexto 25">
            <a:extLst>
              <a:ext uri="{FF2B5EF4-FFF2-40B4-BE49-F238E27FC236}">
                <a16:creationId xmlns:a16="http://schemas.microsoft.com/office/drawing/2014/main" id="{2E640D59-0355-28C7-FA4A-BE65C7A050AC}"/>
              </a:ext>
            </a:extLst>
          </p:cNvPr>
          <p:cNvSpPr txBox="1"/>
          <p:nvPr/>
        </p:nvSpPr>
        <p:spPr>
          <a:xfrm>
            <a:off x="9432985" y="4904392"/>
            <a:ext cx="2242868" cy="623381"/>
          </a:xfrm>
          <a:prstGeom prst="roundRect">
            <a:avLst>
              <a:gd name="adj" fmla="val 7573"/>
            </a:avLst>
          </a:prstGeom>
          <a:solidFill>
            <a:srgbClr val="7030A0"/>
          </a:solidFill>
        </p:spPr>
        <p:txBody>
          <a:bodyPr wrap="square">
            <a:spAutoFit/>
          </a:bodyPr>
          <a:lstStyle/>
          <a:p>
            <a:pPr algn="ctr"/>
            <a:r>
              <a:rPr lang="es-ES" sz="1100" dirty="0">
                <a:solidFill>
                  <a:srgbClr val="FFFFFF"/>
                </a:solidFill>
              </a:rPr>
              <a:t>Se debe presionar </a:t>
            </a:r>
            <a:r>
              <a:rPr lang="es-ES" sz="1100" b="1" dirty="0">
                <a:solidFill>
                  <a:srgbClr val="92D050"/>
                </a:solidFill>
              </a:rPr>
              <a:t>Guardar</a:t>
            </a:r>
            <a:r>
              <a:rPr lang="es-ES" sz="1100" dirty="0">
                <a:solidFill>
                  <a:srgbClr val="FFFFFF"/>
                </a:solidFill>
              </a:rPr>
              <a:t> para que la información quede registrada en el sistema</a:t>
            </a:r>
          </a:p>
        </p:txBody>
      </p:sp>
      <p:sp>
        <p:nvSpPr>
          <p:cNvPr id="27" name="CuadroTexto 26">
            <a:extLst>
              <a:ext uri="{FF2B5EF4-FFF2-40B4-BE49-F238E27FC236}">
                <a16:creationId xmlns:a16="http://schemas.microsoft.com/office/drawing/2014/main" id="{7187084E-A19F-2AFF-F921-EEBDA03885C0}"/>
              </a:ext>
            </a:extLst>
          </p:cNvPr>
          <p:cNvSpPr txBox="1"/>
          <p:nvPr/>
        </p:nvSpPr>
        <p:spPr>
          <a:xfrm>
            <a:off x="3083926" y="4632086"/>
            <a:ext cx="2242868" cy="623381"/>
          </a:xfrm>
          <a:prstGeom prst="roundRect">
            <a:avLst>
              <a:gd name="adj" fmla="val 7573"/>
            </a:avLst>
          </a:prstGeom>
          <a:solidFill>
            <a:srgbClr val="7030A0"/>
          </a:solidFill>
        </p:spPr>
        <p:txBody>
          <a:bodyPr wrap="square">
            <a:spAutoFit/>
          </a:bodyPr>
          <a:lstStyle/>
          <a:p>
            <a:pPr algn="ctr"/>
            <a:r>
              <a:rPr lang="es-ES" sz="1100" dirty="0">
                <a:solidFill>
                  <a:srgbClr val="FFFFFF"/>
                </a:solidFill>
              </a:rPr>
              <a:t>Obligatorio registrar los años:</a:t>
            </a:r>
          </a:p>
          <a:p>
            <a:pPr algn="ctr"/>
            <a:r>
              <a:rPr lang="es-ES" sz="1100" dirty="0">
                <a:solidFill>
                  <a:srgbClr val="FFFFFF"/>
                </a:solidFill>
              </a:rPr>
              <a:t>0000: Inicio de los tiempos</a:t>
            </a:r>
          </a:p>
          <a:p>
            <a:pPr algn="ctr"/>
            <a:r>
              <a:rPr lang="es-ES" sz="1100" dirty="0">
                <a:solidFill>
                  <a:srgbClr val="FFFFFF"/>
                </a:solidFill>
              </a:rPr>
              <a:t>9999: Fin de los tiempos</a:t>
            </a:r>
          </a:p>
        </p:txBody>
      </p:sp>
    </p:spTree>
    <p:extLst>
      <p:ext uri="{BB962C8B-B14F-4D97-AF65-F5344CB8AC3E}">
        <p14:creationId xmlns:p14="http://schemas.microsoft.com/office/powerpoint/2010/main" val="15725886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left)">
                                      <p:cBhvr>
                                        <p:cTn id="10" dur="500"/>
                                        <p:tgtEl>
                                          <p:spTgt spid="8"/>
                                        </p:tgtEl>
                                      </p:cBhvr>
                                    </p:animEffect>
                                  </p:childTnLst>
                                </p:cTn>
                              </p:par>
                            </p:childTnLst>
                          </p:cTn>
                        </p:par>
                        <p:par>
                          <p:cTn id="11" fill="hold">
                            <p:stCondLst>
                              <p:cond delay="500"/>
                            </p:stCondLst>
                            <p:childTnLst>
                              <p:par>
                                <p:cTn id="12" presetID="9" presetClass="entr" presetSubtype="0" fill="hold"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dissolve">
                                      <p:cBhvr>
                                        <p:cTn id="14" dur="500"/>
                                        <p:tgtEl>
                                          <p:spTgt spid="5"/>
                                        </p:tgtEl>
                                      </p:cBhvr>
                                    </p:animEffect>
                                  </p:childTnLst>
                                </p:cTn>
                              </p:par>
                            </p:childTnLst>
                          </p:cTn>
                        </p:par>
                        <p:par>
                          <p:cTn id="15" fill="hold">
                            <p:stCondLst>
                              <p:cond delay="1000"/>
                            </p:stCondLst>
                            <p:childTnLst>
                              <p:par>
                                <p:cTn id="16" presetID="21" presetClass="entr" presetSubtype="1" fill="hold" grpId="0" nodeType="after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wheel(1)">
                                      <p:cBhvr>
                                        <p:cTn id="18" dur="2000"/>
                                        <p:tgtEl>
                                          <p:spTgt spid="9"/>
                                        </p:tgtEl>
                                      </p:cBhvr>
                                    </p:animEffect>
                                  </p:childTnLst>
                                </p:cTn>
                              </p:par>
                            </p:childTnLst>
                          </p:cTn>
                        </p:par>
                        <p:par>
                          <p:cTn id="19" fill="hold">
                            <p:stCondLst>
                              <p:cond delay="3000"/>
                            </p:stCondLst>
                            <p:childTnLst>
                              <p:par>
                                <p:cTn id="20" presetID="53" presetClass="entr" presetSubtype="16" fill="hold" grpId="0" nodeType="afterEffect">
                                  <p:stCondLst>
                                    <p:cond delay="0"/>
                                  </p:stCondLst>
                                  <p:childTnLst>
                                    <p:set>
                                      <p:cBhvr>
                                        <p:cTn id="21" dur="1" fill="hold">
                                          <p:stCondLst>
                                            <p:cond delay="0"/>
                                          </p:stCondLst>
                                        </p:cTn>
                                        <p:tgtEl>
                                          <p:spTgt spid="10"/>
                                        </p:tgtEl>
                                        <p:attrNameLst>
                                          <p:attrName>style.visibility</p:attrName>
                                        </p:attrNameLst>
                                      </p:cBhvr>
                                      <p:to>
                                        <p:strVal val="visible"/>
                                      </p:to>
                                    </p:set>
                                    <p:anim calcmode="lin" valueType="num">
                                      <p:cBhvr>
                                        <p:cTn id="22" dur="500" fill="hold"/>
                                        <p:tgtEl>
                                          <p:spTgt spid="10"/>
                                        </p:tgtEl>
                                        <p:attrNameLst>
                                          <p:attrName>ppt_w</p:attrName>
                                        </p:attrNameLst>
                                      </p:cBhvr>
                                      <p:tavLst>
                                        <p:tav tm="0">
                                          <p:val>
                                            <p:fltVal val="0"/>
                                          </p:val>
                                        </p:tav>
                                        <p:tav tm="100000">
                                          <p:val>
                                            <p:strVal val="#ppt_w"/>
                                          </p:val>
                                        </p:tav>
                                      </p:tavLst>
                                    </p:anim>
                                    <p:anim calcmode="lin" valueType="num">
                                      <p:cBhvr>
                                        <p:cTn id="23" dur="500" fill="hold"/>
                                        <p:tgtEl>
                                          <p:spTgt spid="10"/>
                                        </p:tgtEl>
                                        <p:attrNameLst>
                                          <p:attrName>ppt_h</p:attrName>
                                        </p:attrNameLst>
                                      </p:cBhvr>
                                      <p:tavLst>
                                        <p:tav tm="0">
                                          <p:val>
                                            <p:fltVal val="0"/>
                                          </p:val>
                                        </p:tav>
                                        <p:tav tm="100000">
                                          <p:val>
                                            <p:strVal val="#ppt_h"/>
                                          </p:val>
                                        </p:tav>
                                      </p:tavLst>
                                    </p:anim>
                                    <p:animEffect transition="in" filter="fade">
                                      <p:cBhvr>
                                        <p:cTn id="24" dur="500"/>
                                        <p:tgtEl>
                                          <p:spTgt spid="10"/>
                                        </p:tgtEl>
                                      </p:cBhvr>
                                    </p:animEffect>
                                  </p:childTnLst>
                                </p:cTn>
                              </p:par>
                            </p:childTnLst>
                          </p:cTn>
                        </p:par>
                        <p:par>
                          <p:cTn id="25" fill="hold">
                            <p:stCondLst>
                              <p:cond delay="3500"/>
                            </p:stCondLst>
                            <p:childTnLst>
                              <p:par>
                                <p:cTn id="26" presetID="10" presetClass="entr" presetSubtype="0" fill="hold" grpId="0" nodeType="after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00"/>
                                        <p:tgtEl>
                                          <p:spTgt spid="11"/>
                                        </p:tgtEl>
                                      </p:cBhvr>
                                    </p:animEffect>
                                  </p:childTnLst>
                                </p:cTn>
                              </p:par>
                            </p:childTnLst>
                          </p:cTn>
                        </p:par>
                        <p:par>
                          <p:cTn id="29" fill="hold">
                            <p:stCondLst>
                              <p:cond delay="4000"/>
                            </p:stCondLst>
                            <p:childTnLst>
                              <p:par>
                                <p:cTn id="30" presetID="21" presetClass="entr" presetSubtype="1" fill="hold" grpId="0" nodeType="after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wheel(1)">
                                      <p:cBhvr>
                                        <p:cTn id="32" dur="2000"/>
                                        <p:tgtEl>
                                          <p:spTgt spid="12"/>
                                        </p:tgtEl>
                                      </p:cBhvr>
                                    </p:animEffect>
                                  </p:childTnLst>
                                </p:cTn>
                              </p:par>
                            </p:childTnLst>
                          </p:cTn>
                        </p:par>
                        <p:par>
                          <p:cTn id="33" fill="hold">
                            <p:stCondLst>
                              <p:cond delay="6000"/>
                            </p:stCondLst>
                            <p:childTnLst>
                              <p:par>
                                <p:cTn id="34" presetID="53" presetClass="entr" presetSubtype="16" fill="hold" grpId="0" nodeType="afterEffect">
                                  <p:stCondLst>
                                    <p:cond delay="0"/>
                                  </p:stCondLst>
                                  <p:childTnLst>
                                    <p:set>
                                      <p:cBhvr>
                                        <p:cTn id="35" dur="1" fill="hold">
                                          <p:stCondLst>
                                            <p:cond delay="0"/>
                                          </p:stCondLst>
                                        </p:cTn>
                                        <p:tgtEl>
                                          <p:spTgt spid="13"/>
                                        </p:tgtEl>
                                        <p:attrNameLst>
                                          <p:attrName>style.visibility</p:attrName>
                                        </p:attrNameLst>
                                      </p:cBhvr>
                                      <p:to>
                                        <p:strVal val="visible"/>
                                      </p:to>
                                    </p:set>
                                    <p:anim calcmode="lin" valueType="num">
                                      <p:cBhvr>
                                        <p:cTn id="36" dur="500" fill="hold"/>
                                        <p:tgtEl>
                                          <p:spTgt spid="13"/>
                                        </p:tgtEl>
                                        <p:attrNameLst>
                                          <p:attrName>ppt_w</p:attrName>
                                        </p:attrNameLst>
                                      </p:cBhvr>
                                      <p:tavLst>
                                        <p:tav tm="0">
                                          <p:val>
                                            <p:fltVal val="0"/>
                                          </p:val>
                                        </p:tav>
                                        <p:tav tm="100000">
                                          <p:val>
                                            <p:strVal val="#ppt_w"/>
                                          </p:val>
                                        </p:tav>
                                      </p:tavLst>
                                    </p:anim>
                                    <p:anim calcmode="lin" valueType="num">
                                      <p:cBhvr>
                                        <p:cTn id="37" dur="500" fill="hold"/>
                                        <p:tgtEl>
                                          <p:spTgt spid="13"/>
                                        </p:tgtEl>
                                        <p:attrNameLst>
                                          <p:attrName>ppt_h</p:attrName>
                                        </p:attrNameLst>
                                      </p:cBhvr>
                                      <p:tavLst>
                                        <p:tav tm="0">
                                          <p:val>
                                            <p:fltVal val="0"/>
                                          </p:val>
                                        </p:tav>
                                        <p:tav tm="100000">
                                          <p:val>
                                            <p:strVal val="#ppt_h"/>
                                          </p:val>
                                        </p:tav>
                                      </p:tavLst>
                                    </p:anim>
                                    <p:animEffect transition="in" filter="fade">
                                      <p:cBhvr>
                                        <p:cTn id="38" dur="500"/>
                                        <p:tgtEl>
                                          <p:spTgt spid="13"/>
                                        </p:tgtEl>
                                      </p:cBhvr>
                                    </p:animEffect>
                                  </p:childTnLst>
                                </p:cTn>
                              </p:par>
                            </p:childTnLst>
                          </p:cTn>
                        </p:par>
                        <p:par>
                          <p:cTn id="39" fill="hold">
                            <p:stCondLst>
                              <p:cond delay="6500"/>
                            </p:stCondLst>
                            <p:childTnLst>
                              <p:par>
                                <p:cTn id="40" presetID="10" presetClass="entr" presetSubtype="0" fill="hold" grpId="0" nodeType="after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500"/>
                                        <p:tgtEl>
                                          <p:spTgt spid="14"/>
                                        </p:tgtEl>
                                      </p:cBhvr>
                                    </p:animEffect>
                                  </p:childTnLst>
                                </p:cTn>
                              </p:par>
                            </p:childTnLst>
                          </p:cTn>
                        </p:par>
                        <p:par>
                          <p:cTn id="43" fill="hold">
                            <p:stCondLst>
                              <p:cond delay="7000"/>
                            </p:stCondLst>
                            <p:childTnLst>
                              <p:par>
                                <p:cTn id="44" presetID="21" presetClass="entr" presetSubtype="1" fill="hold" grpId="0" nodeType="after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wheel(1)">
                                      <p:cBhvr>
                                        <p:cTn id="46" dur="2000"/>
                                        <p:tgtEl>
                                          <p:spTgt spid="15"/>
                                        </p:tgtEl>
                                      </p:cBhvr>
                                    </p:animEffect>
                                  </p:childTnLst>
                                </p:cTn>
                              </p:par>
                            </p:childTnLst>
                          </p:cTn>
                        </p:par>
                        <p:par>
                          <p:cTn id="47" fill="hold">
                            <p:stCondLst>
                              <p:cond delay="9000"/>
                            </p:stCondLst>
                            <p:childTnLst>
                              <p:par>
                                <p:cTn id="48" presetID="53" presetClass="entr" presetSubtype="16" fill="hold" grpId="0" nodeType="afterEffect">
                                  <p:stCondLst>
                                    <p:cond delay="0"/>
                                  </p:stCondLst>
                                  <p:childTnLst>
                                    <p:set>
                                      <p:cBhvr>
                                        <p:cTn id="49" dur="1" fill="hold">
                                          <p:stCondLst>
                                            <p:cond delay="0"/>
                                          </p:stCondLst>
                                        </p:cTn>
                                        <p:tgtEl>
                                          <p:spTgt spid="16"/>
                                        </p:tgtEl>
                                        <p:attrNameLst>
                                          <p:attrName>style.visibility</p:attrName>
                                        </p:attrNameLst>
                                      </p:cBhvr>
                                      <p:to>
                                        <p:strVal val="visible"/>
                                      </p:to>
                                    </p:set>
                                    <p:anim calcmode="lin" valueType="num">
                                      <p:cBhvr>
                                        <p:cTn id="50" dur="500" fill="hold"/>
                                        <p:tgtEl>
                                          <p:spTgt spid="16"/>
                                        </p:tgtEl>
                                        <p:attrNameLst>
                                          <p:attrName>ppt_w</p:attrName>
                                        </p:attrNameLst>
                                      </p:cBhvr>
                                      <p:tavLst>
                                        <p:tav tm="0">
                                          <p:val>
                                            <p:fltVal val="0"/>
                                          </p:val>
                                        </p:tav>
                                        <p:tav tm="100000">
                                          <p:val>
                                            <p:strVal val="#ppt_w"/>
                                          </p:val>
                                        </p:tav>
                                      </p:tavLst>
                                    </p:anim>
                                    <p:anim calcmode="lin" valueType="num">
                                      <p:cBhvr>
                                        <p:cTn id="51" dur="500" fill="hold"/>
                                        <p:tgtEl>
                                          <p:spTgt spid="16"/>
                                        </p:tgtEl>
                                        <p:attrNameLst>
                                          <p:attrName>ppt_h</p:attrName>
                                        </p:attrNameLst>
                                      </p:cBhvr>
                                      <p:tavLst>
                                        <p:tav tm="0">
                                          <p:val>
                                            <p:fltVal val="0"/>
                                          </p:val>
                                        </p:tav>
                                        <p:tav tm="100000">
                                          <p:val>
                                            <p:strVal val="#ppt_h"/>
                                          </p:val>
                                        </p:tav>
                                      </p:tavLst>
                                    </p:anim>
                                    <p:animEffect transition="in" filter="fade">
                                      <p:cBhvr>
                                        <p:cTn id="52" dur="500"/>
                                        <p:tgtEl>
                                          <p:spTgt spid="16"/>
                                        </p:tgtEl>
                                      </p:cBhvr>
                                    </p:animEffect>
                                  </p:childTnLst>
                                </p:cTn>
                              </p:par>
                            </p:childTnLst>
                          </p:cTn>
                        </p:par>
                        <p:par>
                          <p:cTn id="53" fill="hold">
                            <p:stCondLst>
                              <p:cond delay="9500"/>
                            </p:stCondLst>
                            <p:childTnLst>
                              <p:par>
                                <p:cTn id="54" presetID="10" presetClass="entr" presetSubtype="0" fill="hold" grpId="0" nodeType="afterEffect">
                                  <p:stCondLst>
                                    <p:cond delay="0"/>
                                  </p:stCondLst>
                                  <p:childTnLst>
                                    <p:set>
                                      <p:cBhvr>
                                        <p:cTn id="55" dur="1" fill="hold">
                                          <p:stCondLst>
                                            <p:cond delay="0"/>
                                          </p:stCondLst>
                                        </p:cTn>
                                        <p:tgtEl>
                                          <p:spTgt spid="17"/>
                                        </p:tgtEl>
                                        <p:attrNameLst>
                                          <p:attrName>style.visibility</p:attrName>
                                        </p:attrNameLst>
                                      </p:cBhvr>
                                      <p:to>
                                        <p:strVal val="visible"/>
                                      </p:to>
                                    </p:set>
                                    <p:animEffect transition="in" filter="fade">
                                      <p:cBhvr>
                                        <p:cTn id="56" dur="500"/>
                                        <p:tgtEl>
                                          <p:spTgt spid="17"/>
                                        </p:tgtEl>
                                      </p:cBhvr>
                                    </p:animEffect>
                                  </p:childTnLst>
                                </p:cTn>
                              </p:par>
                            </p:childTnLst>
                          </p:cTn>
                        </p:par>
                        <p:par>
                          <p:cTn id="57" fill="hold">
                            <p:stCondLst>
                              <p:cond delay="10000"/>
                            </p:stCondLst>
                            <p:childTnLst>
                              <p:par>
                                <p:cTn id="58" presetID="21" presetClass="entr" presetSubtype="1" fill="hold" grpId="0" nodeType="afterEffect">
                                  <p:stCondLst>
                                    <p:cond delay="0"/>
                                  </p:stCondLst>
                                  <p:childTnLst>
                                    <p:set>
                                      <p:cBhvr>
                                        <p:cTn id="59" dur="1" fill="hold">
                                          <p:stCondLst>
                                            <p:cond delay="0"/>
                                          </p:stCondLst>
                                        </p:cTn>
                                        <p:tgtEl>
                                          <p:spTgt spid="18"/>
                                        </p:tgtEl>
                                        <p:attrNameLst>
                                          <p:attrName>style.visibility</p:attrName>
                                        </p:attrNameLst>
                                      </p:cBhvr>
                                      <p:to>
                                        <p:strVal val="visible"/>
                                      </p:to>
                                    </p:set>
                                    <p:animEffect transition="in" filter="wheel(1)">
                                      <p:cBhvr>
                                        <p:cTn id="60" dur="2000"/>
                                        <p:tgtEl>
                                          <p:spTgt spid="18"/>
                                        </p:tgtEl>
                                      </p:cBhvr>
                                    </p:animEffect>
                                  </p:childTnLst>
                                </p:cTn>
                              </p:par>
                            </p:childTnLst>
                          </p:cTn>
                        </p:par>
                        <p:par>
                          <p:cTn id="61" fill="hold">
                            <p:stCondLst>
                              <p:cond delay="12000"/>
                            </p:stCondLst>
                            <p:childTnLst>
                              <p:par>
                                <p:cTn id="62" presetID="53" presetClass="entr" presetSubtype="16" fill="hold" grpId="0" nodeType="afterEffect">
                                  <p:stCondLst>
                                    <p:cond delay="0"/>
                                  </p:stCondLst>
                                  <p:childTnLst>
                                    <p:set>
                                      <p:cBhvr>
                                        <p:cTn id="63" dur="1" fill="hold">
                                          <p:stCondLst>
                                            <p:cond delay="0"/>
                                          </p:stCondLst>
                                        </p:cTn>
                                        <p:tgtEl>
                                          <p:spTgt spid="19"/>
                                        </p:tgtEl>
                                        <p:attrNameLst>
                                          <p:attrName>style.visibility</p:attrName>
                                        </p:attrNameLst>
                                      </p:cBhvr>
                                      <p:to>
                                        <p:strVal val="visible"/>
                                      </p:to>
                                    </p:set>
                                    <p:anim calcmode="lin" valueType="num">
                                      <p:cBhvr>
                                        <p:cTn id="64" dur="500" fill="hold"/>
                                        <p:tgtEl>
                                          <p:spTgt spid="19"/>
                                        </p:tgtEl>
                                        <p:attrNameLst>
                                          <p:attrName>ppt_w</p:attrName>
                                        </p:attrNameLst>
                                      </p:cBhvr>
                                      <p:tavLst>
                                        <p:tav tm="0">
                                          <p:val>
                                            <p:fltVal val="0"/>
                                          </p:val>
                                        </p:tav>
                                        <p:tav tm="100000">
                                          <p:val>
                                            <p:strVal val="#ppt_w"/>
                                          </p:val>
                                        </p:tav>
                                      </p:tavLst>
                                    </p:anim>
                                    <p:anim calcmode="lin" valueType="num">
                                      <p:cBhvr>
                                        <p:cTn id="65" dur="500" fill="hold"/>
                                        <p:tgtEl>
                                          <p:spTgt spid="19"/>
                                        </p:tgtEl>
                                        <p:attrNameLst>
                                          <p:attrName>ppt_h</p:attrName>
                                        </p:attrNameLst>
                                      </p:cBhvr>
                                      <p:tavLst>
                                        <p:tav tm="0">
                                          <p:val>
                                            <p:fltVal val="0"/>
                                          </p:val>
                                        </p:tav>
                                        <p:tav tm="100000">
                                          <p:val>
                                            <p:strVal val="#ppt_h"/>
                                          </p:val>
                                        </p:tav>
                                      </p:tavLst>
                                    </p:anim>
                                    <p:animEffect transition="in" filter="fade">
                                      <p:cBhvr>
                                        <p:cTn id="66" dur="500"/>
                                        <p:tgtEl>
                                          <p:spTgt spid="19"/>
                                        </p:tgtEl>
                                      </p:cBhvr>
                                    </p:animEffect>
                                  </p:childTnLst>
                                </p:cTn>
                              </p:par>
                            </p:childTnLst>
                          </p:cTn>
                        </p:par>
                        <p:par>
                          <p:cTn id="67" fill="hold">
                            <p:stCondLst>
                              <p:cond delay="12500"/>
                            </p:stCondLst>
                            <p:childTnLst>
                              <p:par>
                                <p:cTn id="68" presetID="10" presetClass="entr" presetSubtype="0" fill="hold" grpId="0" nodeType="afterEffect">
                                  <p:stCondLst>
                                    <p:cond delay="0"/>
                                  </p:stCondLst>
                                  <p:childTnLst>
                                    <p:set>
                                      <p:cBhvr>
                                        <p:cTn id="69" dur="1" fill="hold">
                                          <p:stCondLst>
                                            <p:cond delay="0"/>
                                          </p:stCondLst>
                                        </p:cTn>
                                        <p:tgtEl>
                                          <p:spTgt spid="20"/>
                                        </p:tgtEl>
                                        <p:attrNameLst>
                                          <p:attrName>style.visibility</p:attrName>
                                        </p:attrNameLst>
                                      </p:cBhvr>
                                      <p:to>
                                        <p:strVal val="visible"/>
                                      </p:to>
                                    </p:set>
                                    <p:animEffect transition="in" filter="fade">
                                      <p:cBhvr>
                                        <p:cTn id="70" dur="500"/>
                                        <p:tgtEl>
                                          <p:spTgt spid="20"/>
                                        </p:tgtEl>
                                      </p:cBhvr>
                                    </p:animEffect>
                                  </p:childTnLst>
                                </p:cTn>
                              </p:par>
                            </p:childTnLst>
                          </p:cTn>
                        </p:par>
                        <p:par>
                          <p:cTn id="71" fill="hold">
                            <p:stCondLst>
                              <p:cond delay="13000"/>
                            </p:stCondLst>
                            <p:childTnLst>
                              <p:par>
                                <p:cTn id="72" presetID="21" presetClass="entr" presetSubtype="1" fill="hold" grpId="0" nodeType="afterEffect">
                                  <p:stCondLst>
                                    <p:cond delay="0"/>
                                  </p:stCondLst>
                                  <p:childTnLst>
                                    <p:set>
                                      <p:cBhvr>
                                        <p:cTn id="73" dur="1" fill="hold">
                                          <p:stCondLst>
                                            <p:cond delay="0"/>
                                          </p:stCondLst>
                                        </p:cTn>
                                        <p:tgtEl>
                                          <p:spTgt spid="21"/>
                                        </p:tgtEl>
                                        <p:attrNameLst>
                                          <p:attrName>style.visibility</p:attrName>
                                        </p:attrNameLst>
                                      </p:cBhvr>
                                      <p:to>
                                        <p:strVal val="visible"/>
                                      </p:to>
                                    </p:set>
                                    <p:animEffect transition="in" filter="wheel(1)">
                                      <p:cBhvr>
                                        <p:cTn id="74" dur="2000"/>
                                        <p:tgtEl>
                                          <p:spTgt spid="21"/>
                                        </p:tgtEl>
                                      </p:cBhvr>
                                    </p:animEffect>
                                  </p:childTnLst>
                                </p:cTn>
                              </p:par>
                            </p:childTnLst>
                          </p:cTn>
                        </p:par>
                        <p:par>
                          <p:cTn id="75" fill="hold">
                            <p:stCondLst>
                              <p:cond delay="15000"/>
                            </p:stCondLst>
                            <p:childTnLst>
                              <p:par>
                                <p:cTn id="76" presetID="53" presetClass="entr" presetSubtype="16" fill="hold" grpId="0" nodeType="afterEffect">
                                  <p:stCondLst>
                                    <p:cond delay="0"/>
                                  </p:stCondLst>
                                  <p:childTnLst>
                                    <p:set>
                                      <p:cBhvr>
                                        <p:cTn id="77" dur="1" fill="hold">
                                          <p:stCondLst>
                                            <p:cond delay="0"/>
                                          </p:stCondLst>
                                        </p:cTn>
                                        <p:tgtEl>
                                          <p:spTgt spid="22"/>
                                        </p:tgtEl>
                                        <p:attrNameLst>
                                          <p:attrName>style.visibility</p:attrName>
                                        </p:attrNameLst>
                                      </p:cBhvr>
                                      <p:to>
                                        <p:strVal val="visible"/>
                                      </p:to>
                                    </p:set>
                                    <p:anim calcmode="lin" valueType="num">
                                      <p:cBhvr>
                                        <p:cTn id="78" dur="500" fill="hold"/>
                                        <p:tgtEl>
                                          <p:spTgt spid="22"/>
                                        </p:tgtEl>
                                        <p:attrNameLst>
                                          <p:attrName>ppt_w</p:attrName>
                                        </p:attrNameLst>
                                      </p:cBhvr>
                                      <p:tavLst>
                                        <p:tav tm="0">
                                          <p:val>
                                            <p:fltVal val="0"/>
                                          </p:val>
                                        </p:tav>
                                        <p:tav tm="100000">
                                          <p:val>
                                            <p:strVal val="#ppt_w"/>
                                          </p:val>
                                        </p:tav>
                                      </p:tavLst>
                                    </p:anim>
                                    <p:anim calcmode="lin" valueType="num">
                                      <p:cBhvr>
                                        <p:cTn id="79" dur="500" fill="hold"/>
                                        <p:tgtEl>
                                          <p:spTgt spid="22"/>
                                        </p:tgtEl>
                                        <p:attrNameLst>
                                          <p:attrName>ppt_h</p:attrName>
                                        </p:attrNameLst>
                                      </p:cBhvr>
                                      <p:tavLst>
                                        <p:tav tm="0">
                                          <p:val>
                                            <p:fltVal val="0"/>
                                          </p:val>
                                        </p:tav>
                                        <p:tav tm="100000">
                                          <p:val>
                                            <p:strVal val="#ppt_h"/>
                                          </p:val>
                                        </p:tav>
                                      </p:tavLst>
                                    </p:anim>
                                    <p:animEffect transition="in" filter="fade">
                                      <p:cBhvr>
                                        <p:cTn id="80" dur="500"/>
                                        <p:tgtEl>
                                          <p:spTgt spid="22"/>
                                        </p:tgtEl>
                                      </p:cBhvr>
                                    </p:animEffect>
                                  </p:childTnLst>
                                </p:cTn>
                              </p:par>
                            </p:childTnLst>
                          </p:cTn>
                        </p:par>
                        <p:par>
                          <p:cTn id="81" fill="hold">
                            <p:stCondLst>
                              <p:cond delay="15500"/>
                            </p:stCondLst>
                            <p:childTnLst>
                              <p:par>
                                <p:cTn id="82" presetID="10" presetClass="entr" presetSubtype="0" fill="hold" grpId="0" nodeType="afterEffect">
                                  <p:stCondLst>
                                    <p:cond delay="0"/>
                                  </p:stCondLst>
                                  <p:childTnLst>
                                    <p:set>
                                      <p:cBhvr>
                                        <p:cTn id="83" dur="1" fill="hold">
                                          <p:stCondLst>
                                            <p:cond delay="0"/>
                                          </p:stCondLst>
                                        </p:cTn>
                                        <p:tgtEl>
                                          <p:spTgt spid="23"/>
                                        </p:tgtEl>
                                        <p:attrNameLst>
                                          <p:attrName>style.visibility</p:attrName>
                                        </p:attrNameLst>
                                      </p:cBhvr>
                                      <p:to>
                                        <p:strVal val="visible"/>
                                      </p:to>
                                    </p:set>
                                    <p:animEffect transition="in" filter="fade">
                                      <p:cBhvr>
                                        <p:cTn id="84" dur="500"/>
                                        <p:tgtEl>
                                          <p:spTgt spid="23"/>
                                        </p:tgtEl>
                                      </p:cBhvr>
                                    </p:animEffect>
                                  </p:childTnLst>
                                </p:cTn>
                              </p:par>
                            </p:childTnLst>
                          </p:cTn>
                        </p:par>
                        <p:par>
                          <p:cTn id="85" fill="hold">
                            <p:stCondLst>
                              <p:cond delay="16000"/>
                            </p:stCondLst>
                            <p:childTnLst>
                              <p:par>
                                <p:cTn id="86" presetID="21" presetClass="entr" presetSubtype="1" fill="hold" grpId="0" nodeType="afterEffect">
                                  <p:stCondLst>
                                    <p:cond delay="0"/>
                                  </p:stCondLst>
                                  <p:childTnLst>
                                    <p:set>
                                      <p:cBhvr>
                                        <p:cTn id="87" dur="1" fill="hold">
                                          <p:stCondLst>
                                            <p:cond delay="0"/>
                                          </p:stCondLst>
                                        </p:cTn>
                                        <p:tgtEl>
                                          <p:spTgt spid="24"/>
                                        </p:tgtEl>
                                        <p:attrNameLst>
                                          <p:attrName>style.visibility</p:attrName>
                                        </p:attrNameLst>
                                      </p:cBhvr>
                                      <p:to>
                                        <p:strVal val="visible"/>
                                      </p:to>
                                    </p:set>
                                    <p:animEffect transition="in" filter="wheel(1)">
                                      <p:cBhvr>
                                        <p:cTn id="88" dur="2000"/>
                                        <p:tgtEl>
                                          <p:spTgt spid="24"/>
                                        </p:tgtEl>
                                      </p:cBhvr>
                                    </p:animEffect>
                                  </p:childTnLst>
                                </p:cTn>
                              </p:par>
                            </p:childTnLst>
                          </p:cTn>
                        </p:par>
                        <p:par>
                          <p:cTn id="89" fill="hold">
                            <p:stCondLst>
                              <p:cond delay="18000"/>
                            </p:stCondLst>
                            <p:childTnLst>
                              <p:par>
                                <p:cTn id="90" presetID="53" presetClass="entr" presetSubtype="16" fill="hold" grpId="0" nodeType="afterEffect">
                                  <p:stCondLst>
                                    <p:cond delay="0"/>
                                  </p:stCondLst>
                                  <p:childTnLst>
                                    <p:set>
                                      <p:cBhvr>
                                        <p:cTn id="91" dur="1" fill="hold">
                                          <p:stCondLst>
                                            <p:cond delay="0"/>
                                          </p:stCondLst>
                                        </p:cTn>
                                        <p:tgtEl>
                                          <p:spTgt spid="25"/>
                                        </p:tgtEl>
                                        <p:attrNameLst>
                                          <p:attrName>style.visibility</p:attrName>
                                        </p:attrNameLst>
                                      </p:cBhvr>
                                      <p:to>
                                        <p:strVal val="visible"/>
                                      </p:to>
                                    </p:set>
                                    <p:anim calcmode="lin" valueType="num">
                                      <p:cBhvr>
                                        <p:cTn id="92" dur="500" fill="hold"/>
                                        <p:tgtEl>
                                          <p:spTgt spid="25"/>
                                        </p:tgtEl>
                                        <p:attrNameLst>
                                          <p:attrName>ppt_w</p:attrName>
                                        </p:attrNameLst>
                                      </p:cBhvr>
                                      <p:tavLst>
                                        <p:tav tm="0">
                                          <p:val>
                                            <p:fltVal val="0"/>
                                          </p:val>
                                        </p:tav>
                                        <p:tav tm="100000">
                                          <p:val>
                                            <p:strVal val="#ppt_w"/>
                                          </p:val>
                                        </p:tav>
                                      </p:tavLst>
                                    </p:anim>
                                    <p:anim calcmode="lin" valueType="num">
                                      <p:cBhvr>
                                        <p:cTn id="93" dur="500" fill="hold"/>
                                        <p:tgtEl>
                                          <p:spTgt spid="25"/>
                                        </p:tgtEl>
                                        <p:attrNameLst>
                                          <p:attrName>ppt_h</p:attrName>
                                        </p:attrNameLst>
                                      </p:cBhvr>
                                      <p:tavLst>
                                        <p:tav tm="0">
                                          <p:val>
                                            <p:fltVal val="0"/>
                                          </p:val>
                                        </p:tav>
                                        <p:tav tm="100000">
                                          <p:val>
                                            <p:strVal val="#ppt_h"/>
                                          </p:val>
                                        </p:tav>
                                      </p:tavLst>
                                    </p:anim>
                                    <p:animEffect transition="in" filter="fade">
                                      <p:cBhvr>
                                        <p:cTn id="94" dur="500"/>
                                        <p:tgtEl>
                                          <p:spTgt spid="25"/>
                                        </p:tgtEl>
                                      </p:cBhvr>
                                    </p:animEffect>
                                  </p:childTnLst>
                                </p:cTn>
                              </p:par>
                            </p:childTnLst>
                          </p:cTn>
                        </p:par>
                        <p:par>
                          <p:cTn id="95" fill="hold">
                            <p:stCondLst>
                              <p:cond delay="18500"/>
                            </p:stCondLst>
                            <p:childTnLst>
                              <p:par>
                                <p:cTn id="96" presetID="10" presetClass="entr" presetSubtype="0" fill="hold" grpId="0" nodeType="afterEffect">
                                  <p:stCondLst>
                                    <p:cond delay="0"/>
                                  </p:stCondLst>
                                  <p:childTnLst>
                                    <p:set>
                                      <p:cBhvr>
                                        <p:cTn id="97" dur="1" fill="hold">
                                          <p:stCondLst>
                                            <p:cond delay="0"/>
                                          </p:stCondLst>
                                        </p:cTn>
                                        <p:tgtEl>
                                          <p:spTgt spid="26"/>
                                        </p:tgtEl>
                                        <p:attrNameLst>
                                          <p:attrName>style.visibility</p:attrName>
                                        </p:attrNameLst>
                                      </p:cBhvr>
                                      <p:to>
                                        <p:strVal val="visible"/>
                                      </p:to>
                                    </p:set>
                                    <p:animEffect transition="in" filter="fade">
                                      <p:cBhvr>
                                        <p:cTn id="98" dur="500"/>
                                        <p:tgtEl>
                                          <p:spTgt spid="26"/>
                                        </p:tgtEl>
                                      </p:cBhvr>
                                    </p:animEffect>
                                  </p:childTnLst>
                                </p:cTn>
                              </p:par>
                            </p:childTnLst>
                          </p:cTn>
                        </p:par>
                        <p:par>
                          <p:cTn id="99" fill="hold">
                            <p:stCondLst>
                              <p:cond delay="19000"/>
                            </p:stCondLst>
                            <p:childTnLst>
                              <p:par>
                                <p:cTn id="100" presetID="10" presetClass="entr" presetSubtype="0" fill="hold" grpId="0" nodeType="afterEffect">
                                  <p:stCondLst>
                                    <p:cond delay="0"/>
                                  </p:stCondLst>
                                  <p:childTnLst>
                                    <p:set>
                                      <p:cBhvr>
                                        <p:cTn id="101" dur="1" fill="hold">
                                          <p:stCondLst>
                                            <p:cond delay="0"/>
                                          </p:stCondLst>
                                        </p:cTn>
                                        <p:tgtEl>
                                          <p:spTgt spid="27"/>
                                        </p:tgtEl>
                                        <p:attrNameLst>
                                          <p:attrName>style.visibility</p:attrName>
                                        </p:attrNameLst>
                                      </p:cBhvr>
                                      <p:to>
                                        <p:strVal val="visible"/>
                                      </p:to>
                                    </p:set>
                                    <p:animEffect transition="in" filter="fade">
                                      <p:cBhvr>
                                        <p:cTn id="102"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7CAB2B86-4E3B-C98C-411E-958BEFE187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2528" y="6154887"/>
            <a:ext cx="2234242" cy="525923"/>
          </a:xfrm>
          <a:prstGeom prst="rect">
            <a:avLst/>
          </a:prstGeom>
        </p:spPr>
      </p:pic>
      <p:pic>
        <p:nvPicPr>
          <p:cNvPr id="4" name="Picture 4" descr="Ellucian Student Reseñas 2026: Detalles, Precios y Características | G2">
            <a:extLst>
              <a:ext uri="{FF2B5EF4-FFF2-40B4-BE49-F238E27FC236}">
                <a16:creationId xmlns:a16="http://schemas.microsoft.com/office/drawing/2014/main" id="{7352B780-8C7C-7B91-F3EE-5E6EF2C2E4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98101" y="5901780"/>
            <a:ext cx="1821371" cy="956220"/>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0AEBA78F-8C98-5D4D-384F-95B753FFADE4}"/>
              </a:ext>
            </a:extLst>
          </p:cNvPr>
          <p:cNvSpPr txBox="1"/>
          <p:nvPr/>
        </p:nvSpPr>
        <p:spPr>
          <a:xfrm>
            <a:off x="431320" y="241540"/>
            <a:ext cx="9424375" cy="523220"/>
          </a:xfrm>
          <a:prstGeom prst="rect">
            <a:avLst/>
          </a:prstGeom>
          <a:noFill/>
        </p:spPr>
        <p:txBody>
          <a:bodyPr wrap="none" rtlCol="0">
            <a:spAutoFit/>
          </a:bodyPr>
          <a:lstStyle/>
          <a:p>
            <a:r>
              <a:rPr lang="es-ES" sz="2800" b="1" dirty="0">
                <a:latin typeface="Montserrat" pitchFamily="2" charset="0"/>
              </a:rPr>
              <a:t>CONFIGURACIÓN: TIPOS DE PERIODO - STVTRMT</a:t>
            </a:r>
            <a:endParaRPr lang="es-PE" sz="2800" b="1" dirty="0">
              <a:latin typeface="Montserrat" pitchFamily="2" charset="0"/>
            </a:endParaRPr>
          </a:p>
        </p:txBody>
      </p:sp>
      <p:sp>
        <p:nvSpPr>
          <p:cNvPr id="8" name="Rectángulo 7">
            <a:extLst>
              <a:ext uri="{FF2B5EF4-FFF2-40B4-BE49-F238E27FC236}">
                <a16:creationId xmlns:a16="http://schemas.microsoft.com/office/drawing/2014/main" id="{A16BCE08-E23C-F264-A6E3-E4019979D2E2}"/>
              </a:ext>
            </a:extLst>
          </p:cNvPr>
          <p:cNvSpPr/>
          <p:nvPr/>
        </p:nvSpPr>
        <p:spPr>
          <a:xfrm>
            <a:off x="9855695" y="241540"/>
            <a:ext cx="2336304" cy="445583"/>
          </a:xfrm>
          <a:prstGeom prst="rect">
            <a:avLst/>
          </a:prstGeom>
          <a:gradFill flip="none" rotWithShape="1">
            <a:gsLst>
              <a:gs pos="0">
                <a:schemeClr val="accent6">
                  <a:lumMod val="0"/>
                  <a:lumOff val="100000"/>
                </a:schemeClr>
              </a:gs>
              <a:gs pos="66000">
                <a:schemeClr val="accent6">
                  <a:lumMod val="100000"/>
                </a:schemeClr>
              </a:gs>
            </a:gsLst>
            <a:lin ang="0" scaled="1"/>
            <a:tileRect/>
          </a:gra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s-PE"/>
          </a:p>
        </p:txBody>
      </p:sp>
      <p:sp>
        <p:nvSpPr>
          <p:cNvPr id="6" name="CuadroTexto 5">
            <a:extLst>
              <a:ext uri="{FF2B5EF4-FFF2-40B4-BE49-F238E27FC236}">
                <a16:creationId xmlns:a16="http://schemas.microsoft.com/office/drawing/2014/main" id="{AC33DC36-253A-547B-7A30-A152C2F6B4CE}"/>
              </a:ext>
            </a:extLst>
          </p:cNvPr>
          <p:cNvSpPr txBox="1"/>
          <p:nvPr/>
        </p:nvSpPr>
        <p:spPr>
          <a:xfrm>
            <a:off x="4528936" y="6386396"/>
            <a:ext cx="3134128" cy="276999"/>
          </a:xfrm>
          <a:prstGeom prst="rect">
            <a:avLst/>
          </a:prstGeom>
          <a:noFill/>
        </p:spPr>
        <p:txBody>
          <a:bodyPr wrap="none" rtlCol="0">
            <a:spAutoFit/>
          </a:bodyPr>
          <a:lstStyle/>
          <a:p>
            <a:pPr algn="ctr"/>
            <a:r>
              <a:rPr lang="es-ES" sz="1200" i="1" dirty="0"/>
              <a:t>Elaborado por: Ing. Liliana Ocampo Moreno</a:t>
            </a:r>
            <a:endParaRPr lang="es-PE" sz="1200" i="1" dirty="0"/>
          </a:p>
        </p:txBody>
      </p:sp>
      <p:pic>
        <p:nvPicPr>
          <p:cNvPr id="5" name="Imagen 4">
            <a:extLst>
              <a:ext uri="{FF2B5EF4-FFF2-40B4-BE49-F238E27FC236}">
                <a16:creationId xmlns:a16="http://schemas.microsoft.com/office/drawing/2014/main" id="{A4913BA4-64A4-3446-07BB-249893D7D1E1}"/>
              </a:ext>
            </a:extLst>
          </p:cNvPr>
          <p:cNvPicPr>
            <a:picLocks noChangeAspect="1"/>
          </p:cNvPicPr>
          <p:nvPr/>
        </p:nvPicPr>
        <p:blipFill>
          <a:blip r:embed="rId4"/>
          <a:stretch>
            <a:fillRect/>
          </a:stretch>
        </p:blipFill>
        <p:spPr>
          <a:xfrm>
            <a:off x="517585" y="923219"/>
            <a:ext cx="11205714" cy="5033520"/>
          </a:xfrm>
          <a:prstGeom prst="rect">
            <a:avLst/>
          </a:prstGeom>
        </p:spPr>
      </p:pic>
      <p:sp>
        <p:nvSpPr>
          <p:cNvPr id="9" name="Rectángulo 8">
            <a:extLst>
              <a:ext uri="{FF2B5EF4-FFF2-40B4-BE49-F238E27FC236}">
                <a16:creationId xmlns:a16="http://schemas.microsoft.com/office/drawing/2014/main" id="{DB30FB7C-AB61-88B1-CE67-6C6F3DA4395D}"/>
              </a:ext>
            </a:extLst>
          </p:cNvPr>
          <p:cNvSpPr/>
          <p:nvPr/>
        </p:nvSpPr>
        <p:spPr>
          <a:xfrm>
            <a:off x="10929666" y="1190450"/>
            <a:ext cx="215660" cy="224286"/>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10" name="Rectángulo: esquinas redondeadas 9">
            <a:extLst>
              <a:ext uri="{FF2B5EF4-FFF2-40B4-BE49-F238E27FC236}">
                <a16:creationId xmlns:a16="http://schemas.microsoft.com/office/drawing/2014/main" id="{4986120F-30F3-78F1-10C9-3379303FC597}"/>
              </a:ext>
            </a:extLst>
          </p:cNvPr>
          <p:cNvSpPr/>
          <p:nvPr/>
        </p:nvSpPr>
        <p:spPr>
          <a:xfrm>
            <a:off x="10580296" y="1173196"/>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t>1</a:t>
            </a:r>
            <a:endParaRPr lang="es-PE" sz="1100" b="1" dirty="0"/>
          </a:p>
        </p:txBody>
      </p:sp>
      <p:sp>
        <p:nvSpPr>
          <p:cNvPr id="11" name="CuadroTexto 10">
            <a:extLst>
              <a:ext uri="{FF2B5EF4-FFF2-40B4-BE49-F238E27FC236}">
                <a16:creationId xmlns:a16="http://schemas.microsoft.com/office/drawing/2014/main" id="{1CB13E48-BEC5-512D-A13B-7C26AF840BB8}"/>
              </a:ext>
            </a:extLst>
          </p:cNvPr>
          <p:cNvSpPr txBox="1"/>
          <p:nvPr/>
        </p:nvSpPr>
        <p:spPr>
          <a:xfrm>
            <a:off x="8768749" y="774101"/>
            <a:ext cx="1744692" cy="623381"/>
          </a:xfrm>
          <a:prstGeom prst="roundRect">
            <a:avLst>
              <a:gd name="adj" fmla="val 7573"/>
            </a:avLst>
          </a:prstGeom>
          <a:solidFill>
            <a:srgbClr val="7030A0"/>
          </a:solidFill>
        </p:spPr>
        <p:txBody>
          <a:bodyPr wrap="square">
            <a:spAutoFit/>
          </a:bodyPr>
          <a:lstStyle/>
          <a:p>
            <a:pPr algn="ctr" rtl="0">
              <a:spcBef>
                <a:spcPts val="0"/>
              </a:spcBef>
              <a:spcAft>
                <a:spcPts val="0"/>
              </a:spcAft>
            </a:pPr>
            <a:r>
              <a:rPr lang="es-ES" sz="1100" b="0" i="0" u="none" strike="noStrike" dirty="0">
                <a:solidFill>
                  <a:srgbClr val="FFFFFF"/>
                </a:solidFill>
                <a:effectLst/>
              </a:rPr>
              <a:t>Para ingresar un nuevo año, debe hacer clic en la opción </a:t>
            </a:r>
            <a:r>
              <a:rPr lang="es-ES" sz="1100" b="1" i="0" u="none" strike="noStrike" dirty="0">
                <a:solidFill>
                  <a:srgbClr val="92D050"/>
                </a:solidFill>
                <a:effectLst/>
              </a:rPr>
              <a:t>+</a:t>
            </a:r>
            <a:endParaRPr lang="es-ES" b="1" dirty="0">
              <a:solidFill>
                <a:srgbClr val="92D050"/>
              </a:solidFill>
              <a:effectLst/>
            </a:endParaRPr>
          </a:p>
        </p:txBody>
      </p:sp>
      <p:sp>
        <p:nvSpPr>
          <p:cNvPr id="12" name="Rectángulo 11">
            <a:extLst>
              <a:ext uri="{FF2B5EF4-FFF2-40B4-BE49-F238E27FC236}">
                <a16:creationId xmlns:a16="http://schemas.microsoft.com/office/drawing/2014/main" id="{7E464EF2-A882-E5BB-376B-10AD6A89998E}"/>
              </a:ext>
            </a:extLst>
          </p:cNvPr>
          <p:cNvSpPr/>
          <p:nvPr/>
        </p:nvSpPr>
        <p:spPr>
          <a:xfrm>
            <a:off x="497455" y="1509623"/>
            <a:ext cx="2412000" cy="189781"/>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13" name="Rectángulo: esquinas redondeadas 12">
            <a:extLst>
              <a:ext uri="{FF2B5EF4-FFF2-40B4-BE49-F238E27FC236}">
                <a16:creationId xmlns:a16="http://schemas.microsoft.com/office/drawing/2014/main" id="{625945D6-6E10-A057-65C2-A6960D419240}"/>
              </a:ext>
            </a:extLst>
          </p:cNvPr>
          <p:cNvSpPr/>
          <p:nvPr/>
        </p:nvSpPr>
        <p:spPr>
          <a:xfrm>
            <a:off x="1417608" y="1782726"/>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t>2</a:t>
            </a:r>
            <a:endParaRPr lang="es-PE" sz="1100" b="1" dirty="0"/>
          </a:p>
        </p:txBody>
      </p:sp>
      <p:sp>
        <p:nvSpPr>
          <p:cNvPr id="14" name="CuadroTexto 13">
            <a:extLst>
              <a:ext uri="{FF2B5EF4-FFF2-40B4-BE49-F238E27FC236}">
                <a16:creationId xmlns:a16="http://schemas.microsoft.com/office/drawing/2014/main" id="{F87D8FF1-6597-7DE8-B4D5-5588B401D44E}"/>
              </a:ext>
            </a:extLst>
          </p:cNvPr>
          <p:cNvSpPr txBox="1"/>
          <p:nvPr/>
        </p:nvSpPr>
        <p:spPr>
          <a:xfrm>
            <a:off x="752293" y="2090334"/>
            <a:ext cx="1559583" cy="1150858"/>
          </a:xfrm>
          <a:prstGeom prst="roundRect">
            <a:avLst>
              <a:gd name="adj" fmla="val 7573"/>
            </a:avLst>
          </a:prstGeom>
          <a:solidFill>
            <a:srgbClr val="7030A0"/>
          </a:solidFill>
        </p:spPr>
        <p:txBody>
          <a:bodyPr wrap="square">
            <a:spAutoFit/>
          </a:bodyPr>
          <a:lstStyle/>
          <a:p>
            <a:pPr algn="ctr"/>
            <a:r>
              <a:rPr lang="es-ES" sz="1100" dirty="0">
                <a:solidFill>
                  <a:srgbClr val="FFFFFF"/>
                </a:solidFill>
              </a:rPr>
              <a:t>Se debe ingresar el </a:t>
            </a:r>
            <a:r>
              <a:rPr lang="es-ES" sz="1100" b="1" dirty="0">
                <a:solidFill>
                  <a:srgbClr val="92D050"/>
                </a:solidFill>
              </a:rPr>
              <a:t>Código del Tipo de Periodo</a:t>
            </a:r>
            <a:r>
              <a:rPr lang="es-ES" sz="1100" b="1" dirty="0">
                <a:solidFill>
                  <a:schemeClr val="bg1"/>
                </a:solidFill>
              </a:rPr>
              <a:t>.</a:t>
            </a:r>
            <a:r>
              <a:rPr lang="es-ES" sz="1100" dirty="0">
                <a:solidFill>
                  <a:srgbClr val="FFFFFF"/>
                </a:solidFill>
              </a:rPr>
              <a:t> Código alfanumérico de 1 </a:t>
            </a:r>
            <a:r>
              <a:rPr lang="es-ES" sz="1100" dirty="0" err="1">
                <a:solidFill>
                  <a:srgbClr val="FFFFFF"/>
                </a:solidFill>
              </a:rPr>
              <a:t>caracter</a:t>
            </a:r>
            <a:r>
              <a:rPr lang="es-ES" sz="1100" dirty="0">
                <a:solidFill>
                  <a:srgbClr val="FFFFFF"/>
                </a:solidFill>
              </a:rPr>
              <a:t>.</a:t>
            </a:r>
          </a:p>
          <a:p>
            <a:pPr algn="ctr"/>
            <a:r>
              <a:rPr lang="es-ES" sz="1100" dirty="0">
                <a:solidFill>
                  <a:srgbClr val="FFFFFF"/>
                </a:solidFill>
              </a:rPr>
              <a:t>(Requerido)</a:t>
            </a:r>
            <a:endParaRPr lang="es-ES" b="0" dirty="0">
              <a:effectLst/>
            </a:endParaRPr>
          </a:p>
        </p:txBody>
      </p:sp>
      <p:sp>
        <p:nvSpPr>
          <p:cNvPr id="15" name="Rectángulo 14">
            <a:extLst>
              <a:ext uri="{FF2B5EF4-FFF2-40B4-BE49-F238E27FC236}">
                <a16:creationId xmlns:a16="http://schemas.microsoft.com/office/drawing/2014/main" id="{8A5CA828-28DF-03FB-E575-7037EBDF11AF}"/>
              </a:ext>
            </a:extLst>
          </p:cNvPr>
          <p:cNvSpPr/>
          <p:nvPr/>
        </p:nvSpPr>
        <p:spPr>
          <a:xfrm>
            <a:off x="3453436" y="1515378"/>
            <a:ext cx="5112000" cy="189781"/>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16" name="Rectángulo: esquinas redondeadas 15">
            <a:extLst>
              <a:ext uri="{FF2B5EF4-FFF2-40B4-BE49-F238E27FC236}">
                <a16:creationId xmlns:a16="http://schemas.microsoft.com/office/drawing/2014/main" id="{E2B15828-710C-3886-9C51-48D41FFBFD5A}"/>
              </a:ext>
            </a:extLst>
          </p:cNvPr>
          <p:cNvSpPr/>
          <p:nvPr/>
        </p:nvSpPr>
        <p:spPr>
          <a:xfrm>
            <a:off x="5891835" y="1788481"/>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t>3</a:t>
            </a:r>
            <a:endParaRPr lang="es-PE" sz="1100" b="1" dirty="0"/>
          </a:p>
        </p:txBody>
      </p:sp>
      <p:sp>
        <p:nvSpPr>
          <p:cNvPr id="17" name="CuadroTexto 16">
            <a:extLst>
              <a:ext uri="{FF2B5EF4-FFF2-40B4-BE49-F238E27FC236}">
                <a16:creationId xmlns:a16="http://schemas.microsoft.com/office/drawing/2014/main" id="{77CF69E7-7652-3887-9563-6AF749A5E509}"/>
              </a:ext>
            </a:extLst>
          </p:cNvPr>
          <p:cNvSpPr txBox="1"/>
          <p:nvPr/>
        </p:nvSpPr>
        <p:spPr>
          <a:xfrm>
            <a:off x="3999782" y="2090334"/>
            <a:ext cx="4040038" cy="799207"/>
          </a:xfrm>
          <a:prstGeom prst="roundRect">
            <a:avLst>
              <a:gd name="adj" fmla="val 7573"/>
            </a:avLst>
          </a:prstGeom>
          <a:solidFill>
            <a:srgbClr val="7030A0"/>
          </a:solidFill>
        </p:spPr>
        <p:txBody>
          <a:bodyPr wrap="square">
            <a:spAutoFit/>
          </a:bodyPr>
          <a:lstStyle/>
          <a:p>
            <a:pPr algn="ctr"/>
            <a:r>
              <a:rPr lang="es-ES" sz="1100" dirty="0">
                <a:solidFill>
                  <a:srgbClr val="FFFFFF"/>
                </a:solidFill>
              </a:rPr>
              <a:t>Se debe ingresar la </a:t>
            </a:r>
            <a:r>
              <a:rPr lang="es-ES" sz="1100" b="1" dirty="0">
                <a:solidFill>
                  <a:srgbClr val="92D050"/>
                </a:solidFill>
              </a:rPr>
              <a:t>Descripción</a:t>
            </a:r>
            <a:r>
              <a:rPr lang="es-ES" sz="1100" b="1" dirty="0">
                <a:solidFill>
                  <a:schemeClr val="bg1"/>
                </a:solidFill>
              </a:rPr>
              <a:t>.</a:t>
            </a:r>
            <a:r>
              <a:rPr lang="es-ES" sz="1100" dirty="0">
                <a:solidFill>
                  <a:srgbClr val="FFFFFF"/>
                </a:solidFill>
              </a:rPr>
              <a:t> Campo alfanumérico de hasta 30 caracteres que representa el nombre del tipo de periodo. Por ejemplo: trimestral, semestral, anual, etc. (Requerido)</a:t>
            </a:r>
            <a:endParaRPr lang="es-ES" b="0" dirty="0">
              <a:effectLst/>
            </a:endParaRPr>
          </a:p>
        </p:txBody>
      </p:sp>
      <p:sp>
        <p:nvSpPr>
          <p:cNvPr id="18" name="Rectángulo 17">
            <a:extLst>
              <a:ext uri="{FF2B5EF4-FFF2-40B4-BE49-F238E27FC236}">
                <a16:creationId xmlns:a16="http://schemas.microsoft.com/office/drawing/2014/main" id="{52517D49-DF4D-51FC-295B-6A1E595812EC}"/>
              </a:ext>
            </a:extLst>
          </p:cNvPr>
          <p:cNvSpPr/>
          <p:nvPr/>
        </p:nvSpPr>
        <p:spPr>
          <a:xfrm>
            <a:off x="11128075" y="5588289"/>
            <a:ext cx="684363" cy="347998"/>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19" name="Rectángulo: esquinas redondeadas 18">
            <a:extLst>
              <a:ext uri="{FF2B5EF4-FFF2-40B4-BE49-F238E27FC236}">
                <a16:creationId xmlns:a16="http://schemas.microsoft.com/office/drawing/2014/main" id="{F0D60B2F-7567-0BAE-91A4-26E808C0B562}"/>
              </a:ext>
            </a:extLst>
          </p:cNvPr>
          <p:cNvSpPr/>
          <p:nvPr/>
        </p:nvSpPr>
        <p:spPr>
          <a:xfrm>
            <a:off x="10811772" y="5650145"/>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t>7</a:t>
            </a:r>
            <a:endParaRPr lang="es-PE" sz="1100" b="1" dirty="0"/>
          </a:p>
        </p:txBody>
      </p:sp>
      <p:sp>
        <p:nvSpPr>
          <p:cNvPr id="20" name="CuadroTexto 19">
            <a:extLst>
              <a:ext uri="{FF2B5EF4-FFF2-40B4-BE49-F238E27FC236}">
                <a16:creationId xmlns:a16="http://schemas.microsoft.com/office/drawing/2014/main" id="{7C7674A0-2940-B492-8FAD-A28E4FBC9DC1}"/>
              </a:ext>
            </a:extLst>
          </p:cNvPr>
          <p:cNvSpPr txBox="1"/>
          <p:nvPr/>
        </p:nvSpPr>
        <p:spPr>
          <a:xfrm>
            <a:off x="9450237" y="4809506"/>
            <a:ext cx="2242868" cy="623381"/>
          </a:xfrm>
          <a:prstGeom prst="roundRect">
            <a:avLst>
              <a:gd name="adj" fmla="val 7573"/>
            </a:avLst>
          </a:prstGeom>
          <a:solidFill>
            <a:srgbClr val="7030A0"/>
          </a:solidFill>
        </p:spPr>
        <p:txBody>
          <a:bodyPr wrap="square">
            <a:spAutoFit/>
          </a:bodyPr>
          <a:lstStyle/>
          <a:p>
            <a:pPr algn="ctr"/>
            <a:r>
              <a:rPr lang="es-ES" sz="1100" dirty="0">
                <a:solidFill>
                  <a:srgbClr val="FFFFFF"/>
                </a:solidFill>
              </a:rPr>
              <a:t>Se debe presionar </a:t>
            </a:r>
            <a:r>
              <a:rPr lang="es-ES" sz="1100" b="1" dirty="0">
                <a:solidFill>
                  <a:srgbClr val="92D050"/>
                </a:solidFill>
              </a:rPr>
              <a:t>Guardar</a:t>
            </a:r>
            <a:r>
              <a:rPr lang="es-ES" sz="1100" dirty="0">
                <a:solidFill>
                  <a:srgbClr val="FFFFFF"/>
                </a:solidFill>
              </a:rPr>
              <a:t> para que la información quede registrada en el sistema</a:t>
            </a:r>
          </a:p>
        </p:txBody>
      </p:sp>
    </p:spTree>
    <p:extLst>
      <p:ext uri="{BB962C8B-B14F-4D97-AF65-F5344CB8AC3E}">
        <p14:creationId xmlns:p14="http://schemas.microsoft.com/office/powerpoint/2010/main" val="21638082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left)">
                                      <p:cBhvr>
                                        <p:cTn id="10" dur="500"/>
                                        <p:tgtEl>
                                          <p:spTgt spid="8"/>
                                        </p:tgtEl>
                                      </p:cBhvr>
                                    </p:animEffect>
                                  </p:childTnLst>
                                </p:cTn>
                              </p:par>
                            </p:childTnLst>
                          </p:cTn>
                        </p:par>
                        <p:par>
                          <p:cTn id="11" fill="hold">
                            <p:stCondLst>
                              <p:cond delay="500"/>
                            </p:stCondLst>
                            <p:childTnLst>
                              <p:par>
                                <p:cTn id="12" presetID="9" presetClass="entr" presetSubtype="0" fill="hold"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dissolve">
                                      <p:cBhvr>
                                        <p:cTn id="14" dur="500"/>
                                        <p:tgtEl>
                                          <p:spTgt spid="5"/>
                                        </p:tgtEl>
                                      </p:cBhvr>
                                    </p:animEffect>
                                  </p:childTnLst>
                                </p:cTn>
                              </p:par>
                            </p:childTnLst>
                          </p:cTn>
                        </p:par>
                        <p:par>
                          <p:cTn id="15" fill="hold">
                            <p:stCondLst>
                              <p:cond delay="1000"/>
                            </p:stCondLst>
                            <p:childTnLst>
                              <p:par>
                                <p:cTn id="16" presetID="21" presetClass="entr" presetSubtype="1" fill="hold" grpId="0" nodeType="after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wheel(1)">
                                      <p:cBhvr>
                                        <p:cTn id="18" dur="2000"/>
                                        <p:tgtEl>
                                          <p:spTgt spid="9"/>
                                        </p:tgtEl>
                                      </p:cBhvr>
                                    </p:animEffect>
                                  </p:childTnLst>
                                </p:cTn>
                              </p:par>
                            </p:childTnLst>
                          </p:cTn>
                        </p:par>
                        <p:par>
                          <p:cTn id="19" fill="hold">
                            <p:stCondLst>
                              <p:cond delay="3000"/>
                            </p:stCondLst>
                            <p:childTnLst>
                              <p:par>
                                <p:cTn id="20" presetID="53" presetClass="entr" presetSubtype="16" fill="hold" grpId="0" nodeType="afterEffect">
                                  <p:stCondLst>
                                    <p:cond delay="0"/>
                                  </p:stCondLst>
                                  <p:childTnLst>
                                    <p:set>
                                      <p:cBhvr>
                                        <p:cTn id="21" dur="1" fill="hold">
                                          <p:stCondLst>
                                            <p:cond delay="0"/>
                                          </p:stCondLst>
                                        </p:cTn>
                                        <p:tgtEl>
                                          <p:spTgt spid="10"/>
                                        </p:tgtEl>
                                        <p:attrNameLst>
                                          <p:attrName>style.visibility</p:attrName>
                                        </p:attrNameLst>
                                      </p:cBhvr>
                                      <p:to>
                                        <p:strVal val="visible"/>
                                      </p:to>
                                    </p:set>
                                    <p:anim calcmode="lin" valueType="num">
                                      <p:cBhvr>
                                        <p:cTn id="22" dur="500" fill="hold"/>
                                        <p:tgtEl>
                                          <p:spTgt spid="10"/>
                                        </p:tgtEl>
                                        <p:attrNameLst>
                                          <p:attrName>ppt_w</p:attrName>
                                        </p:attrNameLst>
                                      </p:cBhvr>
                                      <p:tavLst>
                                        <p:tav tm="0">
                                          <p:val>
                                            <p:fltVal val="0"/>
                                          </p:val>
                                        </p:tav>
                                        <p:tav tm="100000">
                                          <p:val>
                                            <p:strVal val="#ppt_w"/>
                                          </p:val>
                                        </p:tav>
                                      </p:tavLst>
                                    </p:anim>
                                    <p:anim calcmode="lin" valueType="num">
                                      <p:cBhvr>
                                        <p:cTn id="23" dur="500" fill="hold"/>
                                        <p:tgtEl>
                                          <p:spTgt spid="10"/>
                                        </p:tgtEl>
                                        <p:attrNameLst>
                                          <p:attrName>ppt_h</p:attrName>
                                        </p:attrNameLst>
                                      </p:cBhvr>
                                      <p:tavLst>
                                        <p:tav tm="0">
                                          <p:val>
                                            <p:fltVal val="0"/>
                                          </p:val>
                                        </p:tav>
                                        <p:tav tm="100000">
                                          <p:val>
                                            <p:strVal val="#ppt_h"/>
                                          </p:val>
                                        </p:tav>
                                      </p:tavLst>
                                    </p:anim>
                                    <p:animEffect transition="in" filter="fade">
                                      <p:cBhvr>
                                        <p:cTn id="24" dur="500"/>
                                        <p:tgtEl>
                                          <p:spTgt spid="10"/>
                                        </p:tgtEl>
                                      </p:cBhvr>
                                    </p:animEffect>
                                  </p:childTnLst>
                                </p:cTn>
                              </p:par>
                            </p:childTnLst>
                          </p:cTn>
                        </p:par>
                        <p:par>
                          <p:cTn id="25" fill="hold">
                            <p:stCondLst>
                              <p:cond delay="3500"/>
                            </p:stCondLst>
                            <p:childTnLst>
                              <p:par>
                                <p:cTn id="26" presetID="10" presetClass="entr" presetSubtype="0" fill="hold" grpId="0" nodeType="after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00"/>
                                        <p:tgtEl>
                                          <p:spTgt spid="11"/>
                                        </p:tgtEl>
                                      </p:cBhvr>
                                    </p:animEffect>
                                  </p:childTnLst>
                                </p:cTn>
                              </p:par>
                            </p:childTnLst>
                          </p:cTn>
                        </p:par>
                        <p:par>
                          <p:cTn id="29" fill="hold">
                            <p:stCondLst>
                              <p:cond delay="4000"/>
                            </p:stCondLst>
                            <p:childTnLst>
                              <p:par>
                                <p:cTn id="30" presetID="21" presetClass="entr" presetSubtype="1" fill="hold" grpId="0" nodeType="after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wheel(1)">
                                      <p:cBhvr>
                                        <p:cTn id="32" dur="2000"/>
                                        <p:tgtEl>
                                          <p:spTgt spid="12"/>
                                        </p:tgtEl>
                                      </p:cBhvr>
                                    </p:animEffect>
                                  </p:childTnLst>
                                </p:cTn>
                              </p:par>
                            </p:childTnLst>
                          </p:cTn>
                        </p:par>
                        <p:par>
                          <p:cTn id="33" fill="hold">
                            <p:stCondLst>
                              <p:cond delay="6000"/>
                            </p:stCondLst>
                            <p:childTnLst>
                              <p:par>
                                <p:cTn id="34" presetID="53" presetClass="entr" presetSubtype="16" fill="hold" grpId="0" nodeType="afterEffect">
                                  <p:stCondLst>
                                    <p:cond delay="0"/>
                                  </p:stCondLst>
                                  <p:childTnLst>
                                    <p:set>
                                      <p:cBhvr>
                                        <p:cTn id="35" dur="1" fill="hold">
                                          <p:stCondLst>
                                            <p:cond delay="0"/>
                                          </p:stCondLst>
                                        </p:cTn>
                                        <p:tgtEl>
                                          <p:spTgt spid="13"/>
                                        </p:tgtEl>
                                        <p:attrNameLst>
                                          <p:attrName>style.visibility</p:attrName>
                                        </p:attrNameLst>
                                      </p:cBhvr>
                                      <p:to>
                                        <p:strVal val="visible"/>
                                      </p:to>
                                    </p:set>
                                    <p:anim calcmode="lin" valueType="num">
                                      <p:cBhvr>
                                        <p:cTn id="36" dur="500" fill="hold"/>
                                        <p:tgtEl>
                                          <p:spTgt spid="13"/>
                                        </p:tgtEl>
                                        <p:attrNameLst>
                                          <p:attrName>ppt_w</p:attrName>
                                        </p:attrNameLst>
                                      </p:cBhvr>
                                      <p:tavLst>
                                        <p:tav tm="0">
                                          <p:val>
                                            <p:fltVal val="0"/>
                                          </p:val>
                                        </p:tav>
                                        <p:tav tm="100000">
                                          <p:val>
                                            <p:strVal val="#ppt_w"/>
                                          </p:val>
                                        </p:tav>
                                      </p:tavLst>
                                    </p:anim>
                                    <p:anim calcmode="lin" valueType="num">
                                      <p:cBhvr>
                                        <p:cTn id="37" dur="500" fill="hold"/>
                                        <p:tgtEl>
                                          <p:spTgt spid="13"/>
                                        </p:tgtEl>
                                        <p:attrNameLst>
                                          <p:attrName>ppt_h</p:attrName>
                                        </p:attrNameLst>
                                      </p:cBhvr>
                                      <p:tavLst>
                                        <p:tav tm="0">
                                          <p:val>
                                            <p:fltVal val="0"/>
                                          </p:val>
                                        </p:tav>
                                        <p:tav tm="100000">
                                          <p:val>
                                            <p:strVal val="#ppt_h"/>
                                          </p:val>
                                        </p:tav>
                                      </p:tavLst>
                                    </p:anim>
                                    <p:animEffect transition="in" filter="fade">
                                      <p:cBhvr>
                                        <p:cTn id="38" dur="500"/>
                                        <p:tgtEl>
                                          <p:spTgt spid="13"/>
                                        </p:tgtEl>
                                      </p:cBhvr>
                                    </p:animEffect>
                                  </p:childTnLst>
                                </p:cTn>
                              </p:par>
                            </p:childTnLst>
                          </p:cTn>
                        </p:par>
                        <p:par>
                          <p:cTn id="39" fill="hold">
                            <p:stCondLst>
                              <p:cond delay="6500"/>
                            </p:stCondLst>
                            <p:childTnLst>
                              <p:par>
                                <p:cTn id="40" presetID="10" presetClass="entr" presetSubtype="0" fill="hold" grpId="0" nodeType="after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500"/>
                                        <p:tgtEl>
                                          <p:spTgt spid="14"/>
                                        </p:tgtEl>
                                      </p:cBhvr>
                                    </p:animEffect>
                                  </p:childTnLst>
                                </p:cTn>
                              </p:par>
                            </p:childTnLst>
                          </p:cTn>
                        </p:par>
                        <p:par>
                          <p:cTn id="43" fill="hold">
                            <p:stCondLst>
                              <p:cond delay="7000"/>
                            </p:stCondLst>
                            <p:childTnLst>
                              <p:par>
                                <p:cTn id="44" presetID="21" presetClass="entr" presetSubtype="1" fill="hold" grpId="0" nodeType="after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wheel(1)">
                                      <p:cBhvr>
                                        <p:cTn id="46" dur="2000"/>
                                        <p:tgtEl>
                                          <p:spTgt spid="15"/>
                                        </p:tgtEl>
                                      </p:cBhvr>
                                    </p:animEffect>
                                  </p:childTnLst>
                                </p:cTn>
                              </p:par>
                            </p:childTnLst>
                          </p:cTn>
                        </p:par>
                        <p:par>
                          <p:cTn id="47" fill="hold">
                            <p:stCondLst>
                              <p:cond delay="9000"/>
                            </p:stCondLst>
                            <p:childTnLst>
                              <p:par>
                                <p:cTn id="48" presetID="53" presetClass="entr" presetSubtype="16" fill="hold" grpId="0" nodeType="afterEffect">
                                  <p:stCondLst>
                                    <p:cond delay="0"/>
                                  </p:stCondLst>
                                  <p:childTnLst>
                                    <p:set>
                                      <p:cBhvr>
                                        <p:cTn id="49" dur="1" fill="hold">
                                          <p:stCondLst>
                                            <p:cond delay="0"/>
                                          </p:stCondLst>
                                        </p:cTn>
                                        <p:tgtEl>
                                          <p:spTgt spid="16"/>
                                        </p:tgtEl>
                                        <p:attrNameLst>
                                          <p:attrName>style.visibility</p:attrName>
                                        </p:attrNameLst>
                                      </p:cBhvr>
                                      <p:to>
                                        <p:strVal val="visible"/>
                                      </p:to>
                                    </p:set>
                                    <p:anim calcmode="lin" valueType="num">
                                      <p:cBhvr>
                                        <p:cTn id="50" dur="500" fill="hold"/>
                                        <p:tgtEl>
                                          <p:spTgt spid="16"/>
                                        </p:tgtEl>
                                        <p:attrNameLst>
                                          <p:attrName>ppt_w</p:attrName>
                                        </p:attrNameLst>
                                      </p:cBhvr>
                                      <p:tavLst>
                                        <p:tav tm="0">
                                          <p:val>
                                            <p:fltVal val="0"/>
                                          </p:val>
                                        </p:tav>
                                        <p:tav tm="100000">
                                          <p:val>
                                            <p:strVal val="#ppt_w"/>
                                          </p:val>
                                        </p:tav>
                                      </p:tavLst>
                                    </p:anim>
                                    <p:anim calcmode="lin" valueType="num">
                                      <p:cBhvr>
                                        <p:cTn id="51" dur="500" fill="hold"/>
                                        <p:tgtEl>
                                          <p:spTgt spid="16"/>
                                        </p:tgtEl>
                                        <p:attrNameLst>
                                          <p:attrName>ppt_h</p:attrName>
                                        </p:attrNameLst>
                                      </p:cBhvr>
                                      <p:tavLst>
                                        <p:tav tm="0">
                                          <p:val>
                                            <p:fltVal val="0"/>
                                          </p:val>
                                        </p:tav>
                                        <p:tav tm="100000">
                                          <p:val>
                                            <p:strVal val="#ppt_h"/>
                                          </p:val>
                                        </p:tav>
                                      </p:tavLst>
                                    </p:anim>
                                    <p:animEffect transition="in" filter="fade">
                                      <p:cBhvr>
                                        <p:cTn id="52" dur="500"/>
                                        <p:tgtEl>
                                          <p:spTgt spid="16"/>
                                        </p:tgtEl>
                                      </p:cBhvr>
                                    </p:animEffect>
                                  </p:childTnLst>
                                </p:cTn>
                              </p:par>
                            </p:childTnLst>
                          </p:cTn>
                        </p:par>
                        <p:par>
                          <p:cTn id="53" fill="hold">
                            <p:stCondLst>
                              <p:cond delay="9500"/>
                            </p:stCondLst>
                            <p:childTnLst>
                              <p:par>
                                <p:cTn id="54" presetID="10" presetClass="entr" presetSubtype="0" fill="hold" grpId="0" nodeType="afterEffect">
                                  <p:stCondLst>
                                    <p:cond delay="0"/>
                                  </p:stCondLst>
                                  <p:childTnLst>
                                    <p:set>
                                      <p:cBhvr>
                                        <p:cTn id="55" dur="1" fill="hold">
                                          <p:stCondLst>
                                            <p:cond delay="0"/>
                                          </p:stCondLst>
                                        </p:cTn>
                                        <p:tgtEl>
                                          <p:spTgt spid="17"/>
                                        </p:tgtEl>
                                        <p:attrNameLst>
                                          <p:attrName>style.visibility</p:attrName>
                                        </p:attrNameLst>
                                      </p:cBhvr>
                                      <p:to>
                                        <p:strVal val="visible"/>
                                      </p:to>
                                    </p:set>
                                    <p:animEffect transition="in" filter="fade">
                                      <p:cBhvr>
                                        <p:cTn id="56" dur="500"/>
                                        <p:tgtEl>
                                          <p:spTgt spid="17"/>
                                        </p:tgtEl>
                                      </p:cBhvr>
                                    </p:animEffect>
                                  </p:childTnLst>
                                </p:cTn>
                              </p:par>
                            </p:childTnLst>
                          </p:cTn>
                        </p:par>
                        <p:par>
                          <p:cTn id="57" fill="hold">
                            <p:stCondLst>
                              <p:cond delay="10000"/>
                            </p:stCondLst>
                            <p:childTnLst>
                              <p:par>
                                <p:cTn id="58" presetID="21" presetClass="entr" presetSubtype="1" fill="hold" grpId="0" nodeType="afterEffect">
                                  <p:stCondLst>
                                    <p:cond delay="0"/>
                                  </p:stCondLst>
                                  <p:childTnLst>
                                    <p:set>
                                      <p:cBhvr>
                                        <p:cTn id="59" dur="1" fill="hold">
                                          <p:stCondLst>
                                            <p:cond delay="0"/>
                                          </p:stCondLst>
                                        </p:cTn>
                                        <p:tgtEl>
                                          <p:spTgt spid="18"/>
                                        </p:tgtEl>
                                        <p:attrNameLst>
                                          <p:attrName>style.visibility</p:attrName>
                                        </p:attrNameLst>
                                      </p:cBhvr>
                                      <p:to>
                                        <p:strVal val="visible"/>
                                      </p:to>
                                    </p:set>
                                    <p:animEffect transition="in" filter="wheel(1)">
                                      <p:cBhvr>
                                        <p:cTn id="60" dur="2000"/>
                                        <p:tgtEl>
                                          <p:spTgt spid="18"/>
                                        </p:tgtEl>
                                      </p:cBhvr>
                                    </p:animEffect>
                                  </p:childTnLst>
                                </p:cTn>
                              </p:par>
                            </p:childTnLst>
                          </p:cTn>
                        </p:par>
                        <p:par>
                          <p:cTn id="61" fill="hold">
                            <p:stCondLst>
                              <p:cond delay="12000"/>
                            </p:stCondLst>
                            <p:childTnLst>
                              <p:par>
                                <p:cTn id="62" presetID="53" presetClass="entr" presetSubtype="16" fill="hold" grpId="0" nodeType="afterEffect">
                                  <p:stCondLst>
                                    <p:cond delay="0"/>
                                  </p:stCondLst>
                                  <p:childTnLst>
                                    <p:set>
                                      <p:cBhvr>
                                        <p:cTn id="63" dur="1" fill="hold">
                                          <p:stCondLst>
                                            <p:cond delay="0"/>
                                          </p:stCondLst>
                                        </p:cTn>
                                        <p:tgtEl>
                                          <p:spTgt spid="19"/>
                                        </p:tgtEl>
                                        <p:attrNameLst>
                                          <p:attrName>style.visibility</p:attrName>
                                        </p:attrNameLst>
                                      </p:cBhvr>
                                      <p:to>
                                        <p:strVal val="visible"/>
                                      </p:to>
                                    </p:set>
                                    <p:anim calcmode="lin" valueType="num">
                                      <p:cBhvr>
                                        <p:cTn id="64" dur="500" fill="hold"/>
                                        <p:tgtEl>
                                          <p:spTgt spid="19"/>
                                        </p:tgtEl>
                                        <p:attrNameLst>
                                          <p:attrName>ppt_w</p:attrName>
                                        </p:attrNameLst>
                                      </p:cBhvr>
                                      <p:tavLst>
                                        <p:tav tm="0">
                                          <p:val>
                                            <p:fltVal val="0"/>
                                          </p:val>
                                        </p:tav>
                                        <p:tav tm="100000">
                                          <p:val>
                                            <p:strVal val="#ppt_w"/>
                                          </p:val>
                                        </p:tav>
                                      </p:tavLst>
                                    </p:anim>
                                    <p:anim calcmode="lin" valueType="num">
                                      <p:cBhvr>
                                        <p:cTn id="65" dur="500" fill="hold"/>
                                        <p:tgtEl>
                                          <p:spTgt spid="19"/>
                                        </p:tgtEl>
                                        <p:attrNameLst>
                                          <p:attrName>ppt_h</p:attrName>
                                        </p:attrNameLst>
                                      </p:cBhvr>
                                      <p:tavLst>
                                        <p:tav tm="0">
                                          <p:val>
                                            <p:fltVal val="0"/>
                                          </p:val>
                                        </p:tav>
                                        <p:tav tm="100000">
                                          <p:val>
                                            <p:strVal val="#ppt_h"/>
                                          </p:val>
                                        </p:tav>
                                      </p:tavLst>
                                    </p:anim>
                                    <p:animEffect transition="in" filter="fade">
                                      <p:cBhvr>
                                        <p:cTn id="66" dur="500"/>
                                        <p:tgtEl>
                                          <p:spTgt spid="19"/>
                                        </p:tgtEl>
                                      </p:cBhvr>
                                    </p:animEffect>
                                  </p:childTnLst>
                                </p:cTn>
                              </p:par>
                            </p:childTnLst>
                          </p:cTn>
                        </p:par>
                        <p:par>
                          <p:cTn id="67" fill="hold">
                            <p:stCondLst>
                              <p:cond delay="12500"/>
                            </p:stCondLst>
                            <p:childTnLst>
                              <p:par>
                                <p:cTn id="68" presetID="10" presetClass="entr" presetSubtype="0" fill="hold" grpId="0" nodeType="afterEffect">
                                  <p:stCondLst>
                                    <p:cond delay="0"/>
                                  </p:stCondLst>
                                  <p:childTnLst>
                                    <p:set>
                                      <p:cBhvr>
                                        <p:cTn id="69" dur="1" fill="hold">
                                          <p:stCondLst>
                                            <p:cond delay="0"/>
                                          </p:stCondLst>
                                        </p:cTn>
                                        <p:tgtEl>
                                          <p:spTgt spid="20"/>
                                        </p:tgtEl>
                                        <p:attrNameLst>
                                          <p:attrName>style.visibility</p:attrName>
                                        </p:attrNameLst>
                                      </p:cBhvr>
                                      <p:to>
                                        <p:strVal val="visible"/>
                                      </p:to>
                                    </p:set>
                                    <p:animEffect transition="in" filter="fade">
                                      <p:cBhvr>
                                        <p:cTn id="70"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5C2193"/>
        </a:solidFill>
        <a:effectLst/>
      </p:bgPr>
    </p:bg>
    <p:spTree>
      <p:nvGrpSpPr>
        <p:cNvPr id="1" name=""/>
        <p:cNvGrpSpPr/>
        <p:nvPr/>
      </p:nvGrpSpPr>
      <p:grpSpPr>
        <a:xfrm>
          <a:off x="0" y="0"/>
          <a:ext cx="0" cy="0"/>
          <a:chOff x="0" y="0"/>
          <a:chExt cx="0" cy="0"/>
        </a:xfrm>
      </p:grpSpPr>
      <p:pic>
        <p:nvPicPr>
          <p:cNvPr id="1028" name="Picture 4" descr="Ellucian Student Reseñas 2026: Detalles, Precios y Características | G2">
            <a:extLst>
              <a:ext uri="{FF2B5EF4-FFF2-40B4-BE49-F238E27FC236}">
                <a16:creationId xmlns:a16="http://schemas.microsoft.com/office/drawing/2014/main" id="{3EBF1EA5-190E-0F8F-B4F4-56B5380AED44}"/>
              </a:ext>
            </a:extLst>
          </p:cNvPr>
          <p:cNvPicPr>
            <a:picLocks noChangeAspect="1" noChangeArrowheads="1"/>
          </p:cNvPicPr>
          <p:nvPr/>
        </p:nvPicPr>
        <p:blipFill>
          <a:blip r:embed="rId2">
            <a:biLevel thresh="25000"/>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8405244" y="5091953"/>
            <a:ext cx="3363899" cy="1766047"/>
          </a:xfrm>
          <a:prstGeom prst="rect">
            <a:avLst/>
          </a:prstGeom>
          <a:noFill/>
          <a:extLst>
            <a:ext uri="{909E8E84-426E-40DD-AFC4-6F175D3DCCD1}">
              <a14:hiddenFill xmlns:a14="http://schemas.microsoft.com/office/drawing/2010/main">
                <a:solidFill>
                  <a:srgbClr val="FFFFFF"/>
                </a:solidFill>
              </a14:hiddenFill>
            </a:ext>
          </a:extLst>
        </p:spPr>
      </p:pic>
      <p:pic>
        <p:nvPicPr>
          <p:cNvPr id="8" name="Imagen 7">
            <a:extLst>
              <a:ext uri="{FF2B5EF4-FFF2-40B4-BE49-F238E27FC236}">
                <a16:creationId xmlns:a16="http://schemas.microsoft.com/office/drawing/2014/main" id="{F3B12AA1-09DB-029E-CEFB-090B28455E75}"/>
              </a:ext>
            </a:extLst>
          </p:cNvPr>
          <p:cNvPicPr>
            <a:picLocks noChangeAspect="1"/>
          </p:cNvPicPr>
          <p:nvPr/>
        </p:nvPicPr>
        <p:blipFill>
          <a:blip r:embed="rId4">
            <a:lum bright="70000" contrast="-70000"/>
            <a:extLst>
              <a:ext uri="{28A0092B-C50C-407E-A947-70E740481C1C}">
                <a14:useLocalDpi xmlns:a14="http://schemas.microsoft.com/office/drawing/2010/main" val="0"/>
              </a:ext>
            </a:extLst>
          </a:blip>
          <a:stretch>
            <a:fillRect/>
          </a:stretch>
        </p:blipFill>
        <p:spPr>
          <a:xfrm>
            <a:off x="596901" y="418320"/>
            <a:ext cx="3688228" cy="868180"/>
          </a:xfrm>
          <a:prstGeom prst="rect">
            <a:avLst/>
          </a:prstGeom>
        </p:spPr>
      </p:pic>
      <p:sp>
        <p:nvSpPr>
          <p:cNvPr id="17" name="CuadroTexto 16">
            <a:extLst>
              <a:ext uri="{FF2B5EF4-FFF2-40B4-BE49-F238E27FC236}">
                <a16:creationId xmlns:a16="http://schemas.microsoft.com/office/drawing/2014/main" id="{D0BC250B-0A63-B351-C809-BDD7940DFA1A}"/>
              </a:ext>
            </a:extLst>
          </p:cNvPr>
          <p:cNvSpPr txBox="1"/>
          <p:nvPr/>
        </p:nvSpPr>
        <p:spPr>
          <a:xfrm>
            <a:off x="1000664" y="2008638"/>
            <a:ext cx="10196423" cy="175432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5400" b="1" i="0" u="none" strike="noStrike" kern="1200" cap="none" spc="0" normalizeH="0" baseline="0" noProof="0" dirty="0">
                <a:ln>
                  <a:noFill/>
                </a:ln>
                <a:solidFill>
                  <a:srgbClr val="196B24">
                    <a:lumMod val="60000"/>
                    <a:lumOff val="40000"/>
                  </a:srgbClr>
                </a:solidFill>
                <a:effectLst/>
                <a:uLnTx/>
                <a:uFillTx/>
                <a:latin typeface="Montserrat" pitchFamily="2" charset="0"/>
                <a:ea typeface="+mn-ea"/>
                <a:cs typeface="+mn-cs"/>
              </a:rPr>
              <a:t>CREACIÓN DE</a:t>
            </a:r>
            <a:br>
              <a:rPr kumimoji="0" lang="es-ES" sz="5400" b="1" i="0" u="none" strike="noStrike" kern="1200" cap="none" spc="0" normalizeH="0" baseline="0" noProof="0" dirty="0">
                <a:ln>
                  <a:noFill/>
                </a:ln>
                <a:solidFill>
                  <a:srgbClr val="196B24">
                    <a:lumMod val="60000"/>
                    <a:lumOff val="40000"/>
                  </a:srgbClr>
                </a:solidFill>
                <a:effectLst/>
                <a:uLnTx/>
                <a:uFillTx/>
                <a:latin typeface="Montserrat" pitchFamily="2" charset="0"/>
                <a:ea typeface="+mn-ea"/>
                <a:cs typeface="+mn-cs"/>
              </a:rPr>
            </a:br>
            <a:r>
              <a:rPr kumimoji="0" lang="es-ES" sz="5400" b="1" i="0" u="none" strike="noStrike" kern="1200" cap="none" spc="0" normalizeH="0" baseline="0" noProof="0" dirty="0">
                <a:ln>
                  <a:noFill/>
                </a:ln>
                <a:solidFill>
                  <a:srgbClr val="196B24">
                    <a:lumMod val="60000"/>
                    <a:lumOff val="40000"/>
                  </a:srgbClr>
                </a:solidFill>
                <a:effectLst/>
                <a:uLnTx/>
                <a:uFillTx/>
                <a:latin typeface="Montserrat" pitchFamily="2" charset="0"/>
                <a:ea typeface="+mn-ea"/>
                <a:cs typeface="+mn-cs"/>
              </a:rPr>
              <a:t>PERIODOS ACADÉMICOS</a:t>
            </a:r>
            <a:endParaRPr kumimoji="0" lang="es-PE" sz="5400" b="1" i="0" u="none" strike="noStrike" kern="1200" cap="none" spc="0" normalizeH="0" baseline="0" noProof="0" dirty="0">
              <a:ln>
                <a:noFill/>
              </a:ln>
              <a:solidFill>
                <a:srgbClr val="196B24">
                  <a:lumMod val="60000"/>
                  <a:lumOff val="40000"/>
                </a:srgbClr>
              </a:solidFill>
              <a:effectLst/>
              <a:uLnTx/>
              <a:uFillTx/>
              <a:latin typeface="Montserrat" pitchFamily="2" charset="0"/>
              <a:ea typeface="+mn-ea"/>
              <a:cs typeface="+mn-cs"/>
            </a:endParaRPr>
          </a:p>
        </p:txBody>
      </p:sp>
      <p:sp>
        <p:nvSpPr>
          <p:cNvPr id="3" name="CuadroTexto 2">
            <a:extLst>
              <a:ext uri="{FF2B5EF4-FFF2-40B4-BE49-F238E27FC236}">
                <a16:creationId xmlns:a16="http://schemas.microsoft.com/office/drawing/2014/main" id="{3EEB4538-9A01-61FC-2736-55C412E04D72}"/>
              </a:ext>
            </a:extLst>
          </p:cNvPr>
          <p:cNvSpPr txBox="1"/>
          <p:nvPr/>
        </p:nvSpPr>
        <p:spPr>
          <a:xfrm>
            <a:off x="596901" y="6322596"/>
            <a:ext cx="3134128"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200" b="0" i="1" u="none" strike="noStrike" kern="1200" cap="none" spc="0" normalizeH="0" baseline="0" noProof="0" dirty="0">
                <a:ln>
                  <a:noFill/>
                </a:ln>
                <a:solidFill>
                  <a:prstClr val="white"/>
                </a:solidFill>
                <a:effectLst/>
                <a:uLnTx/>
                <a:uFillTx/>
                <a:latin typeface="Aptos" panose="02110004020202020204"/>
                <a:ea typeface="+mn-ea"/>
                <a:cs typeface="+mn-cs"/>
              </a:rPr>
              <a:t>Elaborado por: Ing. Liliana Ocampo Moreno</a:t>
            </a:r>
            <a:endParaRPr kumimoji="0" lang="es-PE" sz="1200" b="0" i="1"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4" name="CuadroTexto 3">
            <a:extLst>
              <a:ext uri="{FF2B5EF4-FFF2-40B4-BE49-F238E27FC236}">
                <a16:creationId xmlns:a16="http://schemas.microsoft.com/office/drawing/2014/main" id="{E1A462EC-C6BC-083C-4144-168320176BC0}"/>
              </a:ext>
            </a:extLst>
          </p:cNvPr>
          <p:cNvSpPr txBox="1"/>
          <p:nvPr/>
        </p:nvSpPr>
        <p:spPr>
          <a:xfrm>
            <a:off x="1386986" y="4023437"/>
            <a:ext cx="10007843" cy="923330"/>
          </a:xfrm>
          <a:prstGeom prst="rect">
            <a:avLst/>
          </a:prstGeom>
          <a:noFill/>
        </p:spPr>
        <p:txBody>
          <a:bodyPr wrap="square">
            <a:spAutoFit/>
          </a:bodyPr>
          <a:lstStyle/>
          <a:p>
            <a:r>
              <a:rPr lang="es-ES" dirty="0">
                <a:solidFill>
                  <a:schemeClr val="bg1"/>
                </a:solidFill>
              </a:rPr>
              <a:t>Lapso en el que se desarrollan actividades académicas y administrativas de la institución: admisión, inscripción de cursos (matrícula), ingreso de calificaciones, ingreso de asistencia, procesos financieros, etc.</a:t>
            </a:r>
            <a:endParaRPr lang="es-PE" dirty="0">
              <a:solidFill>
                <a:schemeClr val="bg1"/>
              </a:solidFill>
            </a:endParaRPr>
          </a:p>
        </p:txBody>
      </p:sp>
    </p:spTree>
    <p:extLst>
      <p:ext uri="{BB962C8B-B14F-4D97-AF65-F5344CB8AC3E}">
        <p14:creationId xmlns:p14="http://schemas.microsoft.com/office/powerpoint/2010/main" val="28550572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7CAB2B86-4E3B-C98C-411E-958BEFE187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2528" y="6154887"/>
            <a:ext cx="2234242" cy="525923"/>
          </a:xfrm>
          <a:prstGeom prst="rect">
            <a:avLst/>
          </a:prstGeom>
        </p:spPr>
      </p:pic>
      <p:pic>
        <p:nvPicPr>
          <p:cNvPr id="4" name="Picture 4" descr="Ellucian Student Reseñas 2026: Detalles, Precios y Características | G2">
            <a:extLst>
              <a:ext uri="{FF2B5EF4-FFF2-40B4-BE49-F238E27FC236}">
                <a16:creationId xmlns:a16="http://schemas.microsoft.com/office/drawing/2014/main" id="{7352B780-8C7C-7B91-F3EE-5E6EF2C2E4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98101" y="5901780"/>
            <a:ext cx="1821371" cy="956220"/>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0AEBA78F-8C98-5D4D-384F-95B753FFADE4}"/>
              </a:ext>
            </a:extLst>
          </p:cNvPr>
          <p:cNvSpPr txBox="1"/>
          <p:nvPr/>
        </p:nvSpPr>
        <p:spPr>
          <a:xfrm>
            <a:off x="431320" y="241540"/>
            <a:ext cx="7035900" cy="523220"/>
          </a:xfrm>
          <a:prstGeom prst="rect">
            <a:avLst/>
          </a:prstGeom>
          <a:noFill/>
        </p:spPr>
        <p:txBody>
          <a:bodyPr wrap="none" rtlCol="0">
            <a:spAutoFit/>
          </a:bodyPr>
          <a:lstStyle/>
          <a:p>
            <a:r>
              <a:rPr lang="es-ES" sz="2800" b="1" dirty="0">
                <a:latin typeface="Montserrat" pitchFamily="2" charset="0"/>
              </a:rPr>
              <a:t>PERIODOS ACADÉMICOS - STVTERM</a:t>
            </a:r>
            <a:endParaRPr lang="es-PE" sz="2800" b="1" dirty="0">
              <a:latin typeface="Montserrat" pitchFamily="2" charset="0"/>
            </a:endParaRPr>
          </a:p>
        </p:txBody>
      </p:sp>
      <p:sp>
        <p:nvSpPr>
          <p:cNvPr id="8" name="Rectángulo 7">
            <a:extLst>
              <a:ext uri="{FF2B5EF4-FFF2-40B4-BE49-F238E27FC236}">
                <a16:creationId xmlns:a16="http://schemas.microsoft.com/office/drawing/2014/main" id="{A16BCE08-E23C-F264-A6E3-E4019979D2E2}"/>
              </a:ext>
            </a:extLst>
          </p:cNvPr>
          <p:cNvSpPr/>
          <p:nvPr/>
        </p:nvSpPr>
        <p:spPr>
          <a:xfrm>
            <a:off x="7467220" y="241540"/>
            <a:ext cx="4724779" cy="445583"/>
          </a:xfrm>
          <a:prstGeom prst="rect">
            <a:avLst/>
          </a:prstGeom>
          <a:gradFill flip="none" rotWithShape="1">
            <a:gsLst>
              <a:gs pos="0">
                <a:schemeClr val="accent6">
                  <a:lumMod val="0"/>
                  <a:lumOff val="100000"/>
                </a:schemeClr>
              </a:gs>
              <a:gs pos="66000">
                <a:schemeClr val="accent6">
                  <a:lumMod val="100000"/>
                </a:schemeClr>
              </a:gs>
            </a:gsLst>
            <a:lin ang="0" scaled="1"/>
            <a:tileRect/>
          </a:gra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s-PE"/>
          </a:p>
        </p:txBody>
      </p:sp>
      <p:sp>
        <p:nvSpPr>
          <p:cNvPr id="6" name="CuadroTexto 5">
            <a:extLst>
              <a:ext uri="{FF2B5EF4-FFF2-40B4-BE49-F238E27FC236}">
                <a16:creationId xmlns:a16="http://schemas.microsoft.com/office/drawing/2014/main" id="{AC33DC36-253A-547B-7A30-A152C2F6B4CE}"/>
              </a:ext>
            </a:extLst>
          </p:cNvPr>
          <p:cNvSpPr txBox="1"/>
          <p:nvPr/>
        </p:nvSpPr>
        <p:spPr>
          <a:xfrm>
            <a:off x="4528936" y="6386396"/>
            <a:ext cx="3134128" cy="276999"/>
          </a:xfrm>
          <a:prstGeom prst="rect">
            <a:avLst/>
          </a:prstGeom>
          <a:noFill/>
        </p:spPr>
        <p:txBody>
          <a:bodyPr wrap="none" rtlCol="0">
            <a:spAutoFit/>
          </a:bodyPr>
          <a:lstStyle/>
          <a:p>
            <a:pPr algn="ctr"/>
            <a:r>
              <a:rPr lang="es-ES" sz="1200" i="1" dirty="0"/>
              <a:t>Elaborado por: Ing. Liliana Ocampo Moreno</a:t>
            </a:r>
            <a:endParaRPr lang="es-PE" sz="1200" i="1" dirty="0"/>
          </a:p>
        </p:txBody>
      </p:sp>
      <p:pic>
        <p:nvPicPr>
          <p:cNvPr id="5" name="Imagen 4">
            <a:extLst>
              <a:ext uri="{FF2B5EF4-FFF2-40B4-BE49-F238E27FC236}">
                <a16:creationId xmlns:a16="http://schemas.microsoft.com/office/drawing/2014/main" id="{AFBDFB5F-0C42-0CAD-8543-A6BE2E4039F1}"/>
              </a:ext>
            </a:extLst>
          </p:cNvPr>
          <p:cNvPicPr>
            <a:picLocks noChangeAspect="1"/>
          </p:cNvPicPr>
          <p:nvPr/>
        </p:nvPicPr>
        <p:blipFill>
          <a:blip r:embed="rId4"/>
          <a:stretch>
            <a:fillRect/>
          </a:stretch>
        </p:blipFill>
        <p:spPr>
          <a:xfrm>
            <a:off x="431320" y="889049"/>
            <a:ext cx="11283352" cy="5059271"/>
          </a:xfrm>
          <a:prstGeom prst="rect">
            <a:avLst/>
          </a:prstGeom>
        </p:spPr>
      </p:pic>
      <p:sp>
        <p:nvSpPr>
          <p:cNvPr id="9" name="Rectángulo 8">
            <a:extLst>
              <a:ext uri="{FF2B5EF4-FFF2-40B4-BE49-F238E27FC236}">
                <a16:creationId xmlns:a16="http://schemas.microsoft.com/office/drawing/2014/main" id="{BF3010A0-51CA-EFA3-3CA6-508D553AAAE3}"/>
              </a:ext>
            </a:extLst>
          </p:cNvPr>
          <p:cNvSpPr/>
          <p:nvPr/>
        </p:nvSpPr>
        <p:spPr>
          <a:xfrm>
            <a:off x="10929666" y="1155946"/>
            <a:ext cx="215660" cy="224286"/>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10" name="Rectángulo: esquinas redondeadas 9">
            <a:extLst>
              <a:ext uri="{FF2B5EF4-FFF2-40B4-BE49-F238E27FC236}">
                <a16:creationId xmlns:a16="http://schemas.microsoft.com/office/drawing/2014/main" id="{86A95BFD-4BA3-5432-6B2E-6AD1ABF21179}"/>
              </a:ext>
            </a:extLst>
          </p:cNvPr>
          <p:cNvSpPr/>
          <p:nvPr/>
        </p:nvSpPr>
        <p:spPr>
          <a:xfrm>
            <a:off x="10580296" y="1138692"/>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t>1</a:t>
            </a:r>
            <a:endParaRPr lang="es-PE" sz="1100" b="1" dirty="0"/>
          </a:p>
        </p:txBody>
      </p:sp>
      <p:sp>
        <p:nvSpPr>
          <p:cNvPr id="11" name="CuadroTexto 10">
            <a:extLst>
              <a:ext uri="{FF2B5EF4-FFF2-40B4-BE49-F238E27FC236}">
                <a16:creationId xmlns:a16="http://schemas.microsoft.com/office/drawing/2014/main" id="{7266790C-7A3F-D771-119C-C436B3B9B235}"/>
              </a:ext>
            </a:extLst>
          </p:cNvPr>
          <p:cNvSpPr txBox="1"/>
          <p:nvPr/>
        </p:nvSpPr>
        <p:spPr>
          <a:xfrm>
            <a:off x="8768749" y="739597"/>
            <a:ext cx="1744692" cy="623381"/>
          </a:xfrm>
          <a:prstGeom prst="roundRect">
            <a:avLst>
              <a:gd name="adj" fmla="val 7573"/>
            </a:avLst>
          </a:prstGeom>
          <a:solidFill>
            <a:srgbClr val="7030A0"/>
          </a:solidFill>
        </p:spPr>
        <p:txBody>
          <a:bodyPr wrap="square">
            <a:spAutoFit/>
          </a:bodyPr>
          <a:lstStyle/>
          <a:p>
            <a:pPr algn="ctr" rtl="0">
              <a:spcBef>
                <a:spcPts val="0"/>
              </a:spcBef>
              <a:spcAft>
                <a:spcPts val="0"/>
              </a:spcAft>
            </a:pPr>
            <a:r>
              <a:rPr lang="es-ES" sz="1100" b="0" i="0" u="none" strike="noStrike" dirty="0">
                <a:solidFill>
                  <a:srgbClr val="FFFFFF"/>
                </a:solidFill>
                <a:effectLst/>
              </a:rPr>
              <a:t>Para ingresar un nuevo año, debe hacer clic en la opción </a:t>
            </a:r>
            <a:r>
              <a:rPr lang="es-ES" sz="1100" b="1" i="0" u="none" strike="noStrike" dirty="0">
                <a:solidFill>
                  <a:srgbClr val="92D050"/>
                </a:solidFill>
                <a:effectLst/>
              </a:rPr>
              <a:t>+</a:t>
            </a:r>
            <a:endParaRPr lang="es-ES" b="1" dirty="0">
              <a:solidFill>
                <a:srgbClr val="92D050"/>
              </a:solidFill>
              <a:effectLst/>
            </a:endParaRPr>
          </a:p>
        </p:txBody>
      </p:sp>
      <p:sp>
        <p:nvSpPr>
          <p:cNvPr id="12" name="Rectángulo 11">
            <a:extLst>
              <a:ext uri="{FF2B5EF4-FFF2-40B4-BE49-F238E27FC236}">
                <a16:creationId xmlns:a16="http://schemas.microsoft.com/office/drawing/2014/main" id="{4F6E0FFC-678C-C861-D6E0-D37D1C969F4E}"/>
              </a:ext>
            </a:extLst>
          </p:cNvPr>
          <p:cNvSpPr/>
          <p:nvPr/>
        </p:nvSpPr>
        <p:spPr>
          <a:xfrm>
            <a:off x="409536" y="1579295"/>
            <a:ext cx="432000" cy="189781"/>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13" name="Rectángulo: esquinas redondeadas 12">
            <a:extLst>
              <a:ext uri="{FF2B5EF4-FFF2-40B4-BE49-F238E27FC236}">
                <a16:creationId xmlns:a16="http://schemas.microsoft.com/office/drawing/2014/main" id="{2D9355D3-31B1-335C-1CCE-C0A61666CB6C}"/>
              </a:ext>
            </a:extLst>
          </p:cNvPr>
          <p:cNvSpPr/>
          <p:nvPr/>
        </p:nvSpPr>
        <p:spPr>
          <a:xfrm>
            <a:off x="522955" y="1852398"/>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t>2</a:t>
            </a:r>
            <a:endParaRPr lang="es-PE" sz="1100" b="1" dirty="0"/>
          </a:p>
        </p:txBody>
      </p:sp>
      <p:sp>
        <p:nvSpPr>
          <p:cNvPr id="14" name="CuadroTexto 13">
            <a:extLst>
              <a:ext uri="{FF2B5EF4-FFF2-40B4-BE49-F238E27FC236}">
                <a16:creationId xmlns:a16="http://schemas.microsoft.com/office/drawing/2014/main" id="{EACC2C5A-C15C-BD73-1BD2-F83F1463CCD9}"/>
              </a:ext>
            </a:extLst>
          </p:cNvPr>
          <p:cNvSpPr txBox="1"/>
          <p:nvPr/>
        </p:nvSpPr>
        <p:spPr>
          <a:xfrm>
            <a:off x="103659" y="2160006"/>
            <a:ext cx="1744692" cy="1502509"/>
          </a:xfrm>
          <a:prstGeom prst="roundRect">
            <a:avLst>
              <a:gd name="adj" fmla="val 7573"/>
            </a:avLst>
          </a:prstGeom>
          <a:solidFill>
            <a:srgbClr val="7030A0"/>
          </a:solidFill>
        </p:spPr>
        <p:txBody>
          <a:bodyPr wrap="square">
            <a:spAutoFit/>
          </a:bodyPr>
          <a:lstStyle/>
          <a:p>
            <a:pPr algn="ctr"/>
            <a:r>
              <a:rPr lang="es-ES" sz="1100" dirty="0">
                <a:solidFill>
                  <a:srgbClr val="FFFFFF"/>
                </a:solidFill>
              </a:rPr>
              <a:t>Se ingresa un </a:t>
            </a:r>
            <a:r>
              <a:rPr lang="es-ES" sz="1100" b="1" dirty="0">
                <a:solidFill>
                  <a:srgbClr val="92D050"/>
                </a:solidFill>
              </a:rPr>
              <a:t>Código de periodo</a:t>
            </a:r>
            <a:r>
              <a:rPr lang="es-ES" sz="1100" dirty="0">
                <a:solidFill>
                  <a:srgbClr val="FFFFFF"/>
                </a:solidFill>
              </a:rPr>
              <a:t>. </a:t>
            </a:r>
            <a:r>
              <a:rPr lang="pt-BR" sz="1100" dirty="0">
                <a:solidFill>
                  <a:srgbClr val="FFFFFF"/>
                </a:solidFill>
              </a:rPr>
              <a:t>Código alfanumérico de 6 caracteres que </a:t>
            </a:r>
            <a:r>
              <a:rPr lang="es-PE" sz="1100" dirty="0">
                <a:solidFill>
                  <a:srgbClr val="FFFFFF"/>
                </a:solidFill>
              </a:rPr>
              <a:t>representa</a:t>
            </a:r>
            <a:r>
              <a:rPr lang="pt-BR" sz="1100" dirty="0">
                <a:solidFill>
                  <a:srgbClr val="FFFFFF"/>
                </a:solidFill>
              </a:rPr>
              <a:t> </a:t>
            </a:r>
            <a:r>
              <a:rPr lang="es-PE" sz="1100" dirty="0">
                <a:solidFill>
                  <a:srgbClr val="FFFFFF"/>
                </a:solidFill>
              </a:rPr>
              <a:t>el</a:t>
            </a:r>
            <a:r>
              <a:rPr lang="pt-BR" sz="1100" dirty="0">
                <a:solidFill>
                  <a:srgbClr val="FFFFFF"/>
                </a:solidFill>
              </a:rPr>
              <a:t> </a:t>
            </a:r>
            <a:r>
              <a:rPr lang="es-PE" sz="1100" dirty="0">
                <a:solidFill>
                  <a:srgbClr val="FFFFFF"/>
                </a:solidFill>
              </a:rPr>
              <a:t>código</a:t>
            </a:r>
            <a:r>
              <a:rPr lang="pt-BR" sz="1100" dirty="0">
                <a:solidFill>
                  <a:srgbClr val="FFFFFF"/>
                </a:solidFill>
              </a:rPr>
              <a:t> </a:t>
            </a:r>
            <a:r>
              <a:rPr lang="es-PE" sz="1100" dirty="0">
                <a:solidFill>
                  <a:srgbClr val="FFFFFF"/>
                </a:solidFill>
              </a:rPr>
              <a:t>del</a:t>
            </a:r>
            <a:r>
              <a:rPr lang="pt-BR" sz="1100" dirty="0">
                <a:solidFill>
                  <a:srgbClr val="FFFFFF"/>
                </a:solidFill>
              </a:rPr>
              <a:t> período. </a:t>
            </a:r>
            <a:r>
              <a:rPr lang="es-PE" sz="1100" dirty="0">
                <a:solidFill>
                  <a:srgbClr val="FFFFFF"/>
                </a:solidFill>
              </a:rPr>
              <a:t>Ejemplo</a:t>
            </a:r>
            <a:r>
              <a:rPr lang="pt-BR" sz="1100" dirty="0">
                <a:solidFill>
                  <a:srgbClr val="FFFFFF"/>
                </a:solidFill>
              </a:rPr>
              <a:t>: 202656</a:t>
            </a:r>
          </a:p>
          <a:p>
            <a:pPr algn="ctr"/>
            <a:r>
              <a:rPr lang="pt-BR" sz="1100" b="0" dirty="0">
                <a:solidFill>
                  <a:srgbClr val="FFFFFF"/>
                </a:solidFill>
                <a:effectLst/>
              </a:rPr>
              <a:t>(Requerido)</a:t>
            </a:r>
            <a:endParaRPr lang="es-ES" b="0" dirty="0">
              <a:effectLst/>
            </a:endParaRPr>
          </a:p>
        </p:txBody>
      </p:sp>
      <p:sp>
        <p:nvSpPr>
          <p:cNvPr id="15" name="Rectángulo 14">
            <a:extLst>
              <a:ext uri="{FF2B5EF4-FFF2-40B4-BE49-F238E27FC236}">
                <a16:creationId xmlns:a16="http://schemas.microsoft.com/office/drawing/2014/main" id="{E1766696-A0C2-4972-D6C0-4E76BD9FEED2}"/>
              </a:ext>
            </a:extLst>
          </p:cNvPr>
          <p:cNvSpPr/>
          <p:nvPr/>
        </p:nvSpPr>
        <p:spPr>
          <a:xfrm>
            <a:off x="933171" y="1579295"/>
            <a:ext cx="1152000" cy="189781"/>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16" name="Rectángulo: esquinas redondeadas 15">
            <a:extLst>
              <a:ext uri="{FF2B5EF4-FFF2-40B4-BE49-F238E27FC236}">
                <a16:creationId xmlns:a16="http://schemas.microsoft.com/office/drawing/2014/main" id="{B7F2D273-14A3-DDFF-E591-6E5E074A92E8}"/>
              </a:ext>
            </a:extLst>
          </p:cNvPr>
          <p:cNvSpPr/>
          <p:nvPr/>
        </p:nvSpPr>
        <p:spPr>
          <a:xfrm>
            <a:off x="2210991" y="1623788"/>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t>3</a:t>
            </a:r>
            <a:endParaRPr lang="es-PE" sz="1100" b="1" dirty="0"/>
          </a:p>
        </p:txBody>
      </p:sp>
      <p:sp>
        <p:nvSpPr>
          <p:cNvPr id="17" name="CuadroTexto 16">
            <a:extLst>
              <a:ext uri="{FF2B5EF4-FFF2-40B4-BE49-F238E27FC236}">
                <a16:creationId xmlns:a16="http://schemas.microsoft.com/office/drawing/2014/main" id="{9010B818-5604-0B64-8D4F-B29ABA7E9EE0}"/>
              </a:ext>
            </a:extLst>
          </p:cNvPr>
          <p:cNvSpPr txBox="1"/>
          <p:nvPr/>
        </p:nvSpPr>
        <p:spPr>
          <a:xfrm>
            <a:off x="2539567" y="1632047"/>
            <a:ext cx="4903696" cy="799207"/>
          </a:xfrm>
          <a:prstGeom prst="roundRect">
            <a:avLst>
              <a:gd name="adj" fmla="val 7573"/>
            </a:avLst>
          </a:prstGeom>
          <a:solidFill>
            <a:srgbClr val="7030A0"/>
          </a:solidFill>
        </p:spPr>
        <p:txBody>
          <a:bodyPr wrap="square">
            <a:spAutoFit/>
          </a:bodyPr>
          <a:lstStyle/>
          <a:p>
            <a:pPr algn="ctr"/>
            <a:r>
              <a:rPr lang="es-ES" sz="1100" dirty="0">
                <a:solidFill>
                  <a:srgbClr val="FFFFFF"/>
                </a:solidFill>
              </a:rPr>
              <a:t>Se debe ingresar la </a:t>
            </a:r>
            <a:r>
              <a:rPr lang="es-ES" sz="1100" b="1" dirty="0">
                <a:solidFill>
                  <a:srgbClr val="92D050"/>
                </a:solidFill>
              </a:rPr>
              <a:t>Descripción del periodo</a:t>
            </a:r>
            <a:r>
              <a:rPr lang="es-ES" sz="1100" b="1" dirty="0">
                <a:solidFill>
                  <a:schemeClr val="bg1"/>
                </a:solidFill>
              </a:rPr>
              <a:t>.</a:t>
            </a:r>
            <a:r>
              <a:rPr lang="es-ES" sz="1100" dirty="0">
                <a:solidFill>
                  <a:srgbClr val="FFFFFF"/>
                </a:solidFill>
              </a:rPr>
              <a:t> Campo alfanumérico de hasta 30 caracteres que representa el nombre del periodo. </a:t>
            </a:r>
          </a:p>
          <a:p>
            <a:pPr algn="ctr"/>
            <a:r>
              <a:rPr lang="es-ES" sz="1100" dirty="0">
                <a:solidFill>
                  <a:srgbClr val="FFFFFF"/>
                </a:solidFill>
              </a:rPr>
              <a:t>Por ejemplo: 2026-II Extracurricular.</a:t>
            </a:r>
          </a:p>
          <a:p>
            <a:pPr algn="ctr"/>
            <a:r>
              <a:rPr lang="es-ES" sz="1100" dirty="0">
                <a:solidFill>
                  <a:srgbClr val="FFFFFF"/>
                </a:solidFill>
              </a:rPr>
              <a:t>(Requerido)</a:t>
            </a:r>
            <a:endParaRPr lang="es-ES" b="0" dirty="0">
              <a:effectLst/>
            </a:endParaRPr>
          </a:p>
        </p:txBody>
      </p:sp>
    </p:spTree>
    <p:extLst>
      <p:ext uri="{BB962C8B-B14F-4D97-AF65-F5344CB8AC3E}">
        <p14:creationId xmlns:p14="http://schemas.microsoft.com/office/powerpoint/2010/main" val="3009246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left)">
                                      <p:cBhvr>
                                        <p:cTn id="10" dur="500"/>
                                        <p:tgtEl>
                                          <p:spTgt spid="8"/>
                                        </p:tgtEl>
                                      </p:cBhvr>
                                    </p:animEffect>
                                  </p:childTnLst>
                                </p:cTn>
                              </p:par>
                            </p:childTnLst>
                          </p:cTn>
                        </p:par>
                        <p:par>
                          <p:cTn id="11" fill="hold">
                            <p:stCondLst>
                              <p:cond delay="500"/>
                            </p:stCondLst>
                            <p:childTnLst>
                              <p:par>
                                <p:cTn id="12" presetID="9" presetClass="entr" presetSubtype="0" fill="hold"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dissolve">
                                      <p:cBhvr>
                                        <p:cTn id="14" dur="500"/>
                                        <p:tgtEl>
                                          <p:spTgt spid="5"/>
                                        </p:tgtEl>
                                      </p:cBhvr>
                                    </p:animEffect>
                                  </p:childTnLst>
                                </p:cTn>
                              </p:par>
                            </p:childTnLst>
                          </p:cTn>
                        </p:par>
                        <p:par>
                          <p:cTn id="15" fill="hold">
                            <p:stCondLst>
                              <p:cond delay="1000"/>
                            </p:stCondLst>
                            <p:childTnLst>
                              <p:par>
                                <p:cTn id="16" presetID="21" presetClass="entr" presetSubtype="1" fill="hold" grpId="0" nodeType="after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wheel(1)">
                                      <p:cBhvr>
                                        <p:cTn id="18" dur="2000"/>
                                        <p:tgtEl>
                                          <p:spTgt spid="9"/>
                                        </p:tgtEl>
                                      </p:cBhvr>
                                    </p:animEffect>
                                  </p:childTnLst>
                                </p:cTn>
                              </p:par>
                            </p:childTnLst>
                          </p:cTn>
                        </p:par>
                        <p:par>
                          <p:cTn id="19" fill="hold">
                            <p:stCondLst>
                              <p:cond delay="3000"/>
                            </p:stCondLst>
                            <p:childTnLst>
                              <p:par>
                                <p:cTn id="20" presetID="53" presetClass="entr" presetSubtype="16" fill="hold" grpId="0" nodeType="afterEffect">
                                  <p:stCondLst>
                                    <p:cond delay="0"/>
                                  </p:stCondLst>
                                  <p:childTnLst>
                                    <p:set>
                                      <p:cBhvr>
                                        <p:cTn id="21" dur="1" fill="hold">
                                          <p:stCondLst>
                                            <p:cond delay="0"/>
                                          </p:stCondLst>
                                        </p:cTn>
                                        <p:tgtEl>
                                          <p:spTgt spid="10"/>
                                        </p:tgtEl>
                                        <p:attrNameLst>
                                          <p:attrName>style.visibility</p:attrName>
                                        </p:attrNameLst>
                                      </p:cBhvr>
                                      <p:to>
                                        <p:strVal val="visible"/>
                                      </p:to>
                                    </p:set>
                                    <p:anim calcmode="lin" valueType="num">
                                      <p:cBhvr>
                                        <p:cTn id="22" dur="500" fill="hold"/>
                                        <p:tgtEl>
                                          <p:spTgt spid="10"/>
                                        </p:tgtEl>
                                        <p:attrNameLst>
                                          <p:attrName>ppt_w</p:attrName>
                                        </p:attrNameLst>
                                      </p:cBhvr>
                                      <p:tavLst>
                                        <p:tav tm="0">
                                          <p:val>
                                            <p:fltVal val="0"/>
                                          </p:val>
                                        </p:tav>
                                        <p:tav tm="100000">
                                          <p:val>
                                            <p:strVal val="#ppt_w"/>
                                          </p:val>
                                        </p:tav>
                                      </p:tavLst>
                                    </p:anim>
                                    <p:anim calcmode="lin" valueType="num">
                                      <p:cBhvr>
                                        <p:cTn id="23" dur="500" fill="hold"/>
                                        <p:tgtEl>
                                          <p:spTgt spid="10"/>
                                        </p:tgtEl>
                                        <p:attrNameLst>
                                          <p:attrName>ppt_h</p:attrName>
                                        </p:attrNameLst>
                                      </p:cBhvr>
                                      <p:tavLst>
                                        <p:tav tm="0">
                                          <p:val>
                                            <p:fltVal val="0"/>
                                          </p:val>
                                        </p:tav>
                                        <p:tav tm="100000">
                                          <p:val>
                                            <p:strVal val="#ppt_h"/>
                                          </p:val>
                                        </p:tav>
                                      </p:tavLst>
                                    </p:anim>
                                    <p:animEffect transition="in" filter="fade">
                                      <p:cBhvr>
                                        <p:cTn id="24" dur="500"/>
                                        <p:tgtEl>
                                          <p:spTgt spid="10"/>
                                        </p:tgtEl>
                                      </p:cBhvr>
                                    </p:animEffect>
                                  </p:childTnLst>
                                </p:cTn>
                              </p:par>
                            </p:childTnLst>
                          </p:cTn>
                        </p:par>
                        <p:par>
                          <p:cTn id="25" fill="hold">
                            <p:stCondLst>
                              <p:cond delay="3500"/>
                            </p:stCondLst>
                            <p:childTnLst>
                              <p:par>
                                <p:cTn id="26" presetID="10" presetClass="entr" presetSubtype="0" fill="hold" grpId="0" nodeType="after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00"/>
                                        <p:tgtEl>
                                          <p:spTgt spid="11"/>
                                        </p:tgtEl>
                                      </p:cBhvr>
                                    </p:animEffect>
                                  </p:childTnLst>
                                </p:cTn>
                              </p:par>
                            </p:childTnLst>
                          </p:cTn>
                        </p:par>
                        <p:par>
                          <p:cTn id="29" fill="hold">
                            <p:stCondLst>
                              <p:cond delay="4000"/>
                            </p:stCondLst>
                            <p:childTnLst>
                              <p:par>
                                <p:cTn id="30" presetID="21" presetClass="entr" presetSubtype="1" fill="hold" grpId="0" nodeType="after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wheel(1)">
                                      <p:cBhvr>
                                        <p:cTn id="32" dur="2000"/>
                                        <p:tgtEl>
                                          <p:spTgt spid="12"/>
                                        </p:tgtEl>
                                      </p:cBhvr>
                                    </p:animEffect>
                                  </p:childTnLst>
                                </p:cTn>
                              </p:par>
                            </p:childTnLst>
                          </p:cTn>
                        </p:par>
                        <p:par>
                          <p:cTn id="33" fill="hold">
                            <p:stCondLst>
                              <p:cond delay="6000"/>
                            </p:stCondLst>
                            <p:childTnLst>
                              <p:par>
                                <p:cTn id="34" presetID="53" presetClass="entr" presetSubtype="16" fill="hold" grpId="0" nodeType="afterEffect">
                                  <p:stCondLst>
                                    <p:cond delay="0"/>
                                  </p:stCondLst>
                                  <p:childTnLst>
                                    <p:set>
                                      <p:cBhvr>
                                        <p:cTn id="35" dur="1" fill="hold">
                                          <p:stCondLst>
                                            <p:cond delay="0"/>
                                          </p:stCondLst>
                                        </p:cTn>
                                        <p:tgtEl>
                                          <p:spTgt spid="13"/>
                                        </p:tgtEl>
                                        <p:attrNameLst>
                                          <p:attrName>style.visibility</p:attrName>
                                        </p:attrNameLst>
                                      </p:cBhvr>
                                      <p:to>
                                        <p:strVal val="visible"/>
                                      </p:to>
                                    </p:set>
                                    <p:anim calcmode="lin" valueType="num">
                                      <p:cBhvr>
                                        <p:cTn id="36" dur="500" fill="hold"/>
                                        <p:tgtEl>
                                          <p:spTgt spid="13"/>
                                        </p:tgtEl>
                                        <p:attrNameLst>
                                          <p:attrName>ppt_w</p:attrName>
                                        </p:attrNameLst>
                                      </p:cBhvr>
                                      <p:tavLst>
                                        <p:tav tm="0">
                                          <p:val>
                                            <p:fltVal val="0"/>
                                          </p:val>
                                        </p:tav>
                                        <p:tav tm="100000">
                                          <p:val>
                                            <p:strVal val="#ppt_w"/>
                                          </p:val>
                                        </p:tav>
                                      </p:tavLst>
                                    </p:anim>
                                    <p:anim calcmode="lin" valueType="num">
                                      <p:cBhvr>
                                        <p:cTn id="37" dur="500" fill="hold"/>
                                        <p:tgtEl>
                                          <p:spTgt spid="13"/>
                                        </p:tgtEl>
                                        <p:attrNameLst>
                                          <p:attrName>ppt_h</p:attrName>
                                        </p:attrNameLst>
                                      </p:cBhvr>
                                      <p:tavLst>
                                        <p:tav tm="0">
                                          <p:val>
                                            <p:fltVal val="0"/>
                                          </p:val>
                                        </p:tav>
                                        <p:tav tm="100000">
                                          <p:val>
                                            <p:strVal val="#ppt_h"/>
                                          </p:val>
                                        </p:tav>
                                      </p:tavLst>
                                    </p:anim>
                                    <p:animEffect transition="in" filter="fade">
                                      <p:cBhvr>
                                        <p:cTn id="38" dur="500"/>
                                        <p:tgtEl>
                                          <p:spTgt spid="13"/>
                                        </p:tgtEl>
                                      </p:cBhvr>
                                    </p:animEffect>
                                  </p:childTnLst>
                                </p:cTn>
                              </p:par>
                            </p:childTnLst>
                          </p:cTn>
                        </p:par>
                        <p:par>
                          <p:cTn id="39" fill="hold">
                            <p:stCondLst>
                              <p:cond delay="6500"/>
                            </p:stCondLst>
                            <p:childTnLst>
                              <p:par>
                                <p:cTn id="40" presetID="10" presetClass="entr" presetSubtype="0" fill="hold" grpId="0" nodeType="after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500"/>
                                        <p:tgtEl>
                                          <p:spTgt spid="14"/>
                                        </p:tgtEl>
                                      </p:cBhvr>
                                    </p:animEffect>
                                  </p:childTnLst>
                                </p:cTn>
                              </p:par>
                            </p:childTnLst>
                          </p:cTn>
                        </p:par>
                        <p:par>
                          <p:cTn id="43" fill="hold">
                            <p:stCondLst>
                              <p:cond delay="7000"/>
                            </p:stCondLst>
                            <p:childTnLst>
                              <p:par>
                                <p:cTn id="44" presetID="21" presetClass="entr" presetSubtype="1" fill="hold" grpId="0" nodeType="after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wheel(1)">
                                      <p:cBhvr>
                                        <p:cTn id="46" dur="2000"/>
                                        <p:tgtEl>
                                          <p:spTgt spid="15"/>
                                        </p:tgtEl>
                                      </p:cBhvr>
                                    </p:animEffect>
                                  </p:childTnLst>
                                </p:cTn>
                              </p:par>
                            </p:childTnLst>
                          </p:cTn>
                        </p:par>
                        <p:par>
                          <p:cTn id="47" fill="hold">
                            <p:stCondLst>
                              <p:cond delay="9000"/>
                            </p:stCondLst>
                            <p:childTnLst>
                              <p:par>
                                <p:cTn id="48" presetID="53" presetClass="entr" presetSubtype="16" fill="hold" grpId="0" nodeType="afterEffect">
                                  <p:stCondLst>
                                    <p:cond delay="0"/>
                                  </p:stCondLst>
                                  <p:childTnLst>
                                    <p:set>
                                      <p:cBhvr>
                                        <p:cTn id="49" dur="1" fill="hold">
                                          <p:stCondLst>
                                            <p:cond delay="0"/>
                                          </p:stCondLst>
                                        </p:cTn>
                                        <p:tgtEl>
                                          <p:spTgt spid="16"/>
                                        </p:tgtEl>
                                        <p:attrNameLst>
                                          <p:attrName>style.visibility</p:attrName>
                                        </p:attrNameLst>
                                      </p:cBhvr>
                                      <p:to>
                                        <p:strVal val="visible"/>
                                      </p:to>
                                    </p:set>
                                    <p:anim calcmode="lin" valueType="num">
                                      <p:cBhvr>
                                        <p:cTn id="50" dur="500" fill="hold"/>
                                        <p:tgtEl>
                                          <p:spTgt spid="16"/>
                                        </p:tgtEl>
                                        <p:attrNameLst>
                                          <p:attrName>ppt_w</p:attrName>
                                        </p:attrNameLst>
                                      </p:cBhvr>
                                      <p:tavLst>
                                        <p:tav tm="0">
                                          <p:val>
                                            <p:fltVal val="0"/>
                                          </p:val>
                                        </p:tav>
                                        <p:tav tm="100000">
                                          <p:val>
                                            <p:strVal val="#ppt_w"/>
                                          </p:val>
                                        </p:tav>
                                      </p:tavLst>
                                    </p:anim>
                                    <p:anim calcmode="lin" valueType="num">
                                      <p:cBhvr>
                                        <p:cTn id="51" dur="500" fill="hold"/>
                                        <p:tgtEl>
                                          <p:spTgt spid="16"/>
                                        </p:tgtEl>
                                        <p:attrNameLst>
                                          <p:attrName>ppt_h</p:attrName>
                                        </p:attrNameLst>
                                      </p:cBhvr>
                                      <p:tavLst>
                                        <p:tav tm="0">
                                          <p:val>
                                            <p:fltVal val="0"/>
                                          </p:val>
                                        </p:tav>
                                        <p:tav tm="100000">
                                          <p:val>
                                            <p:strVal val="#ppt_h"/>
                                          </p:val>
                                        </p:tav>
                                      </p:tavLst>
                                    </p:anim>
                                    <p:animEffect transition="in" filter="fade">
                                      <p:cBhvr>
                                        <p:cTn id="52" dur="500"/>
                                        <p:tgtEl>
                                          <p:spTgt spid="16"/>
                                        </p:tgtEl>
                                      </p:cBhvr>
                                    </p:animEffect>
                                  </p:childTnLst>
                                </p:cTn>
                              </p:par>
                            </p:childTnLst>
                          </p:cTn>
                        </p:par>
                        <p:par>
                          <p:cTn id="53" fill="hold">
                            <p:stCondLst>
                              <p:cond delay="9500"/>
                            </p:stCondLst>
                            <p:childTnLst>
                              <p:par>
                                <p:cTn id="54" presetID="10" presetClass="entr" presetSubtype="0" fill="hold" grpId="0" nodeType="afterEffect">
                                  <p:stCondLst>
                                    <p:cond delay="0"/>
                                  </p:stCondLst>
                                  <p:childTnLst>
                                    <p:set>
                                      <p:cBhvr>
                                        <p:cTn id="55" dur="1" fill="hold">
                                          <p:stCondLst>
                                            <p:cond delay="0"/>
                                          </p:stCondLst>
                                        </p:cTn>
                                        <p:tgtEl>
                                          <p:spTgt spid="17"/>
                                        </p:tgtEl>
                                        <p:attrNameLst>
                                          <p:attrName>style.visibility</p:attrName>
                                        </p:attrNameLst>
                                      </p:cBhvr>
                                      <p:to>
                                        <p:strVal val="visible"/>
                                      </p:to>
                                    </p:set>
                                    <p:animEffect transition="in" filter="fade">
                                      <p:cBhvr>
                                        <p:cTn id="56"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7CAB2B86-4E3B-C98C-411E-958BEFE187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2528" y="6154887"/>
            <a:ext cx="2234242" cy="525923"/>
          </a:xfrm>
          <a:prstGeom prst="rect">
            <a:avLst/>
          </a:prstGeom>
        </p:spPr>
      </p:pic>
      <p:pic>
        <p:nvPicPr>
          <p:cNvPr id="4" name="Picture 4" descr="Ellucian Student Reseñas 2026: Detalles, Precios y Características | G2">
            <a:extLst>
              <a:ext uri="{FF2B5EF4-FFF2-40B4-BE49-F238E27FC236}">
                <a16:creationId xmlns:a16="http://schemas.microsoft.com/office/drawing/2014/main" id="{7352B780-8C7C-7B91-F3EE-5E6EF2C2E4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98101" y="5901780"/>
            <a:ext cx="1821371" cy="956220"/>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0AEBA78F-8C98-5D4D-384F-95B753FFADE4}"/>
              </a:ext>
            </a:extLst>
          </p:cNvPr>
          <p:cNvSpPr txBox="1"/>
          <p:nvPr/>
        </p:nvSpPr>
        <p:spPr>
          <a:xfrm>
            <a:off x="431320" y="241540"/>
            <a:ext cx="7035900" cy="523220"/>
          </a:xfrm>
          <a:prstGeom prst="rect">
            <a:avLst/>
          </a:prstGeom>
          <a:noFill/>
        </p:spPr>
        <p:txBody>
          <a:bodyPr wrap="none" rtlCol="0">
            <a:spAutoFit/>
          </a:bodyPr>
          <a:lstStyle/>
          <a:p>
            <a:r>
              <a:rPr lang="es-ES" sz="2800" b="1" dirty="0">
                <a:latin typeface="Montserrat" pitchFamily="2" charset="0"/>
              </a:rPr>
              <a:t>PERIODOS ACADÉMICOS - STVTERM</a:t>
            </a:r>
            <a:endParaRPr lang="es-PE" sz="2800" b="1" dirty="0">
              <a:latin typeface="Montserrat" pitchFamily="2" charset="0"/>
            </a:endParaRPr>
          </a:p>
        </p:txBody>
      </p:sp>
      <p:sp>
        <p:nvSpPr>
          <p:cNvPr id="8" name="Rectángulo 7">
            <a:extLst>
              <a:ext uri="{FF2B5EF4-FFF2-40B4-BE49-F238E27FC236}">
                <a16:creationId xmlns:a16="http://schemas.microsoft.com/office/drawing/2014/main" id="{A16BCE08-E23C-F264-A6E3-E4019979D2E2}"/>
              </a:ext>
            </a:extLst>
          </p:cNvPr>
          <p:cNvSpPr/>
          <p:nvPr/>
        </p:nvSpPr>
        <p:spPr>
          <a:xfrm>
            <a:off x="7467220" y="241540"/>
            <a:ext cx="4724779" cy="445583"/>
          </a:xfrm>
          <a:prstGeom prst="rect">
            <a:avLst/>
          </a:prstGeom>
          <a:gradFill flip="none" rotWithShape="1">
            <a:gsLst>
              <a:gs pos="0">
                <a:schemeClr val="accent6">
                  <a:lumMod val="0"/>
                  <a:lumOff val="100000"/>
                </a:schemeClr>
              </a:gs>
              <a:gs pos="66000">
                <a:schemeClr val="accent6">
                  <a:lumMod val="100000"/>
                </a:schemeClr>
              </a:gs>
            </a:gsLst>
            <a:lin ang="0" scaled="1"/>
            <a:tileRect/>
          </a:gra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s-PE"/>
          </a:p>
        </p:txBody>
      </p:sp>
      <p:sp>
        <p:nvSpPr>
          <p:cNvPr id="6" name="CuadroTexto 5">
            <a:extLst>
              <a:ext uri="{FF2B5EF4-FFF2-40B4-BE49-F238E27FC236}">
                <a16:creationId xmlns:a16="http://schemas.microsoft.com/office/drawing/2014/main" id="{AC33DC36-253A-547B-7A30-A152C2F6B4CE}"/>
              </a:ext>
            </a:extLst>
          </p:cNvPr>
          <p:cNvSpPr txBox="1"/>
          <p:nvPr/>
        </p:nvSpPr>
        <p:spPr>
          <a:xfrm>
            <a:off x="4528936" y="6386396"/>
            <a:ext cx="3134128" cy="276999"/>
          </a:xfrm>
          <a:prstGeom prst="rect">
            <a:avLst/>
          </a:prstGeom>
          <a:noFill/>
        </p:spPr>
        <p:txBody>
          <a:bodyPr wrap="none" rtlCol="0">
            <a:spAutoFit/>
          </a:bodyPr>
          <a:lstStyle/>
          <a:p>
            <a:pPr algn="ctr"/>
            <a:r>
              <a:rPr lang="es-ES" sz="1200" i="1" dirty="0"/>
              <a:t>Elaborado por: Ing. Liliana Ocampo Moreno</a:t>
            </a:r>
            <a:endParaRPr lang="es-PE" sz="1200" i="1" dirty="0"/>
          </a:p>
        </p:txBody>
      </p:sp>
      <p:pic>
        <p:nvPicPr>
          <p:cNvPr id="5" name="Imagen 4">
            <a:extLst>
              <a:ext uri="{FF2B5EF4-FFF2-40B4-BE49-F238E27FC236}">
                <a16:creationId xmlns:a16="http://schemas.microsoft.com/office/drawing/2014/main" id="{AFBDFB5F-0C42-0CAD-8543-A6BE2E4039F1}"/>
              </a:ext>
            </a:extLst>
          </p:cNvPr>
          <p:cNvPicPr>
            <a:picLocks noChangeAspect="1"/>
          </p:cNvPicPr>
          <p:nvPr/>
        </p:nvPicPr>
        <p:blipFill>
          <a:blip r:embed="rId4"/>
          <a:stretch>
            <a:fillRect/>
          </a:stretch>
        </p:blipFill>
        <p:spPr>
          <a:xfrm>
            <a:off x="431320" y="889049"/>
            <a:ext cx="11283352" cy="5059271"/>
          </a:xfrm>
          <a:prstGeom prst="rect">
            <a:avLst/>
          </a:prstGeom>
        </p:spPr>
      </p:pic>
      <p:sp>
        <p:nvSpPr>
          <p:cNvPr id="2" name="Rectángulo 1">
            <a:extLst>
              <a:ext uri="{FF2B5EF4-FFF2-40B4-BE49-F238E27FC236}">
                <a16:creationId xmlns:a16="http://schemas.microsoft.com/office/drawing/2014/main" id="{14889491-65DB-6E28-BE46-6413EC80A42E}"/>
              </a:ext>
            </a:extLst>
          </p:cNvPr>
          <p:cNvSpPr/>
          <p:nvPr/>
        </p:nvSpPr>
        <p:spPr>
          <a:xfrm>
            <a:off x="2081837" y="1576926"/>
            <a:ext cx="1656000" cy="189781"/>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18" name="Rectángulo: esquinas redondeadas 17">
            <a:extLst>
              <a:ext uri="{FF2B5EF4-FFF2-40B4-BE49-F238E27FC236}">
                <a16:creationId xmlns:a16="http://schemas.microsoft.com/office/drawing/2014/main" id="{88D462D3-7463-8F51-ACDF-4D99F85EC5D6}"/>
              </a:ext>
            </a:extLst>
          </p:cNvPr>
          <p:cNvSpPr/>
          <p:nvPr/>
        </p:nvSpPr>
        <p:spPr>
          <a:xfrm>
            <a:off x="2752984" y="1850029"/>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t>4</a:t>
            </a:r>
            <a:endParaRPr lang="es-PE" sz="1100" b="1" dirty="0"/>
          </a:p>
        </p:txBody>
      </p:sp>
      <p:sp>
        <p:nvSpPr>
          <p:cNvPr id="19" name="CuadroTexto 18">
            <a:extLst>
              <a:ext uri="{FF2B5EF4-FFF2-40B4-BE49-F238E27FC236}">
                <a16:creationId xmlns:a16="http://schemas.microsoft.com/office/drawing/2014/main" id="{6039FA63-2077-014E-2D88-38FFB9D49D8D}"/>
              </a:ext>
            </a:extLst>
          </p:cNvPr>
          <p:cNvSpPr txBox="1"/>
          <p:nvPr/>
        </p:nvSpPr>
        <p:spPr>
          <a:xfrm>
            <a:off x="1582615" y="2151882"/>
            <a:ext cx="2155222" cy="1326684"/>
          </a:xfrm>
          <a:prstGeom prst="roundRect">
            <a:avLst>
              <a:gd name="adj" fmla="val 7573"/>
            </a:avLst>
          </a:prstGeom>
          <a:solidFill>
            <a:srgbClr val="7030A0"/>
          </a:solidFill>
        </p:spPr>
        <p:txBody>
          <a:bodyPr wrap="square">
            <a:spAutoFit/>
          </a:bodyPr>
          <a:lstStyle/>
          <a:p>
            <a:pPr algn="ctr"/>
            <a:r>
              <a:rPr lang="es-ES" sz="1100" dirty="0">
                <a:solidFill>
                  <a:srgbClr val="FFFFFF"/>
                </a:solidFill>
              </a:rPr>
              <a:t>Se debe ingresar la </a:t>
            </a:r>
            <a:r>
              <a:rPr lang="es-ES" sz="1100" b="1" dirty="0">
                <a:solidFill>
                  <a:srgbClr val="92D050"/>
                </a:solidFill>
              </a:rPr>
              <a:t>Fecha de inicio y fin de periodo</a:t>
            </a:r>
            <a:r>
              <a:rPr lang="es-ES" sz="1100" b="1" dirty="0">
                <a:solidFill>
                  <a:schemeClr val="bg1"/>
                </a:solidFill>
              </a:rPr>
              <a:t>.</a:t>
            </a:r>
            <a:r>
              <a:rPr lang="es-ES" sz="1100" dirty="0">
                <a:solidFill>
                  <a:srgbClr val="FFFFFF"/>
                </a:solidFill>
              </a:rPr>
              <a:t> Campo tipo fecha que corresponde al inicio y fin del periodo académico creado.</a:t>
            </a:r>
          </a:p>
          <a:p>
            <a:pPr algn="ctr"/>
            <a:r>
              <a:rPr lang="es-ES" sz="1100" dirty="0">
                <a:solidFill>
                  <a:srgbClr val="FFFFFF"/>
                </a:solidFill>
              </a:rPr>
              <a:t>Formato: DD-MM-AAAA</a:t>
            </a:r>
            <a:br>
              <a:rPr lang="es-ES" sz="1100" dirty="0">
                <a:solidFill>
                  <a:srgbClr val="FFFFFF"/>
                </a:solidFill>
              </a:rPr>
            </a:br>
            <a:r>
              <a:rPr lang="es-ES" sz="1100" dirty="0">
                <a:solidFill>
                  <a:srgbClr val="FFFFFF"/>
                </a:solidFill>
              </a:rPr>
              <a:t>(Requerido).</a:t>
            </a:r>
            <a:endParaRPr lang="es-ES" b="0" dirty="0">
              <a:effectLst/>
            </a:endParaRPr>
          </a:p>
        </p:txBody>
      </p:sp>
      <p:sp>
        <p:nvSpPr>
          <p:cNvPr id="20" name="Rectángulo 19">
            <a:extLst>
              <a:ext uri="{FF2B5EF4-FFF2-40B4-BE49-F238E27FC236}">
                <a16:creationId xmlns:a16="http://schemas.microsoft.com/office/drawing/2014/main" id="{74C1194E-6DCD-1651-26F3-8486F49D60D0}"/>
              </a:ext>
            </a:extLst>
          </p:cNvPr>
          <p:cNvSpPr/>
          <p:nvPr/>
        </p:nvSpPr>
        <p:spPr>
          <a:xfrm>
            <a:off x="3834437" y="1576926"/>
            <a:ext cx="360000" cy="189781"/>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21" name="Rectángulo: esquinas redondeadas 20">
            <a:extLst>
              <a:ext uri="{FF2B5EF4-FFF2-40B4-BE49-F238E27FC236}">
                <a16:creationId xmlns:a16="http://schemas.microsoft.com/office/drawing/2014/main" id="{E4A1CAC0-5361-9C7B-6E61-2280CC3719A5}"/>
              </a:ext>
            </a:extLst>
          </p:cNvPr>
          <p:cNvSpPr/>
          <p:nvPr/>
        </p:nvSpPr>
        <p:spPr>
          <a:xfrm>
            <a:off x="4276986" y="1568679"/>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t>5</a:t>
            </a:r>
            <a:endParaRPr lang="es-PE" sz="1100" b="1" dirty="0"/>
          </a:p>
        </p:txBody>
      </p:sp>
      <p:sp>
        <p:nvSpPr>
          <p:cNvPr id="22" name="CuadroTexto 21">
            <a:hlinkClick r:id="rId5" action="ppaction://hlinksldjump"/>
            <a:extLst>
              <a:ext uri="{FF2B5EF4-FFF2-40B4-BE49-F238E27FC236}">
                <a16:creationId xmlns:a16="http://schemas.microsoft.com/office/drawing/2014/main" id="{AE8BEBCB-76F9-A9CD-FC80-43640D3ABF9F}"/>
              </a:ext>
            </a:extLst>
          </p:cNvPr>
          <p:cNvSpPr txBox="1"/>
          <p:nvPr/>
        </p:nvSpPr>
        <p:spPr>
          <a:xfrm>
            <a:off x="4575194" y="1566446"/>
            <a:ext cx="3124161" cy="799207"/>
          </a:xfrm>
          <a:prstGeom prst="roundRect">
            <a:avLst>
              <a:gd name="adj" fmla="val 7573"/>
            </a:avLst>
          </a:prstGeom>
          <a:solidFill>
            <a:srgbClr val="7030A0"/>
          </a:solidFill>
        </p:spPr>
        <p:txBody>
          <a:bodyPr wrap="square">
            <a:spAutoFit/>
          </a:bodyPr>
          <a:lstStyle/>
          <a:p>
            <a:pPr algn="ctr"/>
            <a:r>
              <a:rPr lang="es-ES" sz="1100" dirty="0">
                <a:solidFill>
                  <a:srgbClr val="FFFFFF"/>
                </a:solidFill>
              </a:rPr>
              <a:t>Se ingresa el </a:t>
            </a:r>
            <a:r>
              <a:rPr lang="es-ES" sz="1100" b="1" dirty="0">
                <a:solidFill>
                  <a:srgbClr val="92D050"/>
                </a:solidFill>
              </a:rPr>
              <a:t>Tipo de periodo</a:t>
            </a:r>
            <a:r>
              <a:rPr lang="es-ES" sz="1100" b="1" dirty="0">
                <a:solidFill>
                  <a:schemeClr val="bg1"/>
                </a:solidFill>
              </a:rPr>
              <a:t> (STVTRMT).</a:t>
            </a:r>
            <a:r>
              <a:rPr lang="es-ES" sz="1100" dirty="0">
                <a:solidFill>
                  <a:srgbClr val="FFFFFF"/>
                </a:solidFill>
              </a:rPr>
              <a:t> C</a:t>
            </a:r>
            <a:r>
              <a:rPr lang="pt-BR" sz="1100" dirty="0" err="1">
                <a:solidFill>
                  <a:srgbClr val="FFFFFF"/>
                </a:solidFill>
              </a:rPr>
              <a:t>orresponde</a:t>
            </a:r>
            <a:r>
              <a:rPr lang="pt-BR" sz="1100" dirty="0">
                <a:solidFill>
                  <a:srgbClr val="FFFFFF"/>
                </a:solidFill>
              </a:rPr>
              <a:t> al tipo de período que se </a:t>
            </a:r>
            <a:r>
              <a:rPr lang="pt-BR" sz="1100" dirty="0" err="1">
                <a:solidFill>
                  <a:srgbClr val="FFFFFF"/>
                </a:solidFill>
              </a:rPr>
              <a:t>asignará</a:t>
            </a:r>
            <a:r>
              <a:rPr lang="pt-BR" sz="1100" dirty="0">
                <a:solidFill>
                  <a:srgbClr val="FFFFFF"/>
                </a:solidFill>
              </a:rPr>
              <a:t> a este código de período.</a:t>
            </a:r>
          </a:p>
          <a:p>
            <a:pPr algn="ctr"/>
            <a:r>
              <a:rPr lang="pt-BR" sz="1100" dirty="0">
                <a:solidFill>
                  <a:srgbClr val="FFFFFF"/>
                </a:solidFill>
              </a:rPr>
              <a:t>(Opcional)</a:t>
            </a:r>
            <a:r>
              <a:rPr lang="es-ES" sz="1100" dirty="0">
                <a:solidFill>
                  <a:srgbClr val="FFFFFF"/>
                </a:solidFill>
              </a:rPr>
              <a:t>.</a:t>
            </a:r>
            <a:endParaRPr lang="es-ES" b="0" dirty="0">
              <a:effectLst/>
            </a:endParaRPr>
          </a:p>
        </p:txBody>
      </p:sp>
    </p:spTree>
    <p:extLst>
      <p:ext uri="{BB962C8B-B14F-4D97-AF65-F5344CB8AC3E}">
        <p14:creationId xmlns:p14="http://schemas.microsoft.com/office/powerpoint/2010/main" val="39612356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2000"/>
                                        <p:tgtEl>
                                          <p:spTgt spid="2"/>
                                        </p:tgtEl>
                                      </p:cBhvr>
                                    </p:animEffect>
                                  </p:childTnLst>
                                </p:cTn>
                              </p:par>
                            </p:childTnLst>
                          </p:cTn>
                        </p:par>
                        <p:par>
                          <p:cTn id="8" fill="hold">
                            <p:stCondLst>
                              <p:cond delay="2000"/>
                            </p:stCondLst>
                            <p:childTnLst>
                              <p:par>
                                <p:cTn id="9" presetID="53" presetClass="entr" presetSubtype="16" fill="hold" grpId="0" nodeType="afterEffect">
                                  <p:stCondLst>
                                    <p:cond delay="0"/>
                                  </p:stCondLst>
                                  <p:childTnLst>
                                    <p:set>
                                      <p:cBhvr>
                                        <p:cTn id="10" dur="1" fill="hold">
                                          <p:stCondLst>
                                            <p:cond delay="0"/>
                                          </p:stCondLst>
                                        </p:cTn>
                                        <p:tgtEl>
                                          <p:spTgt spid="18"/>
                                        </p:tgtEl>
                                        <p:attrNameLst>
                                          <p:attrName>style.visibility</p:attrName>
                                        </p:attrNameLst>
                                      </p:cBhvr>
                                      <p:to>
                                        <p:strVal val="visible"/>
                                      </p:to>
                                    </p:set>
                                    <p:anim calcmode="lin" valueType="num">
                                      <p:cBhvr>
                                        <p:cTn id="11" dur="500" fill="hold"/>
                                        <p:tgtEl>
                                          <p:spTgt spid="18"/>
                                        </p:tgtEl>
                                        <p:attrNameLst>
                                          <p:attrName>ppt_w</p:attrName>
                                        </p:attrNameLst>
                                      </p:cBhvr>
                                      <p:tavLst>
                                        <p:tav tm="0">
                                          <p:val>
                                            <p:fltVal val="0"/>
                                          </p:val>
                                        </p:tav>
                                        <p:tav tm="100000">
                                          <p:val>
                                            <p:strVal val="#ppt_w"/>
                                          </p:val>
                                        </p:tav>
                                      </p:tavLst>
                                    </p:anim>
                                    <p:anim calcmode="lin" valueType="num">
                                      <p:cBhvr>
                                        <p:cTn id="12" dur="500" fill="hold"/>
                                        <p:tgtEl>
                                          <p:spTgt spid="18"/>
                                        </p:tgtEl>
                                        <p:attrNameLst>
                                          <p:attrName>ppt_h</p:attrName>
                                        </p:attrNameLst>
                                      </p:cBhvr>
                                      <p:tavLst>
                                        <p:tav tm="0">
                                          <p:val>
                                            <p:fltVal val="0"/>
                                          </p:val>
                                        </p:tav>
                                        <p:tav tm="100000">
                                          <p:val>
                                            <p:strVal val="#ppt_h"/>
                                          </p:val>
                                        </p:tav>
                                      </p:tavLst>
                                    </p:anim>
                                    <p:animEffect transition="in" filter="fade">
                                      <p:cBhvr>
                                        <p:cTn id="13" dur="500"/>
                                        <p:tgtEl>
                                          <p:spTgt spid="18"/>
                                        </p:tgtEl>
                                      </p:cBhvr>
                                    </p:animEffect>
                                  </p:childTnLst>
                                </p:cTn>
                              </p:par>
                            </p:childTnLst>
                          </p:cTn>
                        </p:par>
                        <p:par>
                          <p:cTn id="14" fill="hold">
                            <p:stCondLst>
                              <p:cond delay="2500"/>
                            </p:stCondLst>
                            <p:childTnLst>
                              <p:par>
                                <p:cTn id="15" presetID="10" presetClass="entr" presetSubtype="0" fill="hold" grpId="0" nodeType="after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500"/>
                                        <p:tgtEl>
                                          <p:spTgt spid="19"/>
                                        </p:tgtEl>
                                      </p:cBhvr>
                                    </p:animEffect>
                                  </p:childTnLst>
                                </p:cTn>
                              </p:par>
                            </p:childTnLst>
                          </p:cTn>
                        </p:par>
                        <p:par>
                          <p:cTn id="18" fill="hold">
                            <p:stCondLst>
                              <p:cond delay="3000"/>
                            </p:stCondLst>
                            <p:childTnLst>
                              <p:par>
                                <p:cTn id="19" presetID="21" presetClass="entr" presetSubtype="1" fill="hold" grpId="0" nodeType="afterEffect">
                                  <p:stCondLst>
                                    <p:cond delay="0"/>
                                  </p:stCondLst>
                                  <p:childTnLst>
                                    <p:set>
                                      <p:cBhvr>
                                        <p:cTn id="20" dur="1" fill="hold">
                                          <p:stCondLst>
                                            <p:cond delay="0"/>
                                          </p:stCondLst>
                                        </p:cTn>
                                        <p:tgtEl>
                                          <p:spTgt spid="20"/>
                                        </p:tgtEl>
                                        <p:attrNameLst>
                                          <p:attrName>style.visibility</p:attrName>
                                        </p:attrNameLst>
                                      </p:cBhvr>
                                      <p:to>
                                        <p:strVal val="visible"/>
                                      </p:to>
                                    </p:set>
                                    <p:animEffect transition="in" filter="wheel(1)">
                                      <p:cBhvr>
                                        <p:cTn id="21" dur="2000"/>
                                        <p:tgtEl>
                                          <p:spTgt spid="20"/>
                                        </p:tgtEl>
                                      </p:cBhvr>
                                    </p:animEffect>
                                  </p:childTnLst>
                                </p:cTn>
                              </p:par>
                            </p:childTnLst>
                          </p:cTn>
                        </p:par>
                        <p:par>
                          <p:cTn id="22" fill="hold">
                            <p:stCondLst>
                              <p:cond delay="5000"/>
                            </p:stCondLst>
                            <p:childTnLst>
                              <p:par>
                                <p:cTn id="23" presetID="53" presetClass="entr" presetSubtype="16" fill="hold" grpId="0" nodeType="afterEffect">
                                  <p:stCondLst>
                                    <p:cond delay="0"/>
                                  </p:stCondLst>
                                  <p:childTnLst>
                                    <p:set>
                                      <p:cBhvr>
                                        <p:cTn id="24" dur="1" fill="hold">
                                          <p:stCondLst>
                                            <p:cond delay="0"/>
                                          </p:stCondLst>
                                        </p:cTn>
                                        <p:tgtEl>
                                          <p:spTgt spid="21"/>
                                        </p:tgtEl>
                                        <p:attrNameLst>
                                          <p:attrName>style.visibility</p:attrName>
                                        </p:attrNameLst>
                                      </p:cBhvr>
                                      <p:to>
                                        <p:strVal val="visible"/>
                                      </p:to>
                                    </p:set>
                                    <p:anim calcmode="lin" valueType="num">
                                      <p:cBhvr>
                                        <p:cTn id="25" dur="500" fill="hold"/>
                                        <p:tgtEl>
                                          <p:spTgt spid="21"/>
                                        </p:tgtEl>
                                        <p:attrNameLst>
                                          <p:attrName>ppt_w</p:attrName>
                                        </p:attrNameLst>
                                      </p:cBhvr>
                                      <p:tavLst>
                                        <p:tav tm="0">
                                          <p:val>
                                            <p:fltVal val="0"/>
                                          </p:val>
                                        </p:tav>
                                        <p:tav tm="100000">
                                          <p:val>
                                            <p:strVal val="#ppt_w"/>
                                          </p:val>
                                        </p:tav>
                                      </p:tavLst>
                                    </p:anim>
                                    <p:anim calcmode="lin" valueType="num">
                                      <p:cBhvr>
                                        <p:cTn id="26" dur="500" fill="hold"/>
                                        <p:tgtEl>
                                          <p:spTgt spid="21"/>
                                        </p:tgtEl>
                                        <p:attrNameLst>
                                          <p:attrName>ppt_h</p:attrName>
                                        </p:attrNameLst>
                                      </p:cBhvr>
                                      <p:tavLst>
                                        <p:tav tm="0">
                                          <p:val>
                                            <p:fltVal val="0"/>
                                          </p:val>
                                        </p:tav>
                                        <p:tav tm="100000">
                                          <p:val>
                                            <p:strVal val="#ppt_h"/>
                                          </p:val>
                                        </p:tav>
                                      </p:tavLst>
                                    </p:anim>
                                    <p:animEffect transition="in" filter="fade">
                                      <p:cBhvr>
                                        <p:cTn id="27" dur="500"/>
                                        <p:tgtEl>
                                          <p:spTgt spid="21"/>
                                        </p:tgtEl>
                                      </p:cBhvr>
                                    </p:animEffect>
                                  </p:childTnLst>
                                </p:cTn>
                              </p:par>
                            </p:childTnLst>
                          </p:cTn>
                        </p:par>
                        <p:par>
                          <p:cTn id="28" fill="hold">
                            <p:stCondLst>
                              <p:cond delay="5500"/>
                            </p:stCondLst>
                            <p:childTnLst>
                              <p:par>
                                <p:cTn id="29" presetID="10" presetClass="entr" presetSubtype="0" fill="hold" grpId="0" nodeType="after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fade">
                                      <p:cBhvr>
                                        <p:cTn id="31"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8" grpId="0" animBg="1"/>
      <p:bldP spid="19" grpId="0" animBg="1"/>
      <p:bldP spid="20" grpId="0" animBg="1"/>
      <p:bldP spid="21" grpId="0" animBg="1"/>
      <p:bldP spid="22"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7CAB2B86-4E3B-C98C-411E-958BEFE187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2528" y="6154887"/>
            <a:ext cx="2234242" cy="525923"/>
          </a:xfrm>
          <a:prstGeom prst="rect">
            <a:avLst/>
          </a:prstGeom>
        </p:spPr>
      </p:pic>
      <p:pic>
        <p:nvPicPr>
          <p:cNvPr id="4" name="Picture 4" descr="Ellucian Student Reseñas 2026: Detalles, Precios y Características | G2">
            <a:extLst>
              <a:ext uri="{FF2B5EF4-FFF2-40B4-BE49-F238E27FC236}">
                <a16:creationId xmlns:a16="http://schemas.microsoft.com/office/drawing/2014/main" id="{7352B780-8C7C-7B91-F3EE-5E6EF2C2E4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98101" y="5901780"/>
            <a:ext cx="1821371" cy="956220"/>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0AEBA78F-8C98-5D4D-384F-95B753FFADE4}"/>
              </a:ext>
            </a:extLst>
          </p:cNvPr>
          <p:cNvSpPr txBox="1"/>
          <p:nvPr/>
        </p:nvSpPr>
        <p:spPr>
          <a:xfrm>
            <a:off x="431320" y="241540"/>
            <a:ext cx="7035900" cy="523220"/>
          </a:xfrm>
          <a:prstGeom prst="rect">
            <a:avLst/>
          </a:prstGeom>
          <a:noFill/>
        </p:spPr>
        <p:txBody>
          <a:bodyPr wrap="none" rtlCol="0">
            <a:spAutoFit/>
          </a:bodyPr>
          <a:lstStyle/>
          <a:p>
            <a:r>
              <a:rPr lang="es-ES" sz="2800" b="1" dirty="0">
                <a:latin typeface="Montserrat" pitchFamily="2" charset="0"/>
              </a:rPr>
              <a:t>PERIODOS ACADÉMICOS - STVTERM</a:t>
            </a:r>
            <a:endParaRPr lang="es-PE" sz="2800" b="1" dirty="0">
              <a:latin typeface="Montserrat" pitchFamily="2" charset="0"/>
            </a:endParaRPr>
          </a:p>
        </p:txBody>
      </p:sp>
      <p:sp>
        <p:nvSpPr>
          <p:cNvPr id="8" name="Rectángulo 7">
            <a:extLst>
              <a:ext uri="{FF2B5EF4-FFF2-40B4-BE49-F238E27FC236}">
                <a16:creationId xmlns:a16="http://schemas.microsoft.com/office/drawing/2014/main" id="{A16BCE08-E23C-F264-A6E3-E4019979D2E2}"/>
              </a:ext>
            </a:extLst>
          </p:cNvPr>
          <p:cNvSpPr/>
          <p:nvPr/>
        </p:nvSpPr>
        <p:spPr>
          <a:xfrm>
            <a:off x="7467220" y="241540"/>
            <a:ext cx="4724779" cy="445583"/>
          </a:xfrm>
          <a:prstGeom prst="rect">
            <a:avLst/>
          </a:prstGeom>
          <a:gradFill flip="none" rotWithShape="1">
            <a:gsLst>
              <a:gs pos="0">
                <a:schemeClr val="accent6">
                  <a:lumMod val="0"/>
                  <a:lumOff val="100000"/>
                </a:schemeClr>
              </a:gs>
              <a:gs pos="66000">
                <a:schemeClr val="accent6">
                  <a:lumMod val="100000"/>
                </a:schemeClr>
              </a:gs>
            </a:gsLst>
            <a:lin ang="0" scaled="1"/>
            <a:tileRect/>
          </a:gra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s-PE"/>
          </a:p>
        </p:txBody>
      </p:sp>
      <p:sp>
        <p:nvSpPr>
          <p:cNvPr id="6" name="CuadroTexto 5">
            <a:extLst>
              <a:ext uri="{FF2B5EF4-FFF2-40B4-BE49-F238E27FC236}">
                <a16:creationId xmlns:a16="http://schemas.microsoft.com/office/drawing/2014/main" id="{AC33DC36-253A-547B-7A30-A152C2F6B4CE}"/>
              </a:ext>
            </a:extLst>
          </p:cNvPr>
          <p:cNvSpPr txBox="1"/>
          <p:nvPr/>
        </p:nvSpPr>
        <p:spPr>
          <a:xfrm>
            <a:off x="4528936" y="6386396"/>
            <a:ext cx="3134128" cy="276999"/>
          </a:xfrm>
          <a:prstGeom prst="rect">
            <a:avLst/>
          </a:prstGeom>
          <a:noFill/>
        </p:spPr>
        <p:txBody>
          <a:bodyPr wrap="none" rtlCol="0">
            <a:spAutoFit/>
          </a:bodyPr>
          <a:lstStyle/>
          <a:p>
            <a:pPr algn="ctr"/>
            <a:r>
              <a:rPr lang="es-ES" sz="1200" i="1" dirty="0"/>
              <a:t>Elaborado por: Ing. Liliana Ocampo Moreno</a:t>
            </a:r>
            <a:endParaRPr lang="es-PE" sz="1200" i="1" dirty="0"/>
          </a:p>
        </p:txBody>
      </p:sp>
      <p:pic>
        <p:nvPicPr>
          <p:cNvPr id="5" name="Imagen 4">
            <a:extLst>
              <a:ext uri="{FF2B5EF4-FFF2-40B4-BE49-F238E27FC236}">
                <a16:creationId xmlns:a16="http://schemas.microsoft.com/office/drawing/2014/main" id="{AFBDFB5F-0C42-0CAD-8543-A6BE2E4039F1}"/>
              </a:ext>
            </a:extLst>
          </p:cNvPr>
          <p:cNvPicPr>
            <a:picLocks noChangeAspect="1"/>
          </p:cNvPicPr>
          <p:nvPr/>
        </p:nvPicPr>
        <p:blipFill>
          <a:blip r:embed="rId4"/>
          <a:stretch>
            <a:fillRect/>
          </a:stretch>
        </p:blipFill>
        <p:spPr>
          <a:xfrm>
            <a:off x="431320" y="889049"/>
            <a:ext cx="11283352" cy="5059271"/>
          </a:xfrm>
          <a:prstGeom prst="rect">
            <a:avLst/>
          </a:prstGeom>
        </p:spPr>
      </p:pic>
      <p:sp>
        <p:nvSpPr>
          <p:cNvPr id="9" name="Rectángulo 8">
            <a:extLst>
              <a:ext uri="{FF2B5EF4-FFF2-40B4-BE49-F238E27FC236}">
                <a16:creationId xmlns:a16="http://schemas.microsoft.com/office/drawing/2014/main" id="{450B27EA-AE11-E5B3-F9BE-EE33368A5087}"/>
              </a:ext>
            </a:extLst>
          </p:cNvPr>
          <p:cNvSpPr/>
          <p:nvPr/>
        </p:nvSpPr>
        <p:spPr>
          <a:xfrm>
            <a:off x="4299936" y="1576928"/>
            <a:ext cx="684000" cy="189781"/>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10" name="Rectángulo: esquinas redondeadas 9">
            <a:extLst>
              <a:ext uri="{FF2B5EF4-FFF2-40B4-BE49-F238E27FC236}">
                <a16:creationId xmlns:a16="http://schemas.microsoft.com/office/drawing/2014/main" id="{1564511F-C1B0-1F0C-FDBC-9DF92DAB19CE}"/>
              </a:ext>
            </a:extLst>
          </p:cNvPr>
          <p:cNvSpPr/>
          <p:nvPr/>
        </p:nvSpPr>
        <p:spPr>
          <a:xfrm>
            <a:off x="3887306" y="1543790"/>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t>6</a:t>
            </a:r>
            <a:endParaRPr lang="es-PE" sz="1100" b="1" dirty="0"/>
          </a:p>
        </p:txBody>
      </p:sp>
      <p:sp>
        <p:nvSpPr>
          <p:cNvPr id="11" name="CuadroTexto 10">
            <a:hlinkClick r:id="rId5" action="ppaction://hlinksldjump"/>
            <a:extLst>
              <a:ext uri="{FF2B5EF4-FFF2-40B4-BE49-F238E27FC236}">
                <a16:creationId xmlns:a16="http://schemas.microsoft.com/office/drawing/2014/main" id="{FA6840EF-B4E6-14CC-D51E-A106A7610E15}"/>
              </a:ext>
            </a:extLst>
          </p:cNvPr>
          <p:cNvSpPr txBox="1"/>
          <p:nvPr/>
        </p:nvSpPr>
        <p:spPr>
          <a:xfrm>
            <a:off x="1633599" y="1445712"/>
            <a:ext cx="2155222" cy="975033"/>
          </a:xfrm>
          <a:prstGeom prst="roundRect">
            <a:avLst>
              <a:gd name="adj" fmla="val 7573"/>
            </a:avLst>
          </a:prstGeom>
          <a:solidFill>
            <a:srgbClr val="7030A0"/>
          </a:solidFill>
        </p:spPr>
        <p:txBody>
          <a:bodyPr wrap="square">
            <a:spAutoFit/>
          </a:bodyPr>
          <a:lstStyle/>
          <a:p>
            <a:pPr algn="ctr"/>
            <a:r>
              <a:rPr lang="es-ES" sz="1100" dirty="0">
                <a:solidFill>
                  <a:srgbClr val="FFFFFF"/>
                </a:solidFill>
              </a:rPr>
              <a:t>Se debe ingresar el </a:t>
            </a:r>
            <a:r>
              <a:rPr lang="es-ES" sz="1100" b="1" dirty="0">
                <a:solidFill>
                  <a:srgbClr val="92D050"/>
                </a:solidFill>
              </a:rPr>
              <a:t>Año Académico</a:t>
            </a:r>
            <a:r>
              <a:rPr lang="es-ES" sz="1100" b="1" dirty="0">
                <a:solidFill>
                  <a:schemeClr val="bg1"/>
                </a:solidFill>
              </a:rPr>
              <a:t> (STVACYR).</a:t>
            </a:r>
            <a:r>
              <a:rPr lang="es-ES" sz="1100" dirty="0">
                <a:solidFill>
                  <a:srgbClr val="FFFFFF"/>
                </a:solidFill>
              </a:rPr>
              <a:t> Código alfanumérico de 4 caracteres que representa el año. </a:t>
            </a:r>
            <a:br>
              <a:rPr lang="es-ES" sz="1100" dirty="0">
                <a:solidFill>
                  <a:srgbClr val="FFFFFF"/>
                </a:solidFill>
              </a:rPr>
            </a:br>
            <a:r>
              <a:rPr lang="es-ES" sz="1100" dirty="0">
                <a:solidFill>
                  <a:srgbClr val="FFFFFF"/>
                </a:solidFill>
              </a:rPr>
              <a:t>(Requerido).</a:t>
            </a:r>
            <a:endParaRPr lang="es-ES" b="0" dirty="0">
              <a:effectLst/>
            </a:endParaRPr>
          </a:p>
        </p:txBody>
      </p:sp>
      <p:sp>
        <p:nvSpPr>
          <p:cNvPr id="12" name="Rectángulo 11">
            <a:extLst>
              <a:ext uri="{FF2B5EF4-FFF2-40B4-BE49-F238E27FC236}">
                <a16:creationId xmlns:a16="http://schemas.microsoft.com/office/drawing/2014/main" id="{9A06E78E-0DC6-9FE8-116A-08763D331E3B}"/>
              </a:ext>
            </a:extLst>
          </p:cNvPr>
          <p:cNvSpPr/>
          <p:nvPr/>
        </p:nvSpPr>
        <p:spPr>
          <a:xfrm>
            <a:off x="5069483" y="1576928"/>
            <a:ext cx="1944000" cy="189781"/>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13" name="Rectángulo: esquinas redondeadas 12">
            <a:extLst>
              <a:ext uri="{FF2B5EF4-FFF2-40B4-BE49-F238E27FC236}">
                <a16:creationId xmlns:a16="http://schemas.microsoft.com/office/drawing/2014/main" id="{98E9A7B3-FB78-B699-63E5-C18134A46F03}"/>
              </a:ext>
            </a:extLst>
          </p:cNvPr>
          <p:cNvSpPr/>
          <p:nvPr/>
        </p:nvSpPr>
        <p:spPr>
          <a:xfrm>
            <a:off x="5776842" y="1850031"/>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t>7</a:t>
            </a:r>
            <a:endParaRPr lang="es-PE" sz="1100" b="1" dirty="0"/>
          </a:p>
        </p:txBody>
      </p:sp>
      <p:sp>
        <p:nvSpPr>
          <p:cNvPr id="14" name="CuadroTexto 13">
            <a:hlinkClick r:id="rId6" action="ppaction://hlinksldjump"/>
            <a:extLst>
              <a:ext uri="{FF2B5EF4-FFF2-40B4-BE49-F238E27FC236}">
                <a16:creationId xmlns:a16="http://schemas.microsoft.com/office/drawing/2014/main" id="{87203179-7EA3-4D41-7857-F4F95C101774}"/>
              </a:ext>
            </a:extLst>
          </p:cNvPr>
          <p:cNvSpPr txBox="1"/>
          <p:nvPr/>
        </p:nvSpPr>
        <p:spPr>
          <a:xfrm>
            <a:off x="4858261" y="2157639"/>
            <a:ext cx="2155222" cy="1854160"/>
          </a:xfrm>
          <a:prstGeom prst="roundRect">
            <a:avLst>
              <a:gd name="adj" fmla="val 7573"/>
            </a:avLst>
          </a:prstGeom>
          <a:solidFill>
            <a:srgbClr val="7030A0"/>
          </a:solidFill>
        </p:spPr>
        <p:txBody>
          <a:bodyPr wrap="square">
            <a:spAutoFit/>
          </a:bodyPr>
          <a:lstStyle/>
          <a:p>
            <a:pPr algn="ctr"/>
            <a:r>
              <a:rPr lang="es-ES" sz="1100" dirty="0">
                <a:solidFill>
                  <a:srgbClr val="FFFFFF"/>
                </a:solidFill>
              </a:rPr>
              <a:t>Se debe ingresar la </a:t>
            </a:r>
            <a:r>
              <a:rPr lang="es-ES" sz="1100" b="1" dirty="0">
                <a:solidFill>
                  <a:srgbClr val="92D050"/>
                </a:solidFill>
              </a:rPr>
              <a:t>Fecha de inicio y fin de alojamiento</a:t>
            </a:r>
            <a:r>
              <a:rPr lang="es-ES" sz="1100" b="1" dirty="0">
                <a:solidFill>
                  <a:schemeClr val="bg1"/>
                </a:solidFill>
              </a:rPr>
              <a:t>.</a:t>
            </a:r>
            <a:r>
              <a:rPr lang="es-ES" sz="1100" dirty="0">
                <a:solidFill>
                  <a:srgbClr val="FFFFFF"/>
                </a:solidFill>
              </a:rPr>
              <a:t> Campo que no se utilizará por la universidad (servicio de hospedaje/residencia estudiantil). </a:t>
            </a:r>
            <a:r>
              <a:rPr lang="es-ES" sz="1100" b="1" dirty="0">
                <a:solidFill>
                  <a:srgbClr val="FFFFFF"/>
                </a:solidFill>
              </a:rPr>
              <a:t>Se ingresan las mismas fechas de inicio y fin del periodo (paso 4)</a:t>
            </a:r>
          </a:p>
          <a:p>
            <a:pPr algn="ctr"/>
            <a:r>
              <a:rPr lang="es-ES" sz="1100" dirty="0">
                <a:solidFill>
                  <a:srgbClr val="FFFFFF"/>
                </a:solidFill>
              </a:rPr>
              <a:t>Formato: DD-MM-AAAA</a:t>
            </a:r>
            <a:br>
              <a:rPr lang="es-ES" sz="1100" dirty="0">
                <a:solidFill>
                  <a:srgbClr val="FFFFFF"/>
                </a:solidFill>
              </a:rPr>
            </a:br>
            <a:r>
              <a:rPr lang="es-ES" sz="1100" dirty="0">
                <a:solidFill>
                  <a:srgbClr val="FFFFFF"/>
                </a:solidFill>
              </a:rPr>
              <a:t>(Requerido).</a:t>
            </a:r>
            <a:endParaRPr lang="es-ES" b="0" dirty="0">
              <a:effectLst/>
            </a:endParaRPr>
          </a:p>
        </p:txBody>
      </p:sp>
      <p:sp>
        <p:nvSpPr>
          <p:cNvPr id="15" name="Rectángulo 14">
            <a:extLst>
              <a:ext uri="{FF2B5EF4-FFF2-40B4-BE49-F238E27FC236}">
                <a16:creationId xmlns:a16="http://schemas.microsoft.com/office/drawing/2014/main" id="{CC1A29E1-CF98-1834-86AB-E191F35F39EF}"/>
              </a:ext>
            </a:extLst>
          </p:cNvPr>
          <p:cNvSpPr/>
          <p:nvPr/>
        </p:nvSpPr>
        <p:spPr>
          <a:xfrm>
            <a:off x="7098061" y="1576928"/>
            <a:ext cx="684000" cy="189781"/>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16" name="Rectángulo: esquinas redondeadas 15">
            <a:extLst>
              <a:ext uri="{FF2B5EF4-FFF2-40B4-BE49-F238E27FC236}">
                <a16:creationId xmlns:a16="http://schemas.microsoft.com/office/drawing/2014/main" id="{6BE76C61-27E0-7E15-060D-81A064E90FAD}"/>
              </a:ext>
            </a:extLst>
          </p:cNvPr>
          <p:cNvSpPr/>
          <p:nvPr/>
        </p:nvSpPr>
        <p:spPr>
          <a:xfrm>
            <a:off x="7482135" y="1824443"/>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t>8</a:t>
            </a:r>
            <a:endParaRPr lang="es-PE" sz="1100" b="1" dirty="0"/>
          </a:p>
        </p:txBody>
      </p:sp>
      <p:sp>
        <p:nvSpPr>
          <p:cNvPr id="17" name="CuadroTexto 16">
            <a:extLst>
              <a:ext uri="{FF2B5EF4-FFF2-40B4-BE49-F238E27FC236}">
                <a16:creationId xmlns:a16="http://schemas.microsoft.com/office/drawing/2014/main" id="{642FA49F-9595-6BA5-D5FD-28FDC1B2DF2F}"/>
              </a:ext>
            </a:extLst>
          </p:cNvPr>
          <p:cNvSpPr txBox="1"/>
          <p:nvPr/>
        </p:nvSpPr>
        <p:spPr>
          <a:xfrm>
            <a:off x="7365038" y="2106611"/>
            <a:ext cx="2155222" cy="1678335"/>
          </a:xfrm>
          <a:prstGeom prst="roundRect">
            <a:avLst>
              <a:gd name="adj" fmla="val 7573"/>
            </a:avLst>
          </a:prstGeom>
          <a:solidFill>
            <a:srgbClr val="7030A0"/>
          </a:solidFill>
        </p:spPr>
        <p:txBody>
          <a:bodyPr wrap="square">
            <a:spAutoFit/>
          </a:bodyPr>
          <a:lstStyle/>
          <a:p>
            <a:pPr algn="ctr"/>
            <a:r>
              <a:rPr lang="es-ES" sz="1100" dirty="0">
                <a:solidFill>
                  <a:srgbClr val="FFFFFF"/>
                </a:solidFill>
              </a:rPr>
              <a:t>Se debe ingresar el </a:t>
            </a:r>
            <a:r>
              <a:rPr lang="es-ES" sz="1100" b="1" dirty="0">
                <a:solidFill>
                  <a:srgbClr val="92D050"/>
                </a:solidFill>
              </a:rPr>
              <a:t>Año de proceso de ayuda financiera</a:t>
            </a:r>
            <a:r>
              <a:rPr lang="es-ES" sz="1100" b="1" dirty="0">
                <a:solidFill>
                  <a:schemeClr val="bg1"/>
                </a:solidFill>
              </a:rPr>
              <a:t>.</a:t>
            </a:r>
            <a:r>
              <a:rPr lang="es-ES" sz="1100" dirty="0">
                <a:solidFill>
                  <a:srgbClr val="FFFFFF"/>
                </a:solidFill>
              </a:rPr>
              <a:t> Año que corresponde al período de ayuda financiera, se debe configurar así no se utilice el módulo de ayuda financiera.</a:t>
            </a:r>
            <a:r>
              <a:rPr lang="es-ES" sz="1100" b="1" dirty="0">
                <a:solidFill>
                  <a:srgbClr val="FFFFFF"/>
                </a:solidFill>
              </a:rPr>
              <a:t> Se coloca el mismo que Año Académico.</a:t>
            </a:r>
            <a:r>
              <a:rPr lang="es-ES" sz="1100" dirty="0">
                <a:solidFill>
                  <a:srgbClr val="FFFFFF"/>
                </a:solidFill>
              </a:rPr>
              <a:t> </a:t>
            </a:r>
            <a:br>
              <a:rPr lang="es-ES" sz="1100" dirty="0">
                <a:solidFill>
                  <a:srgbClr val="FFFFFF"/>
                </a:solidFill>
              </a:rPr>
            </a:br>
            <a:r>
              <a:rPr lang="es-ES" sz="1100" dirty="0">
                <a:solidFill>
                  <a:srgbClr val="FFFFFF"/>
                </a:solidFill>
              </a:rPr>
              <a:t>(Requerido).</a:t>
            </a:r>
            <a:endParaRPr lang="es-ES" b="0" dirty="0">
              <a:effectLst/>
            </a:endParaRPr>
          </a:p>
        </p:txBody>
      </p:sp>
    </p:spTree>
    <p:extLst>
      <p:ext uri="{BB962C8B-B14F-4D97-AF65-F5344CB8AC3E}">
        <p14:creationId xmlns:p14="http://schemas.microsoft.com/office/powerpoint/2010/main" val="22360623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heel(1)">
                                      <p:cBhvr>
                                        <p:cTn id="7" dur="2000"/>
                                        <p:tgtEl>
                                          <p:spTgt spid="9"/>
                                        </p:tgtEl>
                                      </p:cBhvr>
                                    </p:animEffect>
                                  </p:childTnLst>
                                </p:cTn>
                              </p:par>
                            </p:childTnLst>
                          </p:cTn>
                        </p:par>
                        <p:par>
                          <p:cTn id="8" fill="hold">
                            <p:stCondLst>
                              <p:cond delay="2000"/>
                            </p:stCondLst>
                            <p:childTnLst>
                              <p:par>
                                <p:cTn id="9" presetID="53" presetClass="entr" presetSubtype="16"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p:cTn id="11" dur="500" fill="hold"/>
                                        <p:tgtEl>
                                          <p:spTgt spid="10"/>
                                        </p:tgtEl>
                                        <p:attrNameLst>
                                          <p:attrName>ppt_w</p:attrName>
                                        </p:attrNameLst>
                                      </p:cBhvr>
                                      <p:tavLst>
                                        <p:tav tm="0">
                                          <p:val>
                                            <p:fltVal val="0"/>
                                          </p:val>
                                        </p:tav>
                                        <p:tav tm="100000">
                                          <p:val>
                                            <p:strVal val="#ppt_w"/>
                                          </p:val>
                                        </p:tav>
                                      </p:tavLst>
                                    </p:anim>
                                    <p:anim calcmode="lin" valueType="num">
                                      <p:cBhvr>
                                        <p:cTn id="12" dur="500" fill="hold"/>
                                        <p:tgtEl>
                                          <p:spTgt spid="10"/>
                                        </p:tgtEl>
                                        <p:attrNameLst>
                                          <p:attrName>ppt_h</p:attrName>
                                        </p:attrNameLst>
                                      </p:cBhvr>
                                      <p:tavLst>
                                        <p:tav tm="0">
                                          <p:val>
                                            <p:fltVal val="0"/>
                                          </p:val>
                                        </p:tav>
                                        <p:tav tm="100000">
                                          <p:val>
                                            <p:strVal val="#ppt_h"/>
                                          </p:val>
                                        </p:tav>
                                      </p:tavLst>
                                    </p:anim>
                                    <p:animEffect transition="in" filter="fade">
                                      <p:cBhvr>
                                        <p:cTn id="13" dur="500"/>
                                        <p:tgtEl>
                                          <p:spTgt spid="10"/>
                                        </p:tgtEl>
                                      </p:cBhvr>
                                    </p:animEffect>
                                  </p:childTnLst>
                                </p:cTn>
                              </p:par>
                            </p:childTnLst>
                          </p:cTn>
                        </p:par>
                        <p:par>
                          <p:cTn id="14" fill="hold">
                            <p:stCondLst>
                              <p:cond delay="2500"/>
                            </p:stCondLst>
                            <p:childTnLst>
                              <p:par>
                                <p:cTn id="15" presetID="10" presetClass="entr" presetSubtype="0" fill="hold" grpId="0" nodeType="after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childTnLst>
                          </p:cTn>
                        </p:par>
                        <p:par>
                          <p:cTn id="18" fill="hold">
                            <p:stCondLst>
                              <p:cond delay="3000"/>
                            </p:stCondLst>
                            <p:childTnLst>
                              <p:par>
                                <p:cTn id="19" presetID="21" presetClass="entr" presetSubtype="1" fill="hold" grpId="0" nodeType="after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wheel(1)">
                                      <p:cBhvr>
                                        <p:cTn id="21" dur="2000"/>
                                        <p:tgtEl>
                                          <p:spTgt spid="12"/>
                                        </p:tgtEl>
                                      </p:cBhvr>
                                    </p:animEffect>
                                  </p:childTnLst>
                                </p:cTn>
                              </p:par>
                            </p:childTnLst>
                          </p:cTn>
                        </p:par>
                        <p:par>
                          <p:cTn id="22" fill="hold">
                            <p:stCondLst>
                              <p:cond delay="5000"/>
                            </p:stCondLst>
                            <p:childTnLst>
                              <p:par>
                                <p:cTn id="23" presetID="53" presetClass="entr" presetSubtype="16" fill="hold" grpId="0" nodeType="afterEffect">
                                  <p:stCondLst>
                                    <p:cond delay="0"/>
                                  </p:stCondLst>
                                  <p:childTnLst>
                                    <p:set>
                                      <p:cBhvr>
                                        <p:cTn id="24" dur="1" fill="hold">
                                          <p:stCondLst>
                                            <p:cond delay="0"/>
                                          </p:stCondLst>
                                        </p:cTn>
                                        <p:tgtEl>
                                          <p:spTgt spid="13"/>
                                        </p:tgtEl>
                                        <p:attrNameLst>
                                          <p:attrName>style.visibility</p:attrName>
                                        </p:attrNameLst>
                                      </p:cBhvr>
                                      <p:to>
                                        <p:strVal val="visible"/>
                                      </p:to>
                                    </p:set>
                                    <p:anim calcmode="lin" valueType="num">
                                      <p:cBhvr>
                                        <p:cTn id="25" dur="500" fill="hold"/>
                                        <p:tgtEl>
                                          <p:spTgt spid="13"/>
                                        </p:tgtEl>
                                        <p:attrNameLst>
                                          <p:attrName>ppt_w</p:attrName>
                                        </p:attrNameLst>
                                      </p:cBhvr>
                                      <p:tavLst>
                                        <p:tav tm="0">
                                          <p:val>
                                            <p:fltVal val="0"/>
                                          </p:val>
                                        </p:tav>
                                        <p:tav tm="100000">
                                          <p:val>
                                            <p:strVal val="#ppt_w"/>
                                          </p:val>
                                        </p:tav>
                                      </p:tavLst>
                                    </p:anim>
                                    <p:anim calcmode="lin" valueType="num">
                                      <p:cBhvr>
                                        <p:cTn id="26" dur="500" fill="hold"/>
                                        <p:tgtEl>
                                          <p:spTgt spid="13"/>
                                        </p:tgtEl>
                                        <p:attrNameLst>
                                          <p:attrName>ppt_h</p:attrName>
                                        </p:attrNameLst>
                                      </p:cBhvr>
                                      <p:tavLst>
                                        <p:tav tm="0">
                                          <p:val>
                                            <p:fltVal val="0"/>
                                          </p:val>
                                        </p:tav>
                                        <p:tav tm="100000">
                                          <p:val>
                                            <p:strVal val="#ppt_h"/>
                                          </p:val>
                                        </p:tav>
                                      </p:tavLst>
                                    </p:anim>
                                    <p:animEffect transition="in" filter="fade">
                                      <p:cBhvr>
                                        <p:cTn id="27" dur="500"/>
                                        <p:tgtEl>
                                          <p:spTgt spid="13"/>
                                        </p:tgtEl>
                                      </p:cBhvr>
                                    </p:animEffect>
                                  </p:childTnLst>
                                </p:cTn>
                              </p:par>
                            </p:childTnLst>
                          </p:cTn>
                        </p:par>
                        <p:par>
                          <p:cTn id="28" fill="hold">
                            <p:stCondLst>
                              <p:cond delay="5500"/>
                            </p:stCondLst>
                            <p:childTnLst>
                              <p:par>
                                <p:cTn id="29" presetID="10" presetClass="entr" presetSubtype="0" fill="hold" grpId="0" nodeType="after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500"/>
                                        <p:tgtEl>
                                          <p:spTgt spid="14"/>
                                        </p:tgtEl>
                                      </p:cBhvr>
                                    </p:animEffect>
                                  </p:childTnLst>
                                </p:cTn>
                              </p:par>
                            </p:childTnLst>
                          </p:cTn>
                        </p:par>
                        <p:par>
                          <p:cTn id="32" fill="hold">
                            <p:stCondLst>
                              <p:cond delay="6000"/>
                            </p:stCondLst>
                            <p:childTnLst>
                              <p:par>
                                <p:cTn id="33" presetID="21" presetClass="entr" presetSubtype="1" fill="hold" grpId="0" nodeType="after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wheel(1)">
                                      <p:cBhvr>
                                        <p:cTn id="35" dur="2000"/>
                                        <p:tgtEl>
                                          <p:spTgt spid="15"/>
                                        </p:tgtEl>
                                      </p:cBhvr>
                                    </p:animEffect>
                                  </p:childTnLst>
                                </p:cTn>
                              </p:par>
                            </p:childTnLst>
                          </p:cTn>
                        </p:par>
                        <p:par>
                          <p:cTn id="36" fill="hold">
                            <p:stCondLst>
                              <p:cond delay="8000"/>
                            </p:stCondLst>
                            <p:childTnLst>
                              <p:par>
                                <p:cTn id="37" presetID="53" presetClass="entr" presetSubtype="16" fill="hold" grpId="0" nodeType="afterEffect">
                                  <p:stCondLst>
                                    <p:cond delay="0"/>
                                  </p:stCondLst>
                                  <p:childTnLst>
                                    <p:set>
                                      <p:cBhvr>
                                        <p:cTn id="38" dur="1" fill="hold">
                                          <p:stCondLst>
                                            <p:cond delay="0"/>
                                          </p:stCondLst>
                                        </p:cTn>
                                        <p:tgtEl>
                                          <p:spTgt spid="16"/>
                                        </p:tgtEl>
                                        <p:attrNameLst>
                                          <p:attrName>style.visibility</p:attrName>
                                        </p:attrNameLst>
                                      </p:cBhvr>
                                      <p:to>
                                        <p:strVal val="visible"/>
                                      </p:to>
                                    </p:set>
                                    <p:anim calcmode="lin" valueType="num">
                                      <p:cBhvr>
                                        <p:cTn id="39" dur="500" fill="hold"/>
                                        <p:tgtEl>
                                          <p:spTgt spid="16"/>
                                        </p:tgtEl>
                                        <p:attrNameLst>
                                          <p:attrName>ppt_w</p:attrName>
                                        </p:attrNameLst>
                                      </p:cBhvr>
                                      <p:tavLst>
                                        <p:tav tm="0">
                                          <p:val>
                                            <p:fltVal val="0"/>
                                          </p:val>
                                        </p:tav>
                                        <p:tav tm="100000">
                                          <p:val>
                                            <p:strVal val="#ppt_w"/>
                                          </p:val>
                                        </p:tav>
                                      </p:tavLst>
                                    </p:anim>
                                    <p:anim calcmode="lin" valueType="num">
                                      <p:cBhvr>
                                        <p:cTn id="40" dur="500" fill="hold"/>
                                        <p:tgtEl>
                                          <p:spTgt spid="16"/>
                                        </p:tgtEl>
                                        <p:attrNameLst>
                                          <p:attrName>ppt_h</p:attrName>
                                        </p:attrNameLst>
                                      </p:cBhvr>
                                      <p:tavLst>
                                        <p:tav tm="0">
                                          <p:val>
                                            <p:fltVal val="0"/>
                                          </p:val>
                                        </p:tav>
                                        <p:tav tm="100000">
                                          <p:val>
                                            <p:strVal val="#ppt_h"/>
                                          </p:val>
                                        </p:tav>
                                      </p:tavLst>
                                    </p:anim>
                                    <p:animEffect transition="in" filter="fade">
                                      <p:cBhvr>
                                        <p:cTn id="41" dur="500"/>
                                        <p:tgtEl>
                                          <p:spTgt spid="16"/>
                                        </p:tgtEl>
                                      </p:cBhvr>
                                    </p:animEffect>
                                  </p:childTnLst>
                                </p:cTn>
                              </p:par>
                            </p:childTnLst>
                          </p:cTn>
                        </p:par>
                        <p:par>
                          <p:cTn id="42" fill="hold">
                            <p:stCondLst>
                              <p:cond delay="8500"/>
                            </p:stCondLst>
                            <p:childTnLst>
                              <p:par>
                                <p:cTn id="43" presetID="10" presetClass="entr" presetSubtype="0" fill="hold" grpId="0" nodeType="after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fade">
                                      <p:cBhvr>
                                        <p:cTn id="45"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7CAB2B86-4E3B-C98C-411E-958BEFE187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2528" y="6154887"/>
            <a:ext cx="2234242" cy="525923"/>
          </a:xfrm>
          <a:prstGeom prst="rect">
            <a:avLst/>
          </a:prstGeom>
        </p:spPr>
      </p:pic>
      <p:pic>
        <p:nvPicPr>
          <p:cNvPr id="4" name="Picture 4" descr="Ellucian Student Reseñas 2026: Detalles, Precios y Características | G2">
            <a:extLst>
              <a:ext uri="{FF2B5EF4-FFF2-40B4-BE49-F238E27FC236}">
                <a16:creationId xmlns:a16="http://schemas.microsoft.com/office/drawing/2014/main" id="{7352B780-8C7C-7B91-F3EE-5E6EF2C2E4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98101" y="5901780"/>
            <a:ext cx="1821371" cy="956220"/>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0AEBA78F-8C98-5D4D-384F-95B753FFADE4}"/>
              </a:ext>
            </a:extLst>
          </p:cNvPr>
          <p:cNvSpPr txBox="1"/>
          <p:nvPr/>
        </p:nvSpPr>
        <p:spPr>
          <a:xfrm>
            <a:off x="431320" y="241540"/>
            <a:ext cx="7035900" cy="523220"/>
          </a:xfrm>
          <a:prstGeom prst="rect">
            <a:avLst/>
          </a:prstGeom>
          <a:noFill/>
        </p:spPr>
        <p:txBody>
          <a:bodyPr wrap="none" rtlCol="0">
            <a:spAutoFit/>
          </a:bodyPr>
          <a:lstStyle/>
          <a:p>
            <a:r>
              <a:rPr lang="es-ES" sz="2800" b="1" dirty="0">
                <a:latin typeface="Montserrat" pitchFamily="2" charset="0"/>
              </a:rPr>
              <a:t>PERIODOS ACADÉMICOS - STVTERM</a:t>
            </a:r>
            <a:endParaRPr lang="es-PE" sz="2800" b="1" dirty="0">
              <a:latin typeface="Montserrat" pitchFamily="2" charset="0"/>
            </a:endParaRPr>
          </a:p>
        </p:txBody>
      </p:sp>
      <p:sp>
        <p:nvSpPr>
          <p:cNvPr id="8" name="Rectángulo 7">
            <a:extLst>
              <a:ext uri="{FF2B5EF4-FFF2-40B4-BE49-F238E27FC236}">
                <a16:creationId xmlns:a16="http://schemas.microsoft.com/office/drawing/2014/main" id="{A16BCE08-E23C-F264-A6E3-E4019979D2E2}"/>
              </a:ext>
            </a:extLst>
          </p:cNvPr>
          <p:cNvSpPr/>
          <p:nvPr/>
        </p:nvSpPr>
        <p:spPr>
          <a:xfrm>
            <a:off x="7467220" y="241540"/>
            <a:ext cx="4724779" cy="445583"/>
          </a:xfrm>
          <a:prstGeom prst="rect">
            <a:avLst/>
          </a:prstGeom>
          <a:gradFill flip="none" rotWithShape="1">
            <a:gsLst>
              <a:gs pos="0">
                <a:schemeClr val="accent6">
                  <a:lumMod val="0"/>
                  <a:lumOff val="100000"/>
                </a:schemeClr>
              </a:gs>
              <a:gs pos="66000">
                <a:schemeClr val="accent6">
                  <a:lumMod val="100000"/>
                </a:schemeClr>
              </a:gs>
            </a:gsLst>
            <a:lin ang="0" scaled="1"/>
            <a:tileRect/>
          </a:gra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s-PE"/>
          </a:p>
        </p:txBody>
      </p:sp>
      <p:sp>
        <p:nvSpPr>
          <p:cNvPr id="6" name="CuadroTexto 5">
            <a:extLst>
              <a:ext uri="{FF2B5EF4-FFF2-40B4-BE49-F238E27FC236}">
                <a16:creationId xmlns:a16="http://schemas.microsoft.com/office/drawing/2014/main" id="{AC33DC36-253A-547B-7A30-A152C2F6B4CE}"/>
              </a:ext>
            </a:extLst>
          </p:cNvPr>
          <p:cNvSpPr txBox="1"/>
          <p:nvPr/>
        </p:nvSpPr>
        <p:spPr>
          <a:xfrm>
            <a:off x="4528936" y="6386396"/>
            <a:ext cx="3134128" cy="276999"/>
          </a:xfrm>
          <a:prstGeom prst="rect">
            <a:avLst/>
          </a:prstGeom>
          <a:noFill/>
        </p:spPr>
        <p:txBody>
          <a:bodyPr wrap="none" rtlCol="0">
            <a:spAutoFit/>
          </a:bodyPr>
          <a:lstStyle/>
          <a:p>
            <a:pPr algn="ctr"/>
            <a:r>
              <a:rPr lang="es-ES" sz="1200" i="1" dirty="0"/>
              <a:t>Elaborado por: Ing. Liliana Ocampo Moreno</a:t>
            </a:r>
            <a:endParaRPr lang="es-PE" sz="1200" i="1" dirty="0"/>
          </a:p>
        </p:txBody>
      </p:sp>
      <p:pic>
        <p:nvPicPr>
          <p:cNvPr id="5" name="Imagen 4">
            <a:extLst>
              <a:ext uri="{FF2B5EF4-FFF2-40B4-BE49-F238E27FC236}">
                <a16:creationId xmlns:a16="http://schemas.microsoft.com/office/drawing/2014/main" id="{AFBDFB5F-0C42-0CAD-8543-A6BE2E4039F1}"/>
              </a:ext>
            </a:extLst>
          </p:cNvPr>
          <p:cNvPicPr>
            <a:picLocks noChangeAspect="1"/>
          </p:cNvPicPr>
          <p:nvPr/>
        </p:nvPicPr>
        <p:blipFill>
          <a:blip r:embed="rId4"/>
          <a:stretch>
            <a:fillRect/>
          </a:stretch>
        </p:blipFill>
        <p:spPr>
          <a:xfrm>
            <a:off x="431320" y="889049"/>
            <a:ext cx="11283352" cy="5059271"/>
          </a:xfrm>
          <a:prstGeom prst="rect">
            <a:avLst/>
          </a:prstGeom>
        </p:spPr>
      </p:pic>
      <p:sp>
        <p:nvSpPr>
          <p:cNvPr id="2" name="Rectángulo 1">
            <a:extLst>
              <a:ext uri="{FF2B5EF4-FFF2-40B4-BE49-F238E27FC236}">
                <a16:creationId xmlns:a16="http://schemas.microsoft.com/office/drawing/2014/main" id="{52EB4644-0C99-34BE-7C51-79B0202300EA}"/>
              </a:ext>
            </a:extLst>
          </p:cNvPr>
          <p:cNvSpPr/>
          <p:nvPr/>
        </p:nvSpPr>
        <p:spPr>
          <a:xfrm>
            <a:off x="8455475" y="1576928"/>
            <a:ext cx="252000" cy="189781"/>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18" name="Rectángulo: esquinas redondeadas 17">
            <a:extLst>
              <a:ext uri="{FF2B5EF4-FFF2-40B4-BE49-F238E27FC236}">
                <a16:creationId xmlns:a16="http://schemas.microsoft.com/office/drawing/2014/main" id="{3B578164-6813-EFCF-9179-0410FD32152C}"/>
              </a:ext>
            </a:extLst>
          </p:cNvPr>
          <p:cNvSpPr/>
          <p:nvPr/>
        </p:nvSpPr>
        <p:spPr>
          <a:xfrm>
            <a:off x="8115269" y="1543790"/>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t>9</a:t>
            </a:r>
            <a:endParaRPr lang="es-PE" sz="1100" b="1" dirty="0"/>
          </a:p>
        </p:txBody>
      </p:sp>
      <p:sp>
        <p:nvSpPr>
          <p:cNvPr id="19" name="CuadroTexto 18">
            <a:extLst>
              <a:ext uri="{FF2B5EF4-FFF2-40B4-BE49-F238E27FC236}">
                <a16:creationId xmlns:a16="http://schemas.microsoft.com/office/drawing/2014/main" id="{58DFA7B3-700E-BB8B-0A87-5B48B9AB9300}"/>
              </a:ext>
            </a:extLst>
          </p:cNvPr>
          <p:cNvSpPr txBox="1"/>
          <p:nvPr/>
        </p:nvSpPr>
        <p:spPr>
          <a:xfrm>
            <a:off x="5861562" y="1445712"/>
            <a:ext cx="2155222" cy="623381"/>
          </a:xfrm>
          <a:prstGeom prst="roundRect">
            <a:avLst>
              <a:gd name="adj" fmla="val 7573"/>
            </a:avLst>
          </a:prstGeom>
          <a:solidFill>
            <a:srgbClr val="7030A0"/>
          </a:solidFill>
        </p:spPr>
        <p:txBody>
          <a:bodyPr wrap="square">
            <a:spAutoFit/>
          </a:bodyPr>
          <a:lstStyle/>
          <a:p>
            <a:pPr algn="ctr"/>
            <a:r>
              <a:rPr lang="es-ES" sz="1100" dirty="0">
                <a:solidFill>
                  <a:srgbClr val="FFFFFF"/>
                </a:solidFill>
              </a:rPr>
              <a:t>Se utiliza para indicar que es un periodo de vacaciones.</a:t>
            </a:r>
            <a:br>
              <a:rPr lang="es-ES" sz="1100" dirty="0">
                <a:solidFill>
                  <a:srgbClr val="FFFFFF"/>
                </a:solidFill>
              </a:rPr>
            </a:br>
            <a:r>
              <a:rPr lang="es-ES" sz="1100" dirty="0">
                <a:solidFill>
                  <a:srgbClr val="FFFFFF"/>
                </a:solidFill>
              </a:rPr>
              <a:t>(Opcional).</a:t>
            </a:r>
            <a:endParaRPr lang="es-ES" b="0" dirty="0">
              <a:effectLst/>
            </a:endParaRPr>
          </a:p>
        </p:txBody>
      </p:sp>
      <p:sp>
        <p:nvSpPr>
          <p:cNvPr id="20" name="Rectángulo 19">
            <a:extLst>
              <a:ext uri="{FF2B5EF4-FFF2-40B4-BE49-F238E27FC236}">
                <a16:creationId xmlns:a16="http://schemas.microsoft.com/office/drawing/2014/main" id="{79640239-C4C9-F68A-1D21-2838DD2C2B07}"/>
              </a:ext>
            </a:extLst>
          </p:cNvPr>
          <p:cNvSpPr/>
          <p:nvPr/>
        </p:nvSpPr>
        <p:spPr>
          <a:xfrm>
            <a:off x="8832021" y="1576928"/>
            <a:ext cx="324000" cy="189781"/>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21" name="Rectángulo: esquinas redondeadas 20">
            <a:extLst>
              <a:ext uri="{FF2B5EF4-FFF2-40B4-BE49-F238E27FC236}">
                <a16:creationId xmlns:a16="http://schemas.microsoft.com/office/drawing/2014/main" id="{8C8431F7-8292-F314-A4A6-D6CF85A36014}"/>
              </a:ext>
            </a:extLst>
          </p:cNvPr>
          <p:cNvSpPr/>
          <p:nvPr/>
        </p:nvSpPr>
        <p:spPr>
          <a:xfrm>
            <a:off x="8904191" y="1856492"/>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s-ES" sz="1100" b="1" dirty="0"/>
              <a:t>10</a:t>
            </a:r>
            <a:endParaRPr lang="es-PE" sz="1100" b="1" dirty="0"/>
          </a:p>
        </p:txBody>
      </p:sp>
      <p:sp>
        <p:nvSpPr>
          <p:cNvPr id="22" name="CuadroTexto 21">
            <a:extLst>
              <a:ext uri="{FF2B5EF4-FFF2-40B4-BE49-F238E27FC236}">
                <a16:creationId xmlns:a16="http://schemas.microsoft.com/office/drawing/2014/main" id="{066F804D-2329-4508-2F8D-DD2405E516F5}"/>
              </a:ext>
            </a:extLst>
          </p:cNvPr>
          <p:cNvSpPr txBox="1"/>
          <p:nvPr/>
        </p:nvSpPr>
        <p:spPr>
          <a:xfrm>
            <a:off x="6988273" y="2223927"/>
            <a:ext cx="2155222" cy="799207"/>
          </a:xfrm>
          <a:prstGeom prst="roundRect">
            <a:avLst>
              <a:gd name="adj" fmla="val 7573"/>
            </a:avLst>
          </a:prstGeom>
          <a:solidFill>
            <a:srgbClr val="7030A0"/>
          </a:solidFill>
        </p:spPr>
        <p:txBody>
          <a:bodyPr wrap="square">
            <a:spAutoFit/>
          </a:bodyPr>
          <a:lstStyle/>
          <a:p>
            <a:pPr algn="ctr"/>
            <a:r>
              <a:rPr lang="es-ES" sz="1100" dirty="0">
                <a:solidFill>
                  <a:srgbClr val="FFFFFF"/>
                </a:solidFill>
              </a:rPr>
              <a:t>Corresponde al número del período para el módulo de ayuda financiera. </a:t>
            </a:r>
            <a:r>
              <a:rPr lang="es-ES" sz="1100" b="1" dirty="0">
                <a:solidFill>
                  <a:srgbClr val="FFFFFF"/>
                </a:solidFill>
              </a:rPr>
              <a:t>No llenar. </a:t>
            </a:r>
            <a:r>
              <a:rPr lang="es-ES" sz="1100" dirty="0">
                <a:solidFill>
                  <a:srgbClr val="FFFFFF"/>
                </a:solidFill>
              </a:rPr>
              <a:t>(Opcional).</a:t>
            </a:r>
            <a:endParaRPr lang="es-ES" b="0" dirty="0">
              <a:effectLst/>
            </a:endParaRPr>
          </a:p>
        </p:txBody>
      </p:sp>
      <p:sp>
        <p:nvSpPr>
          <p:cNvPr id="23" name="Rectángulo 22">
            <a:extLst>
              <a:ext uri="{FF2B5EF4-FFF2-40B4-BE49-F238E27FC236}">
                <a16:creationId xmlns:a16="http://schemas.microsoft.com/office/drawing/2014/main" id="{13359EB7-2B27-585F-425E-880E5E9CE928}"/>
              </a:ext>
            </a:extLst>
          </p:cNvPr>
          <p:cNvSpPr/>
          <p:nvPr/>
        </p:nvSpPr>
        <p:spPr>
          <a:xfrm>
            <a:off x="9221612" y="1579153"/>
            <a:ext cx="1584000" cy="189781"/>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24" name="Rectángulo: esquinas redondeadas 23">
            <a:extLst>
              <a:ext uri="{FF2B5EF4-FFF2-40B4-BE49-F238E27FC236}">
                <a16:creationId xmlns:a16="http://schemas.microsoft.com/office/drawing/2014/main" id="{05D10603-6F91-634A-1C5A-CC2628AFA96D}"/>
              </a:ext>
            </a:extLst>
          </p:cNvPr>
          <p:cNvSpPr/>
          <p:nvPr/>
        </p:nvSpPr>
        <p:spPr>
          <a:xfrm>
            <a:off x="9931089" y="1858717"/>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s-ES" sz="1100" b="1" dirty="0"/>
              <a:t>11</a:t>
            </a:r>
            <a:endParaRPr lang="es-PE" sz="1100" b="1" dirty="0"/>
          </a:p>
        </p:txBody>
      </p:sp>
      <p:sp>
        <p:nvSpPr>
          <p:cNvPr id="25" name="CuadroTexto 24">
            <a:extLst>
              <a:ext uri="{FF2B5EF4-FFF2-40B4-BE49-F238E27FC236}">
                <a16:creationId xmlns:a16="http://schemas.microsoft.com/office/drawing/2014/main" id="{462056BA-6E38-64D6-D182-66D27DA58462}"/>
              </a:ext>
            </a:extLst>
          </p:cNvPr>
          <p:cNvSpPr txBox="1"/>
          <p:nvPr/>
        </p:nvSpPr>
        <p:spPr>
          <a:xfrm>
            <a:off x="9221612" y="2226152"/>
            <a:ext cx="1584000" cy="1326684"/>
          </a:xfrm>
          <a:prstGeom prst="roundRect">
            <a:avLst>
              <a:gd name="adj" fmla="val 7573"/>
            </a:avLst>
          </a:prstGeom>
          <a:solidFill>
            <a:srgbClr val="7030A0"/>
          </a:solidFill>
        </p:spPr>
        <p:txBody>
          <a:bodyPr wrap="square">
            <a:spAutoFit/>
          </a:bodyPr>
          <a:lstStyle/>
          <a:p>
            <a:pPr algn="ctr"/>
            <a:r>
              <a:rPr lang="es-ES" sz="1100" dirty="0">
                <a:solidFill>
                  <a:srgbClr val="FFFFFF"/>
                </a:solidFill>
              </a:rPr>
              <a:t>Periodo de inicio y periodo de fin corresponde al  período de inicio de ayuda financiera. </a:t>
            </a:r>
            <a:r>
              <a:rPr lang="es-ES" sz="1100" b="1" dirty="0">
                <a:solidFill>
                  <a:srgbClr val="FFFFFF"/>
                </a:solidFill>
              </a:rPr>
              <a:t>No llenar.</a:t>
            </a:r>
          </a:p>
          <a:p>
            <a:pPr algn="ctr"/>
            <a:r>
              <a:rPr lang="es-ES" sz="1100" dirty="0">
                <a:solidFill>
                  <a:srgbClr val="FFFFFF"/>
                </a:solidFill>
              </a:rPr>
              <a:t>(Opcional).</a:t>
            </a:r>
            <a:endParaRPr lang="es-ES" b="0" dirty="0">
              <a:effectLst/>
            </a:endParaRPr>
          </a:p>
        </p:txBody>
      </p:sp>
      <p:sp>
        <p:nvSpPr>
          <p:cNvPr id="26" name="Rectángulo 25">
            <a:extLst>
              <a:ext uri="{FF2B5EF4-FFF2-40B4-BE49-F238E27FC236}">
                <a16:creationId xmlns:a16="http://schemas.microsoft.com/office/drawing/2014/main" id="{D8B8D92E-084C-27EE-0CA6-0841E4589FC9}"/>
              </a:ext>
            </a:extLst>
          </p:cNvPr>
          <p:cNvSpPr/>
          <p:nvPr/>
        </p:nvSpPr>
        <p:spPr>
          <a:xfrm>
            <a:off x="11126986" y="1589861"/>
            <a:ext cx="324000" cy="189781"/>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27" name="Rectángulo: esquinas redondeadas 26">
            <a:extLst>
              <a:ext uri="{FF2B5EF4-FFF2-40B4-BE49-F238E27FC236}">
                <a16:creationId xmlns:a16="http://schemas.microsoft.com/office/drawing/2014/main" id="{6A3CA982-2187-2B55-E4F6-047401E00843}"/>
              </a:ext>
            </a:extLst>
          </p:cNvPr>
          <p:cNvSpPr/>
          <p:nvPr/>
        </p:nvSpPr>
        <p:spPr>
          <a:xfrm>
            <a:off x="11199156" y="1869425"/>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s-ES" sz="1100" b="1" dirty="0"/>
              <a:t>12</a:t>
            </a:r>
            <a:endParaRPr lang="es-PE" sz="1100" b="1" dirty="0"/>
          </a:p>
        </p:txBody>
      </p:sp>
      <p:sp>
        <p:nvSpPr>
          <p:cNvPr id="28" name="CuadroTexto 27">
            <a:extLst>
              <a:ext uri="{FF2B5EF4-FFF2-40B4-BE49-F238E27FC236}">
                <a16:creationId xmlns:a16="http://schemas.microsoft.com/office/drawing/2014/main" id="{42BDD713-1F1D-5D8E-8929-52B9268C7B2F}"/>
              </a:ext>
            </a:extLst>
          </p:cNvPr>
          <p:cNvSpPr txBox="1"/>
          <p:nvPr/>
        </p:nvSpPr>
        <p:spPr>
          <a:xfrm>
            <a:off x="10883729" y="2207292"/>
            <a:ext cx="1202582" cy="1488519"/>
          </a:xfrm>
          <a:prstGeom prst="roundRect">
            <a:avLst>
              <a:gd name="adj" fmla="val 7573"/>
            </a:avLst>
          </a:prstGeom>
          <a:solidFill>
            <a:srgbClr val="7030A0"/>
          </a:solidFill>
        </p:spPr>
        <p:txBody>
          <a:bodyPr wrap="square">
            <a:spAutoFit/>
          </a:bodyPr>
          <a:lstStyle/>
          <a:p>
            <a:pPr algn="ctr"/>
            <a:r>
              <a:rPr lang="es-ES" sz="1100" dirty="0">
                <a:solidFill>
                  <a:srgbClr val="FFFFFF"/>
                </a:solidFill>
              </a:rPr>
              <a:t>Requerido para los períodos 000000 y 999999 inicio y fin de los tiempos. </a:t>
            </a:r>
            <a:r>
              <a:rPr lang="es-ES" sz="1100" b="1" dirty="0">
                <a:solidFill>
                  <a:srgbClr val="FFFFFF"/>
                </a:solidFill>
              </a:rPr>
              <a:t>No marcar. </a:t>
            </a:r>
            <a:r>
              <a:rPr lang="es-ES" sz="1100" dirty="0">
                <a:solidFill>
                  <a:srgbClr val="FFFFFF"/>
                </a:solidFill>
              </a:rPr>
              <a:t>(Opcional).</a:t>
            </a:r>
            <a:endParaRPr lang="es-ES" b="0" dirty="0">
              <a:effectLst/>
            </a:endParaRPr>
          </a:p>
        </p:txBody>
      </p:sp>
      <p:sp>
        <p:nvSpPr>
          <p:cNvPr id="29" name="Rectángulo 28">
            <a:extLst>
              <a:ext uri="{FF2B5EF4-FFF2-40B4-BE49-F238E27FC236}">
                <a16:creationId xmlns:a16="http://schemas.microsoft.com/office/drawing/2014/main" id="{25C71CE2-325B-06D1-D0C3-7B72F8CF85B4}"/>
              </a:ext>
            </a:extLst>
          </p:cNvPr>
          <p:cNvSpPr/>
          <p:nvPr/>
        </p:nvSpPr>
        <p:spPr>
          <a:xfrm>
            <a:off x="11128075" y="5588289"/>
            <a:ext cx="684363" cy="347998"/>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30" name="Rectángulo: esquinas redondeadas 29">
            <a:extLst>
              <a:ext uri="{FF2B5EF4-FFF2-40B4-BE49-F238E27FC236}">
                <a16:creationId xmlns:a16="http://schemas.microsoft.com/office/drawing/2014/main" id="{568F4F62-4070-4DEB-CB7F-2CE054FFFA31}"/>
              </a:ext>
            </a:extLst>
          </p:cNvPr>
          <p:cNvSpPr/>
          <p:nvPr/>
        </p:nvSpPr>
        <p:spPr>
          <a:xfrm>
            <a:off x="10811772" y="5650145"/>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s-ES" sz="1100" b="1" dirty="0"/>
              <a:t>13</a:t>
            </a:r>
            <a:endParaRPr lang="es-PE" sz="1100" b="1" dirty="0"/>
          </a:p>
        </p:txBody>
      </p:sp>
      <p:sp>
        <p:nvSpPr>
          <p:cNvPr id="31" name="CuadroTexto 30">
            <a:extLst>
              <a:ext uri="{FF2B5EF4-FFF2-40B4-BE49-F238E27FC236}">
                <a16:creationId xmlns:a16="http://schemas.microsoft.com/office/drawing/2014/main" id="{38AA7B07-1BA8-C6F8-833D-515EE5B45ACB}"/>
              </a:ext>
            </a:extLst>
          </p:cNvPr>
          <p:cNvSpPr txBox="1"/>
          <p:nvPr/>
        </p:nvSpPr>
        <p:spPr>
          <a:xfrm>
            <a:off x="9450237" y="4809506"/>
            <a:ext cx="2242868" cy="623381"/>
          </a:xfrm>
          <a:prstGeom prst="roundRect">
            <a:avLst>
              <a:gd name="adj" fmla="val 7573"/>
            </a:avLst>
          </a:prstGeom>
          <a:solidFill>
            <a:srgbClr val="7030A0"/>
          </a:solidFill>
        </p:spPr>
        <p:txBody>
          <a:bodyPr wrap="square">
            <a:spAutoFit/>
          </a:bodyPr>
          <a:lstStyle/>
          <a:p>
            <a:pPr algn="ctr"/>
            <a:r>
              <a:rPr lang="es-ES" sz="1100" dirty="0">
                <a:solidFill>
                  <a:srgbClr val="FFFFFF"/>
                </a:solidFill>
              </a:rPr>
              <a:t>Se debe presionar </a:t>
            </a:r>
            <a:r>
              <a:rPr lang="es-ES" sz="1100" b="1" dirty="0">
                <a:solidFill>
                  <a:srgbClr val="92D050"/>
                </a:solidFill>
              </a:rPr>
              <a:t>Guardar</a:t>
            </a:r>
            <a:r>
              <a:rPr lang="es-ES" sz="1100" dirty="0">
                <a:solidFill>
                  <a:srgbClr val="FFFFFF"/>
                </a:solidFill>
              </a:rPr>
              <a:t> para que la información quede registrada en el sistema</a:t>
            </a:r>
          </a:p>
        </p:txBody>
      </p:sp>
    </p:spTree>
    <p:extLst>
      <p:ext uri="{BB962C8B-B14F-4D97-AF65-F5344CB8AC3E}">
        <p14:creationId xmlns:p14="http://schemas.microsoft.com/office/powerpoint/2010/main" val="329226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2000"/>
                                        <p:tgtEl>
                                          <p:spTgt spid="2"/>
                                        </p:tgtEl>
                                      </p:cBhvr>
                                    </p:animEffect>
                                  </p:childTnLst>
                                </p:cTn>
                              </p:par>
                            </p:childTnLst>
                          </p:cTn>
                        </p:par>
                        <p:par>
                          <p:cTn id="8" fill="hold">
                            <p:stCondLst>
                              <p:cond delay="2000"/>
                            </p:stCondLst>
                            <p:childTnLst>
                              <p:par>
                                <p:cTn id="9" presetID="53" presetClass="entr" presetSubtype="16" fill="hold" grpId="0" nodeType="afterEffect">
                                  <p:stCondLst>
                                    <p:cond delay="0"/>
                                  </p:stCondLst>
                                  <p:childTnLst>
                                    <p:set>
                                      <p:cBhvr>
                                        <p:cTn id="10" dur="1" fill="hold">
                                          <p:stCondLst>
                                            <p:cond delay="0"/>
                                          </p:stCondLst>
                                        </p:cTn>
                                        <p:tgtEl>
                                          <p:spTgt spid="18"/>
                                        </p:tgtEl>
                                        <p:attrNameLst>
                                          <p:attrName>style.visibility</p:attrName>
                                        </p:attrNameLst>
                                      </p:cBhvr>
                                      <p:to>
                                        <p:strVal val="visible"/>
                                      </p:to>
                                    </p:set>
                                    <p:anim calcmode="lin" valueType="num">
                                      <p:cBhvr>
                                        <p:cTn id="11" dur="500" fill="hold"/>
                                        <p:tgtEl>
                                          <p:spTgt spid="18"/>
                                        </p:tgtEl>
                                        <p:attrNameLst>
                                          <p:attrName>ppt_w</p:attrName>
                                        </p:attrNameLst>
                                      </p:cBhvr>
                                      <p:tavLst>
                                        <p:tav tm="0">
                                          <p:val>
                                            <p:fltVal val="0"/>
                                          </p:val>
                                        </p:tav>
                                        <p:tav tm="100000">
                                          <p:val>
                                            <p:strVal val="#ppt_w"/>
                                          </p:val>
                                        </p:tav>
                                      </p:tavLst>
                                    </p:anim>
                                    <p:anim calcmode="lin" valueType="num">
                                      <p:cBhvr>
                                        <p:cTn id="12" dur="500" fill="hold"/>
                                        <p:tgtEl>
                                          <p:spTgt spid="18"/>
                                        </p:tgtEl>
                                        <p:attrNameLst>
                                          <p:attrName>ppt_h</p:attrName>
                                        </p:attrNameLst>
                                      </p:cBhvr>
                                      <p:tavLst>
                                        <p:tav tm="0">
                                          <p:val>
                                            <p:fltVal val="0"/>
                                          </p:val>
                                        </p:tav>
                                        <p:tav tm="100000">
                                          <p:val>
                                            <p:strVal val="#ppt_h"/>
                                          </p:val>
                                        </p:tav>
                                      </p:tavLst>
                                    </p:anim>
                                    <p:animEffect transition="in" filter="fade">
                                      <p:cBhvr>
                                        <p:cTn id="13" dur="500"/>
                                        <p:tgtEl>
                                          <p:spTgt spid="18"/>
                                        </p:tgtEl>
                                      </p:cBhvr>
                                    </p:animEffect>
                                  </p:childTnLst>
                                </p:cTn>
                              </p:par>
                            </p:childTnLst>
                          </p:cTn>
                        </p:par>
                        <p:par>
                          <p:cTn id="14" fill="hold">
                            <p:stCondLst>
                              <p:cond delay="2500"/>
                            </p:stCondLst>
                            <p:childTnLst>
                              <p:par>
                                <p:cTn id="15" presetID="10" presetClass="entr" presetSubtype="0" fill="hold" grpId="0" nodeType="after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500"/>
                                        <p:tgtEl>
                                          <p:spTgt spid="19"/>
                                        </p:tgtEl>
                                      </p:cBhvr>
                                    </p:animEffect>
                                  </p:childTnLst>
                                </p:cTn>
                              </p:par>
                            </p:childTnLst>
                          </p:cTn>
                        </p:par>
                        <p:par>
                          <p:cTn id="18" fill="hold">
                            <p:stCondLst>
                              <p:cond delay="3000"/>
                            </p:stCondLst>
                            <p:childTnLst>
                              <p:par>
                                <p:cTn id="19" presetID="21" presetClass="entr" presetSubtype="1" fill="hold" grpId="0" nodeType="afterEffect">
                                  <p:stCondLst>
                                    <p:cond delay="0"/>
                                  </p:stCondLst>
                                  <p:childTnLst>
                                    <p:set>
                                      <p:cBhvr>
                                        <p:cTn id="20" dur="1" fill="hold">
                                          <p:stCondLst>
                                            <p:cond delay="0"/>
                                          </p:stCondLst>
                                        </p:cTn>
                                        <p:tgtEl>
                                          <p:spTgt spid="20"/>
                                        </p:tgtEl>
                                        <p:attrNameLst>
                                          <p:attrName>style.visibility</p:attrName>
                                        </p:attrNameLst>
                                      </p:cBhvr>
                                      <p:to>
                                        <p:strVal val="visible"/>
                                      </p:to>
                                    </p:set>
                                    <p:animEffect transition="in" filter="wheel(1)">
                                      <p:cBhvr>
                                        <p:cTn id="21" dur="2000"/>
                                        <p:tgtEl>
                                          <p:spTgt spid="20"/>
                                        </p:tgtEl>
                                      </p:cBhvr>
                                    </p:animEffect>
                                  </p:childTnLst>
                                </p:cTn>
                              </p:par>
                            </p:childTnLst>
                          </p:cTn>
                        </p:par>
                        <p:par>
                          <p:cTn id="22" fill="hold">
                            <p:stCondLst>
                              <p:cond delay="5000"/>
                            </p:stCondLst>
                            <p:childTnLst>
                              <p:par>
                                <p:cTn id="23" presetID="53" presetClass="entr" presetSubtype="16" fill="hold" grpId="0" nodeType="afterEffect">
                                  <p:stCondLst>
                                    <p:cond delay="0"/>
                                  </p:stCondLst>
                                  <p:childTnLst>
                                    <p:set>
                                      <p:cBhvr>
                                        <p:cTn id="24" dur="1" fill="hold">
                                          <p:stCondLst>
                                            <p:cond delay="0"/>
                                          </p:stCondLst>
                                        </p:cTn>
                                        <p:tgtEl>
                                          <p:spTgt spid="21"/>
                                        </p:tgtEl>
                                        <p:attrNameLst>
                                          <p:attrName>style.visibility</p:attrName>
                                        </p:attrNameLst>
                                      </p:cBhvr>
                                      <p:to>
                                        <p:strVal val="visible"/>
                                      </p:to>
                                    </p:set>
                                    <p:anim calcmode="lin" valueType="num">
                                      <p:cBhvr>
                                        <p:cTn id="25" dur="500" fill="hold"/>
                                        <p:tgtEl>
                                          <p:spTgt spid="21"/>
                                        </p:tgtEl>
                                        <p:attrNameLst>
                                          <p:attrName>ppt_w</p:attrName>
                                        </p:attrNameLst>
                                      </p:cBhvr>
                                      <p:tavLst>
                                        <p:tav tm="0">
                                          <p:val>
                                            <p:fltVal val="0"/>
                                          </p:val>
                                        </p:tav>
                                        <p:tav tm="100000">
                                          <p:val>
                                            <p:strVal val="#ppt_w"/>
                                          </p:val>
                                        </p:tav>
                                      </p:tavLst>
                                    </p:anim>
                                    <p:anim calcmode="lin" valueType="num">
                                      <p:cBhvr>
                                        <p:cTn id="26" dur="500" fill="hold"/>
                                        <p:tgtEl>
                                          <p:spTgt spid="21"/>
                                        </p:tgtEl>
                                        <p:attrNameLst>
                                          <p:attrName>ppt_h</p:attrName>
                                        </p:attrNameLst>
                                      </p:cBhvr>
                                      <p:tavLst>
                                        <p:tav tm="0">
                                          <p:val>
                                            <p:fltVal val="0"/>
                                          </p:val>
                                        </p:tav>
                                        <p:tav tm="100000">
                                          <p:val>
                                            <p:strVal val="#ppt_h"/>
                                          </p:val>
                                        </p:tav>
                                      </p:tavLst>
                                    </p:anim>
                                    <p:animEffect transition="in" filter="fade">
                                      <p:cBhvr>
                                        <p:cTn id="27" dur="500"/>
                                        <p:tgtEl>
                                          <p:spTgt spid="21"/>
                                        </p:tgtEl>
                                      </p:cBhvr>
                                    </p:animEffect>
                                  </p:childTnLst>
                                </p:cTn>
                              </p:par>
                            </p:childTnLst>
                          </p:cTn>
                        </p:par>
                        <p:par>
                          <p:cTn id="28" fill="hold">
                            <p:stCondLst>
                              <p:cond delay="5500"/>
                            </p:stCondLst>
                            <p:childTnLst>
                              <p:par>
                                <p:cTn id="29" presetID="10" presetClass="entr" presetSubtype="0" fill="hold" grpId="0" nodeType="after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fade">
                                      <p:cBhvr>
                                        <p:cTn id="31" dur="500"/>
                                        <p:tgtEl>
                                          <p:spTgt spid="22"/>
                                        </p:tgtEl>
                                      </p:cBhvr>
                                    </p:animEffect>
                                  </p:childTnLst>
                                </p:cTn>
                              </p:par>
                            </p:childTnLst>
                          </p:cTn>
                        </p:par>
                        <p:par>
                          <p:cTn id="32" fill="hold">
                            <p:stCondLst>
                              <p:cond delay="6000"/>
                            </p:stCondLst>
                            <p:childTnLst>
                              <p:par>
                                <p:cTn id="33" presetID="21" presetClass="entr" presetSubtype="1" fill="hold" grpId="0" nodeType="afterEffect">
                                  <p:stCondLst>
                                    <p:cond delay="0"/>
                                  </p:stCondLst>
                                  <p:childTnLst>
                                    <p:set>
                                      <p:cBhvr>
                                        <p:cTn id="34" dur="1" fill="hold">
                                          <p:stCondLst>
                                            <p:cond delay="0"/>
                                          </p:stCondLst>
                                        </p:cTn>
                                        <p:tgtEl>
                                          <p:spTgt spid="23"/>
                                        </p:tgtEl>
                                        <p:attrNameLst>
                                          <p:attrName>style.visibility</p:attrName>
                                        </p:attrNameLst>
                                      </p:cBhvr>
                                      <p:to>
                                        <p:strVal val="visible"/>
                                      </p:to>
                                    </p:set>
                                    <p:animEffect transition="in" filter="wheel(1)">
                                      <p:cBhvr>
                                        <p:cTn id="35" dur="2000"/>
                                        <p:tgtEl>
                                          <p:spTgt spid="23"/>
                                        </p:tgtEl>
                                      </p:cBhvr>
                                    </p:animEffect>
                                  </p:childTnLst>
                                </p:cTn>
                              </p:par>
                            </p:childTnLst>
                          </p:cTn>
                        </p:par>
                        <p:par>
                          <p:cTn id="36" fill="hold">
                            <p:stCondLst>
                              <p:cond delay="8000"/>
                            </p:stCondLst>
                            <p:childTnLst>
                              <p:par>
                                <p:cTn id="37" presetID="53" presetClass="entr" presetSubtype="16" fill="hold" grpId="0" nodeType="afterEffect">
                                  <p:stCondLst>
                                    <p:cond delay="0"/>
                                  </p:stCondLst>
                                  <p:childTnLst>
                                    <p:set>
                                      <p:cBhvr>
                                        <p:cTn id="38" dur="1" fill="hold">
                                          <p:stCondLst>
                                            <p:cond delay="0"/>
                                          </p:stCondLst>
                                        </p:cTn>
                                        <p:tgtEl>
                                          <p:spTgt spid="24"/>
                                        </p:tgtEl>
                                        <p:attrNameLst>
                                          <p:attrName>style.visibility</p:attrName>
                                        </p:attrNameLst>
                                      </p:cBhvr>
                                      <p:to>
                                        <p:strVal val="visible"/>
                                      </p:to>
                                    </p:set>
                                    <p:anim calcmode="lin" valueType="num">
                                      <p:cBhvr>
                                        <p:cTn id="39" dur="500" fill="hold"/>
                                        <p:tgtEl>
                                          <p:spTgt spid="24"/>
                                        </p:tgtEl>
                                        <p:attrNameLst>
                                          <p:attrName>ppt_w</p:attrName>
                                        </p:attrNameLst>
                                      </p:cBhvr>
                                      <p:tavLst>
                                        <p:tav tm="0">
                                          <p:val>
                                            <p:fltVal val="0"/>
                                          </p:val>
                                        </p:tav>
                                        <p:tav tm="100000">
                                          <p:val>
                                            <p:strVal val="#ppt_w"/>
                                          </p:val>
                                        </p:tav>
                                      </p:tavLst>
                                    </p:anim>
                                    <p:anim calcmode="lin" valueType="num">
                                      <p:cBhvr>
                                        <p:cTn id="40" dur="500" fill="hold"/>
                                        <p:tgtEl>
                                          <p:spTgt spid="24"/>
                                        </p:tgtEl>
                                        <p:attrNameLst>
                                          <p:attrName>ppt_h</p:attrName>
                                        </p:attrNameLst>
                                      </p:cBhvr>
                                      <p:tavLst>
                                        <p:tav tm="0">
                                          <p:val>
                                            <p:fltVal val="0"/>
                                          </p:val>
                                        </p:tav>
                                        <p:tav tm="100000">
                                          <p:val>
                                            <p:strVal val="#ppt_h"/>
                                          </p:val>
                                        </p:tav>
                                      </p:tavLst>
                                    </p:anim>
                                    <p:animEffect transition="in" filter="fade">
                                      <p:cBhvr>
                                        <p:cTn id="41" dur="500"/>
                                        <p:tgtEl>
                                          <p:spTgt spid="24"/>
                                        </p:tgtEl>
                                      </p:cBhvr>
                                    </p:animEffect>
                                  </p:childTnLst>
                                </p:cTn>
                              </p:par>
                            </p:childTnLst>
                          </p:cTn>
                        </p:par>
                        <p:par>
                          <p:cTn id="42" fill="hold">
                            <p:stCondLst>
                              <p:cond delay="8500"/>
                            </p:stCondLst>
                            <p:childTnLst>
                              <p:par>
                                <p:cTn id="43" presetID="10" presetClass="entr" presetSubtype="0" fill="hold" grpId="0" nodeType="afterEffect">
                                  <p:stCondLst>
                                    <p:cond delay="0"/>
                                  </p:stCondLst>
                                  <p:childTnLst>
                                    <p:set>
                                      <p:cBhvr>
                                        <p:cTn id="44" dur="1" fill="hold">
                                          <p:stCondLst>
                                            <p:cond delay="0"/>
                                          </p:stCondLst>
                                        </p:cTn>
                                        <p:tgtEl>
                                          <p:spTgt spid="25"/>
                                        </p:tgtEl>
                                        <p:attrNameLst>
                                          <p:attrName>style.visibility</p:attrName>
                                        </p:attrNameLst>
                                      </p:cBhvr>
                                      <p:to>
                                        <p:strVal val="visible"/>
                                      </p:to>
                                    </p:set>
                                    <p:animEffect transition="in" filter="fade">
                                      <p:cBhvr>
                                        <p:cTn id="45" dur="500"/>
                                        <p:tgtEl>
                                          <p:spTgt spid="25"/>
                                        </p:tgtEl>
                                      </p:cBhvr>
                                    </p:animEffect>
                                  </p:childTnLst>
                                </p:cTn>
                              </p:par>
                            </p:childTnLst>
                          </p:cTn>
                        </p:par>
                        <p:par>
                          <p:cTn id="46" fill="hold">
                            <p:stCondLst>
                              <p:cond delay="9000"/>
                            </p:stCondLst>
                            <p:childTnLst>
                              <p:par>
                                <p:cTn id="47" presetID="21" presetClass="entr" presetSubtype="1" fill="hold" grpId="0" nodeType="afterEffect">
                                  <p:stCondLst>
                                    <p:cond delay="0"/>
                                  </p:stCondLst>
                                  <p:childTnLst>
                                    <p:set>
                                      <p:cBhvr>
                                        <p:cTn id="48" dur="1" fill="hold">
                                          <p:stCondLst>
                                            <p:cond delay="0"/>
                                          </p:stCondLst>
                                        </p:cTn>
                                        <p:tgtEl>
                                          <p:spTgt spid="26"/>
                                        </p:tgtEl>
                                        <p:attrNameLst>
                                          <p:attrName>style.visibility</p:attrName>
                                        </p:attrNameLst>
                                      </p:cBhvr>
                                      <p:to>
                                        <p:strVal val="visible"/>
                                      </p:to>
                                    </p:set>
                                    <p:animEffect transition="in" filter="wheel(1)">
                                      <p:cBhvr>
                                        <p:cTn id="49" dur="2000"/>
                                        <p:tgtEl>
                                          <p:spTgt spid="26"/>
                                        </p:tgtEl>
                                      </p:cBhvr>
                                    </p:animEffect>
                                  </p:childTnLst>
                                </p:cTn>
                              </p:par>
                            </p:childTnLst>
                          </p:cTn>
                        </p:par>
                        <p:par>
                          <p:cTn id="50" fill="hold">
                            <p:stCondLst>
                              <p:cond delay="11000"/>
                            </p:stCondLst>
                            <p:childTnLst>
                              <p:par>
                                <p:cTn id="51" presetID="53" presetClass="entr" presetSubtype="16" fill="hold" grpId="0" nodeType="afterEffect">
                                  <p:stCondLst>
                                    <p:cond delay="0"/>
                                  </p:stCondLst>
                                  <p:childTnLst>
                                    <p:set>
                                      <p:cBhvr>
                                        <p:cTn id="52" dur="1" fill="hold">
                                          <p:stCondLst>
                                            <p:cond delay="0"/>
                                          </p:stCondLst>
                                        </p:cTn>
                                        <p:tgtEl>
                                          <p:spTgt spid="27"/>
                                        </p:tgtEl>
                                        <p:attrNameLst>
                                          <p:attrName>style.visibility</p:attrName>
                                        </p:attrNameLst>
                                      </p:cBhvr>
                                      <p:to>
                                        <p:strVal val="visible"/>
                                      </p:to>
                                    </p:set>
                                    <p:anim calcmode="lin" valueType="num">
                                      <p:cBhvr>
                                        <p:cTn id="53" dur="500" fill="hold"/>
                                        <p:tgtEl>
                                          <p:spTgt spid="27"/>
                                        </p:tgtEl>
                                        <p:attrNameLst>
                                          <p:attrName>ppt_w</p:attrName>
                                        </p:attrNameLst>
                                      </p:cBhvr>
                                      <p:tavLst>
                                        <p:tav tm="0">
                                          <p:val>
                                            <p:fltVal val="0"/>
                                          </p:val>
                                        </p:tav>
                                        <p:tav tm="100000">
                                          <p:val>
                                            <p:strVal val="#ppt_w"/>
                                          </p:val>
                                        </p:tav>
                                      </p:tavLst>
                                    </p:anim>
                                    <p:anim calcmode="lin" valueType="num">
                                      <p:cBhvr>
                                        <p:cTn id="54" dur="500" fill="hold"/>
                                        <p:tgtEl>
                                          <p:spTgt spid="27"/>
                                        </p:tgtEl>
                                        <p:attrNameLst>
                                          <p:attrName>ppt_h</p:attrName>
                                        </p:attrNameLst>
                                      </p:cBhvr>
                                      <p:tavLst>
                                        <p:tav tm="0">
                                          <p:val>
                                            <p:fltVal val="0"/>
                                          </p:val>
                                        </p:tav>
                                        <p:tav tm="100000">
                                          <p:val>
                                            <p:strVal val="#ppt_h"/>
                                          </p:val>
                                        </p:tav>
                                      </p:tavLst>
                                    </p:anim>
                                    <p:animEffect transition="in" filter="fade">
                                      <p:cBhvr>
                                        <p:cTn id="55" dur="500"/>
                                        <p:tgtEl>
                                          <p:spTgt spid="27"/>
                                        </p:tgtEl>
                                      </p:cBhvr>
                                    </p:animEffect>
                                  </p:childTnLst>
                                </p:cTn>
                              </p:par>
                            </p:childTnLst>
                          </p:cTn>
                        </p:par>
                        <p:par>
                          <p:cTn id="56" fill="hold">
                            <p:stCondLst>
                              <p:cond delay="11500"/>
                            </p:stCondLst>
                            <p:childTnLst>
                              <p:par>
                                <p:cTn id="57" presetID="10" presetClass="entr" presetSubtype="0" fill="hold" grpId="0" nodeType="afterEffect">
                                  <p:stCondLst>
                                    <p:cond delay="0"/>
                                  </p:stCondLst>
                                  <p:childTnLst>
                                    <p:set>
                                      <p:cBhvr>
                                        <p:cTn id="58" dur="1" fill="hold">
                                          <p:stCondLst>
                                            <p:cond delay="0"/>
                                          </p:stCondLst>
                                        </p:cTn>
                                        <p:tgtEl>
                                          <p:spTgt spid="28"/>
                                        </p:tgtEl>
                                        <p:attrNameLst>
                                          <p:attrName>style.visibility</p:attrName>
                                        </p:attrNameLst>
                                      </p:cBhvr>
                                      <p:to>
                                        <p:strVal val="visible"/>
                                      </p:to>
                                    </p:set>
                                    <p:animEffect transition="in" filter="fade">
                                      <p:cBhvr>
                                        <p:cTn id="59" dur="500"/>
                                        <p:tgtEl>
                                          <p:spTgt spid="28"/>
                                        </p:tgtEl>
                                      </p:cBhvr>
                                    </p:animEffect>
                                  </p:childTnLst>
                                </p:cTn>
                              </p:par>
                            </p:childTnLst>
                          </p:cTn>
                        </p:par>
                        <p:par>
                          <p:cTn id="60" fill="hold">
                            <p:stCondLst>
                              <p:cond delay="12000"/>
                            </p:stCondLst>
                            <p:childTnLst>
                              <p:par>
                                <p:cTn id="61" presetID="21" presetClass="entr" presetSubtype="1" fill="hold" grpId="0" nodeType="afterEffect">
                                  <p:stCondLst>
                                    <p:cond delay="0"/>
                                  </p:stCondLst>
                                  <p:childTnLst>
                                    <p:set>
                                      <p:cBhvr>
                                        <p:cTn id="62" dur="1" fill="hold">
                                          <p:stCondLst>
                                            <p:cond delay="0"/>
                                          </p:stCondLst>
                                        </p:cTn>
                                        <p:tgtEl>
                                          <p:spTgt spid="29"/>
                                        </p:tgtEl>
                                        <p:attrNameLst>
                                          <p:attrName>style.visibility</p:attrName>
                                        </p:attrNameLst>
                                      </p:cBhvr>
                                      <p:to>
                                        <p:strVal val="visible"/>
                                      </p:to>
                                    </p:set>
                                    <p:animEffect transition="in" filter="wheel(1)">
                                      <p:cBhvr>
                                        <p:cTn id="63" dur="2000"/>
                                        <p:tgtEl>
                                          <p:spTgt spid="29"/>
                                        </p:tgtEl>
                                      </p:cBhvr>
                                    </p:animEffect>
                                  </p:childTnLst>
                                </p:cTn>
                              </p:par>
                            </p:childTnLst>
                          </p:cTn>
                        </p:par>
                        <p:par>
                          <p:cTn id="64" fill="hold">
                            <p:stCondLst>
                              <p:cond delay="14000"/>
                            </p:stCondLst>
                            <p:childTnLst>
                              <p:par>
                                <p:cTn id="65" presetID="53" presetClass="entr" presetSubtype="16" fill="hold" grpId="0" nodeType="afterEffect">
                                  <p:stCondLst>
                                    <p:cond delay="0"/>
                                  </p:stCondLst>
                                  <p:childTnLst>
                                    <p:set>
                                      <p:cBhvr>
                                        <p:cTn id="66" dur="1" fill="hold">
                                          <p:stCondLst>
                                            <p:cond delay="0"/>
                                          </p:stCondLst>
                                        </p:cTn>
                                        <p:tgtEl>
                                          <p:spTgt spid="30"/>
                                        </p:tgtEl>
                                        <p:attrNameLst>
                                          <p:attrName>style.visibility</p:attrName>
                                        </p:attrNameLst>
                                      </p:cBhvr>
                                      <p:to>
                                        <p:strVal val="visible"/>
                                      </p:to>
                                    </p:set>
                                    <p:anim calcmode="lin" valueType="num">
                                      <p:cBhvr>
                                        <p:cTn id="67" dur="500" fill="hold"/>
                                        <p:tgtEl>
                                          <p:spTgt spid="30"/>
                                        </p:tgtEl>
                                        <p:attrNameLst>
                                          <p:attrName>ppt_w</p:attrName>
                                        </p:attrNameLst>
                                      </p:cBhvr>
                                      <p:tavLst>
                                        <p:tav tm="0">
                                          <p:val>
                                            <p:fltVal val="0"/>
                                          </p:val>
                                        </p:tav>
                                        <p:tav tm="100000">
                                          <p:val>
                                            <p:strVal val="#ppt_w"/>
                                          </p:val>
                                        </p:tav>
                                      </p:tavLst>
                                    </p:anim>
                                    <p:anim calcmode="lin" valueType="num">
                                      <p:cBhvr>
                                        <p:cTn id="68" dur="500" fill="hold"/>
                                        <p:tgtEl>
                                          <p:spTgt spid="30"/>
                                        </p:tgtEl>
                                        <p:attrNameLst>
                                          <p:attrName>ppt_h</p:attrName>
                                        </p:attrNameLst>
                                      </p:cBhvr>
                                      <p:tavLst>
                                        <p:tav tm="0">
                                          <p:val>
                                            <p:fltVal val="0"/>
                                          </p:val>
                                        </p:tav>
                                        <p:tav tm="100000">
                                          <p:val>
                                            <p:strVal val="#ppt_h"/>
                                          </p:val>
                                        </p:tav>
                                      </p:tavLst>
                                    </p:anim>
                                    <p:animEffect transition="in" filter="fade">
                                      <p:cBhvr>
                                        <p:cTn id="69" dur="500"/>
                                        <p:tgtEl>
                                          <p:spTgt spid="30"/>
                                        </p:tgtEl>
                                      </p:cBhvr>
                                    </p:animEffect>
                                  </p:childTnLst>
                                </p:cTn>
                              </p:par>
                            </p:childTnLst>
                          </p:cTn>
                        </p:par>
                        <p:par>
                          <p:cTn id="70" fill="hold">
                            <p:stCondLst>
                              <p:cond delay="14500"/>
                            </p:stCondLst>
                            <p:childTnLst>
                              <p:par>
                                <p:cTn id="71" presetID="10" presetClass="entr" presetSubtype="0" fill="hold" grpId="0" nodeType="afterEffect">
                                  <p:stCondLst>
                                    <p:cond delay="0"/>
                                  </p:stCondLst>
                                  <p:childTnLst>
                                    <p:set>
                                      <p:cBhvr>
                                        <p:cTn id="72" dur="1" fill="hold">
                                          <p:stCondLst>
                                            <p:cond delay="0"/>
                                          </p:stCondLst>
                                        </p:cTn>
                                        <p:tgtEl>
                                          <p:spTgt spid="31"/>
                                        </p:tgtEl>
                                        <p:attrNameLst>
                                          <p:attrName>style.visibility</p:attrName>
                                        </p:attrNameLst>
                                      </p:cBhvr>
                                      <p:to>
                                        <p:strVal val="visible"/>
                                      </p:to>
                                    </p:set>
                                    <p:animEffect transition="in" filter="fade">
                                      <p:cBhvr>
                                        <p:cTn id="73"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5C2193"/>
        </a:solidFill>
        <a:effectLst/>
      </p:bgPr>
    </p:bg>
    <p:spTree>
      <p:nvGrpSpPr>
        <p:cNvPr id="1" name=""/>
        <p:cNvGrpSpPr/>
        <p:nvPr/>
      </p:nvGrpSpPr>
      <p:grpSpPr>
        <a:xfrm>
          <a:off x="0" y="0"/>
          <a:ext cx="0" cy="0"/>
          <a:chOff x="0" y="0"/>
          <a:chExt cx="0" cy="0"/>
        </a:xfrm>
      </p:grpSpPr>
      <p:pic>
        <p:nvPicPr>
          <p:cNvPr id="2" name="Imagen 1" descr="Patrón de fondo&#10;&#10;El contenido generado por IA puede ser incorrecto.">
            <a:extLst>
              <a:ext uri="{FF2B5EF4-FFF2-40B4-BE49-F238E27FC236}">
                <a16:creationId xmlns:a16="http://schemas.microsoft.com/office/drawing/2014/main" id="{C70BD109-175A-E007-EBEF-35BEAC7E65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66" y="0"/>
            <a:ext cx="12189533" cy="6859388"/>
          </a:xfrm>
          <a:prstGeom prst="rect">
            <a:avLst/>
          </a:prstGeom>
        </p:spPr>
      </p:pic>
      <p:pic>
        <p:nvPicPr>
          <p:cNvPr id="1028" name="Picture 4" descr="Ellucian Student Reseñas 2026: Detalles, Precios y Características | G2">
            <a:extLst>
              <a:ext uri="{FF2B5EF4-FFF2-40B4-BE49-F238E27FC236}">
                <a16:creationId xmlns:a16="http://schemas.microsoft.com/office/drawing/2014/main" id="{3EBF1EA5-190E-0F8F-B4F4-56B5380AED44}"/>
              </a:ext>
            </a:extLst>
          </p:cNvPr>
          <p:cNvPicPr>
            <a:picLocks noChangeAspect="1" noChangeArrowheads="1"/>
          </p:cNvPicPr>
          <p:nvPr/>
        </p:nvPicPr>
        <p:blipFill>
          <a:blip r:embed="rId3">
            <a:biLevel thresh="25000"/>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8405244" y="5091953"/>
            <a:ext cx="3363899" cy="1766047"/>
          </a:xfrm>
          <a:prstGeom prst="rect">
            <a:avLst/>
          </a:prstGeom>
          <a:noFill/>
          <a:extLst>
            <a:ext uri="{909E8E84-426E-40DD-AFC4-6F175D3DCCD1}">
              <a14:hiddenFill xmlns:a14="http://schemas.microsoft.com/office/drawing/2010/main">
                <a:solidFill>
                  <a:srgbClr val="FFFFFF"/>
                </a:solidFill>
              </a14:hiddenFill>
            </a:ext>
          </a:extLst>
        </p:spPr>
      </p:pic>
      <p:pic>
        <p:nvPicPr>
          <p:cNvPr id="8" name="Imagen 7">
            <a:extLst>
              <a:ext uri="{FF2B5EF4-FFF2-40B4-BE49-F238E27FC236}">
                <a16:creationId xmlns:a16="http://schemas.microsoft.com/office/drawing/2014/main" id="{F3B12AA1-09DB-029E-CEFB-090B28455E75}"/>
              </a:ext>
            </a:extLst>
          </p:cNvPr>
          <p:cNvPicPr>
            <a:picLocks noChangeAspect="1"/>
          </p:cNvPicPr>
          <p:nvPr/>
        </p:nvPicPr>
        <p:blipFill>
          <a:blip r:embed="rId5">
            <a:lum bright="70000" contrast="-70000"/>
            <a:extLst>
              <a:ext uri="{28A0092B-C50C-407E-A947-70E740481C1C}">
                <a14:useLocalDpi xmlns:a14="http://schemas.microsoft.com/office/drawing/2010/main" val="0"/>
              </a:ext>
            </a:extLst>
          </a:blip>
          <a:stretch>
            <a:fillRect/>
          </a:stretch>
        </p:blipFill>
        <p:spPr>
          <a:xfrm>
            <a:off x="596901" y="418320"/>
            <a:ext cx="3688228" cy="868180"/>
          </a:xfrm>
          <a:prstGeom prst="rect">
            <a:avLst/>
          </a:prstGeom>
        </p:spPr>
      </p:pic>
      <p:sp>
        <p:nvSpPr>
          <p:cNvPr id="17" name="CuadroTexto 16">
            <a:extLst>
              <a:ext uri="{FF2B5EF4-FFF2-40B4-BE49-F238E27FC236}">
                <a16:creationId xmlns:a16="http://schemas.microsoft.com/office/drawing/2014/main" id="{D0BC250B-0A63-B351-C809-BDD7940DFA1A}"/>
              </a:ext>
            </a:extLst>
          </p:cNvPr>
          <p:cNvSpPr txBox="1"/>
          <p:nvPr/>
        </p:nvSpPr>
        <p:spPr>
          <a:xfrm>
            <a:off x="1000664" y="1907042"/>
            <a:ext cx="10196423" cy="175432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5400" b="1" i="0" u="none" strike="noStrike" kern="1200" cap="none" spc="0" normalizeH="0" baseline="0" noProof="0" dirty="0">
                <a:ln>
                  <a:noFill/>
                </a:ln>
                <a:solidFill>
                  <a:srgbClr val="196B24">
                    <a:lumMod val="60000"/>
                    <a:lumOff val="40000"/>
                  </a:srgbClr>
                </a:solidFill>
                <a:effectLst/>
                <a:uLnTx/>
                <a:uFillTx/>
                <a:latin typeface="Montserrat" pitchFamily="2" charset="0"/>
                <a:ea typeface="+mn-ea"/>
                <a:cs typeface="+mn-cs"/>
              </a:rPr>
              <a:t>CREACIÓN DE</a:t>
            </a:r>
            <a:r>
              <a:rPr lang="es-ES" sz="5400" b="1" dirty="0">
                <a:solidFill>
                  <a:srgbClr val="196B24">
                    <a:lumMod val="60000"/>
                    <a:lumOff val="40000"/>
                  </a:srgbClr>
                </a:solidFill>
                <a:latin typeface="Montserrat" pitchFamily="2" charset="0"/>
              </a:rPr>
              <a:t>L</a:t>
            </a:r>
            <a:br>
              <a:rPr kumimoji="0" lang="es-ES" sz="5400" b="1" i="0" u="none" strike="noStrike" kern="1200" cap="none" spc="0" normalizeH="0" baseline="0" noProof="0" dirty="0">
                <a:ln>
                  <a:noFill/>
                </a:ln>
                <a:solidFill>
                  <a:srgbClr val="196B24">
                    <a:lumMod val="60000"/>
                    <a:lumOff val="40000"/>
                  </a:srgbClr>
                </a:solidFill>
                <a:effectLst/>
                <a:uLnTx/>
                <a:uFillTx/>
                <a:latin typeface="Montserrat" pitchFamily="2" charset="0"/>
                <a:ea typeface="+mn-ea"/>
                <a:cs typeface="+mn-cs"/>
              </a:rPr>
            </a:br>
            <a:r>
              <a:rPr kumimoji="0" lang="es-ES" sz="5400" b="1" i="0" u="none" strike="noStrike" kern="1200" cap="none" spc="0" normalizeH="0" baseline="0" noProof="0" dirty="0">
                <a:ln>
                  <a:noFill/>
                </a:ln>
                <a:solidFill>
                  <a:srgbClr val="196B24">
                    <a:lumMod val="60000"/>
                    <a:lumOff val="40000"/>
                  </a:srgbClr>
                </a:solidFill>
                <a:effectLst/>
                <a:uLnTx/>
                <a:uFillTx/>
                <a:latin typeface="Montserrat" pitchFamily="2" charset="0"/>
                <a:ea typeface="+mn-ea"/>
                <a:cs typeface="+mn-cs"/>
              </a:rPr>
              <a:t>CALENDARIO ACADÉMICO</a:t>
            </a:r>
            <a:endParaRPr kumimoji="0" lang="es-PE" sz="5400" b="1" i="0" u="none" strike="noStrike" kern="1200" cap="none" spc="0" normalizeH="0" baseline="0" noProof="0" dirty="0">
              <a:ln>
                <a:noFill/>
              </a:ln>
              <a:solidFill>
                <a:srgbClr val="196B24">
                  <a:lumMod val="60000"/>
                  <a:lumOff val="40000"/>
                </a:srgbClr>
              </a:solidFill>
              <a:effectLst/>
              <a:uLnTx/>
              <a:uFillTx/>
              <a:latin typeface="Montserrat" pitchFamily="2" charset="0"/>
              <a:ea typeface="+mn-ea"/>
              <a:cs typeface="+mn-cs"/>
            </a:endParaRPr>
          </a:p>
        </p:txBody>
      </p:sp>
      <p:sp>
        <p:nvSpPr>
          <p:cNvPr id="3" name="CuadroTexto 2">
            <a:extLst>
              <a:ext uri="{FF2B5EF4-FFF2-40B4-BE49-F238E27FC236}">
                <a16:creationId xmlns:a16="http://schemas.microsoft.com/office/drawing/2014/main" id="{3EEB4538-9A01-61FC-2736-55C412E04D72}"/>
              </a:ext>
            </a:extLst>
          </p:cNvPr>
          <p:cNvSpPr txBox="1"/>
          <p:nvPr/>
        </p:nvSpPr>
        <p:spPr>
          <a:xfrm>
            <a:off x="596901" y="6322596"/>
            <a:ext cx="3134128"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200" b="0" i="1" u="none" strike="noStrike" kern="1200" cap="none" spc="0" normalizeH="0" baseline="0" noProof="0" dirty="0">
                <a:ln>
                  <a:noFill/>
                </a:ln>
                <a:solidFill>
                  <a:prstClr val="white"/>
                </a:solidFill>
                <a:effectLst/>
                <a:uLnTx/>
                <a:uFillTx/>
                <a:latin typeface="Aptos" panose="02110004020202020204"/>
                <a:ea typeface="+mn-ea"/>
                <a:cs typeface="+mn-cs"/>
              </a:rPr>
              <a:t>Elaborado por: Ing. Liliana Ocampo Moreno</a:t>
            </a:r>
            <a:endParaRPr kumimoji="0" lang="es-PE" sz="1200" b="0" i="1"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4" name="CuadroTexto 3">
            <a:extLst>
              <a:ext uri="{FF2B5EF4-FFF2-40B4-BE49-F238E27FC236}">
                <a16:creationId xmlns:a16="http://schemas.microsoft.com/office/drawing/2014/main" id="{E1A462EC-C6BC-083C-4144-168320176BC0}"/>
              </a:ext>
            </a:extLst>
          </p:cNvPr>
          <p:cNvSpPr txBox="1"/>
          <p:nvPr/>
        </p:nvSpPr>
        <p:spPr>
          <a:xfrm>
            <a:off x="1198406" y="4023437"/>
            <a:ext cx="10196423" cy="83099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600" dirty="0">
                <a:solidFill>
                  <a:prstClr val="white"/>
                </a:solidFill>
                <a:latin typeface="Aptos" panose="02110004020202020204"/>
              </a:rPr>
              <a:t>E</a:t>
            </a:r>
            <a:r>
              <a:rPr kumimoji="0" lang="es-ES" sz="1600" b="0" i="0" u="none" strike="noStrike" kern="1200" cap="none" spc="0" normalizeH="0" baseline="0" noProof="0" dirty="0" err="1">
                <a:ln>
                  <a:noFill/>
                </a:ln>
                <a:solidFill>
                  <a:prstClr val="white"/>
                </a:solidFill>
                <a:effectLst/>
                <a:uLnTx/>
                <a:uFillTx/>
                <a:latin typeface="Aptos" panose="02110004020202020204"/>
                <a:ea typeface="+mn-ea"/>
                <a:cs typeface="+mn-cs"/>
              </a:rPr>
              <a:t>stablece</a:t>
            </a:r>
            <a:r>
              <a:rPr kumimoji="0" lang="es-ES" sz="1600" b="0" i="0" u="none" strike="noStrike" kern="1200" cap="none" spc="0" normalizeH="0" baseline="0" noProof="0" dirty="0">
                <a:ln>
                  <a:noFill/>
                </a:ln>
                <a:solidFill>
                  <a:prstClr val="white"/>
                </a:solidFill>
                <a:effectLst/>
                <a:uLnTx/>
                <a:uFillTx/>
                <a:latin typeface="Aptos" panose="02110004020202020204"/>
                <a:ea typeface="+mn-ea"/>
                <a:cs typeface="+mn-cs"/>
              </a:rPr>
              <a:t> la creación del calendario académico institucional, definiendo las fechas de los principales procesos académico-administrativos, financieros, de evaluación y graduación. Asimismo, permite configurar partes del periodo con distintas fechas de inicio y excepciones, de acuerdo con las políticas institucionales.</a:t>
            </a:r>
            <a:endParaRPr kumimoji="0" lang="es-PE" sz="16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30241782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7CAB2B86-4E3B-C98C-411E-958BEFE187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2528" y="6154887"/>
            <a:ext cx="2234242" cy="525923"/>
          </a:xfrm>
          <a:prstGeom prst="rect">
            <a:avLst/>
          </a:prstGeom>
        </p:spPr>
      </p:pic>
      <p:pic>
        <p:nvPicPr>
          <p:cNvPr id="4" name="Picture 4" descr="Ellucian Student Reseñas 2026: Detalles, Precios y Características | G2">
            <a:extLst>
              <a:ext uri="{FF2B5EF4-FFF2-40B4-BE49-F238E27FC236}">
                <a16:creationId xmlns:a16="http://schemas.microsoft.com/office/drawing/2014/main" id="{7352B780-8C7C-7B91-F3EE-5E6EF2C2E4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98101" y="5901780"/>
            <a:ext cx="1821371" cy="956220"/>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0AEBA78F-8C98-5D4D-384F-95B753FFADE4}"/>
              </a:ext>
            </a:extLst>
          </p:cNvPr>
          <p:cNvSpPr txBox="1"/>
          <p:nvPr/>
        </p:nvSpPr>
        <p:spPr>
          <a:xfrm>
            <a:off x="431320" y="241540"/>
            <a:ext cx="6789038" cy="523220"/>
          </a:xfrm>
          <a:prstGeom prst="rect">
            <a:avLst/>
          </a:prstGeom>
          <a:noFill/>
        </p:spPr>
        <p:txBody>
          <a:bodyPr wrap="none" rtlCol="0">
            <a:spAutoFit/>
          </a:bodyPr>
          <a:lstStyle/>
          <a:p>
            <a:r>
              <a:rPr lang="es-ES" sz="2800" b="1" dirty="0">
                <a:latin typeface="Montserrat" pitchFamily="2" charset="0"/>
              </a:rPr>
              <a:t>CONTROL DE PERIODO - SOATERM</a:t>
            </a:r>
            <a:endParaRPr lang="es-PE" sz="2800" b="1" dirty="0">
              <a:latin typeface="Montserrat" pitchFamily="2" charset="0"/>
            </a:endParaRPr>
          </a:p>
        </p:txBody>
      </p:sp>
      <p:sp>
        <p:nvSpPr>
          <p:cNvPr id="8" name="Rectángulo 7">
            <a:extLst>
              <a:ext uri="{FF2B5EF4-FFF2-40B4-BE49-F238E27FC236}">
                <a16:creationId xmlns:a16="http://schemas.microsoft.com/office/drawing/2014/main" id="{A16BCE08-E23C-F264-A6E3-E4019979D2E2}"/>
              </a:ext>
            </a:extLst>
          </p:cNvPr>
          <p:cNvSpPr/>
          <p:nvPr/>
        </p:nvSpPr>
        <p:spPr>
          <a:xfrm>
            <a:off x="7220358" y="241540"/>
            <a:ext cx="4971641" cy="445583"/>
          </a:xfrm>
          <a:prstGeom prst="rect">
            <a:avLst/>
          </a:prstGeom>
          <a:gradFill flip="none" rotWithShape="1">
            <a:gsLst>
              <a:gs pos="0">
                <a:schemeClr val="accent6">
                  <a:lumMod val="0"/>
                  <a:lumOff val="100000"/>
                </a:schemeClr>
              </a:gs>
              <a:gs pos="66000">
                <a:schemeClr val="accent6">
                  <a:lumMod val="100000"/>
                </a:schemeClr>
              </a:gs>
            </a:gsLst>
            <a:lin ang="0" scaled="1"/>
            <a:tileRect/>
          </a:gra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s-PE"/>
          </a:p>
        </p:txBody>
      </p:sp>
      <p:sp>
        <p:nvSpPr>
          <p:cNvPr id="6" name="CuadroTexto 5">
            <a:extLst>
              <a:ext uri="{FF2B5EF4-FFF2-40B4-BE49-F238E27FC236}">
                <a16:creationId xmlns:a16="http://schemas.microsoft.com/office/drawing/2014/main" id="{AC33DC36-253A-547B-7A30-A152C2F6B4CE}"/>
              </a:ext>
            </a:extLst>
          </p:cNvPr>
          <p:cNvSpPr txBox="1"/>
          <p:nvPr/>
        </p:nvSpPr>
        <p:spPr>
          <a:xfrm>
            <a:off x="4528936" y="6386396"/>
            <a:ext cx="3134128" cy="276999"/>
          </a:xfrm>
          <a:prstGeom prst="rect">
            <a:avLst/>
          </a:prstGeom>
          <a:noFill/>
        </p:spPr>
        <p:txBody>
          <a:bodyPr wrap="none" rtlCol="0">
            <a:spAutoFit/>
          </a:bodyPr>
          <a:lstStyle/>
          <a:p>
            <a:pPr algn="ctr"/>
            <a:r>
              <a:rPr lang="es-ES" sz="1200" i="1" dirty="0"/>
              <a:t>Elaborado por: Ing. Liliana Ocampo Moreno</a:t>
            </a:r>
            <a:endParaRPr lang="es-PE" sz="1200" i="1" dirty="0"/>
          </a:p>
        </p:txBody>
      </p:sp>
      <p:pic>
        <p:nvPicPr>
          <p:cNvPr id="10" name="Imagen 9">
            <a:extLst>
              <a:ext uri="{FF2B5EF4-FFF2-40B4-BE49-F238E27FC236}">
                <a16:creationId xmlns:a16="http://schemas.microsoft.com/office/drawing/2014/main" id="{C02C1C0B-F23C-372E-CEBE-00998E8A0548}"/>
              </a:ext>
            </a:extLst>
          </p:cNvPr>
          <p:cNvPicPr>
            <a:picLocks noChangeAspect="1"/>
          </p:cNvPicPr>
          <p:nvPr/>
        </p:nvPicPr>
        <p:blipFill>
          <a:blip r:embed="rId4"/>
          <a:stretch>
            <a:fillRect/>
          </a:stretch>
        </p:blipFill>
        <p:spPr>
          <a:xfrm>
            <a:off x="526473" y="964940"/>
            <a:ext cx="11194472" cy="4952636"/>
          </a:xfrm>
          <a:prstGeom prst="rect">
            <a:avLst/>
          </a:prstGeom>
        </p:spPr>
      </p:pic>
      <p:sp>
        <p:nvSpPr>
          <p:cNvPr id="11" name="Rectángulo 10">
            <a:extLst>
              <a:ext uri="{FF2B5EF4-FFF2-40B4-BE49-F238E27FC236}">
                <a16:creationId xmlns:a16="http://schemas.microsoft.com/office/drawing/2014/main" id="{C74D5ECB-FDFF-47AF-EC3A-0DA0A696C56B}"/>
              </a:ext>
            </a:extLst>
          </p:cNvPr>
          <p:cNvSpPr/>
          <p:nvPr/>
        </p:nvSpPr>
        <p:spPr>
          <a:xfrm>
            <a:off x="1333690" y="1253653"/>
            <a:ext cx="2351618" cy="195536"/>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12" name="Rectángulo: esquinas redondeadas 11">
            <a:extLst>
              <a:ext uri="{FF2B5EF4-FFF2-40B4-BE49-F238E27FC236}">
                <a16:creationId xmlns:a16="http://schemas.microsoft.com/office/drawing/2014/main" id="{DBB0BD7C-7C10-A3EE-4225-ABBECE7D1D5F}"/>
              </a:ext>
            </a:extLst>
          </p:cNvPr>
          <p:cNvSpPr/>
          <p:nvPr/>
        </p:nvSpPr>
        <p:spPr>
          <a:xfrm>
            <a:off x="2448182" y="1526756"/>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t>1</a:t>
            </a:r>
            <a:endParaRPr lang="es-PE" sz="1100" b="1" dirty="0"/>
          </a:p>
        </p:txBody>
      </p:sp>
      <p:sp>
        <p:nvSpPr>
          <p:cNvPr id="13" name="CuadroTexto 12">
            <a:hlinkClick r:id="rId5" action="ppaction://hlinksldjump"/>
            <a:extLst>
              <a:ext uri="{FF2B5EF4-FFF2-40B4-BE49-F238E27FC236}">
                <a16:creationId xmlns:a16="http://schemas.microsoft.com/office/drawing/2014/main" id="{2A5ECDD7-7705-482F-511C-4B96D3640861}"/>
              </a:ext>
            </a:extLst>
          </p:cNvPr>
          <p:cNvSpPr txBox="1"/>
          <p:nvPr/>
        </p:nvSpPr>
        <p:spPr>
          <a:xfrm>
            <a:off x="1289649" y="1890668"/>
            <a:ext cx="2155222" cy="799207"/>
          </a:xfrm>
          <a:prstGeom prst="roundRect">
            <a:avLst>
              <a:gd name="adj" fmla="val 7573"/>
            </a:avLst>
          </a:prstGeom>
          <a:solidFill>
            <a:srgbClr val="7030A0"/>
          </a:solidFill>
        </p:spPr>
        <p:txBody>
          <a:bodyPr wrap="square">
            <a:spAutoFit/>
          </a:bodyPr>
          <a:lstStyle/>
          <a:p>
            <a:pPr algn="ctr"/>
            <a:r>
              <a:rPr lang="es-ES" sz="1100" dirty="0">
                <a:solidFill>
                  <a:srgbClr val="FFFFFF"/>
                </a:solidFill>
              </a:rPr>
              <a:t>Ingrese el </a:t>
            </a:r>
            <a:r>
              <a:rPr lang="es-ES" sz="1100" b="1" dirty="0">
                <a:solidFill>
                  <a:srgbClr val="92D050"/>
                </a:solidFill>
              </a:rPr>
              <a:t>periodo académico</a:t>
            </a:r>
            <a:r>
              <a:rPr lang="es-ES" sz="1100" dirty="0">
                <a:solidFill>
                  <a:srgbClr val="FFFFFF"/>
                </a:solidFill>
              </a:rPr>
              <a:t> creado en </a:t>
            </a:r>
            <a:r>
              <a:rPr lang="es-ES" sz="1100" b="1" dirty="0">
                <a:solidFill>
                  <a:srgbClr val="FFFFFF"/>
                </a:solidFill>
              </a:rPr>
              <a:t>STVTERM</a:t>
            </a:r>
            <a:r>
              <a:rPr lang="es-ES" sz="1100" dirty="0">
                <a:solidFill>
                  <a:srgbClr val="FFFFFF"/>
                </a:solidFill>
              </a:rPr>
              <a:t> que desea configurar.</a:t>
            </a:r>
          </a:p>
          <a:p>
            <a:pPr algn="ctr"/>
            <a:r>
              <a:rPr lang="es-ES" sz="1100" dirty="0">
                <a:solidFill>
                  <a:srgbClr val="FFFFFF"/>
                </a:solidFill>
              </a:rPr>
              <a:t>(Requerido).</a:t>
            </a:r>
            <a:endParaRPr lang="es-ES" b="0" dirty="0">
              <a:effectLst/>
            </a:endParaRPr>
          </a:p>
        </p:txBody>
      </p:sp>
      <p:sp>
        <p:nvSpPr>
          <p:cNvPr id="14" name="Rectángulo 13">
            <a:extLst>
              <a:ext uri="{FF2B5EF4-FFF2-40B4-BE49-F238E27FC236}">
                <a16:creationId xmlns:a16="http://schemas.microsoft.com/office/drawing/2014/main" id="{266776C5-1503-A168-B6D0-41FADDF1BECA}"/>
              </a:ext>
            </a:extLst>
          </p:cNvPr>
          <p:cNvSpPr/>
          <p:nvPr/>
        </p:nvSpPr>
        <p:spPr>
          <a:xfrm>
            <a:off x="11306155" y="1235181"/>
            <a:ext cx="442497" cy="273103"/>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15" name="Rectángulo: esquinas redondeadas 14">
            <a:extLst>
              <a:ext uri="{FF2B5EF4-FFF2-40B4-BE49-F238E27FC236}">
                <a16:creationId xmlns:a16="http://schemas.microsoft.com/office/drawing/2014/main" id="{BD0F4DEA-BE83-22F0-DC7B-BA8603509EFE}"/>
              </a:ext>
            </a:extLst>
          </p:cNvPr>
          <p:cNvSpPr/>
          <p:nvPr/>
        </p:nvSpPr>
        <p:spPr>
          <a:xfrm>
            <a:off x="11394476" y="1666382"/>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t>2</a:t>
            </a:r>
            <a:endParaRPr lang="es-PE" sz="1100" b="1" dirty="0"/>
          </a:p>
        </p:txBody>
      </p:sp>
      <p:sp>
        <p:nvSpPr>
          <p:cNvPr id="16" name="CuadroTexto 15">
            <a:extLst>
              <a:ext uri="{FF2B5EF4-FFF2-40B4-BE49-F238E27FC236}">
                <a16:creationId xmlns:a16="http://schemas.microsoft.com/office/drawing/2014/main" id="{6276E21A-E708-7089-9426-EFB3B61D9A8B}"/>
              </a:ext>
            </a:extLst>
          </p:cNvPr>
          <p:cNvSpPr txBox="1"/>
          <p:nvPr/>
        </p:nvSpPr>
        <p:spPr>
          <a:xfrm>
            <a:off x="9865444" y="2056342"/>
            <a:ext cx="1744692" cy="271730"/>
          </a:xfrm>
          <a:prstGeom prst="roundRect">
            <a:avLst>
              <a:gd name="adj" fmla="val 7573"/>
            </a:avLst>
          </a:prstGeom>
          <a:solidFill>
            <a:srgbClr val="7030A0"/>
          </a:solidFill>
        </p:spPr>
        <p:txBody>
          <a:bodyPr wrap="square">
            <a:spAutoFit/>
          </a:bodyPr>
          <a:lstStyle/>
          <a:p>
            <a:pPr algn="ctr" rtl="0">
              <a:spcBef>
                <a:spcPts val="0"/>
              </a:spcBef>
              <a:spcAft>
                <a:spcPts val="0"/>
              </a:spcAft>
            </a:pPr>
            <a:r>
              <a:rPr lang="es-ES" sz="1100" dirty="0">
                <a:solidFill>
                  <a:srgbClr val="FFFFFF"/>
                </a:solidFill>
              </a:rPr>
              <a:t>Seleccionar</a:t>
            </a:r>
            <a:r>
              <a:rPr lang="es-ES" sz="1100" b="0" i="0" u="none" strike="noStrike" dirty="0">
                <a:solidFill>
                  <a:srgbClr val="FFFFFF"/>
                </a:solidFill>
                <a:effectLst/>
              </a:rPr>
              <a:t> </a:t>
            </a:r>
            <a:r>
              <a:rPr lang="es-ES" sz="1100" b="1" dirty="0">
                <a:solidFill>
                  <a:srgbClr val="92D050"/>
                </a:solidFill>
              </a:rPr>
              <a:t>I</a:t>
            </a:r>
            <a:r>
              <a:rPr lang="es-ES" sz="1100" b="1" i="0" u="none" strike="noStrike" dirty="0">
                <a:solidFill>
                  <a:srgbClr val="92D050"/>
                </a:solidFill>
                <a:effectLst/>
              </a:rPr>
              <a:t>r</a:t>
            </a:r>
            <a:endParaRPr lang="es-ES" b="1" dirty="0">
              <a:solidFill>
                <a:srgbClr val="92D050"/>
              </a:solidFill>
              <a:effectLst/>
            </a:endParaRPr>
          </a:p>
        </p:txBody>
      </p:sp>
    </p:spTree>
    <p:extLst>
      <p:ext uri="{BB962C8B-B14F-4D97-AF65-F5344CB8AC3E}">
        <p14:creationId xmlns:p14="http://schemas.microsoft.com/office/powerpoint/2010/main" val="864807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left)">
                                      <p:cBhvr>
                                        <p:cTn id="10" dur="500"/>
                                        <p:tgtEl>
                                          <p:spTgt spid="8"/>
                                        </p:tgtEl>
                                      </p:cBhvr>
                                    </p:animEffect>
                                  </p:childTnLst>
                                </p:cTn>
                              </p:par>
                            </p:childTnLst>
                          </p:cTn>
                        </p:par>
                        <p:par>
                          <p:cTn id="11" fill="hold">
                            <p:stCondLst>
                              <p:cond delay="500"/>
                            </p:stCondLst>
                            <p:childTnLst>
                              <p:par>
                                <p:cTn id="12" presetID="9" presetClass="entr" presetSubtype="0" fill="hold" nodeType="after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dissolve">
                                      <p:cBhvr>
                                        <p:cTn id="14" dur="500"/>
                                        <p:tgtEl>
                                          <p:spTgt spid="10"/>
                                        </p:tgtEl>
                                      </p:cBhvr>
                                    </p:animEffect>
                                  </p:childTnLst>
                                </p:cTn>
                              </p:par>
                            </p:childTnLst>
                          </p:cTn>
                        </p:par>
                        <p:par>
                          <p:cTn id="15" fill="hold">
                            <p:stCondLst>
                              <p:cond delay="1000"/>
                            </p:stCondLst>
                            <p:childTnLst>
                              <p:par>
                                <p:cTn id="16" presetID="21" presetClass="entr" presetSubtype="1" fill="hold" grpId="0" nodeType="after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wheel(1)">
                                      <p:cBhvr>
                                        <p:cTn id="18" dur="2000"/>
                                        <p:tgtEl>
                                          <p:spTgt spid="11"/>
                                        </p:tgtEl>
                                      </p:cBhvr>
                                    </p:animEffect>
                                  </p:childTnLst>
                                </p:cTn>
                              </p:par>
                            </p:childTnLst>
                          </p:cTn>
                        </p:par>
                        <p:par>
                          <p:cTn id="19" fill="hold">
                            <p:stCondLst>
                              <p:cond delay="3000"/>
                            </p:stCondLst>
                            <p:childTnLst>
                              <p:par>
                                <p:cTn id="20" presetID="53" presetClass="entr" presetSubtype="16"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 calcmode="lin" valueType="num">
                                      <p:cBhvr>
                                        <p:cTn id="22" dur="500" fill="hold"/>
                                        <p:tgtEl>
                                          <p:spTgt spid="12"/>
                                        </p:tgtEl>
                                        <p:attrNameLst>
                                          <p:attrName>ppt_w</p:attrName>
                                        </p:attrNameLst>
                                      </p:cBhvr>
                                      <p:tavLst>
                                        <p:tav tm="0">
                                          <p:val>
                                            <p:fltVal val="0"/>
                                          </p:val>
                                        </p:tav>
                                        <p:tav tm="100000">
                                          <p:val>
                                            <p:strVal val="#ppt_w"/>
                                          </p:val>
                                        </p:tav>
                                      </p:tavLst>
                                    </p:anim>
                                    <p:anim calcmode="lin" valueType="num">
                                      <p:cBhvr>
                                        <p:cTn id="23" dur="500" fill="hold"/>
                                        <p:tgtEl>
                                          <p:spTgt spid="12"/>
                                        </p:tgtEl>
                                        <p:attrNameLst>
                                          <p:attrName>ppt_h</p:attrName>
                                        </p:attrNameLst>
                                      </p:cBhvr>
                                      <p:tavLst>
                                        <p:tav tm="0">
                                          <p:val>
                                            <p:fltVal val="0"/>
                                          </p:val>
                                        </p:tav>
                                        <p:tav tm="100000">
                                          <p:val>
                                            <p:strVal val="#ppt_h"/>
                                          </p:val>
                                        </p:tav>
                                      </p:tavLst>
                                    </p:anim>
                                    <p:animEffect transition="in" filter="fade">
                                      <p:cBhvr>
                                        <p:cTn id="24" dur="500"/>
                                        <p:tgtEl>
                                          <p:spTgt spid="12"/>
                                        </p:tgtEl>
                                      </p:cBhvr>
                                    </p:animEffect>
                                  </p:childTnLst>
                                </p:cTn>
                              </p:par>
                            </p:childTnLst>
                          </p:cTn>
                        </p:par>
                        <p:par>
                          <p:cTn id="25" fill="hold">
                            <p:stCondLst>
                              <p:cond delay="3500"/>
                            </p:stCondLst>
                            <p:childTnLst>
                              <p:par>
                                <p:cTn id="26" presetID="10"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00"/>
                                        <p:tgtEl>
                                          <p:spTgt spid="13"/>
                                        </p:tgtEl>
                                      </p:cBhvr>
                                    </p:animEffect>
                                  </p:childTnLst>
                                </p:cTn>
                              </p:par>
                            </p:childTnLst>
                          </p:cTn>
                        </p:par>
                        <p:par>
                          <p:cTn id="29" fill="hold">
                            <p:stCondLst>
                              <p:cond delay="4000"/>
                            </p:stCondLst>
                            <p:childTnLst>
                              <p:par>
                                <p:cTn id="30" presetID="21" presetClass="entr" presetSubtype="1" fill="hold" grpId="0" nodeType="after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wheel(1)">
                                      <p:cBhvr>
                                        <p:cTn id="32" dur="2000"/>
                                        <p:tgtEl>
                                          <p:spTgt spid="14"/>
                                        </p:tgtEl>
                                      </p:cBhvr>
                                    </p:animEffect>
                                  </p:childTnLst>
                                </p:cTn>
                              </p:par>
                            </p:childTnLst>
                          </p:cTn>
                        </p:par>
                        <p:par>
                          <p:cTn id="33" fill="hold">
                            <p:stCondLst>
                              <p:cond delay="6000"/>
                            </p:stCondLst>
                            <p:childTnLst>
                              <p:par>
                                <p:cTn id="34" presetID="53" presetClass="entr" presetSubtype="16" fill="hold" grpId="0" nodeType="afterEffect">
                                  <p:stCondLst>
                                    <p:cond delay="0"/>
                                  </p:stCondLst>
                                  <p:childTnLst>
                                    <p:set>
                                      <p:cBhvr>
                                        <p:cTn id="35" dur="1" fill="hold">
                                          <p:stCondLst>
                                            <p:cond delay="0"/>
                                          </p:stCondLst>
                                        </p:cTn>
                                        <p:tgtEl>
                                          <p:spTgt spid="15"/>
                                        </p:tgtEl>
                                        <p:attrNameLst>
                                          <p:attrName>style.visibility</p:attrName>
                                        </p:attrNameLst>
                                      </p:cBhvr>
                                      <p:to>
                                        <p:strVal val="visible"/>
                                      </p:to>
                                    </p:set>
                                    <p:anim calcmode="lin" valueType="num">
                                      <p:cBhvr>
                                        <p:cTn id="36" dur="500" fill="hold"/>
                                        <p:tgtEl>
                                          <p:spTgt spid="15"/>
                                        </p:tgtEl>
                                        <p:attrNameLst>
                                          <p:attrName>ppt_w</p:attrName>
                                        </p:attrNameLst>
                                      </p:cBhvr>
                                      <p:tavLst>
                                        <p:tav tm="0">
                                          <p:val>
                                            <p:fltVal val="0"/>
                                          </p:val>
                                        </p:tav>
                                        <p:tav tm="100000">
                                          <p:val>
                                            <p:strVal val="#ppt_w"/>
                                          </p:val>
                                        </p:tav>
                                      </p:tavLst>
                                    </p:anim>
                                    <p:anim calcmode="lin" valueType="num">
                                      <p:cBhvr>
                                        <p:cTn id="37" dur="500" fill="hold"/>
                                        <p:tgtEl>
                                          <p:spTgt spid="15"/>
                                        </p:tgtEl>
                                        <p:attrNameLst>
                                          <p:attrName>ppt_h</p:attrName>
                                        </p:attrNameLst>
                                      </p:cBhvr>
                                      <p:tavLst>
                                        <p:tav tm="0">
                                          <p:val>
                                            <p:fltVal val="0"/>
                                          </p:val>
                                        </p:tav>
                                        <p:tav tm="100000">
                                          <p:val>
                                            <p:strVal val="#ppt_h"/>
                                          </p:val>
                                        </p:tav>
                                      </p:tavLst>
                                    </p:anim>
                                    <p:animEffect transition="in" filter="fade">
                                      <p:cBhvr>
                                        <p:cTn id="38" dur="500"/>
                                        <p:tgtEl>
                                          <p:spTgt spid="15"/>
                                        </p:tgtEl>
                                      </p:cBhvr>
                                    </p:animEffect>
                                  </p:childTnLst>
                                </p:cTn>
                              </p:par>
                            </p:childTnLst>
                          </p:cTn>
                        </p:par>
                        <p:par>
                          <p:cTn id="39" fill="hold">
                            <p:stCondLst>
                              <p:cond delay="6500"/>
                            </p:stCondLst>
                            <p:childTnLst>
                              <p:par>
                                <p:cTn id="40" presetID="10" presetClass="entr" presetSubtype="0" fill="hold" grpId="0" nodeType="after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11" grpId="0" animBg="1"/>
      <p:bldP spid="12" grpId="0" animBg="1"/>
      <p:bldP spid="13" grpId="0" animBg="1"/>
      <p:bldP spid="14" grpId="0" animBg="1"/>
      <p:bldP spid="15" grpId="0" animBg="1"/>
      <p:bldP spid="16"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agen 9">
            <a:extLst>
              <a:ext uri="{FF2B5EF4-FFF2-40B4-BE49-F238E27FC236}">
                <a16:creationId xmlns:a16="http://schemas.microsoft.com/office/drawing/2014/main" id="{DD595D4C-B59C-4292-BFD4-9597F8BC6EE9}"/>
              </a:ext>
            </a:extLst>
          </p:cNvPr>
          <p:cNvPicPr>
            <a:picLocks noChangeAspect="1"/>
          </p:cNvPicPr>
          <p:nvPr/>
        </p:nvPicPr>
        <p:blipFill>
          <a:blip r:embed="rId2"/>
          <a:stretch>
            <a:fillRect/>
          </a:stretch>
        </p:blipFill>
        <p:spPr>
          <a:xfrm>
            <a:off x="535709" y="891808"/>
            <a:ext cx="11360728" cy="5183964"/>
          </a:xfrm>
          <a:prstGeom prst="rect">
            <a:avLst/>
          </a:prstGeom>
        </p:spPr>
      </p:pic>
      <p:pic>
        <p:nvPicPr>
          <p:cNvPr id="3" name="Imagen 2">
            <a:extLst>
              <a:ext uri="{FF2B5EF4-FFF2-40B4-BE49-F238E27FC236}">
                <a16:creationId xmlns:a16="http://schemas.microsoft.com/office/drawing/2014/main" id="{7CAB2B86-4E3B-C98C-411E-958BEFE187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2528" y="6154887"/>
            <a:ext cx="2234242" cy="525923"/>
          </a:xfrm>
          <a:prstGeom prst="rect">
            <a:avLst/>
          </a:prstGeom>
        </p:spPr>
      </p:pic>
      <p:pic>
        <p:nvPicPr>
          <p:cNvPr id="4" name="Picture 4" descr="Ellucian Student Reseñas 2026: Detalles, Precios y Características | G2">
            <a:extLst>
              <a:ext uri="{FF2B5EF4-FFF2-40B4-BE49-F238E27FC236}">
                <a16:creationId xmlns:a16="http://schemas.microsoft.com/office/drawing/2014/main" id="{7352B780-8C7C-7B91-F3EE-5E6EF2C2E46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98101" y="5901780"/>
            <a:ext cx="1821371" cy="956220"/>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0AEBA78F-8C98-5D4D-384F-95B753FFADE4}"/>
              </a:ext>
            </a:extLst>
          </p:cNvPr>
          <p:cNvSpPr txBox="1"/>
          <p:nvPr/>
        </p:nvSpPr>
        <p:spPr>
          <a:xfrm>
            <a:off x="431320" y="241540"/>
            <a:ext cx="6789038" cy="523220"/>
          </a:xfrm>
          <a:prstGeom prst="rect">
            <a:avLst/>
          </a:prstGeom>
          <a:noFill/>
        </p:spPr>
        <p:txBody>
          <a:bodyPr wrap="none" rtlCol="0">
            <a:spAutoFit/>
          </a:bodyPr>
          <a:lstStyle/>
          <a:p>
            <a:r>
              <a:rPr lang="es-ES" sz="2800" b="1" dirty="0">
                <a:latin typeface="Montserrat" pitchFamily="2" charset="0"/>
              </a:rPr>
              <a:t>CONTROL DE PERIODO - SOATERM</a:t>
            </a:r>
            <a:endParaRPr lang="es-PE" sz="2800" b="1" dirty="0">
              <a:latin typeface="Montserrat" pitchFamily="2" charset="0"/>
            </a:endParaRPr>
          </a:p>
        </p:txBody>
      </p:sp>
      <p:sp>
        <p:nvSpPr>
          <p:cNvPr id="8" name="Rectángulo 7">
            <a:extLst>
              <a:ext uri="{FF2B5EF4-FFF2-40B4-BE49-F238E27FC236}">
                <a16:creationId xmlns:a16="http://schemas.microsoft.com/office/drawing/2014/main" id="{A16BCE08-E23C-F264-A6E3-E4019979D2E2}"/>
              </a:ext>
            </a:extLst>
          </p:cNvPr>
          <p:cNvSpPr/>
          <p:nvPr/>
        </p:nvSpPr>
        <p:spPr>
          <a:xfrm>
            <a:off x="7220358" y="241540"/>
            <a:ext cx="4971641" cy="445583"/>
          </a:xfrm>
          <a:prstGeom prst="rect">
            <a:avLst/>
          </a:prstGeom>
          <a:gradFill flip="none" rotWithShape="1">
            <a:gsLst>
              <a:gs pos="0">
                <a:schemeClr val="accent6">
                  <a:lumMod val="0"/>
                  <a:lumOff val="100000"/>
                </a:schemeClr>
              </a:gs>
              <a:gs pos="66000">
                <a:schemeClr val="accent6">
                  <a:lumMod val="100000"/>
                </a:schemeClr>
              </a:gs>
            </a:gsLst>
            <a:lin ang="0" scaled="1"/>
            <a:tileRect/>
          </a:gra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s-PE"/>
          </a:p>
        </p:txBody>
      </p:sp>
      <p:sp>
        <p:nvSpPr>
          <p:cNvPr id="6" name="CuadroTexto 5">
            <a:extLst>
              <a:ext uri="{FF2B5EF4-FFF2-40B4-BE49-F238E27FC236}">
                <a16:creationId xmlns:a16="http://schemas.microsoft.com/office/drawing/2014/main" id="{AC33DC36-253A-547B-7A30-A152C2F6B4CE}"/>
              </a:ext>
            </a:extLst>
          </p:cNvPr>
          <p:cNvSpPr txBox="1"/>
          <p:nvPr/>
        </p:nvSpPr>
        <p:spPr>
          <a:xfrm>
            <a:off x="4528936" y="6386396"/>
            <a:ext cx="3134128" cy="276999"/>
          </a:xfrm>
          <a:prstGeom prst="rect">
            <a:avLst/>
          </a:prstGeom>
          <a:noFill/>
        </p:spPr>
        <p:txBody>
          <a:bodyPr wrap="none" rtlCol="0">
            <a:spAutoFit/>
          </a:bodyPr>
          <a:lstStyle/>
          <a:p>
            <a:pPr algn="ctr"/>
            <a:r>
              <a:rPr lang="es-ES" sz="1200" i="1" dirty="0"/>
              <a:t>Elaborado por: Ing. Liliana Ocampo Moreno</a:t>
            </a:r>
            <a:endParaRPr lang="es-PE" sz="1200" i="1" dirty="0"/>
          </a:p>
        </p:txBody>
      </p:sp>
      <p:sp>
        <p:nvSpPr>
          <p:cNvPr id="9" name="Rectángulo 8">
            <a:extLst>
              <a:ext uri="{FF2B5EF4-FFF2-40B4-BE49-F238E27FC236}">
                <a16:creationId xmlns:a16="http://schemas.microsoft.com/office/drawing/2014/main" id="{2C4C0435-06E7-CEA4-1072-B44FA68ECECF}"/>
              </a:ext>
            </a:extLst>
          </p:cNvPr>
          <p:cNvSpPr/>
          <p:nvPr/>
        </p:nvSpPr>
        <p:spPr>
          <a:xfrm>
            <a:off x="1366982" y="1705192"/>
            <a:ext cx="1183360" cy="224286"/>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17" name="Rectángulo: esquinas redondeadas 16">
            <a:extLst>
              <a:ext uri="{FF2B5EF4-FFF2-40B4-BE49-F238E27FC236}">
                <a16:creationId xmlns:a16="http://schemas.microsoft.com/office/drawing/2014/main" id="{85D5226B-D38B-5584-2EC1-5EC301D891D5}"/>
              </a:ext>
            </a:extLst>
          </p:cNvPr>
          <p:cNvSpPr/>
          <p:nvPr/>
        </p:nvSpPr>
        <p:spPr>
          <a:xfrm>
            <a:off x="2679088" y="1733942"/>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t>1</a:t>
            </a:r>
            <a:endParaRPr lang="es-PE" sz="1100" b="1" dirty="0"/>
          </a:p>
        </p:txBody>
      </p:sp>
      <p:sp>
        <p:nvSpPr>
          <p:cNvPr id="18" name="CuadroTexto 17">
            <a:hlinkClick r:id="rId5" action="ppaction://hlinksldjump"/>
            <a:extLst>
              <a:ext uri="{FF2B5EF4-FFF2-40B4-BE49-F238E27FC236}">
                <a16:creationId xmlns:a16="http://schemas.microsoft.com/office/drawing/2014/main" id="{E5C8AAD3-E8F8-9FEE-A43B-50453B5CFE41}"/>
              </a:ext>
            </a:extLst>
          </p:cNvPr>
          <p:cNvSpPr txBox="1"/>
          <p:nvPr/>
        </p:nvSpPr>
        <p:spPr>
          <a:xfrm>
            <a:off x="2213282" y="2006387"/>
            <a:ext cx="2561918" cy="1150858"/>
          </a:xfrm>
          <a:prstGeom prst="roundRect">
            <a:avLst>
              <a:gd name="adj" fmla="val 7573"/>
            </a:avLst>
          </a:prstGeom>
          <a:solidFill>
            <a:srgbClr val="7030A0"/>
          </a:solidFill>
        </p:spPr>
        <p:txBody>
          <a:bodyPr wrap="square">
            <a:spAutoFit/>
          </a:bodyPr>
          <a:lstStyle/>
          <a:p>
            <a:pPr algn="ctr"/>
            <a:r>
              <a:rPr lang="es-ES" sz="1100" dirty="0">
                <a:solidFill>
                  <a:srgbClr val="FFFFFF"/>
                </a:solidFill>
              </a:rPr>
              <a:t>Para cada período académico se debe indicar el número con el cual iniciará la secuencia del NRC (número de referencia de curso).</a:t>
            </a:r>
          </a:p>
          <a:p>
            <a:pPr algn="ctr"/>
            <a:r>
              <a:rPr lang="es-ES" sz="1100" b="1" dirty="0">
                <a:solidFill>
                  <a:srgbClr val="FFFFFF"/>
                </a:solidFill>
              </a:rPr>
              <a:t>Ingresar 1000.</a:t>
            </a:r>
          </a:p>
          <a:p>
            <a:pPr algn="ctr"/>
            <a:r>
              <a:rPr lang="es-ES" sz="1100" dirty="0">
                <a:solidFill>
                  <a:srgbClr val="FFFFFF"/>
                </a:solidFill>
              </a:rPr>
              <a:t>(Requerido).</a:t>
            </a:r>
            <a:endParaRPr lang="es-ES" b="0" dirty="0">
              <a:effectLst/>
            </a:endParaRPr>
          </a:p>
        </p:txBody>
      </p:sp>
    </p:spTree>
    <p:extLst>
      <p:ext uri="{BB962C8B-B14F-4D97-AF65-F5344CB8AC3E}">
        <p14:creationId xmlns:p14="http://schemas.microsoft.com/office/powerpoint/2010/main" val="3036645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left)">
                                      <p:cBhvr>
                                        <p:cTn id="10" dur="500"/>
                                        <p:tgtEl>
                                          <p:spTgt spid="8"/>
                                        </p:tgtEl>
                                      </p:cBhvr>
                                    </p:animEffect>
                                  </p:childTnLst>
                                </p:cTn>
                              </p:par>
                            </p:childTnLst>
                          </p:cTn>
                        </p:par>
                        <p:par>
                          <p:cTn id="11" fill="hold">
                            <p:stCondLst>
                              <p:cond delay="500"/>
                            </p:stCondLst>
                            <p:childTnLst>
                              <p:par>
                                <p:cTn id="12" presetID="9" presetClass="entr" presetSubtype="0" fill="hold" nodeType="after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dissolve">
                                      <p:cBhvr>
                                        <p:cTn id="14" dur="500"/>
                                        <p:tgtEl>
                                          <p:spTgt spid="10"/>
                                        </p:tgtEl>
                                      </p:cBhvr>
                                    </p:animEffect>
                                  </p:childTnLst>
                                </p:cTn>
                              </p:par>
                            </p:childTnLst>
                          </p:cTn>
                        </p:par>
                        <p:par>
                          <p:cTn id="15" fill="hold">
                            <p:stCondLst>
                              <p:cond delay="1000"/>
                            </p:stCondLst>
                            <p:childTnLst>
                              <p:par>
                                <p:cTn id="16" presetID="21" presetClass="entr" presetSubtype="1" fill="hold" grpId="0" nodeType="after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wheel(1)">
                                      <p:cBhvr>
                                        <p:cTn id="18" dur="2000"/>
                                        <p:tgtEl>
                                          <p:spTgt spid="9"/>
                                        </p:tgtEl>
                                      </p:cBhvr>
                                    </p:animEffect>
                                  </p:childTnLst>
                                </p:cTn>
                              </p:par>
                            </p:childTnLst>
                          </p:cTn>
                        </p:par>
                        <p:par>
                          <p:cTn id="19" fill="hold">
                            <p:stCondLst>
                              <p:cond delay="3000"/>
                            </p:stCondLst>
                            <p:childTnLst>
                              <p:par>
                                <p:cTn id="20" presetID="53" presetClass="entr" presetSubtype="16" fill="hold" grpId="0" nodeType="afterEffect">
                                  <p:stCondLst>
                                    <p:cond delay="0"/>
                                  </p:stCondLst>
                                  <p:childTnLst>
                                    <p:set>
                                      <p:cBhvr>
                                        <p:cTn id="21" dur="1" fill="hold">
                                          <p:stCondLst>
                                            <p:cond delay="0"/>
                                          </p:stCondLst>
                                        </p:cTn>
                                        <p:tgtEl>
                                          <p:spTgt spid="17"/>
                                        </p:tgtEl>
                                        <p:attrNameLst>
                                          <p:attrName>style.visibility</p:attrName>
                                        </p:attrNameLst>
                                      </p:cBhvr>
                                      <p:to>
                                        <p:strVal val="visible"/>
                                      </p:to>
                                    </p:set>
                                    <p:anim calcmode="lin" valueType="num">
                                      <p:cBhvr>
                                        <p:cTn id="22" dur="500" fill="hold"/>
                                        <p:tgtEl>
                                          <p:spTgt spid="17"/>
                                        </p:tgtEl>
                                        <p:attrNameLst>
                                          <p:attrName>ppt_w</p:attrName>
                                        </p:attrNameLst>
                                      </p:cBhvr>
                                      <p:tavLst>
                                        <p:tav tm="0">
                                          <p:val>
                                            <p:fltVal val="0"/>
                                          </p:val>
                                        </p:tav>
                                        <p:tav tm="100000">
                                          <p:val>
                                            <p:strVal val="#ppt_w"/>
                                          </p:val>
                                        </p:tav>
                                      </p:tavLst>
                                    </p:anim>
                                    <p:anim calcmode="lin" valueType="num">
                                      <p:cBhvr>
                                        <p:cTn id="23" dur="500" fill="hold"/>
                                        <p:tgtEl>
                                          <p:spTgt spid="17"/>
                                        </p:tgtEl>
                                        <p:attrNameLst>
                                          <p:attrName>ppt_h</p:attrName>
                                        </p:attrNameLst>
                                      </p:cBhvr>
                                      <p:tavLst>
                                        <p:tav tm="0">
                                          <p:val>
                                            <p:fltVal val="0"/>
                                          </p:val>
                                        </p:tav>
                                        <p:tav tm="100000">
                                          <p:val>
                                            <p:strVal val="#ppt_h"/>
                                          </p:val>
                                        </p:tav>
                                      </p:tavLst>
                                    </p:anim>
                                    <p:animEffect transition="in" filter="fade">
                                      <p:cBhvr>
                                        <p:cTn id="24" dur="500"/>
                                        <p:tgtEl>
                                          <p:spTgt spid="17"/>
                                        </p:tgtEl>
                                      </p:cBhvr>
                                    </p:animEffect>
                                  </p:childTnLst>
                                </p:cTn>
                              </p:par>
                            </p:childTnLst>
                          </p:cTn>
                        </p:par>
                        <p:par>
                          <p:cTn id="25" fill="hold">
                            <p:stCondLst>
                              <p:cond delay="3500"/>
                            </p:stCondLst>
                            <p:childTnLst>
                              <p:par>
                                <p:cTn id="26" presetID="10" presetClass="entr" presetSubtype="0" fill="hold" grpId="0" nodeType="after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fade">
                                      <p:cBhvr>
                                        <p:cTn id="28"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9" grpId="0" animBg="1"/>
      <p:bldP spid="17" grpId="0" animBg="1"/>
      <p:bldP spid="18"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Imagen 16">
            <a:extLst>
              <a:ext uri="{FF2B5EF4-FFF2-40B4-BE49-F238E27FC236}">
                <a16:creationId xmlns:a16="http://schemas.microsoft.com/office/drawing/2014/main" id="{27583E78-B566-42F5-8301-F4B4F27C8BCF}"/>
              </a:ext>
            </a:extLst>
          </p:cNvPr>
          <p:cNvPicPr>
            <a:picLocks noChangeAspect="1"/>
          </p:cNvPicPr>
          <p:nvPr/>
        </p:nvPicPr>
        <p:blipFill>
          <a:blip r:embed="rId2"/>
          <a:stretch>
            <a:fillRect/>
          </a:stretch>
        </p:blipFill>
        <p:spPr>
          <a:xfrm>
            <a:off x="535709" y="891808"/>
            <a:ext cx="11360728" cy="5183964"/>
          </a:xfrm>
          <a:prstGeom prst="rect">
            <a:avLst/>
          </a:prstGeom>
        </p:spPr>
      </p:pic>
      <p:pic>
        <p:nvPicPr>
          <p:cNvPr id="3" name="Imagen 2">
            <a:extLst>
              <a:ext uri="{FF2B5EF4-FFF2-40B4-BE49-F238E27FC236}">
                <a16:creationId xmlns:a16="http://schemas.microsoft.com/office/drawing/2014/main" id="{7CAB2B86-4E3B-C98C-411E-958BEFE187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2528" y="6154887"/>
            <a:ext cx="2234242" cy="525923"/>
          </a:xfrm>
          <a:prstGeom prst="rect">
            <a:avLst/>
          </a:prstGeom>
        </p:spPr>
      </p:pic>
      <p:pic>
        <p:nvPicPr>
          <p:cNvPr id="4" name="Picture 4" descr="Ellucian Student Reseñas 2026: Detalles, Precios y Características | G2">
            <a:extLst>
              <a:ext uri="{FF2B5EF4-FFF2-40B4-BE49-F238E27FC236}">
                <a16:creationId xmlns:a16="http://schemas.microsoft.com/office/drawing/2014/main" id="{7352B780-8C7C-7B91-F3EE-5E6EF2C2E46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98101" y="5901780"/>
            <a:ext cx="1821371" cy="956220"/>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0AEBA78F-8C98-5D4D-384F-95B753FFADE4}"/>
              </a:ext>
            </a:extLst>
          </p:cNvPr>
          <p:cNvSpPr txBox="1"/>
          <p:nvPr/>
        </p:nvSpPr>
        <p:spPr>
          <a:xfrm>
            <a:off x="431320" y="241540"/>
            <a:ext cx="6789038" cy="523220"/>
          </a:xfrm>
          <a:prstGeom prst="rect">
            <a:avLst/>
          </a:prstGeom>
          <a:noFill/>
        </p:spPr>
        <p:txBody>
          <a:bodyPr wrap="none" rtlCol="0">
            <a:spAutoFit/>
          </a:bodyPr>
          <a:lstStyle/>
          <a:p>
            <a:r>
              <a:rPr lang="es-ES" sz="2800" b="1" dirty="0">
                <a:latin typeface="Montserrat" pitchFamily="2" charset="0"/>
              </a:rPr>
              <a:t>CONTROL DE PERIODO - SOATERM</a:t>
            </a:r>
            <a:endParaRPr lang="es-PE" sz="2800" b="1" dirty="0">
              <a:latin typeface="Montserrat" pitchFamily="2" charset="0"/>
            </a:endParaRPr>
          </a:p>
        </p:txBody>
      </p:sp>
      <p:sp>
        <p:nvSpPr>
          <p:cNvPr id="8" name="Rectángulo 7">
            <a:extLst>
              <a:ext uri="{FF2B5EF4-FFF2-40B4-BE49-F238E27FC236}">
                <a16:creationId xmlns:a16="http://schemas.microsoft.com/office/drawing/2014/main" id="{A16BCE08-E23C-F264-A6E3-E4019979D2E2}"/>
              </a:ext>
            </a:extLst>
          </p:cNvPr>
          <p:cNvSpPr/>
          <p:nvPr/>
        </p:nvSpPr>
        <p:spPr>
          <a:xfrm>
            <a:off x="7220358" y="241540"/>
            <a:ext cx="4971641" cy="445583"/>
          </a:xfrm>
          <a:prstGeom prst="rect">
            <a:avLst/>
          </a:prstGeom>
          <a:gradFill flip="none" rotWithShape="1">
            <a:gsLst>
              <a:gs pos="0">
                <a:schemeClr val="accent6">
                  <a:lumMod val="0"/>
                  <a:lumOff val="100000"/>
                </a:schemeClr>
              </a:gs>
              <a:gs pos="66000">
                <a:schemeClr val="accent6">
                  <a:lumMod val="100000"/>
                </a:schemeClr>
              </a:gs>
            </a:gsLst>
            <a:lin ang="0" scaled="1"/>
            <a:tileRect/>
          </a:gra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s-PE"/>
          </a:p>
        </p:txBody>
      </p:sp>
      <p:sp>
        <p:nvSpPr>
          <p:cNvPr id="6" name="CuadroTexto 5">
            <a:extLst>
              <a:ext uri="{FF2B5EF4-FFF2-40B4-BE49-F238E27FC236}">
                <a16:creationId xmlns:a16="http://schemas.microsoft.com/office/drawing/2014/main" id="{AC33DC36-253A-547B-7A30-A152C2F6B4CE}"/>
              </a:ext>
            </a:extLst>
          </p:cNvPr>
          <p:cNvSpPr txBox="1"/>
          <p:nvPr/>
        </p:nvSpPr>
        <p:spPr>
          <a:xfrm>
            <a:off x="4528936" y="6386396"/>
            <a:ext cx="3134128" cy="276999"/>
          </a:xfrm>
          <a:prstGeom prst="rect">
            <a:avLst/>
          </a:prstGeom>
          <a:noFill/>
        </p:spPr>
        <p:txBody>
          <a:bodyPr wrap="none" rtlCol="0">
            <a:spAutoFit/>
          </a:bodyPr>
          <a:lstStyle/>
          <a:p>
            <a:pPr algn="ctr"/>
            <a:r>
              <a:rPr lang="es-ES" sz="1200" i="1" dirty="0"/>
              <a:t>Elaborado por: Ing. Liliana Ocampo Moreno</a:t>
            </a:r>
            <a:endParaRPr lang="es-PE" sz="1200" i="1" dirty="0"/>
          </a:p>
        </p:txBody>
      </p:sp>
      <p:sp>
        <p:nvSpPr>
          <p:cNvPr id="2" name="Rectángulo 1">
            <a:extLst>
              <a:ext uri="{FF2B5EF4-FFF2-40B4-BE49-F238E27FC236}">
                <a16:creationId xmlns:a16="http://schemas.microsoft.com/office/drawing/2014/main" id="{9D79D7DE-2430-D50F-0E4E-CF6FAA48B37C}"/>
              </a:ext>
            </a:extLst>
          </p:cNvPr>
          <p:cNvSpPr/>
          <p:nvPr/>
        </p:nvSpPr>
        <p:spPr>
          <a:xfrm>
            <a:off x="1325914" y="2295256"/>
            <a:ext cx="1152000" cy="158233"/>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9" name="Rectángulo: esquinas redondeadas 8">
            <a:extLst>
              <a:ext uri="{FF2B5EF4-FFF2-40B4-BE49-F238E27FC236}">
                <a16:creationId xmlns:a16="http://schemas.microsoft.com/office/drawing/2014/main" id="{02F1A2AE-AC9B-ACBB-254C-873B4F62AF4F}"/>
              </a:ext>
            </a:extLst>
          </p:cNvPr>
          <p:cNvSpPr/>
          <p:nvPr/>
        </p:nvSpPr>
        <p:spPr>
          <a:xfrm>
            <a:off x="2579501" y="2231885"/>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t>2</a:t>
            </a:r>
            <a:endParaRPr lang="es-PE" sz="1100" b="1" dirty="0"/>
          </a:p>
        </p:txBody>
      </p:sp>
      <p:sp>
        <p:nvSpPr>
          <p:cNvPr id="10" name="CuadroTexto 9">
            <a:hlinkClick r:id="rId5" action="ppaction://hlinksldjump"/>
            <a:extLst>
              <a:ext uri="{FF2B5EF4-FFF2-40B4-BE49-F238E27FC236}">
                <a16:creationId xmlns:a16="http://schemas.microsoft.com/office/drawing/2014/main" id="{CF4D0D8C-2F3D-20F6-2A3A-256B2583FCD1}"/>
              </a:ext>
            </a:extLst>
          </p:cNvPr>
          <p:cNvSpPr txBox="1"/>
          <p:nvPr/>
        </p:nvSpPr>
        <p:spPr>
          <a:xfrm>
            <a:off x="2867094" y="1666017"/>
            <a:ext cx="6039022" cy="799207"/>
          </a:xfrm>
          <a:prstGeom prst="roundRect">
            <a:avLst>
              <a:gd name="adj" fmla="val 7573"/>
            </a:avLst>
          </a:prstGeom>
          <a:solidFill>
            <a:srgbClr val="7030A0"/>
          </a:solidFill>
        </p:spPr>
        <p:txBody>
          <a:bodyPr wrap="square">
            <a:spAutoFit/>
          </a:bodyPr>
          <a:lstStyle/>
          <a:p>
            <a:pPr algn="ctr"/>
            <a:r>
              <a:rPr lang="es-ES" sz="1100" dirty="0">
                <a:solidFill>
                  <a:srgbClr val="FFFFFF"/>
                </a:solidFill>
              </a:rPr>
              <a:t>Permite que los cursos en progreso del periodo actual sean considerados como aprobados temporalmente para cumplir prerrequisitos. Una vez que el curso recibe una calificación, deja de considerarse “en progreso” y Banner verifica nuevamente el cumplimiento del prerrequisito según las reglas definidas en SSAPREQ. </a:t>
            </a:r>
            <a:r>
              <a:rPr lang="es-ES" sz="1100" b="1" dirty="0">
                <a:solidFill>
                  <a:srgbClr val="FFFFFF"/>
                </a:solidFill>
              </a:rPr>
              <a:t>No marcar.</a:t>
            </a:r>
            <a:endParaRPr lang="es-ES" b="1" dirty="0">
              <a:effectLst/>
            </a:endParaRPr>
          </a:p>
        </p:txBody>
      </p:sp>
      <p:sp>
        <p:nvSpPr>
          <p:cNvPr id="11" name="Rectángulo 10">
            <a:extLst>
              <a:ext uri="{FF2B5EF4-FFF2-40B4-BE49-F238E27FC236}">
                <a16:creationId xmlns:a16="http://schemas.microsoft.com/office/drawing/2014/main" id="{0CB587A0-EFC3-5CE0-B0B5-89D493B84A02}"/>
              </a:ext>
            </a:extLst>
          </p:cNvPr>
          <p:cNvSpPr/>
          <p:nvPr/>
        </p:nvSpPr>
        <p:spPr>
          <a:xfrm>
            <a:off x="1325914" y="2475768"/>
            <a:ext cx="1152000" cy="158233"/>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12" name="Rectángulo: esquinas redondeadas 11">
            <a:extLst>
              <a:ext uri="{FF2B5EF4-FFF2-40B4-BE49-F238E27FC236}">
                <a16:creationId xmlns:a16="http://schemas.microsoft.com/office/drawing/2014/main" id="{C06B5836-8E91-38F7-91DE-695FE3E5FB4A}"/>
              </a:ext>
            </a:extLst>
          </p:cNvPr>
          <p:cNvSpPr/>
          <p:nvPr/>
        </p:nvSpPr>
        <p:spPr>
          <a:xfrm>
            <a:off x="2579501" y="2484821"/>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t>3</a:t>
            </a:r>
            <a:endParaRPr lang="es-PE" sz="1100" b="1" dirty="0"/>
          </a:p>
        </p:txBody>
      </p:sp>
      <p:sp>
        <p:nvSpPr>
          <p:cNvPr id="13" name="CuadroTexto 12">
            <a:hlinkClick r:id="rId5" action="ppaction://hlinksldjump"/>
            <a:extLst>
              <a:ext uri="{FF2B5EF4-FFF2-40B4-BE49-F238E27FC236}">
                <a16:creationId xmlns:a16="http://schemas.microsoft.com/office/drawing/2014/main" id="{5AD8B01E-07B9-8B8B-B3F0-B983C5987005}"/>
              </a:ext>
            </a:extLst>
          </p:cNvPr>
          <p:cNvSpPr txBox="1"/>
          <p:nvPr/>
        </p:nvSpPr>
        <p:spPr>
          <a:xfrm>
            <a:off x="2867094" y="2507427"/>
            <a:ext cx="6039022" cy="447556"/>
          </a:xfrm>
          <a:prstGeom prst="roundRect">
            <a:avLst>
              <a:gd name="adj" fmla="val 7573"/>
            </a:avLst>
          </a:prstGeom>
          <a:solidFill>
            <a:srgbClr val="7030A0"/>
          </a:solidFill>
        </p:spPr>
        <p:txBody>
          <a:bodyPr wrap="square">
            <a:spAutoFit/>
          </a:bodyPr>
          <a:lstStyle/>
          <a:p>
            <a:pPr algn="ctr"/>
            <a:r>
              <a:rPr lang="es-ES" sz="1100" dirty="0">
                <a:solidFill>
                  <a:srgbClr val="FFFFFF"/>
                </a:solidFill>
              </a:rPr>
              <a:t>Para un periodo académico regular donde los estudiantes deben matricularse/inscribirse, normalmente debe estar habilitado. </a:t>
            </a:r>
            <a:r>
              <a:rPr lang="es-ES" sz="1100" b="1" dirty="0">
                <a:solidFill>
                  <a:srgbClr val="FFFFFF"/>
                </a:solidFill>
              </a:rPr>
              <a:t>Marcar.</a:t>
            </a:r>
            <a:endParaRPr lang="es-ES" b="1" dirty="0">
              <a:effectLst/>
            </a:endParaRPr>
          </a:p>
        </p:txBody>
      </p:sp>
      <p:sp>
        <p:nvSpPr>
          <p:cNvPr id="14" name="Rectángulo 13">
            <a:extLst>
              <a:ext uri="{FF2B5EF4-FFF2-40B4-BE49-F238E27FC236}">
                <a16:creationId xmlns:a16="http://schemas.microsoft.com/office/drawing/2014/main" id="{C33013EC-1333-98A3-9931-7092FE28359A}"/>
              </a:ext>
            </a:extLst>
          </p:cNvPr>
          <p:cNvSpPr/>
          <p:nvPr/>
        </p:nvSpPr>
        <p:spPr>
          <a:xfrm>
            <a:off x="1325914" y="2746315"/>
            <a:ext cx="1152000" cy="158233"/>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15" name="Rectángulo: esquinas redondeadas 14">
            <a:extLst>
              <a:ext uri="{FF2B5EF4-FFF2-40B4-BE49-F238E27FC236}">
                <a16:creationId xmlns:a16="http://schemas.microsoft.com/office/drawing/2014/main" id="{8736077D-5A76-C315-2374-6360B07D3AFD}"/>
              </a:ext>
            </a:extLst>
          </p:cNvPr>
          <p:cNvSpPr/>
          <p:nvPr/>
        </p:nvSpPr>
        <p:spPr>
          <a:xfrm>
            <a:off x="1794084" y="2965972"/>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t>4</a:t>
            </a:r>
            <a:endParaRPr lang="es-PE" sz="1100" b="1" dirty="0"/>
          </a:p>
        </p:txBody>
      </p:sp>
      <p:sp>
        <p:nvSpPr>
          <p:cNvPr id="18" name="CuadroTexto 17">
            <a:hlinkClick r:id="rId5" action="ppaction://hlinksldjump"/>
            <a:extLst>
              <a:ext uri="{FF2B5EF4-FFF2-40B4-BE49-F238E27FC236}">
                <a16:creationId xmlns:a16="http://schemas.microsoft.com/office/drawing/2014/main" id="{5A7BEDD4-A360-8653-4164-910AFD3B7D60}"/>
              </a:ext>
            </a:extLst>
          </p:cNvPr>
          <p:cNvSpPr txBox="1"/>
          <p:nvPr/>
        </p:nvSpPr>
        <p:spPr>
          <a:xfrm>
            <a:off x="1140666" y="3233324"/>
            <a:ext cx="2532208" cy="1502509"/>
          </a:xfrm>
          <a:prstGeom prst="roundRect">
            <a:avLst>
              <a:gd name="adj" fmla="val 7573"/>
            </a:avLst>
          </a:prstGeom>
          <a:solidFill>
            <a:srgbClr val="7030A0"/>
          </a:solidFill>
        </p:spPr>
        <p:txBody>
          <a:bodyPr wrap="square">
            <a:spAutoFit/>
          </a:bodyPr>
          <a:lstStyle/>
          <a:p>
            <a:pPr algn="ctr"/>
            <a:r>
              <a:rPr lang="es-ES" sz="1100" dirty="0">
                <a:solidFill>
                  <a:srgbClr val="FFFFFF"/>
                </a:solidFill>
              </a:rPr>
              <a:t>Se utiliza para calcular y actualizar automáticamente el estado de las horas académicas del estudiante. Para cursos de acreditación, no se recomienda marcarlo si estos no generan ni acumulan créditos académicos en el historial del estudiante. </a:t>
            </a:r>
            <a:r>
              <a:rPr lang="es-ES" sz="1100" b="1" dirty="0">
                <a:solidFill>
                  <a:srgbClr val="FFFFFF"/>
                </a:solidFill>
              </a:rPr>
              <a:t>No marcar.</a:t>
            </a:r>
            <a:endParaRPr lang="es-ES" b="1" dirty="0">
              <a:effectLst/>
            </a:endParaRPr>
          </a:p>
        </p:txBody>
      </p:sp>
    </p:spTree>
    <p:extLst>
      <p:ext uri="{BB962C8B-B14F-4D97-AF65-F5344CB8AC3E}">
        <p14:creationId xmlns:p14="http://schemas.microsoft.com/office/powerpoint/2010/main" val="3028232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2000"/>
                                        <p:tgtEl>
                                          <p:spTgt spid="2"/>
                                        </p:tgtEl>
                                      </p:cBhvr>
                                    </p:animEffect>
                                  </p:childTnLst>
                                </p:cTn>
                              </p:par>
                            </p:childTnLst>
                          </p:cTn>
                        </p:par>
                        <p:par>
                          <p:cTn id="8" fill="hold">
                            <p:stCondLst>
                              <p:cond delay="2000"/>
                            </p:stCondLst>
                            <p:childTnLst>
                              <p:par>
                                <p:cTn id="9" presetID="53" presetClass="entr" presetSubtype="16"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p:cTn id="11" dur="500" fill="hold"/>
                                        <p:tgtEl>
                                          <p:spTgt spid="9"/>
                                        </p:tgtEl>
                                        <p:attrNameLst>
                                          <p:attrName>ppt_w</p:attrName>
                                        </p:attrNameLst>
                                      </p:cBhvr>
                                      <p:tavLst>
                                        <p:tav tm="0">
                                          <p:val>
                                            <p:fltVal val="0"/>
                                          </p:val>
                                        </p:tav>
                                        <p:tav tm="100000">
                                          <p:val>
                                            <p:strVal val="#ppt_w"/>
                                          </p:val>
                                        </p:tav>
                                      </p:tavLst>
                                    </p:anim>
                                    <p:anim calcmode="lin" valueType="num">
                                      <p:cBhvr>
                                        <p:cTn id="12" dur="500" fill="hold"/>
                                        <p:tgtEl>
                                          <p:spTgt spid="9"/>
                                        </p:tgtEl>
                                        <p:attrNameLst>
                                          <p:attrName>ppt_h</p:attrName>
                                        </p:attrNameLst>
                                      </p:cBhvr>
                                      <p:tavLst>
                                        <p:tav tm="0">
                                          <p:val>
                                            <p:fltVal val="0"/>
                                          </p:val>
                                        </p:tav>
                                        <p:tav tm="100000">
                                          <p:val>
                                            <p:strVal val="#ppt_h"/>
                                          </p:val>
                                        </p:tav>
                                      </p:tavLst>
                                    </p:anim>
                                    <p:animEffect transition="in" filter="fade">
                                      <p:cBhvr>
                                        <p:cTn id="13" dur="500"/>
                                        <p:tgtEl>
                                          <p:spTgt spid="9"/>
                                        </p:tgtEl>
                                      </p:cBhvr>
                                    </p:animEffect>
                                  </p:childTnLst>
                                </p:cTn>
                              </p:par>
                            </p:childTnLst>
                          </p:cTn>
                        </p:par>
                        <p:par>
                          <p:cTn id="14" fill="hold">
                            <p:stCondLst>
                              <p:cond delay="2500"/>
                            </p:stCondLst>
                            <p:childTnLst>
                              <p:par>
                                <p:cTn id="15" presetID="10" presetClass="entr" presetSubtype="0" fill="hold" grpId="0" nodeType="after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par>
                          <p:cTn id="18" fill="hold">
                            <p:stCondLst>
                              <p:cond delay="3000"/>
                            </p:stCondLst>
                            <p:childTnLst>
                              <p:par>
                                <p:cTn id="19" presetID="21" presetClass="entr" presetSubtype="1" fill="hold" grpId="0" nodeType="after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wheel(1)">
                                      <p:cBhvr>
                                        <p:cTn id="21" dur="2000"/>
                                        <p:tgtEl>
                                          <p:spTgt spid="11"/>
                                        </p:tgtEl>
                                      </p:cBhvr>
                                    </p:animEffect>
                                  </p:childTnLst>
                                </p:cTn>
                              </p:par>
                            </p:childTnLst>
                          </p:cTn>
                        </p:par>
                        <p:par>
                          <p:cTn id="22" fill="hold">
                            <p:stCondLst>
                              <p:cond delay="5000"/>
                            </p:stCondLst>
                            <p:childTnLst>
                              <p:par>
                                <p:cTn id="23" presetID="53" presetClass="entr" presetSubtype="16" fill="hold" grpId="0" nodeType="afterEffect">
                                  <p:stCondLst>
                                    <p:cond delay="0"/>
                                  </p:stCondLst>
                                  <p:childTnLst>
                                    <p:set>
                                      <p:cBhvr>
                                        <p:cTn id="24" dur="1" fill="hold">
                                          <p:stCondLst>
                                            <p:cond delay="0"/>
                                          </p:stCondLst>
                                        </p:cTn>
                                        <p:tgtEl>
                                          <p:spTgt spid="12"/>
                                        </p:tgtEl>
                                        <p:attrNameLst>
                                          <p:attrName>style.visibility</p:attrName>
                                        </p:attrNameLst>
                                      </p:cBhvr>
                                      <p:to>
                                        <p:strVal val="visible"/>
                                      </p:to>
                                    </p:set>
                                    <p:anim calcmode="lin" valueType="num">
                                      <p:cBhvr>
                                        <p:cTn id="25" dur="500" fill="hold"/>
                                        <p:tgtEl>
                                          <p:spTgt spid="12"/>
                                        </p:tgtEl>
                                        <p:attrNameLst>
                                          <p:attrName>ppt_w</p:attrName>
                                        </p:attrNameLst>
                                      </p:cBhvr>
                                      <p:tavLst>
                                        <p:tav tm="0">
                                          <p:val>
                                            <p:fltVal val="0"/>
                                          </p:val>
                                        </p:tav>
                                        <p:tav tm="100000">
                                          <p:val>
                                            <p:strVal val="#ppt_w"/>
                                          </p:val>
                                        </p:tav>
                                      </p:tavLst>
                                    </p:anim>
                                    <p:anim calcmode="lin" valueType="num">
                                      <p:cBhvr>
                                        <p:cTn id="26" dur="500" fill="hold"/>
                                        <p:tgtEl>
                                          <p:spTgt spid="12"/>
                                        </p:tgtEl>
                                        <p:attrNameLst>
                                          <p:attrName>ppt_h</p:attrName>
                                        </p:attrNameLst>
                                      </p:cBhvr>
                                      <p:tavLst>
                                        <p:tav tm="0">
                                          <p:val>
                                            <p:fltVal val="0"/>
                                          </p:val>
                                        </p:tav>
                                        <p:tav tm="100000">
                                          <p:val>
                                            <p:strVal val="#ppt_h"/>
                                          </p:val>
                                        </p:tav>
                                      </p:tavLst>
                                    </p:anim>
                                    <p:animEffect transition="in" filter="fade">
                                      <p:cBhvr>
                                        <p:cTn id="27" dur="500"/>
                                        <p:tgtEl>
                                          <p:spTgt spid="12"/>
                                        </p:tgtEl>
                                      </p:cBhvr>
                                    </p:animEffect>
                                  </p:childTnLst>
                                </p:cTn>
                              </p:par>
                            </p:childTnLst>
                          </p:cTn>
                        </p:par>
                        <p:par>
                          <p:cTn id="28" fill="hold">
                            <p:stCondLst>
                              <p:cond delay="5500"/>
                            </p:stCondLst>
                            <p:childTnLst>
                              <p:par>
                                <p:cTn id="29" presetID="10" presetClass="entr" presetSubtype="0" fill="hold" grpId="0" nodeType="after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childTnLst>
                                </p:cTn>
                              </p:par>
                            </p:childTnLst>
                          </p:cTn>
                        </p:par>
                        <p:par>
                          <p:cTn id="32" fill="hold">
                            <p:stCondLst>
                              <p:cond delay="6000"/>
                            </p:stCondLst>
                            <p:childTnLst>
                              <p:par>
                                <p:cTn id="33" presetID="21" presetClass="entr" presetSubtype="1" fill="hold" grpId="0" nodeType="after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wheel(1)">
                                      <p:cBhvr>
                                        <p:cTn id="35" dur="2000"/>
                                        <p:tgtEl>
                                          <p:spTgt spid="14"/>
                                        </p:tgtEl>
                                      </p:cBhvr>
                                    </p:animEffect>
                                  </p:childTnLst>
                                </p:cTn>
                              </p:par>
                            </p:childTnLst>
                          </p:cTn>
                        </p:par>
                        <p:par>
                          <p:cTn id="36" fill="hold">
                            <p:stCondLst>
                              <p:cond delay="8000"/>
                            </p:stCondLst>
                            <p:childTnLst>
                              <p:par>
                                <p:cTn id="37" presetID="53" presetClass="entr" presetSubtype="16" fill="hold" grpId="0" nodeType="afterEffect">
                                  <p:stCondLst>
                                    <p:cond delay="0"/>
                                  </p:stCondLst>
                                  <p:childTnLst>
                                    <p:set>
                                      <p:cBhvr>
                                        <p:cTn id="38" dur="1" fill="hold">
                                          <p:stCondLst>
                                            <p:cond delay="0"/>
                                          </p:stCondLst>
                                        </p:cTn>
                                        <p:tgtEl>
                                          <p:spTgt spid="15"/>
                                        </p:tgtEl>
                                        <p:attrNameLst>
                                          <p:attrName>style.visibility</p:attrName>
                                        </p:attrNameLst>
                                      </p:cBhvr>
                                      <p:to>
                                        <p:strVal val="visible"/>
                                      </p:to>
                                    </p:set>
                                    <p:anim calcmode="lin" valueType="num">
                                      <p:cBhvr>
                                        <p:cTn id="39" dur="500" fill="hold"/>
                                        <p:tgtEl>
                                          <p:spTgt spid="15"/>
                                        </p:tgtEl>
                                        <p:attrNameLst>
                                          <p:attrName>ppt_w</p:attrName>
                                        </p:attrNameLst>
                                      </p:cBhvr>
                                      <p:tavLst>
                                        <p:tav tm="0">
                                          <p:val>
                                            <p:fltVal val="0"/>
                                          </p:val>
                                        </p:tav>
                                        <p:tav tm="100000">
                                          <p:val>
                                            <p:strVal val="#ppt_w"/>
                                          </p:val>
                                        </p:tav>
                                      </p:tavLst>
                                    </p:anim>
                                    <p:anim calcmode="lin" valueType="num">
                                      <p:cBhvr>
                                        <p:cTn id="40" dur="500" fill="hold"/>
                                        <p:tgtEl>
                                          <p:spTgt spid="15"/>
                                        </p:tgtEl>
                                        <p:attrNameLst>
                                          <p:attrName>ppt_h</p:attrName>
                                        </p:attrNameLst>
                                      </p:cBhvr>
                                      <p:tavLst>
                                        <p:tav tm="0">
                                          <p:val>
                                            <p:fltVal val="0"/>
                                          </p:val>
                                        </p:tav>
                                        <p:tav tm="100000">
                                          <p:val>
                                            <p:strVal val="#ppt_h"/>
                                          </p:val>
                                        </p:tav>
                                      </p:tavLst>
                                    </p:anim>
                                    <p:animEffect transition="in" filter="fade">
                                      <p:cBhvr>
                                        <p:cTn id="41" dur="500"/>
                                        <p:tgtEl>
                                          <p:spTgt spid="15"/>
                                        </p:tgtEl>
                                      </p:cBhvr>
                                    </p:animEffect>
                                  </p:childTnLst>
                                </p:cTn>
                              </p:par>
                            </p:childTnLst>
                          </p:cTn>
                        </p:par>
                        <p:par>
                          <p:cTn id="42" fill="hold">
                            <p:stCondLst>
                              <p:cond delay="8500"/>
                            </p:stCondLst>
                            <p:childTnLst>
                              <p:par>
                                <p:cTn id="43" presetID="10" presetClass="entr" presetSubtype="0" fill="hold" grpId="0" nodeType="afterEffect">
                                  <p:stCondLst>
                                    <p:cond delay="0"/>
                                  </p:stCondLst>
                                  <p:childTnLst>
                                    <p:set>
                                      <p:cBhvr>
                                        <p:cTn id="44" dur="1" fill="hold">
                                          <p:stCondLst>
                                            <p:cond delay="0"/>
                                          </p:stCondLst>
                                        </p:cTn>
                                        <p:tgtEl>
                                          <p:spTgt spid="18"/>
                                        </p:tgtEl>
                                        <p:attrNameLst>
                                          <p:attrName>style.visibility</p:attrName>
                                        </p:attrNameLst>
                                      </p:cBhvr>
                                      <p:to>
                                        <p:strVal val="visible"/>
                                      </p:to>
                                    </p:set>
                                    <p:animEffect transition="in" filter="fade">
                                      <p:cBhvr>
                                        <p:cTn id="45"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9" grpId="0" animBg="1"/>
      <p:bldP spid="10" grpId="0" animBg="1"/>
      <p:bldP spid="11" grpId="0" animBg="1"/>
      <p:bldP spid="12" grpId="0" animBg="1"/>
      <p:bldP spid="13" grpId="0" animBg="1"/>
      <p:bldP spid="14" grpId="0" animBg="1"/>
      <p:bldP spid="15" grpId="0" animBg="1"/>
      <p:bldP spid="18"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Imagen 17">
            <a:extLst>
              <a:ext uri="{FF2B5EF4-FFF2-40B4-BE49-F238E27FC236}">
                <a16:creationId xmlns:a16="http://schemas.microsoft.com/office/drawing/2014/main" id="{DE0D2920-D458-493A-B068-34456E9B3861}"/>
              </a:ext>
            </a:extLst>
          </p:cNvPr>
          <p:cNvPicPr>
            <a:picLocks noChangeAspect="1"/>
          </p:cNvPicPr>
          <p:nvPr/>
        </p:nvPicPr>
        <p:blipFill>
          <a:blip r:embed="rId2"/>
          <a:stretch>
            <a:fillRect/>
          </a:stretch>
        </p:blipFill>
        <p:spPr>
          <a:xfrm>
            <a:off x="535709" y="891808"/>
            <a:ext cx="11360728" cy="5183964"/>
          </a:xfrm>
          <a:prstGeom prst="rect">
            <a:avLst/>
          </a:prstGeom>
        </p:spPr>
      </p:pic>
      <p:pic>
        <p:nvPicPr>
          <p:cNvPr id="3" name="Imagen 2">
            <a:extLst>
              <a:ext uri="{FF2B5EF4-FFF2-40B4-BE49-F238E27FC236}">
                <a16:creationId xmlns:a16="http://schemas.microsoft.com/office/drawing/2014/main" id="{7CAB2B86-4E3B-C98C-411E-958BEFE187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2528" y="6154887"/>
            <a:ext cx="2234242" cy="525923"/>
          </a:xfrm>
          <a:prstGeom prst="rect">
            <a:avLst/>
          </a:prstGeom>
        </p:spPr>
      </p:pic>
      <p:pic>
        <p:nvPicPr>
          <p:cNvPr id="4" name="Picture 4" descr="Ellucian Student Reseñas 2026: Detalles, Precios y Características | G2">
            <a:extLst>
              <a:ext uri="{FF2B5EF4-FFF2-40B4-BE49-F238E27FC236}">
                <a16:creationId xmlns:a16="http://schemas.microsoft.com/office/drawing/2014/main" id="{7352B780-8C7C-7B91-F3EE-5E6EF2C2E46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98101" y="5901780"/>
            <a:ext cx="1821371" cy="956220"/>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0AEBA78F-8C98-5D4D-384F-95B753FFADE4}"/>
              </a:ext>
            </a:extLst>
          </p:cNvPr>
          <p:cNvSpPr txBox="1"/>
          <p:nvPr/>
        </p:nvSpPr>
        <p:spPr>
          <a:xfrm>
            <a:off x="431320" y="241540"/>
            <a:ext cx="6789038" cy="523220"/>
          </a:xfrm>
          <a:prstGeom prst="rect">
            <a:avLst/>
          </a:prstGeom>
          <a:noFill/>
        </p:spPr>
        <p:txBody>
          <a:bodyPr wrap="none" rtlCol="0">
            <a:spAutoFit/>
          </a:bodyPr>
          <a:lstStyle/>
          <a:p>
            <a:r>
              <a:rPr lang="es-ES" sz="2800" b="1" dirty="0">
                <a:latin typeface="Montserrat" pitchFamily="2" charset="0"/>
              </a:rPr>
              <a:t>CONTROL DE PERIODO - SOATERM</a:t>
            </a:r>
            <a:endParaRPr lang="es-PE" sz="2800" b="1" dirty="0">
              <a:latin typeface="Montserrat" pitchFamily="2" charset="0"/>
            </a:endParaRPr>
          </a:p>
        </p:txBody>
      </p:sp>
      <p:sp>
        <p:nvSpPr>
          <p:cNvPr id="8" name="Rectángulo 7">
            <a:extLst>
              <a:ext uri="{FF2B5EF4-FFF2-40B4-BE49-F238E27FC236}">
                <a16:creationId xmlns:a16="http://schemas.microsoft.com/office/drawing/2014/main" id="{A16BCE08-E23C-F264-A6E3-E4019979D2E2}"/>
              </a:ext>
            </a:extLst>
          </p:cNvPr>
          <p:cNvSpPr/>
          <p:nvPr/>
        </p:nvSpPr>
        <p:spPr>
          <a:xfrm>
            <a:off x="7220358" y="241540"/>
            <a:ext cx="4971641" cy="445583"/>
          </a:xfrm>
          <a:prstGeom prst="rect">
            <a:avLst/>
          </a:prstGeom>
          <a:gradFill flip="none" rotWithShape="1">
            <a:gsLst>
              <a:gs pos="0">
                <a:schemeClr val="accent6">
                  <a:lumMod val="0"/>
                  <a:lumOff val="100000"/>
                </a:schemeClr>
              </a:gs>
              <a:gs pos="66000">
                <a:schemeClr val="accent6">
                  <a:lumMod val="100000"/>
                </a:schemeClr>
              </a:gs>
            </a:gsLst>
            <a:lin ang="0" scaled="1"/>
            <a:tileRect/>
          </a:gra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s-PE"/>
          </a:p>
        </p:txBody>
      </p:sp>
      <p:sp>
        <p:nvSpPr>
          <p:cNvPr id="6" name="CuadroTexto 5">
            <a:extLst>
              <a:ext uri="{FF2B5EF4-FFF2-40B4-BE49-F238E27FC236}">
                <a16:creationId xmlns:a16="http://schemas.microsoft.com/office/drawing/2014/main" id="{AC33DC36-253A-547B-7A30-A152C2F6B4CE}"/>
              </a:ext>
            </a:extLst>
          </p:cNvPr>
          <p:cNvSpPr txBox="1"/>
          <p:nvPr/>
        </p:nvSpPr>
        <p:spPr>
          <a:xfrm>
            <a:off x="4528936" y="6386396"/>
            <a:ext cx="3134128" cy="276999"/>
          </a:xfrm>
          <a:prstGeom prst="rect">
            <a:avLst/>
          </a:prstGeom>
          <a:noFill/>
        </p:spPr>
        <p:txBody>
          <a:bodyPr wrap="none" rtlCol="0">
            <a:spAutoFit/>
          </a:bodyPr>
          <a:lstStyle/>
          <a:p>
            <a:pPr algn="ctr"/>
            <a:r>
              <a:rPr lang="es-ES" sz="1200" i="1" dirty="0"/>
              <a:t>Elaborado por: Ing. Liliana Ocampo Moreno</a:t>
            </a:r>
            <a:endParaRPr lang="es-PE" sz="1200" i="1" dirty="0"/>
          </a:p>
        </p:txBody>
      </p:sp>
      <p:sp>
        <p:nvSpPr>
          <p:cNvPr id="2" name="Rectángulo 1">
            <a:extLst>
              <a:ext uri="{FF2B5EF4-FFF2-40B4-BE49-F238E27FC236}">
                <a16:creationId xmlns:a16="http://schemas.microsoft.com/office/drawing/2014/main" id="{9D79D7DE-2430-D50F-0E4E-CF6FAA48B37C}"/>
              </a:ext>
            </a:extLst>
          </p:cNvPr>
          <p:cNvSpPr/>
          <p:nvPr/>
        </p:nvSpPr>
        <p:spPr>
          <a:xfrm>
            <a:off x="5055935" y="2295256"/>
            <a:ext cx="1368000" cy="158233"/>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9" name="Rectángulo: esquinas redondeadas 8">
            <a:extLst>
              <a:ext uri="{FF2B5EF4-FFF2-40B4-BE49-F238E27FC236}">
                <a16:creationId xmlns:a16="http://schemas.microsoft.com/office/drawing/2014/main" id="{02F1A2AE-AC9B-ACBB-254C-873B4F62AF4F}"/>
              </a:ext>
            </a:extLst>
          </p:cNvPr>
          <p:cNvSpPr/>
          <p:nvPr/>
        </p:nvSpPr>
        <p:spPr>
          <a:xfrm>
            <a:off x="6517752" y="2231885"/>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t>5</a:t>
            </a:r>
            <a:endParaRPr lang="es-PE" sz="1100" b="1" dirty="0"/>
          </a:p>
        </p:txBody>
      </p:sp>
      <p:sp>
        <p:nvSpPr>
          <p:cNvPr id="10" name="CuadroTexto 9">
            <a:hlinkClick r:id="rId5" action="ppaction://hlinksldjump"/>
            <a:extLst>
              <a:ext uri="{FF2B5EF4-FFF2-40B4-BE49-F238E27FC236}">
                <a16:creationId xmlns:a16="http://schemas.microsoft.com/office/drawing/2014/main" id="{CF4D0D8C-2F3D-20F6-2A3A-256B2583FCD1}"/>
              </a:ext>
            </a:extLst>
          </p:cNvPr>
          <p:cNvSpPr txBox="1"/>
          <p:nvPr/>
        </p:nvSpPr>
        <p:spPr>
          <a:xfrm>
            <a:off x="5055935" y="1498308"/>
            <a:ext cx="6039022" cy="623381"/>
          </a:xfrm>
          <a:prstGeom prst="roundRect">
            <a:avLst>
              <a:gd name="adj" fmla="val 7573"/>
            </a:avLst>
          </a:prstGeom>
          <a:solidFill>
            <a:srgbClr val="7030A0"/>
          </a:solidFill>
        </p:spPr>
        <p:txBody>
          <a:bodyPr wrap="square">
            <a:spAutoFit/>
          </a:bodyPr>
          <a:lstStyle/>
          <a:p>
            <a:pPr algn="ctr"/>
            <a:r>
              <a:rPr lang="es-ES" sz="1100" dirty="0">
                <a:solidFill>
                  <a:srgbClr val="FFFFFF"/>
                </a:solidFill>
              </a:rPr>
              <a:t>Cuadro usado para indicar si se incluye las horas intentadas (que se inscribieron en un periodo anterior) para el cálculo de ubicación académica desplegado en la ventana de Alumno de SFAREGS. </a:t>
            </a:r>
            <a:r>
              <a:rPr lang="es-ES" sz="1100" b="1" dirty="0">
                <a:solidFill>
                  <a:srgbClr val="FFFFFF"/>
                </a:solidFill>
              </a:rPr>
              <a:t>No marcar.</a:t>
            </a:r>
            <a:endParaRPr lang="es-ES" b="1" dirty="0">
              <a:effectLst/>
            </a:endParaRPr>
          </a:p>
        </p:txBody>
      </p:sp>
      <p:sp>
        <p:nvSpPr>
          <p:cNvPr id="11" name="Rectángulo 10">
            <a:extLst>
              <a:ext uri="{FF2B5EF4-FFF2-40B4-BE49-F238E27FC236}">
                <a16:creationId xmlns:a16="http://schemas.microsoft.com/office/drawing/2014/main" id="{0CB587A0-EFC3-5CE0-B0B5-89D493B84A02}"/>
              </a:ext>
            </a:extLst>
          </p:cNvPr>
          <p:cNvSpPr/>
          <p:nvPr/>
        </p:nvSpPr>
        <p:spPr>
          <a:xfrm>
            <a:off x="5055935" y="2475768"/>
            <a:ext cx="1368000" cy="158233"/>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12" name="Rectángulo: esquinas redondeadas 11">
            <a:extLst>
              <a:ext uri="{FF2B5EF4-FFF2-40B4-BE49-F238E27FC236}">
                <a16:creationId xmlns:a16="http://schemas.microsoft.com/office/drawing/2014/main" id="{C06B5836-8E91-38F7-91DE-695FE3E5FB4A}"/>
              </a:ext>
            </a:extLst>
          </p:cNvPr>
          <p:cNvSpPr/>
          <p:nvPr/>
        </p:nvSpPr>
        <p:spPr>
          <a:xfrm>
            <a:off x="6517752" y="2484821"/>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t>6</a:t>
            </a:r>
            <a:endParaRPr lang="es-PE" sz="1100" b="1" dirty="0"/>
          </a:p>
        </p:txBody>
      </p:sp>
      <p:sp>
        <p:nvSpPr>
          <p:cNvPr id="13" name="CuadroTexto 12">
            <a:hlinkClick r:id="rId5" action="ppaction://hlinksldjump"/>
            <a:extLst>
              <a:ext uri="{FF2B5EF4-FFF2-40B4-BE49-F238E27FC236}">
                <a16:creationId xmlns:a16="http://schemas.microsoft.com/office/drawing/2014/main" id="{5AD8B01E-07B9-8B8B-B3F0-B983C5987005}"/>
              </a:ext>
            </a:extLst>
          </p:cNvPr>
          <p:cNvSpPr txBox="1"/>
          <p:nvPr/>
        </p:nvSpPr>
        <p:spPr>
          <a:xfrm>
            <a:off x="6898283" y="2183253"/>
            <a:ext cx="3299818" cy="799207"/>
          </a:xfrm>
          <a:prstGeom prst="roundRect">
            <a:avLst>
              <a:gd name="adj" fmla="val 7573"/>
            </a:avLst>
          </a:prstGeom>
          <a:solidFill>
            <a:srgbClr val="7030A0"/>
          </a:solidFill>
        </p:spPr>
        <p:txBody>
          <a:bodyPr wrap="square">
            <a:spAutoFit/>
          </a:bodyPr>
          <a:lstStyle/>
          <a:p>
            <a:pPr algn="ctr"/>
            <a:r>
              <a:rPr lang="es-ES" sz="1100" dirty="0">
                <a:solidFill>
                  <a:srgbClr val="FFFFFF"/>
                </a:solidFill>
              </a:rPr>
              <a:t>Cuadro usado para indicar si se valida o no la situación académica del estudiante en períodos anteriores y futuros con respecto a la repetición de cursos. </a:t>
            </a:r>
            <a:r>
              <a:rPr lang="es-ES" sz="1100" b="1" dirty="0">
                <a:solidFill>
                  <a:srgbClr val="FFFFFF"/>
                </a:solidFill>
              </a:rPr>
              <a:t>No marcar.</a:t>
            </a:r>
            <a:endParaRPr lang="es-ES" b="1" dirty="0">
              <a:effectLst/>
            </a:endParaRPr>
          </a:p>
        </p:txBody>
      </p:sp>
      <p:sp>
        <p:nvSpPr>
          <p:cNvPr id="14" name="Rectángulo 13">
            <a:extLst>
              <a:ext uri="{FF2B5EF4-FFF2-40B4-BE49-F238E27FC236}">
                <a16:creationId xmlns:a16="http://schemas.microsoft.com/office/drawing/2014/main" id="{B032EF3C-69B1-3BC6-7D2C-D08F396E5EA2}"/>
              </a:ext>
            </a:extLst>
          </p:cNvPr>
          <p:cNvSpPr/>
          <p:nvPr/>
        </p:nvSpPr>
        <p:spPr>
          <a:xfrm>
            <a:off x="5055935" y="2749619"/>
            <a:ext cx="1368000" cy="180000"/>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15" name="Rectángulo: esquinas redondeadas 14">
            <a:extLst>
              <a:ext uri="{FF2B5EF4-FFF2-40B4-BE49-F238E27FC236}">
                <a16:creationId xmlns:a16="http://schemas.microsoft.com/office/drawing/2014/main" id="{A5BC0283-848C-ACEF-33C3-AC8F2431C146}"/>
              </a:ext>
            </a:extLst>
          </p:cNvPr>
          <p:cNvSpPr/>
          <p:nvPr/>
        </p:nvSpPr>
        <p:spPr>
          <a:xfrm>
            <a:off x="5524105" y="2987383"/>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t>7</a:t>
            </a:r>
            <a:endParaRPr lang="es-PE" sz="1100" b="1" dirty="0"/>
          </a:p>
        </p:txBody>
      </p:sp>
      <p:sp>
        <p:nvSpPr>
          <p:cNvPr id="16" name="CuadroTexto 15">
            <a:hlinkClick r:id="rId5" action="ppaction://hlinksldjump"/>
            <a:extLst>
              <a:ext uri="{FF2B5EF4-FFF2-40B4-BE49-F238E27FC236}">
                <a16:creationId xmlns:a16="http://schemas.microsoft.com/office/drawing/2014/main" id="{4FB209F9-2E03-9511-E7E7-166C825B8BF2}"/>
              </a:ext>
            </a:extLst>
          </p:cNvPr>
          <p:cNvSpPr txBox="1"/>
          <p:nvPr/>
        </p:nvSpPr>
        <p:spPr>
          <a:xfrm>
            <a:off x="4870687" y="3254735"/>
            <a:ext cx="2532208" cy="623381"/>
          </a:xfrm>
          <a:prstGeom prst="roundRect">
            <a:avLst>
              <a:gd name="adj" fmla="val 7573"/>
            </a:avLst>
          </a:prstGeom>
          <a:solidFill>
            <a:srgbClr val="7030A0"/>
          </a:solidFill>
        </p:spPr>
        <p:txBody>
          <a:bodyPr wrap="square">
            <a:spAutoFit/>
          </a:bodyPr>
          <a:lstStyle/>
          <a:p>
            <a:pPr algn="ctr"/>
            <a:r>
              <a:rPr lang="es-ES" sz="1100" dirty="0">
                <a:solidFill>
                  <a:srgbClr val="FFFFFF"/>
                </a:solidFill>
              </a:rPr>
              <a:t>Cuadro usado para indicar si el plan de estudios es requerido para la inscripción. </a:t>
            </a:r>
            <a:r>
              <a:rPr lang="es-ES" sz="1100" b="1" dirty="0">
                <a:solidFill>
                  <a:srgbClr val="FFFFFF"/>
                </a:solidFill>
              </a:rPr>
              <a:t>Marcar.</a:t>
            </a:r>
            <a:endParaRPr lang="es-ES" b="1" dirty="0">
              <a:effectLst/>
            </a:endParaRPr>
          </a:p>
        </p:txBody>
      </p:sp>
    </p:spTree>
    <p:extLst>
      <p:ext uri="{BB962C8B-B14F-4D97-AF65-F5344CB8AC3E}">
        <p14:creationId xmlns:p14="http://schemas.microsoft.com/office/powerpoint/2010/main" val="2651643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2000"/>
                                        <p:tgtEl>
                                          <p:spTgt spid="2"/>
                                        </p:tgtEl>
                                      </p:cBhvr>
                                    </p:animEffect>
                                  </p:childTnLst>
                                </p:cTn>
                              </p:par>
                            </p:childTnLst>
                          </p:cTn>
                        </p:par>
                        <p:par>
                          <p:cTn id="8" fill="hold">
                            <p:stCondLst>
                              <p:cond delay="2000"/>
                            </p:stCondLst>
                            <p:childTnLst>
                              <p:par>
                                <p:cTn id="9" presetID="53" presetClass="entr" presetSubtype="16"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p:cTn id="11" dur="500" fill="hold"/>
                                        <p:tgtEl>
                                          <p:spTgt spid="9"/>
                                        </p:tgtEl>
                                        <p:attrNameLst>
                                          <p:attrName>ppt_w</p:attrName>
                                        </p:attrNameLst>
                                      </p:cBhvr>
                                      <p:tavLst>
                                        <p:tav tm="0">
                                          <p:val>
                                            <p:fltVal val="0"/>
                                          </p:val>
                                        </p:tav>
                                        <p:tav tm="100000">
                                          <p:val>
                                            <p:strVal val="#ppt_w"/>
                                          </p:val>
                                        </p:tav>
                                      </p:tavLst>
                                    </p:anim>
                                    <p:anim calcmode="lin" valueType="num">
                                      <p:cBhvr>
                                        <p:cTn id="12" dur="500" fill="hold"/>
                                        <p:tgtEl>
                                          <p:spTgt spid="9"/>
                                        </p:tgtEl>
                                        <p:attrNameLst>
                                          <p:attrName>ppt_h</p:attrName>
                                        </p:attrNameLst>
                                      </p:cBhvr>
                                      <p:tavLst>
                                        <p:tav tm="0">
                                          <p:val>
                                            <p:fltVal val="0"/>
                                          </p:val>
                                        </p:tav>
                                        <p:tav tm="100000">
                                          <p:val>
                                            <p:strVal val="#ppt_h"/>
                                          </p:val>
                                        </p:tav>
                                      </p:tavLst>
                                    </p:anim>
                                    <p:animEffect transition="in" filter="fade">
                                      <p:cBhvr>
                                        <p:cTn id="13" dur="500"/>
                                        <p:tgtEl>
                                          <p:spTgt spid="9"/>
                                        </p:tgtEl>
                                      </p:cBhvr>
                                    </p:animEffect>
                                  </p:childTnLst>
                                </p:cTn>
                              </p:par>
                            </p:childTnLst>
                          </p:cTn>
                        </p:par>
                        <p:par>
                          <p:cTn id="14" fill="hold">
                            <p:stCondLst>
                              <p:cond delay="2500"/>
                            </p:stCondLst>
                            <p:childTnLst>
                              <p:par>
                                <p:cTn id="15" presetID="10" presetClass="entr" presetSubtype="0" fill="hold" grpId="0" nodeType="after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par>
                          <p:cTn id="18" fill="hold">
                            <p:stCondLst>
                              <p:cond delay="3000"/>
                            </p:stCondLst>
                            <p:childTnLst>
                              <p:par>
                                <p:cTn id="19" presetID="21" presetClass="entr" presetSubtype="1" fill="hold" grpId="0" nodeType="after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wheel(1)">
                                      <p:cBhvr>
                                        <p:cTn id="21" dur="2000"/>
                                        <p:tgtEl>
                                          <p:spTgt spid="11"/>
                                        </p:tgtEl>
                                      </p:cBhvr>
                                    </p:animEffect>
                                  </p:childTnLst>
                                </p:cTn>
                              </p:par>
                            </p:childTnLst>
                          </p:cTn>
                        </p:par>
                        <p:par>
                          <p:cTn id="22" fill="hold">
                            <p:stCondLst>
                              <p:cond delay="5000"/>
                            </p:stCondLst>
                            <p:childTnLst>
                              <p:par>
                                <p:cTn id="23" presetID="53" presetClass="entr" presetSubtype="16" fill="hold" grpId="0" nodeType="afterEffect">
                                  <p:stCondLst>
                                    <p:cond delay="0"/>
                                  </p:stCondLst>
                                  <p:childTnLst>
                                    <p:set>
                                      <p:cBhvr>
                                        <p:cTn id="24" dur="1" fill="hold">
                                          <p:stCondLst>
                                            <p:cond delay="0"/>
                                          </p:stCondLst>
                                        </p:cTn>
                                        <p:tgtEl>
                                          <p:spTgt spid="12"/>
                                        </p:tgtEl>
                                        <p:attrNameLst>
                                          <p:attrName>style.visibility</p:attrName>
                                        </p:attrNameLst>
                                      </p:cBhvr>
                                      <p:to>
                                        <p:strVal val="visible"/>
                                      </p:to>
                                    </p:set>
                                    <p:anim calcmode="lin" valueType="num">
                                      <p:cBhvr>
                                        <p:cTn id="25" dur="500" fill="hold"/>
                                        <p:tgtEl>
                                          <p:spTgt spid="12"/>
                                        </p:tgtEl>
                                        <p:attrNameLst>
                                          <p:attrName>ppt_w</p:attrName>
                                        </p:attrNameLst>
                                      </p:cBhvr>
                                      <p:tavLst>
                                        <p:tav tm="0">
                                          <p:val>
                                            <p:fltVal val="0"/>
                                          </p:val>
                                        </p:tav>
                                        <p:tav tm="100000">
                                          <p:val>
                                            <p:strVal val="#ppt_w"/>
                                          </p:val>
                                        </p:tav>
                                      </p:tavLst>
                                    </p:anim>
                                    <p:anim calcmode="lin" valueType="num">
                                      <p:cBhvr>
                                        <p:cTn id="26" dur="500" fill="hold"/>
                                        <p:tgtEl>
                                          <p:spTgt spid="12"/>
                                        </p:tgtEl>
                                        <p:attrNameLst>
                                          <p:attrName>ppt_h</p:attrName>
                                        </p:attrNameLst>
                                      </p:cBhvr>
                                      <p:tavLst>
                                        <p:tav tm="0">
                                          <p:val>
                                            <p:fltVal val="0"/>
                                          </p:val>
                                        </p:tav>
                                        <p:tav tm="100000">
                                          <p:val>
                                            <p:strVal val="#ppt_h"/>
                                          </p:val>
                                        </p:tav>
                                      </p:tavLst>
                                    </p:anim>
                                    <p:animEffect transition="in" filter="fade">
                                      <p:cBhvr>
                                        <p:cTn id="27" dur="500"/>
                                        <p:tgtEl>
                                          <p:spTgt spid="12"/>
                                        </p:tgtEl>
                                      </p:cBhvr>
                                    </p:animEffect>
                                  </p:childTnLst>
                                </p:cTn>
                              </p:par>
                            </p:childTnLst>
                          </p:cTn>
                        </p:par>
                        <p:par>
                          <p:cTn id="28" fill="hold">
                            <p:stCondLst>
                              <p:cond delay="5500"/>
                            </p:stCondLst>
                            <p:childTnLst>
                              <p:par>
                                <p:cTn id="29" presetID="10" presetClass="entr" presetSubtype="0" fill="hold" grpId="0" nodeType="after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childTnLst>
                                </p:cTn>
                              </p:par>
                            </p:childTnLst>
                          </p:cTn>
                        </p:par>
                        <p:par>
                          <p:cTn id="32" fill="hold">
                            <p:stCondLst>
                              <p:cond delay="6000"/>
                            </p:stCondLst>
                            <p:childTnLst>
                              <p:par>
                                <p:cTn id="33" presetID="21" presetClass="entr" presetSubtype="1" fill="hold" grpId="0" nodeType="after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wheel(1)">
                                      <p:cBhvr>
                                        <p:cTn id="35" dur="2000"/>
                                        <p:tgtEl>
                                          <p:spTgt spid="14"/>
                                        </p:tgtEl>
                                      </p:cBhvr>
                                    </p:animEffect>
                                  </p:childTnLst>
                                </p:cTn>
                              </p:par>
                            </p:childTnLst>
                          </p:cTn>
                        </p:par>
                        <p:par>
                          <p:cTn id="36" fill="hold">
                            <p:stCondLst>
                              <p:cond delay="8000"/>
                            </p:stCondLst>
                            <p:childTnLst>
                              <p:par>
                                <p:cTn id="37" presetID="53" presetClass="entr" presetSubtype="16" fill="hold" grpId="0" nodeType="afterEffect">
                                  <p:stCondLst>
                                    <p:cond delay="0"/>
                                  </p:stCondLst>
                                  <p:childTnLst>
                                    <p:set>
                                      <p:cBhvr>
                                        <p:cTn id="38" dur="1" fill="hold">
                                          <p:stCondLst>
                                            <p:cond delay="0"/>
                                          </p:stCondLst>
                                        </p:cTn>
                                        <p:tgtEl>
                                          <p:spTgt spid="15"/>
                                        </p:tgtEl>
                                        <p:attrNameLst>
                                          <p:attrName>style.visibility</p:attrName>
                                        </p:attrNameLst>
                                      </p:cBhvr>
                                      <p:to>
                                        <p:strVal val="visible"/>
                                      </p:to>
                                    </p:set>
                                    <p:anim calcmode="lin" valueType="num">
                                      <p:cBhvr>
                                        <p:cTn id="39" dur="500" fill="hold"/>
                                        <p:tgtEl>
                                          <p:spTgt spid="15"/>
                                        </p:tgtEl>
                                        <p:attrNameLst>
                                          <p:attrName>ppt_w</p:attrName>
                                        </p:attrNameLst>
                                      </p:cBhvr>
                                      <p:tavLst>
                                        <p:tav tm="0">
                                          <p:val>
                                            <p:fltVal val="0"/>
                                          </p:val>
                                        </p:tav>
                                        <p:tav tm="100000">
                                          <p:val>
                                            <p:strVal val="#ppt_w"/>
                                          </p:val>
                                        </p:tav>
                                      </p:tavLst>
                                    </p:anim>
                                    <p:anim calcmode="lin" valueType="num">
                                      <p:cBhvr>
                                        <p:cTn id="40" dur="500" fill="hold"/>
                                        <p:tgtEl>
                                          <p:spTgt spid="15"/>
                                        </p:tgtEl>
                                        <p:attrNameLst>
                                          <p:attrName>ppt_h</p:attrName>
                                        </p:attrNameLst>
                                      </p:cBhvr>
                                      <p:tavLst>
                                        <p:tav tm="0">
                                          <p:val>
                                            <p:fltVal val="0"/>
                                          </p:val>
                                        </p:tav>
                                        <p:tav tm="100000">
                                          <p:val>
                                            <p:strVal val="#ppt_h"/>
                                          </p:val>
                                        </p:tav>
                                      </p:tavLst>
                                    </p:anim>
                                    <p:animEffect transition="in" filter="fade">
                                      <p:cBhvr>
                                        <p:cTn id="41" dur="500"/>
                                        <p:tgtEl>
                                          <p:spTgt spid="15"/>
                                        </p:tgtEl>
                                      </p:cBhvr>
                                    </p:animEffect>
                                  </p:childTnLst>
                                </p:cTn>
                              </p:par>
                            </p:childTnLst>
                          </p:cTn>
                        </p:par>
                        <p:par>
                          <p:cTn id="42" fill="hold">
                            <p:stCondLst>
                              <p:cond delay="8500"/>
                            </p:stCondLst>
                            <p:childTnLst>
                              <p:par>
                                <p:cTn id="43" presetID="10" presetClass="entr" presetSubtype="0" fill="hold" grpId="0" nodeType="after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Imagen 16">
            <a:extLst>
              <a:ext uri="{FF2B5EF4-FFF2-40B4-BE49-F238E27FC236}">
                <a16:creationId xmlns:a16="http://schemas.microsoft.com/office/drawing/2014/main" id="{6BB6D326-F779-456B-8E40-F56B572949BD}"/>
              </a:ext>
            </a:extLst>
          </p:cNvPr>
          <p:cNvPicPr>
            <a:picLocks noChangeAspect="1"/>
          </p:cNvPicPr>
          <p:nvPr/>
        </p:nvPicPr>
        <p:blipFill>
          <a:blip r:embed="rId2"/>
          <a:stretch>
            <a:fillRect/>
          </a:stretch>
        </p:blipFill>
        <p:spPr>
          <a:xfrm>
            <a:off x="535709" y="891808"/>
            <a:ext cx="11360728" cy="5183964"/>
          </a:xfrm>
          <a:prstGeom prst="rect">
            <a:avLst/>
          </a:prstGeom>
        </p:spPr>
      </p:pic>
      <p:pic>
        <p:nvPicPr>
          <p:cNvPr id="3" name="Imagen 2">
            <a:extLst>
              <a:ext uri="{FF2B5EF4-FFF2-40B4-BE49-F238E27FC236}">
                <a16:creationId xmlns:a16="http://schemas.microsoft.com/office/drawing/2014/main" id="{7CAB2B86-4E3B-C98C-411E-958BEFE187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2528" y="6154887"/>
            <a:ext cx="2234242" cy="525923"/>
          </a:xfrm>
          <a:prstGeom prst="rect">
            <a:avLst/>
          </a:prstGeom>
        </p:spPr>
      </p:pic>
      <p:pic>
        <p:nvPicPr>
          <p:cNvPr id="4" name="Picture 4" descr="Ellucian Student Reseñas 2026: Detalles, Precios y Características | G2">
            <a:extLst>
              <a:ext uri="{FF2B5EF4-FFF2-40B4-BE49-F238E27FC236}">
                <a16:creationId xmlns:a16="http://schemas.microsoft.com/office/drawing/2014/main" id="{7352B780-8C7C-7B91-F3EE-5E6EF2C2E46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98101" y="5901780"/>
            <a:ext cx="1821371" cy="956220"/>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0AEBA78F-8C98-5D4D-384F-95B753FFADE4}"/>
              </a:ext>
            </a:extLst>
          </p:cNvPr>
          <p:cNvSpPr txBox="1"/>
          <p:nvPr/>
        </p:nvSpPr>
        <p:spPr>
          <a:xfrm>
            <a:off x="431320" y="241540"/>
            <a:ext cx="6789038" cy="523220"/>
          </a:xfrm>
          <a:prstGeom prst="rect">
            <a:avLst/>
          </a:prstGeom>
          <a:noFill/>
        </p:spPr>
        <p:txBody>
          <a:bodyPr wrap="none" rtlCol="0">
            <a:spAutoFit/>
          </a:bodyPr>
          <a:lstStyle/>
          <a:p>
            <a:r>
              <a:rPr lang="es-ES" sz="2800" b="1" dirty="0">
                <a:latin typeface="Montserrat" pitchFamily="2" charset="0"/>
              </a:rPr>
              <a:t>CONTROL DE PERIODO - SOATERM</a:t>
            </a:r>
            <a:endParaRPr lang="es-PE" sz="2800" b="1" dirty="0">
              <a:latin typeface="Montserrat" pitchFamily="2" charset="0"/>
            </a:endParaRPr>
          </a:p>
        </p:txBody>
      </p:sp>
      <p:sp>
        <p:nvSpPr>
          <p:cNvPr id="8" name="Rectángulo 7">
            <a:extLst>
              <a:ext uri="{FF2B5EF4-FFF2-40B4-BE49-F238E27FC236}">
                <a16:creationId xmlns:a16="http://schemas.microsoft.com/office/drawing/2014/main" id="{A16BCE08-E23C-F264-A6E3-E4019979D2E2}"/>
              </a:ext>
            </a:extLst>
          </p:cNvPr>
          <p:cNvSpPr/>
          <p:nvPr/>
        </p:nvSpPr>
        <p:spPr>
          <a:xfrm>
            <a:off x="7220358" y="241540"/>
            <a:ext cx="4971641" cy="445583"/>
          </a:xfrm>
          <a:prstGeom prst="rect">
            <a:avLst/>
          </a:prstGeom>
          <a:gradFill flip="none" rotWithShape="1">
            <a:gsLst>
              <a:gs pos="0">
                <a:schemeClr val="accent6">
                  <a:lumMod val="0"/>
                  <a:lumOff val="100000"/>
                </a:schemeClr>
              </a:gs>
              <a:gs pos="66000">
                <a:schemeClr val="accent6">
                  <a:lumMod val="100000"/>
                </a:schemeClr>
              </a:gs>
            </a:gsLst>
            <a:lin ang="0" scaled="1"/>
            <a:tileRect/>
          </a:gra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s-PE"/>
          </a:p>
        </p:txBody>
      </p:sp>
      <p:sp>
        <p:nvSpPr>
          <p:cNvPr id="6" name="CuadroTexto 5">
            <a:extLst>
              <a:ext uri="{FF2B5EF4-FFF2-40B4-BE49-F238E27FC236}">
                <a16:creationId xmlns:a16="http://schemas.microsoft.com/office/drawing/2014/main" id="{AC33DC36-253A-547B-7A30-A152C2F6B4CE}"/>
              </a:ext>
            </a:extLst>
          </p:cNvPr>
          <p:cNvSpPr txBox="1"/>
          <p:nvPr/>
        </p:nvSpPr>
        <p:spPr>
          <a:xfrm>
            <a:off x="4528936" y="6386396"/>
            <a:ext cx="3134128" cy="276999"/>
          </a:xfrm>
          <a:prstGeom prst="rect">
            <a:avLst/>
          </a:prstGeom>
          <a:noFill/>
        </p:spPr>
        <p:txBody>
          <a:bodyPr wrap="none" rtlCol="0">
            <a:spAutoFit/>
          </a:bodyPr>
          <a:lstStyle/>
          <a:p>
            <a:pPr algn="ctr"/>
            <a:r>
              <a:rPr lang="es-ES" sz="1200" i="1" dirty="0"/>
              <a:t>Elaborado por: Ing. Liliana Ocampo Moreno</a:t>
            </a:r>
            <a:endParaRPr lang="es-PE" sz="1200" i="1" dirty="0"/>
          </a:p>
        </p:txBody>
      </p:sp>
      <p:sp>
        <p:nvSpPr>
          <p:cNvPr id="18" name="Rectángulo 17">
            <a:extLst>
              <a:ext uri="{FF2B5EF4-FFF2-40B4-BE49-F238E27FC236}">
                <a16:creationId xmlns:a16="http://schemas.microsoft.com/office/drawing/2014/main" id="{5F791C00-26FC-AF6C-CE43-CAB851D839F7}"/>
              </a:ext>
            </a:extLst>
          </p:cNvPr>
          <p:cNvSpPr/>
          <p:nvPr/>
        </p:nvSpPr>
        <p:spPr>
          <a:xfrm>
            <a:off x="8801030" y="2302346"/>
            <a:ext cx="1152000" cy="158233"/>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19" name="Rectángulo: esquinas redondeadas 18">
            <a:extLst>
              <a:ext uri="{FF2B5EF4-FFF2-40B4-BE49-F238E27FC236}">
                <a16:creationId xmlns:a16="http://schemas.microsoft.com/office/drawing/2014/main" id="{AFA3A93B-19A5-F250-21A3-B5CF6D2388F8}"/>
              </a:ext>
            </a:extLst>
          </p:cNvPr>
          <p:cNvSpPr/>
          <p:nvPr/>
        </p:nvSpPr>
        <p:spPr>
          <a:xfrm>
            <a:off x="9267818" y="2019662"/>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t>8</a:t>
            </a:r>
            <a:endParaRPr lang="es-PE" sz="1100" b="1" dirty="0"/>
          </a:p>
        </p:txBody>
      </p:sp>
      <p:sp>
        <p:nvSpPr>
          <p:cNvPr id="20" name="CuadroTexto 19">
            <a:hlinkClick r:id="rId5" action="ppaction://hlinksldjump"/>
            <a:extLst>
              <a:ext uri="{FF2B5EF4-FFF2-40B4-BE49-F238E27FC236}">
                <a16:creationId xmlns:a16="http://schemas.microsoft.com/office/drawing/2014/main" id="{E2B82641-E5B9-E605-8E1A-C2A319B2E244}"/>
              </a:ext>
            </a:extLst>
          </p:cNvPr>
          <p:cNvSpPr txBox="1"/>
          <p:nvPr/>
        </p:nvSpPr>
        <p:spPr>
          <a:xfrm>
            <a:off x="5069764" y="1324086"/>
            <a:ext cx="6039022" cy="623381"/>
          </a:xfrm>
          <a:prstGeom prst="roundRect">
            <a:avLst>
              <a:gd name="adj" fmla="val 7573"/>
            </a:avLst>
          </a:prstGeom>
          <a:solidFill>
            <a:srgbClr val="7030A0"/>
          </a:solidFill>
        </p:spPr>
        <p:txBody>
          <a:bodyPr wrap="square">
            <a:spAutoFit/>
          </a:bodyPr>
          <a:lstStyle/>
          <a:p>
            <a:pPr algn="ctr"/>
            <a:r>
              <a:rPr lang="es-ES" sz="1100" dirty="0">
                <a:solidFill>
                  <a:srgbClr val="FFFFFF"/>
                </a:solidFill>
              </a:rPr>
              <a:t>Está relacionado con el procesamiento de eliminaciones de inscripción calculadas por el sistema, en lugar de que todas las eliminaciones sean efectuadas manualmente. Debe habilitarse únicamente si la institución utiliza esa funcionalidad. </a:t>
            </a:r>
            <a:r>
              <a:rPr lang="es-ES" sz="1100" b="1" dirty="0">
                <a:solidFill>
                  <a:srgbClr val="FFFFFF"/>
                </a:solidFill>
              </a:rPr>
              <a:t>No marcar.</a:t>
            </a:r>
            <a:endParaRPr lang="es-ES" b="1" dirty="0">
              <a:effectLst/>
            </a:endParaRPr>
          </a:p>
        </p:txBody>
      </p:sp>
      <p:sp>
        <p:nvSpPr>
          <p:cNvPr id="21" name="Rectángulo 20">
            <a:extLst>
              <a:ext uri="{FF2B5EF4-FFF2-40B4-BE49-F238E27FC236}">
                <a16:creationId xmlns:a16="http://schemas.microsoft.com/office/drawing/2014/main" id="{F914D25F-7D73-4F62-83EF-73A0600B8D59}"/>
              </a:ext>
            </a:extLst>
          </p:cNvPr>
          <p:cNvSpPr/>
          <p:nvPr/>
        </p:nvSpPr>
        <p:spPr>
          <a:xfrm>
            <a:off x="8801030" y="2460579"/>
            <a:ext cx="1152000" cy="158233"/>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22" name="Rectángulo: esquinas redondeadas 21">
            <a:extLst>
              <a:ext uri="{FF2B5EF4-FFF2-40B4-BE49-F238E27FC236}">
                <a16:creationId xmlns:a16="http://schemas.microsoft.com/office/drawing/2014/main" id="{B2604D5E-D911-FA3C-4998-CD4FC2363A1C}"/>
              </a:ext>
            </a:extLst>
          </p:cNvPr>
          <p:cNvSpPr/>
          <p:nvPr/>
        </p:nvSpPr>
        <p:spPr>
          <a:xfrm>
            <a:off x="10030500" y="2448609"/>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t>9</a:t>
            </a:r>
            <a:endParaRPr lang="es-PE" sz="1100" b="1" dirty="0"/>
          </a:p>
        </p:txBody>
      </p:sp>
      <p:sp>
        <p:nvSpPr>
          <p:cNvPr id="23" name="CuadroTexto 22">
            <a:hlinkClick r:id="rId5" action="ppaction://hlinksldjump"/>
            <a:extLst>
              <a:ext uri="{FF2B5EF4-FFF2-40B4-BE49-F238E27FC236}">
                <a16:creationId xmlns:a16="http://schemas.microsoft.com/office/drawing/2014/main" id="{64407906-0EFC-2863-533D-9A43D948D9DA}"/>
              </a:ext>
            </a:extLst>
          </p:cNvPr>
          <p:cNvSpPr txBox="1"/>
          <p:nvPr/>
        </p:nvSpPr>
        <p:spPr>
          <a:xfrm>
            <a:off x="10323626" y="2360662"/>
            <a:ext cx="1617898" cy="1678335"/>
          </a:xfrm>
          <a:prstGeom prst="roundRect">
            <a:avLst>
              <a:gd name="adj" fmla="val 3096"/>
            </a:avLst>
          </a:prstGeom>
          <a:solidFill>
            <a:srgbClr val="7030A0"/>
          </a:solidFill>
        </p:spPr>
        <p:txBody>
          <a:bodyPr wrap="square">
            <a:spAutoFit/>
          </a:bodyPr>
          <a:lstStyle/>
          <a:p>
            <a:pPr algn="ctr"/>
            <a:r>
              <a:rPr lang="es-ES" sz="1100" dirty="0">
                <a:solidFill>
                  <a:srgbClr val="FFFFFF"/>
                </a:solidFill>
              </a:rPr>
              <a:t>Es una contraseña utilizada para autorizar/sobrescribir determinadas retenciones o controles de inscripción, según la configuración de Banner. </a:t>
            </a:r>
            <a:r>
              <a:rPr lang="es-ES" sz="1100" b="1" dirty="0">
                <a:solidFill>
                  <a:srgbClr val="FFFFFF"/>
                </a:solidFill>
              </a:rPr>
              <a:t>No llenar.</a:t>
            </a:r>
            <a:endParaRPr lang="es-ES" b="1" dirty="0">
              <a:effectLst/>
            </a:endParaRPr>
          </a:p>
        </p:txBody>
      </p:sp>
      <p:sp>
        <p:nvSpPr>
          <p:cNvPr id="24" name="Rectángulo 23">
            <a:extLst>
              <a:ext uri="{FF2B5EF4-FFF2-40B4-BE49-F238E27FC236}">
                <a16:creationId xmlns:a16="http://schemas.microsoft.com/office/drawing/2014/main" id="{2AF97F44-088D-60F0-1293-14E081ECE0D0}"/>
              </a:ext>
            </a:extLst>
          </p:cNvPr>
          <p:cNvSpPr/>
          <p:nvPr/>
        </p:nvSpPr>
        <p:spPr>
          <a:xfrm>
            <a:off x="8807091" y="2746775"/>
            <a:ext cx="1224000" cy="180000"/>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25" name="Rectángulo: esquinas redondeadas 24">
            <a:extLst>
              <a:ext uri="{FF2B5EF4-FFF2-40B4-BE49-F238E27FC236}">
                <a16:creationId xmlns:a16="http://schemas.microsoft.com/office/drawing/2014/main" id="{DEDA2167-15F8-540B-196D-EFF918F47D23}"/>
              </a:ext>
            </a:extLst>
          </p:cNvPr>
          <p:cNvSpPr/>
          <p:nvPr/>
        </p:nvSpPr>
        <p:spPr>
          <a:xfrm>
            <a:off x="9229996" y="2975486"/>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s-ES" sz="1100" b="1" dirty="0"/>
              <a:t>10</a:t>
            </a:r>
            <a:endParaRPr lang="es-PE" sz="1100" b="1" dirty="0"/>
          </a:p>
        </p:txBody>
      </p:sp>
      <p:sp>
        <p:nvSpPr>
          <p:cNvPr id="26" name="CuadroTexto 25">
            <a:hlinkClick r:id="rId5" action="ppaction://hlinksldjump"/>
            <a:extLst>
              <a:ext uri="{FF2B5EF4-FFF2-40B4-BE49-F238E27FC236}">
                <a16:creationId xmlns:a16="http://schemas.microsoft.com/office/drawing/2014/main" id="{A9E55225-BD27-5AF6-7C64-7EE64170BF90}"/>
              </a:ext>
            </a:extLst>
          </p:cNvPr>
          <p:cNvSpPr txBox="1"/>
          <p:nvPr/>
        </p:nvSpPr>
        <p:spPr>
          <a:xfrm>
            <a:off x="7489661" y="3259887"/>
            <a:ext cx="2532208" cy="799207"/>
          </a:xfrm>
          <a:prstGeom prst="roundRect">
            <a:avLst>
              <a:gd name="adj" fmla="val 7573"/>
            </a:avLst>
          </a:prstGeom>
          <a:solidFill>
            <a:srgbClr val="7030A0"/>
          </a:solidFill>
        </p:spPr>
        <p:txBody>
          <a:bodyPr wrap="square">
            <a:spAutoFit/>
          </a:bodyPr>
          <a:lstStyle/>
          <a:p>
            <a:pPr algn="ctr"/>
            <a:r>
              <a:rPr lang="es-ES" sz="1100" dirty="0">
                <a:solidFill>
                  <a:srgbClr val="FFFFFF"/>
                </a:solidFill>
              </a:rPr>
              <a:t>Se define el período en el que el alumno debió está inscrito, para inscribirse en el período que se está configurando. </a:t>
            </a:r>
            <a:r>
              <a:rPr lang="es-ES" sz="1100" b="1" dirty="0">
                <a:solidFill>
                  <a:srgbClr val="FFFFFF"/>
                </a:solidFill>
              </a:rPr>
              <a:t>No llenar.</a:t>
            </a:r>
            <a:endParaRPr lang="es-ES" b="1" dirty="0">
              <a:effectLst/>
            </a:endParaRPr>
          </a:p>
        </p:txBody>
      </p:sp>
    </p:spTree>
    <p:extLst>
      <p:ext uri="{BB962C8B-B14F-4D97-AF65-F5344CB8AC3E}">
        <p14:creationId xmlns:p14="http://schemas.microsoft.com/office/powerpoint/2010/main" val="17675489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heel(1)">
                                      <p:cBhvr>
                                        <p:cTn id="7" dur="2000"/>
                                        <p:tgtEl>
                                          <p:spTgt spid="18"/>
                                        </p:tgtEl>
                                      </p:cBhvr>
                                    </p:animEffect>
                                  </p:childTnLst>
                                </p:cTn>
                              </p:par>
                            </p:childTnLst>
                          </p:cTn>
                        </p:par>
                        <p:par>
                          <p:cTn id="8" fill="hold">
                            <p:stCondLst>
                              <p:cond delay="2000"/>
                            </p:stCondLst>
                            <p:childTnLst>
                              <p:par>
                                <p:cTn id="9" presetID="53" presetClass="entr" presetSubtype="16" fill="hold" grpId="0" nodeType="afterEffect">
                                  <p:stCondLst>
                                    <p:cond delay="0"/>
                                  </p:stCondLst>
                                  <p:childTnLst>
                                    <p:set>
                                      <p:cBhvr>
                                        <p:cTn id="10" dur="1" fill="hold">
                                          <p:stCondLst>
                                            <p:cond delay="0"/>
                                          </p:stCondLst>
                                        </p:cTn>
                                        <p:tgtEl>
                                          <p:spTgt spid="19"/>
                                        </p:tgtEl>
                                        <p:attrNameLst>
                                          <p:attrName>style.visibility</p:attrName>
                                        </p:attrNameLst>
                                      </p:cBhvr>
                                      <p:to>
                                        <p:strVal val="visible"/>
                                      </p:to>
                                    </p:set>
                                    <p:anim calcmode="lin" valueType="num">
                                      <p:cBhvr>
                                        <p:cTn id="11" dur="500" fill="hold"/>
                                        <p:tgtEl>
                                          <p:spTgt spid="19"/>
                                        </p:tgtEl>
                                        <p:attrNameLst>
                                          <p:attrName>ppt_w</p:attrName>
                                        </p:attrNameLst>
                                      </p:cBhvr>
                                      <p:tavLst>
                                        <p:tav tm="0">
                                          <p:val>
                                            <p:fltVal val="0"/>
                                          </p:val>
                                        </p:tav>
                                        <p:tav tm="100000">
                                          <p:val>
                                            <p:strVal val="#ppt_w"/>
                                          </p:val>
                                        </p:tav>
                                      </p:tavLst>
                                    </p:anim>
                                    <p:anim calcmode="lin" valueType="num">
                                      <p:cBhvr>
                                        <p:cTn id="12" dur="500" fill="hold"/>
                                        <p:tgtEl>
                                          <p:spTgt spid="19"/>
                                        </p:tgtEl>
                                        <p:attrNameLst>
                                          <p:attrName>ppt_h</p:attrName>
                                        </p:attrNameLst>
                                      </p:cBhvr>
                                      <p:tavLst>
                                        <p:tav tm="0">
                                          <p:val>
                                            <p:fltVal val="0"/>
                                          </p:val>
                                        </p:tav>
                                        <p:tav tm="100000">
                                          <p:val>
                                            <p:strVal val="#ppt_h"/>
                                          </p:val>
                                        </p:tav>
                                      </p:tavLst>
                                    </p:anim>
                                    <p:animEffect transition="in" filter="fade">
                                      <p:cBhvr>
                                        <p:cTn id="13" dur="500"/>
                                        <p:tgtEl>
                                          <p:spTgt spid="19"/>
                                        </p:tgtEl>
                                      </p:cBhvr>
                                    </p:animEffect>
                                  </p:childTnLst>
                                </p:cTn>
                              </p:par>
                            </p:childTnLst>
                          </p:cTn>
                        </p:par>
                        <p:par>
                          <p:cTn id="14" fill="hold">
                            <p:stCondLst>
                              <p:cond delay="2500"/>
                            </p:stCondLst>
                            <p:childTnLst>
                              <p:par>
                                <p:cTn id="15" presetID="10" presetClass="entr" presetSubtype="0" fill="hold" grpId="0" nodeType="after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fade">
                                      <p:cBhvr>
                                        <p:cTn id="17" dur="500"/>
                                        <p:tgtEl>
                                          <p:spTgt spid="20"/>
                                        </p:tgtEl>
                                      </p:cBhvr>
                                    </p:animEffect>
                                  </p:childTnLst>
                                </p:cTn>
                              </p:par>
                            </p:childTnLst>
                          </p:cTn>
                        </p:par>
                        <p:par>
                          <p:cTn id="18" fill="hold">
                            <p:stCondLst>
                              <p:cond delay="3000"/>
                            </p:stCondLst>
                            <p:childTnLst>
                              <p:par>
                                <p:cTn id="19" presetID="21" presetClass="entr" presetSubtype="1" fill="hold" grpId="0" nodeType="afterEffect">
                                  <p:stCondLst>
                                    <p:cond delay="0"/>
                                  </p:stCondLst>
                                  <p:childTnLst>
                                    <p:set>
                                      <p:cBhvr>
                                        <p:cTn id="20" dur="1" fill="hold">
                                          <p:stCondLst>
                                            <p:cond delay="0"/>
                                          </p:stCondLst>
                                        </p:cTn>
                                        <p:tgtEl>
                                          <p:spTgt spid="21"/>
                                        </p:tgtEl>
                                        <p:attrNameLst>
                                          <p:attrName>style.visibility</p:attrName>
                                        </p:attrNameLst>
                                      </p:cBhvr>
                                      <p:to>
                                        <p:strVal val="visible"/>
                                      </p:to>
                                    </p:set>
                                    <p:animEffect transition="in" filter="wheel(1)">
                                      <p:cBhvr>
                                        <p:cTn id="21" dur="2000"/>
                                        <p:tgtEl>
                                          <p:spTgt spid="21"/>
                                        </p:tgtEl>
                                      </p:cBhvr>
                                    </p:animEffect>
                                  </p:childTnLst>
                                </p:cTn>
                              </p:par>
                            </p:childTnLst>
                          </p:cTn>
                        </p:par>
                        <p:par>
                          <p:cTn id="22" fill="hold">
                            <p:stCondLst>
                              <p:cond delay="5000"/>
                            </p:stCondLst>
                            <p:childTnLst>
                              <p:par>
                                <p:cTn id="23" presetID="53" presetClass="entr" presetSubtype="16" fill="hold" grpId="0" nodeType="afterEffect">
                                  <p:stCondLst>
                                    <p:cond delay="0"/>
                                  </p:stCondLst>
                                  <p:childTnLst>
                                    <p:set>
                                      <p:cBhvr>
                                        <p:cTn id="24" dur="1" fill="hold">
                                          <p:stCondLst>
                                            <p:cond delay="0"/>
                                          </p:stCondLst>
                                        </p:cTn>
                                        <p:tgtEl>
                                          <p:spTgt spid="22"/>
                                        </p:tgtEl>
                                        <p:attrNameLst>
                                          <p:attrName>style.visibility</p:attrName>
                                        </p:attrNameLst>
                                      </p:cBhvr>
                                      <p:to>
                                        <p:strVal val="visible"/>
                                      </p:to>
                                    </p:set>
                                    <p:anim calcmode="lin" valueType="num">
                                      <p:cBhvr>
                                        <p:cTn id="25" dur="500" fill="hold"/>
                                        <p:tgtEl>
                                          <p:spTgt spid="22"/>
                                        </p:tgtEl>
                                        <p:attrNameLst>
                                          <p:attrName>ppt_w</p:attrName>
                                        </p:attrNameLst>
                                      </p:cBhvr>
                                      <p:tavLst>
                                        <p:tav tm="0">
                                          <p:val>
                                            <p:fltVal val="0"/>
                                          </p:val>
                                        </p:tav>
                                        <p:tav tm="100000">
                                          <p:val>
                                            <p:strVal val="#ppt_w"/>
                                          </p:val>
                                        </p:tav>
                                      </p:tavLst>
                                    </p:anim>
                                    <p:anim calcmode="lin" valueType="num">
                                      <p:cBhvr>
                                        <p:cTn id="26" dur="500" fill="hold"/>
                                        <p:tgtEl>
                                          <p:spTgt spid="22"/>
                                        </p:tgtEl>
                                        <p:attrNameLst>
                                          <p:attrName>ppt_h</p:attrName>
                                        </p:attrNameLst>
                                      </p:cBhvr>
                                      <p:tavLst>
                                        <p:tav tm="0">
                                          <p:val>
                                            <p:fltVal val="0"/>
                                          </p:val>
                                        </p:tav>
                                        <p:tav tm="100000">
                                          <p:val>
                                            <p:strVal val="#ppt_h"/>
                                          </p:val>
                                        </p:tav>
                                      </p:tavLst>
                                    </p:anim>
                                    <p:animEffect transition="in" filter="fade">
                                      <p:cBhvr>
                                        <p:cTn id="27" dur="500"/>
                                        <p:tgtEl>
                                          <p:spTgt spid="22"/>
                                        </p:tgtEl>
                                      </p:cBhvr>
                                    </p:animEffect>
                                  </p:childTnLst>
                                </p:cTn>
                              </p:par>
                            </p:childTnLst>
                          </p:cTn>
                        </p:par>
                        <p:par>
                          <p:cTn id="28" fill="hold">
                            <p:stCondLst>
                              <p:cond delay="5500"/>
                            </p:stCondLst>
                            <p:childTnLst>
                              <p:par>
                                <p:cTn id="29" presetID="10" presetClass="entr" presetSubtype="0" fill="hold" grpId="0" nodeType="after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fade">
                                      <p:cBhvr>
                                        <p:cTn id="31" dur="500"/>
                                        <p:tgtEl>
                                          <p:spTgt spid="23"/>
                                        </p:tgtEl>
                                      </p:cBhvr>
                                    </p:animEffect>
                                  </p:childTnLst>
                                </p:cTn>
                              </p:par>
                            </p:childTnLst>
                          </p:cTn>
                        </p:par>
                        <p:par>
                          <p:cTn id="32" fill="hold">
                            <p:stCondLst>
                              <p:cond delay="6000"/>
                            </p:stCondLst>
                            <p:childTnLst>
                              <p:par>
                                <p:cTn id="33" presetID="21" presetClass="entr" presetSubtype="1" fill="hold" grpId="0" nodeType="afterEffect">
                                  <p:stCondLst>
                                    <p:cond delay="0"/>
                                  </p:stCondLst>
                                  <p:childTnLst>
                                    <p:set>
                                      <p:cBhvr>
                                        <p:cTn id="34" dur="1" fill="hold">
                                          <p:stCondLst>
                                            <p:cond delay="0"/>
                                          </p:stCondLst>
                                        </p:cTn>
                                        <p:tgtEl>
                                          <p:spTgt spid="24"/>
                                        </p:tgtEl>
                                        <p:attrNameLst>
                                          <p:attrName>style.visibility</p:attrName>
                                        </p:attrNameLst>
                                      </p:cBhvr>
                                      <p:to>
                                        <p:strVal val="visible"/>
                                      </p:to>
                                    </p:set>
                                    <p:animEffect transition="in" filter="wheel(1)">
                                      <p:cBhvr>
                                        <p:cTn id="35" dur="2000"/>
                                        <p:tgtEl>
                                          <p:spTgt spid="24"/>
                                        </p:tgtEl>
                                      </p:cBhvr>
                                    </p:animEffect>
                                  </p:childTnLst>
                                </p:cTn>
                              </p:par>
                            </p:childTnLst>
                          </p:cTn>
                        </p:par>
                        <p:par>
                          <p:cTn id="36" fill="hold">
                            <p:stCondLst>
                              <p:cond delay="8000"/>
                            </p:stCondLst>
                            <p:childTnLst>
                              <p:par>
                                <p:cTn id="37" presetID="53" presetClass="entr" presetSubtype="16" fill="hold" grpId="0" nodeType="afterEffect">
                                  <p:stCondLst>
                                    <p:cond delay="0"/>
                                  </p:stCondLst>
                                  <p:childTnLst>
                                    <p:set>
                                      <p:cBhvr>
                                        <p:cTn id="38" dur="1" fill="hold">
                                          <p:stCondLst>
                                            <p:cond delay="0"/>
                                          </p:stCondLst>
                                        </p:cTn>
                                        <p:tgtEl>
                                          <p:spTgt spid="25"/>
                                        </p:tgtEl>
                                        <p:attrNameLst>
                                          <p:attrName>style.visibility</p:attrName>
                                        </p:attrNameLst>
                                      </p:cBhvr>
                                      <p:to>
                                        <p:strVal val="visible"/>
                                      </p:to>
                                    </p:set>
                                    <p:anim calcmode="lin" valueType="num">
                                      <p:cBhvr>
                                        <p:cTn id="39" dur="500" fill="hold"/>
                                        <p:tgtEl>
                                          <p:spTgt spid="25"/>
                                        </p:tgtEl>
                                        <p:attrNameLst>
                                          <p:attrName>ppt_w</p:attrName>
                                        </p:attrNameLst>
                                      </p:cBhvr>
                                      <p:tavLst>
                                        <p:tav tm="0">
                                          <p:val>
                                            <p:fltVal val="0"/>
                                          </p:val>
                                        </p:tav>
                                        <p:tav tm="100000">
                                          <p:val>
                                            <p:strVal val="#ppt_w"/>
                                          </p:val>
                                        </p:tav>
                                      </p:tavLst>
                                    </p:anim>
                                    <p:anim calcmode="lin" valueType="num">
                                      <p:cBhvr>
                                        <p:cTn id="40" dur="500" fill="hold"/>
                                        <p:tgtEl>
                                          <p:spTgt spid="25"/>
                                        </p:tgtEl>
                                        <p:attrNameLst>
                                          <p:attrName>ppt_h</p:attrName>
                                        </p:attrNameLst>
                                      </p:cBhvr>
                                      <p:tavLst>
                                        <p:tav tm="0">
                                          <p:val>
                                            <p:fltVal val="0"/>
                                          </p:val>
                                        </p:tav>
                                        <p:tav tm="100000">
                                          <p:val>
                                            <p:strVal val="#ppt_h"/>
                                          </p:val>
                                        </p:tav>
                                      </p:tavLst>
                                    </p:anim>
                                    <p:animEffect transition="in" filter="fade">
                                      <p:cBhvr>
                                        <p:cTn id="41" dur="500"/>
                                        <p:tgtEl>
                                          <p:spTgt spid="25"/>
                                        </p:tgtEl>
                                      </p:cBhvr>
                                    </p:animEffect>
                                  </p:childTnLst>
                                </p:cTn>
                              </p:par>
                            </p:childTnLst>
                          </p:cTn>
                        </p:par>
                        <p:par>
                          <p:cTn id="42" fill="hold">
                            <p:stCondLst>
                              <p:cond delay="8500"/>
                            </p:stCondLst>
                            <p:childTnLst>
                              <p:par>
                                <p:cTn id="43" presetID="10" presetClass="entr" presetSubtype="0" fill="hold" grpId="0" nodeType="afterEffect">
                                  <p:stCondLst>
                                    <p:cond delay="0"/>
                                  </p:stCondLst>
                                  <p:childTnLst>
                                    <p:set>
                                      <p:cBhvr>
                                        <p:cTn id="44" dur="1" fill="hold">
                                          <p:stCondLst>
                                            <p:cond delay="0"/>
                                          </p:stCondLst>
                                        </p:cTn>
                                        <p:tgtEl>
                                          <p:spTgt spid="26"/>
                                        </p:tgtEl>
                                        <p:attrNameLst>
                                          <p:attrName>style.visibility</p:attrName>
                                        </p:attrNameLst>
                                      </p:cBhvr>
                                      <p:to>
                                        <p:strVal val="visible"/>
                                      </p:to>
                                    </p:set>
                                    <p:animEffect transition="in" filter="fade">
                                      <p:cBhvr>
                                        <p:cTn id="45"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0" grpId="0" animBg="1"/>
      <p:bldP spid="21" grpId="0" animBg="1"/>
      <p:bldP spid="22" grpId="0" animBg="1"/>
      <p:bldP spid="23" grpId="0" animBg="1"/>
      <p:bldP spid="24" grpId="0" animBg="1"/>
      <p:bldP spid="25" grpId="0" animBg="1"/>
      <p:bldP spid="26"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Imagen 16">
            <a:extLst>
              <a:ext uri="{FF2B5EF4-FFF2-40B4-BE49-F238E27FC236}">
                <a16:creationId xmlns:a16="http://schemas.microsoft.com/office/drawing/2014/main" id="{53934D4E-9CDB-471C-B1B7-37CE78F0E006}"/>
              </a:ext>
            </a:extLst>
          </p:cNvPr>
          <p:cNvPicPr>
            <a:picLocks noChangeAspect="1"/>
          </p:cNvPicPr>
          <p:nvPr/>
        </p:nvPicPr>
        <p:blipFill>
          <a:blip r:embed="rId2"/>
          <a:stretch>
            <a:fillRect/>
          </a:stretch>
        </p:blipFill>
        <p:spPr>
          <a:xfrm>
            <a:off x="535709" y="891808"/>
            <a:ext cx="11360728" cy="5183964"/>
          </a:xfrm>
          <a:prstGeom prst="rect">
            <a:avLst/>
          </a:prstGeom>
        </p:spPr>
      </p:pic>
      <p:pic>
        <p:nvPicPr>
          <p:cNvPr id="3" name="Imagen 2">
            <a:extLst>
              <a:ext uri="{FF2B5EF4-FFF2-40B4-BE49-F238E27FC236}">
                <a16:creationId xmlns:a16="http://schemas.microsoft.com/office/drawing/2014/main" id="{7CAB2B86-4E3B-C98C-411E-958BEFE187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2528" y="6154887"/>
            <a:ext cx="2234242" cy="525923"/>
          </a:xfrm>
          <a:prstGeom prst="rect">
            <a:avLst/>
          </a:prstGeom>
        </p:spPr>
      </p:pic>
      <p:pic>
        <p:nvPicPr>
          <p:cNvPr id="4" name="Picture 4" descr="Ellucian Student Reseñas 2026: Detalles, Precios y Características | G2">
            <a:extLst>
              <a:ext uri="{FF2B5EF4-FFF2-40B4-BE49-F238E27FC236}">
                <a16:creationId xmlns:a16="http://schemas.microsoft.com/office/drawing/2014/main" id="{7352B780-8C7C-7B91-F3EE-5E6EF2C2E46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98101" y="5901780"/>
            <a:ext cx="1821371" cy="956220"/>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0AEBA78F-8C98-5D4D-384F-95B753FFADE4}"/>
              </a:ext>
            </a:extLst>
          </p:cNvPr>
          <p:cNvSpPr txBox="1"/>
          <p:nvPr/>
        </p:nvSpPr>
        <p:spPr>
          <a:xfrm>
            <a:off x="431320" y="241540"/>
            <a:ext cx="6789038" cy="523220"/>
          </a:xfrm>
          <a:prstGeom prst="rect">
            <a:avLst/>
          </a:prstGeom>
          <a:noFill/>
        </p:spPr>
        <p:txBody>
          <a:bodyPr wrap="none" rtlCol="0">
            <a:spAutoFit/>
          </a:bodyPr>
          <a:lstStyle/>
          <a:p>
            <a:r>
              <a:rPr lang="es-ES" sz="2800" b="1" dirty="0">
                <a:latin typeface="Montserrat" pitchFamily="2" charset="0"/>
              </a:rPr>
              <a:t>CONTROL DE PERIODO - SOATERM</a:t>
            </a:r>
            <a:endParaRPr lang="es-PE" sz="2800" b="1" dirty="0">
              <a:latin typeface="Montserrat" pitchFamily="2" charset="0"/>
            </a:endParaRPr>
          </a:p>
        </p:txBody>
      </p:sp>
      <p:sp>
        <p:nvSpPr>
          <p:cNvPr id="8" name="Rectángulo 7">
            <a:extLst>
              <a:ext uri="{FF2B5EF4-FFF2-40B4-BE49-F238E27FC236}">
                <a16:creationId xmlns:a16="http://schemas.microsoft.com/office/drawing/2014/main" id="{A16BCE08-E23C-F264-A6E3-E4019979D2E2}"/>
              </a:ext>
            </a:extLst>
          </p:cNvPr>
          <p:cNvSpPr/>
          <p:nvPr/>
        </p:nvSpPr>
        <p:spPr>
          <a:xfrm>
            <a:off x="7220358" y="241540"/>
            <a:ext cx="4971641" cy="445583"/>
          </a:xfrm>
          <a:prstGeom prst="rect">
            <a:avLst/>
          </a:prstGeom>
          <a:gradFill flip="none" rotWithShape="1">
            <a:gsLst>
              <a:gs pos="0">
                <a:schemeClr val="accent6">
                  <a:lumMod val="0"/>
                  <a:lumOff val="100000"/>
                </a:schemeClr>
              </a:gs>
              <a:gs pos="66000">
                <a:schemeClr val="accent6">
                  <a:lumMod val="100000"/>
                </a:schemeClr>
              </a:gs>
            </a:gsLst>
            <a:lin ang="0" scaled="1"/>
            <a:tileRect/>
          </a:gra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s-PE"/>
          </a:p>
        </p:txBody>
      </p:sp>
      <p:sp>
        <p:nvSpPr>
          <p:cNvPr id="6" name="CuadroTexto 5">
            <a:extLst>
              <a:ext uri="{FF2B5EF4-FFF2-40B4-BE49-F238E27FC236}">
                <a16:creationId xmlns:a16="http://schemas.microsoft.com/office/drawing/2014/main" id="{AC33DC36-253A-547B-7A30-A152C2F6B4CE}"/>
              </a:ext>
            </a:extLst>
          </p:cNvPr>
          <p:cNvSpPr txBox="1"/>
          <p:nvPr/>
        </p:nvSpPr>
        <p:spPr>
          <a:xfrm>
            <a:off x="4528936" y="6386396"/>
            <a:ext cx="3134128" cy="276999"/>
          </a:xfrm>
          <a:prstGeom prst="rect">
            <a:avLst/>
          </a:prstGeom>
          <a:noFill/>
        </p:spPr>
        <p:txBody>
          <a:bodyPr wrap="none" rtlCol="0">
            <a:spAutoFit/>
          </a:bodyPr>
          <a:lstStyle/>
          <a:p>
            <a:pPr algn="ctr"/>
            <a:r>
              <a:rPr lang="es-ES" sz="1200" i="1" dirty="0"/>
              <a:t>Elaborado por: Ing. Liliana Ocampo Moreno</a:t>
            </a:r>
            <a:endParaRPr lang="es-PE" sz="1200" i="1" dirty="0"/>
          </a:p>
        </p:txBody>
      </p:sp>
      <p:sp>
        <p:nvSpPr>
          <p:cNvPr id="2" name="Rectángulo 1">
            <a:extLst>
              <a:ext uri="{FF2B5EF4-FFF2-40B4-BE49-F238E27FC236}">
                <a16:creationId xmlns:a16="http://schemas.microsoft.com/office/drawing/2014/main" id="{C27C88F6-0518-1E2D-D923-3F9E4B0F0967}"/>
              </a:ext>
            </a:extLst>
          </p:cNvPr>
          <p:cNvSpPr/>
          <p:nvPr/>
        </p:nvSpPr>
        <p:spPr>
          <a:xfrm>
            <a:off x="1362128" y="3110068"/>
            <a:ext cx="1152000" cy="158233"/>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9" name="Rectángulo: esquinas redondeadas 8">
            <a:extLst>
              <a:ext uri="{FF2B5EF4-FFF2-40B4-BE49-F238E27FC236}">
                <a16:creationId xmlns:a16="http://schemas.microsoft.com/office/drawing/2014/main" id="{C66A3BED-08A1-F60C-2AF1-E1A31F8FC01F}"/>
              </a:ext>
            </a:extLst>
          </p:cNvPr>
          <p:cNvSpPr/>
          <p:nvPr/>
        </p:nvSpPr>
        <p:spPr>
          <a:xfrm>
            <a:off x="1938128" y="2796875"/>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s-ES" sz="1100" b="1" dirty="0"/>
              <a:t>11</a:t>
            </a:r>
            <a:endParaRPr lang="es-PE" sz="1100" b="1" dirty="0"/>
          </a:p>
        </p:txBody>
      </p:sp>
      <p:sp>
        <p:nvSpPr>
          <p:cNvPr id="10" name="CuadroTexto 9">
            <a:hlinkClick r:id="rId5" action="ppaction://hlinksldjump"/>
            <a:extLst>
              <a:ext uri="{FF2B5EF4-FFF2-40B4-BE49-F238E27FC236}">
                <a16:creationId xmlns:a16="http://schemas.microsoft.com/office/drawing/2014/main" id="{AF2E9231-D006-E0B3-BBB6-E27218B5FB58}"/>
              </a:ext>
            </a:extLst>
          </p:cNvPr>
          <p:cNvSpPr txBox="1"/>
          <p:nvPr/>
        </p:nvSpPr>
        <p:spPr>
          <a:xfrm>
            <a:off x="802206" y="1594113"/>
            <a:ext cx="2703164" cy="1150858"/>
          </a:xfrm>
          <a:prstGeom prst="roundRect">
            <a:avLst>
              <a:gd name="adj" fmla="val 7573"/>
            </a:avLst>
          </a:prstGeom>
          <a:solidFill>
            <a:srgbClr val="7030A0"/>
          </a:solidFill>
        </p:spPr>
        <p:txBody>
          <a:bodyPr wrap="square">
            <a:spAutoFit/>
          </a:bodyPr>
          <a:lstStyle/>
          <a:p>
            <a:pPr algn="ctr"/>
            <a:r>
              <a:rPr lang="es-ES" sz="1100" dirty="0">
                <a:solidFill>
                  <a:srgbClr val="FFFFFF"/>
                </a:solidFill>
              </a:rPr>
              <a:t>Permite que Banner realice la estimación de cuotas/cargos en línea. Por ejemplo, cuando el estudiante realiza una operación de inscripción y el sistema necesita calcular cuánto debería pagar. </a:t>
            </a:r>
            <a:r>
              <a:rPr lang="es-ES" sz="1100" b="1" dirty="0">
                <a:solidFill>
                  <a:srgbClr val="FFFFFF"/>
                </a:solidFill>
              </a:rPr>
              <a:t>Marcar.</a:t>
            </a:r>
            <a:endParaRPr lang="es-ES" b="1" dirty="0">
              <a:effectLst/>
            </a:endParaRPr>
          </a:p>
        </p:txBody>
      </p:sp>
      <p:sp>
        <p:nvSpPr>
          <p:cNvPr id="11" name="Rectángulo 10">
            <a:extLst>
              <a:ext uri="{FF2B5EF4-FFF2-40B4-BE49-F238E27FC236}">
                <a16:creationId xmlns:a16="http://schemas.microsoft.com/office/drawing/2014/main" id="{0E001C18-75A5-EB66-083E-4ADD975CC663}"/>
              </a:ext>
            </a:extLst>
          </p:cNvPr>
          <p:cNvSpPr/>
          <p:nvPr/>
        </p:nvSpPr>
        <p:spPr>
          <a:xfrm>
            <a:off x="1362128" y="3272474"/>
            <a:ext cx="1152000" cy="158233"/>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12" name="Rectángulo: esquinas redondeadas 11">
            <a:extLst>
              <a:ext uri="{FF2B5EF4-FFF2-40B4-BE49-F238E27FC236}">
                <a16:creationId xmlns:a16="http://schemas.microsoft.com/office/drawing/2014/main" id="{5DE24B75-1909-C0DF-45AB-071F54171B7A}"/>
              </a:ext>
            </a:extLst>
          </p:cNvPr>
          <p:cNvSpPr/>
          <p:nvPr/>
        </p:nvSpPr>
        <p:spPr>
          <a:xfrm>
            <a:off x="2615715" y="3234981"/>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s-ES" sz="1100" b="1" dirty="0"/>
              <a:t>12</a:t>
            </a:r>
            <a:endParaRPr lang="es-PE" sz="1100" b="1" dirty="0"/>
          </a:p>
        </p:txBody>
      </p:sp>
      <p:sp>
        <p:nvSpPr>
          <p:cNvPr id="13" name="CuadroTexto 12">
            <a:hlinkClick r:id="rId5" action="ppaction://hlinksldjump"/>
            <a:extLst>
              <a:ext uri="{FF2B5EF4-FFF2-40B4-BE49-F238E27FC236}">
                <a16:creationId xmlns:a16="http://schemas.microsoft.com/office/drawing/2014/main" id="{1AB59ACD-EB3B-BB84-F823-FE60F568741B}"/>
              </a:ext>
            </a:extLst>
          </p:cNvPr>
          <p:cNvSpPr txBox="1"/>
          <p:nvPr/>
        </p:nvSpPr>
        <p:spPr>
          <a:xfrm>
            <a:off x="2903308" y="3045151"/>
            <a:ext cx="3322001" cy="623381"/>
          </a:xfrm>
          <a:prstGeom prst="roundRect">
            <a:avLst>
              <a:gd name="adj" fmla="val 7573"/>
            </a:avLst>
          </a:prstGeom>
          <a:solidFill>
            <a:srgbClr val="7030A0"/>
          </a:solidFill>
        </p:spPr>
        <p:txBody>
          <a:bodyPr wrap="square">
            <a:spAutoFit/>
          </a:bodyPr>
          <a:lstStyle/>
          <a:p>
            <a:pPr algn="ctr"/>
            <a:r>
              <a:rPr lang="es-ES" sz="1100" dirty="0">
                <a:solidFill>
                  <a:srgbClr val="FFFFFF"/>
                </a:solidFill>
              </a:rPr>
              <a:t>Permite procesar determinados créditos/ajustes financieros en línea relacionados con la estimación. </a:t>
            </a:r>
            <a:r>
              <a:rPr lang="es-ES" sz="1100" b="1" dirty="0">
                <a:solidFill>
                  <a:srgbClr val="FFFFFF"/>
                </a:solidFill>
              </a:rPr>
              <a:t>Marcar.</a:t>
            </a:r>
            <a:endParaRPr lang="es-ES" b="1" dirty="0">
              <a:effectLst/>
            </a:endParaRPr>
          </a:p>
        </p:txBody>
      </p:sp>
      <p:sp>
        <p:nvSpPr>
          <p:cNvPr id="14" name="Rectángulo 13">
            <a:extLst>
              <a:ext uri="{FF2B5EF4-FFF2-40B4-BE49-F238E27FC236}">
                <a16:creationId xmlns:a16="http://schemas.microsoft.com/office/drawing/2014/main" id="{30D72F8D-B3AD-5994-42E6-BA5F5EB108D2}"/>
              </a:ext>
            </a:extLst>
          </p:cNvPr>
          <p:cNvSpPr/>
          <p:nvPr/>
        </p:nvSpPr>
        <p:spPr>
          <a:xfrm>
            <a:off x="1362128" y="3434385"/>
            <a:ext cx="1152000" cy="158233"/>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15" name="Rectángulo: esquinas redondeadas 14">
            <a:extLst>
              <a:ext uri="{FF2B5EF4-FFF2-40B4-BE49-F238E27FC236}">
                <a16:creationId xmlns:a16="http://schemas.microsoft.com/office/drawing/2014/main" id="{4ABC2132-60E8-56A7-9DD8-C26CFB6B72D7}"/>
              </a:ext>
            </a:extLst>
          </p:cNvPr>
          <p:cNvSpPr/>
          <p:nvPr/>
        </p:nvSpPr>
        <p:spPr>
          <a:xfrm>
            <a:off x="1830298" y="3679188"/>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s-ES" sz="1100" b="1" dirty="0"/>
              <a:t>13</a:t>
            </a:r>
            <a:endParaRPr lang="es-PE" sz="1100" b="1" dirty="0"/>
          </a:p>
        </p:txBody>
      </p:sp>
      <p:sp>
        <p:nvSpPr>
          <p:cNvPr id="16" name="CuadroTexto 15">
            <a:hlinkClick r:id="rId5" action="ppaction://hlinksldjump"/>
            <a:extLst>
              <a:ext uri="{FF2B5EF4-FFF2-40B4-BE49-F238E27FC236}">
                <a16:creationId xmlns:a16="http://schemas.microsoft.com/office/drawing/2014/main" id="{B01A9D01-3F79-E6C1-F4E1-F9F4D3155E7E}"/>
              </a:ext>
            </a:extLst>
          </p:cNvPr>
          <p:cNvSpPr txBox="1"/>
          <p:nvPr/>
        </p:nvSpPr>
        <p:spPr>
          <a:xfrm>
            <a:off x="1176880" y="3974248"/>
            <a:ext cx="2532208" cy="1150858"/>
          </a:xfrm>
          <a:prstGeom prst="roundRect">
            <a:avLst>
              <a:gd name="adj" fmla="val 7573"/>
            </a:avLst>
          </a:prstGeom>
          <a:solidFill>
            <a:srgbClr val="7030A0"/>
          </a:solidFill>
        </p:spPr>
        <p:txBody>
          <a:bodyPr wrap="square">
            <a:spAutoFit/>
          </a:bodyPr>
          <a:lstStyle/>
          <a:p>
            <a:pPr algn="ctr"/>
            <a:r>
              <a:rPr lang="es-ES" sz="1100" dirty="0">
                <a:solidFill>
                  <a:srgbClr val="FFFFFF"/>
                </a:solidFill>
              </a:rPr>
              <a:t>Permite que la estimación financiera se relacione con los NRC/secciones específicas. Esto puede ser importante cuando el costo depende de los cursos/secciones inscritos. </a:t>
            </a:r>
            <a:r>
              <a:rPr lang="es-ES" sz="1100" b="1" dirty="0">
                <a:solidFill>
                  <a:srgbClr val="FFFFFF"/>
                </a:solidFill>
              </a:rPr>
              <a:t>Marcar.</a:t>
            </a:r>
            <a:endParaRPr lang="es-ES" b="1" dirty="0">
              <a:effectLst/>
            </a:endParaRPr>
          </a:p>
        </p:txBody>
      </p:sp>
    </p:spTree>
    <p:extLst>
      <p:ext uri="{BB962C8B-B14F-4D97-AF65-F5344CB8AC3E}">
        <p14:creationId xmlns:p14="http://schemas.microsoft.com/office/powerpoint/2010/main" val="15274042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2000"/>
                                        <p:tgtEl>
                                          <p:spTgt spid="2"/>
                                        </p:tgtEl>
                                      </p:cBhvr>
                                    </p:animEffect>
                                  </p:childTnLst>
                                </p:cTn>
                              </p:par>
                            </p:childTnLst>
                          </p:cTn>
                        </p:par>
                        <p:par>
                          <p:cTn id="8" fill="hold">
                            <p:stCondLst>
                              <p:cond delay="2000"/>
                            </p:stCondLst>
                            <p:childTnLst>
                              <p:par>
                                <p:cTn id="9" presetID="53" presetClass="entr" presetSubtype="16"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p:cTn id="11" dur="500" fill="hold"/>
                                        <p:tgtEl>
                                          <p:spTgt spid="9"/>
                                        </p:tgtEl>
                                        <p:attrNameLst>
                                          <p:attrName>ppt_w</p:attrName>
                                        </p:attrNameLst>
                                      </p:cBhvr>
                                      <p:tavLst>
                                        <p:tav tm="0">
                                          <p:val>
                                            <p:fltVal val="0"/>
                                          </p:val>
                                        </p:tav>
                                        <p:tav tm="100000">
                                          <p:val>
                                            <p:strVal val="#ppt_w"/>
                                          </p:val>
                                        </p:tav>
                                      </p:tavLst>
                                    </p:anim>
                                    <p:anim calcmode="lin" valueType="num">
                                      <p:cBhvr>
                                        <p:cTn id="12" dur="500" fill="hold"/>
                                        <p:tgtEl>
                                          <p:spTgt spid="9"/>
                                        </p:tgtEl>
                                        <p:attrNameLst>
                                          <p:attrName>ppt_h</p:attrName>
                                        </p:attrNameLst>
                                      </p:cBhvr>
                                      <p:tavLst>
                                        <p:tav tm="0">
                                          <p:val>
                                            <p:fltVal val="0"/>
                                          </p:val>
                                        </p:tav>
                                        <p:tav tm="100000">
                                          <p:val>
                                            <p:strVal val="#ppt_h"/>
                                          </p:val>
                                        </p:tav>
                                      </p:tavLst>
                                    </p:anim>
                                    <p:animEffect transition="in" filter="fade">
                                      <p:cBhvr>
                                        <p:cTn id="13" dur="500"/>
                                        <p:tgtEl>
                                          <p:spTgt spid="9"/>
                                        </p:tgtEl>
                                      </p:cBhvr>
                                    </p:animEffect>
                                  </p:childTnLst>
                                </p:cTn>
                              </p:par>
                            </p:childTnLst>
                          </p:cTn>
                        </p:par>
                        <p:par>
                          <p:cTn id="14" fill="hold">
                            <p:stCondLst>
                              <p:cond delay="2500"/>
                            </p:stCondLst>
                            <p:childTnLst>
                              <p:par>
                                <p:cTn id="15" presetID="10" presetClass="entr" presetSubtype="0" fill="hold" grpId="0" nodeType="after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par>
                          <p:cTn id="18" fill="hold">
                            <p:stCondLst>
                              <p:cond delay="3000"/>
                            </p:stCondLst>
                            <p:childTnLst>
                              <p:par>
                                <p:cTn id="19" presetID="21" presetClass="entr" presetSubtype="1" fill="hold" grpId="0" nodeType="after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wheel(1)">
                                      <p:cBhvr>
                                        <p:cTn id="21" dur="2000"/>
                                        <p:tgtEl>
                                          <p:spTgt spid="11"/>
                                        </p:tgtEl>
                                      </p:cBhvr>
                                    </p:animEffect>
                                  </p:childTnLst>
                                </p:cTn>
                              </p:par>
                            </p:childTnLst>
                          </p:cTn>
                        </p:par>
                        <p:par>
                          <p:cTn id="22" fill="hold">
                            <p:stCondLst>
                              <p:cond delay="5000"/>
                            </p:stCondLst>
                            <p:childTnLst>
                              <p:par>
                                <p:cTn id="23" presetID="53" presetClass="entr" presetSubtype="16" fill="hold" grpId="0" nodeType="afterEffect">
                                  <p:stCondLst>
                                    <p:cond delay="0"/>
                                  </p:stCondLst>
                                  <p:childTnLst>
                                    <p:set>
                                      <p:cBhvr>
                                        <p:cTn id="24" dur="1" fill="hold">
                                          <p:stCondLst>
                                            <p:cond delay="0"/>
                                          </p:stCondLst>
                                        </p:cTn>
                                        <p:tgtEl>
                                          <p:spTgt spid="12"/>
                                        </p:tgtEl>
                                        <p:attrNameLst>
                                          <p:attrName>style.visibility</p:attrName>
                                        </p:attrNameLst>
                                      </p:cBhvr>
                                      <p:to>
                                        <p:strVal val="visible"/>
                                      </p:to>
                                    </p:set>
                                    <p:anim calcmode="lin" valueType="num">
                                      <p:cBhvr>
                                        <p:cTn id="25" dur="500" fill="hold"/>
                                        <p:tgtEl>
                                          <p:spTgt spid="12"/>
                                        </p:tgtEl>
                                        <p:attrNameLst>
                                          <p:attrName>ppt_w</p:attrName>
                                        </p:attrNameLst>
                                      </p:cBhvr>
                                      <p:tavLst>
                                        <p:tav tm="0">
                                          <p:val>
                                            <p:fltVal val="0"/>
                                          </p:val>
                                        </p:tav>
                                        <p:tav tm="100000">
                                          <p:val>
                                            <p:strVal val="#ppt_w"/>
                                          </p:val>
                                        </p:tav>
                                      </p:tavLst>
                                    </p:anim>
                                    <p:anim calcmode="lin" valueType="num">
                                      <p:cBhvr>
                                        <p:cTn id="26" dur="500" fill="hold"/>
                                        <p:tgtEl>
                                          <p:spTgt spid="12"/>
                                        </p:tgtEl>
                                        <p:attrNameLst>
                                          <p:attrName>ppt_h</p:attrName>
                                        </p:attrNameLst>
                                      </p:cBhvr>
                                      <p:tavLst>
                                        <p:tav tm="0">
                                          <p:val>
                                            <p:fltVal val="0"/>
                                          </p:val>
                                        </p:tav>
                                        <p:tav tm="100000">
                                          <p:val>
                                            <p:strVal val="#ppt_h"/>
                                          </p:val>
                                        </p:tav>
                                      </p:tavLst>
                                    </p:anim>
                                    <p:animEffect transition="in" filter="fade">
                                      <p:cBhvr>
                                        <p:cTn id="27" dur="500"/>
                                        <p:tgtEl>
                                          <p:spTgt spid="12"/>
                                        </p:tgtEl>
                                      </p:cBhvr>
                                    </p:animEffect>
                                  </p:childTnLst>
                                </p:cTn>
                              </p:par>
                            </p:childTnLst>
                          </p:cTn>
                        </p:par>
                        <p:par>
                          <p:cTn id="28" fill="hold">
                            <p:stCondLst>
                              <p:cond delay="5500"/>
                            </p:stCondLst>
                            <p:childTnLst>
                              <p:par>
                                <p:cTn id="29" presetID="10" presetClass="entr" presetSubtype="0" fill="hold" grpId="0" nodeType="after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childTnLst>
                                </p:cTn>
                              </p:par>
                            </p:childTnLst>
                          </p:cTn>
                        </p:par>
                        <p:par>
                          <p:cTn id="32" fill="hold">
                            <p:stCondLst>
                              <p:cond delay="6000"/>
                            </p:stCondLst>
                            <p:childTnLst>
                              <p:par>
                                <p:cTn id="33" presetID="21" presetClass="entr" presetSubtype="1" fill="hold" grpId="0" nodeType="after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wheel(1)">
                                      <p:cBhvr>
                                        <p:cTn id="35" dur="2000"/>
                                        <p:tgtEl>
                                          <p:spTgt spid="14"/>
                                        </p:tgtEl>
                                      </p:cBhvr>
                                    </p:animEffect>
                                  </p:childTnLst>
                                </p:cTn>
                              </p:par>
                            </p:childTnLst>
                          </p:cTn>
                        </p:par>
                        <p:par>
                          <p:cTn id="36" fill="hold">
                            <p:stCondLst>
                              <p:cond delay="8000"/>
                            </p:stCondLst>
                            <p:childTnLst>
                              <p:par>
                                <p:cTn id="37" presetID="53" presetClass="entr" presetSubtype="16" fill="hold" grpId="0" nodeType="afterEffect">
                                  <p:stCondLst>
                                    <p:cond delay="0"/>
                                  </p:stCondLst>
                                  <p:childTnLst>
                                    <p:set>
                                      <p:cBhvr>
                                        <p:cTn id="38" dur="1" fill="hold">
                                          <p:stCondLst>
                                            <p:cond delay="0"/>
                                          </p:stCondLst>
                                        </p:cTn>
                                        <p:tgtEl>
                                          <p:spTgt spid="15"/>
                                        </p:tgtEl>
                                        <p:attrNameLst>
                                          <p:attrName>style.visibility</p:attrName>
                                        </p:attrNameLst>
                                      </p:cBhvr>
                                      <p:to>
                                        <p:strVal val="visible"/>
                                      </p:to>
                                    </p:set>
                                    <p:anim calcmode="lin" valueType="num">
                                      <p:cBhvr>
                                        <p:cTn id="39" dur="500" fill="hold"/>
                                        <p:tgtEl>
                                          <p:spTgt spid="15"/>
                                        </p:tgtEl>
                                        <p:attrNameLst>
                                          <p:attrName>ppt_w</p:attrName>
                                        </p:attrNameLst>
                                      </p:cBhvr>
                                      <p:tavLst>
                                        <p:tav tm="0">
                                          <p:val>
                                            <p:fltVal val="0"/>
                                          </p:val>
                                        </p:tav>
                                        <p:tav tm="100000">
                                          <p:val>
                                            <p:strVal val="#ppt_w"/>
                                          </p:val>
                                        </p:tav>
                                      </p:tavLst>
                                    </p:anim>
                                    <p:anim calcmode="lin" valueType="num">
                                      <p:cBhvr>
                                        <p:cTn id="40" dur="500" fill="hold"/>
                                        <p:tgtEl>
                                          <p:spTgt spid="15"/>
                                        </p:tgtEl>
                                        <p:attrNameLst>
                                          <p:attrName>ppt_h</p:attrName>
                                        </p:attrNameLst>
                                      </p:cBhvr>
                                      <p:tavLst>
                                        <p:tav tm="0">
                                          <p:val>
                                            <p:fltVal val="0"/>
                                          </p:val>
                                        </p:tav>
                                        <p:tav tm="100000">
                                          <p:val>
                                            <p:strVal val="#ppt_h"/>
                                          </p:val>
                                        </p:tav>
                                      </p:tavLst>
                                    </p:anim>
                                    <p:animEffect transition="in" filter="fade">
                                      <p:cBhvr>
                                        <p:cTn id="41" dur="500"/>
                                        <p:tgtEl>
                                          <p:spTgt spid="15"/>
                                        </p:tgtEl>
                                      </p:cBhvr>
                                    </p:animEffect>
                                  </p:childTnLst>
                                </p:cTn>
                              </p:par>
                            </p:childTnLst>
                          </p:cTn>
                        </p:par>
                        <p:par>
                          <p:cTn id="42" fill="hold">
                            <p:stCondLst>
                              <p:cond delay="8500"/>
                            </p:stCondLst>
                            <p:childTnLst>
                              <p:par>
                                <p:cTn id="43" presetID="10" presetClass="entr" presetSubtype="0" fill="hold" grpId="0" nodeType="after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Imagen 16">
            <a:extLst>
              <a:ext uri="{FF2B5EF4-FFF2-40B4-BE49-F238E27FC236}">
                <a16:creationId xmlns:a16="http://schemas.microsoft.com/office/drawing/2014/main" id="{8AB5EFE0-F0B0-4CC3-97FF-90BCC7591C83}"/>
              </a:ext>
            </a:extLst>
          </p:cNvPr>
          <p:cNvPicPr>
            <a:picLocks noChangeAspect="1"/>
          </p:cNvPicPr>
          <p:nvPr/>
        </p:nvPicPr>
        <p:blipFill>
          <a:blip r:embed="rId2"/>
          <a:stretch>
            <a:fillRect/>
          </a:stretch>
        </p:blipFill>
        <p:spPr>
          <a:xfrm>
            <a:off x="535709" y="891808"/>
            <a:ext cx="11360728" cy="5183964"/>
          </a:xfrm>
          <a:prstGeom prst="rect">
            <a:avLst/>
          </a:prstGeom>
        </p:spPr>
      </p:pic>
      <p:pic>
        <p:nvPicPr>
          <p:cNvPr id="3" name="Imagen 2">
            <a:extLst>
              <a:ext uri="{FF2B5EF4-FFF2-40B4-BE49-F238E27FC236}">
                <a16:creationId xmlns:a16="http://schemas.microsoft.com/office/drawing/2014/main" id="{7CAB2B86-4E3B-C98C-411E-958BEFE187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2528" y="6154887"/>
            <a:ext cx="2234242" cy="525923"/>
          </a:xfrm>
          <a:prstGeom prst="rect">
            <a:avLst/>
          </a:prstGeom>
        </p:spPr>
      </p:pic>
      <p:pic>
        <p:nvPicPr>
          <p:cNvPr id="4" name="Picture 4" descr="Ellucian Student Reseñas 2026: Detalles, Precios y Características | G2">
            <a:extLst>
              <a:ext uri="{FF2B5EF4-FFF2-40B4-BE49-F238E27FC236}">
                <a16:creationId xmlns:a16="http://schemas.microsoft.com/office/drawing/2014/main" id="{7352B780-8C7C-7B91-F3EE-5E6EF2C2E46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98101" y="5901780"/>
            <a:ext cx="1821371" cy="956220"/>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0AEBA78F-8C98-5D4D-384F-95B753FFADE4}"/>
              </a:ext>
            </a:extLst>
          </p:cNvPr>
          <p:cNvSpPr txBox="1"/>
          <p:nvPr/>
        </p:nvSpPr>
        <p:spPr>
          <a:xfrm>
            <a:off x="431320" y="241540"/>
            <a:ext cx="6789038" cy="523220"/>
          </a:xfrm>
          <a:prstGeom prst="rect">
            <a:avLst/>
          </a:prstGeom>
          <a:noFill/>
        </p:spPr>
        <p:txBody>
          <a:bodyPr wrap="none" rtlCol="0">
            <a:spAutoFit/>
          </a:bodyPr>
          <a:lstStyle/>
          <a:p>
            <a:r>
              <a:rPr lang="es-ES" sz="2800" b="1" dirty="0">
                <a:latin typeface="Montserrat" pitchFamily="2" charset="0"/>
              </a:rPr>
              <a:t>CONTROL DE PERIODO - SOATERM</a:t>
            </a:r>
            <a:endParaRPr lang="es-PE" sz="2800" b="1" dirty="0">
              <a:latin typeface="Montserrat" pitchFamily="2" charset="0"/>
            </a:endParaRPr>
          </a:p>
        </p:txBody>
      </p:sp>
      <p:sp>
        <p:nvSpPr>
          <p:cNvPr id="8" name="Rectángulo 7">
            <a:extLst>
              <a:ext uri="{FF2B5EF4-FFF2-40B4-BE49-F238E27FC236}">
                <a16:creationId xmlns:a16="http://schemas.microsoft.com/office/drawing/2014/main" id="{A16BCE08-E23C-F264-A6E3-E4019979D2E2}"/>
              </a:ext>
            </a:extLst>
          </p:cNvPr>
          <p:cNvSpPr/>
          <p:nvPr/>
        </p:nvSpPr>
        <p:spPr>
          <a:xfrm>
            <a:off x="7220358" y="241540"/>
            <a:ext cx="4971641" cy="445583"/>
          </a:xfrm>
          <a:prstGeom prst="rect">
            <a:avLst/>
          </a:prstGeom>
          <a:gradFill flip="none" rotWithShape="1">
            <a:gsLst>
              <a:gs pos="0">
                <a:schemeClr val="accent6">
                  <a:lumMod val="0"/>
                  <a:lumOff val="100000"/>
                </a:schemeClr>
              </a:gs>
              <a:gs pos="66000">
                <a:schemeClr val="accent6">
                  <a:lumMod val="100000"/>
                </a:schemeClr>
              </a:gs>
            </a:gsLst>
            <a:lin ang="0" scaled="1"/>
            <a:tileRect/>
          </a:gra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s-PE"/>
          </a:p>
        </p:txBody>
      </p:sp>
      <p:sp>
        <p:nvSpPr>
          <p:cNvPr id="6" name="CuadroTexto 5">
            <a:extLst>
              <a:ext uri="{FF2B5EF4-FFF2-40B4-BE49-F238E27FC236}">
                <a16:creationId xmlns:a16="http://schemas.microsoft.com/office/drawing/2014/main" id="{AC33DC36-253A-547B-7A30-A152C2F6B4CE}"/>
              </a:ext>
            </a:extLst>
          </p:cNvPr>
          <p:cNvSpPr txBox="1"/>
          <p:nvPr/>
        </p:nvSpPr>
        <p:spPr>
          <a:xfrm>
            <a:off x="4528936" y="6386396"/>
            <a:ext cx="3134128" cy="276999"/>
          </a:xfrm>
          <a:prstGeom prst="rect">
            <a:avLst/>
          </a:prstGeom>
          <a:noFill/>
        </p:spPr>
        <p:txBody>
          <a:bodyPr wrap="none" rtlCol="0">
            <a:spAutoFit/>
          </a:bodyPr>
          <a:lstStyle/>
          <a:p>
            <a:pPr algn="ctr"/>
            <a:r>
              <a:rPr lang="es-ES" sz="1200" i="1" dirty="0"/>
              <a:t>Elaborado por: Ing. Liliana Ocampo Moreno</a:t>
            </a:r>
            <a:endParaRPr lang="es-PE" sz="1200" i="1" dirty="0"/>
          </a:p>
        </p:txBody>
      </p:sp>
      <p:sp>
        <p:nvSpPr>
          <p:cNvPr id="2" name="Rectángulo 1">
            <a:extLst>
              <a:ext uri="{FF2B5EF4-FFF2-40B4-BE49-F238E27FC236}">
                <a16:creationId xmlns:a16="http://schemas.microsoft.com/office/drawing/2014/main" id="{C27C88F6-0518-1E2D-D923-3F9E4B0F0967}"/>
              </a:ext>
            </a:extLst>
          </p:cNvPr>
          <p:cNvSpPr/>
          <p:nvPr/>
        </p:nvSpPr>
        <p:spPr>
          <a:xfrm>
            <a:off x="5056681" y="3110068"/>
            <a:ext cx="1512000" cy="158233"/>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9" name="Rectángulo: esquinas redondeadas 8">
            <a:extLst>
              <a:ext uri="{FF2B5EF4-FFF2-40B4-BE49-F238E27FC236}">
                <a16:creationId xmlns:a16="http://schemas.microsoft.com/office/drawing/2014/main" id="{C66A3BED-08A1-F60C-2AF1-E1A31F8FC01F}"/>
              </a:ext>
            </a:extLst>
          </p:cNvPr>
          <p:cNvSpPr/>
          <p:nvPr/>
        </p:nvSpPr>
        <p:spPr>
          <a:xfrm>
            <a:off x="5632681" y="2796875"/>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s-ES" sz="1100" b="1" dirty="0"/>
              <a:t>14</a:t>
            </a:r>
            <a:endParaRPr lang="es-PE" sz="1100" b="1" dirty="0"/>
          </a:p>
        </p:txBody>
      </p:sp>
      <p:sp>
        <p:nvSpPr>
          <p:cNvPr id="10" name="CuadroTexto 9">
            <a:hlinkClick r:id="rId5" action="ppaction://hlinksldjump"/>
            <a:extLst>
              <a:ext uri="{FF2B5EF4-FFF2-40B4-BE49-F238E27FC236}">
                <a16:creationId xmlns:a16="http://schemas.microsoft.com/office/drawing/2014/main" id="{AF2E9231-D006-E0B3-BBB6-E27218B5FB58}"/>
              </a:ext>
            </a:extLst>
          </p:cNvPr>
          <p:cNvSpPr txBox="1"/>
          <p:nvPr/>
        </p:nvSpPr>
        <p:spPr>
          <a:xfrm>
            <a:off x="4496759" y="1594113"/>
            <a:ext cx="2703164" cy="1150858"/>
          </a:xfrm>
          <a:prstGeom prst="roundRect">
            <a:avLst>
              <a:gd name="adj" fmla="val 7573"/>
            </a:avLst>
          </a:prstGeom>
          <a:solidFill>
            <a:srgbClr val="7030A0"/>
          </a:solidFill>
        </p:spPr>
        <p:txBody>
          <a:bodyPr wrap="square">
            <a:spAutoFit/>
          </a:bodyPr>
          <a:lstStyle/>
          <a:p>
            <a:pPr algn="ctr"/>
            <a:r>
              <a:rPr lang="es-ES" sz="1100" dirty="0">
                <a:solidFill>
                  <a:srgbClr val="FFFFFF"/>
                </a:solidFill>
              </a:rPr>
              <a:t>Permite considerar/calcular el total de reembolso asociado a los movimientos correspondientes. Es particularmente relevante para instituciones que manejan devoluciones de pagos cuando un alumno se </a:t>
            </a:r>
            <a:r>
              <a:rPr lang="es-ES" sz="1100" dirty="0" err="1">
                <a:solidFill>
                  <a:srgbClr val="FFFFFF"/>
                </a:solidFill>
              </a:rPr>
              <a:t>desmatricula</a:t>
            </a:r>
            <a:r>
              <a:rPr lang="es-ES" sz="1100" dirty="0">
                <a:solidFill>
                  <a:srgbClr val="FFFFFF"/>
                </a:solidFill>
              </a:rPr>
              <a:t> de un curso.</a:t>
            </a:r>
            <a:endParaRPr lang="es-ES" b="1" dirty="0">
              <a:effectLst/>
            </a:endParaRPr>
          </a:p>
        </p:txBody>
      </p:sp>
      <p:sp>
        <p:nvSpPr>
          <p:cNvPr id="11" name="Rectángulo 10">
            <a:extLst>
              <a:ext uri="{FF2B5EF4-FFF2-40B4-BE49-F238E27FC236}">
                <a16:creationId xmlns:a16="http://schemas.microsoft.com/office/drawing/2014/main" id="{0E001C18-75A5-EB66-083E-4ADD975CC663}"/>
              </a:ext>
            </a:extLst>
          </p:cNvPr>
          <p:cNvSpPr/>
          <p:nvPr/>
        </p:nvSpPr>
        <p:spPr>
          <a:xfrm>
            <a:off x="5056681" y="3272474"/>
            <a:ext cx="1512000" cy="158233"/>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12" name="Rectángulo: esquinas redondeadas 11">
            <a:extLst>
              <a:ext uri="{FF2B5EF4-FFF2-40B4-BE49-F238E27FC236}">
                <a16:creationId xmlns:a16="http://schemas.microsoft.com/office/drawing/2014/main" id="{5DE24B75-1909-C0DF-45AB-071F54171B7A}"/>
              </a:ext>
            </a:extLst>
          </p:cNvPr>
          <p:cNvSpPr/>
          <p:nvPr/>
        </p:nvSpPr>
        <p:spPr>
          <a:xfrm>
            <a:off x="6652011" y="3234981"/>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s-ES" sz="1100" b="1" dirty="0"/>
              <a:t>15</a:t>
            </a:r>
            <a:endParaRPr lang="es-PE" sz="1100" b="1" dirty="0"/>
          </a:p>
        </p:txBody>
      </p:sp>
      <p:sp>
        <p:nvSpPr>
          <p:cNvPr id="13" name="CuadroTexto 12">
            <a:hlinkClick r:id="rId5" action="ppaction://hlinksldjump"/>
            <a:extLst>
              <a:ext uri="{FF2B5EF4-FFF2-40B4-BE49-F238E27FC236}">
                <a16:creationId xmlns:a16="http://schemas.microsoft.com/office/drawing/2014/main" id="{1AB59ACD-EB3B-BB84-F823-FE60F568741B}"/>
              </a:ext>
            </a:extLst>
          </p:cNvPr>
          <p:cNvSpPr txBox="1"/>
          <p:nvPr/>
        </p:nvSpPr>
        <p:spPr>
          <a:xfrm>
            <a:off x="6939604" y="2962027"/>
            <a:ext cx="3762340" cy="799207"/>
          </a:xfrm>
          <a:prstGeom prst="roundRect">
            <a:avLst>
              <a:gd name="adj" fmla="val 7573"/>
            </a:avLst>
          </a:prstGeom>
          <a:solidFill>
            <a:srgbClr val="7030A0"/>
          </a:solidFill>
        </p:spPr>
        <p:txBody>
          <a:bodyPr wrap="square">
            <a:spAutoFit/>
          </a:bodyPr>
          <a:lstStyle/>
          <a:p>
            <a:pPr algn="ctr"/>
            <a:r>
              <a:rPr lang="es-ES" sz="1100" dirty="0">
                <a:solidFill>
                  <a:srgbClr val="FFFFFF"/>
                </a:solidFill>
              </a:rPr>
              <a:t>Está relacionado con permitir determinados intercambios de cursos/secciones dentro de los procesos de inscripción. Si la institución no permite este tipo de operación, se deja desmarcado. </a:t>
            </a:r>
            <a:r>
              <a:rPr lang="es-ES" sz="1100" b="1" dirty="0">
                <a:solidFill>
                  <a:srgbClr val="FFFFFF"/>
                </a:solidFill>
              </a:rPr>
              <a:t>Marcar.</a:t>
            </a:r>
            <a:endParaRPr lang="es-ES" b="1" dirty="0">
              <a:effectLst/>
            </a:endParaRPr>
          </a:p>
        </p:txBody>
      </p:sp>
      <p:sp>
        <p:nvSpPr>
          <p:cNvPr id="14" name="Rectángulo 13">
            <a:extLst>
              <a:ext uri="{FF2B5EF4-FFF2-40B4-BE49-F238E27FC236}">
                <a16:creationId xmlns:a16="http://schemas.microsoft.com/office/drawing/2014/main" id="{30D72F8D-B3AD-5994-42E6-BA5F5EB108D2}"/>
              </a:ext>
            </a:extLst>
          </p:cNvPr>
          <p:cNvSpPr/>
          <p:nvPr/>
        </p:nvSpPr>
        <p:spPr>
          <a:xfrm>
            <a:off x="5056681" y="3434385"/>
            <a:ext cx="1512000" cy="158233"/>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15" name="Rectángulo: esquinas redondeadas 14">
            <a:extLst>
              <a:ext uri="{FF2B5EF4-FFF2-40B4-BE49-F238E27FC236}">
                <a16:creationId xmlns:a16="http://schemas.microsoft.com/office/drawing/2014/main" id="{4ABC2132-60E8-56A7-9DD8-C26CFB6B72D7}"/>
              </a:ext>
            </a:extLst>
          </p:cNvPr>
          <p:cNvSpPr/>
          <p:nvPr/>
        </p:nvSpPr>
        <p:spPr>
          <a:xfrm>
            <a:off x="5524851" y="3679188"/>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s-ES" sz="1100" b="1" dirty="0"/>
              <a:t>16</a:t>
            </a:r>
            <a:endParaRPr lang="es-PE" sz="1100" b="1" dirty="0"/>
          </a:p>
        </p:txBody>
      </p:sp>
      <p:sp>
        <p:nvSpPr>
          <p:cNvPr id="16" name="CuadroTexto 15">
            <a:hlinkClick r:id="rId5" action="ppaction://hlinksldjump"/>
            <a:extLst>
              <a:ext uri="{FF2B5EF4-FFF2-40B4-BE49-F238E27FC236}">
                <a16:creationId xmlns:a16="http://schemas.microsoft.com/office/drawing/2014/main" id="{B01A9D01-3F79-E6C1-F4E1-F9F4D3155E7E}"/>
              </a:ext>
            </a:extLst>
          </p:cNvPr>
          <p:cNvSpPr txBox="1"/>
          <p:nvPr/>
        </p:nvSpPr>
        <p:spPr>
          <a:xfrm>
            <a:off x="4474274" y="3974248"/>
            <a:ext cx="2532208" cy="1150858"/>
          </a:xfrm>
          <a:prstGeom prst="roundRect">
            <a:avLst>
              <a:gd name="adj" fmla="val 7573"/>
            </a:avLst>
          </a:prstGeom>
          <a:solidFill>
            <a:srgbClr val="7030A0"/>
          </a:solidFill>
        </p:spPr>
        <p:txBody>
          <a:bodyPr wrap="square">
            <a:spAutoFit/>
          </a:bodyPr>
          <a:lstStyle/>
          <a:p>
            <a:pPr algn="ctr"/>
            <a:r>
              <a:rPr lang="es-ES" sz="1100" dirty="0">
                <a:solidFill>
                  <a:srgbClr val="FFFFFF"/>
                </a:solidFill>
              </a:rPr>
              <a:t>Permite utilizar las cuotas/cargos definidos para una sección según el plan de estudios. Es relevante cuando el costo puede variar dependiendo del programa/plan académico del estudiante.</a:t>
            </a:r>
            <a:endParaRPr lang="es-ES" b="1" dirty="0">
              <a:effectLst/>
            </a:endParaRPr>
          </a:p>
        </p:txBody>
      </p:sp>
    </p:spTree>
    <p:extLst>
      <p:ext uri="{BB962C8B-B14F-4D97-AF65-F5344CB8AC3E}">
        <p14:creationId xmlns:p14="http://schemas.microsoft.com/office/powerpoint/2010/main" val="1921952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2000"/>
                                        <p:tgtEl>
                                          <p:spTgt spid="2"/>
                                        </p:tgtEl>
                                      </p:cBhvr>
                                    </p:animEffect>
                                  </p:childTnLst>
                                </p:cTn>
                              </p:par>
                            </p:childTnLst>
                          </p:cTn>
                        </p:par>
                        <p:par>
                          <p:cTn id="8" fill="hold">
                            <p:stCondLst>
                              <p:cond delay="2000"/>
                            </p:stCondLst>
                            <p:childTnLst>
                              <p:par>
                                <p:cTn id="9" presetID="53" presetClass="entr" presetSubtype="16"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p:cTn id="11" dur="500" fill="hold"/>
                                        <p:tgtEl>
                                          <p:spTgt spid="9"/>
                                        </p:tgtEl>
                                        <p:attrNameLst>
                                          <p:attrName>ppt_w</p:attrName>
                                        </p:attrNameLst>
                                      </p:cBhvr>
                                      <p:tavLst>
                                        <p:tav tm="0">
                                          <p:val>
                                            <p:fltVal val="0"/>
                                          </p:val>
                                        </p:tav>
                                        <p:tav tm="100000">
                                          <p:val>
                                            <p:strVal val="#ppt_w"/>
                                          </p:val>
                                        </p:tav>
                                      </p:tavLst>
                                    </p:anim>
                                    <p:anim calcmode="lin" valueType="num">
                                      <p:cBhvr>
                                        <p:cTn id="12" dur="500" fill="hold"/>
                                        <p:tgtEl>
                                          <p:spTgt spid="9"/>
                                        </p:tgtEl>
                                        <p:attrNameLst>
                                          <p:attrName>ppt_h</p:attrName>
                                        </p:attrNameLst>
                                      </p:cBhvr>
                                      <p:tavLst>
                                        <p:tav tm="0">
                                          <p:val>
                                            <p:fltVal val="0"/>
                                          </p:val>
                                        </p:tav>
                                        <p:tav tm="100000">
                                          <p:val>
                                            <p:strVal val="#ppt_h"/>
                                          </p:val>
                                        </p:tav>
                                      </p:tavLst>
                                    </p:anim>
                                    <p:animEffect transition="in" filter="fade">
                                      <p:cBhvr>
                                        <p:cTn id="13" dur="500"/>
                                        <p:tgtEl>
                                          <p:spTgt spid="9"/>
                                        </p:tgtEl>
                                      </p:cBhvr>
                                    </p:animEffect>
                                  </p:childTnLst>
                                </p:cTn>
                              </p:par>
                            </p:childTnLst>
                          </p:cTn>
                        </p:par>
                        <p:par>
                          <p:cTn id="14" fill="hold">
                            <p:stCondLst>
                              <p:cond delay="2500"/>
                            </p:stCondLst>
                            <p:childTnLst>
                              <p:par>
                                <p:cTn id="15" presetID="10" presetClass="entr" presetSubtype="0" fill="hold" grpId="0" nodeType="after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par>
                          <p:cTn id="18" fill="hold">
                            <p:stCondLst>
                              <p:cond delay="3000"/>
                            </p:stCondLst>
                            <p:childTnLst>
                              <p:par>
                                <p:cTn id="19" presetID="21" presetClass="entr" presetSubtype="1" fill="hold" grpId="0" nodeType="after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wheel(1)">
                                      <p:cBhvr>
                                        <p:cTn id="21" dur="2000"/>
                                        <p:tgtEl>
                                          <p:spTgt spid="11"/>
                                        </p:tgtEl>
                                      </p:cBhvr>
                                    </p:animEffect>
                                  </p:childTnLst>
                                </p:cTn>
                              </p:par>
                            </p:childTnLst>
                          </p:cTn>
                        </p:par>
                        <p:par>
                          <p:cTn id="22" fill="hold">
                            <p:stCondLst>
                              <p:cond delay="5000"/>
                            </p:stCondLst>
                            <p:childTnLst>
                              <p:par>
                                <p:cTn id="23" presetID="53" presetClass="entr" presetSubtype="16" fill="hold" grpId="0" nodeType="afterEffect">
                                  <p:stCondLst>
                                    <p:cond delay="0"/>
                                  </p:stCondLst>
                                  <p:childTnLst>
                                    <p:set>
                                      <p:cBhvr>
                                        <p:cTn id="24" dur="1" fill="hold">
                                          <p:stCondLst>
                                            <p:cond delay="0"/>
                                          </p:stCondLst>
                                        </p:cTn>
                                        <p:tgtEl>
                                          <p:spTgt spid="12"/>
                                        </p:tgtEl>
                                        <p:attrNameLst>
                                          <p:attrName>style.visibility</p:attrName>
                                        </p:attrNameLst>
                                      </p:cBhvr>
                                      <p:to>
                                        <p:strVal val="visible"/>
                                      </p:to>
                                    </p:set>
                                    <p:anim calcmode="lin" valueType="num">
                                      <p:cBhvr>
                                        <p:cTn id="25" dur="500" fill="hold"/>
                                        <p:tgtEl>
                                          <p:spTgt spid="12"/>
                                        </p:tgtEl>
                                        <p:attrNameLst>
                                          <p:attrName>ppt_w</p:attrName>
                                        </p:attrNameLst>
                                      </p:cBhvr>
                                      <p:tavLst>
                                        <p:tav tm="0">
                                          <p:val>
                                            <p:fltVal val="0"/>
                                          </p:val>
                                        </p:tav>
                                        <p:tav tm="100000">
                                          <p:val>
                                            <p:strVal val="#ppt_w"/>
                                          </p:val>
                                        </p:tav>
                                      </p:tavLst>
                                    </p:anim>
                                    <p:anim calcmode="lin" valueType="num">
                                      <p:cBhvr>
                                        <p:cTn id="26" dur="500" fill="hold"/>
                                        <p:tgtEl>
                                          <p:spTgt spid="12"/>
                                        </p:tgtEl>
                                        <p:attrNameLst>
                                          <p:attrName>ppt_h</p:attrName>
                                        </p:attrNameLst>
                                      </p:cBhvr>
                                      <p:tavLst>
                                        <p:tav tm="0">
                                          <p:val>
                                            <p:fltVal val="0"/>
                                          </p:val>
                                        </p:tav>
                                        <p:tav tm="100000">
                                          <p:val>
                                            <p:strVal val="#ppt_h"/>
                                          </p:val>
                                        </p:tav>
                                      </p:tavLst>
                                    </p:anim>
                                    <p:animEffect transition="in" filter="fade">
                                      <p:cBhvr>
                                        <p:cTn id="27" dur="500"/>
                                        <p:tgtEl>
                                          <p:spTgt spid="12"/>
                                        </p:tgtEl>
                                      </p:cBhvr>
                                    </p:animEffect>
                                  </p:childTnLst>
                                </p:cTn>
                              </p:par>
                            </p:childTnLst>
                          </p:cTn>
                        </p:par>
                        <p:par>
                          <p:cTn id="28" fill="hold">
                            <p:stCondLst>
                              <p:cond delay="5500"/>
                            </p:stCondLst>
                            <p:childTnLst>
                              <p:par>
                                <p:cTn id="29" presetID="10" presetClass="entr" presetSubtype="0" fill="hold" grpId="0" nodeType="after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childTnLst>
                                </p:cTn>
                              </p:par>
                            </p:childTnLst>
                          </p:cTn>
                        </p:par>
                        <p:par>
                          <p:cTn id="32" fill="hold">
                            <p:stCondLst>
                              <p:cond delay="6000"/>
                            </p:stCondLst>
                            <p:childTnLst>
                              <p:par>
                                <p:cTn id="33" presetID="21" presetClass="entr" presetSubtype="1" fill="hold" grpId="0" nodeType="after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wheel(1)">
                                      <p:cBhvr>
                                        <p:cTn id="35" dur="2000"/>
                                        <p:tgtEl>
                                          <p:spTgt spid="14"/>
                                        </p:tgtEl>
                                      </p:cBhvr>
                                    </p:animEffect>
                                  </p:childTnLst>
                                </p:cTn>
                              </p:par>
                            </p:childTnLst>
                          </p:cTn>
                        </p:par>
                        <p:par>
                          <p:cTn id="36" fill="hold">
                            <p:stCondLst>
                              <p:cond delay="8000"/>
                            </p:stCondLst>
                            <p:childTnLst>
                              <p:par>
                                <p:cTn id="37" presetID="53" presetClass="entr" presetSubtype="16" fill="hold" grpId="0" nodeType="afterEffect">
                                  <p:stCondLst>
                                    <p:cond delay="0"/>
                                  </p:stCondLst>
                                  <p:childTnLst>
                                    <p:set>
                                      <p:cBhvr>
                                        <p:cTn id="38" dur="1" fill="hold">
                                          <p:stCondLst>
                                            <p:cond delay="0"/>
                                          </p:stCondLst>
                                        </p:cTn>
                                        <p:tgtEl>
                                          <p:spTgt spid="15"/>
                                        </p:tgtEl>
                                        <p:attrNameLst>
                                          <p:attrName>style.visibility</p:attrName>
                                        </p:attrNameLst>
                                      </p:cBhvr>
                                      <p:to>
                                        <p:strVal val="visible"/>
                                      </p:to>
                                    </p:set>
                                    <p:anim calcmode="lin" valueType="num">
                                      <p:cBhvr>
                                        <p:cTn id="39" dur="500" fill="hold"/>
                                        <p:tgtEl>
                                          <p:spTgt spid="15"/>
                                        </p:tgtEl>
                                        <p:attrNameLst>
                                          <p:attrName>ppt_w</p:attrName>
                                        </p:attrNameLst>
                                      </p:cBhvr>
                                      <p:tavLst>
                                        <p:tav tm="0">
                                          <p:val>
                                            <p:fltVal val="0"/>
                                          </p:val>
                                        </p:tav>
                                        <p:tav tm="100000">
                                          <p:val>
                                            <p:strVal val="#ppt_w"/>
                                          </p:val>
                                        </p:tav>
                                      </p:tavLst>
                                    </p:anim>
                                    <p:anim calcmode="lin" valueType="num">
                                      <p:cBhvr>
                                        <p:cTn id="40" dur="500" fill="hold"/>
                                        <p:tgtEl>
                                          <p:spTgt spid="15"/>
                                        </p:tgtEl>
                                        <p:attrNameLst>
                                          <p:attrName>ppt_h</p:attrName>
                                        </p:attrNameLst>
                                      </p:cBhvr>
                                      <p:tavLst>
                                        <p:tav tm="0">
                                          <p:val>
                                            <p:fltVal val="0"/>
                                          </p:val>
                                        </p:tav>
                                        <p:tav tm="100000">
                                          <p:val>
                                            <p:strVal val="#ppt_h"/>
                                          </p:val>
                                        </p:tav>
                                      </p:tavLst>
                                    </p:anim>
                                    <p:animEffect transition="in" filter="fade">
                                      <p:cBhvr>
                                        <p:cTn id="41" dur="500"/>
                                        <p:tgtEl>
                                          <p:spTgt spid="15"/>
                                        </p:tgtEl>
                                      </p:cBhvr>
                                    </p:animEffect>
                                  </p:childTnLst>
                                </p:cTn>
                              </p:par>
                            </p:childTnLst>
                          </p:cTn>
                        </p:par>
                        <p:par>
                          <p:cTn id="42" fill="hold">
                            <p:stCondLst>
                              <p:cond delay="8500"/>
                            </p:stCondLst>
                            <p:childTnLst>
                              <p:par>
                                <p:cTn id="43" presetID="10" presetClass="entr" presetSubtype="0" fill="hold" grpId="0" nodeType="after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Imagen 16">
            <a:extLst>
              <a:ext uri="{FF2B5EF4-FFF2-40B4-BE49-F238E27FC236}">
                <a16:creationId xmlns:a16="http://schemas.microsoft.com/office/drawing/2014/main" id="{A34D9A14-E1B0-48B6-8618-51740006E8B7}"/>
              </a:ext>
            </a:extLst>
          </p:cNvPr>
          <p:cNvPicPr>
            <a:picLocks noChangeAspect="1"/>
          </p:cNvPicPr>
          <p:nvPr/>
        </p:nvPicPr>
        <p:blipFill>
          <a:blip r:embed="rId2"/>
          <a:stretch>
            <a:fillRect/>
          </a:stretch>
        </p:blipFill>
        <p:spPr>
          <a:xfrm>
            <a:off x="535709" y="891808"/>
            <a:ext cx="11360728" cy="5183964"/>
          </a:xfrm>
          <a:prstGeom prst="rect">
            <a:avLst/>
          </a:prstGeom>
        </p:spPr>
      </p:pic>
      <p:pic>
        <p:nvPicPr>
          <p:cNvPr id="3" name="Imagen 2">
            <a:extLst>
              <a:ext uri="{FF2B5EF4-FFF2-40B4-BE49-F238E27FC236}">
                <a16:creationId xmlns:a16="http://schemas.microsoft.com/office/drawing/2014/main" id="{7CAB2B86-4E3B-C98C-411E-958BEFE187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2528" y="6154887"/>
            <a:ext cx="2234242" cy="525923"/>
          </a:xfrm>
          <a:prstGeom prst="rect">
            <a:avLst/>
          </a:prstGeom>
        </p:spPr>
      </p:pic>
      <p:pic>
        <p:nvPicPr>
          <p:cNvPr id="4" name="Picture 4" descr="Ellucian Student Reseñas 2026: Detalles, Precios y Características | G2">
            <a:extLst>
              <a:ext uri="{FF2B5EF4-FFF2-40B4-BE49-F238E27FC236}">
                <a16:creationId xmlns:a16="http://schemas.microsoft.com/office/drawing/2014/main" id="{7352B780-8C7C-7B91-F3EE-5E6EF2C2E46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98101" y="5901780"/>
            <a:ext cx="1821371" cy="956220"/>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0AEBA78F-8C98-5D4D-384F-95B753FFADE4}"/>
              </a:ext>
            </a:extLst>
          </p:cNvPr>
          <p:cNvSpPr txBox="1"/>
          <p:nvPr/>
        </p:nvSpPr>
        <p:spPr>
          <a:xfrm>
            <a:off x="431320" y="241540"/>
            <a:ext cx="6789038" cy="523220"/>
          </a:xfrm>
          <a:prstGeom prst="rect">
            <a:avLst/>
          </a:prstGeom>
          <a:noFill/>
        </p:spPr>
        <p:txBody>
          <a:bodyPr wrap="none" rtlCol="0">
            <a:spAutoFit/>
          </a:bodyPr>
          <a:lstStyle/>
          <a:p>
            <a:r>
              <a:rPr lang="es-ES" sz="2800" b="1" dirty="0">
                <a:latin typeface="Montserrat" pitchFamily="2" charset="0"/>
              </a:rPr>
              <a:t>CONTROL DE PERIODO - SOATERM</a:t>
            </a:r>
            <a:endParaRPr lang="es-PE" sz="2800" b="1" dirty="0">
              <a:latin typeface="Montserrat" pitchFamily="2" charset="0"/>
            </a:endParaRPr>
          </a:p>
        </p:txBody>
      </p:sp>
      <p:sp>
        <p:nvSpPr>
          <p:cNvPr id="8" name="Rectángulo 7">
            <a:extLst>
              <a:ext uri="{FF2B5EF4-FFF2-40B4-BE49-F238E27FC236}">
                <a16:creationId xmlns:a16="http://schemas.microsoft.com/office/drawing/2014/main" id="{A16BCE08-E23C-F264-A6E3-E4019979D2E2}"/>
              </a:ext>
            </a:extLst>
          </p:cNvPr>
          <p:cNvSpPr/>
          <p:nvPr/>
        </p:nvSpPr>
        <p:spPr>
          <a:xfrm>
            <a:off x="7220358" y="241540"/>
            <a:ext cx="4971641" cy="445583"/>
          </a:xfrm>
          <a:prstGeom prst="rect">
            <a:avLst/>
          </a:prstGeom>
          <a:gradFill flip="none" rotWithShape="1">
            <a:gsLst>
              <a:gs pos="0">
                <a:schemeClr val="accent6">
                  <a:lumMod val="0"/>
                  <a:lumOff val="100000"/>
                </a:schemeClr>
              </a:gs>
              <a:gs pos="66000">
                <a:schemeClr val="accent6">
                  <a:lumMod val="100000"/>
                </a:schemeClr>
              </a:gs>
            </a:gsLst>
            <a:lin ang="0" scaled="1"/>
            <a:tileRect/>
          </a:gra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s-PE"/>
          </a:p>
        </p:txBody>
      </p:sp>
      <p:sp>
        <p:nvSpPr>
          <p:cNvPr id="6" name="CuadroTexto 5">
            <a:extLst>
              <a:ext uri="{FF2B5EF4-FFF2-40B4-BE49-F238E27FC236}">
                <a16:creationId xmlns:a16="http://schemas.microsoft.com/office/drawing/2014/main" id="{AC33DC36-253A-547B-7A30-A152C2F6B4CE}"/>
              </a:ext>
            </a:extLst>
          </p:cNvPr>
          <p:cNvSpPr txBox="1"/>
          <p:nvPr/>
        </p:nvSpPr>
        <p:spPr>
          <a:xfrm>
            <a:off x="4528936" y="6386396"/>
            <a:ext cx="3134128" cy="276999"/>
          </a:xfrm>
          <a:prstGeom prst="rect">
            <a:avLst/>
          </a:prstGeom>
          <a:noFill/>
        </p:spPr>
        <p:txBody>
          <a:bodyPr wrap="none" rtlCol="0">
            <a:spAutoFit/>
          </a:bodyPr>
          <a:lstStyle/>
          <a:p>
            <a:pPr algn="ctr"/>
            <a:r>
              <a:rPr lang="es-ES" sz="1200" i="1" dirty="0"/>
              <a:t>Elaborado por: Ing. Liliana Ocampo Moreno</a:t>
            </a:r>
            <a:endParaRPr lang="es-PE" sz="1200" i="1" dirty="0"/>
          </a:p>
        </p:txBody>
      </p:sp>
      <p:sp>
        <p:nvSpPr>
          <p:cNvPr id="2" name="Rectángulo 1">
            <a:extLst>
              <a:ext uri="{FF2B5EF4-FFF2-40B4-BE49-F238E27FC236}">
                <a16:creationId xmlns:a16="http://schemas.microsoft.com/office/drawing/2014/main" id="{C27C88F6-0518-1E2D-D923-3F9E4B0F0967}"/>
              </a:ext>
            </a:extLst>
          </p:cNvPr>
          <p:cNvSpPr/>
          <p:nvPr/>
        </p:nvSpPr>
        <p:spPr>
          <a:xfrm>
            <a:off x="8760464" y="3110068"/>
            <a:ext cx="1512000" cy="158233"/>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9" name="Rectángulo: esquinas redondeadas 8">
            <a:extLst>
              <a:ext uri="{FF2B5EF4-FFF2-40B4-BE49-F238E27FC236}">
                <a16:creationId xmlns:a16="http://schemas.microsoft.com/office/drawing/2014/main" id="{C66A3BED-08A1-F60C-2AF1-E1A31F8FC01F}"/>
              </a:ext>
            </a:extLst>
          </p:cNvPr>
          <p:cNvSpPr/>
          <p:nvPr/>
        </p:nvSpPr>
        <p:spPr>
          <a:xfrm>
            <a:off x="9336464" y="2796875"/>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s-ES" sz="1100" b="1" dirty="0"/>
              <a:t>17</a:t>
            </a:r>
            <a:endParaRPr lang="es-PE" sz="1100" b="1" dirty="0"/>
          </a:p>
        </p:txBody>
      </p:sp>
      <p:sp>
        <p:nvSpPr>
          <p:cNvPr id="10" name="CuadroTexto 9">
            <a:hlinkClick r:id="rId5" action="ppaction://hlinksldjump"/>
            <a:extLst>
              <a:ext uri="{FF2B5EF4-FFF2-40B4-BE49-F238E27FC236}">
                <a16:creationId xmlns:a16="http://schemas.microsoft.com/office/drawing/2014/main" id="{AF2E9231-D006-E0B3-BBB6-E27218B5FB58}"/>
              </a:ext>
            </a:extLst>
          </p:cNvPr>
          <p:cNvSpPr txBox="1"/>
          <p:nvPr/>
        </p:nvSpPr>
        <p:spPr>
          <a:xfrm>
            <a:off x="8080472" y="1908145"/>
            <a:ext cx="2703164" cy="799207"/>
          </a:xfrm>
          <a:prstGeom prst="roundRect">
            <a:avLst>
              <a:gd name="adj" fmla="val 7573"/>
            </a:avLst>
          </a:prstGeom>
          <a:solidFill>
            <a:srgbClr val="7030A0"/>
          </a:solidFill>
        </p:spPr>
        <p:txBody>
          <a:bodyPr wrap="square">
            <a:spAutoFit/>
          </a:bodyPr>
          <a:lstStyle/>
          <a:p>
            <a:pPr algn="ctr"/>
            <a:r>
              <a:rPr lang="es-ES" sz="1100" dirty="0">
                <a:solidFill>
                  <a:srgbClr val="FFFFFF"/>
                </a:solidFill>
              </a:rPr>
              <a:t>Permite que determinados cargos que no corresponden directamente a colegiatura/cuota puedan ser revertidos bajo las reglas del proceso.</a:t>
            </a:r>
            <a:endParaRPr lang="es-ES" b="1" dirty="0">
              <a:effectLst/>
            </a:endParaRPr>
          </a:p>
        </p:txBody>
      </p:sp>
      <p:sp>
        <p:nvSpPr>
          <p:cNvPr id="11" name="Rectángulo 10">
            <a:extLst>
              <a:ext uri="{FF2B5EF4-FFF2-40B4-BE49-F238E27FC236}">
                <a16:creationId xmlns:a16="http://schemas.microsoft.com/office/drawing/2014/main" id="{0E001C18-75A5-EB66-083E-4ADD975CC663}"/>
              </a:ext>
            </a:extLst>
          </p:cNvPr>
          <p:cNvSpPr/>
          <p:nvPr/>
        </p:nvSpPr>
        <p:spPr>
          <a:xfrm>
            <a:off x="8760464" y="3272474"/>
            <a:ext cx="1512000" cy="158233"/>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12" name="Rectángulo: esquinas redondeadas 11">
            <a:extLst>
              <a:ext uri="{FF2B5EF4-FFF2-40B4-BE49-F238E27FC236}">
                <a16:creationId xmlns:a16="http://schemas.microsoft.com/office/drawing/2014/main" id="{5DE24B75-1909-C0DF-45AB-071F54171B7A}"/>
              </a:ext>
            </a:extLst>
          </p:cNvPr>
          <p:cNvSpPr/>
          <p:nvPr/>
        </p:nvSpPr>
        <p:spPr>
          <a:xfrm>
            <a:off x="10355794" y="3234981"/>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s-ES" sz="1100" b="1" dirty="0"/>
              <a:t>18</a:t>
            </a:r>
            <a:endParaRPr lang="es-PE" sz="1100" b="1" dirty="0"/>
          </a:p>
        </p:txBody>
      </p:sp>
      <p:sp>
        <p:nvSpPr>
          <p:cNvPr id="13" name="CuadroTexto 12">
            <a:hlinkClick r:id="rId5" action="ppaction://hlinksldjump"/>
            <a:extLst>
              <a:ext uri="{FF2B5EF4-FFF2-40B4-BE49-F238E27FC236}">
                <a16:creationId xmlns:a16="http://schemas.microsoft.com/office/drawing/2014/main" id="{1AB59ACD-EB3B-BB84-F823-FE60F568741B}"/>
              </a:ext>
            </a:extLst>
          </p:cNvPr>
          <p:cNvSpPr txBox="1"/>
          <p:nvPr/>
        </p:nvSpPr>
        <p:spPr>
          <a:xfrm>
            <a:off x="10654784" y="2803266"/>
            <a:ext cx="1188395" cy="1150858"/>
          </a:xfrm>
          <a:prstGeom prst="roundRect">
            <a:avLst>
              <a:gd name="adj" fmla="val 7573"/>
            </a:avLst>
          </a:prstGeom>
          <a:solidFill>
            <a:srgbClr val="7030A0"/>
          </a:solidFill>
        </p:spPr>
        <p:txBody>
          <a:bodyPr wrap="square">
            <a:spAutoFit/>
          </a:bodyPr>
          <a:lstStyle/>
          <a:p>
            <a:pPr algn="ctr"/>
            <a:r>
              <a:rPr lang="es-ES" sz="1100" dirty="0">
                <a:solidFill>
                  <a:srgbClr val="FFFFFF"/>
                </a:solidFill>
              </a:rPr>
              <a:t>Es la fecha desde la cual aplica la configuración asociada a esta funcionalidad.</a:t>
            </a:r>
            <a:endParaRPr lang="es-ES" b="1" dirty="0">
              <a:effectLst/>
            </a:endParaRPr>
          </a:p>
        </p:txBody>
      </p:sp>
      <p:sp>
        <p:nvSpPr>
          <p:cNvPr id="14" name="Rectángulo 13">
            <a:extLst>
              <a:ext uri="{FF2B5EF4-FFF2-40B4-BE49-F238E27FC236}">
                <a16:creationId xmlns:a16="http://schemas.microsoft.com/office/drawing/2014/main" id="{30D72F8D-B3AD-5994-42E6-BA5F5EB108D2}"/>
              </a:ext>
            </a:extLst>
          </p:cNvPr>
          <p:cNvSpPr/>
          <p:nvPr/>
        </p:nvSpPr>
        <p:spPr>
          <a:xfrm>
            <a:off x="8760464" y="3434385"/>
            <a:ext cx="1512000" cy="158233"/>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15" name="Rectángulo: esquinas redondeadas 14">
            <a:extLst>
              <a:ext uri="{FF2B5EF4-FFF2-40B4-BE49-F238E27FC236}">
                <a16:creationId xmlns:a16="http://schemas.microsoft.com/office/drawing/2014/main" id="{4ABC2132-60E8-56A7-9DD8-C26CFB6B72D7}"/>
              </a:ext>
            </a:extLst>
          </p:cNvPr>
          <p:cNvSpPr/>
          <p:nvPr/>
        </p:nvSpPr>
        <p:spPr>
          <a:xfrm>
            <a:off x="9228634" y="3679188"/>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s-ES" sz="1100" b="1" dirty="0"/>
              <a:t>19</a:t>
            </a:r>
            <a:endParaRPr lang="es-PE" sz="1100" b="1" dirty="0"/>
          </a:p>
        </p:txBody>
      </p:sp>
      <p:sp>
        <p:nvSpPr>
          <p:cNvPr id="16" name="CuadroTexto 15">
            <a:hlinkClick r:id="rId5" action="ppaction://hlinksldjump"/>
            <a:extLst>
              <a:ext uri="{FF2B5EF4-FFF2-40B4-BE49-F238E27FC236}">
                <a16:creationId xmlns:a16="http://schemas.microsoft.com/office/drawing/2014/main" id="{B01A9D01-3F79-E6C1-F4E1-F9F4D3155E7E}"/>
              </a:ext>
            </a:extLst>
          </p:cNvPr>
          <p:cNvSpPr txBox="1"/>
          <p:nvPr/>
        </p:nvSpPr>
        <p:spPr>
          <a:xfrm>
            <a:off x="7962530" y="3969384"/>
            <a:ext cx="2532208" cy="1150858"/>
          </a:xfrm>
          <a:prstGeom prst="roundRect">
            <a:avLst>
              <a:gd name="adj" fmla="val 7573"/>
            </a:avLst>
          </a:prstGeom>
          <a:solidFill>
            <a:srgbClr val="7030A0"/>
          </a:solidFill>
        </p:spPr>
        <p:txBody>
          <a:bodyPr wrap="square">
            <a:spAutoFit/>
          </a:bodyPr>
          <a:lstStyle/>
          <a:p>
            <a:pPr algn="ctr"/>
            <a:r>
              <a:rPr lang="es-ES" sz="1100" dirty="0">
                <a:solidFill>
                  <a:srgbClr val="FFFFFF"/>
                </a:solidFill>
              </a:rPr>
              <a:t>Permite utilizar las cuotas/cargos definidos para una sección según el plan de estudios. Es relevante cuando el costo puede variar dependiendo del programa/plan académico del estudiante.</a:t>
            </a:r>
            <a:endParaRPr lang="es-ES" b="1" dirty="0">
              <a:effectLst/>
            </a:endParaRPr>
          </a:p>
        </p:txBody>
      </p:sp>
    </p:spTree>
    <p:extLst>
      <p:ext uri="{BB962C8B-B14F-4D97-AF65-F5344CB8AC3E}">
        <p14:creationId xmlns:p14="http://schemas.microsoft.com/office/powerpoint/2010/main" val="25422376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2000"/>
                                        <p:tgtEl>
                                          <p:spTgt spid="2"/>
                                        </p:tgtEl>
                                      </p:cBhvr>
                                    </p:animEffect>
                                  </p:childTnLst>
                                </p:cTn>
                              </p:par>
                            </p:childTnLst>
                          </p:cTn>
                        </p:par>
                        <p:par>
                          <p:cTn id="8" fill="hold">
                            <p:stCondLst>
                              <p:cond delay="2000"/>
                            </p:stCondLst>
                            <p:childTnLst>
                              <p:par>
                                <p:cTn id="9" presetID="53" presetClass="entr" presetSubtype="16"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p:cTn id="11" dur="500" fill="hold"/>
                                        <p:tgtEl>
                                          <p:spTgt spid="9"/>
                                        </p:tgtEl>
                                        <p:attrNameLst>
                                          <p:attrName>ppt_w</p:attrName>
                                        </p:attrNameLst>
                                      </p:cBhvr>
                                      <p:tavLst>
                                        <p:tav tm="0">
                                          <p:val>
                                            <p:fltVal val="0"/>
                                          </p:val>
                                        </p:tav>
                                        <p:tav tm="100000">
                                          <p:val>
                                            <p:strVal val="#ppt_w"/>
                                          </p:val>
                                        </p:tav>
                                      </p:tavLst>
                                    </p:anim>
                                    <p:anim calcmode="lin" valueType="num">
                                      <p:cBhvr>
                                        <p:cTn id="12" dur="500" fill="hold"/>
                                        <p:tgtEl>
                                          <p:spTgt spid="9"/>
                                        </p:tgtEl>
                                        <p:attrNameLst>
                                          <p:attrName>ppt_h</p:attrName>
                                        </p:attrNameLst>
                                      </p:cBhvr>
                                      <p:tavLst>
                                        <p:tav tm="0">
                                          <p:val>
                                            <p:fltVal val="0"/>
                                          </p:val>
                                        </p:tav>
                                        <p:tav tm="100000">
                                          <p:val>
                                            <p:strVal val="#ppt_h"/>
                                          </p:val>
                                        </p:tav>
                                      </p:tavLst>
                                    </p:anim>
                                    <p:animEffect transition="in" filter="fade">
                                      <p:cBhvr>
                                        <p:cTn id="13" dur="500"/>
                                        <p:tgtEl>
                                          <p:spTgt spid="9"/>
                                        </p:tgtEl>
                                      </p:cBhvr>
                                    </p:animEffect>
                                  </p:childTnLst>
                                </p:cTn>
                              </p:par>
                            </p:childTnLst>
                          </p:cTn>
                        </p:par>
                        <p:par>
                          <p:cTn id="14" fill="hold">
                            <p:stCondLst>
                              <p:cond delay="2500"/>
                            </p:stCondLst>
                            <p:childTnLst>
                              <p:par>
                                <p:cTn id="15" presetID="10" presetClass="entr" presetSubtype="0" fill="hold" grpId="0" nodeType="after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par>
                          <p:cTn id="18" fill="hold">
                            <p:stCondLst>
                              <p:cond delay="3000"/>
                            </p:stCondLst>
                            <p:childTnLst>
                              <p:par>
                                <p:cTn id="19" presetID="21" presetClass="entr" presetSubtype="1" fill="hold" grpId="0" nodeType="after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wheel(1)">
                                      <p:cBhvr>
                                        <p:cTn id="21" dur="2000"/>
                                        <p:tgtEl>
                                          <p:spTgt spid="11"/>
                                        </p:tgtEl>
                                      </p:cBhvr>
                                    </p:animEffect>
                                  </p:childTnLst>
                                </p:cTn>
                              </p:par>
                            </p:childTnLst>
                          </p:cTn>
                        </p:par>
                        <p:par>
                          <p:cTn id="22" fill="hold">
                            <p:stCondLst>
                              <p:cond delay="5000"/>
                            </p:stCondLst>
                            <p:childTnLst>
                              <p:par>
                                <p:cTn id="23" presetID="53" presetClass="entr" presetSubtype="16" fill="hold" grpId="0" nodeType="afterEffect">
                                  <p:stCondLst>
                                    <p:cond delay="0"/>
                                  </p:stCondLst>
                                  <p:childTnLst>
                                    <p:set>
                                      <p:cBhvr>
                                        <p:cTn id="24" dur="1" fill="hold">
                                          <p:stCondLst>
                                            <p:cond delay="0"/>
                                          </p:stCondLst>
                                        </p:cTn>
                                        <p:tgtEl>
                                          <p:spTgt spid="12"/>
                                        </p:tgtEl>
                                        <p:attrNameLst>
                                          <p:attrName>style.visibility</p:attrName>
                                        </p:attrNameLst>
                                      </p:cBhvr>
                                      <p:to>
                                        <p:strVal val="visible"/>
                                      </p:to>
                                    </p:set>
                                    <p:anim calcmode="lin" valueType="num">
                                      <p:cBhvr>
                                        <p:cTn id="25" dur="500" fill="hold"/>
                                        <p:tgtEl>
                                          <p:spTgt spid="12"/>
                                        </p:tgtEl>
                                        <p:attrNameLst>
                                          <p:attrName>ppt_w</p:attrName>
                                        </p:attrNameLst>
                                      </p:cBhvr>
                                      <p:tavLst>
                                        <p:tav tm="0">
                                          <p:val>
                                            <p:fltVal val="0"/>
                                          </p:val>
                                        </p:tav>
                                        <p:tav tm="100000">
                                          <p:val>
                                            <p:strVal val="#ppt_w"/>
                                          </p:val>
                                        </p:tav>
                                      </p:tavLst>
                                    </p:anim>
                                    <p:anim calcmode="lin" valueType="num">
                                      <p:cBhvr>
                                        <p:cTn id="26" dur="500" fill="hold"/>
                                        <p:tgtEl>
                                          <p:spTgt spid="12"/>
                                        </p:tgtEl>
                                        <p:attrNameLst>
                                          <p:attrName>ppt_h</p:attrName>
                                        </p:attrNameLst>
                                      </p:cBhvr>
                                      <p:tavLst>
                                        <p:tav tm="0">
                                          <p:val>
                                            <p:fltVal val="0"/>
                                          </p:val>
                                        </p:tav>
                                        <p:tav tm="100000">
                                          <p:val>
                                            <p:strVal val="#ppt_h"/>
                                          </p:val>
                                        </p:tav>
                                      </p:tavLst>
                                    </p:anim>
                                    <p:animEffect transition="in" filter="fade">
                                      <p:cBhvr>
                                        <p:cTn id="27" dur="500"/>
                                        <p:tgtEl>
                                          <p:spTgt spid="12"/>
                                        </p:tgtEl>
                                      </p:cBhvr>
                                    </p:animEffect>
                                  </p:childTnLst>
                                </p:cTn>
                              </p:par>
                            </p:childTnLst>
                          </p:cTn>
                        </p:par>
                        <p:par>
                          <p:cTn id="28" fill="hold">
                            <p:stCondLst>
                              <p:cond delay="5500"/>
                            </p:stCondLst>
                            <p:childTnLst>
                              <p:par>
                                <p:cTn id="29" presetID="10" presetClass="entr" presetSubtype="0" fill="hold" grpId="0" nodeType="after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childTnLst>
                                </p:cTn>
                              </p:par>
                            </p:childTnLst>
                          </p:cTn>
                        </p:par>
                        <p:par>
                          <p:cTn id="32" fill="hold">
                            <p:stCondLst>
                              <p:cond delay="6000"/>
                            </p:stCondLst>
                            <p:childTnLst>
                              <p:par>
                                <p:cTn id="33" presetID="21" presetClass="entr" presetSubtype="1" fill="hold" grpId="0" nodeType="after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wheel(1)">
                                      <p:cBhvr>
                                        <p:cTn id="35" dur="2000"/>
                                        <p:tgtEl>
                                          <p:spTgt spid="14"/>
                                        </p:tgtEl>
                                      </p:cBhvr>
                                    </p:animEffect>
                                  </p:childTnLst>
                                </p:cTn>
                              </p:par>
                            </p:childTnLst>
                          </p:cTn>
                        </p:par>
                        <p:par>
                          <p:cTn id="36" fill="hold">
                            <p:stCondLst>
                              <p:cond delay="8000"/>
                            </p:stCondLst>
                            <p:childTnLst>
                              <p:par>
                                <p:cTn id="37" presetID="53" presetClass="entr" presetSubtype="16" fill="hold" grpId="0" nodeType="afterEffect">
                                  <p:stCondLst>
                                    <p:cond delay="0"/>
                                  </p:stCondLst>
                                  <p:childTnLst>
                                    <p:set>
                                      <p:cBhvr>
                                        <p:cTn id="38" dur="1" fill="hold">
                                          <p:stCondLst>
                                            <p:cond delay="0"/>
                                          </p:stCondLst>
                                        </p:cTn>
                                        <p:tgtEl>
                                          <p:spTgt spid="15"/>
                                        </p:tgtEl>
                                        <p:attrNameLst>
                                          <p:attrName>style.visibility</p:attrName>
                                        </p:attrNameLst>
                                      </p:cBhvr>
                                      <p:to>
                                        <p:strVal val="visible"/>
                                      </p:to>
                                    </p:set>
                                    <p:anim calcmode="lin" valueType="num">
                                      <p:cBhvr>
                                        <p:cTn id="39" dur="500" fill="hold"/>
                                        <p:tgtEl>
                                          <p:spTgt spid="15"/>
                                        </p:tgtEl>
                                        <p:attrNameLst>
                                          <p:attrName>ppt_w</p:attrName>
                                        </p:attrNameLst>
                                      </p:cBhvr>
                                      <p:tavLst>
                                        <p:tav tm="0">
                                          <p:val>
                                            <p:fltVal val="0"/>
                                          </p:val>
                                        </p:tav>
                                        <p:tav tm="100000">
                                          <p:val>
                                            <p:strVal val="#ppt_w"/>
                                          </p:val>
                                        </p:tav>
                                      </p:tavLst>
                                    </p:anim>
                                    <p:anim calcmode="lin" valueType="num">
                                      <p:cBhvr>
                                        <p:cTn id="40" dur="500" fill="hold"/>
                                        <p:tgtEl>
                                          <p:spTgt spid="15"/>
                                        </p:tgtEl>
                                        <p:attrNameLst>
                                          <p:attrName>ppt_h</p:attrName>
                                        </p:attrNameLst>
                                      </p:cBhvr>
                                      <p:tavLst>
                                        <p:tav tm="0">
                                          <p:val>
                                            <p:fltVal val="0"/>
                                          </p:val>
                                        </p:tav>
                                        <p:tav tm="100000">
                                          <p:val>
                                            <p:strVal val="#ppt_h"/>
                                          </p:val>
                                        </p:tav>
                                      </p:tavLst>
                                    </p:anim>
                                    <p:animEffect transition="in" filter="fade">
                                      <p:cBhvr>
                                        <p:cTn id="41" dur="500"/>
                                        <p:tgtEl>
                                          <p:spTgt spid="15"/>
                                        </p:tgtEl>
                                      </p:cBhvr>
                                    </p:animEffect>
                                  </p:childTnLst>
                                </p:cTn>
                              </p:par>
                            </p:childTnLst>
                          </p:cTn>
                        </p:par>
                        <p:par>
                          <p:cTn id="42" fill="hold">
                            <p:stCondLst>
                              <p:cond delay="8500"/>
                            </p:stCondLst>
                            <p:childTnLst>
                              <p:par>
                                <p:cTn id="43" presetID="10" presetClass="entr" presetSubtype="0" fill="hold" grpId="0" nodeType="after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Imagen 10">
            <a:extLst>
              <a:ext uri="{FF2B5EF4-FFF2-40B4-BE49-F238E27FC236}">
                <a16:creationId xmlns:a16="http://schemas.microsoft.com/office/drawing/2014/main" id="{5EDE6CFF-85EA-4046-98DA-2DE2F1639B49}"/>
              </a:ext>
            </a:extLst>
          </p:cNvPr>
          <p:cNvPicPr>
            <a:picLocks noChangeAspect="1"/>
          </p:cNvPicPr>
          <p:nvPr/>
        </p:nvPicPr>
        <p:blipFill>
          <a:blip r:embed="rId2"/>
          <a:stretch>
            <a:fillRect/>
          </a:stretch>
        </p:blipFill>
        <p:spPr>
          <a:xfrm>
            <a:off x="535709" y="891808"/>
            <a:ext cx="11360728" cy="5183964"/>
          </a:xfrm>
          <a:prstGeom prst="rect">
            <a:avLst/>
          </a:prstGeom>
        </p:spPr>
      </p:pic>
      <p:pic>
        <p:nvPicPr>
          <p:cNvPr id="3" name="Imagen 2">
            <a:extLst>
              <a:ext uri="{FF2B5EF4-FFF2-40B4-BE49-F238E27FC236}">
                <a16:creationId xmlns:a16="http://schemas.microsoft.com/office/drawing/2014/main" id="{7CAB2B86-4E3B-C98C-411E-958BEFE187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2528" y="6154887"/>
            <a:ext cx="2234242" cy="525923"/>
          </a:xfrm>
          <a:prstGeom prst="rect">
            <a:avLst/>
          </a:prstGeom>
        </p:spPr>
      </p:pic>
      <p:pic>
        <p:nvPicPr>
          <p:cNvPr id="4" name="Picture 4" descr="Ellucian Student Reseñas 2026: Detalles, Precios y Características | G2">
            <a:extLst>
              <a:ext uri="{FF2B5EF4-FFF2-40B4-BE49-F238E27FC236}">
                <a16:creationId xmlns:a16="http://schemas.microsoft.com/office/drawing/2014/main" id="{7352B780-8C7C-7B91-F3EE-5E6EF2C2E46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98101" y="5901780"/>
            <a:ext cx="1821371" cy="956220"/>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0AEBA78F-8C98-5D4D-384F-95B753FFADE4}"/>
              </a:ext>
            </a:extLst>
          </p:cNvPr>
          <p:cNvSpPr txBox="1"/>
          <p:nvPr/>
        </p:nvSpPr>
        <p:spPr>
          <a:xfrm>
            <a:off x="431320" y="241540"/>
            <a:ext cx="6789038" cy="523220"/>
          </a:xfrm>
          <a:prstGeom prst="rect">
            <a:avLst/>
          </a:prstGeom>
          <a:noFill/>
        </p:spPr>
        <p:txBody>
          <a:bodyPr wrap="none" rtlCol="0">
            <a:spAutoFit/>
          </a:bodyPr>
          <a:lstStyle/>
          <a:p>
            <a:r>
              <a:rPr lang="es-ES" sz="2800" b="1" dirty="0">
                <a:latin typeface="Montserrat" pitchFamily="2" charset="0"/>
              </a:rPr>
              <a:t>CONTROL DE PERIODO - SOATERM</a:t>
            </a:r>
            <a:endParaRPr lang="es-PE" sz="2800" b="1" dirty="0">
              <a:latin typeface="Montserrat" pitchFamily="2" charset="0"/>
            </a:endParaRPr>
          </a:p>
        </p:txBody>
      </p:sp>
      <p:sp>
        <p:nvSpPr>
          <p:cNvPr id="8" name="Rectángulo 7">
            <a:extLst>
              <a:ext uri="{FF2B5EF4-FFF2-40B4-BE49-F238E27FC236}">
                <a16:creationId xmlns:a16="http://schemas.microsoft.com/office/drawing/2014/main" id="{A16BCE08-E23C-F264-A6E3-E4019979D2E2}"/>
              </a:ext>
            </a:extLst>
          </p:cNvPr>
          <p:cNvSpPr/>
          <p:nvPr/>
        </p:nvSpPr>
        <p:spPr>
          <a:xfrm>
            <a:off x="7220358" y="241540"/>
            <a:ext cx="4971641" cy="445583"/>
          </a:xfrm>
          <a:prstGeom prst="rect">
            <a:avLst/>
          </a:prstGeom>
          <a:gradFill flip="none" rotWithShape="1">
            <a:gsLst>
              <a:gs pos="0">
                <a:schemeClr val="accent6">
                  <a:lumMod val="0"/>
                  <a:lumOff val="100000"/>
                </a:schemeClr>
              </a:gs>
              <a:gs pos="66000">
                <a:schemeClr val="accent6">
                  <a:lumMod val="100000"/>
                </a:schemeClr>
              </a:gs>
            </a:gsLst>
            <a:lin ang="0" scaled="1"/>
            <a:tileRect/>
          </a:gra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s-PE"/>
          </a:p>
        </p:txBody>
      </p:sp>
      <p:sp>
        <p:nvSpPr>
          <p:cNvPr id="6" name="CuadroTexto 5">
            <a:extLst>
              <a:ext uri="{FF2B5EF4-FFF2-40B4-BE49-F238E27FC236}">
                <a16:creationId xmlns:a16="http://schemas.microsoft.com/office/drawing/2014/main" id="{AC33DC36-253A-547B-7A30-A152C2F6B4CE}"/>
              </a:ext>
            </a:extLst>
          </p:cNvPr>
          <p:cNvSpPr txBox="1"/>
          <p:nvPr/>
        </p:nvSpPr>
        <p:spPr>
          <a:xfrm>
            <a:off x="4528936" y="6386396"/>
            <a:ext cx="3134128" cy="276999"/>
          </a:xfrm>
          <a:prstGeom prst="rect">
            <a:avLst/>
          </a:prstGeom>
          <a:noFill/>
        </p:spPr>
        <p:txBody>
          <a:bodyPr wrap="none" rtlCol="0">
            <a:spAutoFit/>
          </a:bodyPr>
          <a:lstStyle/>
          <a:p>
            <a:pPr algn="ctr"/>
            <a:r>
              <a:rPr lang="es-ES" sz="1200" i="1" dirty="0"/>
              <a:t>Elaborado por: Ing. Liliana Ocampo Moreno</a:t>
            </a:r>
            <a:endParaRPr lang="es-PE" sz="1200" i="1" dirty="0"/>
          </a:p>
        </p:txBody>
      </p:sp>
      <p:sp>
        <p:nvSpPr>
          <p:cNvPr id="17" name="Rectángulo 16">
            <a:extLst>
              <a:ext uri="{FF2B5EF4-FFF2-40B4-BE49-F238E27FC236}">
                <a16:creationId xmlns:a16="http://schemas.microsoft.com/office/drawing/2014/main" id="{78CC3F19-4926-61D3-48DE-BA01E823724C}"/>
              </a:ext>
            </a:extLst>
          </p:cNvPr>
          <p:cNvSpPr/>
          <p:nvPr/>
        </p:nvSpPr>
        <p:spPr>
          <a:xfrm>
            <a:off x="1389106" y="3929591"/>
            <a:ext cx="2340000" cy="195536"/>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18" name="Rectángulo: esquinas redondeadas 17">
            <a:extLst>
              <a:ext uri="{FF2B5EF4-FFF2-40B4-BE49-F238E27FC236}">
                <a16:creationId xmlns:a16="http://schemas.microsoft.com/office/drawing/2014/main" id="{F0EB173E-E80A-0B5F-B561-D93E092B6923}"/>
              </a:ext>
            </a:extLst>
          </p:cNvPr>
          <p:cNvSpPr/>
          <p:nvPr/>
        </p:nvSpPr>
        <p:spPr>
          <a:xfrm>
            <a:off x="3816603" y="3920355"/>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s-ES" sz="1100" b="1" dirty="0"/>
              <a:t>20</a:t>
            </a:r>
            <a:endParaRPr lang="es-PE" sz="1100" b="1" dirty="0"/>
          </a:p>
        </p:txBody>
      </p:sp>
      <p:sp>
        <p:nvSpPr>
          <p:cNvPr id="19" name="CuadroTexto 18">
            <a:hlinkClick r:id="rId5" action="ppaction://hlinksldjump"/>
            <a:extLst>
              <a:ext uri="{FF2B5EF4-FFF2-40B4-BE49-F238E27FC236}">
                <a16:creationId xmlns:a16="http://schemas.microsoft.com/office/drawing/2014/main" id="{DC484734-1E9A-72F5-CF05-FF5116884DC0}"/>
              </a:ext>
            </a:extLst>
          </p:cNvPr>
          <p:cNvSpPr txBox="1"/>
          <p:nvPr/>
        </p:nvSpPr>
        <p:spPr>
          <a:xfrm>
            <a:off x="4125210" y="3172056"/>
            <a:ext cx="6339590" cy="1742271"/>
          </a:xfrm>
          <a:prstGeom prst="roundRect">
            <a:avLst>
              <a:gd name="adj" fmla="val 7573"/>
            </a:avLst>
          </a:prstGeom>
          <a:solidFill>
            <a:srgbClr val="7030A0"/>
          </a:solidFill>
        </p:spPr>
        <p:txBody>
          <a:bodyPr wrap="square">
            <a:spAutoFit/>
          </a:bodyPr>
          <a:lstStyle/>
          <a:p>
            <a:pPr>
              <a:spcAft>
                <a:spcPts val="600"/>
              </a:spcAft>
            </a:pPr>
            <a:r>
              <a:rPr lang="es-ES" sz="1100" dirty="0">
                <a:solidFill>
                  <a:srgbClr val="FFFFFF"/>
                </a:solidFill>
              </a:rPr>
              <a:t>Aquí defines qué modalidades de inscripción estarán disponibles para el periodo.</a:t>
            </a:r>
          </a:p>
          <a:p>
            <a:pPr marL="171450" indent="-171450">
              <a:spcAft>
                <a:spcPts val="600"/>
              </a:spcAft>
              <a:buFont typeface="Arial" panose="020B0604020202020204" pitchFamily="34" charset="0"/>
              <a:buChar char="•"/>
            </a:pPr>
            <a:r>
              <a:rPr lang="es-ES" sz="1100" b="1" dirty="0">
                <a:solidFill>
                  <a:srgbClr val="FFFFFF"/>
                </a:solidFill>
              </a:rPr>
              <a:t>Básico:</a:t>
            </a:r>
            <a:r>
              <a:rPr lang="es-ES" sz="1100" dirty="0">
                <a:solidFill>
                  <a:srgbClr val="FFFFFF"/>
                </a:solidFill>
              </a:rPr>
              <a:t> Es la modalidad tradicional de inscripción en la que el estudiante selecciona cursos/secciones. Es la opción habitual para una inscripción convencional. </a:t>
            </a:r>
            <a:r>
              <a:rPr lang="es-ES" sz="1100" b="1" dirty="0">
                <a:solidFill>
                  <a:srgbClr val="FFFFFF"/>
                </a:solidFill>
              </a:rPr>
              <a:t>Marcar.</a:t>
            </a:r>
          </a:p>
          <a:p>
            <a:pPr marL="171450" indent="-171450">
              <a:spcAft>
                <a:spcPts val="600"/>
              </a:spcAft>
              <a:buFont typeface="Arial" panose="020B0604020202020204" pitchFamily="34" charset="0"/>
              <a:buChar char="•"/>
            </a:pPr>
            <a:r>
              <a:rPr lang="es-ES" sz="1100" b="1" dirty="0">
                <a:solidFill>
                  <a:srgbClr val="FFFFFF"/>
                </a:solidFill>
              </a:rPr>
              <a:t>Estructurado:</a:t>
            </a:r>
            <a:r>
              <a:rPr lang="es-ES" sz="1100" dirty="0">
                <a:solidFill>
                  <a:srgbClr val="FFFFFF"/>
                </a:solidFill>
              </a:rPr>
              <a:t> Se utiliza cuando la inscripción se organiza mediante una estructura de inscripción definida, con reglas específicas sobre qué cursos/componentes debe seleccionar el estudiante. Por ejemplo, determinados bloques o componentes curriculares. </a:t>
            </a:r>
            <a:r>
              <a:rPr lang="es-ES" sz="1100" b="1" dirty="0">
                <a:solidFill>
                  <a:srgbClr val="FFFFFF"/>
                </a:solidFill>
              </a:rPr>
              <a:t>No marcar.</a:t>
            </a:r>
          </a:p>
          <a:p>
            <a:pPr marL="171450" indent="-171450">
              <a:spcAft>
                <a:spcPts val="600"/>
              </a:spcAft>
              <a:buFont typeface="Arial" panose="020B0604020202020204" pitchFamily="34" charset="0"/>
              <a:buChar char="•"/>
            </a:pPr>
            <a:r>
              <a:rPr lang="es-ES" sz="1100" b="1" dirty="0">
                <a:solidFill>
                  <a:srgbClr val="FFFFFF"/>
                </a:solidFill>
              </a:rPr>
              <a:t>Proyectado:</a:t>
            </a:r>
            <a:r>
              <a:rPr lang="es-ES" sz="1100" dirty="0">
                <a:solidFill>
                  <a:srgbClr val="FFFFFF"/>
                </a:solidFill>
              </a:rPr>
              <a:t> Permite trabajar con inscripción proyectada, es decir, planificación/proyección de cursos que el estudiante podría tomar. </a:t>
            </a:r>
            <a:r>
              <a:rPr lang="es-ES" sz="1100" b="1" dirty="0">
                <a:solidFill>
                  <a:srgbClr val="FFFFFF"/>
                </a:solidFill>
              </a:rPr>
              <a:t>Marcar.</a:t>
            </a:r>
            <a:endParaRPr lang="es-ES" b="1" dirty="0">
              <a:effectLst/>
            </a:endParaRPr>
          </a:p>
        </p:txBody>
      </p:sp>
    </p:spTree>
    <p:extLst>
      <p:ext uri="{BB962C8B-B14F-4D97-AF65-F5344CB8AC3E}">
        <p14:creationId xmlns:p14="http://schemas.microsoft.com/office/powerpoint/2010/main" val="15950906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heel(1)">
                                      <p:cBhvr>
                                        <p:cTn id="7" dur="2000"/>
                                        <p:tgtEl>
                                          <p:spTgt spid="17"/>
                                        </p:tgtEl>
                                      </p:cBhvr>
                                    </p:animEffect>
                                  </p:childTnLst>
                                </p:cTn>
                              </p:par>
                            </p:childTnLst>
                          </p:cTn>
                        </p:par>
                        <p:par>
                          <p:cTn id="8" fill="hold">
                            <p:stCondLst>
                              <p:cond delay="2000"/>
                            </p:stCondLst>
                            <p:childTnLst>
                              <p:par>
                                <p:cTn id="9" presetID="53" presetClass="entr" presetSubtype="16" fill="hold" grpId="0" nodeType="afterEffect">
                                  <p:stCondLst>
                                    <p:cond delay="0"/>
                                  </p:stCondLst>
                                  <p:childTnLst>
                                    <p:set>
                                      <p:cBhvr>
                                        <p:cTn id="10" dur="1" fill="hold">
                                          <p:stCondLst>
                                            <p:cond delay="0"/>
                                          </p:stCondLst>
                                        </p:cTn>
                                        <p:tgtEl>
                                          <p:spTgt spid="18"/>
                                        </p:tgtEl>
                                        <p:attrNameLst>
                                          <p:attrName>style.visibility</p:attrName>
                                        </p:attrNameLst>
                                      </p:cBhvr>
                                      <p:to>
                                        <p:strVal val="visible"/>
                                      </p:to>
                                    </p:set>
                                    <p:anim calcmode="lin" valueType="num">
                                      <p:cBhvr>
                                        <p:cTn id="11" dur="500" fill="hold"/>
                                        <p:tgtEl>
                                          <p:spTgt spid="18"/>
                                        </p:tgtEl>
                                        <p:attrNameLst>
                                          <p:attrName>ppt_w</p:attrName>
                                        </p:attrNameLst>
                                      </p:cBhvr>
                                      <p:tavLst>
                                        <p:tav tm="0">
                                          <p:val>
                                            <p:fltVal val="0"/>
                                          </p:val>
                                        </p:tav>
                                        <p:tav tm="100000">
                                          <p:val>
                                            <p:strVal val="#ppt_w"/>
                                          </p:val>
                                        </p:tav>
                                      </p:tavLst>
                                    </p:anim>
                                    <p:anim calcmode="lin" valueType="num">
                                      <p:cBhvr>
                                        <p:cTn id="12" dur="500" fill="hold"/>
                                        <p:tgtEl>
                                          <p:spTgt spid="18"/>
                                        </p:tgtEl>
                                        <p:attrNameLst>
                                          <p:attrName>ppt_h</p:attrName>
                                        </p:attrNameLst>
                                      </p:cBhvr>
                                      <p:tavLst>
                                        <p:tav tm="0">
                                          <p:val>
                                            <p:fltVal val="0"/>
                                          </p:val>
                                        </p:tav>
                                        <p:tav tm="100000">
                                          <p:val>
                                            <p:strVal val="#ppt_h"/>
                                          </p:val>
                                        </p:tav>
                                      </p:tavLst>
                                    </p:anim>
                                    <p:animEffect transition="in" filter="fade">
                                      <p:cBhvr>
                                        <p:cTn id="13" dur="500"/>
                                        <p:tgtEl>
                                          <p:spTgt spid="18"/>
                                        </p:tgtEl>
                                      </p:cBhvr>
                                    </p:animEffect>
                                  </p:childTnLst>
                                </p:cTn>
                              </p:par>
                            </p:childTnLst>
                          </p:cTn>
                        </p:par>
                        <p:par>
                          <p:cTn id="14" fill="hold">
                            <p:stCondLst>
                              <p:cond delay="2500"/>
                            </p:stCondLst>
                            <p:childTnLst>
                              <p:par>
                                <p:cTn id="15" presetID="10" presetClass="entr" presetSubtype="0" fill="hold" grpId="0" nodeType="after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19"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Imagen 12">
            <a:extLst>
              <a:ext uri="{FF2B5EF4-FFF2-40B4-BE49-F238E27FC236}">
                <a16:creationId xmlns:a16="http://schemas.microsoft.com/office/drawing/2014/main" id="{B7747016-F5C0-4417-A671-CF4AD4C522B5}"/>
              </a:ext>
            </a:extLst>
          </p:cNvPr>
          <p:cNvPicPr>
            <a:picLocks noChangeAspect="1"/>
          </p:cNvPicPr>
          <p:nvPr/>
        </p:nvPicPr>
        <p:blipFill>
          <a:blip r:embed="rId2"/>
          <a:stretch>
            <a:fillRect/>
          </a:stretch>
        </p:blipFill>
        <p:spPr>
          <a:xfrm>
            <a:off x="561312" y="889337"/>
            <a:ext cx="11416980" cy="5187913"/>
          </a:xfrm>
          <a:prstGeom prst="rect">
            <a:avLst/>
          </a:prstGeom>
        </p:spPr>
      </p:pic>
      <p:pic>
        <p:nvPicPr>
          <p:cNvPr id="3" name="Imagen 2">
            <a:extLst>
              <a:ext uri="{FF2B5EF4-FFF2-40B4-BE49-F238E27FC236}">
                <a16:creationId xmlns:a16="http://schemas.microsoft.com/office/drawing/2014/main" id="{7CAB2B86-4E3B-C98C-411E-958BEFE187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2528" y="6154887"/>
            <a:ext cx="2234242" cy="525923"/>
          </a:xfrm>
          <a:prstGeom prst="rect">
            <a:avLst/>
          </a:prstGeom>
        </p:spPr>
      </p:pic>
      <p:pic>
        <p:nvPicPr>
          <p:cNvPr id="4" name="Picture 4" descr="Ellucian Student Reseñas 2026: Detalles, Precios y Características | G2">
            <a:extLst>
              <a:ext uri="{FF2B5EF4-FFF2-40B4-BE49-F238E27FC236}">
                <a16:creationId xmlns:a16="http://schemas.microsoft.com/office/drawing/2014/main" id="{7352B780-8C7C-7B91-F3EE-5E6EF2C2E46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98101" y="5901780"/>
            <a:ext cx="1821371" cy="956220"/>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0AEBA78F-8C98-5D4D-384F-95B753FFADE4}"/>
              </a:ext>
            </a:extLst>
          </p:cNvPr>
          <p:cNvSpPr txBox="1"/>
          <p:nvPr/>
        </p:nvSpPr>
        <p:spPr>
          <a:xfrm>
            <a:off x="431320" y="241540"/>
            <a:ext cx="6789038" cy="523220"/>
          </a:xfrm>
          <a:prstGeom prst="rect">
            <a:avLst/>
          </a:prstGeom>
          <a:noFill/>
        </p:spPr>
        <p:txBody>
          <a:bodyPr wrap="none" rtlCol="0">
            <a:spAutoFit/>
          </a:bodyPr>
          <a:lstStyle/>
          <a:p>
            <a:r>
              <a:rPr lang="es-ES" sz="2800" b="1" dirty="0">
                <a:latin typeface="Montserrat" pitchFamily="2" charset="0"/>
              </a:rPr>
              <a:t>CONTROL DE PERIODO - SOATERM</a:t>
            </a:r>
            <a:endParaRPr lang="es-PE" sz="2800" b="1" dirty="0">
              <a:latin typeface="Montserrat" pitchFamily="2" charset="0"/>
            </a:endParaRPr>
          </a:p>
        </p:txBody>
      </p:sp>
      <p:sp>
        <p:nvSpPr>
          <p:cNvPr id="8" name="Rectángulo 7">
            <a:extLst>
              <a:ext uri="{FF2B5EF4-FFF2-40B4-BE49-F238E27FC236}">
                <a16:creationId xmlns:a16="http://schemas.microsoft.com/office/drawing/2014/main" id="{A16BCE08-E23C-F264-A6E3-E4019979D2E2}"/>
              </a:ext>
            </a:extLst>
          </p:cNvPr>
          <p:cNvSpPr/>
          <p:nvPr/>
        </p:nvSpPr>
        <p:spPr>
          <a:xfrm>
            <a:off x="7220358" y="241540"/>
            <a:ext cx="4971641" cy="445583"/>
          </a:xfrm>
          <a:prstGeom prst="rect">
            <a:avLst/>
          </a:prstGeom>
          <a:gradFill flip="none" rotWithShape="1">
            <a:gsLst>
              <a:gs pos="0">
                <a:schemeClr val="accent6">
                  <a:lumMod val="0"/>
                  <a:lumOff val="100000"/>
                </a:schemeClr>
              </a:gs>
              <a:gs pos="66000">
                <a:schemeClr val="accent6">
                  <a:lumMod val="100000"/>
                </a:schemeClr>
              </a:gs>
            </a:gsLst>
            <a:lin ang="0" scaled="1"/>
            <a:tileRect/>
          </a:gra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s-PE"/>
          </a:p>
        </p:txBody>
      </p:sp>
      <p:sp>
        <p:nvSpPr>
          <p:cNvPr id="6" name="CuadroTexto 5">
            <a:extLst>
              <a:ext uri="{FF2B5EF4-FFF2-40B4-BE49-F238E27FC236}">
                <a16:creationId xmlns:a16="http://schemas.microsoft.com/office/drawing/2014/main" id="{AC33DC36-253A-547B-7A30-A152C2F6B4CE}"/>
              </a:ext>
            </a:extLst>
          </p:cNvPr>
          <p:cNvSpPr txBox="1"/>
          <p:nvPr/>
        </p:nvSpPr>
        <p:spPr>
          <a:xfrm>
            <a:off x="4528936" y="6386396"/>
            <a:ext cx="3134128" cy="276999"/>
          </a:xfrm>
          <a:prstGeom prst="rect">
            <a:avLst/>
          </a:prstGeom>
          <a:noFill/>
        </p:spPr>
        <p:txBody>
          <a:bodyPr wrap="none" rtlCol="0">
            <a:spAutoFit/>
          </a:bodyPr>
          <a:lstStyle/>
          <a:p>
            <a:pPr algn="ctr"/>
            <a:r>
              <a:rPr lang="es-ES" sz="1200" i="1" dirty="0"/>
              <a:t>Elaborado por: Ing. Liliana Ocampo Moreno</a:t>
            </a:r>
            <a:endParaRPr lang="es-PE" sz="1200" i="1" dirty="0"/>
          </a:p>
        </p:txBody>
      </p:sp>
      <p:sp>
        <p:nvSpPr>
          <p:cNvPr id="2" name="Rectángulo 1">
            <a:extLst>
              <a:ext uri="{FF2B5EF4-FFF2-40B4-BE49-F238E27FC236}">
                <a16:creationId xmlns:a16="http://schemas.microsoft.com/office/drawing/2014/main" id="{C77E23F3-9AB0-D695-2663-788E0A36FAFE}"/>
              </a:ext>
            </a:extLst>
          </p:cNvPr>
          <p:cNvSpPr/>
          <p:nvPr/>
        </p:nvSpPr>
        <p:spPr>
          <a:xfrm>
            <a:off x="1407579" y="4305957"/>
            <a:ext cx="2340000" cy="195536"/>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9" name="Rectángulo: esquinas redondeadas 8">
            <a:extLst>
              <a:ext uri="{FF2B5EF4-FFF2-40B4-BE49-F238E27FC236}">
                <a16:creationId xmlns:a16="http://schemas.microsoft.com/office/drawing/2014/main" id="{B97653FB-4CED-F07A-74F5-E8C698570EF3}"/>
              </a:ext>
            </a:extLst>
          </p:cNvPr>
          <p:cNvSpPr/>
          <p:nvPr/>
        </p:nvSpPr>
        <p:spPr>
          <a:xfrm>
            <a:off x="3835076" y="4296721"/>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s-ES" sz="1100" b="1" dirty="0"/>
              <a:t>21</a:t>
            </a:r>
            <a:endParaRPr lang="es-PE" sz="1100" b="1" dirty="0"/>
          </a:p>
        </p:txBody>
      </p:sp>
      <p:sp>
        <p:nvSpPr>
          <p:cNvPr id="10" name="CuadroTexto 9">
            <a:hlinkClick r:id="rId5" action="ppaction://hlinksldjump"/>
            <a:extLst>
              <a:ext uri="{FF2B5EF4-FFF2-40B4-BE49-F238E27FC236}">
                <a16:creationId xmlns:a16="http://schemas.microsoft.com/office/drawing/2014/main" id="{8264FEFD-37F4-463D-F9D9-E9F6C1139622}"/>
              </a:ext>
            </a:extLst>
          </p:cNvPr>
          <p:cNvSpPr txBox="1"/>
          <p:nvPr/>
        </p:nvSpPr>
        <p:spPr>
          <a:xfrm>
            <a:off x="4143683" y="3843985"/>
            <a:ext cx="6339590" cy="1134874"/>
          </a:xfrm>
          <a:prstGeom prst="roundRect">
            <a:avLst>
              <a:gd name="adj" fmla="val 7573"/>
            </a:avLst>
          </a:prstGeom>
          <a:solidFill>
            <a:srgbClr val="7030A0"/>
          </a:solidFill>
        </p:spPr>
        <p:txBody>
          <a:bodyPr wrap="square">
            <a:spAutoFit/>
          </a:bodyPr>
          <a:lstStyle/>
          <a:p>
            <a:pPr>
              <a:spcAft>
                <a:spcPts val="600"/>
              </a:spcAft>
            </a:pPr>
            <a:r>
              <a:rPr lang="es-ES" sz="1100" dirty="0">
                <a:solidFill>
                  <a:srgbClr val="FFFFFF"/>
                </a:solidFill>
              </a:rPr>
              <a:t>Esta opción determina de dónde Banner tomará las fechas para determinados procesos relacionados con Título IV/ayuda financiera.</a:t>
            </a:r>
          </a:p>
          <a:p>
            <a:pPr marL="171450" indent="-171450">
              <a:spcAft>
                <a:spcPts val="600"/>
              </a:spcAft>
              <a:buFont typeface="Arial" panose="020B0604020202020204" pitchFamily="34" charset="0"/>
              <a:buChar char="•"/>
            </a:pPr>
            <a:r>
              <a:rPr lang="es-ES" sz="1100" b="1" dirty="0">
                <a:solidFill>
                  <a:srgbClr val="FFFFFF"/>
                </a:solidFill>
              </a:rPr>
              <a:t>Fecha de periodo:</a:t>
            </a:r>
            <a:r>
              <a:rPr lang="es-ES" sz="1100" dirty="0">
                <a:solidFill>
                  <a:srgbClr val="FFFFFF"/>
                </a:solidFill>
              </a:rPr>
              <a:t> Utiliza fecha inicio/fin de STVTERM.</a:t>
            </a:r>
          </a:p>
          <a:p>
            <a:pPr marL="171450" indent="-171450">
              <a:spcAft>
                <a:spcPts val="600"/>
              </a:spcAft>
              <a:buFont typeface="Arial" panose="020B0604020202020204" pitchFamily="34" charset="0"/>
              <a:buChar char="•"/>
            </a:pPr>
            <a:r>
              <a:rPr lang="es-ES" sz="1100" b="1" dirty="0">
                <a:solidFill>
                  <a:srgbClr val="FFFFFF"/>
                </a:solidFill>
              </a:rPr>
              <a:t>Fechas de parte de periodo:</a:t>
            </a:r>
            <a:r>
              <a:rPr lang="es-ES" sz="1100" dirty="0">
                <a:solidFill>
                  <a:srgbClr val="FFFFFF"/>
                </a:solidFill>
              </a:rPr>
              <a:t> Utiliza las fechas correspondientes a las </a:t>
            </a:r>
            <a:r>
              <a:rPr lang="es-ES" sz="1100" dirty="0" err="1">
                <a:solidFill>
                  <a:srgbClr val="FFFFFF"/>
                </a:solidFill>
              </a:rPr>
              <a:t>Parts</a:t>
            </a:r>
            <a:r>
              <a:rPr lang="es-ES" sz="1100" dirty="0">
                <a:solidFill>
                  <a:srgbClr val="FFFFFF"/>
                </a:solidFill>
              </a:rPr>
              <a:t> </a:t>
            </a:r>
            <a:r>
              <a:rPr lang="es-ES" sz="1100" dirty="0" err="1">
                <a:solidFill>
                  <a:srgbClr val="FFFFFF"/>
                </a:solidFill>
              </a:rPr>
              <a:t>of</a:t>
            </a:r>
            <a:r>
              <a:rPr lang="es-ES" sz="1100" dirty="0">
                <a:solidFill>
                  <a:srgbClr val="FFFFFF"/>
                </a:solidFill>
              </a:rPr>
              <a:t> </a:t>
            </a:r>
            <a:r>
              <a:rPr lang="es-ES" sz="1100" dirty="0" err="1">
                <a:solidFill>
                  <a:srgbClr val="FFFFFF"/>
                </a:solidFill>
              </a:rPr>
              <a:t>Term</a:t>
            </a:r>
            <a:r>
              <a:rPr lang="es-ES" sz="1100" dirty="0">
                <a:solidFill>
                  <a:srgbClr val="FFFFFF"/>
                </a:solidFill>
              </a:rPr>
              <a:t>. Esto es especialmente importante cuando las partes tienen fechas diferentes.</a:t>
            </a:r>
            <a:endParaRPr lang="es-ES" b="1" dirty="0">
              <a:effectLst/>
            </a:endParaRPr>
          </a:p>
        </p:txBody>
      </p:sp>
    </p:spTree>
    <p:extLst>
      <p:ext uri="{BB962C8B-B14F-4D97-AF65-F5344CB8AC3E}">
        <p14:creationId xmlns:p14="http://schemas.microsoft.com/office/powerpoint/2010/main" val="40063038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2000"/>
                                        <p:tgtEl>
                                          <p:spTgt spid="2"/>
                                        </p:tgtEl>
                                      </p:cBhvr>
                                    </p:animEffect>
                                  </p:childTnLst>
                                </p:cTn>
                              </p:par>
                            </p:childTnLst>
                          </p:cTn>
                        </p:par>
                        <p:par>
                          <p:cTn id="8" fill="hold">
                            <p:stCondLst>
                              <p:cond delay="2000"/>
                            </p:stCondLst>
                            <p:childTnLst>
                              <p:par>
                                <p:cTn id="9" presetID="53" presetClass="entr" presetSubtype="16"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p:cTn id="11" dur="500" fill="hold"/>
                                        <p:tgtEl>
                                          <p:spTgt spid="9"/>
                                        </p:tgtEl>
                                        <p:attrNameLst>
                                          <p:attrName>ppt_w</p:attrName>
                                        </p:attrNameLst>
                                      </p:cBhvr>
                                      <p:tavLst>
                                        <p:tav tm="0">
                                          <p:val>
                                            <p:fltVal val="0"/>
                                          </p:val>
                                        </p:tav>
                                        <p:tav tm="100000">
                                          <p:val>
                                            <p:strVal val="#ppt_w"/>
                                          </p:val>
                                        </p:tav>
                                      </p:tavLst>
                                    </p:anim>
                                    <p:anim calcmode="lin" valueType="num">
                                      <p:cBhvr>
                                        <p:cTn id="12" dur="500" fill="hold"/>
                                        <p:tgtEl>
                                          <p:spTgt spid="9"/>
                                        </p:tgtEl>
                                        <p:attrNameLst>
                                          <p:attrName>ppt_h</p:attrName>
                                        </p:attrNameLst>
                                      </p:cBhvr>
                                      <p:tavLst>
                                        <p:tav tm="0">
                                          <p:val>
                                            <p:fltVal val="0"/>
                                          </p:val>
                                        </p:tav>
                                        <p:tav tm="100000">
                                          <p:val>
                                            <p:strVal val="#ppt_h"/>
                                          </p:val>
                                        </p:tav>
                                      </p:tavLst>
                                    </p:anim>
                                    <p:animEffect transition="in" filter="fade">
                                      <p:cBhvr>
                                        <p:cTn id="13" dur="500"/>
                                        <p:tgtEl>
                                          <p:spTgt spid="9"/>
                                        </p:tgtEl>
                                      </p:cBhvr>
                                    </p:animEffect>
                                  </p:childTnLst>
                                </p:cTn>
                              </p:par>
                            </p:childTnLst>
                          </p:cTn>
                        </p:par>
                        <p:par>
                          <p:cTn id="14" fill="hold">
                            <p:stCondLst>
                              <p:cond delay="2500"/>
                            </p:stCondLst>
                            <p:childTnLst>
                              <p:par>
                                <p:cTn id="15" presetID="10" presetClass="entr" presetSubtype="0" fill="hold" grpId="0" nodeType="after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9" grpId="0" animBg="1"/>
      <p:bldP spid="10"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Imagen 10">
            <a:extLst>
              <a:ext uri="{FF2B5EF4-FFF2-40B4-BE49-F238E27FC236}">
                <a16:creationId xmlns:a16="http://schemas.microsoft.com/office/drawing/2014/main" id="{F44DCBF8-E628-4391-BACA-39B718ECBC60}"/>
              </a:ext>
            </a:extLst>
          </p:cNvPr>
          <p:cNvPicPr>
            <a:picLocks noChangeAspect="1"/>
          </p:cNvPicPr>
          <p:nvPr/>
        </p:nvPicPr>
        <p:blipFill>
          <a:blip r:embed="rId2"/>
          <a:stretch>
            <a:fillRect/>
          </a:stretch>
        </p:blipFill>
        <p:spPr>
          <a:xfrm>
            <a:off x="561312" y="889337"/>
            <a:ext cx="11416980" cy="5187913"/>
          </a:xfrm>
          <a:prstGeom prst="rect">
            <a:avLst/>
          </a:prstGeom>
        </p:spPr>
      </p:pic>
      <p:pic>
        <p:nvPicPr>
          <p:cNvPr id="3" name="Imagen 2">
            <a:extLst>
              <a:ext uri="{FF2B5EF4-FFF2-40B4-BE49-F238E27FC236}">
                <a16:creationId xmlns:a16="http://schemas.microsoft.com/office/drawing/2014/main" id="{7CAB2B86-4E3B-C98C-411E-958BEFE187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2528" y="6154887"/>
            <a:ext cx="2234242" cy="525923"/>
          </a:xfrm>
          <a:prstGeom prst="rect">
            <a:avLst/>
          </a:prstGeom>
        </p:spPr>
      </p:pic>
      <p:pic>
        <p:nvPicPr>
          <p:cNvPr id="4" name="Picture 4" descr="Ellucian Student Reseñas 2026: Detalles, Precios y Características | G2">
            <a:extLst>
              <a:ext uri="{FF2B5EF4-FFF2-40B4-BE49-F238E27FC236}">
                <a16:creationId xmlns:a16="http://schemas.microsoft.com/office/drawing/2014/main" id="{7352B780-8C7C-7B91-F3EE-5E6EF2C2E46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98101" y="5901780"/>
            <a:ext cx="1821371" cy="956220"/>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0AEBA78F-8C98-5D4D-384F-95B753FFADE4}"/>
              </a:ext>
            </a:extLst>
          </p:cNvPr>
          <p:cNvSpPr txBox="1"/>
          <p:nvPr/>
        </p:nvSpPr>
        <p:spPr>
          <a:xfrm>
            <a:off x="431320" y="241540"/>
            <a:ext cx="6789038" cy="523220"/>
          </a:xfrm>
          <a:prstGeom prst="rect">
            <a:avLst/>
          </a:prstGeom>
          <a:noFill/>
        </p:spPr>
        <p:txBody>
          <a:bodyPr wrap="none" rtlCol="0">
            <a:spAutoFit/>
          </a:bodyPr>
          <a:lstStyle/>
          <a:p>
            <a:r>
              <a:rPr lang="es-ES" sz="2800" b="1" dirty="0">
                <a:latin typeface="Montserrat" pitchFamily="2" charset="0"/>
              </a:rPr>
              <a:t>CONTROL DE PERIODO - SOATERM</a:t>
            </a:r>
            <a:endParaRPr lang="es-PE" sz="2800" b="1" dirty="0">
              <a:latin typeface="Montserrat" pitchFamily="2" charset="0"/>
            </a:endParaRPr>
          </a:p>
        </p:txBody>
      </p:sp>
      <p:sp>
        <p:nvSpPr>
          <p:cNvPr id="8" name="Rectángulo 7">
            <a:extLst>
              <a:ext uri="{FF2B5EF4-FFF2-40B4-BE49-F238E27FC236}">
                <a16:creationId xmlns:a16="http://schemas.microsoft.com/office/drawing/2014/main" id="{A16BCE08-E23C-F264-A6E3-E4019979D2E2}"/>
              </a:ext>
            </a:extLst>
          </p:cNvPr>
          <p:cNvSpPr/>
          <p:nvPr/>
        </p:nvSpPr>
        <p:spPr>
          <a:xfrm>
            <a:off x="7220358" y="241540"/>
            <a:ext cx="4971641" cy="445583"/>
          </a:xfrm>
          <a:prstGeom prst="rect">
            <a:avLst/>
          </a:prstGeom>
          <a:gradFill flip="none" rotWithShape="1">
            <a:gsLst>
              <a:gs pos="0">
                <a:schemeClr val="accent6">
                  <a:lumMod val="0"/>
                  <a:lumOff val="100000"/>
                </a:schemeClr>
              </a:gs>
              <a:gs pos="66000">
                <a:schemeClr val="accent6">
                  <a:lumMod val="100000"/>
                </a:schemeClr>
              </a:gs>
            </a:gsLst>
            <a:lin ang="0" scaled="1"/>
            <a:tileRect/>
          </a:gra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s-PE"/>
          </a:p>
        </p:txBody>
      </p:sp>
      <p:sp>
        <p:nvSpPr>
          <p:cNvPr id="6" name="CuadroTexto 5">
            <a:extLst>
              <a:ext uri="{FF2B5EF4-FFF2-40B4-BE49-F238E27FC236}">
                <a16:creationId xmlns:a16="http://schemas.microsoft.com/office/drawing/2014/main" id="{AC33DC36-253A-547B-7A30-A152C2F6B4CE}"/>
              </a:ext>
            </a:extLst>
          </p:cNvPr>
          <p:cNvSpPr txBox="1"/>
          <p:nvPr/>
        </p:nvSpPr>
        <p:spPr>
          <a:xfrm>
            <a:off x="4528936" y="6386396"/>
            <a:ext cx="3134128" cy="276999"/>
          </a:xfrm>
          <a:prstGeom prst="rect">
            <a:avLst/>
          </a:prstGeom>
          <a:noFill/>
        </p:spPr>
        <p:txBody>
          <a:bodyPr wrap="none" rtlCol="0">
            <a:spAutoFit/>
          </a:bodyPr>
          <a:lstStyle/>
          <a:p>
            <a:pPr algn="ctr"/>
            <a:r>
              <a:rPr lang="es-ES" sz="1200" i="1" dirty="0"/>
              <a:t>Elaborado por: Ing. Liliana Ocampo Moreno</a:t>
            </a:r>
            <a:endParaRPr lang="es-PE" sz="1200" i="1" dirty="0"/>
          </a:p>
        </p:txBody>
      </p:sp>
      <p:sp>
        <p:nvSpPr>
          <p:cNvPr id="2" name="Rectángulo 1">
            <a:extLst>
              <a:ext uri="{FF2B5EF4-FFF2-40B4-BE49-F238E27FC236}">
                <a16:creationId xmlns:a16="http://schemas.microsoft.com/office/drawing/2014/main" id="{C77E23F3-9AB0-D695-2663-788E0A36FAFE}"/>
              </a:ext>
            </a:extLst>
          </p:cNvPr>
          <p:cNvSpPr/>
          <p:nvPr/>
        </p:nvSpPr>
        <p:spPr>
          <a:xfrm>
            <a:off x="1407579" y="4675406"/>
            <a:ext cx="2340000" cy="195536"/>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9" name="Rectángulo: esquinas redondeadas 8">
            <a:extLst>
              <a:ext uri="{FF2B5EF4-FFF2-40B4-BE49-F238E27FC236}">
                <a16:creationId xmlns:a16="http://schemas.microsoft.com/office/drawing/2014/main" id="{B97653FB-4CED-F07A-74F5-E8C698570EF3}"/>
              </a:ext>
            </a:extLst>
          </p:cNvPr>
          <p:cNvSpPr/>
          <p:nvPr/>
        </p:nvSpPr>
        <p:spPr>
          <a:xfrm>
            <a:off x="3835076" y="4666170"/>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s-ES" sz="1100" b="1" dirty="0"/>
              <a:t>22</a:t>
            </a:r>
            <a:endParaRPr lang="es-PE" sz="1100" b="1" dirty="0"/>
          </a:p>
        </p:txBody>
      </p:sp>
      <p:sp>
        <p:nvSpPr>
          <p:cNvPr id="10" name="CuadroTexto 9">
            <a:hlinkClick r:id="rId5" action="ppaction://hlinksldjump"/>
            <a:extLst>
              <a:ext uri="{FF2B5EF4-FFF2-40B4-BE49-F238E27FC236}">
                <a16:creationId xmlns:a16="http://schemas.microsoft.com/office/drawing/2014/main" id="{8264FEFD-37F4-463D-F9D9-E9F6C1139622}"/>
              </a:ext>
            </a:extLst>
          </p:cNvPr>
          <p:cNvSpPr txBox="1"/>
          <p:nvPr/>
        </p:nvSpPr>
        <p:spPr>
          <a:xfrm>
            <a:off x="4152599" y="4077864"/>
            <a:ext cx="6339590" cy="1584000"/>
          </a:xfrm>
          <a:prstGeom prst="roundRect">
            <a:avLst>
              <a:gd name="adj" fmla="val 7573"/>
            </a:avLst>
          </a:prstGeom>
          <a:solidFill>
            <a:srgbClr val="7030A0"/>
          </a:solidFill>
        </p:spPr>
        <p:txBody>
          <a:bodyPr wrap="square">
            <a:spAutoFit/>
          </a:bodyPr>
          <a:lstStyle/>
          <a:p>
            <a:pPr>
              <a:spcAft>
                <a:spcPts val="600"/>
              </a:spcAft>
            </a:pPr>
            <a:r>
              <a:rPr lang="es-ES" sz="1100" dirty="0">
                <a:solidFill>
                  <a:srgbClr val="FFFFFF"/>
                </a:solidFill>
              </a:rPr>
              <a:t>Esta sección determina cómo estará disponible la estimación de cuotas para el estudiante en Autoservicio. Tienes tres opciones:</a:t>
            </a:r>
          </a:p>
          <a:p>
            <a:pPr marL="171450" indent="-171450">
              <a:spcAft>
                <a:spcPts val="600"/>
              </a:spcAft>
              <a:buFont typeface="Arial" panose="020B0604020202020204" pitchFamily="34" charset="0"/>
              <a:buChar char="•"/>
            </a:pPr>
            <a:r>
              <a:rPr lang="es-ES" sz="1100" b="1" dirty="0">
                <a:solidFill>
                  <a:srgbClr val="FFFFFF"/>
                </a:solidFill>
              </a:rPr>
              <a:t>Estimación en línea:</a:t>
            </a:r>
            <a:r>
              <a:rPr lang="es-ES" sz="1100" dirty="0">
                <a:solidFill>
                  <a:srgbClr val="FFFFFF"/>
                </a:solidFill>
              </a:rPr>
              <a:t> El estudiante puede obtener la estimación directamente durante el proceso en línea. </a:t>
            </a:r>
            <a:r>
              <a:rPr lang="es-ES" sz="1100" b="1" dirty="0">
                <a:solidFill>
                  <a:srgbClr val="FFFFFF"/>
                </a:solidFill>
              </a:rPr>
              <a:t>Marcar.</a:t>
            </a:r>
          </a:p>
          <a:p>
            <a:pPr marL="171450" indent="-171450">
              <a:spcAft>
                <a:spcPts val="600"/>
              </a:spcAft>
              <a:buFont typeface="Arial" panose="020B0604020202020204" pitchFamily="34" charset="0"/>
              <a:buChar char="•"/>
            </a:pPr>
            <a:r>
              <a:rPr lang="es-ES" sz="1100" b="1" dirty="0">
                <a:solidFill>
                  <a:srgbClr val="FFFFFF"/>
                </a:solidFill>
              </a:rPr>
              <a:t>Solo por lotes:</a:t>
            </a:r>
            <a:r>
              <a:rPr lang="es-ES" sz="1100" dirty="0">
                <a:solidFill>
                  <a:srgbClr val="FFFFFF"/>
                </a:solidFill>
              </a:rPr>
              <a:t> La estimación se realiza mediante procesos </a:t>
            </a:r>
            <a:r>
              <a:rPr lang="es-ES" sz="1100" dirty="0" err="1">
                <a:solidFill>
                  <a:srgbClr val="FFFFFF"/>
                </a:solidFill>
              </a:rPr>
              <a:t>batch</a:t>
            </a:r>
            <a:r>
              <a:rPr lang="es-ES" sz="1100" dirty="0">
                <a:solidFill>
                  <a:srgbClr val="FFFFFF"/>
                </a:solidFill>
              </a:rPr>
              <a:t>/lotes y no directamente en línea.</a:t>
            </a:r>
          </a:p>
          <a:p>
            <a:pPr marL="171450" indent="-171450">
              <a:spcAft>
                <a:spcPts val="600"/>
              </a:spcAft>
              <a:buFont typeface="Arial" panose="020B0604020202020204" pitchFamily="34" charset="0"/>
              <a:buChar char="•"/>
            </a:pPr>
            <a:r>
              <a:rPr lang="es-ES" sz="1100" b="1" dirty="0">
                <a:solidFill>
                  <a:srgbClr val="FFFFFF"/>
                </a:solidFill>
              </a:rPr>
              <a:t>No disponible:</a:t>
            </a:r>
            <a:r>
              <a:rPr lang="es-ES" sz="1100" dirty="0">
                <a:solidFill>
                  <a:srgbClr val="FFFFFF"/>
                </a:solidFill>
              </a:rPr>
              <a:t> No se proporciona estimación.</a:t>
            </a:r>
            <a:endParaRPr lang="es-ES" b="0" dirty="0">
              <a:effectLst/>
            </a:endParaRPr>
          </a:p>
        </p:txBody>
      </p:sp>
    </p:spTree>
    <p:extLst>
      <p:ext uri="{BB962C8B-B14F-4D97-AF65-F5344CB8AC3E}">
        <p14:creationId xmlns:p14="http://schemas.microsoft.com/office/powerpoint/2010/main" val="17914733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2000"/>
                                        <p:tgtEl>
                                          <p:spTgt spid="2"/>
                                        </p:tgtEl>
                                      </p:cBhvr>
                                    </p:animEffect>
                                  </p:childTnLst>
                                </p:cTn>
                              </p:par>
                            </p:childTnLst>
                          </p:cTn>
                        </p:par>
                        <p:par>
                          <p:cTn id="8" fill="hold">
                            <p:stCondLst>
                              <p:cond delay="2000"/>
                            </p:stCondLst>
                            <p:childTnLst>
                              <p:par>
                                <p:cTn id="9" presetID="53" presetClass="entr" presetSubtype="16"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p:cTn id="11" dur="500" fill="hold"/>
                                        <p:tgtEl>
                                          <p:spTgt spid="9"/>
                                        </p:tgtEl>
                                        <p:attrNameLst>
                                          <p:attrName>ppt_w</p:attrName>
                                        </p:attrNameLst>
                                      </p:cBhvr>
                                      <p:tavLst>
                                        <p:tav tm="0">
                                          <p:val>
                                            <p:fltVal val="0"/>
                                          </p:val>
                                        </p:tav>
                                        <p:tav tm="100000">
                                          <p:val>
                                            <p:strVal val="#ppt_w"/>
                                          </p:val>
                                        </p:tav>
                                      </p:tavLst>
                                    </p:anim>
                                    <p:anim calcmode="lin" valueType="num">
                                      <p:cBhvr>
                                        <p:cTn id="12" dur="500" fill="hold"/>
                                        <p:tgtEl>
                                          <p:spTgt spid="9"/>
                                        </p:tgtEl>
                                        <p:attrNameLst>
                                          <p:attrName>ppt_h</p:attrName>
                                        </p:attrNameLst>
                                      </p:cBhvr>
                                      <p:tavLst>
                                        <p:tav tm="0">
                                          <p:val>
                                            <p:fltVal val="0"/>
                                          </p:val>
                                        </p:tav>
                                        <p:tav tm="100000">
                                          <p:val>
                                            <p:strVal val="#ppt_h"/>
                                          </p:val>
                                        </p:tav>
                                      </p:tavLst>
                                    </p:anim>
                                    <p:animEffect transition="in" filter="fade">
                                      <p:cBhvr>
                                        <p:cTn id="13" dur="500"/>
                                        <p:tgtEl>
                                          <p:spTgt spid="9"/>
                                        </p:tgtEl>
                                      </p:cBhvr>
                                    </p:animEffect>
                                  </p:childTnLst>
                                </p:cTn>
                              </p:par>
                            </p:childTnLst>
                          </p:cTn>
                        </p:par>
                        <p:par>
                          <p:cTn id="14" fill="hold">
                            <p:stCondLst>
                              <p:cond delay="2500"/>
                            </p:stCondLst>
                            <p:childTnLst>
                              <p:par>
                                <p:cTn id="15" presetID="10" presetClass="entr" presetSubtype="0" fill="hold" grpId="0" nodeType="after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9" grpId="0" animBg="1"/>
      <p:bldP spid="10"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Imagen 12">
            <a:extLst>
              <a:ext uri="{FF2B5EF4-FFF2-40B4-BE49-F238E27FC236}">
                <a16:creationId xmlns:a16="http://schemas.microsoft.com/office/drawing/2014/main" id="{7A1D2A5E-BAD1-4799-B176-00D0F97CF6D2}"/>
              </a:ext>
            </a:extLst>
          </p:cNvPr>
          <p:cNvPicPr>
            <a:picLocks noChangeAspect="1"/>
          </p:cNvPicPr>
          <p:nvPr/>
        </p:nvPicPr>
        <p:blipFill>
          <a:blip r:embed="rId2"/>
          <a:stretch>
            <a:fillRect/>
          </a:stretch>
        </p:blipFill>
        <p:spPr>
          <a:xfrm>
            <a:off x="561312" y="889337"/>
            <a:ext cx="11416980" cy="5187913"/>
          </a:xfrm>
          <a:prstGeom prst="rect">
            <a:avLst/>
          </a:prstGeom>
        </p:spPr>
      </p:pic>
      <p:pic>
        <p:nvPicPr>
          <p:cNvPr id="3" name="Imagen 2">
            <a:extLst>
              <a:ext uri="{FF2B5EF4-FFF2-40B4-BE49-F238E27FC236}">
                <a16:creationId xmlns:a16="http://schemas.microsoft.com/office/drawing/2014/main" id="{7CAB2B86-4E3B-C98C-411E-958BEFE187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2528" y="6154887"/>
            <a:ext cx="2234242" cy="525923"/>
          </a:xfrm>
          <a:prstGeom prst="rect">
            <a:avLst/>
          </a:prstGeom>
        </p:spPr>
      </p:pic>
      <p:pic>
        <p:nvPicPr>
          <p:cNvPr id="4" name="Picture 4" descr="Ellucian Student Reseñas 2026: Detalles, Precios y Características | G2">
            <a:extLst>
              <a:ext uri="{FF2B5EF4-FFF2-40B4-BE49-F238E27FC236}">
                <a16:creationId xmlns:a16="http://schemas.microsoft.com/office/drawing/2014/main" id="{7352B780-8C7C-7B91-F3EE-5E6EF2C2E46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98101" y="5901780"/>
            <a:ext cx="1821371" cy="956220"/>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0AEBA78F-8C98-5D4D-384F-95B753FFADE4}"/>
              </a:ext>
            </a:extLst>
          </p:cNvPr>
          <p:cNvSpPr txBox="1"/>
          <p:nvPr/>
        </p:nvSpPr>
        <p:spPr>
          <a:xfrm>
            <a:off x="431320" y="241540"/>
            <a:ext cx="6789038" cy="523220"/>
          </a:xfrm>
          <a:prstGeom prst="rect">
            <a:avLst/>
          </a:prstGeom>
          <a:noFill/>
        </p:spPr>
        <p:txBody>
          <a:bodyPr wrap="none" rtlCol="0">
            <a:spAutoFit/>
          </a:bodyPr>
          <a:lstStyle/>
          <a:p>
            <a:r>
              <a:rPr lang="es-ES" sz="2800" b="1" dirty="0">
                <a:latin typeface="Montserrat" pitchFamily="2" charset="0"/>
              </a:rPr>
              <a:t>CONTROL DE PERIODO - SOATERM</a:t>
            </a:r>
            <a:endParaRPr lang="es-PE" sz="2800" b="1" dirty="0">
              <a:latin typeface="Montserrat" pitchFamily="2" charset="0"/>
            </a:endParaRPr>
          </a:p>
        </p:txBody>
      </p:sp>
      <p:sp>
        <p:nvSpPr>
          <p:cNvPr id="8" name="Rectángulo 7">
            <a:extLst>
              <a:ext uri="{FF2B5EF4-FFF2-40B4-BE49-F238E27FC236}">
                <a16:creationId xmlns:a16="http://schemas.microsoft.com/office/drawing/2014/main" id="{A16BCE08-E23C-F264-A6E3-E4019979D2E2}"/>
              </a:ext>
            </a:extLst>
          </p:cNvPr>
          <p:cNvSpPr/>
          <p:nvPr/>
        </p:nvSpPr>
        <p:spPr>
          <a:xfrm>
            <a:off x="7220358" y="241540"/>
            <a:ext cx="4971641" cy="445583"/>
          </a:xfrm>
          <a:prstGeom prst="rect">
            <a:avLst/>
          </a:prstGeom>
          <a:gradFill flip="none" rotWithShape="1">
            <a:gsLst>
              <a:gs pos="0">
                <a:schemeClr val="accent6">
                  <a:lumMod val="0"/>
                  <a:lumOff val="100000"/>
                </a:schemeClr>
              </a:gs>
              <a:gs pos="66000">
                <a:schemeClr val="accent6">
                  <a:lumMod val="100000"/>
                </a:schemeClr>
              </a:gs>
            </a:gsLst>
            <a:lin ang="0" scaled="1"/>
            <a:tileRect/>
          </a:gra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s-PE"/>
          </a:p>
        </p:txBody>
      </p:sp>
      <p:sp>
        <p:nvSpPr>
          <p:cNvPr id="6" name="CuadroTexto 5">
            <a:extLst>
              <a:ext uri="{FF2B5EF4-FFF2-40B4-BE49-F238E27FC236}">
                <a16:creationId xmlns:a16="http://schemas.microsoft.com/office/drawing/2014/main" id="{AC33DC36-253A-547B-7A30-A152C2F6B4CE}"/>
              </a:ext>
            </a:extLst>
          </p:cNvPr>
          <p:cNvSpPr txBox="1"/>
          <p:nvPr/>
        </p:nvSpPr>
        <p:spPr>
          <a:xfrm>
            <a:off x="4528936" y="6386396"/>
            <a:ext cx="3134128" cy="276999"/>
          </a:xfrm>
          <a:prstGeom prst="rect">
            <a:avLst/>
          </a:prstGeom>
          <a:noFill/>
        </p:spPr>
        <p:txBody>
          <a:bodyPr wrap="none" rtlCol="0">
            <a:spAutoFit/>
          </a:bodyPr>
          <a:lstStyle/>
          <a:p>
            <a:pPr algn="ctr"/>
            <a:r>
              <a:rPr lang="es-ES" sz="1200" i="1" dirty="0"/>
              <a:t>Elaborado por: Ing. Liliana Ocampo Moreno</a:t>
            </a:r>
            <a:endParaRPr lang="es-PE" sz="1200" i="1" dirty="0"/>
          </a:p>
        </p:txBody>
      </p:sp>
      <p:sp>
        <p:nvSpPr>
          <p:cNvPr id="2" name="Rectángulo 1">
            <a:extLst>
              <a:ext uri="{FF2B5EF4-FFF2-40B4-BE49-F238E27FC236}">
                <a16:creationId xmlns:a16="http://schemas.microsoft.com/office/drawing/2014/main" id="{C77E23F3-9AB0-D695-2663-788E0A36FAFE}"/>
              </a:ext>
            </a:extLst>
          </p:cNvPr>
          <p:cNvSpPr/>
          <p:nvPr/>
        </p:nvSpPr>
        <p:spPr>
          <a:xfrm>
            <a:off x="1379871" y="5192641"/>
            <a:ext cx="2340000" cy="195536"/>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9" name="Rectángulo: esquinas redondeadas 8">
            <a:extLst>
              <a:ext uri="{FF2B5EF4-FFF2-40B4-BE49-F238E27FC236}">
                <a16:creationId xmlns:a16="http://schemas.microsoft.com/office/drawing/2014/main" id="{B97653FB-4CED-F07A-74F5-E8C698570EF3}"/>
              </a:ext>
            </a:extLst>
          </p:cNvPr>
          <p:cNvSpPr/>
          <p:nvPr/>
        </p:nvSpPr>
        <p:spPr>
          <a:xfrm>
            <a:off x="3807368" y="5183405"/>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s-ES" sz="1100" b="1" dirty="0"/>
              <a:t>23</a:t>
            </a:r>
            <a:endParaRPr lang="es-PE" sz="1100" b="1" dirty="0"/>
          </a:p>
        </p:txBody>
      </p:sp>
      <p:sp>
        <p:nvSpPr>
          <p:cNvPr id="10" name="CuadroTexto 9">
            <a:hlinkClick r:id="rId5" action="ppaction://hlinksldjump"/>
            <a:extLst>
              <a:ext uri="{FF2B5EF4-FFF2-40B4-BE49-F238E27FC236}">
                <a16:creationId xmlns:a16="http://schemas.microsoft.com/office/drawing/2014/main" id="{8264FEFD-37F4-463D-F9D9-E9F6C1139622}"/>
              </a:ext>
            </a:extLst>
          </p:cNvPr>
          <p:cNvSpPr txBox="1"/>
          <p:nvPr/>
        </p:nvSpPr>
        <p:spPr>
          <a:xfrm>
            <a:off x="4115975" y="4603006"/>
            <a:ext cx="6339590" cy="1406604"/>
          </a:xfrm>
          <a:prstGeom prst="roundRect">
            <a:avLst>
              <a:gd name="adj" fmla="val 7573"/>
            </a:avLst>
          </a:prstGeom>
          <a:solidFill>
            <a:srgbClr val="7030A0"/>
          </a:solidFill>
        </p:spPr>
        <p:txBody>
          <a:bodyPr wrap="square">
            <a:spAutoFit/>
          </a:bodyPr>
          <a:lstStyle/>
          <a:p>
            <a:pPr marL="171450" indent="-171450">
              <a:spcAft>
                <a:spcPts val="600"/>
              </a:spcAft>
              <a:buFont typeface="Arial" panose="020B0604020202020204" pitchFamily="34" charset="0"/>
              <a:buChar char="•"/>
            </a:pPr>
            <a:r>
              <a:rPr lang="es-ES" sz="1100" b="1" dirty="0">
                <a:solidFill>
                  <a:srgbClr val="FFFFFF"/>
                </a:solidFill>
              </a:rPr>
              <a:t>Imprimir cobro:</a:t>
            </a:r>
            <a:r>
              <a:rPr lang="es-ES" sz="1100" dirty="0">
                <a:solidFill>
                  <a:srgbClr val="FFFFFF"/>
                </a:solidFill>
              </a:rPr>
              <a:t> Determina si corresponde generar/imprimir información relacionada con el cobro. Debe estar relacionado con el proceso financiero que utilice la institución.</a:t>
            </a:r>
          </a:p>
          <a:p>
            <a:pPr marL="171450" indent="-171450">
              <a:spcAft>
                <a:spcPts val="600"/>
              </a:spcAft>
              <a:buFont typeface="Arial" panose="020B0604020202020204" pitchFamily="34" charset="0"/>
              <a:buChar char="•"/>
            </a:pPr>
            <a:r>
              <a:rPr lang="es-ES" sz="1100" b="1" dirty="0">
                <a:solidFill>
                  <a:srgbClr val="FFFFFF"/>
                </a:solidFill>
              </a:rPr>
              <a:t>Control de periodo en web maestro:</a:t>
            </a:r>
            <a:r>
              <a:rPr lang="es-ES" sz="1100" dirty="0">
                <a:solidFill>
                  <a:srgbClr val="FFFFFF"/>
                </a:solidFill>
              </a:rPr>
              <a:t> Este es importante para Autoservicio/Web. Permite que determinadas reglas/configuraciones del periodo sean controladas desde el entorno web maestro. Si la institución utiliza Banner Self-Service y requiere que el periodo esté disponible/controlado desde la web, normalmente tendrá relevancia. </a:t>
            </a:r>
            <a:r>
              <a:rPr lang="es-ES" sz="1100" b="1" dirty="0">
                <a:solidFill>
                  <a:srgbClr val="FFFFFF"/>
                </a:solidFill>
              </a:rPr>
              <a:t>Marcar.</a:t>
            </a:r>
            <a:r>
              <a:rPr lang="es-ES" sz="1100" dirty="0">
                <a:solidFill>
                  <a:srgbClr val="FFFFFF"/>
                </a:solidFill>
              </a:rPr>
              <a:t> </a:t>
            </a:r>
            <a:r>
              <a:rPr lang="es-ES" sz="1100" b="1" dirty="0">
                <a:solidFill>
                  <a:srgbClr val="92D050"/>
                </a:solidFill>
              </a:rPr>
              <a:t>Al finalizar el periodo de inscripción se debe desactivar este </a:t>
            </a:r>
            <a:r>
              <a:rPr lang="es-ES" sz="1100" b="1" dirty="0" err="1">
                <a:solidFill>
                  <a:srgbClr val="92D050"/>
                </a:solidFill>
              </a:rPr>
              <a:t>flag</a:t>
            </a:r>
            <a:r>
              <a:rPr lang="es-ES" sz="1100" b="1" dirty="0">
                <a:solidFill>
                  <a:srgbClr val="92D050"/>
                </a:solidFill>
              </a:rPr>
              <a:t>.</a:t>
            </a:r>
            <a:endParaRPr lang="es-ES" b="1" dirty="0">
              <a:solidFill>
                <a:srgbClr val="92D050"/>
              </a:solidFill>
              <a:effectLst/>
            </a:endParaRPr>
          </a:p>
        </p:txBody>
      </p:sp>
      <p:sp>
        <p:nvSpPr>
          <p:cNvPr id="12" name="CuadroTexto 11">
            <a:extLst>
              <a:ext uri="{FF2B5EF4-FFF2-40B4-BE49-F238E27FC236}">
                <a16:creationId xmlns:a16="http://schemas.microsoft.com/office/drawing/2014/main" id="{74224BA1-672B-427D-84B4-4F090C8A4A40}"/>
              </a:ext>
            </a:extLst>
          </p:cNvPr>
          <p:cNvSpPr txBox="1"/>
          <p:nvPr/>
        </p:nvSpPr>
        <p:spPr>
          <a:xfrm>
            <a:off x="3053281" y="3246597"/>
            <a:ext cx="6106562" cy="369332"/>
          </a:xfrm>
          <a:prstGeom prst="rect">
            <a:avLst/>
          </a:prstGeom>
          <a:noFill/>
        </p:spPr>
        <p:txBody>
          <a:bodyPr wrap="square">
            <a:spAutoFit/>
          </a:bodyPr>
          <a:lstStyle/>
          <a:p>
            <a:r>
              <a:rPr lang="es-PE" b="0" dirty="0">
                <a:effectLst/>
              </a:rPr>
              <a:t> </a:t>
            </a:r>
            <a:endParaRPr lang="es-PE" dirty="0"/>
          </a:p>
        </p:txBody>
      </p:sp>
    </p:spTree>
    <p:extLst>
      <p:ext uri="{BB962C8B-B14F-4D97-AF65-F5344CB8AC3E}">
        <p14:creationId xmlns:p14="http://schemas.microsoft.com/office/powerpoint/2010/main" val="28132262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2000"/>
                                        <p:tgtEl>
                                          <p:spTgt spid="2"/>
                                        </p:tgtEl>
                                      </p:cBhvr>
                                    </p:animEffect>
                                  </p:childTnLst>
                                </p:cTn>
                              </p:par>
                            </p:childTnLst>
                          </p:cTn>
                        </p:par>
                        <p:par>
                          <p:cTn id="8" fill="hold">
                            <p:stCondLst>
                              <p:cond delay="2000"/>
                            </p:stCondLst>
                            <p:childTnLst>
                              <p:par>
                                <p:cTn id="9" presetID="53" presetClass="entr" presetSubtype="16"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p:cTn id="11" dur="500" fill="hold"/>
                                        <p:tgtEl>
                                          <p:spTgt spid="9"/>
                                        </p:tgtEl>
                                        <p:attrNameLst>
                                          <p:attrName>ppt_w</p:attrName>
                                        </p:attrNameLst>
                                      </p:cBhvr>
                                      <p:tavLst>
                                        <p:tav tm="0">
                                          <p:val>
                                            <p:fltVal val="0"/>
                                          </p:val>
                                        </p:tav>
                                        <p:tav tm="100000">
                                          <p:val>
                                            <p:strVal val="#ppt_w"/>
                                          </p:val>
                                        </p:tav>
                                      </p:tavLst>
                                    </p:anim>
                                    <p:anim calcmode="lin" valueType="num">
                                      <p:cBhvr>
                                        <p:cTn id="12" dur="500" fill="hold"/>
                                        <p:tgtEl>
                                          <p:spTgt spid="9"/>
                                        </p:tgtEl>
                                        <p:attrNameLst>
                                          <p:attrName>ppt_h</p:attrName>
                                        </p:attrNameLst>
                                      </p:cBhvr>
                                      <p:tavLst>
                                        <p:tav tm="0">
                                          <p:val>
                                            <p:fltVal val="0"/>
                                          </p:val>
                                        </p:tav>
                                        <p:tav tm="100000">
                                          <p:val>
                                            <p:strVal val="#ppt_h"/>
                                          </p:val>
                                        </p:tav>
                                      </p:tavLst>
                                    </p:anim>
                                    <p:animEffect transition="in" filter="fade">
                                      <p:cBhvr>
                                        <p:cTn id="13" dur="500"/>
                                        <p:tgtEl>
                                          <p:spTgt spid="9"/>
                                        </p:tgtEl>
                                      </p:cBhvr>
                                    </p:animEffect>
                                  </p:childTnLst>
                                </p:cTn>
                              </p:par>
                            </p:childTnLst>
                          </p:cTn>
                        </p:par>
                        <p:par>
                          <p:cTn id="14" fill="hold">
                            <p:stCondLst>
                              <p:cond delay="2500"/>
                            </p:stCondLst>
                            <p:childTnLst>
                              <p:par>
                                <p:cTn id="15" presetID="10" presetClass="entr" presetSubtype="0" fill="hold" grpId="0" nodeType="after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9" grpId="0" animBg="1"/>
      <p:bldP spid="10"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Imagen 16">
            <a:extLst>
              <a:ext uri="{FF2B5EF4-FFF2-40B4-BE49-F238E27FC236}">
                <a16:creationId xmlns:a16="http://schemas.microsoft.com/office/drawing/2014/main" id="{2F84F24D-2B13-48DA-96C1-22A2DD04706D}"/>
              </a:ext>
            </a:extLst>
          </p:cNvPr>
          <p:cNvPicPr>
            <a:picLocks noChangeAspect="1"/>
          </p:cNvPicPr>
          <p:nvPr/>
        </p:nvPicPr>
        <p:blipFill>
          <a:blip r:embed="rId2"/>
          <a:stretch>
            <a:fillRect/>
          </a:stretch>
        </p:blipFill>
        <p:spPr>
          <a:xfrm>
            <a:off x="561312" y="889337"/>
            <a:ext cx="11416980" cy="5187913"/>
          </a:xfrm>
          <a:prstGeom prst="rect">
            <a:avLst/>
          </a:prstGeom>
        </p:spPr>
      </p:pic>
      <p:pic>
        <p:nvPicPr>
          <p:cNvPr id="3" name="Imagen 2">
            <a:extLst>
              <a:ext uri="{FF2B5EF4-FFF2-40B4-BE49-F238E27FC236}">
                <a16:creationId xmlns:a16="http://schemas.microsoft.com/office/drawing/2014/main" id="{7CAB2B86-4E3B-C98C-411E-958BEFE187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2528" y="6154887"/>
            <a:ext cx="2234242" cy="525923"/>
          </a:xfrm>
          <a:prstGeom prst="rect">
            <a:avLst/>
          </a:prstGeom>
        </p:spPr>
      </p:pic>
      <p:pic>
        <p:nvPicPr>
          <p:cNvPr id="4" name="Picture 4" descr="Ellucian Student Reseñas 2026: Detalles, Precios y Características | G2">
            <a:extLst>
              <a:ext uri="{FF2B5EF4-FFF2-40B4-BE49-F238E27FC236}">
                <a16:creationId xmlns:a16="http://schemas.microsoft.com/office/drawing/2014/main" id="{7352B780-8C7C-7B91-F3EE-5E6EF2C2E46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98101" y="5901780"/>
            <a:ext cx="1821371" cy="956220"/>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0AEBA78F-8C98-5D4D-384F-95B753FFADE4}"/>
              </a:ext>
            </a:extLst>
          </p:cNvPr>
          <p:cNvSpPr txBox="1"/>
          <p:nvPr/>
        </p:nvSpPr>
        <p:spPr>
          <a:xfrm>
            <a:off x="431320" y="241540"/>
            <a:ext cx="6789038" cy="523220"/>
          </a:xfrm>
          <a:prstGeom prst="rect">
            <a:avLst/>
          </a:prstGeom>
          <a:noFill/>
        </p:spPr>
        <p:txBody>
          <a:bodyPr wrap="none" rtlCol="0">
            <a:spAutoFit/>
          </a:bodyPr>
          <a:lstStyle/>
          <a:p>
            <a:r>
              <a:rPr lang="es-ES" sz="2800" b="1" dirty="0">
                <a:latin typeface="Montserrat" pitchFamily="2" charset="0"/>
              </a:rPr>
              <a:t>CONTROL DE PERIODO - SOATERM</a:t>
            </a:r>
            <a:endParaRPr lang="es-PE" sz="2800" b="1" dirty="0">
              <a:latin typeface="Montserrat" pitchFamily="2" charset="0"/>
            </a:endParaRPr>
          </a:p>
        </p:txBody>
      </p:sp>
      <p:sp>
        <p:nvSpPr>
          <p:cNvPr id="8" name="Rectángulo 7">
            <a:extLst>
              <a:ext uri="{FF2B5EF4-FFF2-40B4-BE49-F238E27FC236}">
                <a16:creationId xmlns:a16="http://schemas.microsoft.com/office/drawing/2014/main" id="{A16BCE08-E23C-F264-A6E3-E4019979D2E2}"/>
              </a:ext>
            </a:extLst>
          </p:cNvPr>
          <p:cNvSpPr/>
          <p:nvPr/>
        </p:nvSpPr>
        <p:spPr>
          <a:xfrm>
            <a:off x="7220358" y="241540"/>
            <a:ext cx="4971641" cy="445583"/>
          </a:xfrm>
          <a:prstGeom prst="rect">
            <a:avLst/>
          </a:prstGeom>
          <a:gradFill flip="none" rotWithShape="1">
            <a:gsLst>
              <a:gs pos="0">
                <a:schemeClr val="accent6">
                  <a:lumMod val="0"/>
                  <a:lumOff val="100000"/>
                </a:schemeClr>
              </a:gs>
              <a:gs pos="66000">
                <a:schemeClr val="accent6">
                  <a:lumMod val="100000"/>
                </a:schemeClr>
              </a:gs>
            </a:gsLst>
            <a:lin ang="0" scaled="1"/>
            <a:tileRect/>
          </a:gra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s-PE"/>
          </a:p>
        </p:txBody>
      </p:sp>
      <p:sp>
        <p:nvSpPr>
          <p:cNvPr id="6" name="CuadroTexto 5">
            <a:extLst>
              <a:ext uri="{FF2B5EF4-FFF2-40B4-BE49-F238E27FC236}">
                <a16:creationId xmlns:a16="http://schemas.microsoft.com/office/drawing/2014/main" id="{AC33DC36-253A-547B-7A30-A152C2F6B4CE}"/>
              </a:ext>
            </a:extLst>
          </p:cNvPr>
          <p:cNvSpPr txBox="1"/>
          <p:nvPr/>
        </p:nvSpPr>
        <p:spPr>
          <a:xfrm>
            <a:off x="4528936" y="6386396"/>
            <a:ext cx="3134128" cy="276999"/>
          </a:xfrm>
          <a:prstGeom prst="rect">
            <a:avLst/>
          </a:prstGeom>
          <a:noFill/>
        </p:spPr>
        <p:txBody>
          <a:bodyPr wrap="none" rtlCol="0">
            <a:spAutoFit/>
          </a:bodyPr>
          <a:lstStyle/>
          <a:p>
            <a:pPr algn="ctr"/>
            <a:r>
              <a:rPr lang="es-ES" sz="1200" i="1" dirty="0"/>
              <a:t>Elaborado por: Ing. Liliana Ocampo Moreno</a:t>
            </a:r>
            <a:endParaRPr lang="es-PE" sz="1200" i="1" dirty="0"/>
          </a:p>
        </p:txBody>
      </p:sp>
      <p:sp>
        <p:nvSpPr>
          <p:cNvPr id="2" name="Rectángulo 1">
            <a:extLst>
              <a:ext uri="{FF2B5EF4-FFF2-40B4-BE49-F238E27FC236}">
                <a16:creationId xmlns:a16="http://schemas.microsoft.com/office/drawing/2014/main" id="{C77E23F3-9AB0-D695-2663-788E0A36FAFE}"/>
              </a:ext>
            </a:extLst>
          </p:cNvPr>
          <p:cNvSpPr/>
          <p:nvPr/>
        </p:nvSpPr>
        <p:spPr>
          <a:xfrm>
            <a:off x="1379871" y="5580568"/>
            <a:ext cx="2340000" cy="195536"/>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9" name="Rectángulo: esquinas redondeadas 8">
            <a:extLst>
              <a:ext uri="{FF2B5EF4-FFF2-40B4-BE49-F238E27FC236}">
                <a16:creationId xmlns:a16="http://schemas.microsoft.com/office/drawing/2014/main" id="{B97653FB-4CED-F07A-74F5-E8C698570EF3}"/>
              </a:ext>
            </a:extLst>
          </p:cNvPr>
          <p:cNvSpPr/>
          <p:nvPr/>
        </p:nvSpPr>
        <p:spPr>
          <a:xfrm>
            <a:off x="3807368" y="5571332"/>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s-ES" sz="1100" b="1" dirty="0"/>
              <a:t>24</a:t>
            </a:r>
            <a:endParaRPr lang="es-PE" sz="1100" b="1" dirty="0"/>
          </a:p>
        </p:txBody>
      </p:sp>
      <p:sp>
        <p:nvSpPr>
          <p:cNvPr id="10" name="CuadroTexto 9">
            <a:hlinkClick r:id="rId5" action="ppaction://hlinksldjump"/>
            <a:extLst>
              <a:ext uri="{FF2B5EF4-FFF2-40B4-BE49-F238E27FC236}">
                <a16:creationId xmlns:a16="http://schemas.microsoft.com/office/drawing/2014/main" id="{8264FEFD-37F4-463D-F9D9-E9F6C1139622}"/>
              </a:ext>
            </a:extLst>
          </p:cNvPr>
          <p:cNvSpPr txBox="1"/>
          <p:nvPr/>
        </p:nvSpPr>
        <p:spPr>
          <a:xfrm>
            <a:off x="4115975" y="5155534"/>
            <a:ext cx="5997843" cy="975033"/>
          </a:xfrm>
          <a:prstGeom prst="roundRect">
            <a:avLst>
              <a:gd name="adj" fmla="val 7573"/>
            </a:avLst>
          </a:prstGeom>
          <a:solidFill>
            <a:srgbClr val="7030A0"/>
          </a:solidFill>
        </p:spPr>
        <p:txBody>
          <a:bodyPr wrap="square">
            <a:spAutoFit/>
          </a:bodyPr>
          <a:lstStyle/>
          <a:p>
            <a:pPr marL="171450" indent="-171450">
              <a:spcAft>
                <a:spcPts val="600"/>
              </a:spcAft>
              <a:buFont typeface="Arial" panose="020B0604020202020204" pitchFamily="34" charset="0"/>
              <a:buChar char="•"/>
            </a:pPr>
            <a:r>
              <a:rPr lang="es-ES" sz="1100" b="1" dirty="0">
                <a:solidFill>
                  <a:srgbClr val="FFFFFF"/>
                </a:solidFill>
              </a:rPr>
              <a:t>Sobrepasar el método educativo mediante el NRC:</a:t>
            </a:r>
            <a:r>
              <a:rPr lang="es-ES" sz="1100" dirty="0">
                <a:solidFill>
                  <a:srgbClr val="FFFFFF"/>
                </a:solidFill>
              </a:rPr>
              <a:t> Esta opción permite que el NRC tenga prioridad para determinar/sobrepasar el método educativo configurado para la sección, cuando corresponda. Por ejemplo, si una sección tiene una determinada modalidad/método educativo y existe una configuración específica asociada al NRC, esta opción permite manejar esa excepción. </a:t>
            </a:r>
            <a:r>
              <a:rPr lang="es-ES" sz="1100" b="1" dirty="0">
                <a:solidFill>
                  <a:srgbClr val="92D050"/>
                </a:solidFill>
              </a:rPr>
              <a:t>No es una opción que debas activar normalmente.</a:t>
            </a:r>
            <a:endParaRPr lang="es-ES" b="1" dirty="0">
              <a:solidFill>
                <a:srgbClr val="92D050"/>
              </a:solidFill>
              <a:effectLst/>
            </a:endParaRPr>
          </a:p>
        </p:txBody>
      </p:sp>
      <p:sp>
        <p:nvSpPr>
          <p:cNvPr id="11" name="Rectángulo 10">
            <a:extLst>
              <a:ext uri="{FF2B5EF4-FFF2-40B4-BE49-F238E27FC236}">
                <a16:creationId xmlns:a16="http://schemas.microsoft.com/office/drawing/2014/main" id="{FED48434-8050-5AE7-025A-6F22FC851C37}"/>
              </a:ext>
            </a:extLst>
          </p:cNvPr>
          <p:cNvSpPr/>
          <p:nvPr/>
        </p:nvSpPr>
        <p:spPr>
          <a:xfrm>
            <a:off x="11338127" y="5661630"/>
            <a:ext cx="684363" cy="347998"/>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12" name="Rectángulo: esquinas redondeadas 11">
            <a:extLst>
              <a:ext uri="{FF2B5EF4-FFF2-40B4-BE49-F238E27FC236}">
                <a16:creationId xmlns:a16="http://schemas.microsoft.com/office/drawing/2014/main" id="{9E8058A8-FDA7-06F4-A28B-C37FF1FA6718}"/>
              </a:ext>
            </a:extLst>
          </p:cNvPr>
          <p:cNvSpPr/>
          <p:nvPr/>
        </p:nvSpPr>
        <p:spPr>
          <a:xfrm>
            <a:off x="11021824" y="5723486"/>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s-ES" sz="1100" b="1" dirty="0"/>
              <a:t>25</a:t>
            </a:r>
            <a:endParaRPr lang="es-PE" sz="1100" b="1" dirty="0"/>
          </a:p>
        </p:txBody>
      </p:sp>
      <p:sp>
        <p:nvSpPr>
          <p:cNvPr id="13" name="CuadroTexto 12">
            <a:extLst>
              <a:ext uri="{FF2B5EF4-FFF2-40B4-BE49-F238E27FC236}">
                <a16:creationId xmlns:a16="http://schemas.microsoft.com/office/drawing/2014/main" id="{96C61780-41C8-CDF7-6CB9-26CC9165DBF0}"/>
              </a:ext>
            </a:extLst>
          </p:cNvPr>
          <p:cNvSpPr txBox="1"/>
          <p:nvPr/>
        </p:nvSpPr>
        <p:spPr>
          <a:xfrm>
            <a:off x="10446144" y="4568812"/>
            <a:ext cx="1588524" cy="975033"/>
          </a:xfrm>
          <a:prstGeom prst="roundRect">
            <a:avLst>
              <a:gd name="adj" fmla="val 7573"/>
            </a:avLst>
          </a:prstGeom>
          <a:solidFill>
            <a:srgbClr val="7030A0"/>
          </a:solidFill>
        </p:spPr>
        <p:txBody>
          <a:bodyPr wrap="square">
            <a:spAutoFit/>
          </a:bodyPr>
          <a:lstStyle/>
          <a:p>
            <a:pPr algn="ctr"/>
            <a:r>
              <a:rPr lang="es-ES" sz="1100" dirty="0">
                <a:solidFill>
                  <a:srgbClr val="FFFFFF"/>
                </a:solidFill>
              </a:rPr>
              <a:t>Se debe presionar </a:t>
            </a:r>
            <a:r>
              <a:rPr lang="es-ES" sz="1100" b="1" dirty="0">
                <a:solidFill>
                  <a:srgbClr val="92D050"/>
                </a:solidFill>
              </a:rPr>
              <a:t>Guardar</a:t>
            </a:r>
            <a:r>
              <a:rPr lang="es-ES" sz="1100" dirty="0">
                <a:solidFill>
                  <a:srgbClr val="FFFFFF"/>
                </a:solidFill>
              </a:rPr>
              <a:t> para que la información quede registrada en el sistema</a:t>
            </a:r>
          </a:p>
        </p:txBody>
      </p:sp>
      <p:sp>
        <p:nvSpPr>
          <p:cNvPr id="14" name="Rectángulo 13">
            <a:extLst>
              <a:ext uri="{FF2B5EF4-FFF2-40B4-BE49-F238E27FC236}">
                <a16:creationId xmlns:a16="http://schemas.microsoft.com/office/drawing/2014/main" id="{8E94CCE4-CD5B-2D9B-FAA8-D5C3B48AD608}"/>
              </a:ext>
            </a:extLst>
          </p:cNvPr>
          <p:cNvSpPr/>
          <p:nvPr/>
        </p:nvSpPr>
        <p:spPr>
          <a:xfrm>
            <a:off x="836811" y="5617512"/>
            <a:ext cx="358463" cy="347998"/>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15" name="Rectángulo: esquinas redondeadas 14">
            <a:extLst>
              <a:ext uri="{FF2B5EF4-FFF2-40B4-BE49-F238E27FC236}">
                <a16:creationId xmlns:a16="http://schemas.microsoft.com/office/drawing/2014/main" id="{ABC941FA-6ABE-5B12-F938-0FB10B1CAB5D}"/>
              </a:ext>
            </a:extLst>
          </p:cNvPr>
          <p:cNvSpPr/>
          <p:nvPr/>
        </p:nvSpPr>
        <p:spPr>
          <a:xfrm>
            <a:off x="511272" y="5642424"/>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s-ES" sz="1100" b="1" dirty="0"/>
              <a:t>26</a:t>
            </a:r>
            <a:endParaRPr lang="es-PE" sz="1100" b="1" dirty="0"/>
          </a:p>
        </p:txBody>
      </p:sp>
      <p:sp>
        <p:nvSpPr>
          <p:cNvPr id="16" name="CuadroTexto 15">
            <a:extLst>
              <a:ext uri="{FF2B5EF4-FFF2-40B4-BE49-F238E27FC236}">
                <a16:creationId xmlns:a16="http://schemas.microsoft.com/office/drawing/2014/main" id="{C1BDA488-1805-5E99-09FA-A2A22D6B284F}"/>
              </a:ext>
            </a:extLst>
          </p:cNvPr>
          <p:cNvSpPr txBox="1"/>
          <p:nvPr/>
        </p:nvSpPr>
        <p:spPr>
          <a:xfrm>
            <a:off x="360217" y="5065829"/>
            <a:ext cx="868225" cy="447556"/>
          </a:xfrm>
          <a:prstGeom prst="roundRect">
            <a:avLst>
              <a:gd name="adj" fmla="val 7573"/>
            </a:avLst>
          </a:prstGeom>
          <a:solidFill>
            <a:srgbClr val="7030A0"/>
          </a:solidFill>
        </p:spPr>
        <p:txBody>
          <a:bodyPr wrap="square">
            <a:spAutoFit/>
          </a:bodyPr>
          <a:lstStyle/>
          <a:p>
            <a:pPr algn="ctr"/>
            <a:r>
              <a:rPr lang="es-ES" sz="1100" dirty="0">
                <a:solidFill>
                  <a:srgbClr val="FFFFFF"/>
                </a:solidFill>
              </a:rPr>
              <a:t>Presionar siguiente</a:t>
            </a:r>
          </a:p>
        </p:txBody>
      </p:sp>
    </p:spTree>
    <p:extLst>
      <p:ext uri="{BB962C8B-B14F-4D97-AF65-F5344CB8AC3E}">
        <p14:creationId xmlns:p14="http://schemas.microsoft.com/office/powerpoint/2010/main" val="1326945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2000"/>
                                        <p:tgtEl>
                                          <p:spTgt spid="2"/>
                                        </p:tgtEl>
                                      </p:cBhvr>
                                    </p:animEffect>
                                  </p:childTnLst>
                                </p:cTn>
                              </p:par>
                            </p:childTnLst>
                          </p:cTn>
                        </p:par>
                        <p:par>
                          <p:cTn id="8" fill="hold">
                            <p:stCondLst>
                              <p:cond delay="2000"/>
                            </p:stCondLst>
                            <p:childTnLst>
                              <p:par>
                                <p:cTn id="9" presetID="53" presetClass="entr" presetSubtype="16"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p:cTn id="11" dur="500" fill="hold"/>
                                        <p:tgtEl>
                                          <p:spTgt spid="9"/>
                                        </p:tgtEl>
                                        <p:attrNameLst>
                                          <p:attrName>ppt_w</p:attrName>
                                        </p:attrNameLst>
                                      </p:cBhvr>
                                      <p:tavLst>
                                        <p:tav tm="0">
                                          <p:val>
                                            <p:fltVal val="0"/>
                                          </p:val>
                                        </p:tav>
                                        <p:tav tm="100000">
                                          <p:val>
                                            <p:strVal val="#ppt_w"/>
                                          </p:val>
                                        </p:tav>
                                      </p:tavLst>
                                    </p:anim>
                                    <p:anim calcmode="lin" valueType="num">
                                      <p:cBhvr>
                                        <p:cTn id="12" dur="500" fill="hold"/>
                                        <p:tgtEl>
                                          <p:spTgt spid="9"/>
                                        </p:tgtEl>
                                        <p:attrNameLst>
                                          <p:attrName>ppt_h</p:attrName>
                                        </p:attrNameLst>
                                      </p:cBhvr>
                                      <p:tavLst>
                                        <p:tav tm="0">
                                          <p:val>
                                            <p:fltVal val="0"/>
                                          </p:val>
                                        </p:tav>
                                        <p:tav tm="100000">
                                          <p:val>
                                            <p:strVal val="#ppt_h"/>
                                          </p:val>
                                        </p:tav>
                                      </p:tavLst>
                                    </p:anim>
                                    <p:animEffect transition="in" filter="fade">
                                      <p:cBhvr>
                                        <p:cTn id="13" dur="500"/>
                                        <p:tgtEl>
                                          <p:spTgt spid="9"/>
                                        </p:tgtEl>
                                      </p:cBhvr>
                                    </p:animEffect>
                                  </p:childTnLst>
                                </p:cTn>
                              </p:par>
                            </p:childTnLst>
                          </p:cTn>
                        </p:par>
                        <p:par>
                          <p:cTn id="14" fill="hold">
                            <p:stCondLst>
                              <p:cond delay="2500"/>
                            </p:stCondLst>
                            <p:childTnLst>
                              <p:par>
                                <p:cTn id="15" presetID="10" presetClass="entr" presetSubtype="0" fill="hold" grpId="0" nodeType="after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par>
                          <p:cTn id="18" fill="hold">
                            <p:stCondLst>
                              <p:cond delay="3000"/>
                            </p:stCondLst>
                            <p:childTnLst>
                              <p:par>
                                <p:cTn id="19" presetID="21" presetClass="entr" presetSubtype="1" fill="hold" grpId="0" nodeType="after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wheel(1)">
                                      <p:cBhvr>
                                        <p:cTn id="21" dur="2000"/>
                                        <p:tgtEl>
                                          <p:spTgt spid="11"/>
                                        </p:tgtEl>
                                      </p:cBhvr>
                                    </p:animEffect>
                                  </p:childTnLst>
                                </p:cTn>
                              </p:par>
                            </p:childTnLst>
                          </p:cTn>
                        </p:par>
                        <p:par>
                          <p:cTn id="22" fill="hold">
                            <p:stCondLst>
                              <p:cond delay="5000"/>
                            </p:stCondLst>
                            <p:childTnLst>
                              <p:par>
                                <p:cTn id="23" presetID="53" presetClass="entr" presetSubtype="16" fill="hold" grpId="0" nodeType="afterEffect">
                                  <p:stCondLst>
                                    <p:cond delay="0"/>
                                  </p:stCondLst>
                                  <p:childTnLst>
                                    <p:set>
                                      <p:cBhvr>
                                        <p:cTn id="24" dur="1" fill="hold">
                                          <p:stCondLst>
                                            <p:cond delay="0"/>
                                          </p:stCondLst>
                                        </p:cTn>
                                        <p:tgtEl>
                                          <p:spTgt spid="12"/>
                                        </p:tgtEl>
                                        <p:attrNameLst>
                                          <p:attrName>style.visibility</p:attrName>
                                        </p:attrNameLst>
                                      </p:cBhvr>
                                      <p:to>
                                        <p:strVal val="visible"/>
                                      </p:to>
                                    </p:set>
                                    <p:anim calcmode="lin" valueType="num">
                                      <p:cBhvr>
                                        <p:cTn id="25" dur="500" fill="hold"/>
                                        <p:tgtEl>
                                          <p:spTgt spid="12"/>
                                        </p:tgtEl>
                                        <p:attrNameLst>
                                          <p:attrName>ppt_w</p:attrName>
                                        </p:attrNameLst>
                                      </p:cBhvr>
                                      <p:tavLst>
                                        <p:tav tm="0">
                                          <p:val>
                                            <p:fltVal val="0"/>
                                          </p:val>
                                        </p:tav>
                                        <p:tav tm="100000">
                                          <p:val>
                                            <p:strVal val="#ppt_w"/>
                                          </p:val>
                                        </p:tav>
                                      </p:tavLst>
                                    </p:anim>
                                    <p:anim calcmode="lin" valueType="num">
                                      <p:cBhvr>
                                        <p:cTn id="26" dur="500" fill="hold"/>
                                        <p:tgtEl>
                                          <p:spTgt spid="12"/>
                                        </p:tgtEl>
                                        <p:attrNameLst>
                                          <p:attrName>ppt_h</p:attrName>
                                        </p:attrNameLst>
                                      </p:cBhvr>
                                      <p:tavLst>
                                        <p:tav tm="0">
                                          <p:val>
                                            <p:fltVal val="0"/>
                                          </p:val>
                                        </p:tav>
                                        <p:tav tm="100000">
                                          <p:val>
                                            <p:strVal val="#ppt_h"/>
                                          </p:val>
                                        </p:tav>
                                      </p:tavLst>
                                    </p:anim>
                                    <p:animEffect transition="in" filter="fade">
                                      <p:cBhvr>
                                        <p:cTn id="27" dur="500"/>
                                        <p:tgtEl>
                                          <p:spTgt spid="12"/>
                                        </p:tgtEl>
                                      </p:cBhvr>
                                    </p:animEffect>
                                  </p:childTnLst>
                                </p:cTn>
                              </p:par>
                            </p:childTnLst>
                          </p:cTn>
                        </p:par>
                        <p:par>
                          <p:cTn id="28" fill="hold">
                            <p:stCondLst>
                              <p:cond delay="5500"/>
                            </p:stCondLst>
                            <p:childTnLst>
                              <p:par>
                                <p:cTn id="29" presetID="10" presetClass="entr" presetSubtype="0" fill="hold" grpId="0" nodeType="after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childTnLst>
                                </p:cTn>
                              </p:par>
                            </p:childTnLst>
                          </p:cTn>
                        </p:par>
                        <p:par>
                          <p:cTn id="32" fill="hold">
                            <p:stCondLst>
                              <p:cond delay="6000"/>
                            </p:stCondLst>
                            <p:childTnLst>
                              <p:par>
                                <p:cTn id="33" presetID="21" presetClass="entr" presetSubtype="1" fill="hold" grpId="0" nodeType="after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wheel(1)">
                                      <p:cBhvr>
                                        <p:cTn id="35" dur="2000"/>
                                        <p:tgtEl>
                                          <p:spTgt spid="14"/>
                                        </p:tgtEl>
                                      </p:cBhvr>
                                    </p:animEffect>
                                  </p:childTnLst>
                                </p:cTn>
                              </p:par>
                            </p:childTnLst>
                          </p:cTn>
                        </p:par>
                        <p:par>
                          <p:cTn id="36" fill="hold">
                            <p:stCondLst>
                              <p:cond delay="8000"/>
                            </p:stCondLst>
                            <p:childTnLst>
                              <p:par>
                                <p:cTn id="37" presetID="53" presetClass="entr" presetSubtype="16" fill="hold" grpId="0" nodeType="afterEffect">
                                  <p:stCondLst>
                                    <p:cond delay="0"/>
                                  </p:stCondLst>
                                  <p:childTnLst>
                                    <p:set>
                                      <p:cBhvr>
                                        <p:cTn id="38" dur="1" fill="hold">
                                          <p:stCondLst>
                                            <p:cond delay="0"/>
                                          </p:stCondLst>
                                        </p:cTn>
                                        <p:tgtEl>
                                          <p:spTgt spid="15"/>
                                        </p:tgtEl>
                                        <p:attrNameLst>
                                          <p:attrName>style.visibility</p:attrName>
                                        </p:attrNameLst>
                                      </p:cBhvr>
                                      <p:to>
                                        <p:strVal val="visible"/>
                                      </p:to>
                                    </p:set>
                                    <p:anim calcmode="lin" valueType="num">
                                      <p:cBhvr>
                                        <p:cTn id="39" dur="500" fill="hold"/>
                                        <p:tgtEl>
                                          <p:spTgt spid="15"/>
                                        </p:tgtEl>
                                        <p:attrNameLst>
                                          <p:attrName>ppt_w</p:attrName>
                                        </p:attrNameLst>
                                      </p:cBhvr>
                                      <p:tavLst>
                                        <p:tav tm="0">
                                          <p:val>
                                            <p:fltVal val="0"/>
                                          </p:val>
                                        </p:tav>
                                        <p:tav tm="100000">
                                          <p:val>
                                            <p:strVal val="#ppt_w"/>
                                          </p:val>
                                        </p:tav>
                                      </p:tavLst>
                                    </p:anim>
                                    <p:anim calcmode="lin" valueType="num">
                                      <p:cBhvr>
                                        <p:cTn id="40" dur="500" fill="hold"/>
                                        <p:tgtEl>
                                          <p:spTgt spid="15"/>
                                        </p:tgtEl>
                                        <p:attrNameLst>
                                          <p:attrName>ppt_h</p:attrName>
                                        </p:attrNameLst>
                                      </p:cBhvr>
                                      <p:tavLst>
                                        <p:tav tm="0">
                                          <p:val>
                                            <p:fltVal val="0"/>
                                          </p:val>
                                        </p:tav>
                                        <p:tav tm="100000">
                                          <p:val>
                                            <p:strVal val="#ppt_h"/>
                                          </p:val>
                                        </p:tav>
                                      </p:tavLst>
                                    </p:anim>
                                    <p:animEffect transition="in" filter="fade">
                                      <p:cBhvr>
                                        <p:cTn id="41" dur="500"/>
                                        <p:tgtEl>
                                          <p:spTgt spid="15"/>
                                        </p:tgtEl>
                                      </p:cBhvr>
                                    </p:animEffect>
                                  </p:childTnLst>
                                </p:cTn>
                              </p:par>
                            </p:childTnLst>
                          </p:cTn>
                        </p:par>
                        <p:par>
                          <p:cTn id="42" fill="hold">
                            <p:stCondLst>
                              <p:cond delay="8500"/>
                            </p:stCondLst>
                            <p:childTnLst>
                              <p:par>
                                <p:cTn id="43" presetID="10" presetClass="entr" presetSubtype="0" fill="hold" grpId="0" nodeType="after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7CAB2B86-4E3B-C98C-411E-958BEFE187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2528" y="6154887"/>
            <a:ext cx="2234242" cy="525923"/>
          </a:xfrm>
          <a:prstGeom prst="rect">
            <a:avLst/>
          </a:prstGeom>
        </p:spPr>
      </p:pic>
      <p:pic>
        <p:nvPicPr>
          <p:cNvPr id="4" name="Picture 4" descr="Ellucian Student Reseñas 2026: Detalles, Precios y Características | G2">
            <a:extLst>
              <a:ext uri="{FF2B5EF4-FFF2-40B4-BE49-F238E27FC236}">
                <a16:creationId xmlns:a16="http://schemas.microsoft.com/office/drawing/2014/main" id="{7352B780-8C7C-7B91-F3EE-5E6EF2C2E4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98101" y="5901780"/>
            <a:ext cx="1821371" cy="956220"/>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0AEBA78F-8C98-5D4D-384F-95B753FFADE4}"/>
              </a:ext>
            </a:extLst>
          </p:cNvPr>
          <p:cNvSpPr txBox="1"/>
          <p:nvPr/>
        </p:nvSpPr>
        <p:spPr>
          <a:xfrm>
            <a:off x="431320" y="241540"/>
            <a:ext cx="6789038" cy="523220"/>
          </a:xfrm>
          <a:prstGeom prst="rect">
            <a:avLst/>
          </a:prstGeom>
          <a:noFill/>
        </p:spPr>
        <p:txBody>
          <a:bodyPr wrap="none" rtlCol="0">
            <a:spAutoFit/>
          </a:bodyPr>
          <a:lstStyle/>
          <a:p>
            <a:r>
              <a:rPr lang="es-ES" sz="2800" b="1" dirty="0">
                <a:latin typeface="Montserrat" pitchFamily="2" charset="0"/>
              </a:rPr>
              <a:t>CONTROL DE PERIODO - SOATERM</a:t>
            </a:r>
            <a:endParaRPr lang="es-PE" sz="2800" b="1" dirty="0">
              <a:latin typeface="Montserrat" pitchFamily="2" charset="0"/>
            </a:endParaRPr>
          </a:p>
        </p:txBody>
      </p:sp>
      <p:sp>
        <p:nvSpPr>
          <p:cNvPr id="8" name="Rectángulo 7">
            <a:extLst>
              <a:ext uri="{FF2B5EF4-FFF2-40B4-BE49-F238E27FC236}">
                <a16:creationId xmlns:a16="http://schemas.microsoft.com/office/drawing/2014/main" id="{A16BCE08-E23C-F264-A6E3-E4019979D2E2}"/>
              </a:ext>
            </a:extLst>
          </p:cNvPr>
          <p:cNvSpPr/>
          <p:nvPr/>
        </p:nvSpPr>
        <p:spPr>
          <a:xfrm>
            <a:off x="7220358" y="241540"/>
            <a:ext cx="4971641" cy="445583"/>
          </a:xfrm>
          <a:prstGeom prst="rect">
            <a:avLst/>
          </a:prstGeom>
          <a:gradFill flip="none" rotWithShape="1">
            <a:gsLst>
              <a:gs pos="0">
                <a:schemeClr val="accent6">
                  <a:lumMod val="0"/>
                  <a:lumOff val="100000"/>
                </a:schemeClr>
              </a:gs>
              <a:gs pos="66000">
                <a:schemeClr val="accent6">
                  <a:lumMod val="100000"/>
                </a:schemeClr>
              </a:gs>
            </a:gsLst>
            <a:lin ang="0" scaled="1"/>
            <a:tileRect/>
          </a:gra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s-PE"/>
          </a:p>
        </p:txBody>
      </p:sp>
      <p:sp>
        <p:nvSpPr>
          <p:cNvPr id="6" name="CuadroTexto 5">
            <a:extLst>
              <a:ext uri="{FF2B5EF4-FFF2-40B4-BE49-F238E27FC236}">
                <a16:creationId xmlns:a16="http://schemas.microsoft.com/office/drawing/2014/main" id="{AC33DC36-253A-547B-7A30-A152C2F6B4CE}"/>
              </a:ext>
            </a:extLst>
          </p:cNvPr>
          <p:cNvSpPr txBox="1"/>
          <p:nvPr/>
        </p:nvSpPr>
        <p:spPr>
          <a:xfrm>
            <a:off x="4528936" y="6386396"/>
            <a:ext cx="3134128" cy="276999"/>
          </a:xfrm>
          <a:prstGeom prst="rect">
            <a:avLst/>
          </a:prstGeom>
          <a:noFill/>
        </p:spPr>
        <p:txBody>
          <a:bodyPr wrap="none" rtlCol="0">
            <a:spAutoFit/>
          </a:bodyPr>
          <a:lstStyle/>
          <a:p>
            <a:pPr algn="ctr"/>
            <a:r>
              <a:rPr lang="es-ES" sz="1200" i="1" dirty="0"/>
              <a:t>Elaborado por: Ing. Liliana Ocampo Moreno</a:t>
            </a:r>
            <a:endParaRPr lang="es-PE" sz="1200" i="1" dirty="0"/>
          </a:p>
        </p:txBody>
      </p:sp>
      <p:pic>
        <p:nvPicPr>
          <p:cNvPr id="5" name="Imagen 4">
            <a:extLst>
              <a:ext uri="{FF2B5EF4-FFF2-40B4-BE49-F238E27FC236}">
                <a16:creationId xmlns:a16="http://schemas.microsoft.com/office/drawing/2014/main" id="{FE5B49AB-DD02-484D-828B-B07FDD1AEED7}"/>
              </a:ext>
            </a:extLst>
          </p:cNvPr>
          <p:cNvPicPr>
            <a:picLocks noChangeAspect="1"/>
          </p:cNvPicPr>
          <p:nvPr/>
        </p:nvPicPr>
        <p:blipFill>
          <a:blip r:embed="rId4"/>
          <a:stretch>
            <a:fillRect/>
          </a:stretch>
        </p:blipFill>
        <p:spPr>
          <a:xfrm>
            <a:off x="431320" y="988296"/>
            <a:ext cx="11217913" cy="5062382"/>
          </a:xfrm>
          <a:prstGeom prst="rect">
            <a:avLst/>
          </a:prstGeom>
        </p:spPr>
      </p:pic>
      <p:sp>
        <p:nvSpPr>
          <p:cNvPr id="9" name="Rectángulo 8">
            <a:extLst>
              <a:ext uri="{FF2B5EF4-FFF2-40B4-BE49-F238E27FC236}">
                <a16:creationId xmlns:a16="http://schemas.microsoft.com/office/drawing/2014/main" id="{F3ACDE97-985B-423D-9AB0-00234DBA5115}"/>
              </a:ext>
            </a:extLst>
          </p:cNvPr>
          <p:cNvSpPr/>
          <p:nvPr/>
        </p:nvSpPr>
        <p:spPr>
          <a:xfrm>
            <a:off x="431319" y="1461240"/>
            <a:ext cx="11217913" cy="2594711"/>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10" name="Rectángulo: esquinas redondeadas 9">
            <a:extLst>
              <a:ext uri="{FF2B5EF4-FFF2-40B4-BE49-F238E27FC236}">
                <a16:creationId xmlns:a16="http://schemas.microsoft.com/office/drawing/2014/main" id="{026B27FB-E2C8-4ECF-B4F4-D1D1546E9388}"/>
              </a:ext>
            </a:extLst>
          </p:cNvPr>
          <p:cNvSpPr/>
          <p:nvPr/>
        </p:nvSpPr>
        <p:spPr>
          <a:xfrm>
            <a:off x="3021459" y="4167344"/>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s-ES" sz="1100" b="1" dirty="0"/>
              <a:t>1</a:t>
            </a:r>
            <a:endParaRPr lang="es-PE" sz="1100" b="1" dirty="0"/>
          </a:p>
        </p:txBody>
      </p:sp>
      <p:sp>
        <p:nvSpPr>
          <p:cNvPr id="11" name="CuadroTexto 10">
            <a:hlinkClick r:id="rId5" action="ppaction://hlinksldjump"/>
            <a:extLst>
              <a:ext uri="{FF2B5EF4-FFF2-40B4-BE49-F238E27FC236}">
                <a16:creationId xmlns:a16="http://schemas.microsoft.com/office/drawing/2014/main" id="{0D1E86EA-213F-4500-8D77-2ED77234A9B6}"/>
              </a:ext>
            </a:extLst>
          </p:cNvPr>
          <p:cNvSpPr txBox="1"/>
          <p:nvPr/>
        </p:nvSpPr>
        <p:spPr>
          <a:xfrm>
            <a:off x="3355484" y="4167344"/>
            <a:ext cx="5997843" cy="799207"/>
          </a:xfrm>
          <a:prstGeom prst="roundRect">
            <a:avLst>
              <a:gd name="adj" fmla="val 7573"/>
            </a:avLst>
          </a:prstGeom>
          <a:solidFill>
            <a:srgbClr val="7030A0"/>
          </a:solidFill>
        </p:spPr>
        <p:txBody>
          <a:bodyPr wrap="square">
            <a:spAutoFit/>
          </a:bodyPr>
          <a:lstStyle/>
          <a:p>
            <a:pPr>
              <a:spcAft>
                <a:spcPts val="600"/>
              </a:spcAft>
            </a:pPr>
            <a:r>
              <a:rPr lang="es-ES" sz="1100" dirty="0">
                <a:solidFill>
                  <a:srgbClr val="FFFFFF"/>
                </a:solidFill>
              </a:rPr>
              <a:t>En la pestaña </a:t>
            </a:r>
            <a:r>
              <a:rPr lang="es-ES" sz="1100" b="1" dirty="0">
                <a:solidFill>
                  <a:srgbClr val="92D050"/>
                </a:solidFill>
              </a:rPr>
              <a:t>Verificación de errores de inscripción</a:t>
            </a:r>
            <a:r>
              <a:rPr lang="es-ES" sz="1100" dirty="0">
                <a:solidFill>
                  <a:srgbClr val="FFFFFF"/>
                </a:solidFill>
              </a:rPr>
              <a:t>, se deben configurar las distintas acciones que ha de realizar </a:t>
            </a:r>
            <a:r>
              <a:rPr lang="es-ES" sz="1100" dirty="0" err="1">
                <a:solidFill>
                  <a:srgbClr val="FFFFFF"/>
                </a:solidFill>
              </a:rPr>
              <a:t>Ellucian</a:t>
            </a:r>
            <a:r>
              <a:rPr lang="es-ES" sz="1100" dirty="0">
                <a:solidFill>
                  <a:srgbClr val="FFFFFF"/>
                </a:solidFill>
              </a:rPr>
              <a:t> </a:t>
            </a:r>
            <a:r>
              <a:rPr lang="es-ES" sz="1100" dirty="0" err="1">
                <a:solidFill>
                  <a:srgbClr val="FFFFFF"/>
                </a:solidFill>
              </a:rPr>
              <a:t>Student</a:t>
            </a:r>
            <a:r>
              <a:rPr lang="es-ES" sz="1100" dirty="0">
                <a:solidFill>
                  <a:srgbClr val="FFFFFF"/>
                </a:solidFill>
              </a:rPr>
              <a:t> si en el proceso de inscripción encuentra algún error asociado. Se sugiere colocar en fatal aquellos elementos que, según el modelo de la Universidad, se controlen desde la programación académica o desde el catálogo.</a:t>
            </a:r>
          </a:p>
        </p:txBody>
      </p:sp>
      <p:sp>
        <p:nvSpPr>
          <p:cNvPr id="12" name="Rectángulo 11">
            <a:extLst>
              <a:ext uri="{FF2B5EF4-FFF2-40B4-BE49-F238E27FC236}">
                <a16:creationId xmlns:a16="http://schemas.microsoft.com/office/drawing/2014/main" id="{F1E582FB-D04C-4ABC-9CEE-A5A40CD710BA}"/>
              </a:ext>
            </a:extLst>
          </p:cNvPr>
          <p:cNvSpPr/>
          <p:nvPr/>
        </p:nvSpPr>
        <p:spPr>
          <a:xfrm>
            <a:off x="11084637" y="5670683"/>
            <a:ext cx="684363" cy="347998"/>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13" name="Rectángulo: esquinas redondeadas 12">
            <a:extLst>
              <a:ext uri="{FF2B5EF4-FFF2-40B4-BE49-F238E27FC236}">
                <a16:creationId xmlns:a16="http://schemas.microsoft.com/office/drawing/2014/main" id="{DC5BEF19-1C85-4B26-BF83-E5CBAA9B131C}"/>
              </a:ext>
            </a:extLst>
          </p:cNvPr>
          <p:cNvSpPr/>
          <p:nvPr/>
        </p:nvSpPr>
        <p:spPr>
          <a:xfrm>
            <a:off x="10768334" y="5732539"/>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s-ES" sz="1100" b="1" dirty="0"/>
              <a:t>2</a:t>
            </a:r>
            <a:endParaRPr lang="es-PE" sz="1100" b="1" dirty="0"/>
          </a:p>
        </p:txBody>
      </p:sp>
      <p:sp>
        <p:nvSpPr>
          <p:cNvPr id="14" name="CuadroTexto 13">
            <a:extLst>
              <a:ext uri="{FF2B5EF4-FFF2-40B4-BE49-F238E27FC236}">
                <a16:creationId xmlns:a16="http://schemas.microsoft.com/office/drawing/2014/main" id="{CCDC4F7F-F4F0-4B38-AC68-729856BB3EAD}"/>
              </a:ext>
            </a:extLst>
          </p:cNvPr>
          <p:cNvSpPr txBox="1"/>
          <p:nvPr/>
        </p:nvSpPr>
        <p:spPr>
          <a:xfrm>
            <a:off x="10301290" y="4577865"/>
            <a:ext cx="1588524" cy="975033"/>
          </a:xfrm>
          <a:prstGeom prst="roundRect">
            <a:avLst>
              <a:gd name="adj" fmla="val 7573"/>
            </a:avLst>
          </a:prstGeom>
          <a:solidFill>
            <a:srgbClr val="7030A0"/>
          </a:solidFill>
        </p:spPr>
        <p:txBody>
          <a:bodyPr wrap="square">
            <a:spAutoFit/>
          </a:bodyPr>
          <a:lstStyle/>
          <a:p>
            <a:pPr algn="ctr"/>
            <a:r>
              <a:rPr lang="es-ES" sz="1100" dirty="0">
                <a:solidFill>
                  <a:srgbClr val="FFFFFF"/>
                </a:solidFill>
              </a:rPr>
              <a:t>Se debe presionar </a:t>
            </a:r>
            <a:r>
              <a:rPr lang="es-ES" sz="1100" b="1" dirty="0">
                <a:solidFill>
                  <a:srgbClr val="92D050"/>
                </a:solidFill>
              </a:rPr>
              <a:t>Guardar</a:t>
            </a:r>
            <a:r>
              <a:rPr lang="es-ES" sz="1100" dirty="0">
                <a:solidFill>
                  <a:srgbClr val="FFFFFF"/>
                </a:solidFill>
              </a:rPr>
              <a:t> para que la información quede registrada en el sistema</a:t>
            </a:r>
          </a:p>
        </p:txBody>
      </p:sp>
      <p:sp>
        <p:nvSpPr>
          <p:cNvPr id="15" name="Rectángulo 14">
            <a:extLst>
              <a:ext uri="{FF2B5EF4-FFF2-40B4-BE49-F238E27FC236}">
                <a16:creationId xmlns:a16="http://schemas.microsoft.com/office/drawing/2014/main" id="{256E0B69-19E9-4B73-A618-F7C72E44C10B}"/>
              </a:ext>
            </a:extLst>
          </p:cNvPr>
          <p:cNvSpPr/>
          <p:nvPr/>
        </p:nvSpPr>
        <p:spPr>
          <a:xfrm>
            <a:off x="701015" y="5662777"/>
            <a:ext cx="358463" cy="347998"/>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16" name="Rectángulo: esquinas redondeadas 15">
            <a:extLst>
              <a:ext uri="{FF2B5EF4-FFF2-40B4-BE49-F238E27FC236}">
                <a16:creationId xmlns:a16="http://schemas.microsoft.com/office/drawing/2014/main" id="{4A80FE8B-9280-4C48-8B7B-8992F0BBFDD6}"/>
              </a:ext>
            </a:extLst>
          </p:cNvPr>
          <p:cNvSpPr/>
          <p:nvPr/>
        </p:nvSpPr>
        <p:spPr>
          <a:xfrm>
            <a:off x="375476" y="5687689"/>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s-ES" sz="1100" b="1" dirty="0"/>
              <a:t>3</a:t>
            </a:r>
            <a:endParaRPr lang="es-PE" sz="1100" b="1" dirty="0"/>
          </a:p>
        </p:txBody>
      </p:sp>
      <p:sp>
        <p:nvSpPr>
          <p:cNvPr id="17" name="CuadroTexto 16">
            <a:extLst>
              <a:ext uri="{FF2B5EF4-FFF2-40B4-BE49-F238E27FC236}">
                <a16:creationId xmlns:a16="http://schemas.microsoft.com/office/drawing/2014/main" id="{64BBC5DD-3B94-4A77-9719-FFE33620F5E7}"/>
              </a:ext>
            </a:extLst>
          </p:cNvPr>
          <p:cNvSpPr txBox="1"/>
          <p:nvPr/>
        </p:nvSpPr>
        <p:spPr>
          <a:xfrm>
            <a:off x="224421" y="5111094"/>
            <a:ext cx="868225" cy="447556"/>
          </a:xfrm>
          <a:prstGeom prst="roundRect">
            <a:avLst>
              <a:gd name="adj" fmla="val 7573"/>
            </a:avLst>
          </a:prstGeom>
          <a:solidFill>
            <a:srgbClr val="7030A0"/>
          </a:solidFill>
        </p:spPr>
        <p:txBody>
          <a:bodyPr wrap="square">
            <a:spAutoFit/>
          </a:bodyPr>
          <a:lstStyle/>
          <a:p>
            <a:pPr algn="ctr"/>
            <a:r>
              <a:rPr lang="es-ES" sz="1100" dirty="0">
                <a:solidFill>
                  <a:srgbClr val="FFFFFF"/>
                </a:solidFill>
              </a:rPr>
              <a:t>Presionar siguiente</a:t>
            </a:r>
          </a:p>
        </p:txBody>
      </p:sp>
    </p:spTree>
    <p:extLst>
      <p:ext uri="{BB962C8B-B14F-4D97-AF65-F5344CB8AC3E}">
        <p14:creationId xmlns:p14="http://schemas.microsoft.com/office/powerpoint/2010/main" val="306633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left)">
                                      <p:cBhvr>
                                        <p:cTn id="10" dur="500"/>
                                        <p:tgtEl>
                                          <p:spTgt spid="8"/>
                                        </p:tgtEl>
                                      </p:cBhvr>
                                    </p:animEffect>
                                  </p:childTnLst>
                                </p:cTn>
                              </p:par>
                            </p:childTnLst>
                          </p:cTn>
                        </p:par>
                        <p:par>
                          <p:cTn id="11" fill="hold">
                            <p:stCondLst>
                              <p:cond delay="500"/>
                            </p:stCondLst>
                            <p:childTnLst>
                              <p:par>
                                <p:cTn id="12" presetID="21" presetClass="entr" presetSubtype="1" fill="hold" grpId="0" nodeType="after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heel(1)">
                                      <p:cBhvr>
                                        <p:cTn id="14" dur="2000"/>
                                        <p:tgtEl>
                                          <p:spTgt spid="9"/>
                                        </p:tgtEl>
                                      </p:cBhvr>
                                    </p:animEffect>
                                  </p:childTnLst>
                                </p:cTn>
                              </p:par>
                            </p:childTnLst>
                          </p:cTn>
                        </p:par>
                        <p:par>
                          <p:cTn id="15" fill="hold">
                            <p:stCondLst>
                              <p:cond delay="2500"/>
                            </p:stCondLst>
                            <p:childTnLst>
                              <p:par>
                                <p:cTn id="16" presetID="53" presetClass="entr" presetSubtype="16" fill="hold" grpId="0" nodeType="afterEffect">
                                  <p:stCondLst>
                                    <p:cond delay="0"/>
                                  </p:stCondLst>
                                  <p:childTnLst>
                                    <p:set>
                                      <p:cBhvr>
                                        <p:cTn id="17" dur="1" fill="hold">
                                          <p:stCondLst>
                                            <p:cond delay="0"/>
                                          </p:stCondLst>
                                        </p:cTn>
                                        <p:tgtEl>
                                          <p:spTgt spid="10"/>
                                        </p:tgtEl>
                                        <p:attrNameLst>
                                          <p:attrName>style.visibility</p:attrName>
                                        </p:attrNameLst>
                                      </p:cBhvr>
                                      <p:to>
                                        <p:strVal val="visible"/>
                                      </p:to>
                                    </p:set>
                                    <p:anim calcmode="lin" valueType="num">
                                      <p:cBhvr>
                                        <p:cTn id="18" dur="500" fill="hold"/>
                                        <p:tgtEl>
                                          <p:spTgt spid="10"/>
                                        </p:tgtEl>
                                        <p:attrNameLst>
                                          <p:attrName>ppt_w</p:attrName>
                                        </p:attrNameLst>
                                      </p:cBhvr>
                                      <p:tavLst>
                                        <p:tav tm="0">
                                          <p:val>
                                            <p:fltVal val="0"/>
                                          </p:val>
                                        </p:tav>
                                        <p:tav tm="100000">
                                          <p:val>
                                            <p:strVal val="#ppt_w"/>
                                          </p:val>
                                        </p:tav>
                                      </p:tavLst>
                                    </p:anim>
                                    <p:anim calcmode="lin" valueType="num">
                                      <p:cBhvr>
                                        <p:cTn id="19" dur="500" fill="hold"/>
                                        <p:tgtEl>
                                          <p:spTgt spid="10"/>
                                        </p:tgtEl>
                                        <p:attrNameLst>
                                          <p:attrName>ppt_h</p:attrName>
                                        </p:attrNameLst>
                                      </p:cBhvr>
                                      <p:tavLst>
                                        <p:tav tm="0">
                                          <p:val>
                                            <p:fltVal val="0"/>
                                          </p:val>
                                        </p:tav>
                                        <p:tav tm="100000">
                                          <p:val>
                                            <p:strVal val="#ppt_h"/>
                                          </p:val>
                                        </p:tav>
                                      </p:tavLst>
                                    </p:anim>
                                    <p:animEffect transition="in" filter="fade">
                                      <p:cBhvr>
                                        <p:cTn id="20" dur="500"/>
                                        <p:tgtEl>
                                          <p:spTgt spid="10"/>
                                        </p:tgtEl>
                                      </p:cBhvr>
                                    </p:animEffect>
                                  </p:childTnLst>
                                </p:cTn>
                              </p:par>
                            </p:childTnLst>
                          </p:cTn>
                        </p:par>
                        <p:par>
                          <p:cTn id="21" fill="hold">
                            <p:stCondLst>
                              <p:cond delay="3000"/>
                            </p:stCondLst>
                            <p:childTnLst>
                              <p:par>
                                <p:cTn id="22" presetID="10" presetClass="entr" presetSubtype="0" fill="hold" grpId="0" nodeType="after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500"/>
                                        <p:tgtEl>
                                          <p:spTgt spid="11"/>
                                        </p:tgtEl>
                                      </p:cBhvr>
                                    </p:animEffect>
                                  </p:childTnLst>
                                </p:cTn>
                              </p:par>
                            </p:childTnLst>
                          </p:cTn>
                        </p:par>
                        <p:par>
                          <p:cTn id="25" fill="hold">
                            <p:stCondLst>
                              <p:cond delay="3500"/>
                            </p:stCondLst>
                            <p:childTnLst>
                              <p:par>
                                <p:cTn id="26" presetID="21" presetClass="entr" presetSubtype="1" fill="hold" grpId="0" nodeType="after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wheel(1)">
                                      <p:cBhvr>
                                        <p:cTn id="28" dur="2000"/>
                                        <p:tgtEl>
                                          <p:spTgt spid="12"/>
                                        </p:tgtEl>
                                      </p:cBhvr>
                                    </p:animEffect>
                                  </p:childTnLst>
                                </p:cTn>
                              </p:par>
                            </p:childTnLst>
                          </p:cTn>
                        </p:par>
                        <p:par>
                          <p:cTn id="29" fill="hold">
                            <p:stCondLst>
                              <p:cond delay="5500"/>
                            </p:stCondLst>
                            <p:childTnLst>
                              <p:par>
                                <p:cTn id="30" presetID="53" presetClass="entr" presetSubtype="16" fill="hold" grpId="0" nodeType="afterEffect">
                                  <p:stCondLst>
                                    <p:cond delay="0"/>
                                  </p:stCondLst>
                                  <p:childTnLst>
                                    <p:set>
                                      <p:cBhvr>
                                        <p:cTn id="31" dur="1" fill="hold">
                                          <p:stCondLst>
                                            <p:cond delay="0"/>
                                          </p:stCondLst>
                                        </p:cTn>
                                        <p:tgtEl>
                                          <p:spTgt spid="13"/>
                                        </p:tgtEl>
                                        <p:attrNameLst>
                                          <p:attrName>style.visibility</p:attrName>
                                        </p:attrNameLst>
                                      </p:cBhvr>
                                      <p:to>
                                        <p:strVal val="visible"/>
                                      </p:to>
                                    </p:set>
                                    <p:anim calcmode="lin" valueType="num">
                                      <p:cBhvr>
                                        <p:cTn id="32" dur="500" fill="hold"/>
                                        <p:tgtEl>
                                          <p:spTgt spid="13"/>
                                        </p:tgtEl>
                                        <p:attrNameLst>
                                          <p:attrName>ppt_w</p:attrName>
                                        </p:attrNameLst>
                                      </p:cBhvr>
                                      <p:tavLst>
                                        <p:tav tm="0">
                                          <p:val>
                                            <p:fltVal val="0"/>
                                          </p:val>
                                        </p:tav>
                                        <p:tav tm="100000">
                                          <p:val>
                                            <p:strVal val="#ppt_w"/>
                                          </p:val>
                                        </p:tav>
                                      </p:tavLst>
                                    </p:anim>
                                    <p:anim calcmode="lin" valueType="num">
                                      <p:cBhvr>
                                        <p:cTn id="33" dur="500" fill="hold"/>
                                        <p:tgtEl>
                                          <p:spTgt spid="13"/>
                                        </p:tgtEl>
                                        <p:attrNameLst>
                                          <p:attrName>ppt_h</p:attrName>
                                        </p:attrNameLst>
                                      </p:cBhvr>
                                      <p:tavLst>
                                        <p:tav tm="0">
                                          <p:val>
                                            <p:fltVal val="0"/>
                                          </p:val>
                                        </p:tav>
                                        <p:tav tm="100000">
                                          <p:val>
                                            <p:strVal val="#ppt_h"/>
                                          </p:val>
                                        </p:tav>
                                      </p:tavLst>
                                    </p:anim>
                                    <p:animEffect transition="in" filter="fade">
                                      <p:cBhvr>
                                        <p:cTn id="34" dur="500"/>
                                        <p:tgtEl>
                                          <p:spTgt spid="13"/>
                                        </p:tgtEl>
                                      </p:cBhvr>
                                    </p:animEffect>
                                  </p:childTnLst>
                                </p:cTn>
                              </p:par>
                            </p:childTnLst>
                          </p:cTn>
                        </p:par>
                        <p:par>
                          <p:cTn id="35" fill="hold">
                            <p:stCondLst>
                              <p:cond delay="6000"/>
                            </p:stCondLst>
                            <p:childTnLst>
                              <p:par>
                                <p:cTn id="36" presetID="10" presetClass="entr" presetSubtype="0" fill="hold" grpId="0" nodeType="after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500"/>
                                        <p:tgtEl>
                                          <p:spTgt spid="14"/>
                                        </p:tgtEl>
                                      </p:cBhvr>
                                    </p:animEffect>
                                  </p:childTnLst>
                                </p:cTn>
                              </p:par>
                            </p:childTnLst>
                          </p:cTn>
                        </p:par>
                        <p:par>
                          <p:cTn id="39" fill="hold">
                            <p:stCondLst>
                              <p:cond delay="6500"/>
                            </p:stCondLst>
                            <p:childTnLst>
                              <p:par>
                                <p:cTn id="40" presetID="21" presetClass="entr" presetSubtype="1" fill="hold" grpId="0" nodeType="after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wheel(1)">
                                      <p:cBhvr>
                                        <p:cTn id="42" dur="2000"/>
                                        <p:tgtEl>
                                          <p:spTgt spid="15"/>
                                        </p:tgtEl>
                                      </p:cBhvr>
                                    </p:animEffect>
                                  </p:childTnLst>
                                </p:cTn>
                              </p:par>
                            </p:childTnLst>
                          </p:cTn>
                        </p:par>
                        <p:par>
                          <p:cTn id="43" fill="hold">
                            <p:stCondLst>
                              <p:cond delay="8500"/>
                            </p:stCondLst>
                            <p:childTnLst>
                              <p:par>
                                <p:cTn id="44" presetID="53" presetClass="entr" presetSubtype="16" fill="hold" grpId="0" nodeType="afterEffect">
                                  <p:stCondLst>
                                    <p:cond delay="0"/>
                                  </p:stCondLst>
                                  <p:childTnLst>
                                    <p:set>
                                      <p:cBhvr>
                                        <p:cTn id="45" dur="1" fill="hold">
                                          <p:stCondLst>
                                            <p:cond delay="0"/>
                                          </p:stCondLst>
                                        </p:cTn>
                                        <p:tgtEl>
                                          <p:spTgt spid="16"/>
                                        </p:tgtEl>
                                        <p:attrNameLst>
                                          <p:attrName>style.visibility</p:attrName>
                                        </p:attrNameLst>
                                      </p:cBhvr>
                                      <p:to>
                                        <p:strVal val="visible"/>
                                      </p:to>
                                    </p:set>
                                    <p:anim calcmode="lin" valueType="num">
                                      <p:cBhvr>
                                        <p:cTn id="46" dur="500" fill="hold"/>
                                        <p:tgtEl>
                                          <p:spTgt spid="16"/>
                                        </p:tgtEl>
                                        <p:attrNameLst>
                                          <p:attrName>ppt_w</p:attrName>
                                        </p:attrNameLst>
                                      </p:cBhvr>
                                      <p:tavLst>
                                        <p:tav tm="0">
                                          <p:val>
                                            <p:fltVal val="0"/>
                                          </p:val>
                                        </p:tav>
                                        <p:tav tm="100000">
                                          <p:val>
                                            <p:strVal val="#ppt_w"/>
                                          </p:val>
                                        </p:tav>
                                      </p:tavLst>
                                    </p:anim>
                                    <p:anim calcmode="lin" valueType="num">
                                      <p:cBhvr>
                                        <p:cTn id="47" dur="500" fill="hold"/>
                                        <p:tgtEl>
                                          <p:spTgt spid="16"/>
                                        </p:tgtEl>
                                        <p:attrNameLst>
                                          <p:attrName>ppt_h</p:attrName>
                                        </p:attrNameLst>
                                      </p:cBhvr>
                                      <p:tavLst>
                                        <p:tav tm="0">
                                          <p:val>
                                            <p:fltVal val="0"/>
                                          </p:val>
                                        </p:tav>
                                        <p:tav tm="100000">
                                          <p:val>
                                            <p:strVal val="#ppt_h"/>
                                          </p:val>
                                        </p:tav>
                                      </p:tavLst>
                                    </p:anim>
                                    <p:animEffect transition="in" filter="fade">
                                      <p:cBhvr>
                                        <p:cTn id="48" dur="500"/>
                                        <p:tgtEl>
                                          <p:spTgt spid="16"/>
                                        </p:tgtEl>
                                      </p:cBhvr>
                                    </p:animEffect>
                                  </p:childTnLst>
                                </p:cTn>
                              </p:par>
                            </p:childTnLst>
                          </p:cTn>
                        </p:par>
                        <p:par>
                          <p:cTn id="49" fill="hold">
                            <p:stCondLst>
                              <p:cond delay="9000"/>
                            </p:stCondLst>
                            <p:childTnLst>
                              <p:par>
                                <p:cTn id="50" presetID="10" presetClass="entr" presetSubtype="0" fill="hold" grpId="0" nodeType="after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7CAB2B86-4E3B-C98C-411E-958BEFE187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2528" y="6154887"/>
            <a:ext cx="2234242" cy="525923"/>
          </a:xfrm>
          <a:prstGeom prst="rect">
            <a:avLst/>
          </a:prstGeom>
        </p:spPr>
      </p:pic>
      <p:pic>
        <p:nvPicPr>
          <p:cNvPr id="4" name="Picture 4" descr="Ellucian Student Reseñas 2026: Detalles, Precios y Características | G2">
            <a:extLst>
              <a:ext uri="{FF2B5EF4-FFF2-40B4-BE49-F238E27FC236}">
                <a16:creationId xmlns:a16="http://schemas.microsoft.com/office/drawing/2014/main" id="{7352B780-8C7C-7B91-F3EE-5E6EF2C2E4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98101" y="5901780"/>
            <a:ext cx="1821371" cy="956220"/>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0AEBA78F-8C98-5D4D-384F-95B753FFADE4}"/>
              </a:ext>
            </a:extLst>
          </p:cNvPr>
          <p:cNvSpPr txBox="1"/>
          <p:nvPr/>
        </p:nvSpPr>
        <p:spPr>
          <a:xfrm>
            <a:off x="431320" y="241540"/>
            <a:ext cx="10937610" cy="523220"/>
          </a:xfrm>
          <a:prstGeom prst="rect">
            <a:avLst/>
          </a:prstGeom>
          <a:noFill/>
        </p:spPr>
        <p:txBody>
          <a:bodyPr wrap="none" rtlCol="0">
            <a:spAutoFit/>
          </a:bodyPr>
          <a:lstStyle/>
          <a:p>
            <a:r>
              <a:rPr lang="es-ES" sz="2800" b="1" dirty="0">
                <a:latin typeface="Montserrat" pitchFamily="2" charset="0"/>
              </a:rPr>
              <a:t>VERIFICACIÓN DE ERRORES DE INSCRIPCIÓN - SOATERM</a:t>
            </a:r>
            <a:endParaRPr lang="es-PE" sz="2800" b="1" dirty="0">
              <a:latin typeface="Montserrat" pitchFamily="2" charset="0"/>
            </a:endParaRPr>
          </a:p>
        </p:txBody>
      </p:sp>
      <p:sp>
        <p:nvSpPr>
          <p:cNvPr id="8" name="Rectángulo 7">
            <a:extLst>
              <a:ext uri="{FF2B5EF4-FFF2-40B4-BE49-F238E27FC236}">
                <a16:creationId xmlns:a16="http://schemas.microsoft.com/office/drawing/2014/main" id="{A16BCE08-E23C-F264-A6E3-E4019979D2E2}"/>
              </a:ext>
            </a:extLst>
          </p:cNvPr>
          <p:cNvSpPr/>
          <p:nvPr/>
        </p:nvSpPr>
        <p:spPr>
          <a:xfrm>
            <a:off x="11368930" y="241540"/>
            <a:ext cx="823069" cy="445583"/>
          </a:xfrm>
          <a:prstGeom prst="rect">
            <a:avLst/>
          </a:prstGeom>
          <a:gradFill flip="none" rotWithShape="1">
            <a:gsLst>
              <a:gs pos="0">
                <a:schemeClr val="accent6">
                  <a:lumMod val="0"/>
                  <a:lumOff val="100000"/>
                </a:schemeClr>
              </a:gs>
              <a:gs pos="66000">
                <a:schemeClr val="accent6">
                  <a:lumMod val="100000"/>
                </a:schemeClr>
              </a:gs>
            </a:gsLst>
            <a:lin ang="0" scaled="1"/>
            <a:tileRect/>
          </a:gra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s-PE"/>
          </a:p>
        </p:txBody>
      </p:sp>
      <p:sp>
        <p:nvSpPr>
          <p:cNvPr id="6" name="CuadroTexto 5">
            <a:extLst>
              <a:ext uri="{FF2B5EF4-FFF2-40B4-BE49-F238E27FC236}">
                <a16:creationId xmlns:a16="http://schemas.microsoft.com/office/drawing/2014/main" id="{AC33DC36-253A-547B-7A30-A152C2F6B4CE}"/>
              </a:ext>
            </a:extLst>
          </p:cNvPr>
          <p:cNvSpPr txBox="1"/>
          <p:nvPr/>
        </p:nvSpPr>
        <p:spPr>
          <a:xfrm>
            <a:off x="4528936" y="6386396"/>
            <a:ext cx="3134128" cy="276999"/>
          </a:xfrm>
          <a:prstGeom prst="rect">
            <a:avLst/>
          </a:prstGeom>
          <a:noFill/>
        </p:spPr>
        <p:txBody>
          <a:bodyPr wrap="none" rtlCol="0">
            <a:spAutoFit/>
          </a:bodyPr>
          <a:lstStyle/>
          <a:p>
            <a:pPr algn="ctr"/>
            <a:r>
              <a:rPr lang="es-ES" sz="1200" i="1" dirty="0"/>
              <a:t>Elaborado por: Ing. Liliana Ocampo Moreno</a:t>
            </a:r>
            <a:endParaRPr lang="es-PE" sz="1200" i="1" dirty="0"/>
          </a:p>
        </p:txBody>
      </p:sp>
      <p:graphicFrame>
        <p:nvGraphicFramePr>
          <p:cNvPr id="9" name="Tabla 8">
            <a:extLst>
              <a:ext uri="{FF2B5EF4-FFF2-40B4-BE49-F238E27FC236}">
                <a16:creationId xmlns:a16="http://schemas.microsoft.com/office/drawing/2014/main" id="{C32B486B-F529-4688-878E-DA45BF99C8B2}"/>
              </a:ext>
            </a:extLst>
          </p:cNvPr>
          <p:cNvGraphicFramePr>
            <a:graphicFrameLocks noGrp="1"/>
          </p:cNvGraphicFramePr>
          <p:nvPr>
            <p:extLst>
              <p:ext uri="{D42A27DB-BD31-4B8C-83A1-F6EECF244321}">
                <p14:modId xmlns:p14="http://schemas.microsoft.com/office/powerpoint/2010/main" val="1176422339"/>
              </p:ext>
            </p:extLst>
          </p:nvPr>
        </p:nvGraphicFramePr>
        <p:xfrm>
          <a:off x="541699" y="1218495"/>
          <a:ext cx="11108601" cy="4548152"/>
        </p:xfrm>
        <a:graphic>
          <a:graphicData uri="http://schemas.openxmlformats.org/drawingml/2006/table">
            <a:tbl>
              <a:tblPr firstRow="1" bandRow="1">
                <a:tableStyleId>{93296810-A885-4BE3-A3E7-6D5BEEA58F35}</a:tableStyleId>
              </a:tblPr>
              <a:tblGrid>
                <a:gridCol w="2806573">
                  <a:extLst>
                    <a:ext uri="{9D8B030D-6E8A-4147-A177-3AD203B41FA5}">
                      <a16:colId xmlns:a16="http://schemas.microsoft.com/office/drawing/2014/main" val="324557172"/>
                    </a:ext>
                  </a:extLst>
                </a:gridCol>
                <a:gridCol w="5370215">
                  <a:extLst>
                    <a:ext uri="{9D8B030D-6E8A-4147-A177-3AD203B41FA5}">
                      <a16:colId xmlns:a16="http://schemas.microsoft.com/office/drawing/2014/main" val="2538440960"/>
                    </a:ext>
                  </a:extLst>
                </a:gridCol>
                <a:gridCol w="2931813">
                  <a:extLst>
                    <a:ext uri="{9D8B030D-6E8A-4147-A177-3AD203B41FA5}">
                      <a16:colId xmlns:a16="http://schemas.microsoft.com/office/drawing/2014/main" val="1321517792"/>
                    </a:ext>
                  </a:extLst>
                </a:gridCol>
              </a:tblGrid>
              <a:tr h="402872">
                <a:tc>
                  <a:txBody>
                    <a:bodyPr/>
                    <a:lstStyle/>
                    <a:p>
                      <a:r>
                        <a:rPr lang="es-419" sz="1400" dirty="0"/>
                        <a:t>Elemento</a:t>
                      </a:r>
                    </a:p>
                  </a:txBody>
                  <a:tcPr anchor="ctr">
                    <a:solidFill>
                      <a:schemeClr val="tx1">
                        <a:lumMod val="85000"/>
                        <a:lumOff val="15000"/>
                      </a:schemeClr>
                    </a:solidFill>
                  </a:tcPr>
                </a:tc>
                <a:tc>
                  <a:txBody>
                    <a:bodyPr/>
                    <a:lstStyle/>
                    <a:p>
                      <a:r>
                        <a:rPr lang="es-419" sz="1400" dirty="0"/>
                        <a:t>Descripción</a:t>
                      </a:r>
                    </a:p>
                  </a:txBody>
                  <a:tcPr anchor="ctr">
                    <a:solidFill>
                      <a:schemeClr val="tx1">
                        <a:lumMod val="85000"/>
                        <a:lumOff val="15000"/>
                      </a:schemeClr>
                    </a:solidFill>
                  </a:tcPr>
                </a:tc>
                <a:tc>
                  <a:txBody>
                    <a:bodyPr/>
                    <a:lstStyle/>
                    <a:p>
                      <a:r>
                        <a:rPr lang="es-419" sz="1400" dirty="0"/>
                        <a:t>Opciones</a:t>
                      </a:r>
                    </a:p>
                  </a:txBody>
                  <a:tcPr anchor="ctr">
                    <a:solidFill>
                      <a:schemeClr val="tx1">
                        <a:lumMod val="85000"/>
                        <a:lumOff val="15000"/>
                      </a:schemeClr>
                    </a:solidFill>
                  </a:tcPr>
                </a:tc>
                <a:extLst>
                  <a:ext uri="{0D108BD9-81ED-4DB2-BD59-A6C34878D82A}">
                    <a16:rowId xmlns:a16="http://schemas.microsoft.com/office/drawing/2014/main" val="3693566353"/>
                  </a:ext>
                </a:extLst>
              </a:tr>
              <a:tr h="402872">
                <a:tc>
                  <a:txBody>
                    <a:bodyPr/>
                    <a:lstStyle/>
                    <a:p>
                      <a:r>
                        <a:rPr lang="es-419" sz="1400" b="1" dirty="0"/>
                        <a:t>Duplicados</a:t>
                      </a:r>
                    </a:p>
                  </a:txBody>
                  <a:tcPr anchor="ctr"/>
                </a:tc>
                <a:tc>
                  <a:txBody>
                    <a:bodyPr/>
                    <a:lstStyle/>
                    <a:p>
                      <a:r>
                        <a:rPr lang="es-419" sz="1400" dirty="0"/>
                        <a:t>En la inscripción se valida si el estudiante inscribe dos o más veces el mismo curso.</a:t>
                      </a:r>
                    </a:p>
                  </a:txBody>
                  <a:tcPr anchor="ctr"/>
                </a:tc>
                <a:tc>
                  <a:txBody>
                    <a:bodyPr/>
                    <a:lstStyle/>
                    <a:p>
                      <a:r>
                        <a:rPr lang="es-419" sz="1400" b="0" kern="1200" dirty="0">
                          <a:solidFill>
                            <a:schemeClr val="dk1"/>
                          </a:solidFill>
                          <a:effectLst/>
                        </a:rPr>
                        <a:t> Fatal o No Verificar.</a:t>
                      </a:r>
                      <a:endParaRPr lang="es-419" sz="1400" b="0" dirty="0"/>
                    </a:p>
                  </a:txBody>
                  <a:tcPr anchor="ctr"/>
                </a:tc>
                <a:extLst>
                  <a:ext uri="{0D108BD9-81ED-4DB2-BD59-A6C34878D82A}">
                    <a16:rowId xmlns:a16="http://schemas.microsoft.com/office/drawing/2014/main" val="2372821979"/>
                  </a:ext>
                </a:extLst>
              </a:tr>
              <a:tr h="402872">
                <a:tc>
                  <a:txBody>
                    <a:bodyPr/>
                    <a:lstStyle/>
                    <a:p>
                      <a:r>
                        <a:rPr lang="es-419" sz="1400" b="1" dirty="0"/>
                        <a:t>Ligas</a:t>
                      </a:r>
                    </a:p>
                  </a:txBody>
                  <a:tcPr anchor="ctr"/>
                </a:tc>
                <a:tc>
                  <a:txBody>
                    <a:bodyPr/>
                    <a:lstStyle/>
                    <a:p>
                      <a:r>
                        <a:rPr lang="es-419" sz="1400" dirty="0"/>
                        <a:t>En la inscripción se valida  si los estudiantes tienen la obligatoriedad de inscribir los NRC ligados. </a:t>
                      </a:r>
                    </a:p>
                  </a:txBody>
                  <a:tcPr anchor="ctr"/>
                </a:tc>
                <a:tc>
                  <a:txBody>
                    <a:bodyPr/>
                    <a:lstStyle/>
                    <a:p>
                      <a:r>
                        <a:rPr lang="es-419" sz="1400" b="0" dirty="0"/>
                        <a:t>Fatal o No Verificar.</a:t>
                      </a:r>
                    </a:p>
                  </a:txBody>
                  <a:tcPr anchor="ctr"/>
                </a:tc>
                <a:extLst>
                  <a:ext uri="{0D108BD9-81ED-4DB2-BD59-A6C34878D82A}">
                    <a16:rowId xmlns:a16="http://schemas.microsoft.com/office/drawing/2014/main" val="109511402"/>
                  </a:ext>
                </a:extLst>
              </a:tr>
              <a:tr h="402872">
                <a:tc>
                  <a:txBody>
                    <a:bodyPr/>
                    <a:lstStyle/>
                    <a:p>
                      <a:r>
                        <a:rPr lang="es-419" sz="1400" b="1" dirty="0"/>
                        <a:t>Correquisitos</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419" sz="1400" dirty="0"/>
                        <a:t>En la inscripción se valida  si los estudiantes tienen la obligatoriedad de inscribir los cursos o NRC que son correquisitos. </a:t>
                      </a:r>
                    </a:p>
                  </a:txBody>
                  <a:tcPr anchor="ctr"/>
                </a:tc>
                <a:tc>
                  <a:txBody>
                    <a:bodyPr/>
                    <a:lstStyle/>
                    <a:p>
                      <a:r>
                        <a:rPr lang="es-419" sz="1400" b="0" dirty="0"/>
                        <a:t>Fatal o No Verificar.</a:t>
                      </a:r>
                    </a:p>
                  </a:txBody>
                  <a:tcPr anchor="ctr"/>
                </a:tc>
                <a:extLst>
                  <a:ext uri="{0D108BD9-81ED-4DB2-BD59-A6C34878D82A}">
                    <a16:rowId xmlns:a16="http://schemas.microsoft.com/office/drawing/2014/main" val="106026169"/>
                  </a:ext>
                </a:extLst>
              </a:tr>
              <a:tr h="402872">
                <a:tc>
                  <a:txBody>
                    <a:bodyPr/>
                    <a:lstStyle/>
                    <a:p>
                      <a:r>
                        <a:rPr lang="es-419" sz="1400" b="1" dirty="0"/>
                        <a:t>Prerrequisitos</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419" sz="1400" dirty="0"/>
                        <a:t>En la inscripción se valida  que el estudiante no inscriba cursos o NRC sin haber cumplido los prerrequisitos que le correspondan.</a:t>
                      </a:r>
                    </a:p>
                  </a:txBody>
                  <a:tcPr anchor="ctr"/>
                </a:tc>
                <a:tc>
                  <a:txBody>
                    <a:bodyPr/>
                    <a:lstStyle/>
                    <a:p>
                      <a:r>
                        <a:rPr lang="es-419" sz="1400" b="0" kern="1200" dirty="0">
                          <a:solidFill>
                            <a:schemeClr val="dk1"/>
                          </a:solidFill>
                          <a:effectLst/>
                        </a:rPr>
                        <a:t>Fatal o No Verificar.</a:t>
                      </a:r>
                      <a:endParaRPr lang="es-419" sz="1400" b="0" dirty="0"/>
                    </a:p>
                  </a:txBody>
                  <a:tcPr anchor="ctr"/>
                </a:tc>
                <a:extLst>
                  <a:ext uri="{0D108BD9-81ED-4DB2-BD59-A6C34878D82A}">
                    <a16:rowId xmlns:a16="http://schemas.microsoft.com/office/drawing/2014/main" val="3754479394"/>
                  </a:ext>
                </a:extLst>
              </a:tr>
              <a:tr h="402872">
                <a:tc>
                  <a:txBody>
                    <a:bodyPr/>
                    <a:lstStyle/>
                    <a:p>
                      <a:r>
                        <a:rPr lang="es-419" sz="1400" b="1" dirty="0"/>
                        <a:t>Horas mínimas</a:t>
                      </a:r>
                    </a:p>
                  </a:txBody>
                  <a:tcPr anchor="ctr"/>
                </a:tc>
                <a:tc>
                  <a:txBody>
                    <a:bodyPr/>
                    <a:lstStyle/>
                    <a:p>
                      <a:r>
                        <a:rPr lang="es-419" sz="1400" dirty="0"/>
                        <a:t>En la inscripción se valida que el estudiante no pueda inscribir menos créditos que los configurados como mínimos en SFAMHRS.</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419" sz="1400" b="0" kern="1200" dirty="0">
                          <a:solidFill>
                            <a:schemeClr val="dk1"/>
                          </a:solidFill>
                          <a:effectLst/>
                        </a:rPr>
                        <a:t>Fatal o No Verificar.</a:t>
                      </a:r>
                      <a:endParaRPr lang="es-419" sz="1400" b="0" dirty="0"/>
                    </a:p>
                    <a:p>
                      <a:endParaRPr lang="es-419" sz="1400" b="0" dirty="0"/>
                    </a:p>
                  </a:txBody>
                  <a:tcPr anchor="ctr"/>
                </a:tc>
                <a:extLst>
                  <a:ext uri="{0D108BD9-81ED-4DB2-BD59-A6C34878D82A}">
                    <a16:rowId xmlns:a16="http://schemas.microsoft.com/office/drawing/2014/main" val="3164855438"/>
                  </a:ext>
                </a:extLst>
              </a:tr>
              <a:tr h="402872">
                <a:tc>
                  <a:txBody>
                    <a:bodyPr/>
                    <a:lstStyle/>
                    <a:p>
                      <a:r>
                        <a:rPr lang="es-419" sz="1400" b="1" dirty="0"/>
                        <a:t>Horas máximas</a:t>
                      </a:r>
                    </a:p>
                  </a:txBody>
                  <a:tcPr anchor="ctr"/>
                </a:tc>
                <a:tc>
                  <a:txBody>
                    <a:bodyPr/>
                    <a:lstStyle/>
                    <a:p>
                      <a:r>
                        <a:rPr lang="es-419" sz="1400" dirty="0"/>
                        <a:t>En la inscripción se valida que el estudiante no pueda inscribir más créditos que los configurados como máximos en SFAMHRS.</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419" sz="1400" b="0" kern="1200" dirty="0">
                          <a:solidFill>
                            <a:schemeClr val="dk1"/>
                          </a:solidFill>
                          <a:effectLst/>
                        </a:rPr>
                        <a:t>Fatal o No Verificar.</a:t>
                      </a:r>
                      <a:endParaRPr lang="es-419" sz="1400" b="0" dirty="0"/>
                    </a:p>
                  </a:txBody>
                  <a:tcPr anchor="ctr"/>
                </a:tc>
                <a:extLst>
                  <a:ext uri="{0D108BD9-81ED-4DB2-BD59-A6C34878D82A}">
                    <a16:rowId xmlns:a16="http://schemas.microsoft.com/office/drawing/2014/main" val="2910444943"/>
                  </a:ext>
                </a:extLst>
              </a:tr>
              <a:tr h="402872">
                <a:tc>
                  <a:txBody>
                    <a:bodyPr/>
                    <a:lstStyle/>
                    <a:p>
                      <a:r>
                        <a:rPr lang="es-419" sz="1400" b="1" dirty="0"/>
                        <a:t>Hora</a:t>
                      </a:r>
                    </a:p>
                  </a:txBody>
                  <a:tcPr anchor="ctr"/>
                </a:tc>
                <a:tc>
                  <a:txBody>
                    <a:bodyPr/>
                    <a:lstStyle/>
                    <a:p>
                      <a:r>
                        <a:rPr lang="es-419" sz="1400" dirty="0"/>
                        <a:t>En la inscripción se valida que el estudiante no inscriba NRC que tengan tope de horario.</a:t>
                      </a:r>
                    </a:p>
                  </a:txBody>
                  <a:tcPr anchor="ctr"/>
                </a:tc>
                <a:tc>
                  <a:txBody>
                    <a:bodyPr/>
                    <a:lstStyle/>
                    <a:p>
                      <a:r>
                        <a:rPr lang="es-419" sz="1400" b="0" i="0" kern="1200" dirty="0">
                          <a:solidFill>
                            <a:schemeClr val="dk1"/>
                          </a:solidFill>
                          <a:effectLst/>
                          <a:latin typeface="+mn-lt"/>
                          <a:ea typeface="+mn-ea"/>
                          <a:cs typeface="+mn-cs"/>
                        </a:rPr>
                        <a:t> Fatal o No Verificar.</a:t>
                      </a:r>
                      <a:endParaRPr lang="es-419" sz="1400" b="0" dirty="0"/>
                    </a:p>
                  </a:txBody>
                  <a:tcPr anchor="ctr"/>
                </a:tc>
                <a:extLst>
                  <a:ext uri="{0D108BD9-81ED-4DB2-BD59-A6C34878D82A}">
                    <a16:rowId xmlns:a16="http://schemas.microsoft.com/office/drawing/2014/main" val="1835577320"/>
                  </a:ext>
                </a:extLst>
              </a:tr>
              <a:tr h="402872">
                <a:tc>
                  <a:txBody>
                    <a:bodyPr/>
                    <a:lstStyle/>
                    <a:p>
                      <a:r>
                        <a:rPr lang="es-419" sz="1400" b="1" dirty="0"/>
                        <a:t>Exclusión mutua</a:t>
                      </a:r>
                    </a:p>
                  </a:txBody>
                  <a:tcPr anchor="ctr"/>
                </a:tc>
                <a:tc>
                  <a:txBody>
                    <a:bodyPr/>
                    <a:lstStyle/>
                    <a:p>
                      <a:r>
                        <a:rPr lang="es-419" sz="1400" dirty="0"/>
                        <a:t>En la inscripción se valida  que los estudiantes no inscriban cursos que son mutuamente excluyentes, según lo definido en el catálogo.</a:t>
                      </a:r>
                    </a:p>
                  </a:txBody>
                  <a:tcPr anchor="ctr"/>
                </a:tc>
                <a:tc>
                  <a:txBody>
                    <a:bodyPr/>
                    <a:lstStyle/>
                    <a:p>
                      <a:r>
                        <a:rPr lang="es-419" sz="1400" b="0" dirty="0"/>
                        <a:t>Fatal o No Verificar.</a:t>
                      </a:r>
                    </a:p>
                  </a:txBody>
                  <a:tcPr anchor="ctr"/>
                </a:tc>
                <a:extLst>
                  <a:ext uri="{0D108BD9-81ED-4DB2-BD59-A6C34878D82A}">
                    <a16:rowId xmlns:a16="http://schemas.microsoft.com/office/drawing/2014/main" val="2717108140"/>
                  </a:ext>
                </a:extLst>
              </a:tr>
            </a:tbl>
          </a:graphicData>
        </a:graphic>
      </p:graphicFrame>
    </p:spTree>
    <p:extLst>
      <p:ext uri="{BB962C8B-B14F-4D97-AF65-F5344CB8AC3E}">
        <p14:creationId xmlns:p14="http://schemas.microsoft.com/office/powerpoint/2010/main" val="11290588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left)">
                                      <p:cBhvr>
                                        <p:cTn id="10" dur="500"/>
                                        <p:tgtEl>
                                          <p:spTgt spid="8"/>
                                        </p:tgtEl>
                                      </p:cBhvr>
                                    </p:animEffect>
                                  </p:childTnLst>
                                </p:cTn>
                              </p:par>
                            </p:childTnLst>
                          </p:cTn>
                        </p:par>
                        <p:par>
                          <p:cTn id="11" fill="hold">
                            <p:stCondLst>
                              <p:cond delay="500"/>
                            </p:stCondLst>
                            <p:childTnLst>
                              <p:par>
                                <p:cTn id="12" presetID="22" presetClass="entr" presetSubtype="1" fill="hold" nodeType="after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up)">
                                      <p:cBhvr>
                                        <p:cTn id="14"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7CAB2B86-4E3B-C98C-411E-958BEFE187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2528" y="6154887"/>
            <a:ext cx="2234242" cy="525923"/>
          </a:xfrm>
          <a:prstGeom prst="rect">
            <a:avLst/>
          </a:prstGeom>
        </p:spPr>
      </p:pic>
      <p:pic>
        <p:nvPicPr>
          <p:cNvPr id="4" name="Picture 4" descr="Ellucian Student Reseñas 2026: Detalles, Precios y Características | G2">
            <a:extLst>
              <a:ext uri="{FF2B5EF4-FFF2-40B4-BE49-F238E27FC236}">
                <a16:creationId xmlns:a16="http://schemas.microsoft.com/office/drawing/2014/main" id="{7352B780-8C7C-7B91-F3EE-5E6EF2C2E4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98101" y="5901780"/>
            <a:ext cx="1821371" cy="956220"/>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0AEBA78F-8C98-5D4D-384F-95B753FFADE4}"/>
              </a:ext>
            </a:extLst>
          </p:cNvPr>
          <p:cNvSpPr txBox="1"/>
          <p:nvPr/>
        </p:nvSpPr>
        <p:spPr>
          <a:xfrm>
            <a:off x="431320" y="241540"/>
            <a:ext cx="10937610" cy="523220"/>
          </a:xfrm>
          <a:prstGeom prst="rect">
            <a:avLst/>
          </a:prstGeom>
          <a:noFill/>
        </p:spPr>
        <p:txBody>
          <a:bodyPr wrap="none" rtlCol="0">
            <a:spAutoFit/>
          </a:bodyPr>
          <a:lstStyle/>
          <a:p>
            <a:r>
              <a:rPr lang="es-ES" sz="2800" b="1" dirty="0">
                <a:latin typeface="Montserrat" pitchFamily="2" charset="0"/>
              </a:rPr>
              <a:t>VERIFICACIÓN DE ERRORES DE INSCRIPCIÓN - SOATERM</a:t>
            </a:r>
            <a:endParaRPr lang="es-PE" sz="2800" b="1" dirty="0">
              <a:latin typeface="Montserrat" pitchFamily="2" charset="0"/>
            </a:endParaRPr>
          </a:p>
        </p:txBody>
      </p:sp>
      <p:sp>
        <p:nvSpPr>
          <p:cNvPr id="8" name="Rectángulo 7">
            <a:extLst>
              <a:ext uri="{FF2B5EF4-FFF2-40B4-BE49-F238E27FC236}">
                <a16:creationId xmlns:a16="http://schemas.microsoft.com/office/drawing/2014/main" id="{A16BCE08-E23C-F264-A6E3-E4019979D2E2}"/>
              </a:ext>
            </a:extLst>
          </p:cNvPr>
          <p:cNvSpPr/>
          <p:nvPr/>
        </p:nvSpPr>
        <p:spPr>
          <a:xfrm>
            <a:off x="11368930" y="241540"/>
            <a:ext cx="823069" cy="445583"/>
          </a:xfrm>
          <a:prstGeom prst="rect">
            <a:avLst/>
          </a:prstGeom>
          <a:gradFill flip="none" rotWithShape="1">
            <a:gsLst>
              <a:gs pos="0">
                <a:schemeClr val="accent6">
                  <a:lumMod val="0"/>
                  <a:lumOff val="100000"/>
                </a:schemeClr>
              </a:gs>
              <a:gs pos="66000">
                <a:schemeClr val="accent6">
                  <a:lumMod val="100000"/>
                </a:schemeClr>
              </a:gs>
            </a:gsLst>
            <a:lin ang="0" scaled="1"/>
            <a:tileRect/>
          </a:gra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s-PE"/>
          </a:p>
        </p:txBody>
      </p:sp>
      <p:sp>
        <p:nvSpPr>
          <p:cNvPr id="6" name="CuadroTexto 5">
            <a:extLst>
              <a:ext uri="{FF2B5EF4-FFF2-40B4-BE49-F238E27FC236}">
                <a16:creationId xmlns:a16="http://schemas.microsoft.com/office/drawing/2014/main" id="{AC33DC36-253A-547B-7A30-A152C2F6B4CE}"/>
              </a:ext>
            </a:extLst>
          </p:cNvPr>
          <p:cNvSpPr txBox="1"/>
          <p:nvPr/>
        </p:nvSpPr>
        <p:spPr>
          <a:xfrm>
            <a:off x="4528936" y="6386396"/>
            <a:ext cx="3134128" cy="276999"/>
          </a:xfrm>
          <a:prstGeom prst="rect">
            <a:avLst/>
          </a:prstGeom>
          <a:noFill/>
        </p:spPr>
        <p:txBody>
          <a:bodyPr wrap="none" rtlCol="0">
            <a:spAutoFit/>
          </a:bodyPr>
          <a:lstStyle/>
          <a:p>
            <a:pPr algn="ctr"/>
            <a:r>
              <a:rPr lang="es-ES" sz="1200" i="1" dirty="0"/>
              <a:t>Elaborado por: Ing. Liliana Ocampo Moreno</a:t>
            </a:r>
            <a:endParaRPr lang="es-PE" sz="1200" i="1" dirty="0"/>
          </a:p>
        </p:txBody>
      </p:sp>
      <p:graphicFrame>
        <p:nvGraphicFramePr>
          <p:cNvPr id="9" name="Tabla 8">
            <a:extLst>
              <a:ext uri="{FF2B5EF4-FFF2-40B4-BE49-F238E27FC236}">
                <a16:creationId xmlns:a16="http://schemas.microsoft.com/office/drawing/2014/main" id="{C32B486B-F529-4688-878E-DA45BF99C8B2}"/>
              </a:ext>
            </a:extLst>
          </p:cNvPr>
          <p:cNvGraphicFramePr>
            <a:graphicFrameLocks noGrp="1"/>
          </p:cNvGraphicFramePr>
          <p:nvPr>
            <p:extLst>
              <p:ext uri="{D42A27DB-BD31-4B8C-83A1-F6EECF244321}">
                <p14:modId xmlns:p14="http://schemas.microsoft.com/office/powerpoint/2010/main" val="31528735"/>
              </p:ext>
            </p:extLst>
          </p:nvPr>
        </p:nvGraphicFramePr>
        <p:xfrm>
          <a:off x="541699" y="1218495"/>
          <a:ext cx="11108601" cy="4974872"/>
        </p:xfrm>
        <a:graphic>
          <a:graphicData uri="http://schemas.openxmlformats.org/drawingml/2006/table">
            <a:tbl>
              <a:tblPr firstRow="1" bandRow="1">
                <a:tableStyleId>{93296810-A885-4BE3-A3E7-6D5BEEA58F35}</a:tableStyleId>
              </a:tblPr>
              <a:tblGrid>
                <a:gridCol w="2806573">
                  <a:extLst>
                    <a:ext uri="{9D8B030D-6E8A-4147-A177-3AD203B41FA5}">
                      <a16:colId xmlns:a16="http://schemas.microsoft.com/office/drawing/2014/main" val="324557172"/>
                    </a:ext>
                  </a:extLst>
                </a:gridCol>
                <a:gridCol w="5370215">
                  <a:extLst>
                    <a:ext uri="{9D8B030D-6E8A-4147-A177-3AD203B41FA5}">
                      <a16:colId xmlns:a16="http://schemas.microsoft.com/office/drawing/2014/main" val="2538440960"/>
                    </a:ext>
                  </a:extLst>
                </a:gridCol>
                <a:gridCol w="2931813">
                  <a:extLst>
                    <a:ext uri="{9D8B030D-6E8A-4147-A177-3AD203B41FA5}">
                      <a16:colId xmlns:a16="http://schemas.microsoft.com/office/drawing/2014/main" val="1321517792"/>
                    </a:ext>
                  </a:extLst>
                </a:gridCol>
              </a:tblGrid>
              <a:tr h="402872">
                <a:tc>
                  <a:txBody>
                    <a:bodyPr/>
                    <a:lstStyle/>
                    <a:p>
                      <a:r>
                        <a:rPr lang="es-419" sz="1400" dirty="0"/>
                        <a:t>Elemento</a:t>
                      </a:r>
                    </a:p>
                  </a:txBody>
                  <a:tcPr anchor="ctr">
                    <a:solidFill>
                      <a:schemeClr val="tx1">
                        <a:lumMod val="85000"/>
                        <a:lumOff val="15000"/>
                      </a:schemeClr>
                    </a:solidFill>
                  </a:tcPr>
                </a:tc>
                <a:tc>
                  <a:txBody>
                    <a:bodyPr/>
                    <a:lstStyle/>
                    <a:p>
                      <a:r>
                        <a:rPr lang="es-419" sz="1400" dirty="0"/>
                        <a:t>Descripción</a:t>
                      </a:r>
                    </a:p>
                  </a:txBody>
                  <a:tcPr anchor="ctr">
                    <a:solidFill>
                      <a:schemeClr val="tx1">
                        <a:lumMod val="85000"/>
                        <a:lumOff val="15000"/>
                      </a:schemeClr>
                    </a:solidFill>
                  </a:tcPr>
                </a:tc>
                <a:tc>
                  <a:txBody>
                    <a:bodyPr/>
                    <a:lstStyle/>
                    <a:p>
                      <a:r>
                        <a:rPr lang="es-419" sz="1400" dirty="0"/>
                        <a:t>Opciones</a:t>
                      </a:r>
                    </a:p>
                  </a:txBody>
                  <a:tcPr anchor="ctr">
                    <a:solidFill>
                      <a:schemeClr val="tx1">
                        <a:lumMod val="85000"/>
                        <a:lumOff val="15000"/>
                      </a:schemeClr>
                    </a:solidFill>
                  </a:tcPr>
                </a:tc>
                <a:extLst>
                  <a:ext uri="{0D108BD9-81ED-4DB2-BD59-A6C34878D82A}">
                    <a16:rowId xmlns:a16="http://schemas.microsoft.com/office/drawing/2014/main" val="3693566353"/>
                  </a:ext>
                </a:extLst>
              </a:tr>
              <a:tr h="402872">
                <a:tc>
                  <a:txBody>
                    <a:bodyPr/>
                    <a:lstStyle/>
                    <a:p>
                      <a:r>
                        <a:rPr lang="es-419" sz="1400" b="1" dirty="0"/>
                        <a:t>Aprobación</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419" sz="1400" dirty="0"/>
                        <a:t>En la inscripción se valida que el estudiante haya sido aprobado para que pueda inscribir un NRC. </a:t>
                      </a:r>
                    </a:p>
                  </a:txBody>
                  <a:tcPr anchor="ctr"/>
                </a:tc>
                <a:tc>
                  <a:txBody>
                    <a:bodyPr/>
                    <a:lstStyle/>
                    <a:p>
                      <a:r>
                        <a:rPr lang="pt-BR" sz="1400" b="0" dirty="0"/>
                        <a:t>Fatal, Alerta o No verificar.</a:t>
                      </a:r>
                      <a:endParaRPr lang="es-419" sz="1400" b="0" dirty="0"/>
                    </a:p>
                  </a:txBody>
                  <a:tcPr anchor="ctr"/>
                </a:tc>
                <a:extLst>
                  <a:ext uri="{0D108BD9-81ED-4DB2-BD59-A6C34878D82A}">
                    <a16:rowId xmlns:a16="http://schemas.microsoft.com/office/drawing/2014/main" val="2372821979"/>
                  </a:ext>
                </a:extLst>
              </a:tr>
              <a:tr h="402872">
                <a:tc>
                  <a:txBody>
                    <a:bodyPr/>
                    <a:lstStyle/>
                    <a:p>
                      <a:r>
                        <a:rPr lang="es-419" sz="1400" b="1" dirty="0"/>
                        <a:t>Capacidad</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419" sz="1400" dirty="0"/>
                        <a:t>En la inscripción se valida el cupo máximo del NRC cuando un estudiante lo inscribe. </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400" b="0" dirty="0"/>
                        <a:t>Fatal, Alerta o No verificar.</a:t>
                      </a:r>
                      <a:endParaRPr lang="es-419" sz="1400" b="0" dirty="0"/>
                    </a:p>
                  </a:txBody>
                  <a:tcPr anchor="ctr"/>
                </a:tc>
                <a:extLst>
                  <a:ext uri="{0D108BD9-81ED-4DB2-BD59-A6C34878D82A}">
                    <a16:rowId xmlns:a16="http://schemas.microsoft.com/office/drawing/2014/main" val="109511402"/>
                  </a:ext>
                </a:extLst>
              </a:tr>
              <a:tr h="402872">
                <a:tc>
                  <a:txBody>
                    <a:bodyPr/>
                    <a:lstStyle/>
                    <a:p>
                      <a:r>
                        <a:rPr lang="es-419" sz="1400" b="1" dirty="0"/>
                        <a:t>Campo de estudio</a:t>
                      </a:r>
                    </a:p>
                  </a:txBody>
                  <a:tcPr anchor="ctr"/>
                </a:tc>
                <a:tc>
                  <a:txBody>
                    <a:bodyPr/>
                    <a:lstStyle/>
                    <a:p>
                      <a:r>
                        <a:rPr lang="es-419" sz="1400" dirty="0"/>
                        <a:t>En la inscripción se valida si el estudiante pertenece al campo de estudios según las restricciones que tiene el NRC en SSARRES. </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400" b="0" dirty="0"/>
                        <a:t>Fatal, Alerta o No verificar.</a:t>
                      </a:r>
                      <a:endParaRPr lang="es-419" sz="1400" b="0" dirty="0"/>
                    </a:p>
                  </a:txBody>
                  <a:tcPr anchor="ctr"/>
                </a:tc>
                <a:extLst>
                  <a:ext uri="{0D108BD9-81ED-4DB2-BD59-A6C34878D82A}">
                    <a16:rowId xmlns:a16="http://schemas.microsoft.com/office/drawing/2014/main" val="106026169"/>
                  </a:ext>
                </a:extLst>
              </a:tr>
              <a:tr h="402872">
                <a:tc>
                  <a:txBody>
                    <a:bodyPr/>
                    <a:lstStyle/>
                    <a:p>
                      <a:r>
                        <a:rPr lang="es-419" sz="1400" b="1" dirty="0"/>
                        <a:t>Departamento</a:t>
                      </a:r>
                    </a:p>
                  </a:txBody>
                  <a:tcPr anchor="ctr"/>
                </a:tc>
                <a:tc>
                  <a:txBody>
                    <a:bodyPr/>
                    <a:lstStyle/>
                    <a:p>
                      <a:r>
                        <a:rPr lang="es-419" sz="1400" dirty="0"/>
                        <a:t>En la inscripción se valida si el estudiante pertenece al departamento según las restricciones que tiene el NRC en SSARRES. </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400" b="0" dirty="0"/>
                        <a:t>Fatal, Alerta o No verificar.</a:t>
                      </a:r>
                      <a:endParaRPr lang="es-419" sz="1400" b="0" dirty="0"/>
                    </a:p>
                  </a:txBody>
                  <a:tcPr anchor="ctr"/>
                </a:tc>
                <a:extLst>
                  <a:ext uri="{0D108BD9-81ED-4DB2-BD59-A6C34878D82A}">
                    <a16:rowId xmlns:a16="http://schemas.microsoft.com/office/drawing/2014/main" val="3754479394"/>
                  </a:ext>
                </a:extLst>
              </a:tr>
              <a:tr h="402872">
                <a:tc>
                  <a:txBody>
                    <a:bodyPr/>
                    <a:lstStyle/>
                    <a:p>
                      <a:r>
                        <a:rPr lang="es-419" sz="1400" b="1" dirty="0"/>
                        <a:t>Escuela</a:t>
                      </a:r>
                    </a:p>
                  </a:txBody>
                  <a:tcPr anchor="ctr"/>
                </a:tc>
                <a:tc>
                  <a:txBody>
                    <a:bodyPr/>
                    <a:lstStyle/>
                    <a:p>
                      <a:r>
                        <a:rPr lang="es-419" sz="1400" dirty="0"/>
                        <a:t>En la inscripción se valida si el estudiante pertenece a la Escuela o Unidad Académica según las restricciones que tiene el NRC en SSARRES. </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400" b="0" dirty="0"/>
                        <a:t>Fatal, Alerta o No verificar.</a:t>
                      </a:r>
                      <a:endParaRPr lang="es-419" sz="1400" b="0" dirty="0"/>
                    </a:p>
                  </a:txBody>
                  <a:tcPr anchor="ctr"/>
                </a:tc>
                <a:extLst>
                  <a:ext uri="{0D108BD9-81ED-4DB2-BD59-A6C34878D82A}">
                    <a16:rowId xmlns:a16="http://schemas.microsoft.com/office/drawing/2014/main" val="3164855438"/>
                  </a:ext>
                </a:extLst>
              </a:tr>
              <a:tr h="402872">
                <a:tc>
                  <a:txBody>
                    <a:bodyPr/>
                    <a:lstStyle/>
                    <a:p>
                      <a:r>
                        <a:rPr lang="es-419" sz="1400" b="1" dirty="0"/>
                        <a:t>Nivel</a:t>
                      </a:r>
                    </a:p>
                  </a:txBody>
                  <a:tcPr anchor="ctr"/>
                </a:tc>
                <a:tc>
                  <a:txBody>
                    <a:bodyPr/>
                    <a:lstStyle/>
                    <a:p>
                      <a:r>
                        <a:rPr lang="es-419" sz="1400" dirty="0"/>
                        <a:t>En la inscripción se valida si el estudiante pertenece al Nivel según las restricciones que tiene el NRC en SSARRES. </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400" b="0" dirty="0"/>
                        <a:t>Fatal, Alerta o No verificar.</a:t>
                      </a:r>
                      <a:endParaRPr lang="es-419" sz="1400" b="0" dirty="0"/>
                    </a:p>
                  </a:txBody>
                  <a:tcPr anchor="ctr"/>
                </a:tc>
                <a:extLst>
                  <a:ext uri="{0D108BD9-81ED-4DB2-BD59-A6C34878D82A}">
                    <a16:rowId xmlns:a16="http://schemas.microsoft.com/office/drawing/2014/main" val="2910444943"/>
                  </a:ext>
                </a:extLst>
              </a:tr>
              <a:tr h="402872">
                <a:tc>
                  <a:txBody>
                    <a:bodyPr/>
                    <a:lstStyle/>
                    <a:p>
                      <a:r>
                        <a:rPr lang="es-419" sz="1400" b="1" dirty="0"/>
                        <a:t>Clase</a:t>
                      </a:r>
                    </a:p>
                  </a:txBody>
                  <a:tcPr anchor="ctr"/>
                </a:tc>
                <a:tc>
                  <a:txBody>
                    <a:bodyPr/>
                    <a:lstStyle/>
                    <a:p>
                      <a:r>
                        <a:rPr lang="es-419" sz="1400" dirty="0"/>
                        <a:t>En la inscripción se valida si el estudiante pertenece a la Clase según las restricciones que tiene el NRC en SSARRES. </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400" b="0" dirty="0"/>
                        <a:t>Fatal, Alerta o No verificar.</a:t>
                      </a:r>
                      <a:endParaRPr lang="es-419" sz="1400" b="0" dirty="0"/>
                    </a:p>
                  </a:txBody>
                  <a:tcPr anchor="ctr"/>
                </a:tc>
                <a:extLst>
                  <a:ext uri="{0D108BD9-81ED-4DB2-BD59-A6C34878D82A}">
                    <a16:rowId xmlns:a16="http://schemas.microsoft.com/office/drawing/2014/main" val="1835577320"/>
                  </a:ext>
                </a:extLst>
              </a:tr>
              <a:tr h="402872">
                <a:tc>
                  <a:txBody>
                    <a:bodyPr/>
                    <a:lstStyle/>
                    <a:p>
                      <a:r>
                        <a:rPr lang="es-419" sz="1400" b="1" dirty="0"/>
                        <a:t>Horas repetidas</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419" sz="1400" dirty="0"/>
                        <a:t>En la inscripción se valida si se repite el curso, según las reglas de repetición de H.A. </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400" b="0" dirty="0"/>
                        <a:t>Fatal, Alerta o No verificar.</a:t>
                      </a:r>
                      <a:endParaRPr lang="es-419" sz="1400" b="0" dirty="0"/>
                    </a:p>
                  </a:txBody>
                  <a:tcPr anchor="ctr"/>
                </a:tc>
                <a:extLst>
                  <a:ext uri="{0D108BD9-81ED-4DB2-BD59-A6C34878D82A}">
                    <a16:rowId xmlns:a16="http://schemas.microsoft.com/office/drawing/2014/main" val="2717108140"/>
                  </a:ext>
                </a:extLst>
              </a:tr>
            </a:tbl>
          </a:graphicData>
        </a:graphic>
      </p:graphicFrame>
    </p:spTree>
    <p:extLst>
      <p:ext uri="{BB962C8B-B14F-4D97-AF65-F5344CB8AC3E}">
        <p14:creationId xmlns:p14="http://schemas.microsoft.com/office/powerpoint/2010/main" val="42608837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left)">
                                      <p:cBhvr>
                                        <p:cTn id="10" dur="500"/>
                                        <p:tgtEl>
                                          <p:spTgt spid="8"/>
                                        </p:tgtEl>
                                      </p:cBhvr>
                                    </p:animEffect>
                                  </p:childTnLst>
                                </p:cTn>
                              </p:par>
                            </p:childTnLst>
                          </p:cTn>
                        </p:par>
                        <p:par>
                          <p:cTn id="11" fill="hold">
                            <p:stCondLst>
                              <p:cond delay="500"/>
                            </p:stCondLst>
                            <p:childTnLst>
                              <p:par>
                                <p:cTn id="12" presetID="22" presetClass="entr" presetSubtype="1" fill="hold" nodeType="after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up)">
                                      <p:cBhvr>
                                        <p:cTn id="14"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7CAB2B86-4E3B-C98C-411E-958BEFE187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2528" y="6154887"/>
            <a:ext cx="2234242" cy="525923"/>
          </a:xfrm>
          <a:prstGeom prst="rect">
            <a:avLst/>
          </a:prstGeom>
        </p:spPr>
      </p:pic>
      <p:pic>
        <p:nvPicPr>
          <p:cNvPr id="4" name="Picture 4" descr="Ellucian Student Reseñas 2026: Detalles, Precios y Características | G2">
            <a:extLst>
              <a:ext uri="{FF2B5EF4-FFF2-40B4-BE49-F238E27FC236}">
                <a16:creationId xmlns:a16="http://schemas.microsoft.com/office/drawing/2014/main" id="{7352B780-8C7C-7B91-F3EE-5E6EF2C2E4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98101" y="5901780"/>
            <a:ext cx="1821371" cy="956220"/>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0AEBA78F-8C98-5D4D-384F-95B753FFADE4}"/>
              </a:ext>
            </a:extLst>
          </p:cNvPr>
          <p:cNvSpPr txBox="1"/>
          <p:nvPr/>
        </p:nvSpPr>
        <p:spPr>
          <a:xfrm>
            <a:off x="431320" y="241540"/>
            <a:ext cx="10937610" cy="523220"/>
          </a:xfrm>
          <a:prstGeom prst="rect">
            <a:avLst/>
          </a:prstGeom>
          <a:noFill/>
        </p:spPr>
        <p:txBody>
          <a:bodyPr wrap="none" rtlCol="0">
            <a:spAutoFit/>
          </a:bodyPr>
          <a:lstStyle/>
          <a:p>
            <a:r>
              <a:rPr lang="es-ES" sz="2800" b="1" dirty="0">
                <a:latin typeface="Montserrat" pitchFamily="2" charset="0"/>
              </a:rPr>
              <a:t>VERIFICACIÓN DE ERRORES DE INSCRIPCIÓN - SOATERM</a:t>
            </a:r>
            <a:endParaRPr lang="es-PE" sz="2800" b="1" dirty="0">
              <a:latin typeface="Montserrat" pitchFamily="2" charset="0"/>
            </a:endParaRPr>
          </a:p>
        </p:txBody>
      </p:sp>
      <p:sp>
        <p:nvSpPr>
          <p:cNvPr id="8" name="Rectángulo 7">
            <a:extLst>
              <a:ext uri="{FF2B5EF4-FFF2-40B4-BE49-F238E27FC236}">
                <a16:creationId xmlns:a16="http://schemas.microsoft.com/office/drawing/2014/main" id="{A16BCE08-E23C-F264-A6E3-E4019979D2E2}"/>
              </a:ext>
            </a:extLst>
          </p:cNvPr>
          <p:cNvSpPr/>
          <p:nvPr/>
        </p:nvSpPr>
        <p:spPr>
          <a:xfrm>
            <a:off x="11368930" y="241540"/>
            <a:ext cx="823069" cy="445583"/>
          </a:xfrm>
          <a:prstGeom prst="rect">
            <a:avLst/>
          </a:prstGeom>
          <a:gradFill flip="none" rotWithShape="1">
            <a:gsLst>
              <a:gs pos="0">
                <a:schemeClr val="accent6">
                  <a:lumMod val="0"/>
                  <a:lumOff val="100000"/>
                </a:schemeClr>
              </a:gs>
              <a:gs pos="66000">
                <a:schemeClr val="accent6">
                  <a:lumMod val="100000"/>
                </a:schemeClr>
              </a:gs>
            </a:gsLst>
            <a:lin ang="0" scaled="1"/>
            <a:tileRect/>
          </a:gra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s-PE"/>
          </a:p>
        </p:txBody>
      </p:sp>
      <p:sp>
        <p:nvSpPr>
          <p:cNvPr id="6" name="CuadroTexto 5">
            <a:extLst>
              <a:ext uri="{FF2B5EF4-FFF2-40B4-BE49-F238E27FC236}">
                <a16:creationId xmlns:a16="http://schemas.microsoft.com/office/drawing/2014/main" id="{AC33DC36-253A-547B-7A30-A152C2F6B4CE}"/>
              </a:ext>
            </a:extLst>
          </p:cNvPr>
          <p:cNvSpPr txBox="1"/>
          <p:nvPr/>
        </p:nvSpPr>
        <p:spPr>
          <a:xfrm>
            <a:off x="4528936" y="6386396"/>
            <a:ext cx="3134128" cy="276999"/>
          </a:xfrm>
          <a:prstGeom prst="rect">
            <a:avLst/>
          </a:prstGeom>
          <a:noFill/>
        </p:spPr>
        <p:txBody>
          <a:bodyPr wrap="none" rtlCol="0">
            <a:spAutoFit/>
          </a:bodyPr>
          <a:lstStyle/>
          <a:p>
            <a:pPr algn="ctr"/>
            <a:r>
              <a:rPr lang="es-ES" sz="1200" i="1" dirty="0"/>
              <a:t>Elaborado por: Ing. Liliana Ocampo Moreno</a:t>
            </a:r>
            <a:endParaRPr lang="es-PE" sz="1200" i="1" dirty="0"/>
          </a:p>
        </p:txBody>
      </p:sp>
      <p:graphicFrame>
        <p:nvGraphicFramePr>
          <p:cNvPr id="9" name="Tabla 8">
            <a:extLst>
              <a:ext uri="{FF2B5EF4-FFF2-40B4-BE49-F238E27FC236}">
                <a16:creationId xmlns:a16="http://schemas.microsoft.com/office/drawing/2014/main" id="{C32B486B-F529-4688-878E-DA45BF99C8B2}"/>
              </a:ext>
            </a:extLst>
          </p:cNvPr>
          <p:cNvGraphicFramePr>
            <a:graphicFrameLocks noGrp="1"/>
          </p:cNvGraphicFramePr>
          <p:nvPr>
            <p:extLst>
              <p:ext uri="{D42A27DB-BD31-4B8C-83A1-F6EECF244321}">
                <p14:modId xmlns:p14="http://schemas.microsoft.com/office/powerpoint/2010/main" val="2039215974"/>
              </p:ext>
            </p:extLst>
          </p:nvPr>
        </p:nvGraphicFramePr>
        <p:xfrm>
          <a:off x="541699" y="1218495"/>
          <a:ext cx="11108601" cy="4029992"/>
        </p:xfrm>
        <a:graphic>
          <a:graphicData uri="http://schemas.openxmlformats.org/drawingml/2006/table">
            <a:tbl>
              <a:tblPr firstRow="1" bandRow="1">
                <a:tableStyleId>{93296810-A885-4BE3-A3E7-6D5BEEA58F35}</a:tableStyleId>
              </a:tblPr>
              <a:tblGrid>
                <a:gridCol w="2806573">
                  <a:extLst>
                    <a:ext uri="{9D8B030D-6E8A-4147-A177-3AD203B41FA5}">
                      <a16:colId xmlns:a16="http://schemas.microsoft.com/office/drawing/2014/main" val="324557172"/>
                    </a:ext>
                  </a:extLst>
                </a:gridCol>
                <a:gridCol w="5370215">
                  <a:extLst>
                    <a:ext uri="{9D8B030D-6E8A-4147-A177-3AD203B41FA5}">
                      <a16:colId xmlns:a16="http://schemas.microsoft.com/office/drawing/2014/main" val="2538440960"/>
                    </a:ext>
                  </a:extLst>
                </a:gridCol>
                <a:gridCol w="2931813">
                  <a:extLst>
                    <a:ext uri="{9D8B030D-6E8A-4147-A177-3AD203B41FA5}">
                      <a16:colId xmlns:a16="http://schemas.microsoft.com/office/drawing/2014/main" val="1321517792"/>
                    </a:ext>
                  </a:extLst>
                </a:gridCol>
              </a:tblGrid>
              <a:tr h="402872">
                <a:tc>
                  <a:txBody>
                    <a:bodyPr/>
                    <a:lstStyle/>
                    <a:p>
                      <a:r>
                        <a:rPr lang="es-419" sz="1400" dirty="0"/>
                        <a:t>Elemento</a:t>
                      </a:r>
                    </a:p>
                  </a:txBody>
                  <a:tcPr anchor="ctr">
                    <a:solidFill>
                      <a:schemeClr val="tx1">
                        <a:lumMod val="85000"/>
                        <a:lumOff val="15000"/>
                      </a:schemeClr>
                    </a:solidFill>
                  </a:tcPr>
                </a:tc>
                <a:tc>
                  <a:txBody>
                    <a:bodyPr/>
                    <a:lstStyle/>
                    <a:p>
                      <a:r>
                        <a:rPr lang="es-419" sz="1400" dirty="0"/>
                        <a:t>Descripción</a:t>
                      </a:r>
                    </a:p>
                  </a:txBody>
                  <a:tcPr anchor="ctr">
                    <a:solidFill>
                      <a:schemeClr val="tx1">
                        <a:lumMod val="85000"/>
                        <a:lumOff val="15000"/>
                      </a:schemeClr>
                    </a:solidFill>
                  </a:tcPr>
                </a:tc>
                <a:tc>
                  <a:txBody>
                    <a:bodyPr/>
                    <a:lstStyle/>
                    <a:p>
                      <a:r>
                        <a:rPr lang="es-419" sz="1400" dirty="0"/>
                        <a:t>Opciones</a:t>
                      </a:r>
                    </a:p>
                  </a:txBody>
                  <a:tcPr anchor="ctr">
                    <a:solidFill>
                      <a:schemeClr val="tx1">
                        <a:lumMod val="85000"/>
                        <a:lumOff val="15000"/>
                      </a:schemeClr>
                    </a:solidFill>
                  </a:tcPr>
                </a:tc>
                <a:extLst>
                  <a:ext uri="{0D108BD9-81ED-4DB2-BD59-A6C34878D82A}">
                    <a16:rowId xmlns:a16="http://schemas.microsoft.com/office/drawing/2014/main" val="3693566353"/>
                  </a:ext>
                </a:extLst>
              </a:tr>
              <a:tr h="402872">
                <a:tc>
                  <a:txBody>
                    <a:bodyPr/>
                    <a:lstStyle/>
                    <a:p>
                      <a:r>
                        <a:rPr lang="es-419" sz="1400" b="1" dirty="0"/>
                        <a:t>Retenciones</a:t>
                      </a:r>
                    </a:p>
                  </a:txBody>
                  <a:tcPr anchor="ctr"/>
                </a:tc>
                <a:tc>
                  <a:txBody>
                    <a:bodyPr/>
                    <a:lstStyle/>
                    <a:p>
                      <a:r>
                        <a:rPr lang="es-419" sz="1400" dirty="0"/>
                        <a:t>En la inscripción se valida si el estudiante tiene retenciones que impidan inscribir cursos.</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400" b="0" dirty="0"/>
                        <a:t>Fatal, Alerta o No verificar.</a:t>
                      </a:r>
                      <a:endParaRPr lang="es-419" sz="1400" b="0" dirty="0"/>
                    </a:p>
                  </a:txBody>
                  <a:tcPr anchor="ctr"/>
                </a:tc>
                <a:extLst>
                  <a:ext uri="{0D108BD9-81ED-4DB2-BD59-A6C34878D82A}">
                    <a16:rowId xmlns:a16="http://schemas.microsoft.com/office/drawing/2014/main" val="2372821979"/>
                  </a:ext>
                </a:extLst>
              </a:tr>
              <a:tr h="402872">
                <a:tc>
                  <a:txBody>
                    <a:bodyPr/>
                    <a:lstStyle/>
                    <a:p>
                      <a:r>
                        <a:rPr lang="es-419" sz="1400" b="1" dirty="0"/>
                        <a:t>Límite de repetición</a:t>
                      </a:r>
                    </a:p>
                  </a:txBody>
                  <a:tcPr anchor="ctr"/>
                </a:tc>
                <a:tc>
                  <a:txBody>
                    <a:bodyPr/>
                    <a:lstStyle/>
                    <a:p>
                      <a:r>
                        <a:rPr lang="es-419" sz="1400" dirty="0"/>
                        <a:t>En la inscripción se valida si el estudiante ha cursado la asignatura el número máximo de repeticiones configurado en el catálogo. </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400" b="0" dirty="0"/>
                        <a:t>Fatal, Alerta o </a:t>
                      </a:r>
                      <a:r>
                        <a:rPr lang="pt-BR" sz="1400" b="1" dirty="0"/>
                        <a:t>No verificar</a:t>
                      </a:r>
                      <a:r>
                        <a:rPr lang="pt-BR" sz="1400" b="0" dirty="0"/>
                        <a:t>. Se debe marcar No verificar.</a:t>
                      </a:r>
                      <a:endParaRPr lang="es-419" sz="1400" b="0" dirty="0"/>
                    </a:p>
                  </a:txBody>
                  <a:tcPr anchor="ctr"/>
                </a:tc>
                <a:extLst>
                  <a:ext uri="{0D108BD9-81ED-4DB2-BD59-A6C34878D82A}">
                    <a16:rowId xmlns:a16="http://schemas.microsoft.com/office/drawing/2014/main" val="109511402"/>
                  </a:ext>
                </a:extLst>
              </a:tr>
              <a:tr h="402872">
                <a:tc>
                  <a:txBody>
                    <a:bodyPr/>
                    <a:lstStyle/>
                    <a:p>
                      <a:r>
                        <a:rPr lang="es-419" sz="1400" b="1" dirty="0"/>
                        <a:t>Campus</a:t>
                      </a:r>
                    </a:p>
                  </a:txBody>
                  <a:tcPr anchor="ctr"/>
                </a:tc>
                <a:tc>
                  <a:txBody>
                    <a:bodyPr/>
                    <a:lstStyle/>
                    <a:p>
                      <a:r>
                        <a:rPr lang="es-419" sz="1400" dirty="0"/>
                        <a:t>En la inscripción se valida si el estudiante pertenece al campus según las restricciones que tiene el NRC en SSARRES. </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400" dirty="0"/>
                        <a:t>Fatal, Alerta o </a:t>
                      </a:r>
                      <a:r>
                        <a:rPr lang="pt-BR" sz="1400" b="0" dirty="0"/>
                        <a:t>No verificar</a:t>
                      </a:r>
                      <a:r>
                        <a:rPr lang="pt-BR" sz="1400" dirty="0"/>
                        <a:t>.</a:t>
                      </a:r>
                      <a:endParaRPr lang="es-419" sz="1400" dirty="0"/>
                    </a:p>
                  </a:txBody>
                  <a:tcPr anchor="ctr"/>
                </a:tc>
                <a:extLst>
                  <a:ext uri="{0D108BD9-81ED-4DB2-BD59-A6C34878D82A}">
                    <a16:rowId xmlns:a16="http://schemas.microsoft.com/office/drawing/2014/main" val="106026169"/>
                  </a:ext>
                </a:extLst>
              </a:tr>
              <a:tr h="402872">
                <a:tc>
                  <a:txBody>
                    <a:bodyPr/>
                    <a:lstStyle/>
                    <a:p>
                      <a:r>
                        <a:rPr lang="es-419" sz="1400" b="1" dirty="0"/>
                        <a:t>Grado</a:t>
                      </a:r>
                    </a:p>
                  </a:txBody>
                  <a:tcPr anchor="ctr"/>
                </a:tc>
                <a:tc>
                  <a:txBody>
                    <a:bodyPr/>
                    <a:lstStyle/>
                    <a:p>
                      <a:r>
                        <a:rPr lang="es-419" sz="1400" dirty="0"/>
                        <a:t>En la inscripción se valida si el estudiante pertenece al Grado según las restricciones que tiene el NRC en SSARRES. </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400" dirty="0"/>
                        <a:t>Fatal, Alerta o </a:t>
                      </a:r>
                      <a:r>
                        <a:rPr lang="pt-BR" sz="1400" b="0" dirty="0"/>
                        <a:t>No verificar</a:t>
                      </a:r>
                      <a:r>
                        <a:rPr lang="pt-BR" sz="1400" dirty="0"/>
                        <a:t>.</a:t>
                      </a:r>
                      <a:endParaRPr lang="es-419" sz="1400" dirty="0"/>
                    </a:p>
                  </a:txBody>
                  <a:tcPr anchor="ctr"/>
                </a:tc>
                <a:extLst>
                  <a:ext uri="{0D108BD9-81ED-4DB2-BD59-A6C34878D82A}">
                    <a16:rowId xmlns:a16="http://schemas.microsoft.com/office/drawing/2014/main" val="3754479394"/>
                  </a:ext>
                </a:extLst>
              </a:tr>
              <a:tr h="402872">
                <a:tc>
                  <a:txBody>
                    <a:bodyPr/>
                    <a:lstStyle/>
                    <a:p>
                      <a:r>
                        <a:rPr lang="es-419" sz="1400" b="1" dirty="0"/>
                        <a:t>Programa</a:t>
                      </a:r>
                    </a:p>
                  </a:txBody>
                  <a:tcPr anchor="ctr"/>
                </a:tc>
                <a:tc>
                  <a:txBody>
                    <a:bodyPr/>
                    <a:lstStyle/>
                    <a:p>
                      <a:r>
                        <a:rPr lang="es-419" sz="1400" dirty="0"/>
                        <a:t>En la inscripción se valida si el estudiante pertenece al Programa según las restricciones que tiene el NRC en SSARRES. </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400" dirty="0"/>
                        <a:t>Fatal, Alerta o </a:t>
                      </a:r>
                      <a:r>
                        <a:rPr lang="pt-BR" sz="1400" b="0" dirty="0"/>
                        <a:t>No verificar</a:t>
                      </a:r>
                      <a:r>
                        <a:rPr lang="pt-BR" sz="1400" dirty="0"/>
                        <a:t>.</a:t>
                      </a:r>
                      <a:endParaRPr lang="es-419" sz="1400" dirty="0"/>
                    </a:p>
                  </a:txBody>
                  <a:tcPr anchor="ctr"/>
                </a:tc>
                <a:extLst>
                  <a:ext uri="{0D108BD9-81ED-4DB2-BD59-A6C34878D82A}">
                    <a16:rowId xmlns:a16="http://schemas.microsoft.com/office/drawing/2014/main" val="3164855438"/>
                  </a:ext>
                </a:extLst>
              </a:tr>
              <a:tr h="402872">
                <a:tc>
                  <a:txBody>
                    <a:bodyPr/>
                    <a:lstStyle/>
                    <a:p>
                      <a:r>
                        <a:rPr lang="es-419" sz="1400" b="1" dirty="0"/>
                        <a:t>Atributo de alumno</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419" sz="1400" b="0" i="0" u="none" strike="noStrike" kern="1200" cap="none" spc="0" normalizeH="0" baseline="0" noProof="0" dirty="0">
                          <a:ln>
                            <a:noFill/>
                          </a:ln>
                          <a:solidFill>
                            <a:srgbClr val="000000"/>
                          </a:solidFill>
                          <a:effectLst/>
                          <a:uLnTx/>
                          <a:uFillTx/>
                          <a:latin typeface="Aptos" panose="02110004020202020204"/>
                          <a:ea typeface="+mn-ea"/>
                          <a:cs typeface="+mn-cs"/>
                        </a:rPr>
                        <a:t>En la inscripción se valida si el estudiante tiene el atributo según las restricciones que tiene el NRC en SSARRES. </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400" b="0" dirty="0"/>
                        <a:t>Fatal</a:t>
                      </a:r>
                      <a:r>
                        <a:rPr lang="pt-BR" sz="1400" dirty="0"/>
                        <a:t>, Alerta o </a:t>
                      </a:r>
                      <a:r>
                        <a:rPr lang="pt-BR" sz="1400" b="0" dirty="0"/>
                        <a:t>No verificar</a:t>
                      </a:r>
                      <a:r>
                        <a:rPr lang="pt-BR" sz="1400" dirty="0"/>
                        <a:t>.</a:t>
                      </a:r>
                      <a:endParaRPr lang="es-419" sz="1400" dirty="0"/>
                    </a:p>
                  </a:txBody>
                  <a:tcPr anchor="ctr"/>
                </a:tc>
                <a:extLst>
                  <a:ext uri="{0D108BD9-81ED-4DB2-BD59-A6C34878D82A}">
                    <a16:rowId xmlns:a16="http://schemas.microsoft.com/office/drawing/2014/main" val="2910444943"/>
                  </a:ext>
                </a:extLst>
              </a:tr>
              <a:tr h="402872">
                <a:tc>
                  <a:txBody>
                    <a:bodyPr/>
                    <a:lstStyle/>
                    <a:p>
                      <a:r>
                        <a:rPr lang="es-419" sz="1400" b="1" dirty="0"/>
                        <a:t>Cohorte</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419" sz="1400" b="0" i="0" u="none" strike="noStrike" kern="1200" cap="none" spc="0" normalizeH="0" baseline="0" noProof="0" dirty="0">
                          <a:ln>
                            <a:noFill/>
                          </a:ln>
                          <a:solidFill>
                            <a:srgbClr val="000000"/>
                          </a:solidFill>
                          <a:effectLst/>
                          <a:uLnTx/>
                          <a:uFillTx/>
                          <a:latin typeface="Aptos" panose="02110004020202020204"/>
                          <a:ea typeface="+mn-ea"/>
                          <a:cs typeface="+mn-cs"/>
                        </a:rPr>
                        <a:t>En la inscripción se valida si el estudiante pertenece a la cohorte según las restricciones que tiene el NRC en SSARRES. </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400" b="0" dirty="0"/>
                        <a:t>Fatal</a:t>
                      </a:r>
                      <a:r>
                        <a:rPr lang="pt-BR" sz="1400" dirty="0"/>
                        <a:t>, Alerta o </a:t>
                      </a:r>
                      <a:r>
                        <a:rPr lang="pt-BR" sz="1400" b="0" dirty="0"/>
                        <a:t>No verificar</a:t>
                      </a:r>
                      <a:r>
                        <a:rPr lang="pt-BR" sz="1400" dirty="0"/>
                        <a:t>.</a:t>
                      </a:r>
                      <a:endParaRPr lang="es-419" sz="1400" dirty="0"/>
                    </a:p>
                  </a:txBody>
                  <a:tcPr anchor="ctr"/>
                </a:tc>
                <a:extLst>
                  <a:ext uri="{0D108BD9-81ED-4DB2-BD59-A6C34878D82A}">
                    <a16:rowId xmlns:a16="http://schemas.microsoft.com/office/drawing/2014/main" val="1835577320"/>
                  </a:ext>
                </a:extLst>
              </a:tr>
            </a:tbl>
          </a:graphicData>
        </a:graphic>
      </p:graphicFrame>
    </p:spTree>
    <p:extLst>
      <p:ext uri="{BB962C8B-B14F-4D97-AF65-F5344CB8AC3E}">
        <p14:creationId xmlns:p14="http://schemas.microsoft.com/office/powerpoint/2010/main" val="16056470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left)">
                                      <p:cBhvr>
                                        <p:cTn id="10" dur="500"/>
                                        <p:tgtEl>
                                          <p:spTgt spid="8"/>
                                        </p:tgtEl>
                                      </p:cBhvr>
                                    </p:animEffect>
                                  </p:childTnLst>
                                </p:cTn>
                              </p:par>
                            </p:childTnLst>
                          </p:cTn>
                        </p:par>
                        <p:par>
                          <p:cTn id="11" fill="hold">
                            <p:stCondLst>
                              <p:cond delay="500"/>
                            </p:stCondLst>
                            <p:childTnLst>
                              <p:par>
                                <p:cTn id="12" presetID="22" presetClass="entr" presetSubtype="1" fill="hold" nodeType="after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up)">
                                      <p:cBhvr>
                                        <p:cTn id="14"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7CAB2B86-4E3B-C98C-411E-958BEFE187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2528" y="6154887"/>
            <a:ext cx="2234242" cy="525923"/>
          </a:xfrm>
          <a:prstGeom prst="rect">
            <a:avLst/>
          </a:prstGeom>
        </p:spPr>
      </p:pic>
      <p:pic>
        <p:nvPicPr>
          <p:cNvPr id="4" name="Picture 4" descr="Ellucian Student Reseñas 2026: Detalles, Precios y Características | G2">
            <a:extLst>
              <a:ext uri="{FF2B5EF4-FFF2-40B4-BE49-F238E27FC236}">
                <a16:creationId xmlns:a16="http://schemas.microsoft.com/office/drawing/2014/main" id="{7352B780-8C7C-7B91-F3EE-5E6EF2C2E4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98101" y="5901780"/>
            <a:ext cx="1821371" cy="956220"/>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0AEBA78F-8C98-5D4D-384F-95B753FFADE4}"/>
              </a:ext>
            </a:extLst>
          </p:cNvPr>
          <p:cNvSpPr txBox="1"/>
          <p:nvPr/>
        </p:nvSpPr>
        <p:spPr>
          <a:xfrm>
            <a:off x="431320" y="241540"/>
            <a:ext cx="6785832" cy="523220"/>
          </a:xfrm>
          <a:prstGeom prst="rect">
            <a:avLst/>
          </a:prstGeom>
          <a:noFill/>
        </p:spPr>
        <p:txBody>
          <a:bodyPr wrap="none" rtlCol="0">
            <a:spAutoFit/>
          </a:bodyPr>
          <a:lstStyle/>
          <a:p>
            <a:r>
              <a:rPr lang="es-ES" sz="2800" b="1" dirty="0">
                <a:latin typeface="Montserrat" pitchFamily="2" charset="0"/>
              </a:rPr>
              <a:t>CONTROL DE PERIODO - SOATERM</a:t>
            </a:r>
            <a:endParaRPr lang="es-PE" sz="2800" b="1" dirty="0">
              <a:latin typeface="Montserrat" pitchFamily="2" charset="0"/>
            </a:endParaRPr>
          </a:p>
        </p:txBody>
      </p:sp>
      <p:sp>
        <p:nvSpPr>
          <p:cNvPr id="8" name="Rectángulo 7">
            <a:extLst>
              <a:ext uri="{FF2B5EF4-FFF2-40B4-BE49-F238E27FC236}">
                <a16:creationId xmlns:a16="http://schemas.microsoft.com/office/drawing/2014/main" id="{A16BCE08-E23C-F264-A6E3-E4019979D2E2}"/>
              </a:ext>
            </a:extLst>
          </p:cNvPr>
          <p:cNvSpPr/>
          <p:nvPr/>
        </p:nvSpPr>
        <p:spPr>
          <a:xfrm>
            <a:off x="7217152" y="241540"/>
            <a:ext cx="4974847" cy="445583"/>
          </a:xfrm>
          <a:prstGeom prst="rect">
            <a:avLst/>
          </a:prstGeom>
          <a:gradFill flip="none" rotWithShape="1">
            <a:gsLst>
              <a:gs pos="0">
                <a:schemeClr val="accent6">
                  <a:lumMod val="0"/>
                  <a:lumOff val="100000"/>
                </a:schemeClr>
              </a:gs>
              <a:gs pos="66000">
                <a:schemeClr val="accent6">
                  <a:lumMod val="100000"/>
                </a:schemeClr>
              </a:gs>
            </a:gsLst>
            <a:lin ang="0" scaled="1"/>
            <a:tileRect/>
          </a:gra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s-PE"/>
          </a:p>
        </p:txBody>
      </p:sp>
      <p:sp>
        <p:nvSpPr>
          <p:cNvPr id="6" name="CuadroTexto 5">
            <a:extLst>
              <a:ext uri="{FF2B5EF4-FFF2-40B4-BE49-F238E27FC236}">
                <a16:creationId xmlns:a16="http://schemas.microsoft.com/office/drawing/2014/main" id="{AC33DC36-253A-547B-7A30-A152C2F6B4CE}"/>
              </a:ext>
            </a:extLst>
          </p:cNvPr>
          <p:cNvSpPr txBox="1"/>
          <p:nvPr/>
        </p:nvSpPr>
        <p:spPr>
          <a:xfrm>
            <a:off x="4528936" y="6386396"/>
            <a:ext cx="3134128" cy="276999"/>
          </a:xfrm>
          <a:prstGeom prst="rect">
            <a:avLst/>
          </a:prstGeom>
          <a:noFill/>
        </p:spPr>
        <p:txBody>
          <a:bodyPr wrap="none" rtlCol="0">
            <a:spAutoFit/>
          </a:bodyPr>
          <a:lstStyle/>
          <a:p>
            <a:pPr algn="ctr"/>
            <a:r>
              <a:rPr lang="es-ES" sz="1200" i="1" dirty="0"/>
              <a:t>Elaborado por: Ing. Liliana Ocampo Moreno</a:t>
            </a:r>
            <a:endParaRPr lang="es-PE" sz="1200" i="1" dirty="0"/>
          </a:p>
        </p:txBody>
      </p:sp>
      <p:pic>
        <p:nvPicPr>
          <p:cNvPr id="5" name="Imagen 4">
            <a:extLst>
              <a:ext uri="{FF2B5EF4-FFF2-40B4-BE49-F238E27FC236}">
                <a16:creationId xmlns:a16="http://schemas.microsoft.com/office/drawing/2014/main" id="{DBE25A88-B21A-4923-965C-B2908810116E}"/>
              </a:ext>
            </a:extLst>
          </p:cNvPr>
          <p:cNvPicPr>
            <a:picLocks noChangeAspect="1"/>
          </p:cNvPicPr>
          <p:nvPr/>
        </p:nvPicPr>
        <p:blipFill>
          <a:blip r:embed="rId4"/>
          <a:stretch>
            <a:fillRect/>
          </a:stretch>
        </p:blipFill>
        <p:spPr>
          <a:xfrm>
            <a:off x="431320" y="860855"/>
            <a:ext cx="11401559" cy="5169023"/>
          </a:xfrm>
          <a:prstGeom prst="rect">
            <a:avLst/>
          </a:prstGeom>
        </p:spPr>
      </p:pic>
      <p:sp>
        <p:nvSpPr>
          <p:cNvPr id="10" name="Rectángulo 9">
            <a:extLst>
              <a:ext uri="{FF2B5EF4-FFF2-40B4-BE49-F238E27FC236}">
                <a16:creationId xmlns:a16="http://schemas.microsoft.com/office/drawing/2014/main" id="{2B1BA150-3413-463D-A871-AD0D4BFB84B8}"/>
              </a:ext>
            </a:extLst>
          </p:cNvPr>
          <p:cNvSpPr/>
          <p:nvPr/>
        </p:nvSpPr>
        <p:spPr>
          <a:xfrm>
            <a:off x="431319" y="1494750"/>
            <a:ext cx="11217913" cy="525923"/>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11" name="Rectángulo: esquinas redondeadas 10">
            <a:extLst>
              <a:ext uri="{FF2B5EF4-FFF2-40B4-BE49-F238E27FC236}">
                <a16:creationId xmlns:a16="http://schemas.microsoft.com/office/drawing/2014/main" id="{A575822F-7748-4C2B-AFD9-27499A4186F7}"/>
              </a:ext>
            </a:extLst>
          </p:cNvPr>
          <p:cNvSpPr/>
          <p:nvPr/>
        </p:nvSpPr>
        <p:spPr>
          <a:xfrm>
            <a:off x="5139970" y="2098305"/>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s-ES" sz="1100" b="1" dirty="0"/>
              <a:t>1</a:t>
            </a:r>
            <a:endParaRPr lang="es-PE" sz="1100" b="1" dirty="0"/>
          </a:p>
        </p:txBody>
      </p:sp>
      <p:sp>
        <p:nvSpPr>
          <p:cNvPr id="12" name="CuadroTexto 11">
            <a:hlinkClick r:id="rId5" action="ppaction://hlinksldjump"/>
            <a:extLst>
              <a:ext uri="{FF2B5EF4-FFF2-40B4-BE49-F238E27FC236}">
                <a16:creationId xmlns:a16="http://schemas.microsoft.com/office/drawing/2014/main" id="{9351EBF4-6A07-45AB-80EF-A0B12AD1D02C}"/>
              </a:ext>
            </a:extLst>
          </p:cNvPr>
          <p:cNvSpPr txBox="1"/>
          <p:nvPr/>
        </p:nvSpPr>
        <p:spPr>
          <a:xfrm>
            <a:off x="2418027" y="2471913"/>
            <a:ext cx="5997843" cy="623381"/>
          </a:xfrm>
          <a:prstGeom prst="roundRect">
            <a:avLst>
              <a:gd name="adj" fmla="val 7573"/>
            </a:avLst>
          </a:prstGeom>
          <a:solidFill>
            <a:srgbClr val="7030A0"/>
          </a:solidFill>
        </p:spPr>
        <p:txBody>
          <a:bodyPr wrap="square">
            <a:spAutoFit/>
          </a:bodyPr>
          <a:lstStyle/>
          <a:p>
            <a:pPr>
              <a:spcAft>
                <a:spcPts val="600"/>
              </a:spcAft>
            </a:pPr>
            <a:r>
              <a:rPr lang="es-ES" sz="1100" dirty="0">
                <a:solidFill>
                  <a:srgbClr val="FFFFFF"/>
                </a:solidFill>
              </a:rPr>
              <a:t>En el panel </a:t>
            </a:r>
            <a:r>
              <a:rPr lang="es-ES" sz="1100" b="1" dirty="0">
                <a:solidFill>
                  <a:srgbClr val="92D050"/>
                </a:solidFill>
              </a:rPr>
              <a:t>Controles de cambio de opción de clase</a:t>
            </a:r>
            <a:r>
              <a:rPr lang="es-ES" sz="1100" dirty="0">
                <a:solidFill>
                  <a:srgbClr val="FFFFFF"/>
                </a:solidFill>
              </a:rPr>
              <a:t>, si se marcan permite que un docente, asesor o alumno pueda modificar los datos de número de créditos, ubicación del curso en el plan de estudios, o modo de califica. </a:t>
            </a:r>
            <a:r>
              <a:rPr lang="es-ES" sz="1100" b="1" dirty="0">
                <a:solidFill>
                  <a:srgbClr val="FFFFFF"/>
                </a:solidFill>
              </a:rPr>
              <a:t>No se debe marcar.</a:t>
            </a:r>
            <a:endParaRPr lang="es-ES" sz="1100" dirty="0">
              <a:solidFill>
                <a:srgbClr val="FFFFFF"/>
              </a:solidFill>
            </a:endParaRPr>
          </a:p>
        </p:txBody>
      </p:sp>
    </p:spTree>
    <p:extLst>
      <p:ext uri="{BB962C8B-B14F-4D97-AF65-F5344CB8AC3E}">
        <p14:creationId xmlns:p14="http://schemas.microsoft.com/office/powerpoint/2010/main" val="10071329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left)">
                                      <p:cBhvr>
                                        <p:cTn id="10" dur="500"/>
                                        <p:tgtEl>
                                          <p:spTgt spid="8"/>
                                        </p:tgtEl>
                                      </p:cBhvr>
                                    </p:animEffect>
                                  </p:childTnLst>
                                </p:cTn>
                              </p:par>
                            </p:childTnLst>
                          </p:cTn>
                        </p:par>
                        <p:par>
                          <p:cTn id="11" fill="hold">
                            <p:stCondLst>
                              <p:cond delay="500"/>
                            </p:stCondLst>
                            <p:childTnLst>
                              <p:par>
                                <p:cTn id="12" presetID="9" presetClass="entr" presetSubtype="0" fill="hold"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dissolve">
                                      <p:cBhvr>
                                        <p:cTn id="14" dur="500"/>
                                        <p:tgtEl>
                                          <p:spTgt spid="5"/>
                                        </p:tgtEl>
                                      </p:cBhvr>
                                    </p:animEffect>
                                  </p:childTnLst>
                                </p:cTn>
                              </p:par>
                            </p:childTnLst>
                          </p:cTn>
                        </p:par>
                        <p:par>
                          <p:cTn id="15" fill="hold">
                            <p:stCondLst>
                              <p:cond delay="1000"/>
                            </p:stCondLst>
                            <p:childTnLst>
                              <p:par>
                                <p:cTn id="16" presetID="21" presetClass="entr" presetSubtype="1" fill="hold" grpId="0" nodeType="after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wheel(1)">
                                      <p:cBhvr>
                                        <p:cTn id="18" dur="2000"/>
                                        <p:tgtEl>
                                          <p:spTgt spid="10"/>
                                        </p:tgtEl>
                                      </p:cBhvr>
                                    </p:animEffect>
                                  </p:childTnLst>
                                </p:cTn>
                              </p:par>
                            </p:childTnLst>
                          </p:cTn>
                        </p:par>
                        <p:par>
                          <p:cTn id="19" fill="hold">
                            <p:stCondLst>
                              <p:cond delay="3000"/>
                            </p:stCondLst>
                            <p:childTnLst>
                              <p:par>
                                <p:cTn id="20" presetID="53" presetClass="entr" presetSubtype="16" fill="hold" grpId="0" nodeType="afterEffect">
                                  <p:stCondLst>
                                    <p:cond delay="0"/>
                                  </p:stCondLst>
                                  <p:childTnLst>
                                    <p:set>
                                      <p:cBhvr>
                                        <p:cTn id="21" dur="1" fill="hold">
                                          <p:stCondLst>
                                            <p:cond delay="0"/>
                                          </p:stCondLst>
                                        </p:cTn>
                                        <p:tgtEl>
                                          <p:spTgt spid="11"/>
                                        </p:tgtEl>
                                        <p:attrNameLst>
                                          <p:attrName>style.visibility</p:attrName>
                                        </p:attrNameLst>
                                      </p:cBhvr>
                                      <p:to>
                                        <p:strVal val="visible"/>
                                      </p:to>
                                    </p:set>
                                    <p:anim calcmode="lin" valueType="num">
                                      <p:cBhvr>
                                        <p:cTn id="22" dur="500" fill="hold"/>
                                        <p:tgtEl>
                                          <p:spTgt spid="11"/>
                                        </p:tgtEl>
                                        <p:attrNameLst>
                                          <p:attrName>ppt_w</p:attrName>
                                        </p:attrNameLst>
                                      </p:cBhvr>
                                      <p:tavLst>
                                        <p:tav tm="0">
                                          <p:val>
                                            <p:fltVal val="0"/>
                                          </p:val>
                                        </p:tav>
                                        <p:tav tm="100000">
                                          <p:val>
                                            <p:strVal val="#ppt_w"/>
                                          </p:val>
                                        </p:tav>
                                      </p:tavLst>
                                    </p:anim>
                                    <p:anim calcmode="lin" valueType="num">
                                      <p:cBhvr>
                                        <p:cTn id="23" dur="500" fill="hold"/>
                                        <p:tgtEl>
                                          <p:spTgt spid="11"/>
                                        </p:tgtEl>
                                        <p:attrNameLst>
                                          <p:attrName>ppt_h</p:attrName>
                                        </p:attrNameLst>
                                      </p:cBhvr>
                                      <p:tavLst>
                                        <p:tav tm="0">
                                          <p:val>
                                            <p:fltVal val="0"/>
                                          </p:val>
                                        </p:tav>
                                        <p:tav tm="100000">
                                          <p:val>
                                            <p:strVal val="#ppt_h"/>
                                          </p:val>
                                        </p:tav>
                                      </p:tavLst>
                                    </p:anim>
                                    <p:animEffect transition="in" filter="fade">
                                      <p:cBhvr>
                                        <p:cTn id="24" dur="500"/>
                                        <p:tgtEl>
                                          <p:spTgt spid="11"/>
                                        </p:tgtEl>
                                      </p:cBhvr>
                                    </p:animEffect>
                                  </p:childTnLst>
                                </p:cTn>
                              </p:par>
                            </p:childTnLst>
                          </p:cTn>
                        </p:par>
                        <p:par>
                          <p:cTn id="25" fill="hold">
                            <p:stCondLst>
                              <p:cond delay="3500"/>
                            </p:stCondLst>
                            <p:childTnLst>
                              <p:par>
                                <p:cTn id="26" presetID="10" presetClass="entr" presetSubtype="0" fill="hold" grpId="0" nodeType="after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10" grpId="0" animBg="1"/>
      <p:bldP spid="11" grpId="0" animBg="1"/>
      <p:bldP spid="12"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Imagen 13">
            <a:extLst>
              <a:ext uri="{FF2B5EF4-FFF2-40B4-BE49-F238E27FC236}">
                <a16:creationId xmlns:a16="http://schemas.microsoft.com/office/drawing/2014/main" id="{CC521A3B-2BFE-4A96-8B0B-7122362D1319}"/>
              </a:ext>
            </a:extLst>
          </p:cNvPr>
          <p:cNvPicPr>
            <a:picLocks noChangeAspect="1"/>
          </p:cNvPicPr>
          <p:nvPr/>
        </p:nvPicPr>
        <p:blipFill>
          <a:blip r:embed="rId2"/>
          <a:stretch>
            <a:fillRect/>
          </a:stretch>
        </p:blipFill>
        <p:spPr>
          <a:xfrm>
            <a:off x="431318" y="851999"/>
            <a:ext cx="11329363" cy="5154004"/>
          </a:xfrm>
          <a:prstGeom prst="rect">
            <a:avLst/>
          </a:prstGeom>
        </p:spPr>
      </p:pic>
      <p:pic>
        <p:nvPicPr>
          <p:cNvPr id="3" name="Imagen 2">
            <a:extLst>
              <a:ext uri="{FF2B5EF4-FFF2-40B4-BE49-F238E27FC236}">
                <a16:creationId xmlns:a16="http://schemas.microsoft.com/office/drawing/2014/main" id="{7CAB2B86-4E3B-C98C-411E-958BEFE187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2528" y="6154887"/>
            <a:ext cx="2234242" cy="525923"/>
          </a:xfrm>
          <a:prstGeom prst="rect">
            <a:avLst/>
          </a:prstGeom>
        </p:spPr>
      </p:pic>
      <p:pic>
        <p:nvPicPr>
          <p:cNvPr id="4" name="Picture 4" descr="Ellucian Student Reseñas 2026: Detalles, Precios y Características | G2">
            <a:extLst>
              <a:ext uri="{FF2B5EF4-FFF2-40B4-BE49-F238E27FC236}">
                <a16:creationId xmlns:a16="http://schemas.microsoft.com/office/drawing/2014/main" id="{7352B780-8C7C-7B91-F3EE-5E6EF2C2E46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98101" y="5901780"/>
            <a:ext cx="1821371" cy="956220"/>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0AEBA78F-8C98-5D4D-384F-95B753FFADE4}"/>
              </a:ext>
            </a:extLst>
          </p:cNvPr>
          <p:cNvSpPr txBox="1"/>
          <p:nvPr/>
        </p:nvSpPr>
        <p:spPr>
          <a:xfrm>
            <a:off x="431320" y="241540"/>
            <a:ext cx="6785832" cy="523220"/>
          </a:xfrm>
          <a:prstGeom prst="rect">
            <a:avLst/>
          </a:prstGeom>
          <a:noFill/>
        </p:spPr>
        <p:txBody>
          <a:bodyPr wrap="none" rtlCol="0">
            <a:spAutoFit/>
          </a:bodyPr>
          <a:lstStyle/>
          <a:p>
            <a:r>
              <a:rPr lang="es-ES" sz="2800" b="1" dirty="0">
                <a:latin typeface="Montserrat" pitchFamily="2" charset="0"/>
              </a:rPr>
              <a:t>CONTROL DE PERIODO - SOATERM</a:t>
            </a:r>
            <a:endParaRPr lang="es-PE" sz="2800" b="1" dirty="0">
              <a:latin typeface="Montserrat" pitchFamily="2" charset="0"/>
            </a:endParaRPr>
          </a:p>
        </p:txBody>
      </p:sp>
      <p:sp>
        <p:nvSpPr>
          <p:cNvPr id="8" name="Rectángulo 7">
            <a:extLst>
              <a:ext uri="{FF2B5EF4-FFF2-40B4-BE49-F238E27FC236}">
                <a16:creationId xmlns:a16="http://schemas.microsoft.com/office/drawing/2014/main" id="{A16BCE08-E23C-F264-A6E3-E4019979D2E2}"/>
              </a:ext>
            </a:extLst>
          </p:cNvPr>
          <p:cNvSpPr/>
          <p:nvPr/>
        </p:nvSpPr>
        <p:spPr>
          <a:xfrm>
            <a:off x="7217152" y="241540"/>
            <a:ext cx="4974847" cy="445583"/>
          </a:xfrm>
          <a:prstGeom prst="rect">
            <a:avLst/>
          </a:prstGeom>
          <a:gradFill flip="none" rotWithShape="1">
            <a:gsLst>
              <a:gs pos="0">
                <a:schemeClr val="accent6">
                  <a:lumMod val="0"/>
                  <a:lumOff val="100000"/>
                </a:schemeClr>
              </a:gs>
              <a:gs pos="66000">
                <a:schemeClr val="accent6">
                  <a:lumMod val="100000"/>
                </a:schemeClr>
              </a:gs>
            </a:gsLst>
            <a:lin ang="0" scaled="1"/>
            <a:tileRect/>
          </a:gra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s-PE"/>
          </a:p>
        </p:txBody>
      </p:sp>
      <p:sp>
        <p:nvSpPr>
          <p:cNvPr id="6" name="CuadroTexto 5">
            <a:extLst>
              <a:ext uri="{FF2B5EF4-FFF2-40B4-BE49-F238E27FC236}">
                <a16:creationId xmlns:a16="http://schemas.microsoft.com/office/drawing/2014/main" id="{AC33DC36-253A-547B-7A30-A152C2F6B4CE}"/>
              </a:ext>
            </a:extLst>
          </p:cNvPr>
          <p:cNvSpPr txBox="1"/>
          <p:nvPr/>
        </p:nvSpPr>
        <p:spPr>
          <a:xfrm>
            <a:off x="4528936" y="6386396"/>
            <a:ext cx="3134128" cy="276999"/>
          </a:xfrm>
          <a:prstGeom prst="rect">
            <a:avLst/>
          </a:prstGeom>
          <a:noFill/>
        </p:spPr>
        <p:txBody>
          <a:bodyPr wrap="none" rtlCol="0">
            <a:spAutoFit/>
          </a:bodyPr>
          <a:lstStyle/>
          <a:p>
            <a:pPr algn="ctr"/>
            <a:r>
              <a:rPr lang="es-ES" sz="1200" i="1" dirty="0"/>
              <a:t>Elaborado por: Ing. Liliana Ocampo Moreno</a:t>
            </a:r>
            <a:endParaRPr lang="es-PE" sz="1200" i="1" dirty="0"/>
          </a:p>
        </p:txBody>
      </p:sp>
      <p:sp>
        <p:nvSpPr>
          <p:cNvPr id="10" name="Rectángulo 9">
            <a:extLst>
              <a:ext uri="{FF2B5EF4-FFF2-40B4-BE49-F238E27FC236}">
                <a16:creationId xmlns:a16="http://schemas.microsoft.com/office/drawing/2014/main" id="{2B1BA150-3413-463D-A871-AD0D4BFB84B8}"/>
              </a:ext>
            </a:extLst>
          </p:cNvPr>
          <p:cNvSpPr/>
          <p:nvPr/>
        </p:nvSpPr>
        <p:spPr>
          <a:xfrm>
            <a:off x="431319" y="2022256"/>
            <a:ext cx="11217913" cy="440287"/>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11" name="Rectángulo: esquinas redondeadas 10">
            <a:extLst>
              <a:ext uri="{FF2B5EF4-FFF2-40B4-BE49-F238E27FC236}">
                <a16:creationId xmlns:a16="http://schemas.microsoft.com/office/drawing/2014/main" id="{A575822F-7748-4C2B-AFD9-27499A4186F7}"/>
              </a:ext>
            </a:extLst>
          </p:cNvPr>
          <p:cNvSpPr/>
          <p:nvPr/>
        </p:nvSpPr>
        <p:spPr>
          <a:xfrm>
            <a:off x="5547178" y="2664418"/>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s-ES" sz="1100" b="1" dirty="0"/>
              <a:t>2</a:t>
            </a:r>
            <a:endParaRPr lang="es-PE" sz="1100" b="1" dirty="0"/>
          </a:p>
        </p:txBody>
      </p:sp>
      <p:sp>
        <p:nvSpPr>
          <p:cNvPr id="12" name="CuadroTexto 11">
            <a:hlinkClick r:id="rId5" action="ppaction://hlinksldjump"/>
            <a:extLst>
              <a:ext uri="{FF2B5EF4-FFF2-40B4-BE49-F238E27FC236}">
                <a16:creationId xmlns:a16="http://schemas.microsoft.com/office/drawing/2014/main" id="{9351EBF4-6A07-45AB-80EF-A0B12AD1D02C}"/>
              </a:ext>
            </a:extLst>
          </p:cNvPr>
          <p:cNvSpPr txBox="1"/>
          <p:nvPr/>
        </p:nvSpPr>
        <p:spPr>
          <a:xfrm>
            <a:off x="2763917" y="3087607"/>
            <a:ext cx="5997843" cy="447556"/>
          </a:xfrm>
          <a:prstGeom prst="roundRect">
            <a:avLst>
              <a:gd name="adj" fmla="val 7573"/>
            </a:avLst>
          </a:prstGeom>
          <a:solidFill>
            <a:srgbClr val="7030A0"/>
          </a:solidFill>
        </p:spPr>
        <p:txBody>
          <a:bodyPr wrap="square">
            <a:spAutoFit/>
          </a:bodyPr>
          <a:lstStyle/>
          <a:p>
            <a:pPr>
              <a:spcAft>
                <a:spcPts val="600"/>
              </a:spcAft>
            </a:pPr>
            <a:r>
              <a:rPr lang="es-ES" sz="1100" dirty="0">
                <a:solidFill>
                  <a:srgbClr val="FFFFFF"/>
                </a:solidFill>
              </a:rPr>
              <a:t>En el panel </a:t>
            </a:r>
            <a:r>
              <a:rPr lang="es-ES" sz="1100" b="1" dirty="0">
                <a:solidFill>
                  <a:srgbClr val="92D050"/>
                </a:solidFill>
              </a:rPr>
              <a:t>Controles de despliegue de calificación</a:t>
            </a:r>
            <a:r>
              <a:rPr lang="es-ES" sz="1100" dirty="0">
                <a:solidFill>
                  <a:srgbClr val="FFFFFF"/>
                </a:solidFill>
              </a:rPr>
              <a:t>, deben ser marcados para que la lista de calificaciones se despliegue. </a:t>
            </a:r>
            <a:r>
              <a:rPr lang="es-ES" sz="1100" b="1" dirty="0">
                <a:solidFill>
                  <a:srgbClr val="FFFFFF"/>
                </a:solidFill>
              </a:rPr>
              <a:t>Marcar.</a:t>
            </a:r>
            <a:endParaRPr lang="es-ES" sz="1100" dirty="0">
              <a:solidFill>
                <a:srgbClr val="FFFFFF"/>
              </a:solidFill>
            </a:endParaRPr>
          </a:p>
        </p:txBody>
      </p:sp>
    </p:spTree>
    <p:extLst>
      <p:ext uri="{BB962C8B-B14F-4D97-AF65-F5344CB8AC3E}">
        <p14:creationId xmlns:p14="http://schemas.microsoft.com/office/powerpoint/2010/main" val="1717761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heel(1)">
                                      <p:cBhvr>
                                        <p:cTn id="7" dur="2000"/>
                                        <p:tgtEl>
                                          <p:spTgt spid="10"/>
                                        </p:tgtEl>
                                      </p:cBhvr>
                                    </p:animEffect>
                                  </p:childTnLst>
                                </p:cTn>
                              </p:par>
                            </p:childTnLst>
                          </p:cTn>
                        </p:par>
                        <p:par>
                          <p:cTn id="8" fill="hold">
                            <p:stCondLst>
                              <p:cond delay="2000"/>
                            </p:stCondLst>
                            <p:childTnLst>
                              <p:par>
                                <p:cTn id="9" presetID="53" presetClass="entr" presetSubtype="16"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p:cTn id="11" dur="500" fill="hold"/>
                                        <p:tgtEl>
                                          <p:spTgt spid="11"/>
                                        </p:tgtEl>
                                        <p:attrNameLst>
                                          <p:attrName>ppt_w</p:attrName>
                                        </p:attrNameLst>
                                      </p:cBhvr>
                                      <p:tavLst>
                                        <p:tav tm="0">
                                          <p:val>
                                            <p:fltVal val="0"/>
                                          </p:val>
                                        </p:tav>
                                        <p:tav tm="100000">
                                          <p:val>
                                            <p:strVal val="#ppt_w"/>
                                          </p:val>
                                        </p:tav>
                                      </p:tavLst>
                                    </p:anim>
                                    <p:anim calcmode="lin" valueType="num">
                                      <p:cBhvr>
                                        <p:cTn id="12" dur="500" fill="hold"/>
                                        <p:tgtEl>
                                          <p:spTgt spid="11"/>
                                        </p:tgtEl>
                                        <p:attrNameLst>
                                          <p:attrName>ppt_h</p:attrName>
                                        </p:attrNameLst>
                                      </p:cBhvr>
                                      <p:tavLst>
                                        <p:tav tm="0">
                                          <p:val>
                                            <p:fltVal val="0"/>
                                          </p:val>
                                        </p:tav>
                                        <p:tav tm="100000">
                                          <p:val>
                                            <p:strVal val="#ppt_h"/>
                                          </p:val>
                                        </p:tav>
                                      </p:tavLst>
                                    </p:anim>
                                    <p:animEffect transition="in" filter="fade">
                                      <p:cBhvr>
                                        <p:cTn id="13" dur="500"/>
                                        <p:tgtEl>
                                          <p:spTgt spid="11"/>
                                        </p:tgtEl>
                                      </p:cBhvr>
                                    </p:animEffect>
                                  </p:childTnLst>
                                </p:cTn>
                              </p:par>
                            </p:childTnLst>
                          </p:cTn>
                        </p:par>
                        <p:par>
                          <p:cTn id="14" fill="hold">
                            <p:stCondLst>
                              <p:cond delay="2500"/>
                            </p:stCondLst>
                            <p:childTnLst>
                              <p:par>
                                <p:cTn id="15" presetID="10" presetClass="entr" presetSubtype="0" fill="hold" grpId="0" nodeType="after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8A56D287-AC30-4107-AD19-0233DADA352E}"/>
              </a:ext>
            </a:extLst>
          </p:cNvPr>
          <p:cNvPicPr>
            <a:picLocks noChangeAspect="1"/>
          </p:cNvPicPr>
          <p:nvPr/>
        </p:nvPicPr>
        <p:blipFill>
          <a:blip r:embed="rId2"/>
          <a:stretch>
            <a:fillRect/>
          </a:stretch>
        </p:blipFill>
        <p:spPr>
          <a:xfrm>
            <a:off x="431318" y="851999"/>
            <a:ext cx="11329363" cy="5154004"/>
          </a:xfrm>
          <a:prstGeom prst="rect">
            <a:avLst/>
          </a:prstGeom>
        </p:spPr>
      </p:pic>
      <p:pic>
        <p:nvPicPr>
          <p:cNvPr id="3" name="Imagen 2">
            <a:extLst>
              <a:ext uri="{FF2B5EF4-FFF2-40B4-BE49-F238E27FC236}">
                <a16:creationId xmlns:a16="http://schemas.microsoft.com/office/drawing/2014/main" id="{7CAB2B86-4E3B-C98C-411E-958BEFE187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2528" y="6154887"/>
            <a:ext cx="2234242" cy="525923"/>
          </a:xfrm>
          <a:prstGeom prst="rect">
            <a:avLst/>
          </a:prstGeom>
        </p:spPr>
      </p:pic>
      <p:pic>
        <p:nvPicPr>
          <p:cNvPr id="4" name="Picture 4" descr="Ellucian Student Reseñas 2026: Detalles, Precios y Características | G2">
            <a:extLst>
              <a:ext uri="{FF2B5EF4-FFF2-40B4-BE49-F238E27FC236}">
                <a16:creationId xmlns:a16="http://schemas.microsoft.com/office/drawing/2014/main" id="{7352B780-8C7C-7B91-F3EE-5E6EF2C2E46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98101" y="5901780"/>
            <a:ext cx="1821371" cy="956220"/>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0AEBA78F-8C98-5D4D-384F-95B753FFADE4}"/>
              </a:ext>
            </a:extLst>
          </p:cNvPr>
          <p:cNvSpPr txBox="1"/>
          <p:nvPr/>
        </p:nvSpPr>
        <p:spPr>
          <a:xfrm>
            <a:off x="431320" y="241540"/>
            <a:ext cx="6785832" cy="523220"/>
          </a:xfrm>
          <a:prstGeom prst="rect">
            <a:avLst/>
          </a:prstGeom>
          <a:noFill/>
        </p:spPr>
        <p:txBody>
          <a:bodyPr wrap="none" rtlCol="0">
            <a:spAutoFit/>
          </a:bodyPr>
          <a:lstStyle/>
          <a:p>
            <a:r>
              <a:rPr lang="es-ES" sz="2800" b="1" dirty="0">
                <a:latin typeface="Montserrat" pitchFamily="2" charset="0"/>
              </a:rPr>
              <a:t>CONTROL DE PERIODO - SOATERM</a:t>
            </a:r>
            <a:endParaRPr lang="es-PE" sz="2800" b="1" dirty="0">
              <a:latin typeface="Montserrat" pitchFamily="2" charset="0"/>
            </a:endParaRPr>
          </a:p>
        </p:txBody>
      </p:sp>
      <p:sp>
        <p:nvSpPr>
          <p:cNvPr id="8" name="Rectángulo 7">
            <a:extLst>
              <a:ext uri="{FF2B5EF4-FFF2-40B4-BE49-F238E27FC236}">
                <a16:creationId xmlns:a16="http://schemas.microsoft.com/office/drawing/2014/main" id="{A16BCE08-E23C-F264-A6E3-E4019979D2E2}"/>
              </a:ext>
            </a:extLst>
          </p:cNvPr>
          <p:cNvSpPr/>
          <p:nvPr/>
        </p:nvSpPr>
        <p:spPr>
          <a:xfrm>
            <a:off x="7217152" y="241540"/>
            <a:ext cx="4974847" cy="445583"/>
          </a:xfrm>
          <a:prstGeom prst="rect">
            <a:avLst/>
          </a:prstGeom>
          <a:gradFill flip="none" rotWithShape="1">
            <a:gsLst>
              <a:gs pos="0">
                <a:schemeClr val="accent6">
                  <a:lumMod val="0"/>
                  <a:lumOff val="100000"/>
                </a:schemeClr>
              </a:gs>
              <a:gs pos="66000">
                <a:schemeClr val="accent6">
                  <a:lumMod val="100000"/>
                </a:schemeClr>
              </a:gs>
            </a:gsLst>
            <a:lin ang="0" scaled="1"/>
            <a:tileRect/>
          </a:gra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s-PE"/>
          </a:p>
        </p:txBody>
      </p:sp>
      <p:sp>
        <p:nvSpPr>
          <p:cNvPr id="6" name="CuadroTexto 5">
            <a:extLst>
              <a:ext uri="{FF2B5EF4-FFF2-40B4-BE49-F238E27FC236}">
                <a16:creationId xmlns:a16="http://schemas.microsoft.com/office/drawing/2014/main" id="{AC33DC36-253A-547B-7A30-A152C2F6B4CE}"/>
              </a:ext>
            </a:extLst>
          </p:cNvPr>
          <p:cNvSpPr txBox="1"/>
          <p:nvPr/>
        </p:nvSpPr>
        <p:spPr>
          <a:xfrm>
            <a:off x="4528936" y="6386396"/>
            <a:ext cx="3134128" cy="276999"/>
          </a:xfrm>
          <a:prstGeom prst="rect">
            <a:avLst/>
          </a:prstGeom>
          <a:noFill/>
        </p:spPr>
        <p:txBody>
          <a:bodyPr wrap="none" rtlCol="0">
            <a:spAutoFit/>
          </a:bodyPr>
          <a:lstStyle/>
          <a:p>
            <a:pPr algn="ctr"/>
            <a:r>
              <a:rPr lang="es-ES" sz="1200" i="1" dirty="0"/>
              <a:t>Elaborado por: Ing. Liliana Ocampo Moreno</a:t>
            </a:r>
            <a:endParaRPr lang="es-PE" sz="1200" i="1" dirty="0"/>
          </a:p>
        </p:txBody>
      </p:sp>
      <p:sp>
        <p:nvSpPr>
          <p:cNvPr id="10" name="Rectángulo 9">
            <a:extLst>
              <a:ext uri="{FF2B5EF4-FFF2-40B4-BE49-F238E27FC236}">
                <a16:creationId xmlns:a16="http://schemas.microsoft.com/office/drawing/2014/main" id="{2B1BA150-3413-463D-A871-AD0D4BFB84B8}"/>
              </a:ext>
            </a:extLst>
          </p:cNvPr>
          <p:cNvSpPr/>
          <p:nvPr/>
        </p:nvSpPr>
        <p:spPr>
          <a:xfrm>
            <a:off x="431318" y="2142837"/>
            <a:ext cx="11217913" cy="560534"/>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11" name="Rectángulo: esquinas redondeadas 10">
            <a:extLst>
              <a:ext uri="{FF2B5EF4-FFF2-40B4-BE49-F238E27FC236}">
                <a16:creationId xmlns:a16="http://schemas.microsoft.com/office/drawing/2014/main" id="{A575822F-7748-4C2B-AFD9-27499A4186F7}"/>
              </a:ext>
            </a:extLst>
          </p:cNvPr>
          <p:cNvSpPr/>
          <p:nvPr/>
        </p:nvSpPr>
        <p:spPr>
          <a:xfrm>
            <a:off x="5547177" y="2905245"/>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s-ES" sz="1100" b="1" dirty="0"/>
              <a:t>3</a:t>
            </a:r>
            <a:endParaRPr lang="es-PE" sz="1100" b="1" dirty="0"/>
          </a:p>
        </p:txBody>
      </p:sp>
      <p:sp>
        <p:nvSpPr>
          <p:cNvPr id="12" name="CuadroTexto 11">
            <a:hlinkClick r:id="rId5" action="ppaction://hlinksldjump"/>
            <a:extLst>
              <a:ext uri="{FF2B5EF4-FFF2-40B4-BE49-F238E27FC236}">
                <a16:creationId xmlns:a16="http://schemas.microsoft.com/office/drawing/2014/main" id="{9351EBF4-6A07-45AB-80EF-A0B12AD1D02C}"/>
              </a:ext>
            </a:extLst>
          </p:cNvPr>
          <p:cNvSpPr txBox="1"/>
          <p:nvPr/>
        </p:nvSpPr>
        <p:spPr>
          <a:xfrm>
            <a:off x="2763916" y="3328434"/>
            <a:ext cx="5997843" cy="1054953"/>
          </a:xfrm>
          <a:prstGeom prst="roundRect">
            <a:avLst>
              <a:gd name="adj" fmla="val 7573"/>
            </a:avLst>
          </a:prstGeom>
          <a:solidFill>
            <a:srgbClr val="7030A0"/>
          </a:solidFill>
        </p:spPr>
        <p:txBody>
          <a:bodyPr wrap="square">
            <a:spAutoFit/>
          </a:bodyPr>
          <a:lstStyle/>
          <a:p>
            <a:pPr>
              <a:spcAft>
                <a:spcPts val="600"/>
              </a:spcAft>
            </a:pPr>
            <a:r>
              <a:rPr lang="es-ES" sz="1100" dirty="0">
                <a:solidFill>
                  <a:srgbClr val="FFFFFF"/>
                </a:solidFill>
              </a:rPr>
              <a:t>En el panel </a:t>
            </a:r>
            <a:r>
              <a:rPr lang="es-ES" sz="1100" b="1" dirty="0">
                <a:solidFill>
                  <a:srgbClr val="92D050"/>
                </a:solidFill>
              </a:rPr>
              <a:t>Controles de docente y asesor</a:t>
            </a:r>
            <a:r>
              <a:rPr lang="es-ES" sz="1100" dirty="0">
                <a:solidFill>
                  <a:srgbClr val="FFFFFF"/>
                </a:solidFill>
              </a:rPr>
              <a:t>, se deben activar las opciones necesarias, según el funcionamiento requerido</a:t>
            </a:r>
            <a:r>
              <a:rPr lang="es-ES" sz="1100" b="1" dirty="0">
                <a:solidFill>
                  <a:srgbClr val="FFFFFF"/>
                </a:solidFill>
              </a:rPr>
              <a:t>. Desplegar horario</a:t>
            </a:r>
            <a:r>
              <a:rPr lang="es-ES" sz="1100" dirty="0">
                <a:solidFill>
                  <a:srgbClr val="FFFFFF"/>
                </a:solidFill>
              </a:rPr>
              <a:t> y </a:t>
            </a:r>
            <a:r>
              <a:rPr lang="es-ES" sz="1100" b="1" dirty="0">
                <a:solidFill>
                  <a:srgbClr val="FFFFFF"/>
                </a:solidFill>
              </a:rPr>
              <a:t>desplegar lista de clases</a:t>
            </a:r>
            <a:r>
              <a:rPr lang="es-ES" sz="1100" dirty="0">
                <a:solidFill>
                  <a:srgbClr val="FFFFFF"/>
                </a:solidFill>
              </a:rPr>
              <a:t> deben estar marcados para permitir que estos se desplieguen o estén disponibles para el docente.</a:t>
            </a:r>
          </a:p>
          <a:p>
            <a:pPr>
              <a:spcAft>
                <a:spcPts val="600"/>
              </a:spcAft>
            </a:pPr>
            <a:r>
              <a:rPr lang="es-ES" sz="1100" b="1" dirty="0">
                <a:solidFill>
                  <a:srgbClr val="FFFFFF"/>
                </a:solidFill>
              </a:rPr>
              <a:t>Permitir aprobaciones/sobrepasos</a:t>
            </a:r>
            <a:r>
              <a:rPr lang="es-ES" sz="1100" dirty="0">
                <a:solidFill>
                  <a:srgbClr val="FFFFFF"/>
                </a:solidFill>
              </a:rPr>
              <a:t> y </a:t>
            </a:r>
            <a:r>
              <a:rPr lang="es-ES" sz="1100" b="1" dirty="0">
                <a:solidFill>
                  <a:srgbClr val="FFFFFF"/>
                </a:solidFill>
              </a:rPr>
              <a:t>permitir agregar/eliminar</a:t>
            </a:r>
            <a:r>
              <a:rPr lang="es-ES" sz="1100" dirty="0">
                <a:solidFill>
                  <a:srgbClr val="FFFFFF"/>
                </a:solidFill>
              </a:rPr>
              <a:t> no deben estar marcados, de lo contrario el docente podría realizar estas funciones.</a:t>
            </a:r>
            <a:endParaRPr lang="es-ES" sz="1100" b="1" dirty="0">
              <a:solidFill>
                <a:srgbClr val="FFFFFF"/>
              </a:solidFill>
            </a:endParaRPr>
          </a:p>
        </p:txBody>
      </p:sp>
    </p:spTree>
    <p:extLst>
      <p:ext uri="{BB962C8B-B14F-4D97-AF65-F5344CB8AC3E}">
        <p14:creationId xmlns:p14="http://schemas.microsoft.com/office/powerpoint/2010/main" val="5148744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heel(1)">
                                      <p:cBhvr>
                                        <p:cTn id="7" dur="2000"/>
                                        <p:tgtEl>
                                          <p:spTgt spid="10"/>
                                        </p:tgtEl>
                                      </p:cBhvr>
                                    </p:animEffect>
                                  </p:childTnLst>
                                </p:cTn>
                              </p:par>
                            </p:childTnLst>
                          </p:cTn>
                        </p:par>
                        <p:par>
                          <p:cTn id="8" fill="hold">
                            <p:stCondLst>
                              <p:cond delay="2000"/>
                            </p:stCondLst>
                            <p:childTnLst>
                              <p:par>
                                <p:cTn id="9" presetID="53" presetClass="entr" presetSubtype="16"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p:cTn id="11" dur="500" fill="hold"/>
                                        <p:tgtEl>
                                          <p:spTgt spid="11"/>
                                        </p:tgtEl>
                                        <p:attrNameLst>
                                          <p:attrName>ppt_w</p:attrName>
                                        </p:attrNameLst>
                                      </p:cBhvr>
                                      <p:tavLst>
                                        <p:tav tm="0">
                                          <p:val>
                                            <p:fltVal val="0"/>
                                          </p:val>
                                        </p:tav>
                                        <p:tav tm="100000">
                                          <p:val>
                                            <p:strVal val="#ppt_w"/>
                                          </p:val>
                                        </p:tav>
                                      </p:tavLst>
                                    </p:anim>
                                    <p:anim calcmode="lin" valueType="num">
                                      <p:cBhvr>
                                        <p:cTn id="12" dur="500" fill="hold"/>
                                        <p:tgtEl>
                                          <p:spTgt spid="11"/>
                                        </p:tgtEl>
                                        <p:attrNameLst>
                                          <p:attrName>ppt_h</p:attrName>
                                        </p:attrNameLst>
                                      </p:cBhvr>
                                      <p:tavLst>
                                        <p:tav tm="0">
                                          <p:val>
                                            <p:fltVal val="0"/>
                                          </p:val>
                                        </p:tav>
                                        <p:tav tm="100000">
                                          <p:val>
                                            <p:strVal val="#ppt_h"/>
                                          </p:val>
                                        </p:tav>
                                      </p:tavLst>
                                    </p:anim>
                                    <p:animEffect transition="in" filter="fade">
                                      <p:cBhvr>
                                        <p:cTn id="13" dur="500"/>
                                        <p:tgtEl>
                                          <p:spTgt spid="11"/>
                                        </p:tgtEl>
                                      </p:cBhvr>
                                    </p:animEffect>
                                  </p:childTnLst>
                                </p:cTn>
                              </p:par>
                            </p:childTnLst>
                          </p:cTn>
                        </p:par>
                        <p:par>
                          <p:cTn id="14" fill="hold">
                            <p:stCondLst>
                              <p:cond delay="2500"/>
                            </p:stCondLst>
                            <p:childTnLst>
                              <p:par>
                                <p:cTn id="15" presetID="10" presetClass="entr" presetSubtype="0" fill="hold" grpId="0" nodeType="after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n 8">
            <a:extLst>
              <a:ext uri="{FF2B5EF4-FFF2-40B4-BE49-F238E27FC236}">
                <a16:creationId xmlns:a16="http://schemas.microsoft.com/office/drawing/2014/main" id="{D6D031D4-8FBD-493B-91E9-BFD4C394030E}"/>
              </a:ext>
            </a:extLst>
          </p:cNvPr>
          <p:cNvPicPr>
            <a:picLocks noChangeAspect="1"/>
          </p:cNvPicPr>
          <p:nvPr/>
        </p:nvPicPr>
        <p:blipFill>
          <a:blip r:embed="rId2"/>
          <a:stretch>
            <a:fillRect/>
          </a:stretch>
        </p:blipFill>
        <p:spPr>
          <a:xfrm>
            <a:off x="412574" y="840508"/>
            <a:ext cx="11493099" cy="5234481"/>
          </a:xfrm>
          <a:prstGeom prst="rect">
            <a:avLst/>
          </a:prstGeom>
        </p:spPr>
      </p:pic>
      <p:pic>
        <p:nvPicPr>
          <p:cNvPr id="3" name="Imagen 2">
            <a:extLst>
              <a:ext uri="{FF2B5EF4-FFF2-40B4-BE49-F238E27FC236}">
                <a16:creationId xmlns:a16="http://schemas.microsoft.com/office/drawing/2014/main" id="{7CAB2B86-4E3B-C98C-411E-958BEFE187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2528" y="6154887"/>
            <a:ext cx="2234242" cy="525923"/>
          </a:xfrm>
          <a:prstGeom prst="rect">
            <a:avLst/>
          </a:prstGeom>
        </p:spPr>
      </p:pic>
      <p:pic>
        <p:nvPicPr>
          <p:cNvPr id="4" name="Picture 4" descr="Ellucian Student Reseñas 2026: Detalles, Precios y Características | G2">
            <a:extLst>
              <a:ext uri="{FF2B5EF4-FFF2-40B4-BE49-F238E27FC236}">
                <a16:creationId xmlns:a16="http://schemas.microsoft.com/office/drawing/2014/main" id="{7352B780-8C7C-7B91-F3EE-5E6EF2C2E46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98101" y="5901780"/>
            <a:ext cx="1821371" cy="956220"/>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0AEBA78F-8C98-5D4D-384F-95B753FFADE4}"/>
              </a:ext>
            </a:extLst>
          </p:cNvPr>
          <p:cNvSpPr txBox="1"/>
          <p:nvPr/>
        </p:nvSpPr>
        <p:spPr>
          <a:xfrm>
            <a:off x="431320" y="241540"/>
            <a:ext cx="6785832" cy="523220"/>
          </a:xfrm>
          <a:prstGeom prst="rect">
            <a:avLst/>
          </a:prstGeom>
          <a:noFill/>
        </p:spPr>
        <p:txBody>
          <a:bodyPr wrap="none" rtlCol="0">
            <a:spAutoFit/>
          </a:bodyPr>
          <a:lstStyle/>
          <a:p>
            <a:r>
              <a:rPr lang="es-ES" sz="2800" b="1" dirty="0">
                <a:latin typeface="Montserrat" pitchFamily="2" charset="0"/>
              </a:rPr>
              <a:t>CONTROL DE PERIODO - SOATERM</a:t>
            </a:r>
            <a:endParaRPr lang="es-PE" sz="2800" b="1" dirty="0">
              <a:latin typeface="Montserrat" pitchFamily="2" charset="0"/>
            </a:endParaRPr>
          </a:p>
        </p:txBody>
      </p:sp>
      <p:sp>
        <p:nvSpPr>
          <p:cNvPr id="8" name="Rectángulo 7">
            <a:extLst>
              <a:ext uri="{FF2B5EF4-FFF2-40B4-BE49-F238E27FC236}">
                <a16:creationId xmlns:a16="http://schemas.microsoft.com/office/drawing/2014/main" id="{A16BCE08-E23C-F264-A6E3-E4019979D2E2}"/>
              </a:ext>
            </a:extLst>
          </p:cNvPr>
          <p:cNvSpPr/>
          <p:nvPr/>
        </p:nvSpPr>
        <p:spPr>
          <a:xfrm>
            <a:off x="7217152" y="241540"/>
            <a:ext cx="4974847" cy="445583"/>
          </a:xfrm>
          <a:prstGeom prst="rect">
            <a:avLst/>
          </a:prstGeom>
          <a:gradFill flip="none" rotWithShape="1">
            <a:gsLst>
              <a:gs pos="0">
                <a:schemeClr val="accent6">
                  <a:lumMod val="0"/>
                  <a:lumOff val="100000"/>
                </a:schemeClr>
              </a:gs>
              <a:gs pos="66000">
                <a:schemeClr val="accent6">
                  <a:lumMod val="100000"/>
                </a:schemeClr>
              </a:gs>
            </a:gsLst>
            <a:lin ang="0" scaled="1"/>
            <a:tileRect/>
          </a:gra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s-PE"/>
          </a:p>
        </p:txBody>
      </p:sp>
      <p:sp>
        <p:nvSpPr>
          <p:cNvPr id="6" name="CuadroTexto 5">
            <a:extLst>
              <a:ext uri="{FF2B5EF4-FFF2-40B4-BE49-F238E27FC236}">
                <a16:creationId xmlns:a16="http://schemas.microsoft.com/office/drawing/2014/main" id="{AC33DC36-253A-547B-7A30-A152C2F6B4CE}"/>
              </a:ext>
            </a:extLst>
          </p:cNvPr>
          <p:cNvSpPr txBox="1"/>
          <p:nvPr/>
        </p:nvSpPr>
        <p:spPr>
          <a:xfrm>
            <a:off x="4528936" y="6386396"/>
            <a:ext cx="3134128" cy="276999"/>
          </a:xfrm>
          <a:prstGeom prst="rect">
            <a:avLst/>
          </a:prstGeom>
          <a:noFill/>
        </p:spPr>
        <p:txBody>
          <a:bodyPr wrap="none" rtlCol="0">
            <a:spAutoFit/>
          </a:bodyPr>
          <a:lstStyle/>
          <a:p>
            <a:pPr algn="ctr"/>
            <a:r>
              <a:rPr lang="es-ES" sz="1200" i="1" dirty="0"/>
              <a:t>Elaborado por: Ing. Liliana Ocampo Moreno</a:t>
            </a:r>
            <a:endParaRPr lang="es-PE" sz="1200" i="1" dirty="0"/>
          </a:p>
        </p:txBody>
      </p:sp>
      <p:sp>
        <p:nvSpPr>
          <p:cNvPr id="10" name="Rectángulo 9">
            <a:extLst>
              <a:ext uri="{FF2B5EF4-FFF2-40B4-BE49-F238E27FC236}">
                <a16:creationId xmlns:a16="http://schemas.microsoft.com/office/drawing/2014/main" id="{2B1BA150-3413-463D-A871-AD0D4BFB84B8}"/>
              </a:ext>
            </a:extLst>
          </p:cNvPr>
          <p:cNvSpPr/>
          <p:nvPr/>
        </p:nvSpPr>
        <p:spPr>
          <a:xfrm>
            <a:off x="431318" y="2346035"/>
            <a:ext cx="11217913" cy="375807"/>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11" name="Rectángulo: esquinas redondeadas 10">
            <a:extLst>
              <a:ext uri="{FF2B5EF4-FFF2-40B4-BE49-F238E27FC236}">
                <a16:creationId xmlns:a16="http://schemas.microsoft.com/office/drawing/2014/main" id="{A575822F-7748-4C2B-AFD9-27499A4186F7}"/>
              </a:ext>
            </a:extLst>
          </p:cNvPr>
          <p:cNvSpPr/>
          <p:nvPr/>
        </p:nvSpPr>
        <p:spPr>
          <a:xfrm>
            <a:off x="5547177" y="2905245"/>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s-ES" sz="1100" b="1" dirty="0"/>
              <a:t>4</a:t>
            </a:r>
            <a:endParaRPr lang="es-PE" sz="1100" b="1" dirty="0"/>
          </a:p>
        </p:txBody>
      </p:sp>
      <p:sp>
        <p:nvSpPr>
          <p:cNvPr id="12" name="CuadroTexto 11">
            <a:hlinkClick r:id="rId5" action="ppaction://hlinksldjump"/>
            <a:extLst>
              <a:ext uri="{FF2B5EF4-FFF2-40B4-BE49-F238E27FC236}">
                <a16:creationId xmlns:a16="http://schemas.microsoft.com/office/drawing/2014/main" id="{9351EBF4-6A07-45AB-80EF-A0B12AD1D02C}"/>
              </a:ext>
            </a:extLst>
          </p:cNvPr>
          <p:cNvSpPr txBox="1"/>
          <p:nvPr/>
        </p:nvSpPr>
        <p:spPr>
          <a:xfrm>
            <a:off x="2763916" y="3328434"/>
            <a:ext cx="5997843" cy="2269748"/>
          </a:xfrm>
          <a:prstGeom prst="roundRect">
            <a:avLst>
              <a:gd name="adj" fmla="val 7573"/>
            </a:avLst>
          </a:prstGeom>
          <a:solidFill>
            <a:srgbClr val="7030A0"/>
          </a:solidFill>
        </p:spPr>
        <p:txBody>
          <a:bodyPr wrap="square">
            <a:spAutoFit/>
          </a:bodyPr>
          <a:lstStyle/>
          <a:p>
            <a:pPr>
              <a:spcAft>
                <a:spcPts val="600"/>
              </a:spcAft>
            </a:pPr>
            <a:r>
              <a:rPr lang="es-ES" sz="1100" dirty="0">
                <a:solidFill>
                  <a:srgbClr val="FFFFFF"/>
                </a:solidFill>
              </a:rPr>
              <a:t>En el panel </a:t>
            </a:r>
            <a:r>
              <a:rPr lang="es-ES" sz="1100" b="1" dirty="0">
                <a:solidFill>
                  <a:srgbClr val="92D050"/>
                </a:solidFill>
              </a:rPr>
              <a:t>Controles de </a:t>
            </a:r>
            <a:r>
              <a:rPr lang="es-ES" sz="1100" b="1" dirty="0" err="1">
                <a:solidFill>
                  <a:srgbClr val="92D050"/>
                </a:solidFill>
              </a:rPr>
              <a:t>WebCAPP</a:t>
            </a:r>
            <a:r>
              <a:rPr lang="es-ES" sz="1100" dirty="0">
                <a:solidFill>
                  <a:srgbClr val="FFFFFF"/>
                </a:solidFill>
              </a:rPr>
              <a:t>, sirven para definir qué funcionalidades de CAPP estarán disponibles para estudiantes y asesores a través de la web.</a:t>
            </a:r>
          </a:p>
          <a:p>
            <a:pPr marL="171450" indent="-171450">
              <a:spcAft>
                <a:spcPts val="600"/>
              </a:spcAft>
              <a:buFont typeface="Arial" panose="020B0604020202020204" pitchFamily="34" charset="0"/>
              <a:buChar char="•"/>
            </a:pPr>
            <a:r>
              <a:rPr lang="es-ES" sz="1100" b="1" dirty="0">
                <a:solidFill>
                  <a:srgbClr val="FFFFFF"/>
                </a:solidFill>
              </a:rPr>
              <a:t>Período de evaluación web:</a:t>
            </a:r>
            <a:r>
              <a:rPr lang="es-ES" sz="1100" dirty="0">
                <a:solidFill>
                  <a:srgbClr val="FFFFFF"/>
                </a:solidFill>
              </a:rPr>
              <a:t> permite al estudiante y al asesor </a:t>
            </a:r>
            <a:r>
              <a:rPr lang="es-ES" sz="1100" b="1" dirty="0">
                <a:solidFill>
                  <a:srgbClr val="FFFFFF"/>
                </a:solidFill>
              </a:rPr>
              <a:t>consultar y ejecutar la evaluación de CAPP</a:t>
            </a:r>
            <a:r>
              <a:rPr lang="es-ES" sz="1100" dirty="0">
                <a:solidFill>
                  <a:srgbClr val="FFFFFF"/>
                </a:solidFill>
              </a:rPr>
              <a:t>, verificando qué requisitos del plan de estudios se han cumplido y cuáles están pendientes. </a:t>
            </a:r>
            <a:r>
              <a:rPr lang="es-ES" sz="1100" b="1" dirty="0">
                <a:solidFill>
                  <a:srgbClr val="92D050"/>
                </a:solidFill>
              </a:rPr>
              <a:t>Al finalizar el periodo de inscripción se debe desactivar este </a:t>
            </a:r>
            <a:r>
              <a:rPr lang="es-ES" sz="1100" b="1" dirty="0" err="1">
                <a:solidFill>
                  <a:srgbClr val="92D050"/>
                </a:solidFill>
              </a:rPr>
              <a:t>flag</a:t>
            </a:r>
            <a:r>
              <a:rPr lang="es-ES" sz="1100" b="1" dirty="0">
                <a:solidFill>
                  <a:srgbClr val="92D050"/>
                </a:solidFill>
              </a:rPr>
              <a:t>.</a:t>
            </a:r>
            <a:endParaRPr lang="es-ES" sz="1100" dirty="0">
              <a:solidFill>
                <a:srgbClr val="FFFFFF"/>
              </a:solidFill>
            </a:endParaRPr>
          </a:p>
          <a:p>
            <a:pPr marL="171450" indent="-171450">
              <a:spcAft>
                <a:spcPts val="600"/>
              </a:spcAft>
              <a:buFont typeface="Arial" panose="020B0604020202020204" pitchFamily="34" charset="0"/>
              <a:buChar char="•"/>
            </a:pPr>
            <a:r>
              <a:rPr lang="es-ES" sz="1100" b="1" dirty="0">
                <a:solidFill>
                  <a:srgbClr val="FFFFFF"/>
                </a:solidFill>
              </a:rPr>
              <a:t>Período de catálogo web:</a:t>
            </a:r>
            <a:r>
              <a:rPr lang="es-ES" sz="1100" dirty="0">
                <a:solidFill>
                  <a:srgbClr val="FFFFFF"/>
                </a:solidFill>
              </a:rPr>
              <a:t> permite </a:t>
            </a:r>
            <a:r>
              <a:rPr lang="es-ES" sz="1100" b="1" dirty="0">
                <a:solidFill>
                  <a:srgbClr val="FFFFFF"/>
                </a:solidFill>
              </a:rPr>
              <a:t>consultar el catálogo académico desde la web</a:t>
            </a:r>
            <a:r>
              <a:rPr lang="es-ES" sz="1100" dirty="0">
                <a:solidFill>
                  <a:srgbClr val="FFFFFF"/>
                </a:solidFill>
              </a:rPr>
              <a:t>, es decir, buscar información de cursos/programas disponibles. </a:t>
            </a:r>
            <a:r>
              <a:rPr lang="es-ES" sz="1100" b="1" dirty="0">
                <a:solidFill>
                  <a:srgbClr val="92D050"/>
                </a:solidFill>
              </a:rPr>
              <a:t>Al finalizar el periodo de inscripción se debe desactivar este </a:t>
            </a:r>
            <a:r>
              <a:rPr lang="es-ES" sz="1100" b="1" dirty="0" err="1">
                <a:solidFill>
                  <a:srgbClr val="92D050"/>
                </a:solidFill>
              </a:rPr>
              <a:t>flag</a:t>
            </a:r>
            <a:r>
              <a:rPr lang="es-ES" sz="1100" b="1" dirty="0">
                <a:solidFill>
                  <a:srgbClr val="92D050"/>
                </a:solidFill>
              </a:rPr>
              <a:t>.</a:t>
            </a:r>
            <a:endParaRPr lang="es-ES" sz="1100" dirty="0">
              <a:solidFill>
                <a:srgbClr val="FFFFFF"/>
              </a:solidFill>
            </a:endParaRPr>
          </a:p>
          <a:p>
            <a:pPr>
              <a:spcAft>
                <a:spcPts val="600"/>
              </a:spcAft>
            </a:pPr>
            <a:r>
              <a:rPr lang="es-ES" sz="1100" dirty="0">
                <a:solidFill>
                  <a:srgbClr val="FFFFFF"/>
                </a:solidFill>
              </a:rPr>
              <a:t>Esta sección controla la disponibilidad de las funcionalidades de </a:t>
            </a:r>
            <a:r>
              <a:rPr lang="es-ES" sz="1100" b="1" dirty="0">
                <a:solidFill>
                  <a:srgbClr val="FFFFFF"/>
                </a:solidFill>
              </a:rPr>
              <a:t>CAPP en Autoservicio/Web</a:t>
            </a:r>
            <a:r>
              <a:rPr lang="es-ES" sz="1100" dirty="0">
                <a:solidFill>
                  <a:srgbClr val="FFFFFF"/>
                </a:solidFill>
              </a:rPr>
              <a:t> durante el periodo académico.</a:t>
            </a:r>
          </a:p>
        </p:txBody>
      </p:sp>
    </p:spTree>
    <p:extLst>
      <p:ext uri="{BB962C8B-B14F-4D97-AF65-F5344CB8AC3E}">
        <p14:creationId xmlns:p14="http://schemas.microsoft.com/office/powerpoint/2010/main" val="14113603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heel(1)">
                                      <p:cBhvr>
                                        <p:cTn id="7" dur="2000"/>
                                        <p:tgtEl>
                                          <p:spTgt spid="10"/>
                                        </p:tgtEl>
                                      </p:cBhvr>
                                    </p:animEffect>
                                  </p:childTnLst>
                                </p:cTn>
                              </p:par>
                            </p:childTnLst>
                          </p:cTn>
                        </p:par>
                        <p:par>
                          <p:cTn id="8" fill="hold">
                            <p:stCondLst>
                              <p:cond delay="2000"/>
                            </p:stCondLst>
                            <p:childTnLst>
                              <p:par>
                                <p:cTn id="9" presetID="53" presetClass="entr" presetSubtype="16"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p:cTn id="11" dur="500" fill="hold"/>
                                        <p:tgtEl>
                                          <p:spTgt spid="11"/>
                                        </p:tgtEl>
                                        <p:attrNameLst>
                                          <p:attrName>ppt_w</p:attrName>
                                        </p:attrNameLst>
                                      </p:cBhvr>
                                      <p:tavLst>
                                        <p:tav tm="0">
                                          <p:val>
                                            <p:fltVal val="0"/>
                                          </p:val>
                                        </p:tav>
                                        <p:tav tm="100000">
                                          <p:val>
                                            <p:strVal val="#ppt_w"/>
                                          </p:val>
                                        </p:tav>
                                      </p:tavLst>
                                    </p:anim>
                                    <p:anim calcmode="lin" valueType="num">
                                      <p:cBhvr>
                                        <p:cTn id="12" dur="500" fill="hold"/>
                                        <p:tgtEl>
                                          <p:spTgt spid="11"/>
                                        </p:tgtEl>
                                        <p:attrNameLst>
                                          <p:attrName>ppt_h</p:attrName>
                                        </p:attrNameLst>
                                      </p:cBhvr>
                                      <p:tavLst>
                                        <p:tav tm="0">
                                          <p:val>
                                            <p:fltVal val="0"/>
                                          </p:val>
                                        </p:tav>
                                        <p:tav tm="100000">
                                          <p:val>
                                            <p:strVal val="#ppt_h"/>
                                          </p:val>
                                        </p:tav>
                                      </p:tavLst>
                                    </p:anim>
                                    <p:animEffect transition="in" filter="fade">
                                      <p:cBhvr>
                                        <p:cTn id="13" dur="500"/>
                                        <p:tgtEl>
                                          <p:spTgt spid="11"/>
                                        </p:tgtEl>
                                      </p:cBhvr>
                                    </p:animEffect>
                                  </p:childTnLst>
                                </p:cTn>
                              </p:par>
                            </p:childTnLst>
                          </p:cTn>
                        </p:par>
                        <p:par>
                          <p:cTn id="14" fill="hold">
                            <p:stCondLst>
                              <p:cond delay="2500"/>
                            </p:stCondLst>
                            <p:childTnLst>
                              <p:par>
                                <p:cTn id="15" presetID="10" presetClass="entr" presetSubtype="0" fill="hold" grpId="0" nodeType="after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0C6AFA1A-D43E-4256-8A06-EBD7E76E96C5}"/>
              </a:ext>
            </a:extLst>
          </p:cNvPr>
          <p:cNvPicPr>
            <a:picLocks noChangeAspect="1"/>
          </p:cNvPicPr>
          <p:nvPr/>
        </p:nvPicPr>
        <p:blipFill>
          <a:blip r:embed="rId2"/>
          <a:stretch>
            <a:fillRect/>
          </a:stretch>
        </p:blipFill>
        <p:spPr>
          <a:xfrm>
            <a:off x="431318" y="851997"/>
            <a:ext cx="11329364" cy="5154005"/>
          </a:xfrm>
          <a:prstGeom prst="rect">
            <a:avLst/>
          </a:prstGeom>
        </p:spPr>
      </p:pic>
      <p:pic>
        <p:nvPicPr>
          <p:cNvPr id="3" name="Imagen 2">
            <a:extLst>
              <a:ext uri="{FF2B5EF4-FFF2-40B4-BE49-F238E27FC236}">
                <a16:creationId xmlns:a16="http://schemas.microsoft.com/office/drawing/2014/main" id="{7CAB2B86-4E3B-C98C-411E-958BEFE187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2528" y="6154887"/>
            <a:ext cx="2234242" cy="525923"/>
          </a:xfrm>
          <a:prstGeom prst="rect">
            <a:avLst/>
          </a:prstGeom>
        </p:spPr>
      </p:pic>
      <p:pic>
        <p:nvPicPr>
          <p:cNvPr id="4" name="Picture 4" descr="Ellucian Student Reseñas 2026: Detalles, Precios y Características | G2">
            <a:extLst>
              <a:ext uri="{FF2B5EF4-FFF2-40B4-BE49-F238E27FC236}">
                <a16:creationId xmlns:a16="http://schemas.microsoft.com/office/drawing/2014/main" id="{7352B780-8C7C-7B91-F3EE-5E6EF2C2E46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98101" y="5901780"/>
            <a:ext cx="1821371" cy="956220"/>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0AEBA78F-8C98-5D4D-384F-95B753FFADE4}"/>
              </a:ext>
            </a:extLst>
          </p:cNvPr>
          <p:cNvSpPr txBox="1"/>
          <p:nvPr/>
        </p:nvSpPr>
        <p:spPr>
          <a:xfrm>
            <a:off x="431320" y="241540"/>
            <a:ext cx="6785832" cy="523220"/>
          </a:xfrm>
          <a:prstGeom prst="rect">
            <a:avLst/>
          </a:prstGeom>
          <a:noFill/>
        </p:spPr>
        <p:txBody>
          <a:bodyPr wrap="none" rtlCol="0">
            <a:spAutoFit/>
          </a:bodyPr>
          <a:lstStyle/>
          <a:p>
            <a:r>
              <a:rPr lang="es-ES" sz="2800" b="1" dirty="0">
                <a:latin typeface="Montserrat" pitchFamily="2" charset="0"/>
              </a:rPr>
              <a:t>CONTROL DE PERIODO - SOATERM</a:t>
            </a:r>
            <a:endParaRPr lang="es-PE" sz="2800" b="1" dirty="0">
              <a:latin typeface="Montserrat" pitchFamily="2" charset="0"/>
            </a:endParaRPr>
          </a:p>
        </p:txBody>
      </p:sp>
      <p:sp>
        <p:nvSpPr>
          <p:cNvPr id="8" name="Rectángulo 7">
            <a:extLst>
              <a:ext uri="{FF2B5EF4-FFF2-40B4-BE49-F238E27FC236}">
                <a16:creationId xmlns:a16="http://schemas.microsoft.com/office/drawing/2014/main" id="{A16BCE08-E23C-F264-A6E3-E4019979D2E2}"/>
              </a:ext>
            </a:extLst>
          </p:cNvPr>
          <p:cNvSpPr/>
          <p:nvPr/>
        </p:nvSpPr>
        <p:spPr>
          <a:xfrm>
            <a:off x="7217152" y="241540"/>
            <a:ext cx="4974847" cy="445583"/>
          </a:xfrm>
          <a:prstGeom prst="rect">
            <a:avLst/>
          </a:prstGeom>
          <a:gradFill flip="none" rotWithShape="1">
            <a:gsLst>
              <a:gs pos="0">
                <a:schemeClr val="accent6">
                  <a:lumMod val="0"/>
                  <a:lumOff val="100000"/>
                </a:schemeClr>
              </a:gs>
              <a:gs pos="66000">
                <a:schemeClr val="accent6">
                  <a:lumMod val="100000"/>
                </a:schemeClr>
              </a:gs>
            </a:gsLst>
            <a:lin ang="0" scaled="1"/>
            <a:tileRect/>
          </a:gra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s-PE"/>
          </a:p>
        </p:txBody>
      </p:sp>
      <p:sp>
        <p:nvSpPr>
          <p:cNvPr id="6" name="CuadroTexto 5">
            <a:extLst>
              <a:ext uri="{FF2B5EF4-FFF2-40B4-BE49-F238E27FC236}">
                <a16:creationId xmlns:a16="http://schemas.microsoft.com/office/drawing/2014/main" id="{AC33DC36-253A-547B-7A30-A152C2F6B4CE}"/>
              </a:ext>
            </a:extLst>
          </p:cNvPr>
          <p:cNvSpPr txBox="1"/>
          <p:nvPr/>
        </p:nvSpPr>
        <p:spPr>
          <a:xfrm>
            <a:off x="4528936" y="6386396"/>
            <a:ext cx="3134128" cy="276999"/>
          </a:xfrm>
          <a:prstGeom prst="rect">
            <a:avLst/>
          </a:prstGeom>
          <a:noFill/>
        </p:spPr>
        <p:txBody>
          <a:bodyPr wrap="none" rtlCol="0">
            <a:spAutoFit/>
          </a:bodyPr>
          <a:lstStyle/>
          <a:p>
            <a:pPr algn="ctr"/>
            <a:r>
              <a:rPr lang="es-ES" sz="1200" i="1" dirty="0"/>
              <a:t>Elaborado por: Ing. Liliana Ocampo Moreno</a:t>
            </a:r>
            <a:endParaRPr lang="es-PE" sz="1200" i="1" dirty="0"/>
          </a:p>
        </p:txBody>
      </p:sp>
      <p:sp>
        <p:nvSpPr>
          <p:cNvPr id="10" name="Rectángulo 9">
            <a:extLst>
              <a:ext uri="{FF2B5EF4-FFF2-40B4-BE49-F238E27FC236}">
                <a16:creationId xmlns:a16="http://schemas.microsoft.com/office/drawing/2014/main" id="{2B1BA150-3413-463D-A871-AD0D4BFB84B8}"/>
              </a:ext>
            </a:extLst>
          </p:cNvPr>
          <p:cNvSpPr/>
          <p:nvPr/>
        </p:nvSpPr>
        <p:spPr>
          <a:xfrm>
            <a:off x="431318" y="2471097"/>
            <a:ext cx="11217913" cy="678147"/>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11" name="Rectángulo: esquinas redondeadas 10">
            <a:extLst>
              <a:ext uri="{FF2B5EF4-FFF2-40B4-BE49-F238E27FC236}">
                <a16:creationId xmlns:a16="http://schemas.microsoft.com/office/drawing/2014/main" id="{A575822F-7748-4C2B-AFD9-27499A4186F7}"/>
              </a:ext>
            </a:extLst>
          </p:cNvPr>
          <p:cNvSpPr/>
          <p:nvPr/>
        </p:nvSpPr>
        <p:spPr>
          <a:xfrm>
            <a:off x="5316268" y="3209994"/>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s-ES" sz="1100" b="1" dirty="0"/>
              <a:t>5</a:t>
            </a:r>
            <a:endParaRPr lang="es-PE" sz="1100" b="1" dirty="0"/>
          </a:p>
        </p:txBody>
      </p:sp>
      <p:sp>
        <p:nvSpPr>
          <p:cNvPr id="12" name="CuadroTexto 11">
            <a:hlinkClick r:id="rId5" action="ppaction://hlinksldjump"/>
            <a:extLst>
              <a:ext uri="{FF2B5EF4-FFF2-40B4-BE49-F238E27FC236}">
                <a16:creationId xmlns:a16="http://schemas.microsoft.com/office/drawing/2014/main" id="{9351EBF4-6A07-45AB-80EF-A0B12AD1D02C}"/>
              </a:ext>
            </a:extLst>
          </p:cNvPr>
          <p:cNvSpPr txBox="1"/>
          <p:nvPr/>
        </p:nvSpPr>
        <p:spPr>
          <a:xfrm>
            <a:off x="1956618" y="3540043"/>
            <a:ext cx="9615950" cy="2493526"/>
          </a:xfrm>
          <a:prstGeom prst="roundRect">
            <a:avLst>
              <a:gd name="adj" fmla="val 7573"/>
            </a:avLst>
          </a:prstGeom>
          <a:solidFill>
            <a:srgbClr val="7030A0"/>
          </a:solidFill>
        </p:spPr>
        <p:txBody>
          <a:bodyPr wrap="square">
            <a:spAutoFit/>
          </a:bodyPr>
          <a:lstStyle/>
          <a:p>
            <a:pPr>
              <a:spcAft>
                <a:spcPts val="600"/>
              </a:spcAft>
            </a:pPr>
            <a:r>
              <a:rPr lang="es-ES" sz="1100" dirty="0">
                <a:solidFill>
                  <a:srgbClr val="FFFFFF"/>
                </a:solidFill>
              </a:rPr>
              <a:t>En el panel </a:t>
            </a:r>
            <a:r>
              <a:rPr lang="es-ES" sz="1100" b="1" dirty="0">
                <a:solidFill>
                  <a:srgbClr val="92D050"/>
                </a:solidFill>
              </a:rPr>
              <a:t>Controles de buscar catálogo</a:t>
            </a:r>
            <a:r>
              <a:rPr lang="es-ES" sz="1100" dirty="0">
                <a:solidFill>
                  <a:srgbClr val="FFFFFF"/>
                </a:solidFill>
              </a:rPr>
              <a:t>, se deben seleccionar aquellos criterios que se consideren conveniente. Estas opciones </a:t>
            </a:r>
            <a:r>
              <a:rPr lang="es-ES" sz="1100" b="1" dirty="0">
                <a:solidFill>
                  <a:srgbClr val="FFFFFF"/>
                </a:solidFill>
              </a:rPr>
              <a:t>no cambian los cursos ni su configuración académica</a:t>
            </a:r>
            <a:r>
              <a:rPr lang="es-ES" sz="1100" dirty="0">
                <a:solidFill>
                  <a:srgbClr val="FFFFFF"/>
                </a:solidFill>
              </a:rPr>
              <a:t>. Principalmente determinan </a:t>
            </a:r>
            <a:r>
              <a:rPr lang="es-ES" sz="1100" b="1" dirty="0">
                <a:solidFill>
                  <a:srgbClr val="FFFFFF"/>
                </a:solidFill>
              </a:rPr>
              <a:t>qué filtros y qué información verá el usuario al buscar cursos en el catálogo web.</a:t>
            </a:r>
          </a:p>
          <a:p>
            <a:pPr marL="171450" indent="-171450">
              <a:spcAft>
                <a:spcPts val="600"/>
              </a:spcAft>
              <a:buFont typeface="Arial" panose="020B0604020202020204" pitchFamily="34" charset="0"/>
              <a:buChar char="•"/>
            </a:pPr>
            <a:r>
              <a:rPr lang="es-ES" sz="1100" b="1" dirty="0">
                <a:solidFill>
                  <a:srgbClr val="FFFFFF"/>
                </a:solidFill>
              </a:rPr>
              <a:t>Buscar por nivel:</a:t>
            </a:r>
            <a:r>
              <a:rPr lang="es-ES" sz="1100" dirty="0">
                <a:solidFill>
                  <a:srgbClr val="FFFFFF"/>
                </a:solidFill>
              </a:rPr>
              <a:t> Permite filtrar cursos según el nivel académico. Ejemplo: Pregrado, posgrado, centros empresariales, etc.</a:t>
            </a:r>
          </a:p>
          <a:p>
            <a:pPr marL="171450" indent="-171450">
              <a:spcAft>
                <a:spcPts val="600"/>
              </a:spcAft>
              <a:buFont typeface="Arial" panose="020B0604020202020204" pitchFamily="34" charset="0"/>
              <a:buChar char="•"/>
            </a:pPr>
            <a:r>
              <a:rPr lang="es-ES" sz="1100" b="1" dirty="0">
                <a:solidFill>
                  <a:srgbClr val="FFFFFF"/>
                </a:solidFill>
              </a:rPr>
              <a:t>Buscar por tipo de horario:</a:t>
            </a:r>
            <a:r>
              <a:rPr lang="es-ES" sz="1100" dirty="0">
                <a:solidFill>
                  <a:srgbClr val="FFFFFF"/>
                </a:solidFill>
              </a:rPr>
              <a:t> Permite buscar cursos según el tipo de horario configurado. Ejemplo: Diurno, nocturno, etc.</a:t>
            </a:r>
          </a:p>
          <a:p>
            <a:pPr marL="171450" indent="-171450">
              <a:spcAft>
                <a:spcPts val="600"/>
              </a:spcAft>
              <a:buFont typeface="Arial" panose="020B0604020202020204" pitchFamily="34" charset="0"/>
              <a:buChar char="•"/>
            </a:pPr>
            <a:r>
              <a:rPr lang="es-ES" sz="1100" b="1" dirty="0">
                <a:solidFill>
                  <a:srgbClr val="FFFFFF"/>
                </a:solidFill>
              </a:rPr>
              <a:t>Buscar por escuela: </a:t>
            </a:r>
            <a:r>
              <a:rPr lang="es-ES" sz="1100" dirty="0">
                <a:solidFill>
                  <a:srgbClr val="FFFFFF"/>
                </a:solidFill>
              </a:rPr>
              <a:t>Permite filtrar los cursos por programa académico.</a:t>
            </a:r>
          </a:p>
          <a:p>
            <a:pPr marL="171450" indent="-171450">
              <a:spcAft>
                <a:spcPts val="600"/>
              </a:spcAft>
              <a:buFont typeface="Arial" panose="020B0604020202020204" pitchFamily="34" charset="0"/>
              <a:buChar char="•"/>
            </a:pPr>
            <a:r>
              <a:rPr lang="es-ES" sz="1100" b="1" dirty="0">
                <a:solidFill>
                  <a:srgbClr val="FFFFFF"/>
                </a:solidFill>
              </a:rPr>
              <a:t>Buscar por división:</a:t>
            </a:r>
            <a:r>
              <a:rPr lang="es-ES" sz="1100" dirty="0">
                <a:solidFill>
                  <a:srgbClr val="FFFFFF"/>
                </a:solidFill>
              </a:rPr>
              <a:t> Permite buscar cursos según la división académica a la que pertenecen.</a:t>
            </a:r>
          </a:p>
          <a:p>
            <a:pPr marL="171450" indent="-171450">
              <a:spcAft>
                <a:spcPts val="600"/>
              </a:spcAft>
              <a:buFont typeface="Arial" panose="020B0604020202020204" pitchFamily="34" charset="0"/>
              <a:buChar char="•"/>
            </a:pPr>
            <a:r>
              <a:rPr lang="es-ES" sz="1100" b="1" dirty="0">
                <a:solidFill>
                  <a:srgbClr val="FFFFFF"/>
                </a:solidFill>
              </a:rPr>
              <a:t>Buscar por departamento: </a:t>
            </a:r>
            <a:r>
              <a:rPr lang="es-ES" sz="1100" dirty="0">
                <a:solidFill>
                  <a:srgbClr val="FFFFFF"/>
                </a:solidFill>
              </a:rPr>
              <a:t>Permite buscar cursos según el departamento académico responsable.</a:t>
            </a:r>
          </a:p>
          <a:p>
            <a:pPr marL="171450" indent="-171450">
              <a:spcAft>
                <a:spcPts val="600"/>
              </a:spcAft>
              <a:buFont typeface="Arial" panose="020B0604020202020204" pitchFamily="34" charset="0"/>
              <a:buChar char="•"/>
            </a:pPr>
            <a:r>
              <a:rPr lang="es-ES" sz="1100" b="1" dirty="0">
                <a:solidFill>
                  <a:srgbClr val="FFFFFF"/>
                </a:solidFill>
              </a:rPr>
              <a:t>Buscar por atributo de curso:</a:t>
            </a:r>
            <a:r>
              <a:rPr lang="es-ES" sz="1100" dirty="0">
                <a:solidFill>
                  <a:srgbClr val="FFFFFF"/>
                </a:solidFill>
              </a:rPr>
              <a:t> Permite buscar cursos que tengan determinados atributos configurados.</a:t>
            </a:r>
          </a:p>
          <a:p>
            <a:pPr marL="171450" indent="-171450">
              <a:spcAft>
                <a:spcPts val="600"/>
              </a:spcAft>
              <a:buFont typeface="Arial" panose="020B0604020202020204" pitchFamily="34" charset="0"/>
              <a:buChar char="•"/>
            </a:pPr>
            <a:r>
              <a:rPr lang="es-ES" sz="1100" b="1" dirty="0">
                <a:solidFill>
                  <a:srgbClr val="FFFFFF"/>
                </a:solidFill>
              </a:rPr>
              <a:t>Desplegar título largo de curso: </a:t>
            </a:r>
            <a:r>
              <a:rPr lang="es-ES" sz="1100" dirty="0">
                <a:solidFill>
                  <a:srgbClr val="FFFFFF"/>
                </a:solidFill>
              </a:rPr>
              <a:t>Muestra el </a:t>
            </a:r>
            <a:r>
              <a:rPr lang="es-ES" sz="1100" b="1" dirty="0">
                <a:solidFill>
                  <a:srgbClr val="FFFFFF"/>
                </a:solidFill>
              </a:rPr>
              <a:t>título completo/largo</a:t>
            </a:r>
            <a:r>
              <a:rPr lang="es-ES" sz="1100" dirty="0">
                <a:solidFill>
                  <a:srgbClr val="FFFFFF"/>
                </a:solidFill>
              </a:rPr>
              <a:t> del curso en resultados.</a:t>
            </a:r>
          </a:p>
          <a:p>
            <a:pPr marL="171450" indent="-171450">
              <a:spcAft>
                <a:spcPts val="600"/>
              </a:spcAft>
              <a:buFont typeface="Arial" panose="020B0604020202020204" pitchFamily="34" charset="0"/>
              <a:buChar char="•"/>
            </a:pPr>
            <a:r>
              <a:rPr lang="es-ES" sz="1100" b="1" dirty="0">
                <a:solidFill>
                  <a:srgbClr val="FFFFFF"/>
                </a:solidFill>
              </a:rPr>
              <a:t>Desplegar descripción larga de curso:</a:t>
            </a:r>
            <a:r>
              <a:rPr lang="es-ES" sz="1100" dirty="0">
                <a:solidFill>
                  <a:srgbClr val="FFFFFF"/>
                </a:solidFill>
              </a:rPr>
              <a:t> Muestra la </a:t>
            </a:r>
            <a:r>
              <a:rPr lang="es-ES" sz="1100" b="1" dirty="0">
                <a:solidFill>
                  <a:srgbClr val="FFFFFF"/>
                </a:solidFill>
              </a:rPr>
              <a:t>descripción detallada</a:t>
            </a:r>
            <a:r>
              <a:rPr lang="es-ES" sz="1100" dirty="0">
                <a:solidFill>
                  <a:srgbClr val="FFFFFF"/>
                </a:solidFill>
              </a:rPr>
              <a:t> del curso en los resultados.</a:t>
            </a:r>
            <a:endParaRPr lang="es-ES" sz="1100" b="1" dirty="0">
              <a:solidFill>
                <a:srgbClr val="FFFFFF"/>
              </a:solidFill>
            </a:endParaRPr>
          </a:p>
        </p:txBody>
      </p:sp>
    </p:spTree>
    <p:extLst>
      <p:ext uri="{BB962C8B-B14F-4D97-AF65-F5344CB8AC3E}">
        <p14:creationId xmlns:p14="http://schemas.microsoft.com/office/powerpoint/2010/main" val="335029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heel(1)">
                                      <p:cBhvr>
                                        <p:cTn id="7" dur="2000"/>
                                        <p:tgtEl>
                                          <p:spTgt spid="10"/>
                                        </p:tgtEl>
                                      </p:cBhvr>
                                    </p:animEffect>
                                  </p:childTnLst>
                                </p:cTn>
                              </p:par>
                            </p:childTnLst>
                          </p:cTn>
                        </p:par>
                        <p:par>
                          <p:cTn id="8" fill="hold">
                            <p:stCondLst>
                              <p:cond delay="2000"/>
                            </p:stCondLst>
                            <p:childTnLst>
                              <p:par>
                                <p:cTn id="9" presetID="53" presetClass="entr" presetSubtype="16"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p:cTn id="11" dur="500" fill="hold"/>
                                        <p:tgtEl>
                                          <p:spTgt spid="11"/>
                                        </p:tgtEl>
                                        <p:attrNameLst>
                                          <p:attrName>ppt_w</p:attrName>
                                        </p:attrNameLst>
                                      </p:cBhvr>
                                      <p:tavLst>
                                        <p:tav tm="0">
                                          <p:val>
                                            <p:fltVal val="0"/>
                                          </p:val>
                                        </p:tav>
                                        <p:tav tm="100000">
                                          <p:val>
                                            <p:strVal val="#ppt_w"/>
                                          </p:val>
                                        </p:tav>
                                      </p:tavLst>
                                    </p:anim>
                                    <p:anim calcmode="lin" valueType="num">
                                      <p:cBhvr>
                                        <p:cTn id="12" dur="500" fill="hold"/>
                                        <p:tgtEl>
                                          <p:spTgt spid="11"/>
                                        </p:tgtEl>
                                        <p:attrNameLst>
                                          <p:attrName>ppt_h</p:attrName>
                                        </p:attrNameLst>
                                      </p:cBhvr>
                                      <p:tavLst>
                                        <p:tav tm="0">
                                          <p:val>
                                            <p:fltVal val="0"/>
                                          </p:val>
                                        </p:tav>
                                        <p:tav tm="100000">
                                          <p:val>
                                            <p:strVal val="#ppt_h"/>
                                          </p:val>
                                        </p:tav>
                                      </p:tavLst>
                                    </p:anim>
                                    <p:animEffect transition="in" filter="fade">
                                      <p:cBhvr>
                                        <p:cTn id="13" dur="500"/>
                                        <p:tgtEl>
                                          <p:spTgt spid="11"/>
                                        </p:tgtEl>
                                      </p:cBhvr>
                                    </p:animEffect>
                                  </p:childTnLst>
                                </p:cTn>
                              </p:par>
                            </p:childTnLst>
                          </p:cTn>
                        </p:par>
                        <p:par>
                          <p:cTn id="14" fill="hold">
                            <p:stCondLst>
                              <p:cond delay="2500"/>
                            </p:stCondLst>
                            <p:childTnLst>
                              <p:par>
                                <p:cTn id="15" presetID="10" presetClass="entr" presetSubtype="0" fill="hold" grpId="0" nodeType="after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7CAB2B86-4E3B-C98C-411E-958BEFE187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2528" y="6154887"/>
            <a:ext cx="2234242" cy="525923"/>
          </a:xfrm>
          <a:prstGeom prst="rect">
            <a:avLst/>
          </a:prstGeom>
        </p:spPr>
      </p:pic>
      <p:pic>
        <p:nvPicPr>
          <p:cNvPr id="4" name="Picture 4" descr="Ellucian Student Reseñas 2026: Detalles, Precios y Características | G2">
            <a:extLst>
              <a:ext uri="{FF2B5EF4-FFF2-40B4-BE49-F238E27FC236}">
                <a16:creationId xmlns:a16="http://schemas.microsoft.com/office/drawing/2014/main" id="{7352B780-8C7C-7B91-F3EE-5E6EF2C2E4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98101" y="5901780"/>
            <a:ext cx="1821371" cy="956220"/>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0AEBA78F-8C98-5D4D-384F-95B753FFADE4}"/>
              </a:ext>
            </a:extLst>
          </p:cNvPr>
          <p:cNvSpPr txBox="1"/>
          <p:nvPr/>
        </p:nvSpPr>
        <p:spPr>
          <a:xfrm>
            <a:off x="431320" y="241540"/>
            <a:ext cx="6785832" cy="523220"/>
          </a:xfrm>
          <a:prstGeom prst="rect">
            <a:avLst/>
          </a:prstGeom>
          <a:noFill/>
        </p:spPr>
        <p:txBody>
          <a:bodyPr wrap="none" rtlCol="0">
            <a:spAutoFit/>
          </a:bodyPr>
          <a:lstStyle/>
          <a:p>
            <a:r>
              <a:rPr lang="es-ES" sz="2800" b="1" dirty="0">
                <a:latin typeface="Montserrat" pitchFamily="2" charset="0"/>
              </a:rPr>
              <a:t>CONTROL DE PERIODO - SOATERM</a:t>
            </a:r>
            <a:endParaRPr lang="es-PE" sz="2800" b="1" dirty="0">
              <a:latin typeface="Montserrat" pitchFamily="2" charset="0"/>
            </a:endParaRPr>
          </a:p>
        </p:txBody>
      </p:sp>
      <p:sp>
        <p:nvSpPr>
          <p:cNvPr id="8" name="Rectángulo 7">
            <a:extLst>
              <a:ext uri="{FF2B5EF4-FFF2-40B4-BE49-F238E27FC236}">
                <a16:creationId xmlns:a16="http://schemas.microsoft.com/office/drawing/2014/main" id="{A16BCE08-E23C-F264-A6E3-E4019979D2E2}"/>
              </a:ext>
            </a:extLst>
          </p:cNvPr>
          <p:cNvSpPr/>
          <p:nvPr/>
        </p:nvSpPr>
        <p:spPr>
          <a:xfrm>
            <a:off x="7217152" y="241540"/>
            <a:ext cx="4974847" cy="445583"/>
          </a:xfrm>
          <a:prstGeom prst="rect">
            <a:avLst/>
          </a:prstGeom>
          <a:gradFill flip="none" rotWithShape="1">
            <a:gsLst>
              <a:gs pos="0">
                <a:schemeClr val="accent6">
                  <a:lumMod val="0"/>
                  <a:lumOff val="100000"/>
                </a:schemeClr>
              </a:gs>
              <a:gs pos="66000">
                <a:schemeClr val="accent6">
                  <a:lumMod val="100000"/>
                </a:schemeClr>
              </a:gs>
            </a:gsLst>
            <a:lin ang="0" scaled="1"/>
            <a:tileRect/>
          </a:gra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s-PE"/>
          </a:p>
        </p:txBody>
      </p:sp>
      <p:sp>
        <p:nvSpPr>
          <p:cNvPr id="6" name="CuadroTexto 5">
            <a:extLst>
              <a:ext uri="{FF2B5EF4-FFF2-40B4-BE49-F238E27FC236}">
                <a16:creationId xmlns:a16="http://schemas.microsoft.com/office/drawing/2014/main" id="{AC33DC36-253A-547B-7A30-A152C2F6B4CE}"/>
              </a:ext>
            </a:extLst>
          </p:cNvPr>
          <p:cNvSpPr txBox="1"/>
          <p:nvPr/>
        </p:nvSpPr>
        <p:spPr>
          <a:xfrm>
            <a:off x="4528936" y="6386396"/>
            <a:ext cx="3134128" cy="276999"/>
          </a:xfrm>
          <a:prstGeom prst="rect">
            <a:avLst/>
          </a:prstGeom>
          <a:noFill/>
        </p:spPr>
        <p:txBody>
          <a:bodyPr wrap="none" rtlCol="0">
            <a:spAutoFit/>
          </a:bodyPr>
          <a:lstStyle/>
          <a:p>
            <a:pPr algn="ctr"/>
            <a:r>
              <a:rPr lang="es-ES" sz="1200" i="1" dirty="0"/>
              <a:t>Elaborado por: Ing. Liliana Ocampo Moreno</a:t>
            </a:r>
            <a:endParaRPr lang="es-PE" sz="1200" i="1" dirty="0"/>
          </a:p>
        </p:txBody>
      </p:sp>
      <p:pic>
        <p:nvPicPr>
          <p:cNvPr id="14" name="Imagen 13">
            <a:extLst>
              <a:ext uri="{FF2B5EF4-FFF2-40B4-BE49-F238E27FC236}">
                <a16:creationId xmlns:a16="http://schemas.microsoft.com/office/drawing/2014/main" id="{98D612A9-9614-B704-B748-267D39B1FB46}"/>
              </a:ext>
            </a:extLst>
          </p:cNvPr>
          <p:cNvPicPr>
            <a:picLocks noChangeAspect="1"/>
          </p:cNvPicPr>
          <p:nvPr/>
        </p:nvPicPr>
        <p:blipFill>
          <a:blip r:embed="rId4"/>
          <a:stretch>
            <a:fillRect/>
          </a:stretch>
        </p:blipFill>
        <p:spPr>
          <a:xfrm>
            <a:off x="431318" y="1043871"/>
            <a:ext cx="11368313" cy="4786658"/>
          </a:xfrm>
          <a:prstGeom prst="rect">
            <a:avLst/>
          </a:prstGeom>
        </p:spPr>
      </p:pic>
      <p:sp>
        <p:nvSpPr>
          <p:cNvPr id="2" name="Rectángulo 1">
            <a:extLst>
              <a:ext uri="{FF2B5EF4-FFF2-40B4-BE49-F238E27FC236}">
                <a16:creationId xmlns:a16="http://schemas.microsoft.com/office/drawing/2014/main" id="{AB48E107-54EC-1083-A5C1-635B1A6E6C5A}"/>
              </a:ext>
            </a:extLst>
          </p:cNvPr>
          <p:cNvSpPr/>
          <p:nvPr/>
        </p:nvSpPr>
        <p:spPr>
          <a:xfrm>
            <a:off x="431318" y="3435705"/>
            <a:ext cx="11217913" cy="909990"/>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5" name="Rectángulo: esquinas redondeadas 4">
            <a:extLst>
              <a:ext uri="{FF2B5EF4-FFF2-40B4-BE49-F238E27FC236}">
                <a16:creationId xmlns:a16="http://schemas.microsoft.com/office/drawing/2014/main" id="{9B997763-2214-4008-B0A1-C0A35C01A8FA}"/>
              </a:ext>
            </a:extLst>
          </p:cNvPr>
          <p:cNvSpPr/>
          <p:nvPr/>
        </p:nvSpPr>
        <p:spPr>
          <a:xfrm>
            <a:off x="5208438" y="3093171"/>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s-ES" sz="1100" b="1" dirty="0"/>
              <a:t>6</a:t>
            </a:r>
            <a:endParaRPr lang="es-PE" sz="1100" b="1" dirty="0"/>
          </a:p>
        </p:txBody>
      </p:sp>
      <p:sp>
        <p:nvSpPr>
          <p:cNvPr id="9" name="CuadroTexto 8">
            <a:hlinkClick r:id="rId5" action="ppaction://hlinksldjump"/>
            <a:extLst>
              <a:ext uri="{FF2B5EF4-FFF2-40B4-BE49-F238E27FC236}">
                <a16:creationId xmlns:a16="http://schemas.microsoft.com/office/drawing/2014/main" id="{FA56F885-E7C3-DB22-1726-25B1926512B8}"/>
              </a:ext>
            </a:extLst>
          </p:cNvPr>
          <p:cNvSpPr txBox="1"/>
          <p:nvPr/>
        </p:nvSpPr>
        <p:spPr>
          <a:xfrm>
            <a:off x="855081" y="973806"/>
            <a:ext cx="10520785" cy="2061954"/>
          </a:xfrm>
          <a:prstGeom prst="roundRect">
            <a:avLst>
              <a:gd name="adj" fmla="val 7573"/>
            </a:avLst>
          </a:prstGeom>
          <a:solidFill>
            <a:srgbClr val="7030A0"/>
          </a:solidFill>
        </p:spPr>
        <p:txBody>
          <a:bodyPr wrap="square">
            <a:spAutoFit/>
          </a:bodyPr>
          <a:lstStyle/>
          <a:p>
            <a:pPr>
              <a:spcAft>
                <a:spcPts val="600"/>
              </a:spcAft>
            </a:pPr>
            <a:r>
              <a:rPr lang="es-ES" sz="1100" dirty="0">
                <a:solidFill>
                  <a:srgbClr val="FFFFFF"/>
                </a:solidFill>
              </a:rPr>
              <a:t>En el panel </a:t>
            </a:r>
            <a:r>
              <a:rPr lang="es-ES" sz="1100" b="1" dirty="0">
                <a:solidFill>
                  <a:srgbClr val="92D050"/>
                </a:solidFill>
              </a:rPr>
              <a:t>Controles par buscar horario</a:t>
            </a:r>
            <a:r>
              <a:rPr lang="es-ES" sz="1100" dirty="0">
                <a:solidFill>
                  <a:srgbClr val="FFFFFF"/>
                </a:solidFill>
              </a:rPr>
              <a:t>, se deben seleccionar aquellos criterios que se consideren conveniente.</a:t>
            </a:r>
          </a:p>
          <a:p>
            <a:pPr marL="171450" indent="-171450">
              <a:spcAft>
                <a:spcPts val="600"/>
              </a:spcAft>
              <a:buFont typeface="Arial" panose="020B0604020202020204" pitchFamily="34" charset="0"/>
              <a:buChar char="•"/>
            </a:pPr>
            <a:r>
              <a:rPr lang="es-ES" sz="1100" b="1" dirty="0">
                <a:solidFill>
                  <a:srgbClr val="FFFFFF"/>
                </a:solidFill>
              </a:rPr>
              <a:t>Buscar por tipo de horario:</a:t>
            </a:r>
            <a:r>
              <a:rPr lang="es-ES" sz="1100" dirty="0">
                <a:solidFill>
                  <a:srgbClr val="FFFFFF"/>
                </a:solidFill>
              </a:rPr>
              <a:t> Permite buscar cursos según el tipo de horario configurado. Ejemplo: Diurno, nocturno, etc.</a:t>
            </a:r>
          </a:p>
          <a:p>
            <a:pPr marL="171450" indent="-171450">
              <a:spcAft>
                <a:spcPts val="600"/>
              </a:spcAft>
              <a:buFont typeface="Arial" panose="020B0604020202020204" pitchFamily="34" charset="0"/>
              <a:buChar char="•"/>
            </a:pPr>
            <a:r>
              <a:rPr lang="es-ES" sz="1100" b="1" dirty="0">
                <a:solidFill>
                  <a:srgbClr val="FFFFFF"/>
                </a:solidFill>
              </a:rPr>
              <a:t>Buscar por campus:</a:t>
            </a:r>
            <a:r>
              <a:rPr lang="es-ES" sz="1100" dirty="0">
                <a:solidFill>
                  <a:srgbClr val="FFFFFF"/>
                </a:solidFill>
              </a:rPr>
              <a:t> Permite seleccionar el campus donde se dicta la sección.</a:t>
            </a:r>
            <a:endParaRPr lang="es-ES" sz="1100" b="1" dirty="0">
              <a:solidFill>
                <a:srgbClr val="FFFFFF"/>
              </a:solidFill>
            </a:endParaRPr>
          </a:p>
          <a:p>
            <a:pPr marL="171450" indent="-171450">
              <a:spcAft>
                <a:spcPts val="600"/>
              </a:spcAft>
              <a:buFont typeface="Arial" panose="020B0604020202020204" pitchFamily="34" charset="0"/>
              <a:buChar char="•"/>
            </a:pPr>
            <a:r>
              <a:rPr lang="es-ES" sz="1100" b="1" dirty="0">
                <a:solidFill>
                  <a:srgbClr val="FFFFFF"/>
                </a:solidFill>
              </a:rPr>
              <a:t>Buscar por nivel:</a:t>
            </a:r>
            <a:r>
              <a:rPr lang="es-ES" sz="1100" dirty="0">
                <a:solidFill>
                  <a:srgbClr val="FFFFFF"/>
                </a:solidFill>
              </a:rPr>
              <a:t> Permite filtrar cursos según el nivel académico. Ejemplo: Pregrado, posgrado, centros empresariales, etc.</a:t>
            </a:r>
          </a:p>
          <a:p>
            <a:pPr marL="171450" indent="-171450">
              <a:spcAft>
                <a:spcPts val="600"/>
              </a:spcAft>
              <a:buFont typeface="Arial" panose="020B0604020202020204" pitchFamily="34" charset="0"/>
              <a:buChar char="•"/>
            </a:pPr>
            <a:r>
              <a:rPr lang="es-ES" sz="1100" b="1" dirty="0">
                <a:solidFill>
                  <a:srgbClr val="FFFFFF"/>
                </a:solidFill>
              </a:rPr>
              <a:t>Buscar por atributo de curso:</a:t>
            </a:r>
            <a:r>
              <a:rPr lang="es-ES" sz="1100" dirty="0">
                <a:solidFill>
                  <a:srgbClr val="FFFFFF"/>
                </a:solidFill>
              </a:rPr>
              <a:t> Permite buscar cursos que tengan determinados atributos configurados.</a:t>
            </a:r>
          </a:p>
          <a:p>
            <a:pPr marL="171450" indent="-171450">
              <a:spcAft>
                <a:spcPts val="600"/>
              </a:spcAft>
              <a:buFont typeface="Arial" panose="020B0604020202020204" pitchFamily="34" charset="0"/>
              <a:buChar char="•"/>
            </a:pPr>
            <a:r>
              <a:rPr lang="es-ES" sz="1100" b="1" dirty="0">
                <a:solidFill>
                  <a:srgbClr val="FFFFFF"/>
                </a:solidFill>
              </a:rPr>
              <a:t>Buscar por instructor:</a:t>
            </a:r>
            <a:r>
              <a:rPr lang="es-ES" sz="1100" dirty="0">
                <a:solidFill>
                  <a:srgbClr val="FFFFFF"/>
                </a:solidFill>
              </a:rPr>
              <a:t> Permite buscar secciones por el docente que las dicta.</a:t>
            </a:r>
          </a:p>
          <a:p>
            <a:pPr marL="171450" indent="-171450">
              <a:spcAft>
                <a:spcPts val="600"/>
              </a:spcAft>
              <a:buFont typeface="Arial" panose="020B0604020202020204" pitchFamily="34" charset="0"/>
              <a:buChar char="•"/>
            </a:pPr>
            <a:r>
              <a:rPr lang="es-ES" sz="1100" b="1" dirty="0">
                <a:solidFill>
                  <a:srgbClr val="FFFFFF"/>
                </a:solidFill>
              </a:rPr>
              <a:t>Buscar por sesión:</a:t>
            </a:r>
            <a:r>
              <a:rPr lang="es-ES" sz="1100" dirty="0">
                <a:solidFill>
                  <a:srgbClr val="FFFFFF"/>
                </a:solidFill>
              </a:rPr>
              <a:t> Permite filtrar por una sesión académica configurada</a:t>
            </a:r>
            <a:endParaRPr lang="es-ES" sz="1100" b="1" dirty="0">
              <a:solidFill>
                <a:srgbClr val="FFFFFF"/>
              </a:solidFill>
            </a:endParaRPr>
          </a:p>
          <a:p>
            <a:pPr marL="171450" indent="-171450">
              <a:spcAft>
                <a:spcPts val="600"/>
              </a:spcAft>
              <a:buFont typeface="Arial" panose="020B0604020202020204" pitchFamily="34" charset="0"/>
              <a:buChar char="•"/>
            </a:pPr>
            <a:r>
              <a:rPr lang="es-ES" sz="1100" b="1" dirty="0">
                <a:solidFill>
                  <a:srgbClr val="FFFFFF"/>
                </a:solidFill>
              </a:rPr>
              <a:t>Buscar por método educativo:</a:t>
            </a:r>
            <a:r>
              <a:rPr lang="es-ES" sz="1100" dirty="0">
                <a:solidFill>
                  <a:srgbClr val="FFFFFF"/>
                </a:solidFill>
              </a:rPr>
              <a:t> Permite filtrar según la modalidad/método de enseñanza. Ejemplo: Presencial, virtual, etc.</a:t>
            </a:r>
          </a:p>
        </p:txBody>
      </p:sp>
      <p:sp>
        <p:nvSpPr>
          <p:cNvPr id="18" name="CuadroTexto 17">
            <a:hlinkClick r:id="rId5" action="ppaction://hlinksldjump"/>
            <a:extLst>
              <a:ext uri="{FF2B5EF4-FFF2-40B4-BE49-F238E27FC236}">
                <a16:creationId xmlns:a16="http://schemas.microsoft.com/office/drawing/2014/main" id="{4F8B5C3F-6E27-07AE-0863-4EDE43267FB6}"/>
              </a:ext>
            </a:extLst>
          </p:cNvPr>
          <p:cNvSpPr txBox="1"/>
          <p:nvPr/>
        </p:nvSpPr>
        <p:spPr>
          <a:xfrm>
            <a:off x="839926" y="4535055"/>
            <a:ext cx="10520785" cy="1214795"/>
          </a:xfrm>
          <a:prstGeom prst="roundRect">
            <a:avLst>
              <a:gd name="adj" fmla="val 7573"/>
            </a:avLst>
          </a:prstGeom>
          <a:solidFill>
            <a:srgbClr val="7030A0"/>
          </a:solidFill>
        </p:spPr>
        <p:txBody>
          <a:bodyPr wrap="square">
            <a:spAutoFit/>
          </a:bodyPr>
          <a:lstStyle/>
          <a:p>
            <a:pPr marL="171450" indent="-171450">
              <a:spcAft>
                <a:spcPts val="600"/>
              </a:spcAft>
              <a:buFont typeface="Arial" panose="020B0604020202020204" pitchFamily="34" charset="0"/>
              <a:buChar char="•"/>
            </a:pPr>
            <a:r>
              <a:rPr lang="es-ES" sz="1100" b="1" dirty="0">
                <a:solidFill>
                  <a:srgbClr val="FFFFFF"/>
                </a:solidFill>
              </a:rPr>
              <a:t>Desplegar sección cerrada: </a:t>
            </a:r>
            <a:r>
              <a:rPr lang="es-ES" sz="1100" dirty="0">
                <a:solidFill>
                  <a:srgbClr val="FFFFFF"/>
                </a:solidFill>
              </a:rPr>
              <a:t>Permite mostrar en los resultados las secciones que está cerradas. Ejemplo: Una sección sin cupos disponibles.</a:t>
            </a:r>
            <a:endParaRPr lang="es-ES" sz="1100" b="1" dirty="0">
              <a:solidFill>
                <a:srgbClr val="FFFFFF"/>
              </a:solidFill>
            </a:endParaRPr>
          </a:p>
          <a:p>
            <a:pPr marL="171450" indent="-171450">
              <a:spcAft>
                <a:spcPts val="600"/>
              </a:spcAft>
              <a:buFont typeface="Arial" panose="020B0604020202020204" pitchFamily="34" charset="0"/>
              <a:buChar char="•"/>
            </a:pPr>
            <a:r>
              <a:rPr lang="es-ES" sz="1100" b="1" dirty="0">
                <a:solidFill>
                  <a:srgbClr val="FFFFFF"/>
                </a:solidFill>
              </a:rPr>
              <a:t>Desplegar título largo de curso: </a:t>
            </a:r>
            <a:r>
              <a:rPr lang="es-ES" sz="1100" dirty="0">
                <a:solidFill>
                  <a:srgbClr val="FFFFFF"/>
                </a:solidFill>
              </a:rPr>
              <a:t>Muestra el </a:t>
            </a:r>
            <a:r>
              <a:rPr lang="es-ES" sz="1100" b="1" dirty="0">
                <a:solidFill>
                  <a:srgbClr val="FFFFFF"/>
                </a:solidFill>
              </a:rPr>
              <a:t>título completo/largo</a:t>
            </a:r>
            <a:r>
              <a:rPr lang="es-ES" sz="1100" dirty="0">
                <a:solidFill>
                  <a:srgbClr val="FFFFFF"/>
                </a:solidFill>
              </a:rPr>
              <a:t> del curso en resultados.</a:t>
            </a:r>
          </a:p>
          <a:p>
            <a:pPr marL="171450" indent="-171450">
              <a:spcAft>
                <a:spcPts val="600"/>
              </a:spcAft>
              <a:buFont typeface="Arial" panose="020B0604020202020204" pitchFamily="34" charset="0"/>
              <a:buChar char="•"/>
            </a:pPr>
            <a:r>
              <a:rPr lang="es-ES" sz="1100" b="1" dirty="0">
                <a:solidFill>
                  <a:srgbClr val="FFFFFF"/>
                </a:solidFill>
              </a:rPr>
              <a:t>Desplegar descripción larga de curso:</a:t>
            </a:r>
            <a:r>
              <a:rPr lang="es-ES" sz="1100" dirty="0">
                <a:solidFill>
                  <a:srgbClr val="FFFFFF"/>
                </a:solidFill>
              </a:rPr>
              <a:t> Muestra la </a:t>
            </a:r>
            <a:r>
              <a:rPr lang="es-ES" sz="1100" b="1" dirty="0">
                <a:solidFill>
                  <a:srgbClr val="FFFFFF"/>
                </a:solidFill>
              </a:rPr>
              <a:t>descripción detallada</a:t>
            </a:r>
            <a:r>
              <a:rPr lang="es-ES" sz="1100" dirty="0">
                <a:solidFill>
                  <a:srgbClr val="FFFFFF"/>
                </a:solidFill>
              </a:rPr>
              <a:t> del curso en los resultados.</a:t>
            </a:r>
          </a:p>
          <a:p>
            <a:pPr marL="171450" indent="-171450">
              <a:spcAft>
                <a:spcPts val="600"/>
              </a:spcAft>
              <a:buFont typeface="Arial" panose="020B0604020202020204" pitchFamily="34" charset="0"/>
              <a:buChar char="•"/>
            </a:pPr>
            <a:r>
              <a:rPr lang="es-ES" sz="1100" b="1" dirty="0">
                <a:solidFill>
                  <a:srgbClr val="FFFFFF"/>
                </a:solidFill>
              </a:rPr>
              <a:t>Buscar por duración (Solo aprendizaje abierto):</a:t>
            </a:r>
            <a:r>
              <a:rPr lang="es-ES" sz="1100" dirty="0">
                <a:solidFill>
                  <a:srgbClr val="FFFFFF"/>
                </a:solidFill>
              </a:rPr>
              <a:t> Permite buscar cursos según su duración cuando se utiliza </a:t>
            </a:r>
            <a:r>
              <a:rPr lang="es-ES" sz="1100" b="1" dirty="0">
                <a:solidFill>
                  <a:srgbClr val="FFFFFF"/>
                </a:solidFill>
              </a:rPr>
              <a:t>Aprendizaje Abierto</a:t>
            </a:r>
            <a:r>
              <a:rPr lang="es-ES" sz="1100" dirty="0">
                <a:solidFill>
                  <a:srgbClr val="FFFFFF"/>
                </a:solidFill>
              </a:rPr>
              <a:t> (modalidad que permite ofrecer cursos o actividades de aprendizaje con mayor flexibilidad, en los que la duración o estructura puede diferir de los periodos académicos tradicionales).</a:t>
            </a:r>
            <a:endParaRPr lang="es-ES" sz="1100" b="1" dirty="0">
              <a:solidFill>
                <a:srgbClr val="FFFFFF"/>
              </a:solidFill>
            </a:endParaRPr>
          </a:p>
        </p:txBody>
      </p:sp>
    </p:spTree>
    <p:extLst>
      <p:ext uri="{BB962C8B-B14F-4D97-AF65-F5344CB8AC3E}">
        <p14:creationId xmlns:p14="http://schemas.microsoft.com/office/powerpoint/2010/main" val="7657229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2000"/>
                                        <p:tgtEl>
                                          <p:spTgt spid="2"/>
                                        </p:tgtEl>
                                      </p:cBhvr>
                                    </p:animEffect>
                                  </p:childTnLst>
                                </p:cTn>
                              </p:par>
                            </p:childTnLst>
                          </p:cTn>
                        </p:par>
                        <p:par>
                          <p:cTn id="8" fill="hold">
                            <p:stCondLst>
                              <p:cond delay="2000"/>
                            </p:stCondLst>
                            <p:childTnLst>
                              <p:par>
                                <p:cTn id="9" presetID="53" presetClass="entr" presetSubtype="16"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p:cTn id="11" dur="500" fill="hold"/>
                                        <p:tgtEl>
                                          <p:spTgt spid="5"/>
                                        </p:tgtEl>
                                        <p:attrNameLst>
                                          <p:attrName>ppt_w</p:attrName>
                                        </p:attrNameLst>
                                      </p:cBhvr>
                                      <p:tavLst>
                                        <p:tav tm="0">
                                          <p:val>
                                            <p:fltVal val="0"/>
                                          </p:val>
                                        </p:tav>
                                        <p:tav tm="100000">
                                          <p:val>
                                            <p:strVal val="#ppt_w"/>
                                          </p:val>
                                        </p:tav>
                                      </p:tavLst>
                                    </p:anim>
                                    <p:anim calcmode="lin" valueType="num">
                                      <p:cBhvr>
                                        <p:cTn id="12" dur="500" fill="hold"/>
                                        <p:tgtEl>
                                          <p:spTgt spid="5"/>
                                        </p:tgtEl>
                                        <p:attrNameLst>
                                          <p:attrName>ppt_h</p:attrName>
                                        </p:attrNameLst>
                                      </p:cBhvr>
                                      <p:tavLst>
                                        <p:tav tm="0">
                                          <p:val>
                                            <p:fltVal val="0"/>
                                          </p:val>
                                        </p:tav>
                                        <p:tav tm="100000">
                                          <p:val>
                                            <p:strVal val="#ppt_h"/>
                                          </p:val>
                                        </p:tav>
                                      </p:tavLst>
                                    </p:anim>
                                    <p:animEffect transition="in" filter="fade">
                                      <p:cBhvr>
                                        <p:cTn id="13" dur="500"/>
                                        <p:tgtEl>
                                          <p:spTgt spid="5"/>
                                        </p:tgtEl>
                                      </p:cBhvr>
                                    </p:animEffect>
                                  </p:childTnLst>
                                </p:cTn>
                              </p:par>
                            </p:childTnLst>
                          </p:cTn>
                        </p:par>
                        <p:par>
                          <p:cTn id="14" fill="hold">
                            <p:stCondLst>
                              <p:cond delay="2500"/>
                            </p:stCondLst>
                            <p:childTnLst>
                              <p:par>
                                <p:cTn id="15" presetID="10" presetClass="entr" presetSubtype="0" fill="hold" grpId="0" nodeType="after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par>
                          <p:cTn id="18" fill="hold">
                            <p:stCondLst>
                              <p:cond delay="3000"/>
                            </p:stCondLst>
                            <p:childTnLst>
                              <p:par>
                                <p:cTn id="19" presetID="10" presetClass="entr" presetSubtype="0" fill="hold" grpId="0" nodeType="after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P spid="9" grpId="0" animBg="1"/>
      <p:bldP spid="18"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n 8">
            <a:extLst>
              <a:ext uri="{FF2B5EF4-FFF2-40B4-BE49-F238E27FC236}">
                <a16:creationId xmlns:a16="http://schemas.microsoft.com/office/drawing/2014/main" id="{D0FE018A-3AD8-06AC-B3AC-558965181CAA}"/>
              </a:ext>
            </a:extLst>
          </p:cNvPr>
          <p:cNvPicPr>
            <a:picLocks noChangeAspect="1"/>
          </p:cNvPicPr>
          <p:nvPr/>
        </p:nvPicPr>
        <p:blipFill>
          <a:blip r:embed="rId2"/>
          <a:stretch>
            <a:fillRect/>
          </a:stretch>
        </p:blipFill>
        <p:spPr>
          <a:xfrm>
            <a:off x="431318" y="1032063"/>
            <a:ext cx="11221894" cy="4748399"/>
          </a:xfrm>
          <a:prstGeom prst="rect">
            <a:avLst/>
          </a:prstGeom>
        </p:spPr>
      </p:pic>
      <p:pic>
        <p:nvPicPr>
          <p:cNvPr id="3" name="Imagen 2">
            <a:extLst>
              <a:ext uri="{FF2B5EF4-FFF2-40B4-BE49-F238E27FC236}">
                <a16:creationId xmlns:a16="http://schemas.microsoft.com/office/drawing/2014/main" id="{7CAB2B86-4E3B-C98C-411E-958BEFE187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2528" y="6154887"/>
            <a:ext cx="2234242" cy="525923"/>
          </a:xfrm>
          <a:prstGeom prst="rect">
            <a:avLst/>
          </a:prstGeom>
        </p:spPr>
      </p:pic>
      <p:pic>
        <p:nvPicPr>
          <p:cNvPr id="4" name="Picture 4" descr="Ellucian Student Reseñas 2026: Detalles, Precios y Características | G2">
            <a:extLst>
              <a:ext uri="{FF2B5EF4-FFF2-40B4-BE49-F238E27FC236}">
                <a16:creationId xmlns:a16="http://schemas.microsoft.com/office/drawing/2014/main" id="{7352B780-8C7C-7B91-F3EE-5E6EF2C2E46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98101" y="5901780"/>
            <a:ext cx="1821371" cy="956220"/>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0AEBA78F-8C98-5D4D-384F-95B753FFADE4}"/>
              </a:ext>
            </a:extLst>
          </p:cNvPr>
          <p:cNvSpPr txBox="1"/>
          <p:nvPr/>
        </p:nvSpPr>
        <p:spPr>
          <a:xfrm>
            <a:off x="431320" y="241540"/>
            <a:ext cx="6785832" cy="523220"/>
          </a:xfrm>
          <a:prstGeom prst="rect">
            <a:avLst/>
          </a:prstGeom>
          <a:noFill/>
        </p:spPr>
        <p:txBody>
          <a:bodyPr wrap="none" rtlCol="0">
            <a:spAutoFit/>
          </a:bodyPr>
          <a:lstStyle/>
          <a:p>
            <a:r>
              <a:rPr lang="es-ES" sz="2800" b="1" dirty="0">
                <a:latin typeface="Montserrat" pitchFamily="2" charset="0"/>
              </a:rPr>
              <a:t>CONTROL DE PERIODO - SOATERM</a:t>
            </a:r>
            <a:endParaRPr lang="es-PE" sz="2800" b="1" dirty="0">
              <a:latin typeface="Montserrat" pitchFamily="2" charset="0"/>
            </a:endParaRPr>
          </a:p>
        </p:txBody>
      </p:sp>
      <p:sp>
        <p:nvSpPr>
          <p:cNvPr id="8" name="Rectángulo 7">
            <a:extLst>
              <a:ext uri="{FF2B5EF4-FFF2-40B4-BE49-F238E27FC236}">
                <a16:creationId xmlns:a16="http://schemas.microsoft.com/office/drawing/2014/main" id="{A16BCE08-E23C-F264-A6E3-E4019979D2E2}"/>
              </a:ext>
            </a:extLst>
          </p:cNvPr>
          <p:cNvSpPr/>
          <p:nvPr/>
        </p:nvSpPr>
        <p:spPr>
          <a:xfrm>
            <a:off x="7217152" y="241540"/>
            <a:ext cx="4974847" cy="445583"/>
          </a:xfrm>
          <a:prstGeom prst="rect">
            <a:avLst/>
          </a:prstGeom>
          <a:gradFill flip="none" rotWithShape="1">
            <a:gsLst>
              <a:gs pos="0">
                <a:schemeClr val="accent6">
                  <a:lumMod val="0"/>
                  <a:lumOff val="100000"/>
                </a:schemeClr>
              </a:gs>
              <a:gs pos="66000">
                <a:schemeClr val="accent6">
                  <a:lumMod val="100000"/>
                </a:schemeClr>
              </a:gs>
            </a:gsLst>
            <a:lin ang="0" scaled="1"/>
            <a:tileRect/>
          </a:gra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s-PE"/>
          </a:p>
        </p:txBody>
      </p:sp>
      <p:sp>
        <p:nvSpPr>
          <p:cNvPr id="6" name="CuadroTexto 5">
            <a:extLst>
              <a:ext uri="{FF2B5EF4-FFF2-40B4-BE49-F238E27FC236}">
                <a16:creationId xmlns:a16="http://schemas.microsoft.com/office/drawing/2014/main" id="{AC33DC36-253A-547B-7A30-A152C2F6B4CE}"/>
              </a:ext>
            </a:extLst>
          </p:cNvPr>
          <p:cNvSpPr txBox="1"/>
          <p:nvPr/>
        </p:nvSpPr>
        <p:spPr>
          <a:xfrm>
            <a:off x="4528936" y="6386396"/>
            <a:ext cx="3134128" cy="276999"/>
          </a:xfrm>
          <a:prstGeom prst="rect">
            <a:avLst/>
          </a:prstGeom>
          <a:noFill/>
        </p:spPr>
        <p:txBody>
          <a:bodyPr wrap="none" rtlCol="0">
            <a:spAutoFit/>
          </a:bodyPr>
          <a:lstStyle/>
          <a:p>
            <a:pPr algn="ctr"/>
            <a:r>
              <a:rPr lang="es-ES" sz="1200" i="1" dirty="0"/>
              <a:t>Elaborado por: Ing. Liliana Ocampo Moreno</a:t>
            </a:r>
            <a:endParaRPr lang="es-PE" sz="1200" i="1" dirty="0"/>
          </a:p>
        </p:txBody>
      </p:sp>
      <p:sp>
        <p:nvSpPr>
          <p:cNvPr id="10" name="Rectángulo 9">
            <a:extLst>
              <a:ext uri="{FF2B5EF4-FFF2-40B4-BE49-F238E27FC236}">
                <a16:creationId xmlns:a16="http://schemas.microsoft.com/office/drawing/2014/main" id="{2B1BA150-3413-463D-A871-AD0D4BFB84B8}"/>
              </a:ext>
            </a:extLst>
          </p:cNvPr>
          <p:cNvSpPr/>
          <p:nvPr/>
        </p:nvSpPr>
        <p:spPr>
          <a:xfrm>
            <a:off x="1474839" y="3594830"/>
            <a:ext cx="2841522" cy="316856"/>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11" name="Rectángulo: esquinas redondeadas 10">
            <a:extLst>
              <a:ext uri="{FF2B5EF4-FFF2-40B4-BE49-F238E27FC236}">
                <a16:creationId xmlns:a16="http://schemas.microsoft.com/office/drawing/2014/main" id="{A575822F-7748-4C2B-AFD9-27499A4186F7}"/>
              </a:ext>
            </a:extLst>
          </p:cNvPr>
          <p:cNvSpPr/>
          <p:nvPr/>
        </p:nvSpPr>
        <p:spPr>
          <a:xfrm>
            <a:off x="1124469" y="3642459"/>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s-ES" sz="1100" b="1" dirty="0"/>
              <a:t>7</a:t>
            </a:r>
            <a:endParaRPr lang="es-PE" sz="1100" b="1" dirty="0"/>
          </a:p>
        </p:txBody>
      </p:sp>
      <p:sp>
        <p:nvSpPr>
          <p:cNvPr id="12" name="CuadroTexto 11">
            <a:hlinkClick r:id="rId5" action="ppaction://hlinksldjump"/>
            <a:extLst>
              <a:ext uri="{FF2B5EF4-FFF2-40B4-BE49-F238E27FC236}">
                <a16:creationId xmlns:a16="http://schemas.microsoft.com/office/drawing/2014/main" id="{9351EBF4-6A07-45AB-80EF-A0B12AD1D02C}"/>
              </a:ext>
            </a:extLst>
          </p:cNvPr>
          <p:cNvSpPr txBox="1"/>
          <p:nvPr/>
        </p:nvSpPr>
        <p:spPr>
          <a:xfrm>
            <a:off x="789847" y="2798979"/>
            <a:ext cx="9615950" cy="623381"/>
          </a:xfrm>
          <a:prstGeom prst="roundRect">
            <a:avLst>
              <a:gd name="adj" fmla="val 7573"/>
            </a:avLst>
          </a:prstGeom>
          <a:solidFill>
            <a:srgbClr val="7030A0"/>
          </a:solidFill>
        </p:spPr>
        <p:txBody>
          <a:bodyPr wrap="square">
            <a:spAutoFit/>
          </a:bodyPr>
          <a:lstStyle/>
          <a:p>
            <a:pPr>
              <a:spcAft>
                <a:spcPts val="600"/>
              </a:spcAft>
            </a:pPr>
            <a:r>
              <a:rPr lang="es-ES" sz="1100" b="1" dirty="0">
                <a:solidFill>
                  <a:srgbClr val="FFFFFF"/>
                </a:solidFill>
              </a:rPr>
              <a:t>Permitir al alumno seleccionar “eliminar/agregar condicional”:</a:t>
            </a:r>
            <a:r>
              <a:rPr lang="es-ES" sz="1100" dirty="0">
                <a:solidFill>
                  <a:srgbClr val="FFFFFF"/>
                </a:solidFill>
              </a:rPr>
              <a:t> Indica como debe proceder con aquellos cursos que están condicionados o relacionados entre sí, tanto para vía web (Eliminación automática de cursos conectados con errores) como para administrativo (Eliminación administrativa de cursos conectados con errores)</a:t>
            </a:r>
          </a:p>
        </p:txBody>
      </p:sp>
      <p:sp>
        <p:nvSpPr>
          <p:cNvPr id="13" name="Rectángulo 12">
            <a:extLst>
              <a:ext uri="{FF2B5EF4-FFF2-40B4-BE49-F238E27FC236}">
                <a16:creationId xmlns:a16="http://schemas.microsoft.com/office/drawing/2014/main" id="{19A0D29B-61F9-3110-AB61-FE1F144D99FC}"/>
              </a:ext>
            </a:extLst>
          </p:cNvPr>
          <p:cNvSpPr/>
          <p:nvPr/>
        </p:nvSpPr>
        <p:spPr>
          <a:xfrm>
            <a:off x="1474839" y="4277203"/>
            <a:ext cx="2841522" cy="316856"/>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14" name="Rectángulo: esquinas redondeadas 13">
            <a:extLst>
              <a:ext uri="{FF2B5EF4-FFF2-40B4-BE49-F238E27FC236}">
                <a16:creationId xmlns:a16="http://schemas.microsoft.com/office/drawing/2014/main" id="{4276D312-A6F7-4D19-FFA3-30CED3236443}"/>
              </a:ext>
            </a:extLst>
          </p:cNvPr>
          <p:cNvSpPr/>
          <p:nvPr/>
        </p:nvSpPr>
        <p:spPr>
          <a:xfrm>
            <a:off x="1124469" y="4315000"/>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s-ES" sz="1100" b="1" dirty="0"/>
              <a:t>8</a:t>
            </a:r>
            <a:endParaRPr lang="es-PE" sz="1100" b="1" dirty="0"/>
          </a:p>
        </p:txBody>
      </p:sp>
      <p:sp>
        <p:nvSpPr>
          <p:cNvPr id="15" name="CuadroTexto 14">
            <a:hlinkClick r:id="rId5" action="ppaction://hlinksldjump"/>
            <a:extLst>
              <a:ext uri="{FF2B5EF4-FFF2-40B4-BE49-F238E27FC236}">
                <a16:creationId xmlns:a16="http://schemas.microsoft.com/office/drawing/2014/main" id="{F58D8EC6-3A8E-6ED1-0CFA-5232221F61BD}"/>
              </a:ext>
            </a:extLst>
          </p:cNvPr>
          <p:cNvSpPr txBox="1"/>
          <p:nvPr/>
        </p:nvSpPr>
        <p:spPr>
          <a:xfrm>
            <a:off x="789847" y="4682950"/>
            <a:ext cx="9615950" cy="447556"/>
          </a:xfrm>
          <a:prstGeom prst="roundRect">
            <a:avLst>
              <a:gd name="adj" fmla="val 7573"/>
            </a:avLst>
          </a:prstGeom>
          <a:solidFill>
            <a:srgbClr val="7030A0"/>
          </a:solidFill>
        </p:spPr>
        <p:txBody>
          <a:bodyPr wrap="square">
            <a:spAutoFit/>
          </a:bodyPr>
          <a:lstStyle/>
          <a:p>
            <a:pPr>
              <a:spcAft>
                <a:spcPts val="600"/>
              </a:spcAft>
            </a:pPr>
            <a:r>
              <a:rPr lang="es-ES" sz="1100" b="1" dirty="0">
                <a:solidFill>
                  <a:srgbClr val="FFFFFF"/>
                </a:solidFill>
              </a:rPr>
              <a:t>Permitir al alumno eliminar sus últimas clases: </a:t>
            </a:r>
            <a:r>
              <a:rPr lang="es-ES" sz="1100" dirty="0">
                <a:solidFill>
                  <a:srgbClr val="FFFFFF"/>
                </a:solidFill>
              </a:rPr>
              <a:t>Si se marca permitirá al alumno cancelar vía web todas las asignaturas inscritas, de lo contrario siempre le dejará una registrada.</a:t>
            </a:r>
          </a:p>
        </p:txBody>
      </p:sp>
    </p:spTree>
    <p:extLst>
      <p:ext uri="{BB962C8B-B14F-4D97-AF65-F5344CB8AC3E}">
        <p14:creationId xmlns:p14="http://schemas.microsoft.com/office/powerpoint/2010/main" val="30820153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heel(1)">
                                      <p:cBhvr>
                                        <p:cTn id="7" dur="2000"/>
                                        <p:tgtEl>
                                          <p:spTgt spid="10"/>
                                        </p:tgtEl>
                                      </p:cBhvr>
                                    </p:animEffect>
                                  </p:childTnLst>
                                </p:cTn>
                              </p:par>
                            </p:childTnLst>
                          </p:cTn>
                        </p:par>
                        <p:par>
                          <p:cTn id="8" fill="hold">
                            <p:stCondLst>
                              <p:cond delay="2000"/>
                            </p:stCondLst>
                            <p:childTnLst>
                              <p:par>
                                <p:cTn id="9" presetID="53" presetClass="entr" presetSubtype="16"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p:cTn id="11" dur="500" fill="hold"/>
                                        <p:tgtEl>
                                          <p:spTgt spid="11"/>
                                        </p:tgtEl>
                                        <p:attrNameLst>
                                          <p:attrName>ppt_w</p:attrName>
                                        </p:attrNameLst>
                                      </p:cBhvr>
                                      <p:tavLst>
                                        <p:tav tm="0">
                                          <p:val>
                                            <p:fltVal val="0"/>
                                          </p:val>
                                        </p:tav>
                                        <p:tav tm="100000">
                                          <p:val>
                                            <p:strVal val="#ppt_w"/>
                                          </p:val>
                                        </p:tav>
                                      </p:tavLst>
                                    </p:anim>
                                    <p:anim calcmode="lin" valueType="num">
                                      <p:cBhvr>
                                        <p:cTn id="12" dur="500" fill="hold"/>
                                        <p:tgtEl>
                                          <p:spTgt spid="11"/>
                                        </p:tgtEl>
                                        <p:attrNameLst>
                                          <p:attrName>ppt_h</p:attrName>
                                        </p:attrNameLst>
                                      </p:cBhvr>
                                      <p:tavLst>
                                        <p:tav tm="0">
                                          <p:val>
                                            <p:fltVal val="0"/>
                                          </p:val>
                                        </p:tav>
                                        <p:tav tm="100000">
                                          <p:val>
                                            <p:strVal val="#ppt_h"/>
                                          </p:val>
                                        </p:tav>
                                      </p:tavLst>
                                    </p:anim>
                                    <p:animEffect transition="in" filter="fade">
                                      <p:cBhvr>
                                        <p:cTn id="13" dur="500"/>
                                        <p:tgtEl>
                                          <p:spTgt spid="11"/>
                                        </p:tgtEl>
                                      </p:cBhvr>
                                    </p:animEffect>
                                  </p:childTnLst>
                                </p:cTn>
                              </p:par>
                            </p:childTnLst>
                          </p:cTn>
                        </p:par>
                        <p:par>
                          <p:cTn id="14" fill="hold">
                            <p:stCondLst>
                              <p:cond delay="2500"/>
                            </p:stCondLst>
                            <p:childTnLst>
                              <p:par>
                                <p:cTn id="15" presetID="10" presetClass="entr" presetSubtype="0" fill="hold" grpId="0" nodeType="after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childTnLst>
                          </p:cTn>
                        </p:par>
                        <p:par>
                          <p:cTn id="18" fill="hold">
                            <p:stCondLst>
                              <p:cond delay="3000"/>
                            </p:stCondLst>
                            <p:childTnLst>
                              <p:par>
                                <p:cTn id="19" presetID="21" presetClass="entr" presetSubtype="1" fill="hold" grpId="0" nodeType="after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wheel(1)">
                                      <p:cBhvr>
                                        <p:cTn id="21" dur="2000"/>
                                        <p:tgtEl>
                                          <p:spTgt spid="13"/>
                                        </p:tgtEl>
                                      </p:cBhvr>
                                    </p:animEffect>
                                  </p:childTnLst>
                                </p:cTn>
                              </p:par>
                            </p:childTnLst>
                          </p:cTn>
                        </p:par>
                        <p:par>
                          <p:cTn id="22" fill="hold">
                            <p:stCondLst>
                              <p:cond delay="5000"/>
                            </p:stCondLst>
                            <p:childTnLst>
                              <p:par>
                                <p:cTn id="23" presetID="53" presetClass="entr" presetSubtype="16" fill="hold" grpId="0" nodeType="afterEffect">
                                  <p:stCondLst>
                                    <p:cond delay="0"/>
                                  </p:stCondLst>
                                  <p:childTnLst>
                                    <p:set>
                                      <p:cBhvr>
                                        <p:cTn id="24" dur="1" fill="hold">
                                          <p:stCondLst>
                                            <p:cond delay="0"/>
                                          </p:stCondLst>
                                        </p:cTn>
                                        <p:tgtEl>
                                          <p:spTgt spid="14"/>
                                        </p:tgtEl>
                                        <p:attrNameLst>
                                          <p:attrName>style.visibility</p:attrName>
                                        </p:attrNameLst>
                                      </p:cBhvr>
                                      <p:to>
                                        <p:strVal val="visible"/>
                                      </p:to>
                                    </p:set>
                                    <p:anim calcmode="lin" valueType="num">
                                      <p:cBhvr>
                                        <p:cTn id="25" dur="500" fill="hold"/>
                                        <p:tgtEl>
                                          <p:spTgt spid="14"/>
                                        </p:tgtEl>
                                        <p:attrNameLst>
                                          <p:attrName>ppt_w</p:attrName>
                                        </p:attrNameLst>
                                      </p:cBhvr>
                                      <p:tavLst>
                                        <p:tav tm="0">
                                          <p:val>
                                            <p:fltVal val="0"/>
                                          </p:val>
                                        </p:tav>
                                        <p:tav tm="100000">
                                          <p:val>
                                            <p:strVal val="#ppt_w"/>
                                          </p:val>
                                        </p:tav>
                                      </p:tavLst>
                                    </p:anim>
                                    <p:anim calcmode="lin" valueType="num">
                                      <p:cBhvr>
                                        <p:cTn id="26" dur="500" fill="hold"/>
                                        <p:tgtEl>
                                          <p:spTgt spid="14"/>
                                        </p:tgtEl>
                                        <p:attrNameLst>
                                          <p:attrName>ppt_h</p:attrName>
                                        </p:attrNameLst>
                                      </p:cBhvr>
                                      <p:tavLst>
                                        <p:tav tm="0">
                                          <p:val>
                                            <p:fltVal val="0"/>
                                          </p:val>
                                        </p:tav>
                                        <p:tav tm="100000">
                                          <p:val>
                                            <p:strVal val="#ppt_h"/>
                                          </p:val>
                                        </p:tav>
                                      </p:tavLst>
                                    </p:anim>
                                    <p:animEffect transition="in" filter="fade">
                                      <p:cBhvr>
                                        <p:cTn id="27" dur="500"/>
                                        <p:tgtEl>
                                          <p:spTgt spid="14"/>
                                        </p:tgtEl>
                                      </p:cBhvr>
                                    </p:animEffect>
                                  </p:childTnLst>
                                </p:cTn>
                              </p:par>
                            </p:childTnLst>
                          </p:cTn>
                        </p:par>
                        <p:par>
                          <p:cTn id="28" fill="hold">
                            <p:stCondLst>
                              <p:cond delay="5500"/>
                            </p:stCondLst>
                            <p:childTnLst>
                              <p:par>
                                <p:cTn id="29" presetID="10" presetClass="entr" presetSubtype="0" fill="hold" grpId="0" nodeType="after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P spid="15"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7CAB2B86-4E3B-C98C-411E-958BEFE187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2528" y="6154887"/>
            <a:ext cx="2234242" cy="525923"/>
          </a:xfrm>
          <a:prstGeom prst="rect">
            <a:avLst/>
          </a:prstGeom>
        </p:spPr>
      </p:pic>
      <p:pic>
        <p:nvPicPr>
          <p:cNvPr id="4" name="Picture 4" descr="Ellucian Student Reseñas 2026: Detalles, Precios y Características | G2">
            <a:extLst>
              <a:ext uri="{FF2B5EF4-FFF2-40B4-BE49-F238E27FC236}">
                <a16:creationId xmlns:a16="http://schemas.microsoft.com/office/drawing/2014/main" id="{7352B780-8C7C-7B91-F3EE-5E6EF2C2E4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98101" y="5901780"/>
            <a:ext cx="1821371" cy="956220"/>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0AEBA78F-8C98-5D4D-384F-95B753FFADE4}"/>
              </a:ext>
            </a:extLst>
          </p:cNvPr>
          <p:cNvSpPr txBox="1"/>
          <p:nvPr/>
        </p:nvSpPr>
        <p:spPr>
          <a:xfrm>
            <a:off x="431320" y="241540"/>
            <a:ext cx="6785832" cy="523220"/>
          </a:xfrm>
          <a:prstGeom prst="rect">
            <a:avLst/>
          </a:prstGeom>
          <a:noFill/>
        </p:spPr>
        <p:txBody>
          <a:bodyPr wrap="none" rtlCol="0">
            <a:spAutoFit/>
          </a:bodyPr>
          <a:lstStyle/>
          <a:p>
            <a:r>
              <a:rPr lang="es-ES" sz="2800" b="1" dirty="0">
                <a:latin typeface="Montserrat" pitchFamily="2" charset="0"/>
              </a:rPr>
              <a:t>CONTROL DE PERIODO - SOATERM</a:t>
            </a:r>
            <a:endParaRPr lang="es-PE" sz="2800" b="1" dirty="0">
              <a:latin typeface="Montserrat" pitchFamily="2" charset="0"/>
            </a:endParaRPr>
          </a:p>
        </p:txBody>
      </p:sp>
      <p:sp>
        <p:nvSpPr>
          <p:cNvPr id="8" name="Rectángulo 7">
            <a:extLst>
              <a:ext uri="{FF2B5EF4-FFF2-40B4-BE49-F238E27FC236}">
                <a16:creationId xmlns:a16="http://schemas.microsoft.com/office/drawing/2014/main" id="{A16BCE08-E23C-F264-A6E3-E4019979D2E2}"/>
              </a:ext>
            </a:extLst>
          </p:cNvPr>
          <p:cNvSpPr/>
          <p:nvPr/>
        </p:nvSpPr>
        <p:spPr>
          <a:xfrm>
            <a:off x="7217152" y="241540"/>
            <a:ext cx="4974847" cy="445583"/>
          </a:xfrm>
          <a:prstGeom prst="rect">
            <a:avLst/>
          </a:prstGeom>
          <a:gradFill flip="none" rotWithShape="1">
            <a:gsLst>
              <a:gs pos="0">
                <a:schemeClr val="accent6">
                  <a:lumMod val="0"/>
                  <a:lumOff val="100000"/>
                </a:schemeClr>
              </a:gs>
              <a:gs pos="66000">
                <a:schemeClr val="accent6">
                  <a:lumMod val="100000"/>
                </a:schemeClr>
              </a:gs>
            </a:gsLst>
            <a:lin ang="0" scaled="1"/>
            <a:tileRect/>
          </a:gra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s-PE"/>
          </a:p>
        </p:txBody>
      </p:sp>
      <p:sp>
        <p:nvSpPr>
          <p:cNvPr id="6" name="CuadroTexto 5">
            <a:extLst>
              <a:ext uri="{FF2B5EF4-FFF2-40B4-BE49-F238E27FC236}">
                <a16:creationId xmlns:a16="http://schemas.microsoft.com/office/drawing/2014/main" id="{AC33DC36-253A-547B-7A30-A152C2F6B4CE}"/>
              </a:ext>
            </a:extLst>
          </p:cNvPr>
          <p:cNvSpPr txBox="1"/>
          <p:nvPr/>
        </p:nvSpPr>
        <p:spPr>
          <a:xfrm>
            <a:off x="4528936" y="6386396"/>
            <a:ext cx="3134128" cy="276999"/>
          </a:xfrm>
          <a:prstGeom prst="rect">
            <a:avLst/>
          </a:prstGeom>
          <a:noFill/>
        </p:spPr>
        <p:txBody>
          <a:bodyPr wrap="none" rtlCol="0">
            <a:spAutoFit/>
          </a:bodyPr>
          <a:lstStyle/>
          <a:p>
            <a:pPr algn="ctr"/>
            <a:r>
              <a:rPr lang="es-ES" sz="1200" i="1" dirty="0"/>
              <a:t>Elaborado por: Ing. Liliana Ocampo Moreno</a:t>
            </a:r>
            <a:endParaRPr lang="es-PE" sz="1200" i="1" dirty="0"/>
          </a:p>
        </p:txBody>
      </p:sp>
      <p:pic>
        <p:nvPicPr>
          <p:cNvPr id="17" name="Imagen 16">
            <a:extLst>
              <a:ext uri="{FF2B5EF4-FFF2-40B4-BE49-F238E27FC236}">
                <a16:creationId xmlns:a16="http://schemas.microsoft.com/office/drawing/2014/main" id="{7629B738-31E1-66F6-3F80-98E194A25F31}"/>
              </a:ext>
            </a:extLst>
          </p:cNvPr>
          <p:cNvPicPr>
            <a:picLocks noChangeAspect="1"/>
          </p:cNvPicPr>
          <p:nvPr/>
        </p:nvPicPr>
        <p:blipFill>
          <a:blip r:embed="rId4"/>
          <a:stretch>
            <a:fillRect/>
          </a:stretch>
        </p:blipFill>
        <p:spPr>
          <a:xfrm>
            <a:off x="431320" y="1043871"/>
            <a:ext cx="11446048" cy="4819389"/>
          </a:xfrm>
          <a:prstGeom prst="rect">
            <a:avLst/>
          </a:prstGeom>
        </p:spPr>
      </p:pic>
      <p:sp>
        <p:nvSpPr>
          <p:cNvPr id="18" name="Rectángulo 17">
            <a:extLst>
              <a:ext uri="{FF2B5EF4-FFF2-40B4-BE49-F238E27FC236}">
                <a16:creationId xmlns:a16="http://schemas.microsoft.com/office/drawing/2014/main" id="{B1D3609A-763D-7E2B-2BC0-3B027BC3A0C4}"/>
              </a:ext>
            </a:extLst>
          </p:cNvPr>
          <p:cNvSpPr/>
          <p:nvPr/>
        </p:nvSpPr>
        <p:spPr>
          <a:xfrm>
            <a:off x="480478" y="3637935"/>
            <a:ext cx="11217913" cy="855406"/>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19" name="Rectángulo: esquinas redondeadas 18">
            <a:extLst>
              <a:ext uri="{FF2B5EF4-FFF2-40B4-BE49-F238E27FC236}">
                <a16:creationId xmlns:a16="http://schemas.microsoft.com/office/drawing/2014/main" id="{A1DE7489-C446-A3D9-9A64-8E9113E549E8}"/>
              </a:ext>
            </a:extLst>
          </p:cNvPr>
          <p:cNvSpPr/>
          <p:nvPr/>
        </p:nvSpPr>
        <p:spPr>
          <a:xfrm>
            <a:off x="3700529" y="3852881"/>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s-ES" sz="1100" b="1" dirty="0"/>
              <a:t>8</a:t>
            </a:r>
            <a:endParaRPr lang="es-PE" sz="1100" b="1" dirty="0"/>
          </a:p>
        </p:txBody>
      </p:sp>
      <p:sp>
        <p:nvSpPr>
          <p:cNvPr id="20" name="Rectángulo: esquinas redondeadas 19">
            <a:extLst>
              <a:ext uri="{FF2B5EF4-FFF2-40B4-BE49-F238E27FC236}">
                <a16:creationId xmlns:a16="http://schemas.microsoft.com/office/drawing/2014/main" id="{4DE6EDFF-E73B-FE5B-BD9F-F52361C6B9A1}"/>
              </a:ext>
            </a:extLst>
          </p:cNvPr>
          <p:cNvSpPr/>
          <p:nvPr/>
        </p:nvSpPr>
        <p:spPr>
          <a:xfrm>
            <a:off x="2461663" y="4108523"/>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s-ES" sz="1100" b="1" dirty="0"/>
              <a:t>9</a:t>
            </a:r>
            <a:endParaRPr lang="es-PE" sz="1100" b="1" dirty="0"/>
          </a:p>
        </p:txBody>
      </p:sp>
      <p:sp>
        <p:nvSpPr>
          <p:cNvPr id="21" name="Rectángulo: esquinas redondeadas 20">
            <a:extLst>
              <a:ext uri="{FF2B5EF4-FFF2-40B4-BE49-F238E27FC236}">
                <a16:creationId xmlns:a16="http://schemas.microsoft.com/office/drawing/2014/main" id="{73C37515-3D80-16AD-C055-76052E7C13DF}"/>
              </a:ext>
            </a:extLst>
          </p:cNvPr>
          <p:cNvSpPr/>
          <p:nvPr/>
        </p:nvSpPr>
        <p:spPr>
          <a:xfrm>
            <a:off x="7407308" y="3784056"/>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s-ES" sz="1100" b="1" dirty="0"/>
              <a:t>10</a:t>
            </a:r>
            <a:endParaRPr lang="es-PE" sz="1100" b="1" dirty="0"/>
          </a:p>
        </p:txBody>
      </p:sp>
      <p:sp>
        <p:nvSpPr>
          <p:cNvPr id="22" name="Rectángulo: esquinas redondeadas 21">
            <a:extLst>
              <a:ext uri="{FF2B5EF4-FFF2-40B4-BE49-F238E27FC236}">
                <a16:creationId xmlns:a16="http://schemas.microsoft.com/office/drawing/2014/main" id="{2380185F-3498-8978-4081-1DAF3D12A8C8}"/>
              </a:ext>
            </a:extLst>
          </p:cNvPr>
          <p:cNvSpPr/>
          <p:nvPr/>
        </p:nvSpPr>
        <p:spPr>
          <a:xfrm>
            <a:off x="7210652" y="4118355"/>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s-ES" sz="1100" b="1" dirty="0"/>
              <a:t>11</a:t>
            </a:r>
            <a:endParaRPr lang="es-PE" sz="1100" b="1" dirty="0"/>
          </a:p>
        </p:txBody>
      </p:sp>
      <p:sp>
        <p:nvSpPr>
          <p:cNvPr id="23" name="CuadroTexto 22">
            <a:hlinkClick r:id="rId5" action="ppaction://hlinksldjump"/>
            <a:extLst>
              <a:ext uri="{FF2B5EF4-FFF2-40B4-BE49-F238E27FC236}">
                <a16:creationId xmlns:a16="http://schemas.microsoft.com/office/drawing/2014/main" id="{618FDBA9-ECE4-0D05-F52D-F2004F09DD79}"/>
              </a:ext>
            </a:extLst>
          </p:cNvPr>
          <p:cNvSpPr txBox="1"/>
          <p:nvPr/>
        </p:nvSpPr>
        <p:spPr>
          <a:xfrm>
            <a:off x="835607" y="1884096"/>
            <a:ext cx="10520785" cy="1646366"/>
          </a:xfrm>
          <a:prstGeom prst="roundRect">
            <a:avLst>
              <a:gd name="adj" fmla="val 7573"/>
            </a:avLst>
          </a:prstGeom>
          <a:solidFill>
            <a:srgbClr val="7030A0"/>
          </a:solidFill>
        </p:spPr>
        <p:txBody>
          <a:bodyPr wrap="square">
            <a:spAutoFit/>
          </a:bodyPr>
          <a:lstStyle/>
          <a:p>
            <a:pPr>
              <a:spcAft>
                <a:spcPts val="600"/>
              </a:spcAft>
            </a:pPr>
            <a:r>
              <a:rPr lang="es-ES" sz="1100" dirty="0">
                <a:solidFill>
                  <a:srgbClr val="FFFFFF"/>
                </a:solidFill>
              </a:rPr>
              <a:t>En el panel </a:t>
            </a:r>
            <a:r>
              <a:rPr lang="es-ES" sz="1100" b="1" dirty="0">
                <a:solidFill>
                  <a:srgbClr val="92D050"/>
                </a:solidFill>
              </a:rPr>
              <a:t>Planificación en Autoservicio</a:t>
            </a:r>
            <a:r>
              <a:rPr lang="es-ES" sz="1100" dirty="0">
                <a:solidFill>
                  <a:srgbClr val="FFFFFF"/>
                </a:solidFill>
              </a:rPr>
              <a:t>, se deben seleccionar aquellas opciones que permiten que el alumno planifique con anterioridad los cursos que desea tomar para el próximo periodo.</a:t>
            </a:r>
          </a:p>
          <a:p>
            <a:pPr marL="228600" indent="-228600">
              <a:spcAft>
                <a:spcPts val="600"/>
              </a:spcAft>
              <a:buFont typeface="+mj-lt"/>
              <a:buAutoNum type="arabicPeriod" startAt="8"/>
            </a:pPr>
            <a:r>
              <a:rPr lang="es-ES" sz="1100" b="1" dirty="0">
                <a:solidFill>
                  <a:srgbClr val="FFFFFF"/>
                </a:solidFill>
              </a:rPr>
              <a:t>Periodo abierto para planificación en autoservicio:</a:t>
            </a:r>
            <a:r>
              <a:rPr lang="es-ES" sz="1100" dirty="0">
                <a:solidFill>
                  <a:srgbClr val="FFFFFF"/>
                </a:solidFill>
              </a:rPr>
              <a:t> Se debe activar esta casilla si se habilitará la planificación en ese período.</a:t>
            </a:r>
          </a:p>
          <a:p>
            <a:pPr marL="228600" indent="-228600">
              <a:spcAft>
                <a:spcPts val="600"/>
              </a:spcAft>
              <a:buFont typeface="+mj-lt"/>
              <a:buAutoNum type="arabicPeriod" startAt="8"/>
            </a:pPr>
            <a:r>
              <a:rPr lang="es-ES" sz="1100" b="1" dirty="0">
                <a:solidFill>
                  <a:srgbClr val="FFFFFF"/>
                </a:solidFill>
              </a:rPr>
              <a:t>Planes máximos para periodo:</a:t>
            </a:r>
            <a:r>
              <a:rPr lang="es-ES" sz="1100" dirty="0">
                <a:solidFill>
                  <a:srgbClr val="FFFFFF"/>
                </a:solidFill>
              </a:rPr>
              <a:t> Se ingresa un valor numérico para indicar hasta cuantos planes pude hacer el estudiante.</a:t>
            </a:r>
          </a:p>
          <a:p>
            <a:pPr marL="228600" indent="-228600">
              <a:spcAft>
                <a:spcPts val="600"/>
              </a:spcAft>
              <a:buFont typeface="+mj-lt"/>
              <a:buAutoNum type="arabicPeriod" startAt="8"/>
            </a:pPr>
            <a:r>
              <a:rPr lang="es-ES" sz="1100" b="1" dirty="0">
                <a:solidFill>
                  <a:srgbClr val="FFFFFF"/>
                </a:solidFill>
              </a:rPr>
              <a:t>Desplegar planes de autoservicio en inscripción:</a:t>
            </a:r>
            <a:r>
              <a:rPr lang="es-ES" sz="1100" dirty="0">
                <a:solidFill>
                  <a:srgbClr val="FFFFFF"/>
                </a:solidFill>
              </a:rPr>
              <a:t> Habilita que los planes creados por el estudiante estén disponibles cuando inscriba los cursos en el periodo.</a:t>
            </a:r>
          </a:p>
          <a:p>
            <a:pPr marL="228600" indent="-228600">
              <a:spcAft>
                <a:spcPts val="600"/>
              </a:spcAft>
              <a:buFont typeface="+mj-lt"/>
              <a:buAutoNum type="arabicPeriod" startAt="8"/>
            </a:pPr>
            <a:r>
              <a:rPr lang="es-ES" sz="1100" b="1" dirty="0">
                <a:solidFill>
                  <a:srgbClr val="FFFFFF"/>
                </a:solidFill>
              </a:rPr>
              <a:t>Permitir agregar secciones de curso al plan:</a:t>
            </a:r>
            <a:r>
              <a:rPr lang="es-ES" sz="1100" dirty="0">
                <a:solidFill>
                  <a:srgbClr val="FFFFFF"/>
                </a:solidFill>
              </a:rPr>
              <a:t> Permite agregar secciones (no solo cursos) a un plan. Esta opción requiere que se haya realizado la programación académica para el periodo en cuestión.</a:t>
            </a:r>
            <a:endParaRPr lang="es-ES" sz="1100" b="1" dirty="0">
              <a:solidFill>
                <a:srgbClr val="FFFFFF"/>
              </a:solidFill>
            </a:endParaRPr>
          </a:p>
        </p:txBody>
      </p:sp>
      <p:sp>
        <p:nvSpPr>
          <p:cNvPr id="25" name="Rectángulo 24">
            <a:extLst>
              <a:ext uri="{FF2B5EF4-FFF2-40B4-BE49-F238E27FC236}">
                <a16:creationId xmlns:a16="http://schemas.microsoft.com/office/drawing/2014/main" id="{344C9341-3540-93A4-358B-CC26A021B9E9}"/>
              </a:ext>
            </a:extLst>
          </p:cNvPr>
          <p:cNvSpPr/>
          <p:nvPr/>
        </p:nvSpPr>
        <p:spPr>
          <a:xfrm>
            <a:off x="11222288" y="5434712"/>
            <a:ext cx="684363" cy="347998"/>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26" name="Rectángulo: esquinas redondeadas 25">
            <a:extLst>
              <a:ext uri="{FF2B5EF4-FFF2-40B4-BE49-F238E27FC236}">
                <a16:creationId xmlns:a16="http://schemas.microsoft.com/office/drawing/2014/main" id="{3CF8283D-DE3C-1AD8-B4D8-A2A4C7527E9B}"/>
              </a:ext>
            </a:extLst>
          </p:cNvPr>
          <p:cNvSpPr/>
          <p:nvPr/>
        </p:nvSpPr>
        <p:spPr>
          <a:xfrm>
            <a:off x="10905985" y="5496568"/>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s-ES" sz="1100" b="1" dirty="0"/>
              <a:t>12</a:t>
            </a:r>
            <a:endParaRPr lang="es-PE" sz="1100" b="1" dirty="0"/>
          </a:p>
        </p:txBody>
      </p:sp>
      <p:sp>
        <p:nvSpPr>
          <p:cNvPr id="27" name="CuadroTexto 26">
            <a:extLst>
              <a:ext uri="{FF2B5EF4-FFF2-40B4-BE49-F238E27FC236}">
                <a16:creationId xmlns:a16="http://schemas.microsoft.com/office/drawing/2014/main" id="{0300EA79-6899-638B-8D58-98303AE99450}"/>
              </a:ext>
            </a:extLst>
          </p:cNvPr>
          <p:cNvSpPr txBox="1"/>
          <p:nvPr/>
        </p:nvSpPr>
        <p:spPr>
          <a:xfrm>
            <a:off x="9201886" y="4926747"/>
            <a:ext cx="1588524" cy="975033"/>
          </a:xfrm>
          <a:prstGeom prst="roundRect">
            <a:avLst>
              <a:gd name="adj" fmla="val 7573"/>
            </a:avLst>
          </a:prstGeom>
          <a:solidFill>
            <a:srgbClr val="7030A0"/>
          </a:solidFill>
        </p:spPr>
        <p:txBody>
          <a:bodyPr wrap="square">
            <a:spAutoFit/>
          </a:bodyPr>
          <a:lstStyle/>
          <a:p>
            <a:pPr algn="ctr"/>
            <a:r>
              <a:rPr lang="es-ES" sz="1100" dirty="0">
                <a:solidFill>
                  <a:srgbClr val="FFFFFF"/>
                </a:solidFill>
              </a:rPr>
              <a:t>Se debe presionar </a:t>
            </a:r>
            <a:r>
              <a:rPr lang="es-ES" sz="1100" b="1" dirty="0">
                <a:solidFill>
                  <a:srgbClr val="92D050"/>
                </a:solidFill>
              </a:rPr>
              <a:t>Guardar</a:t>
            </a:r>
            <a:r>
              <a:rPr lang="es-ES" sz="1100" dirty="0">
                <a:solidFill>
                  <a:srgbClr val="FFFFFF"/>
                </a:solidFill>
              </a:rPr>
              <a:t> para que la información quede registrada en el sistema</a:t>
            </a:r>
          </a:p>
        </p:txBody>
      </p:sp>
      <p:sp>
        <p:nvSpPr>
          <p:cNvPr id="2" name="Rectángulo 1">
            <a:extLst>
              <a:ext uri="{FF2B5EF4-FFF2-40B4-BE49-F238E27FC236}">
                <a16:creationId xmlns:a16="http://schemas.microsoft.com/office/drawing/2014/main" id="{C98B0779-A52C-6ADB-400D-64E19916BFAF}"/>
              </a:ext>
            </a:extLst>
          </p:cNvPr>
          <p:cNvSpPr/>
          <p:nvPr/>
        </p:nvSpPr>
        <p:spPr>
          <a:xfrm>
            <a:off x="838665" y="5416975"/>
            <a:ext cx="358463" cy="347998"/>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5" name="Rectángulo: esquinas redondeadas 4">
            <a:extLst>
              <a:ext uri="{FF2B5EF4-FFF2-40B4-BE49-F238E27FC236}">
                <a16:creationId xmlns:a16="http://schemas.microsoft.com/office/drawing/2014/main" id="{539241C1-A0D4-C37D-B847-74A159486016}"/>
              </a:ext>
            </a:extLst>
          </p:cNvPr>
          <p:cNvSpPr/>
          <p:nvPr/>
        </p:nvSpPr>
        <p:spPr>
          <a:xfrm>
            <a:off x="513126" y="5441887"/>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s-ES" sz="1100" b="1" dirty="0"/>
              <a:t>13</a:t>
            </a:r>
            <a:endParaRPr lang="es-PE" sz="1100" b="1" dirty="0"/>
          </a:p>
        </p:txBody>
      </p:sp>
      <p:sp>
        <p:nvSpPr>
          <p:cNvPr id="9" name="CuadroTexto 8">
            <a:extLst>
              <a:ext uri="{FF2B5EF4-FFF2-40B4-BE49-F238E27FC236}">
                <a16:creationId xmlns:a16="http://schemas.microsoft.com/office/drawing/2014/main" id="{83B93699-12AF-6572-535A-F71FD6648803}"/>
              </a:ext>
            </a:extLst>
          </p:cNvPr>
          <p:cNvSpPr txBox="1"/>
          <p:nvPr/>
        </p:nvSpPr>
        <p:spPr>
          <a:xfrm>
            <a:off x="362071" y="4865292"/>
            <a:ext cx="868225" cy="447556"/>
          </a:xfrm>
          <a:prstGeom prst="roundRect">
            <a:avLst>
              <a:gd name="adj" fmla="val 7573"/>
            </a:avLst>
          </a:prstGeom>
          <a:solidFill>
            <a:srgbClr val="7030A0"/>
          </a:solidFill>
        </p:spPr>
        <p:txBody>
          <a:bodyPr wrap="square">
            <a:spAutoFit/>
          </a:bodyPr>
          <a:lstStyle/>
          <a:p>
            <a:pPr algn="ctr"/>
            <a:r>
              <a:rPr lang="es-ES" sz="1100" dirty="0">
                <a:solidFill>
                  <a:srgbClr val="FFFFFF"/>
                </a:solidFill>
              </a:rPr>
              <a:t>Presionar siguiente</a:t>
            </a:r>
          </a:p>
        </p:txBody>
      </p:sp>
    </p:spTree>
    <p:extLst>
      <p:ext uri="{BB962C8B-B14F-4D97-AF65-F5344CB8AC3E}">
        <p14:creationId xmlns:p14="http://schemas.microsoft.com/office/powerpoint/2010/main" val="15593056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heel(1)">
                                      <p:cBhvr>
                                        <p:cTn id="7" dur="2000"/>
                                        <p:tgtEl>
                                          <p:spTgt spid="18"/>
                                        </p:tgtEl>
                                      </p:cBhvr>
                                    </p:animEffect>
                                  </p:childTnLst>
                                </p:cTn>
                              </p:par>
                            </p:childTnLst>
                          </p:cTn>
                        </p:par>
                        <p:par>
                          <p:cTn id="8" fill="hold">
                            <p:stCondLst>
                              <p:cond delay="2000"/>
                            </p:stCondLst>
                            <p:childTnLst>
                              <p:par>
                                <p:cTn id="9" presetID="53" presetClass="entr" presetSubtype="16" fill="hold" grpId="0" nodeType="afterEffect">
                                  <p:stCondLst>
                                    <p:cond delay="0"/>
                                  </p:stCondLst>
                                  <p:childTnLst>
                                    <p:set>
                                      <p:cBhvr>
                                        <p:cTn id="10" dur="1" fill="hold">
                                          <p:stCondLst>
                                            <p:cond delay="0"/>
                                          </p:stCondLst>
                                        </p:cTn>
                                        <p:tgtEl>
                                          <p:spTgt spid="19"/>
                                        </p:tgtEl>
                                        <p:attrNameLst>
                                          <p:attrName>style.visibility</p:attrName>
                                        </p:attrNameLst>
                                      </p:cBhvr>
                                      <p:to>
                                        <p:strVal val="visible"/>
                                      </p:to>
                                    </p:set>
                                    <p:anim calcmode="lin" valueType="num">
                                      <p:cBhvr>
                                        <p:cTn id="11" dur="500" fill="hold"/>
                                        <p:tgtEl>
                                          <p:spTgt spid="19"/>
                                        </p:tgtEl>
                                        <p:attrNameLst>
                                          <p:attrName>ppt_w</p:attrName>
                                        </p:attrNameLst>
                                      </p:cBhvr>
                                      <p:tavLst>
                                        <p:tav tm="0">
                                          <p:val>
                                            <p:fltVal val="0"/>
                                          </p:val>
                                        </p:tav>
                                        <p:tav tm="100000">
                                          <p:val>
                                            <p:strVal val="#ppt_w"/>
                                          </p:val>
                                        </p:tav>
                                      </p:tavLst>
                                    </p:anim>
                                    <p:anim calcmode="lin" valueType="num">
                                      <p:cBhvr>
                                        <p:cTn id="12" dur="500" fill="hold"/>
                                        <p:tgtEl>
                                          <p:spTgt spid="19"/>
                                        </p:tgtEl>
                                        <p:attrNameLst>
                                          <p:attrName>ppt_h</p:attrName>
                                        </p:attrNameLst>
                                      </p:cBhvr>
                                      <p:tavLst>
                                        <p:tav tm="0">
                                          <p:val>
                                            <p:fltVal val="0"/>
                                          </p:val>
                                        </p:tav>
                                        <p:tav tm="100000">
                                          <p:val>
                                            <p:strVal val="#ppt_h"/>
                                          </p:val>
                                        </p:tav>
                                      </p:tavLst>
                                    </p:anim>
                                    <p:animEffect transition="in" filter="fade">
                                      <p:cBhvr>
                                        <p:cTn id="13" dur="500"/>
                                        <p:tgtEl>
                                          <p:spTgt spid="19"/>
                                        </p:tgtEl>
                                      </p:cBhvr>
                                    </p:animEffect>
                                  </p:childTnLst>
                                </p:cTn>
                              </p:par>
                            </p:childTnLst>
                          </p:cTn>
                        </p:par>
                        <p:par>
                          <p:cTn id="14" fill="hold">
                            <p:stCondLst>
                              <p:cond delay="2500"/>
                            </p:stCondLst>
                            <p:childTnLst>
                              <p:par>
                                <p:cTn id="15" presetID="53" presetClass="entr" presetSubtype="16" fill="hold" grpId="0" nodeType="afterEffect">
                                  <p:stCondLst>
                                    <p:cond delay="0"/>
                                  </p:stCondLst>
                                  <p:childTnLst>
                                    <p:set>
                                      <p:cBhvr>
                                        <p:cTn id="16" dur="1" fill="hold">
                                          <p:stCondLst>
                                            <p:cond delay="0"/>
                                          </p:stCondLst>
                                        </p:cTn>
                                        <p:tgtEl>
                                          <p:spTgt spid="20"/>
                                        </p:tgtEl>
                                        <p:attrNameLst>
                                          <p:attrName>style.visibility</p:attrName>
                                        </p:attrNameLst>
                                      </p:cBhvr>
                                      <p:to>
                                        <p:strVal val="visible"/>
                                      </p:to>
                                    </p:set>
                                    <p:anim calcmode="lin" valueType="num">
                                      <p:cBhvr>
                                        <p:cTn id="17" dur="500" fill="hold"/>
                                        <p:tgtEl>
                                          <p:spTgt spid="20"/>
                                        </p:tgtEl>
                                        <p:attrNameLst>
                                          <p:attrName>ppt_w</p:attrName>
                                        </p:attrNameLst>
                                      </p:cBhvr>
                                      <p:tavLst>
                                        <p:tav tm="0">
                                          <p:val>
                                            <p:fltVal val="0"/>
                                          </p:val>
                                        </p:tav>
                                        <p:tav tm="100000">
                                          <p:val>
                                            <p:strVal val="#ppt_w"/>
                                          </p:val>
                                        </p:tav>
                                      </p:tavLst>
                                    </p:anim>
                                    <p:anim calcmode="lin" valueType="num">
                                      <p:cBhvr>
                                        <p:cTn id="18" dur="500" fill="hold"/>
                                        <p:tgtEl>
                                          <p:spTgt spid="20"/>
                                        </p:tgtEl>
                                        <p:attrNameLst>
                                          <p:attrName>ppt_h</p:attrName>
                                        </p:attrNameLst>
                                      </p:cBhvr>
                                      <p:tavLst>
                                        <p:tav tm="0">
                                          <p:val>
                                            <p:fltVal val="0"/>
                                          </p:val>
                                        </p:tav>
                                        <p:tav tm="100000">
                                          <p:val>
                                            <p:strVal val="#ppt_h"/>
                                          </p:val>
                                        </p:tav>
                                      </p:tavLst>
                                    </p:anim>
                                    <p:animEffect transition="in" filter="fade">
                                      <p:cBhvr>
                                        <p:cTn id="19" dur="500"/>
                                        <p:tgtEl>
                                          <p:spTgt spid="20"/>
                                        </p:tgtEl>
                                      </p:cBhvr>
                                    </p:animEffect>
                                  </p:childTnLst>
                                </p:cTn>
                              </p:par>
                            </p:childTnLst>
                          </p:cTn>
                        </p:par>
                        <p:par>
                          <p:cTn id="20" fill="hold">
                            <p:stCondLst>
                              <p:cond delay="3000"/>
                            </p:stCondLst>
                            <p:childTnLst>
                              <p:par>
                                <p:cTn id="21" presetID="53" presetClass="entr" presetSubtype="16" fill="hold" grpId="0" nodeType="afterEffect">
                                  <p:stCondLst>
                                    <p:cond delay="0"/>
                                  </p:stCondLst>
                                  <p:childTnLst>
                                    <p:set>
                                      <p:cBhvr>
                                        <p:cTn id="22" dur="1" fill="hold">
                                          <p:stCondLst>
                                            <p:cond delay="0"/>
                                          </p:stCondLst>
                                        </p:cTn>
                                        <p:tgtEl>
                                          <p:spTgt spid="21"/>
                                        </p:tgtEl>
                                        <p:attrNameLst>
                                          <p:attrName>style.visibility</p:attrName>
                                        </p:attrNameLst>
                                      </p:cBhvr>
                                      <p:to>
                                        <p:strVal val="visible"/>
                                      </p:to>
                                    </p:set>
                                    <p:anim calcmode="lin" valueType="num">
                                      <p:cBhvr>
                                        <p:cTn id="23" dur="500" fill="hold"/>
                                        <p:tgtEl>
                                          <p:spTgt spid="21"/>
                                        </p:tgtEl>
                                        <p:attrNameLst>
                                          <p:attrName>ppt_w</p:attrName>
                                        </p:attrNameLst>
                                      </p:cBhvr>
                                      <p:tavLst>
                                        <p:tav tm="0">
                                          <p:val>
                                            <p:fltVal val="0"/>
                                          </p:val>
                                        </p:tav>
                                        <p:tav tm="100000">
                                          <p:val>
                                            <p:strVal val="#ppt_w"/>
                                          </p:val>
                                        </p:tav>
                                      </p:tavLst>
                                    </p:anim>
                                    <p:anim calcmode="lin" valueType="num">
                                      <p:cBhvr>
                                        <p:cTn id="24" dur="500" fill="hold"/>
                                        <p:tgtEl>
                                          <p:spTgt spid="21"/>
                                        </p:tgtEl>
                                        <p:attrNameLst>
                                          <p:attrName>ppt_h</p:attrName>
                                        </p:attrNameLst>
                                      </p:cBhvr>
                                      <p:tavLst>
                                        <p:tav tm="0">
                                          <p:val>
                                            <p:fltVal val="0"/>
                                          </p:val>
                                        </p:tav>
                                        <p:tav tm="100000">
                                          <p:val>
                                            <p:strVal val="#ppt_h"/>
                                          </p:val>
                                        </p:tav>
                                      </p:tavLst>
                                    </p:anim>
                                    <p:animEffect transition="in" filter="fade">
                                      <p:cBhvr>
                                        <p:cTn id="25" dur="500"/>
                                        <p:tgtEl>
                                          <p:spTgt spid="21"/>
                                        </p:tgtEl>
                                      </p:cBhvr>
                                    </p:animEffect>
                                  </p:childTnLst>
                                </p:cTn>
                              </p:par>
                            </p:childTnLst>
                          </p:cTn>
                        </p:par>
                        <p:par>
                          <p:cTn id="26" fill="hold">
                            <p:stCondLst>
                              <p:cond delay="3500"/>
                            </p:stCondLst>
                            <p:childTnLst>
                              <p:par>
                                <p:cTn id="27" presetID="53" presetClass="entr" presetSubtype="16" fill="hold" grpId="0" nodeType="afterEffect">
                                  <p:stCondLst>
                                    <p:cond delay="0"/>
                                  </p:stCondLst>
                                  <p:childTnLst>
                                    <p:set>
                                      <p:cBhvr>
                                        <p:cTn id="28" dur="1" fill="hold">
                                          <p:stCondLst>
                                            <p:cond delay="0"/>
                                          </p:stCondLst>
                                        </p:cTn>
                                        <p:tgtEl>
                                          <p:spTgt spid="22"/>
                                        </p:tgtEl>
                                        <p:attrNameLst>
                                          <p:attrName>style.visibility</p:attrName>
                                        </p:attrNameLst>
                                      </p:cBhvr>
                                      <p:to>
                                        <p:strVal val="visible"/>
                                      </p:to>
                                    </p:set>
                                    <p:anim calcmode="lin" valueType="num">
                                      <p:cBhvr>
                                        <p:cTn id="29" dur="500" fill="hold"/>
                                        <p:tgtEl>
                                          <p:spTgt spid="22"/>
                                        </p:tgtEl>
                                        <p:attrNameLst>
                                          <p:attrName>ppt_w</p:attrName>
                                        </p:attrNameLst>
                                      </p:cBhvr>
                                      <p:tavLst>
                                        <p:tav tm="0">
                                          <p:val>
                                            <p:fltVal val="0"/>
                                          </p:val>
                                        </p:tav>
                                        <p:tav tm="100000">
                                          <p:val>
                                            <p:strVal val="#ppt_w"/>
                                          </p:val>
                                        </p:tav>
                                      </p:tavLst>
                                    </p:anim>
                                    <p:anim calcmode="lin" valueType="num">
                                      <p:cBhvr>
                                        <p:cTn id="30" dur="500" fill="hold"/>
                                        <p:tgtEl>
                                          <p:spTgt spid="22"/>
                                        </p:tgtEl>
                                        <p:attrNameLst>
                                          <p:attrName>ppt_h</p:attrName>
                                        </p:attrNameLst>
                                      </p:cBhvr>
                                      <p:tavLst>
                                        <p:tav tm="0">
                                          <p:val>
                                            <p:fltVal val="0"/>
                                          </p:val>
                                        </p:tav>
                                        <p:tav tm="100000">
                                          <p:val>
                                            <p:strVal val="#ppt_h"/>
                                          </p:val>
                                        </p:tav>
                                      </p:tavLst>
                                    </p:anim>
                                    <p:animEffect transition="in" filter="fade">
                                      <p:cBhvr>
                                        <p:cTn id="31" dur="500"/>
                                        <p:tgtEl>
                                          <p:spTgt spid="22"/>
                                        </p:tgtEl>
                                      </p:cBhvr>
                                    </p:animEffect>
                                  </p:childTnLst>
                                </p:cTn>
                              </p:par>
                            </p:childTnLst>
                          </p:cTn>
                        </p:par>
                        <p:par>
                          <p:cTn id="32" fill="hold">
                            <p:stCondLst>
                              <p:cond delay="4000"/>
                            </p:stCondLst>
                            <p:childTnLst>
                              <p:par>
                                <p:cTn id="33" presetID="10" presetClass="entr" presetSubtype="0" fill="hold" grpId="0" nodeType="afterEffect">
                                  <p:stCondLst>
                                    <p:cond delay="0"/>
                                  </p:stCondLst>
                                  <p:childTnLst>
                                    <p:set>
                                      <p:cBhvr>
                                        <p:cTn id="34" dur="1" fill="hold">
                                          <p:stCondLst>
                                            <p:cond delay="0"/>
                                          </p:stCondLst>
                                        </p:cTn>
                                        <p:tgtEl>
                                          <p:spTgt spid="23"/>
                                        </p:tgtEl>
                                        <p:attrNameLst>
                                          <p:attrName>style.visibility</p:attrName>
                                        </p:attrNameLst>
                                      </p:cBhvr>
                                      <p:to>
                                        <p:strVal val="visible"/>
                                      </p:to>
                                    </p:set>
                                    <p:animEffect transition="in" filter="fade">
                                      <p:cBhvr>
                                        <p:cTn id="35" dur="500"/>
                                        <p:tgtEl>
                                          <p:spTgt spid="23"/>
                                        </p:tgtEl>
                                      </p:cBhvr>
                                    </p:animEffect>
                                  </p:childTnLst>
                                </p:cTn>
                              </p:par>
                            </p:childTnLst>
                          </p:cTn>
                        </p:par>
                        <p:par>
                          <p:cTn id="36" fill="hold">
                            <p:stCondLst>
                              <p:cond delay="4500"/>
                            </p:stCondLst>
                            <p:childTnLst>
                              <p:par>
                                <p:cTn id="37" presetID="21" presetClass="entr" presetSubtype="1" fill="hold" grpId="0" nodeType="afterEffect">
                                  <p:stCondLst>
                                    <p:cond delay="0"/>
                                  </p:stCondLst>
                                  <p:childTnLst>
                                    <p:set>
                                      <p:cBhvr>
                                        <p:cTn id="38" dur="1" fill="hold">
                                          <p:stCondLst>
                                            <p:cond delay="0"/>
                                          </p:stCondLst>
                                        </p:cTn>
                                        <p:tgtEl>
                                          <p:spTgt spid="25"/>
                                        </p:tgtEl>
                                        <p:attrNameLst>
                                          <p:attrName>style.visibility</p:attrName>
                                        </p:attrNameLst>
                                      </p:cBhvr>
                                      <p:to>
                                        <p:strVal val="visible"/>
                                      </p:to>
                                    </p:set>
                                    <p:animEffect transition="in" filter="wheel(1)">
                                      <p:cBhvr>
                                        <p:cTn id="39" dur="2000"/>
                                        <p:tgtEl>
                                          <p:spTgt spid="25"/>
                                        </p:tgtEl>
                                      </p:cBhvr>
                                    </p:animEffect>
                                  </p:childTnLst>
                                </p:cTn>
                              </p:par>
                            </p:childTnLst>
                          </p:cTn>
                        </p:par>
                        <p:par>
                          <p:cTn id="40" fill="hold">
                            <p:stCondLst>
                              <p:cond delay="6500"/>
                            </p:stCondLst>
                            <p:childTnLst>
                              <p:par>
                                <p:cTn id="41" presetID="53" presetClass="entr" presetSubtype="16" fill="hold" grpId="0" nodeType="afterEffect">
                                  <p:stCondLst>
                                    <p:cond delay="0"/>
                                  </p:stCondLst>
                                  <p:childTnLst>
                                    <p:set>
                                      <p:cBhvr>
                                        <p:cTn id="42" dur="1" fill="hold">
                                          <p:stCondLst>
                                            <p:cond delay="0"/>
                                          </p:stCondLst>
                                        </p:cTn>
                                        <p:tgtEl>
                                          <p:spTgt spid="26"/>
                                        </p:tgtEl>
                                        <p:attrNameLst>
                                          <p:attrName>style.visibility</p:attrName>
                                        </p:attrNameLst>
                                      </p:cBhvr>
                                      <p:to>
                                        <p:strVal val="visible"/>
                                      </p:to>
                                    </p:set>
                                    <p:anim calcmode="lin" valueType="num">
                                      <p:cBhvr>
                                        <p:cTn id="43" dur="500" fill="hold"/>
                                        <p:tgtEl>
                                          <p:spTgt spid="26"/>
                                        </p:tgtEl>
                                        <p:attrNameLst>
                                          <p:attrName>ppt_w</p:attrName>
                                        </p:attrNameLst>
                                      </p:cBhvr>
                                      <p:tavLst>
                                        <p:tav tm="0">
                                          <p:val>
                                            <p:fltVal val="0"/>
                                          </p:val>
                                        </p:tav>
                                        <p:tav tm="100000">
                                          <p:val>
                                            <p:strVal val="#ppt_w"/>
                                          </p:val>
                                        </p:tav>
                                      </p:tavLst>
                                    </p:anim>
                                    <p:anim calcmode="lin" valueType="num">
                                      <p:cBhvr>
                                        <p:cTn id="44" dur="500" fill="hold"/>
                                        <p:tgtEl>
                                          <p:spTgt spid="26"/>
                                        </p:tgtEl>
                                        <p:attrNameLst>
                                          <p:attrName>ppt_h</p:attrName>
                                        </p:attrNameLst>
                                      </p:cBhvr>
                                      <p:tavLst>
                                        <p:tav tm="0">
                                          <p:val>
                                            <p:fltVal val="0"/>
                                          </p:val>
                                        </p:tav>
                                        <p:tav tm="100000">
                                          <p:val>
                                            <p:strVal val="#ppt_h"/>
                                          </p:val>
                                        </p:tav>
                                      </p:tavLst>
                                    </p:anim>
                                    <p:animEffect transition="in" filter="fade">
                                      <p:cBhvr>
                                        <p:cTn id="45" dur="500"/>
                                        <p:tgtEl>
                                          <p:spTgt spid="26"/>
                                        </p:tgtEl>
                                      </p:cBhvr>
                                    </p:animEffect>
                                  </p:childTnLst>
                                </p:cTn>
                              </p:par>
                            </p:childTnLst>
                          </p:cTn>
                        </p:par>
                        <p:par>
                          <p:cTn id="46" fill="hold">
                            <p:stCondLst>
                              <p:cond delay="7000"/>
                            </p:stCondLst>
                            <p:childTnLst>
                              <p:par>
                                <p:cTn id="47" presetID="10" presetClass="entr" presetSubtype="0" fill="hold" grpId="0" nodeType="afterEffect">
                                  <p:stCondLst>
                                    <p:cond delay="0"/>
                                  </p:stCondLst>
                                  <p:childTnLst>
                                    <p:set>
                                      <p:cBhvr>
                                        <p:cTn id="48" dur="1" fill="hold">
                                          <p:stCondLst>
                                            <p:cond delay="0"/>
                                          </p:stCondLst>
                                        </p:cTn>
                                        <p:tgtEl>
                                          <p:spTgt spid="27"/>
                                        </p:tgtEl>
                                        <p:attrNameLst>
                                          <p:attrName>style.visibility</p:attrName>
                                        </p:attrNameLst>
                                      </p:cBhvr>
                                      <p:to>
                                        <p:strVal val="visible"/>
                                      </p:to>
                                    </p:set>
                                    <p:animEffect transition="in" filter="fade">
                                      <p:cBhvr>
                                        <p:cTn id="49" dur="500"/>
                                        <p:tgtEl>
                                          <p:spTgt spid="27"/>
                                        </p:tgtEl>
                                      </p:cBhvr>
                                    </p:animEffect>
                                  </p:childTnLst>
                                </p:cTn>
                              </p:par>
                            </p:childTnLst>
                          </p:cTn>
                        </p:par>
                        <p:par>
                          <p:cTn id="50" fill="hold">
                            <p:stCondLst>
                              <p:cond delay="7500"/>
                            </p:stCondLst>
                            <p:childTnLst>
                              <p:par>
                                <p:cTn id="51" presetID="21" presetClass="entr" presetSubtype="1" fill="hold" grpId="0" nodeType="afterEffect">
                                  <p:stCondLst>
                                    <p:cond delay="0"/>
                                  </p:stCondLst>
                                  <p:childTnLst>
                                    <p:set>
                                      <p:cBhvr>
                                        <p:cTn id="52" dur="1" fill="hold">
                                          <p:stCondLst>
                                            <p:cond delay="0"/>
                                          </p:stCondLst>
                                        </p:cTn>
                                        <p:tgtEl>
                                          <p:spTgt spid="2"/>
                                        </p:tgtEl>
                                        <p:attrNameLst>
                                          <p:attrName>style.visibility</p:attrName>
                                        </p:attrNameLst>
                                      </p:cBhvr>
                                      <p:to>
                                        <p:strVal val="visible"/>
                                      </p:to>
                                    </p:set>
                                    <p:animEffect transition="in" filter="wheel(1)">
                                      <p:cBhvr>
                                        <p:cTn id="53" dur="2000"/>
                                        <p:tgtEl>
                                          <p:spTgt spid="2"/>
                                        </p:tgtEl>
                                      </p:cBhvr>
                                    </p:animEffect>
                                  </p:childTnLst>
                                </p:cTn>
                              </p:par>
                            </p:childTnLst>
                          </p:cTn>
                        </p:par>
                        <p:par>
                          <p:cTn id="54" fill="hold">
                            <p:stCondLst>
                              <p:cond delay="9500"/>
                            </p:stCondLst>
                            <p:childTnLst>
                              <p:par>
                                <p:cTn id="55" presetID="53" presetClass="entr" presetSubtype="16" fill="hold" grpId="0" nodeType="afterEffect">
                                  <p:stCondLst>
                                    <p:cond delay="0"/>
                                  </p:stCondLst>
                                  <p:childTnLst>
                                    <p:set>
                                      <p:cBhvr>
                                        <p:cTn id="56" dur="1" fill="hold">
                                          <p:stCondLst>
                                            <p:cond delay="0"/>
                                          </p:stCondLst>
                                        </p:cTn>
                                        <p:tgtEl>
                                          <p:spTgt spid="5"/>
                                        </p:tgtEl>
                                        <p:attrNameLst>
                                          <p:attrName>style.visibility</p:attrName>
                                        </p:attrNameLst>
                                      </p:cBhvr>
                                      <p:to>
                                        <p:strVal val="visible"/>
                                      </p:to>
                                    </p:set>
                                    <p:anim calcmode="lin" valueType="num">
                                      <p:cBhvr>
                                        <p:cTn id="57" dur="500" fill="hold"/>
                                        <p:tgtEl>
                                          <p:spTgt spid="5"/>
                                        </p:tgtEl>
                                        <p:attrNameLst>
                                          <p:attrName>ppt_w</p:attrName>
                                        </p:attrNameLst>
                                      </p:cBhvr>
                                      <p:tavLst>
                                        <p:tav tm="0">
                                          <p:val>
                                            <p:fltVal val="0"/>
                                          </p:val>
                                        </p:tav>
                                        <p:tav tm="100000">
                                          <p:val>
                                            <p:strVal val="#ppt_w"/>
                                          </p:val>
                                        </p:tav>
                                      </p:tavLst>
                                    </p:anim>
                                    <p:anim calcmode="lin" valueType="num">
                                      <p:cBhvr>
                                        <p:cTn id="58" dur="500" fill="hold"/>
                                        <p:tgtEl>
                                          <p:spTgt spid="5"/>
                                        </p:tgtEl>
                                        <p:attrNameLst>
                                          <p:attrName>ppt_h</p:attrName>
                                        </p:attrNameLst>
                                      </p:cBhvr>
                                      <p:tavLst>
                                        <p:tav tm="0">
                                          <p:val>
                                            <p:fltVal val="0"/>
                                          </p:val>
                                        </p:tav>
                                        <p:tav tm="100000">
                                          <p:val>
                                            <p:strVal val="#ppt_h"/>
                                          </p:val>
                                        </p:tav>
                                      </p:tavLst>
                                    </p:anim>
                                    <p:animEffect transition="in" filter="fade">
                                      <p:cBhvr>
                                        <p:cTn id="59" dur="500"/>
                                        <p:tgtEl>
                                          <p:spTgt spid="5"/>
                                        </p:tgtEl>
                                      </p:cBhvr>
                                    </p:animEffect>
                                  </p:childTnLst>
                                </p:cTn>
                              </p:par>
                            </p:childTnLst>
                          </p:cTn>
                        </p:par>
                        <p:par>
                          <p:cTn id="60" fill="hold">
                            <p:stCondLst>
                              <p:cond delay="10000"/>
                            </p:stCondLst>
                            <p:childTnLst>
                              <p:par>
                                <p:cTn id="61" presetID="10" presetClass="entr" presetSubtype="0" fill="hold" grpId="0" nodeType="afterEffect">
                                  <p:stCondLst>
                                    <p:cond delay="0"/>
                                  </p:stCondLst>
                                  <p:childTnLst>
                                    <p:set>
                                      <p:cBhvr>
                                        <p:cTn id="62" dur="1" fill="hold">
                                          <p:stCondLst>
                                            <p:cond delay="0"/>
                                          </p:stCondLst>
                                        </p:cTn>
                                        <p:tgtEl>
                                          <p:spTgt spid="9"/>
                                        </p:tgtEl>
                                        <p:attrNameLst>
                                          <p:attrName>style.visibility</p:attrName>
                                        </p:attrNameLst>
                                      </p:cBhvr>
                                      <p:to>
                                        <p:strVal val="visible"/>
                                      </p:to>
                                    </p:set>
                                    <p:animEffect transition="in" filter="fade">
                                      <p:cBhvr>
                                        <p:cTn id="6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0" grpId="0" animBg="1"/>
      <p:bldP spid="21" grpId="0" animBg="1"/>
      <p:bldP spid="22" grpId="0" animBg="1"/>
      <p:bldP spid="23" grpId="0" animBg="1"/>
      <p:bldP spid="25" grpId="0" animBg="1"/>
      <p:bldP spid="26" grpId="0" animBg="1"/>
      <p:bldP spid="27" grpId="0" animBg="1"/>
      <p:bldP spid="2" grpId="0" animBg="1"/>
      <p:bldP spid="5" grpId="0" animBg="1"/>
      <p:bldP spid="9"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7CAB2B86-4E3B-C98C-411E-958BEFE187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2528" y="6154887"/>
            <a:ext cx="2234242" cy="525923"/>
          </a:xfrm>
          <a:prstGeom prst="rect">
            <a:avLst/>
          </a:prstGeom>
        </p:spPr>
      </p:pic>
      <p:pic>
        <p:nvPicPr>
          <p:cNvPr id="4" name="Picture 4" descr="Ellucian Student Reseñas 2026: Detalles, Precios y Características | G2">
            <a:extLst>
              <a:ext uri="{FF2B5EF4-FFF2-40B4-BE49-F238E27FC236}">
                <a16:creationId xmlns:a16="http://schemas.microsoft.com/office/drawing/2014/main" id="{7352B780-8C7C-7B91-F3EE-5E6EF2C2E4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98101" y="5901780"/>
            <a:ext cx="1821371" cy="956220"/>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0AEBA78F-8C98-5D4D-384F-95B753FFADE4}"/>
              </a:ext>
            </a:extLst>
          </p:cNvPr>
          <p:cNvSpPr txBox="1"/>
          <p:nvPr/>
        </p:nvSpPr>
        <p:spPr>
          <a:xfrm>
            <a:off x="431320" y="241540"/>
            <a:ext cx="6785832" cy="523220"/>
          </a:xfrm>
          <a:prstGeom prst="rect">
            <a:avLst/>
          </a:prstGeom>
          <a:noFill/>
        </p:spPr>
        <p:txBody>
          <a:bodyPr wrap="none" rtlCol="0">
            <a:spAutoFit/>
          </a:bodyPr>
          <a:lstStyle/>
          <a:p>
            <a:r>
              <a:rPr lang="es-ES" sz="2800" b="1" dirty="0">
                <a:latin typeface="Montserrat" pitchFamily="2" charset="0"/>
              </a:rPr>
              <a:t>CONTROL DE PERIODO - SOATERM</a:t>
            </a:r>
            <a:endParaRPr lang="es-PE" sz="2800" b="1" dirty="0">
              <a:latin typeface="Montserrat" pitchFamily="2" charset="0"/>
            </a:endParaRPr>
          </a:p>
        </p:txBody>
      </p:sp>
      <p:sp>
        <p:nvSpPr>
          <p:cNvPr id="8" name="Rectángulo 7">
            <a:extLst>
              <a:ext uri="{FF2B5EF4-FFF2-40B4-BE49-F238E27FC236}">
                <a16:creationId xmlns:a16="http://schemas.microsoft.com/office/drawing/2014/main" id="{A16BCE08-E23C-F264-A6E3-E4019979D2E2}"/>
              </a:ext>
            </a:extLst>
          </p:cNvPr>
          <p:cNvSpPr/>
          <p:nvPr/>
        </p:nvSpPr>
        <p:spPr>
          <a:xfrm>
            <a:off x="7217152" y="241540"/>
            <a:ext cx="4974847" cy="445583"/>
          </a:xfrm>
          <a:prstGeom prst="rect">
            <a:avLst/>
          </a:prstGeom>
          <a:gradFill flip="none" rotWithShape="1">
            <a:gsLst>
              <a:gs pos="0">
                <a:schemeClr val="accent6">
                  <a:lumMod val="0"/>
                  <a:lumOff val="100000"/>
                </a:schemeClr>
              </a:gs>
              <a:gs pos="66000">
                <a:schemeClr val="accent6">
                  <a:lumMod val="100000"/>
                </a:schemeClr>
              </a:gs>
            </a:gsLst>
            <a:lin ang="0" scaled="1"/>
            <a:tileRect/>
          </a:gra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s-PE"/>
          </a:p>
        </p:txBody>
      </p:sp>
      <p:sp>
        <p:nvSpPr>
          <p:cNvPr id="6" name="CuadroTexto 5">
            <a:extLst>
              <a:ext uri="{FF2B5EF4-FFF2-40B4-BE49-F238E27FC236}">
                <a16:creationId xmlns:a16="http://schemas.microsoft.com/office/drawing/2014/main" id="{AC33DC36-253A-547B-7A30-A152C2F6B4CE}"/>
              </a:ext>
            </a:extLst>
          </p:cNvPr>
          <p:cNvSpPr txBox="1"/>
          <p:nvPr/>
        </p:nvSpPr>
        <p:spPr>
          <a:xfrm>
            <a:off x="4528936" y="6386396"/>
            <a:ext cx="3134128" cy="276999"/>
          </a:xfrm>
          <a:prstGeom prst="rect">
            <a:avLst/>
          </a:prstGeom>
          <a:noFill/>
        </p:spPr>
        <p:txBody>
          <a:bodyPr wrap="none" rtlCol="0">
            <a:spAutoFit/>
          </a:bodyPr>
          <a:lstStyle/>
          <a:p>
            <a:pPr algn="ctr"/>
            <a:r>
              <a:rPr lang="es-ES" sz="1200" i="1" dirty="0"/>
              <a:t>Elaborado por: Ing. Liliana Ocampo Moreno</a:t>
            </a:r>
            <a:endParaRPr lang="es-PE" sz="1200" i="1" dirty="0"/>
          </a:p>
        </p:txBody>
      </p:sp>
      <p:pic>
        <p:nvPicPr>
          <p:cNvPr id="5" name="Imagen 4">
            <a:extLst>
              <a:ext uri="{FF2B5EF4-FFF2-40B4-BE49-F238E27FC236}">
                <a16:creationId xmlns:a16="http://schemas.microsoft.com/office/drawing/2014/main" id="{FC169C7F-4ABC-D76F-08D7-DBDA2980CEB5}"/>
              </a:ext>
            </a:extLst>
          </p:cNvPr>
          <p:cNvPicPr>
            <a:picLocks noChangeAspect="1"/>
          </p:cNvPicPr>
          <p:nvPr/>
        </p:nvPicPr>
        <p:blipFill>
          <a:blip r:embed="rId4"/>
          <a:stretch>
            <a:fillRect/>
          </a:stretch>
        </p:blipFill>
        <p:spPr>
          <a:xfrm>
            <a:off x="337178" y="983227"/>
            <a:ext cx="11581233" cy="4918554"/>
          </a:xfrm>
          <a:prstGeom prst="rect">
            <a:avLst/>
          </a:prstGeom>
        </p:spPr>
      </p:pic>
      <p:sp>
        <p:nvSpPr>
          <p:cNvPr id="10" name="Rectángulo 9">
            <a:extLst>
              <a:ext uri="{FF2B5EF4-FFF2-40B4-BE49-F238E27FC236}">
                <a16:creationId xmlns:a16="http://schemas.microsoft.com/office/drawing/2014/main" id="{EF1C1F51-FE1A-DDFA-9F1B-CEC3839A78D9}"/>
              </a:ext>
            </a:extLst>
          </p:cNvPr>
          <p:cNvSpPr/>
          <p:nvPr/>
        </p:nvSpPr>
        <p:spPr>
          <a:xfrm>
            <a:off x="3913239" y="1543665"/>
            <a:ext cx="2202425" cy="224589"/>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11" name="CuadroTexto 10">
            <a:extLst>
              <a:ext uri="{FF2B5EF4-FFF2-40B4-BE49-F238E27FC236}">
                <a16:creationId xmlns:a16="http://schemas.microsoft.com/office/drawing/2014/main" id="{0A4243F5-C09D-6AFA-33DE-059B806A6BF9}"/>
              </a:ext>
            </a:extLst>
          </p:cNvPr>
          <p:cNvSpPr txBox="1"/>
          <p:nvPr/>
        </p:nvSpPr>
        <p:spPr>
          <a:xfrm>
            <a:off x="6225813" y="1171738"/>
            <a:ext cx="4275039" cy="623381"/>
          </a:xfrm>
          <a:prstGeom prst="roundRect">
            <a:avLst>
              <a:gd name="adj" fmla="val 7573"/>
            </a:avLst>
          </a:prstGeom>
          <a:solidFill>
            <a:srgbClr val="7030A0"/>
          </a:solidFill>
        </p:spPr>
        <p:txBody>
          <a:bodyPr wrap="square">
            <a:spAutoFit/>
          </a:bodyPr>
          <a:lstStyle/>
          <a:p>
            <a:pPr algn="ctr"/>
            <a:r>
              <a:rPr lang="es-ES" sz="1100" dirty="0">
                <a:solidFill>
                  <a:srgbClr val="FFFFFF"/>
                </a:solidFill>
              </a:rPr>
              <a:t>En la pestaña </a:t>
            </a:r>
            <a:r>
              <a:rPr lang="es-ES" sz="1100" b="1" dirty="0">
                <a:solidFill>
                  <a:srgbClr val="92D050"/>
                </a:solidFill>
              </a:rPr>
              <a:t>Controles de inscripción de parte de período y web</a:t>
            </a:r>
            <a:r>
              <a:rPr lang="es-ES" sz="1100" dirty="0">
                <a:solidFill>
                  <a:srgbClr val="FFFFFF"/>
                </a:solidFill>
              </a:rPr>
              <a:t> se deben definir las partes de periodo que estarían disponibles en el periodo para la programación académica</a:t>
            </a:r>
            <a:endParaRPr lang="es-ES" b="1" dirty="0">
              <a:solidFill>
                <a:srgbClr val="92D050"/>
              </a:solidFill>
              <a:effectLst/>
            </a:endParaRPr>
          </a:p>
        </p:txBody>
      </p:sp>
      <p:sp>
        <p:nvSpPr>
          <p:cNvPr id="12" name="Rectángulo 11">
            <a:extLst>
              <a:ext uri="{FF2B5EF4-FFF2-40B4-BE49-F238E27FC236}">
                <a16:creationId xmlns:a16="http://schemas.microsoft.com/office/drawing/2014/main" id="{A9601F0F-3F9C-F788-C878-35BE88BB9306}"/>
              </a:ext>
            </a:extLst>
          </p:cNvPr>
          <p:cNvSpPr/>
          <p:nvPr/>
        </p:nvSpPr>
        <p:spPr>
          <a:xfrm>
            <a:off x="337177" y="2159168"/>
            <a:ext cx="754203" cy="202930"/>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13" name="Rectángulo: esquinas redondeadas 12">
            <a:extLst>
              <a:ext uri="{FF2B5EF4-FFF2-40B4-BE49-F238E27FC236}">
                <a16:creationId xmlns:a16="http://schemas.microsoft.com/office/drawing/2014/main" id="{F40AEC97-5338-4CB4-5DC1-ABA570AB520C}"/>
              </a:ext>
            </a:extLst>
          </p:cNvPr>
          <p:cNvSpPr/>
          <p:nvPr/>
        </p:nvSpPr>
        <p:spPr>
          <a:xfrm>
            <a:off x="1193818" y="2145151"/>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t>2</a:t>
            </a:r>
            <a:endParaRPr lang="es-PE" sz="1100" b="1" dirty="0"/>
          </a:p>
        </p:txBody>
      </p:sp>
      <p:sp>
        <p:nvSpPr>
          <p:cNvPr id="14" name="CuadroTexto 13">
            <a:hlinkClick r:id="rId5" action="ppaction://hlinksldjump"/>
            <a:extLst>
              <a:ext uri="{FF2B5EF4-FFF2-40B4-BE49-F238E27FC236}">
                <a16:creationId xmlns:a16="http://schemas.microsoft.com/office/drawing/2014/main" id="{86FE9D2A-E446-1748-D727-B3055BD972BB}"/>
              </a:ext>
            </a:extLst>
          </p:cNvPr>
          <p:cNvSpPr txBox="1"/>
          <p:nvPr/>
        </p:nvSpPr>
        <p:spPr>
          <a:xfrm>
            <a:off x="273589" y="2537121"/>
            <a:ext cx="3895288" cy="1502509"/>
          </a:xfrm>
          <a:prstGeom prst="roundRect">
            <a:avLst>
              <a:gd name="adj" fmla="val 7573"/>
            </a:avLst>
          </a:prstGeom>
          <a:solidFill>
            <a:srgbClr val="7030A0"/>
          </a:solidFill>
        </p:spPr>
        <p:txBody>
          <a:bodyPr wrap="square">
            <a:spAutoFit/>
          </a:bodyPr>
          <a:lstStyle/>
          <a:p>
            <a:pPr algn="ctr"/>
            <a:r>
              <a:rPr lang="es-ES" sz="1100" dirty="0">
                <a:solidFill>
                  <a:srgbClr val="FFFFFF"/>
                </a:solidFill>
              </a:rPr>
              <a:t>Seleccione o ingrese el </a:t>
            </a:r>
            <a:r>
              <a:rPr lang="es-ES" sz="1100" b="1" dirty="0">
                <a:solidFill>
                  <a:srgbClr val="92D050"/>
                </a:solidFill>
              </a:rPr>
              <a:t>código de la parte de período</a:t>
            </a:r>
            <a:r>
              <a:rPr lang="es-ES" sz="1100" dirty="0">
                <a:solidFill>
                  <a:srgbClr val="FFFFFF"/>
                </a:solidFill>
              </a:rPr>
              <a:t> (máx. 3 caracteres) que estará disponible en el período para programar asignaturas. (Requerido)</a:t>
            </a:r>
          </a:p>
          <a:p>
            <a:pPr algn="ctr"/>
            <a:r>
              <a:rPr lang="es-ES" sz="1100" dirty="0">
                <a:solidFill>
                  <a:srgbClr val="FFFFFF"/>
                </a:solidFill>
              </a:rPr>
              <a:t>Recuerde que las partes de período corresponden a la oferta de las asignaturas o secciones que se programarán.</a:t>
            </a:r>
          </a:p>
          <a:p>
            <a:pPr algn="ctr"/>
            <a:r>
              <a:rPr lang="es-ES" sz="1100" b="1" dirty="0">
                <a:solidFill>
                  <a:srgbClr val="FFFFFF"/>
                </a:solidFill>
              </a:rPr>
              <a:t>Es </a:t>
            </a:r>
            <a:r>
              <a:rPr lang="es-ES" sz="1100" b="1" dirty="0">
                <a:solidFill>
                  <a:srgbClr val="92D050"/>
                </a:solidFill>
              </a:rPr>
              <a:t>obligatorio</a:t>
            </a:r>
            <a:r>
              <a:rPr lang="es-ES" sz="1100" b="1" dirty="0">
                <a:solidFill>
                  <a:srgbClr val="FFFFFF"/>
                </a:solidFill>
              </a:rPr>
              <a:t> programar la </a:t>
            </a:r>
            <a:r>
              <a:rPr lang="es-ES" sz="1100" b="1" dirty="0">
                <a:solidFill>
                  <a:srgbClr val="92D050"/>
                </a:solidFill>
              </a:rPr>
              <a:t>parte de período 1</a:t>
            </a:r>
            <a:r>
              <a:rPr lang="es-ES" sz="1100" b="1" dirty="0">
                <a:solidFill>
                  <a:srgbClr val="FFFFFF"/>
                </a:solidFill>
              </a:rPr>
              <a:t> en cada período, además de las parte de período propias de la institución.</a:t>
            </a:r>
          </a:p>
        </p:txBody>
      </p:sp>
      <p:sp>
        <p:nvSpPr>
          <p:cNvPr id="15" name="Rectángulo 14">
            <a:extLst>
              <a:ext uri="{FF2B5EF4-FFF2-40B4-BE49-F238E27FC236}">
                <a16:creationId xmlns:a16="http://schemas.microsoft.com/office/drawing/2014/main" id="{AF38F330-72DC-5792-643B-5748D6BE776F}"/>
              </a:ext>
            </a:extLst>
          </p:cNvPr>
          <p:cNvSpPr/>
          <p:nvPr/>
        </p:nvSpPr>
        <p:spPr>
          <a:xfrm>
            <a:off x="11027226" y="1696240"/>
            <a:ext cx="215660" cy="224286"/>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16" name="Rectángulo: esquinas redondeadas 15">
            <a:extLst>
              <a:ext uri="{FF2B5EF4-FFF2-40B4-BE49-F238E27FC236}">
                <a16:creationId xmlns:a16="http://schemas.microsoft.com/office/drawing/2014/main" id="{D5C73A63-5479-1D89-CC5A-937BC889DF65}"/>
              </a:ext>
            </a:extLst>
          </p:cNvPr>
          <p:cNvSpPr/>
          <p:nvPr/>
        </p:nvSpPr>
        <p:spPr>
          <a:xfrm>
            <a:off x="11027226" y="2026850"/>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t>1</a:t>
            </a:r>
            <a:endParaRPr lang="es-PE" sz="1100" b="1" dirty="0"/>
          </a:p>
        </p:txBody>
      </p:sp>
      <p:sp>
        <p:nvSpPr>
          <p:cNvPr id="24" name="CuadroTexto 23">
            <a:extLst>
              <a:ext uri="{FF2B5EF4-FFF2-40B4-BE49-F238E27FC236}">
                <a16:creationId xmlns:a16="http://schemas.microsoft.com/office/drawing/2014/main" id="{46094240-E149-F6F1-8288-F35EE6C5311F}"/>
              </a:ext>
            </a:extLst>
          </p:cNvPr>
          <p:cNvSpPr txBox="1"/>
          <p:nvPr/>
        </p:nvSpPr>
        <p:spPr>
          <a:xfrm>
            <a:off x="9987186" y="2321848"/>
            <a:ext cx="1744692" cy="623381"/>
          </a:xfrm>
          <a:prstGeom prst="roundRect">
            <a:avLst>
              <a:gd name="adj" fmla="val 7573"/>
            </a:avLst>
          </a:prstGeom>
          <a:solidFill>
            <a:srgbClr val="7030A0"/>
          </a:solidFill>
        </p:spPr>
        <p:txBody>
          <a:bodyPr wrap="square">
            <a:spAutoFit/>
          </a:bodyPr>
          <a:lstStyle/>
          <a:p>
            <a:pPr algn="ctr" rtl="0">
              <a:spcBef>
                <a:spcPts val="0"/>
              </a:spcBef>
              <a:spcAft>
                <a:spcPts val="0"/>
              </a:spcAft>
            </a:pPr>
            <a:r>
              <a:rPr lang="es-ES" sz="1100" b="0" i="0" u="none" strike="noStrike" dirty="0">
                <a:solidFill>
                  <a:srgbClr val="FFFFFF"/>
                </a:solidFill>
                <a:effectLst/>
              </a:rPr>
              <a:t>Para ingresar un nuevo código, debe hacer clic en la opción </a:t>
            </a:r>
            <a:r>
              <a:rPr lang="es-ES" sz="1100" b="1" i="0" u="none" strike="noStrike" dirty="0">
                <a:solidFill>
                  <a:srgbClr val="92D050"/>
                </a:solidFill>
                <a:effectLst/>
              </a:rPr>
              <a:t>+</a:t>
            </a:r>
            <a:endParaRPr lang="es-ES" b="1" dirty="0">
              <a:solidFill>
                <a:srgbClr val="92D050"/>
              </a:solidFill>
              <a:effectLst/>
            </a:endParaRPr>
          </a:p>
        </p:txBody>
      </p:sp>
    </p:spTree>
    <p:extLst>
      <p:ext uri="{BB962C8B-B14F-4D97-AF65-F5344CB8AC3E}">
        <p14:creationId xmlns:p14="http://schemas.microsoft.com/office/powerpoint/2010/main" val="15512496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left)">
                                      <p:cBhvr>
                                        <p:cTn id="10" dur="500"/>
                                        <p:tgtEl>
                                          <p:spTgt spid="8"/>
                                        </p:tgtEl>
                                      </p:cBhvr>
                                    </p:animEffect>
                                  </p:childTnLst>
                                </p:cTn>
                              </p:par>
                            </p:childTnLst>
                          </p:cTn>
                        </p:par>
                        <p:par>
                          <p:cTn id="11" fill="hold">
                            <p:stCondLst>
                              <p:cond delay="500"/>
                            </p:stCondLst>
                            <p:childTnLst>
                              <p:par>
                                <p:cTn id="12" presetID="9" presetClass="entr" presetSubtype="0" fill="hold"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dissolve">
                                      <p:cBhvr>
                                        <p:cTn id="14" dur="500"/>
                                        <p:tgtEl>
                                          <p:spTgt spid="5"/>
                                        </p:tgtEl>
                                      </p:cBhvr>
                                    </p:animEffect>
                                  </p:childTnLst>
                                </p:cTn>
                              </p:par>
                            </p:childTnLst>
                          </p:cTn>
                        </p:par>
                        <p:par>
                          <p:cTn id="15" fill="hold">
                            <p:stCondLst>
                              <p:cond delay="1000"/>
                            </p:stCondLst>
                            <p:childTnLst>
                              <p:par>
                                <p:cTn id="16" presetID="21" presetClass="entr" presetSubtype="1" fill="hold" grpId="0" nodeType="after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wheel(1)">
                                      <p:cBhvr>
                                        <p:cTn id="18" dur="2000"/>
                                        <p:tgtEl>
                                          <p:spTgt spid="10"/>
                                        </p:tgtEl>
                                      </p:cBhvr>
                                    </p:animEffect>
                                  </p:childTnLst>
                                </p:cTn>
                              </p:par>
                            </p:childTnLst>
                          </p:cTn>
                        </p:par>
                        <p:par>
                          <p:cTn id="19" fill="hold">
                            <p:stCondLst>
                              <p:cond delay="3000"/>
                            </p:stCondLst>
                            <p:childTnLst>
                              <p:par>
                                <p:cTn id="20" presetID="10" presetClass="entr" presetSubtype="0" fill="hold" grpId="0" nodeType="after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childTnLst>
                          </p:cTn>
                        </p:par>
                        <p:par>
                          <p:cTn id="23" fill="hold">
                            <p:stCondLst>
                              <p:cond delay="3500"/>
                            </p:stCondLst>
                            <p:childTnLst>
                              <p:par>
                                <p:cTn id="24" presetID="21" presetClass="entr" presetSubtype="1" fill="hold" grpId="0" nodeType="after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wheel(1)">
                                      <p:cBhvr>
                                        <p:cTn id="26" dur="2000"/>
                                        <p:tgtEl>
                                          <p:spTgt spid="15"/>
                                        </p:tgtEl>
                                      </p:cBhvr>
                                    </p:animEffect>
                                  </p:childTnLst>
                                </p:cTn>
                              </p:par>
                            </p:childTnLst>
                          </p:cTn>
                        </p:par>
                        <p:par>
                          <p:cTn id="27" fill="hold">
                            <p:stCondLst>
                              <p:cond delay="5500"/>
                            </p:stCondLst>
                            <p:childTnLst>
                              <p:par>
                                <p:cTn id="28" presetID="53" presetClass="entr" presetSubtype="16" fill="hold" grpId="0" nodeType="afterEffect">
                                  <p:stCondLst>
                                    <p:cond delay="0"/>
                                  </p:stCondLst>
                                  <p:childTnLst>
                                    <p:set>
                                      <p:cBhvr>
                                        <p:cTn id="29" dur="1" fill="hold">
                                          <p:stCondLst>
                                            <p:cond delay="0"/>
                                          </p:stCondLst>
                                        </p:cTn>
                                        <p:tgtEl>
                                          <p:spTgt spid="16"/>
                                        </p:tgtEl>
                                        <p:attrNameLst>
                                          <p:attrName>style.visibility</p:attrName>
                                        </p:attrNameLst>
                                      </p:cBhvr>
                                      <p:to>
                                        <p:strVal val="visible"/>
                                      </p:to>
                                    </p:set>
                                    <p:anim calcmode="lin" valueType="num">
                                      <p:cBhvr>
                                        <p:cTn id="30" dur="500" fill="hold"/>
                                        <p:tgtEl>
                                          <p:spTgt spid="16"/>
                                        </p:tgtEl>
                                        <p:attrNameLst>
                                          <p:attrName>ppt_w</p:attrName>
                                        </p:attrNameLst>
                                      </p:cBhvr>
                                      <p:tavLst>
                                        <p:tav tm="0">
                                          <p:val>
                                            <p:fltVal val="0"/>
                                          </p:val>
                                        </p:tav>
                                        <p:tav tm="100000">
                                          <p:val>
                                            <p:strVal val="#ppt_w"/>
                                          </p:val>
                                        </p:tav>
                                      </p:tavLst>
                                    </p:anim>
                                    <p:anim calcmode="lin" valueType="num">
                                      <p:cBhvr>
                                        <p:cTn id="31" dur="500" fill="hold"/>
                                        <p:tgtEl>
                                          <p:spTgt spid="16"/>
                                        </p:tgtEl>
                                        <p:attrNameLst>
                                          <p:attrName>ppt_h</p:attrName>
                                        </p:attrNameLst>
                                      </p:cBhvr>
                                      <p:tavLst>
                                        <p:tav tm="0">
                                          <p:val>
                                            <p:fltVal val="0"/>
                                          </p:val>
                                        </p:tav>
                                        <p:tav tm="100000">
                                          <p:val>
                                            <p:strVal val="#ppt_h"/>
                                          </p:val>
                                        </p:tav>
                                      </p:tavLst>
                                    </p:anim>
                                    <p:animEffect transition="in" filter="fade">
                                      <p:cBhvr>
                                        <p:cTn id="32" dur="500"/>
                                        <p:tgtEl>
                                          <p:spTgt spid="16"/>
                                        </p:tgtEl>
                                      </p:cBhvr>
                                    </p:animEffect>
                                  </p:childTnLst>
                                </p:cTn>
                              </p:par>
                            </p:childTnLst>
                          </p:cTn>
                        </p:par>
                        <p:par>
                          <p:cTn id="33" fill="hold">
                            <p:stCondLst>
                              <p:cond delay="6000"/>
                            </p:stCondLst>
                            <p:childTnLst>
                              <p:par>
                                <p:cTn id="34" presetID="10" presetClass="entr" presetSubtype="0" fill="hold" grpId="0" nodeType="afterEffect">
                                  <p:stCondLst>
                                    <p:cond delay="0"/>
                                  </p:stCondLst>
                                  <p:childTnLst>
                                    <p:set>
                                      <p:cBhvr>
                                        <p:cTn id="35" dur="1" fill="hold">
                                          <p:stCondLst>
                                            <p:cond delay="0"/>
                                          </p:stCondLst>
                                        </p:cTn>
                                        <p:tgtEl>
                                          <p:spTgt spid="24"/>
                                        </p:tgtEl>
                                        <p:attrNameLst>
                                          <p:attrName>style.visibility</p:attrName>
                                        </p:attrNameLst>
                                      </p:cBhvr>
                                      <p:to>
                                        <p:strVal val="visible"/>
                                      </p:to>
                                    </p:set>
                                    <p:animEffect transition="in" filter="fade">
                                      <p:cBhvr>
                                        <p:cTn id="36" dur="500"/>
                                        <p:tgtEl>
                                          <p:spTgt spid="24"/>
                                        </p:tgtEl>
                                      </p:cBhvr>
                                    </p:animEffect>
                                  </p:childTnLst>
                                </p:cTn>
                              </p:par>
                            </p:childTnLst>
                          </p:cTn>
                        </p:par>
                        <p:par>
                          <p:cTn id="37" fill="hold">
                            <p:stCondLst>
                              <p:cond delay="6500"/>
                            </p:stCondLst>
                            <p:childTnLst>
                              <p:par>
                                <p:cTn id="38" presetID="21" presetClass="entr" presetSubtype="1" fill="hold" grpId="0" nodeType="after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wheel(1)">
                                      <p:cBhvr>
                                        <p:cTn id="40" dur="2000"/>
                                        <p:tgtEl>
                                          <p:spTgt spid="12"/>
                                        </p:tgtEl>
                                      </p:cBhvr>
                                    </p:animEffect>
                                  </p:childTnLst>
                                </p:cTn>
                              </p:par>
                            </p:childTnLst>
                          </p:cTn>
                        </p:par>
                        <p:par>
                          <p:cTn id="41" fill="hold">
                            <p:stCondLst>
                              <p:cond delay="8500"/>
                            </p:stCondLst>
                            <p:childTnLst>
                              <p:par>
                                <p:cTn id="42" presetID="53" presetClass="entr" presetSubtype="16" fill="hold" grpId="0" nodeType="afterEffect">
                                  <p:stCondLst>
                                    <p:cond delay="0"/>
                                  </p:stCondLst>
                                  <p:childTnLst>
                                    <p:set>
                                      <p:cBhvr>
                                        <p:cTn id="43" dur="1" fill="hold">
                                          <p:stCondLst>
                                            <p:cond delay="0"/>
                                          </p:stCondLst>
                                        </p:cTn>
                                        <p:tgtEl>
                                          <p:spTgt spid="13"/>
                                        </p:tgtEl>
                                        <p:attrNameLst>
                                          <p:attrName>style.visibility</p:attrName>
                                        </p:attrNameLst>
                                      </p:cBhvr>
                                      <p:to>
                                        <p:strVal val="visible"/>
                                      </p:to>
                                    </p:set>
                                    <p:anim calcmode="lin" valueType="num">
                                      <p:cBhvr>
                                        <p:cTn id="44" dur="500" fill="hold"/>
                                        <p:tgtEl>
                                          <p:spTgt spid="13"/>
                                        </p:tgtEl>
                                        <p:attrNameLst>
                                          <p:attrName>ppt_w</p:attrName>
                                        </p:attrNameLst>
                                      </p:cBhvr>
                                      <p:tavLst>
                                        <p:tav tm="0">
                                          <p:val>
                                            <p:fltVal val="0"/>
                                          </p:val>
                                        </p:tav>
                                        <p:tav tm="100000">
                                          <p:val>
                                            <p:strVal val="#ppt_w"/>
                                          </p:val>
                                        </p:tav>
                                      </p:tavLst>
                                    </p:anim>
                                    <p:anim calcmode="lin" valueType="num">
                                      <p:cBhvr>
                                        <p:cTn id="45" dur="500" fill="hold"/>
                                        <p:tgtEl>
                                          <p:spTgt spid="13"/>
                                        </p:tgtEl>
                                        <p:attrNameLst>
                                          <p:attrName>ppt_h</p:attrName>
                                        </p:attrNameLst>
                                      </p:cBhvr>
                                      <p:tavLst>
                                        <p:tav tm="0">
                                          <p:val>
                                            <p:fltVal val="0"/>
                                          </p:val>
                                        </p:tav>
                                        <p:tav tm="100000">
                                          <p:val>
                                            <p:strVal val="#ppt_h"/>
                                          </p:val>
                                        </p:tav>
                                      </p:tavLst>
                                    </p:anim>
                                    <p:animEffect transition="in" filter="fade">
                                      <p:cBhvr>
                                        <p:cTn id="46" dur="500"/>
                                        <p:tgtEl>
                                          <p:spTgt spid="13"/>
                                        </p:tgtEl>
                                      </p:cBhvr>
                                    </p:animEffect>
                                  </p:childTnLst>
                                </p:cTn>
                              </p:par>
                            </p:childTnLst>
                          </p:cTn>
                        </p:par>
                        <p:par>
                          <p:cTn id="47" fill="hold">
                            <p:stCondLst>
                              <p:cond delay="9000"/>
                            </p:stCondLst>
                            <p:childTnLst>
                              <p:par>
                                <p:cTn id="48" presetID="10" presetClass="entr" presetSubtype="0" fill="hold" grpId="0" nodeType="afterEffect">
                                  <p:stCondLst>
                                    <p:cond delay="0"/>
                                  </p:stCondLst>
                                  <p:childTnLst>
                                    <p:set>
                                      <p:cBhvr>
                                        <p:cTn id="49" dur="1" fill="hold">
                                          <p:stCondLst>
                                            <p:cond delay="0"/>
                                          </p:stCondLst>
                                        </p:cTn>
                                        <p:tgtEl>
                                          <p:spTgt spid="14"/>
                                        </p:tgtEl>
                                        <p:attrNameLst>
                                          <p:attrName>style.visibility</p:attrName>
                                        </p:attrNameLst>
                                      </p:cBhvr>
                                      <p:to>
                                        <p:strVal val="visible"/>
                                      </p:to>
                                    </p:set>
                                    <p:animEffect transition="in" filter="fade">
                                      <p:cBhvr>
                                        <p:cTn id="50"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10" grpId="0" animBg="1"/>
      <p:bldP spid="11" grpId="0" animBg="1"/>
      <p:bldP spid="12" grpId="0" animBg="1"/>
      <p:bldP spid="13" grpId="0" animBg="1"/>
      <p:bldP spid="14" grpId="0" animBg="1"/>
      <p:bldP spid="15" grpId="0" animBg="1"/>
      <p:bldP spid="16" grpId="0" animBg="1"/>
      <p:bldP spid="24"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7CAB2B86-4E3B-C98C-411E-958BEFE187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2528" y="6154887"/>
            <a:ext cx="2234242" cy="525923"/>
          </a:xfrm>
          <a:prstGeom prst="rect">
            <a:avLst/>
          </a:prstGeom>
        </p:spPr>
      </p:pic>
      <p:pic>
        <p:nvPicPr>
          <p:cNvPr id="4" name="Picture 4" descr="Ellucian Student Reseñas 2026: Detalles, Precios y Características | G2">
            <a:extLst>
              <a:ext uri="{FF2B5EF4-FFF2-40B4-BE49-F238E27FC236}">
                <a16:creationId xmlns:a16="http://schemas.microsoft.com/office/drawing/2014/main" id="{7352B780-8C7C-7B91-F3EE-5E6EF2C2E4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98101" y="5901780"/>
            <a:ext cx="1821371" cy="956220"/>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0AEBA78F-8C98-5D4D-384F-95B753FFADE4}"/>
              </a:ext>
            </a:extLst>
          </p:cNvPr>
          <p:cNvSpPr txBox="1"/>
          <p:nvPr/>
        </p:nvSpPr>
        <p:spPr>
          <a:xfrm>
            <a:off x="431320" y="241540"/>
            <a:ext cx="6785832" cy="523220"/>
          </a:xfrm>
          <a:prstGeom prst="rect">
            <a:avLst/>
          </a:prstGeom>
          <a:noFill/>
        </p:spPr>
        <p:txBody>
          <a:bodyPr wrap="none" rtlCol="0">
            <a:spAutoFit/>
          </a:bodyPr>
          <a:lstStyle/>
          <a:p>
            <a:r>
              <a:rPr lang="es-ES" sz="2800" b="1" dirty="0">
                <a:latin typeface="Montserrat" pitchFamily="2" charset="0"/>
              </a:rPr>
              <a:t>CONTROL DE PERIODO - SOATERM</a:t>
            </a:r>
            <a:endParaRPr lang="es-PE" sz="2800" b="1" dirty="0">
              <a:latin typeface="Montserrat" pitchFamily="2" charset="0"/>
            </a:endParaRPr>
          </a:p>
        </p:txBody>
      </p:sp>
      <p:sp>
        <p:nvSpPr>
          <p:cNvPr id="8" name="Rectángulo 7">
            <a:extLst>
              <a:ext uri="{FF2B5EF4-FFF2-40B4-BE49-F238E27FC236}">
                <a16:creationId xmlns:a16="http://schemas.microsoft.com/office/drawing/2014/main" id="{A16BCE08-E23C-F264-A6E3-E4019979D2E2}"/>
              </a:ext>
            </a:extLst>
          </p:cNvPr>
          <p:cNvSpPr/>
          <p:nvPr/>
        </p:nvSpPr>
        <p:spPr>
          <a:xfrm>
            <a:off x="7217152" y="241540"/>
            <a:ext cx="4974847" cy="445583"/>
          </a:xfrm>
          <a:prstGeom prst="rect">
            <a:avLst/>
          </a:prstGeom>
          <a:gradFill flip="none" rotWithShape="1">
            <a:gsLst>
              <a:gs pos="0">
                <a:schemeClr val="accent6">
                  <a:lumMod val="0"/>
                  <a:lumOff val="100000"/>
                </a:schemeClr>
              </a:gs>
              <a:gs pos="66000">
                <a:schemeClr val="accent6">
                  <a:lumMod val="100000"/>
                </a:schemeClr>
              </a:gs>
            </a:gsLst>
            <a:lin ang="0" scaled="1"/>
            <a:tileRect/>
          </a:gra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s-PE"/>
          </a:p>
        </p:txBody>
      </p:sp>
      <p:sp>
        <p:nvSpPr>
          <p:cNvPr id="6" name="CuadroTexto 5">
            <a:extLst>
              <a:ext uri="{FF2B5EF4-FFF2-40B4-BE49-F238E27FC236}">
                <a16:creationId xmlns:a16="http://schemas.microsoft.com/office/drawing/2014/main" id="{AC33DC36-253A-547B-7A30-A152C2F6B4CE}"/>
              </a:ext>
            </a:extLst>
          </p:cNvPr>
          <p:cNvSpPr txBox="1"/>
          <p:nvPr/>
        </p:nvSpPr>
        <p:spPr>
          <a:xfrm>
            <a:off x="4528936" y="6386396"/>
            <a:ext cx="3134128" cy="276999"/>
          </a:xfrm>
          <a:prstGeom prst="rect">
            <a:avLst/>
          </a:prstGeom>
          <a:noFill/>
        </p:spPr>
        <p:txBody>
          <a:bodyPr wrap="none" rtlCol="0">
            <a:spAutoFit/>
          </a:bodyPr>
          <a:lstStyle/>
          <a:p>
            <a:pPr algn="ctr"/>
            <a:r>
              <a:rPr lang="es-ES" sz="1200" i="1" dirty="0"/>
              <a:t>Elaborado por: Ing. Liliana Ocampo Moreno</a:t>
            </a:r>
            <a:endParaRPr lang="es-PE" sz="1200" i="1" dirty="0"/>
          </a:p>
        </p:txBody>
      </p:sp>
      <p:pic>
        <p:nvPicPr>
          <p:cNvPr id="5" name="Imagen 4">
            <a:extLst>
              <a:ext uri="{FF2B5EF4-FFF2-40B4-BE49-F238E27FC236}">
                <a16:creationId xmlns:a16="http://schemas.microsoft.com/office/drawing/2014/main" id="{FC169C7F-4ABC-D76F-08D7-DBDA2980CEB5}"/>
              </a:ext>
            </a:extLst>
          </p:cNvPr>
          <p:cNvPicPr>
            <a:picLocks noChangeAspect="1"/>
          </p:cNvPicPr>
          <p:nvPr/>
        </p:nvPicPr>
        <p:blipFill>
          <a:blip r:embed="rId4"/>
          <a:stretch>
            <a:fillRect/>
          </a:stretch>
        </p:blipFill>
        <p:spPr>
          <a:xfrm>
            <a:off x="337178" y="983227"/>
            <a:ext cx="11581233" cy="4918554"/>
          </a:xfrm>
          <a:prstGeom prst="rect">
            <a:avLst/>
          </a:prstGeom>
        </p:spPr>
      </p:pic>
      <p:sp>
        <p:nvSpPr>
          <p:cNvPr id="2" name="Rectángulo 1">
            <a:extLst>
              <a:ext uri="{FF2B5EF4-FFF2-40B4-BE49-F238E27FC236}">
                <a16:creationId xmlns:a16="http://schemas.microsoft.com/office/drawing/2014/main" id="{0BA79CD3-9465-0AC3-B42C-103072C4CC7B}"/>
              </a:ext>
            </a:extLst>
          </p:cNvPr>
          <p:cNvSpPr/>
          <p:nvPr/>
        </p:nvSpPr>
        <p:spPr>
          <a:xfrm>
            <a:off x="1143422" y="2164952"/>
            <a:ext cx="2307701" cy="224286"/>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9" name="Rectángulo: esquinas redondeadas 8">
            <a:extLst>
              <a:ext uri="{FF2B5EF4-FFF2-40B4-BE49-F238E27FC236}">
                <a16:creationId xmlns:a16="http://schemas.microsoft.com/office/drawing/2014/main" id="{C9EF554F-A3E8-4E30-2C42-3FCB60C362C2}"/>
              </a:ext>
            </a:extLst>
          </p:cNvPr>
          <p:cNvSpPr/>
          <p:nvPr/>
        </p:nvSpPr>
        <p:spPr>
          <a:xfrm>
            <a:off x="2001773" y="2495562"/>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t>3</a:t>
            </a:r>
            <a:endParaRPr lang="es-PE" sz="1100" b="1" dirty="0"/>
          </a:p>
        </p:txBody>
      </p:sp>
      <p:sp>
        <p:nvSpPr>
          <p:cNvPr id="17" name="CuadroTexto 16">
            <a:hlinkClick r:id="rId5" action="ppaction://hlinksldjump"/>
            <a:extLst>
              <a:ext uri="{FF2B5EF4-FFF2-40B4-BE49-F238E27FC236}">
                <a16:creationId xmlns:a16="http://schemas.microsoft.com/office/drawing/2014/main" id="{8D680236-CB55-B92F-1E89-1D050A1E91D0}"/>
              </a:ext>
            </a:extLst>
          </p:cNvPr>
          <p:cNvSpPr txBox="1"/>
          <p:nvPr/>
        </p:nvSpPr>
        <p:spPr>
          <a:xfrm>
            <a:off x="1031788" y="2792174"/>
            <a:ext cx="2371289" cy="447556"/>
          </a:xfrm>
          <a:prstGeom prst="roundRect">
            <a:avLst>
              <a:gd name="adj" fmla="val 7573"/>
            </a:avLst>
          </a:prstGeom>
          <a:solidFill>
            <a:srgbClr val="7030A0"/>
          </a:solidFill>
        </p:spPr>
        <p:txBody>
          <a:bodyPr wrap="square">
            <a:spAutoFit/>
          </a:bodyPr>
          <a:lstStyle/>
          <a:p>
            <a:pPr algn="ctr"/>
            <a:r>
              <a:rPr lang="es-ES" sz="1100" dirty="0">
                <a:solidFill>
                  <a:srgbClr val="FFFFFF"/>
                </a:solidFill>
              </a:rPr>
              <a:t>Se debe ingresar una </a:t>
            </a:r>
            <a:r>
              <a:rPr lang="es-ES" sz="1100" b="1" dirty="0">
                <a:solidFill>
                  <a:srgbClr val="92D050"/>
                </a:solidFill>
              </a:rPr>
              <a:t>Descripción</a:t>
            </a:r>
            <a:r>
              <a:rPr lang="es-ES" sz="1100" dirty="0">
                <a:solidFill>
                  <a:srgbClr val="FFFFFF"/>
                </a:solidFill>
              </a:rPr>
              <a:t> (Máximo 30 caracteres) (Requerido)</a:t>
            </a:r>
            <a:endParaRPr lang="es-ES" sz="1100" b="1" dirty="0">
              <a:solidFill>
                <a:srgbClr val="FFFFFF"/>
              </a:solidFill>
            </a:endParaRPr>
          </a:p>
        </p:txBody>
      </p:sp>
      <p:sp>
        <p:nvSpPr>
          <p:cNvPr id="18" name="Rectángulo 17">
            <a:extLst>
              <a:ext uri="{FF2B5EF4-FFF2-40B4-BE49-F238E27FC236}">
                <a16:creationId xmlns:a16="http://schemas.microsoft.com/office/drawing/2014/main" id="{66ECAE72-7397-EF35-CEFF-B774BE60A1C0}"/>
              </a:ext>
            </a:extLst>
          </p:cNvPr>
          <p:cNvSpPr/>
          <p:nvPr/>
        </p:nvSpPr>
        <p:spPr>
          <a:xfrm>
            <a:off x="3675228" y="2164952"/>
            <a:ext cx="1535869" cy="224286"/>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19" name="Rectángulo: esquinas redondeadas 18">
            <a:extLst>
              <a:ext uri="{FF2B5EF4-FFF2-40B4-BE49-F238E27FC236}">
                <a16:creationId xmlns:a16="http://schemas.microsoft.com/office/drawing/2014/main" id="{FF7134EE-547E-45CF-D4FA-067E1C8BB783}"/>
              </a:ext>
            </a:extLst>
          </p:cNvPr>
          <p:cNvSpPr/>
          <p:nvPr/>
        </p:nvSpPr>
        <p:spPr>
          <a:xfrm>
            <a:off x="4227501" y="2495562"/>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t>4</a:t>
            </a:r>
            <a:endParaRPr lang="es-PE" sz="1100" b="1" dirty="0"/>
          </a:p>
        </p:txBody>
      </p:sp>
      <p:sp>
        <p:nvSpPr>
          <p:cNvPr id="20" name="CuadroTexto 19">
            <a:hlinkClick r:id="rId5" action="ppaction://hlinksldjump"/>
            <a:extLst>
              <a:ext uri="{FF2B5EF4-FFF2-40B4-BE49-F238E27FC236}">
                <a16:creationId xmlns:a16="http://schemas.microsoft.com/office/drawing/2014/main" id="{01FFE1F3-52A3-F202-5E1B-BDDC94FAF69B}"/>
              </a:ext>
            </a:extLst>
          </p:cNvPr>
          <p:cNvSpPr txBox="1"/>
          <p:nvPr/>
        </p:nvSpPr>
        <p:spPr>
          <a:xfrm>
            <a:off x="3506381" y="2802194"/>
            <a:ext cx="1710813" cy="2315111"/>
          </a:xfrm>
          <a:prstGeom prst="roundRect">
            <a:avLst>
              <a:gd name="adj" fmla="val 3550"/>
            </a:avLst>
          </a:prstGeom>
          <a:solidFill>
            <a:srgbClr val="7030A0"/>
          </a:solidFill>
        </p:spPr>
        <p:txBody>
          <a:bodyPr wrap="square">
            <a:spAutoFit/>
          </a:bodyPr>
          <a:lstStyle/>
          <a:p>
            <a:pPr algn="ctr"/>
            <a:r>
              <a:rPr lang="es-ES" sz="1100" dirty="0">
                <a:solidFill>
                  <a:srgbClr val="FFFFFF"/>
                </a:solidFill>
              </a:rPr>
              <a:t>Se debe ingresa las</a:t>
            </a:r>
            <a:r>
              <a:rPr lang="es-ES" sz="1100" dirty="0">
                <a:solidFill>
                  <a:srgbClr val="92D050"/>
                </a:solidFill>
              </a:rPr>
              <a:t> </a:t>
            </a:r>
            <a:r>
              <a:rPr lang="es-ES" sz="1100" b="1" dirty="0">
                <a:solidFill>
                  <a:srgbClr val="92D050"/>
                </a:solidFill>
              </a:rPr>
              <a:t>fechas de inicio y fin</a:t>
            </a:r>
            <a:r>
              <a:rPr lang="es-ES" sz="1100" dirty="0">
                <a:solidFill>
                  <a:srgbClr val="FFFFFF"/>
                </a:solidFill>
              </a:rPr>
              <a:t> que correspondan a cada parte de período para la programación de clases de esta. (Requerido)</a:t>
            </a:r>
          </a:p>
          <a:p>
            <a:pPr algn="ctr"/>
            <a:r>
              <a:rPr lang="es-ES" sz="1100" b="1" dirty="0">
                <a:solidFill>
                  <a:srgbClr val="FFFFFF"/>
                </a:solidFill>
              </a:rPr>
              <a:t>Los cursos que se programen en esta parte del periodo deben estar comprendidos dentro de estas fechas.</a:t>
            </a:r>
          </a:p>
        </p:txBody>
      </p:sp>
      <p:sp>
        <p:nvSpPr>
          <p:cNvPr id="21" name="Rectángulo 20">
            <a:extLst>
              <a:ext uri="{FF2B5EF4-FFF2-40B4-BE49-F238E27FC236}">
                <a16:creationId xmlns:a16="http://schemas.microsoft.com/office/drawing/2014/main" id="{E30D7CD0-9F20-DB9F-62B5-67B25D9B562B}"/>
              </a:ext>
            </a:extLst>
          </p:cNvPr>
          <p:cNvSpPr/>
          <p:nvPr/>
        </p:nvSpPr>
        <p:spPr>
          <a:xfrm>
            <a:off x="5359859" y="2164952"/>
            <a:ext cx="1188425" cy="224286"/>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22" name="Rectángulo: esquinas redondeadas 21">
            <a:extLst>
              <a:ext uri="{FF2B5EF4-FFF2-40B4-BE49-F238E27FC236}">
                <a16:creationId xmlns:a16="http://schemas.microsoft.com/office/drawing/2014/main" id="{7D71D536-F874-1A90-7059-170F28CBCFC2}"/>
              </a:ext>
            </a:extLst>
          </p:cNvPr>
          <p:cNvSpPr/>
          <p:nvPr/>
        </p:nvSpPr>
        <p:spPr>
          <a:xfrm>
            <a:off x="5846241" y="2495076"/>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t>5</a:t>
            </a:r>
            <a:endParaRPr lang="es-PE" sz="1100" b="1" dirty="0"/>
          </a:p>
        </p:txBody>
      </p:sp>
      <p:sp>
        <p:nvSpPr>
          <p:cNvPr id="23" name="CuadroTexto 22">
            <a:hlinkClick r:id="rId5" action="ppaction://hlinksldjump"/>
            <a:extLst>
              <a:ext uri="{FF2B5EF4-FFF2-40B4-BE49-F238E27FC236}">
                <a16:creationId xmlns:a16="http://schemas.microsoft.com/office/drawing/2014/main" id="{84314BF5-F61F-7C15-7075-FE79CF7CF9E7}"/>
              </a:ext>
            </a:extLst>
          </p:cNvPr>
          <p:cNvSpPr txBox="1"/>
          <p:nvPr/>
        </p:nvSpPr>
        <p:spPr>
          <a:xfrm>
            <a:off x="5291776" y="2789528"/>
            <a:ext cx="1374496" cy="1150858"/>
          </a:xfrm>
          <a:prstGeom prst="roundRect">
            <a:avLst>
              <a:gd name="adj" fmla="val 7573"/>
            </a:avLst>
          </a:prstGeom>
          <a:solidFill>
            <a:srgbClr val="7030A0"/>
          </a:solidFill>
        </p:spPr>
        <p:txBody>
          <a:bodyPr wrap="square">
            <a:spAutoFit/>
          </a:bodyPr>
          <a:lstStyle/>
          <a:p>
            <a:pPr algn="ctr"/>
            <a:r>
              <a:rPr lang="es-ES" sz="1100" dirty="0">
                <a:solidFill>
                  <a:srgbClr val="FFFFFF"/>
                </a:solidFill>
              </a:rPr>
              <a:t>Se debe ingresar el </a:t>
            </a:r>
            <a:r>
              <a:rPr lang="es-ES" sz="1100" b="1" dirty="0">
                <a:solidFill>
                  <a:srgbClr val="92D050"/>
                </a:solidFill>
              </a:rPr>
              <a:t>número de semanas</a:t>
            </a:r>
            <a:r>
              <a:rPr lang="es-ES" sz="1100" dirty="0">
                <a:solidFill>
                  <a:srgbClr val="FFFFFF"/>
                </a:solidFill>
              </a:rPr>
              <a:t> que comprende la parte de período. (Requerido)</a:t>
            </a:r>
            <a:endParaRPr lang="es-ES" sz="1100" b="1" dirty="0">
              <a:solidFill>
                <a:srgbClr val="FFFFFF"/>
              </a:solidFill>
            </a:endParaRPr>
          </a:p>
        </p:txBody>
      </p:sp>
      <p:sp>
        <p:nvSpPr>
          <p:cNvPr id="25" name="Rectángulo 24">
            <a:extLst>
              <a:ext uri="{FF2B5EF4-FFF2-40B4-BE49-F238E27FC236}">
                <a16:creationId xmlns:a16="http://schemas.microsoft.com/office/drawing/2014/main" id="{901994B0-B4E4-BA63-0FC0-21F25192CB37}"/>
              </a:ext>
            </a:extLst>
          </p:cNvPr>
          <p:cNvSpPr/>
          <p:nvPr/>
        </p:nvSpPr>
        <p:spPr>
          <a:xfrm>
            <a:off x="6548284" y="2164952"/>
            <a:ext cx="875071" cy="224286"/>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26" name="Rectángulo: esquinas redondeadas 25">
            <a:extLst>
              <a:ext uri="{FF2B5EF4-FFF2-40B4-BE49-F238E27FC236}">
                <a16:creationId xmlns:a16="http://schemas.microsoft.com/office/drawing/2014/main" id="{597F6A10-72AD-AE69-CB69-3C75E84EBA57}"/>
              </a:ext>
            </a:extLst>
          </p:cNvPr>
          <p:cNvSpPr/>
          <p:nvPr/>
        </p:nvSpPr>
        <p:spPr>
          <a:xfrm>
            <a:off x="6877989" y="2468675"/>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t>6</a:t>
            </a:r>
            <a:endParaRPr lang="es-PE" sz="1100" b="1" dirty="0"/>
          </a:p>
        </p:txBody>
      </p:sp>
      <p:sp>
        <p:nvSpPr>
          <p:cNvPr id="27" name="CuadroTexto 26">
            <a:hlinkClick r:id="rId5" action="ppaction://hlinksldjump"/>
            <a:extLst>
              <a:ext uri="{FF2B5EF4-FFF2-40B4-BE49-F238E27FC236}">
                <a16:creationId xmlns:a16="http://schemas.microsoft.com/office/drawing/2014/main" id="{9256FC75-D246-5193-CCE1-937196054AF0}"/>
              </a:ext>
            </a:extLst>
          </p:cNvPr>
          <p:cNvSpPr txBox="1"/>
          <p:nvPr/>
        </p:nvSpPr>
        <p:spPr>
          <a:xfrm>
            <a:off x="6697737" y="2802194"/>
            <a:ext cx="1688660" cy="2011085"/>
          </a:xfrm>
          <a:prstGeom prst="roundRect">
            <a:avLst>
              <a:gd name="adj" fmla="val 7573"/>
            </a:avLst>
          </a:prstGeom>
          <a:solidFill>
            <a:srgbClr val="7030A0"/>
          </a:solidFill>
        </p:spPr>
        <p:txBody>
          <a:bodyPr wrap="square">
            <a:spAutoFit/>
          </a:bodyPr>
          <a:lstStyle/>
          <a:p>
            <a:pPr algn="ctr"/>
            <a:r>
              <a:rPr lang="es-ES" sz="1100" dirty="0">
                <a:solidFill>
                  <a:srgbClr val="FFFFFF"/>
                </a:solidFill>
              </a:rPr>
              <a:t>Se debe ingresar la </a:t>
            </a:r>
            <a:r>
              <a:rPr lang="es-ES" sz="1100" b="1" dirty="0">
                <a:solidFill>
                  <a:srgbClr val="92D050"/>
                </a:solidFill>
              </a:rPr>
              <a:t>fecha de censo uno</a:t>
            </a:r>
            <a:r>
              <a:rPr lang="es-ES" sz="1100" dirty="0">
                <a:solidFill>
                  <a:schemeClr val="bg1"/>
                </a:solidFill>
              </a:rPr>
              <a:t>,</a:t>
            </a:r>
            <a:r>
              <a:rPr lang="es-ES" sz="1100" dirty="0">
                <a:solidFill>
                  <a:srgbClr val="FFFFFF"/>
                </a:solidFill>
              </a:rPr>
              <a:t> esta fecha se refiere a un conteo de inscritos que se hará en esa fecha para las asignaturas programadas en la parte de período que corresponda. (Requerido)</a:t>
            </a:r>
            <a:endParaRPr lang="es-ES" sz="1100" b="1" dirty="0">
              <a:solidFill>
                <a:srgbClr val="FFFFFF"/>
              </a:solidFill>
            </a:endParaRPr>
          </a:p>
        </p:txBody>
      </p:sp>
      <p:sp>
        <p:nvSpPr>
          <p:cNvPr id="28" name="Rectángulo 27">
            <a:extLst>
              <a:ext uri="{FF2B5EF4-FFF2-40B4-BE49-F238E27FC236}">
                <a16:creationId xmlns:a16="http://schemas.microsoft.com/office/drawing/2014/main" id="{2D39A408-95AF-65B8-0FAC-977DBB9B0152}"/>
              </a:ext>
            </a:extLst>
          </p:cNvPr>
          <p:cNvSpPr/>
          <p:nvPr/>
        </p:nvSpPr>
        <p:spPr>
          <a:xfrm>
            <a:off x="7498214" y="2164952"/>
            <a:ext cx="875071" cy="224286"/>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29" name="Rectángulo: esquinas redondeadas 28">
            <a:extLst>
              <a:ext uri="{FF2B5EF4-FFF2-40B4-BE49-F238E27FC236}">
                <a16:creationId xmlns:a16="http://schemas.microsoft.com/office/drawing/2014/main" id="{0F08E68D-1422-C0CF-8155-F5413C636BC7}"/>
              </a:ext>
            </a:extLst>
          </p:cNvPr>
          <p:cNvSpPr/>
          <p:nvPr/>
        </p:nvSpPr>
        <p:spPr>
          <a:xfrm>
            <a:off x="8448144" y="2164952"/>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t>7</a:t>
            </a:r>
            <a:endParaRPr lang="es-PE" sz="1100" b="1" dirty="0"/>
          </a:p>
        </p:txBody>
      </p:sp>
      <p:sp>
        <p:nvSpPr>
          <p:cNvPr id="30" name="CuadroTexto 29">
            <a:hlinkClick r:id="rId5" action="ppaction://hlinksldjump"/>
            <a:extLst>
              <a:ext uri="{FF2B5EF4-FFF2-40B4-BE49-F238E27FC236}">
                <a16:creationId xmlns:a16="http://schemas.microsoft.com/office/drawing/2014/main" id="{87D8C17D-D06F-BAA0-2137-0F0228AADCC2}"/>
              </a:ext>
            </a:extLst>
          </p:cNvPr>
          <p:cNvSpPr txBox="1"/>
          <p:nvPr/>
        </p:nvSpPr>
        <p:spPr>
          <a:xfrm>
            <a:off x="8738663" y="1828423"/>
            <a:ext cx="3160167" cy="799207"/>
          </a:xfrm>
          <a:prstGeom prst="roundRect">
            <a:avLst>
              <a:gd name="adj" fmla="val 7573"/>
            </a:avLst>
          </a:prstGeom>
          <a:solidFill>
            <a:srgbClr val="7030A0"/>
          </a:solidFill>
        </p:spPr>
        <p:txBody>
          <a:bodyPr wrap="square">
            <a:spAutoFit/>
          </a:bodyPr>
          <a:lstStyle/>
          <a:p>
            <a:pPr algn="ctr"/>
            <a:r>
              <a:rPr lang="es-ES" sz="1100" dirty="0">
                <a:solidFill>
                  <a:srgbClr val="FFFFFF"/>
                </a:solidFill>
              </a:rPr>
              <a:t>El campo </a:t>
            </a:r>
            <a:r>
              <a:rPr lang="es-ES" sz="1100" b="1" dirty="0">
                <a:solidFill>
                  <a:srgbClr val="92D050"/>
                </a:solidFill>
              </a:rPr>
              <a:t>fecha de censo dos</a:t>
            </a:r>
            <a:r>
              <a:rPr lang="es-ES" sz="1100" dirty="0">
                <a:solidFill>
                  <a:schemeClr val="bg1"/>
                </a:solidFill>
              </a:rPr>
              <a:t>,</a:t>
            </a:r>
            <a:r>
              <a:rPr lang="es-ES" sz="1100" dirty="0">
                <a:solidFill>
                  <a:srgbClr val="FFFFFF"/>
                </a:solidFill>
              </a:rPr>
              <a:t> es una segunda fecha para validar el número de inscritos en los </a:t>
            </a:r>
            <a:r>
              <a:rPr lang="es-ES" sz="1100" dirty="0" err="1">
                <a:solidFill>
                  <a:srgbClr val="FFFFFF"/>
                </a:solidFill>
              </a:rPr>
              <a:t>NRCs</a:t>
            </a:r>
            <a:r>
              <a:rPr lang="es-ES" sz="1100" dirty="0">
                <a:solidFill>
                  <a:srgbClr val="FFFFFF"/>
                </a:solidFill>
              </a:rPr>
              <a:t> programados en una parte de periodo. (Opcional)</a:t>
            </a:r>
            <a:endParaRPr lang="es-ES" sz="1100" b="1" dirty="0">
              <a:solidFill>
                <a:srgbClr val="FFFFFF"/>
              </a:solidFill>
            </a:endParaRPr>
          </a:p>
        </p:txBody>
      </p:sp>
    </p:spTree>
    <p:extLst>
      <p:ext uri="{BB962C8B-B14F-4D97-AF65-F5344CB8AC3E}">
        <p14:creationId xmlns:p14="http://schemas.microsoft.com/office/powerpoint/2010/main" val="41727257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2000"/>
                                        <p:tgtEl>
                                          <p:spTgt spid="2"/>
                                        </p:tgtEl>
                                      </p:cBhvr>
                                    </p:animEffect>
                                  </p:childTnLst>
                                </p:cTn>
                              </p:par>
                            </p:childTnLst>
                          </p:cTn>
                        </p:par>
                        <p:par>
                          <p:cTn id="8" fill="hold">
                            <p:stCondLst>
                              <p:cond delay="2000"/>
                            </p:stCondLst>
                            <p:childTnLst>
                              <p:par>
                                <p:cTn id="9" presetID="53" presetClass="entr" presetSubtype="16"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p:cTn id="11" dur="500" fill="hold"/>
                                        <p:tgtEl>
                                          <p:spTgt spid="9"/>
                                        </p:tgtEl>
                                        <p:attrNameLst>
                                          <p:attrName>ppt_w</p:attrName>
                                        </p:attrNameLst>
                                      </p:cBhvr>
                                      <p:tavLst>
                                        <p:tav tm="0">
                                          <p:val>
                                            <p:fltVal val="0"/>
                                          </p:val>
                                        </p:tav>
                                        <p:tav tm="100000">
                                          <p:val>
                                            <p:strVal val="#ppt_w"/>
                                          </p:val>
                                        </p:tav>
                                      </p:tavLst>
                                    </p:anim>
                                    <p:anim calcmode="lin" valueType="num">
                                      <p:cBhvr>
                                        <p:cTn id="12" dur="500" fill="hold"/>
                                        <p:tgtEl>
                                          <p:spTgt spid="9"/>
                                        </p:tgtEl>
                                        <p:attrNameLst>
                                          <p:attrName>ppt_h</p:attrName>
                                        </p:attrNameLst>
                                      </p:cBhvr>
                                      <p:tavLst>
                                        <p:tav tm="0">
                                          <p:val>
                                            <p:fltVal val="0"/>
                                          </p:val>
                                        </p:tav>
                                        <p:tav tm="100000">
                                          <p:val>
                                            <p:strVal val="#ppt_h"/>
                                          </p:val>
                                        </p:tav>
                                      </p:tavLst>
                                    </p:anim>
                                    <p:animEffect transition="in" filter="fade">
                                      <p:cBhvr>
                                        <p:cTn id="13" dur="500"/>
                                        <p:tgtEl>
                                          <p:spTgt spid="9"/>
                                        </p:tgtEl>
                                      </p:cBhvr>
                                    </p:animEffect>
                                  </p:childTnLst>
                                </p:cTn>
                              </p:par>
                            </p:childTnLst>
                          </p:cTn>
                        </p:par>
                        <p:par>
                          <p:cTn id="14" fill="hold">
                            <p:stCondLst>
                              <p:cond delay="2500"/>
                            </p:stCondLst>
                            <p:childTnLst>
                              <p:par>
                                <p:cTn id="15" presetID="10" presetClass="entr" presetSubtype="0" fill="hold" grpId="0" nodeType="after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500"/>
                                        <p:tgtEl>
                                          <p:spTgt spid="17"/>
                                        </p:tgtEl>
                                      </p:cBhvr>
                                    </p:animEffect>
                                  </p:childTnLst>
                                </p:cTn>
                              </p:par>
                            </p:childTnLst>
                          </p:cTn>
                        </p:par>
                        <p:par>
                          <p:cTn id="18" fill="hold">
                            <p:stCondLst>
                              <p:cond delay="3000"/>
                            </p:stCondLst>
                            <p:childTnLst>
                              <p:par>
                                <p:cTn id="19" presetID="21" presetClass="entr" presetSubtype="1" fill="hold" grpId="0" nodeType="after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wheel(1)">
                                      <p:cBhvr>
                                        <p:cTn id="21" dur="2000"/>
                                        <p:tgtEl>
                                          <p:spTgt spid="18"/>
                                        </p:tgtEl>
                                      </p:cBhvr>
                                    </p:animEffect>
                                  </p:childTnLst>
                                </p:cTn>
                              </p:par>
                            </p:childTnLst>
                          </p:cTn>
                        </p:par>
                        <p:par>
                          <p:cTn id="22" fill="hold">
                            <p:stCondLst>
                              <p:cond delay="5000"/>
                            </p:stCondLst>
                            <p:childTnLst>
                              <p:par>
                                <p:cTn id="23" presetID="53" presetClass="entr" presetSubtype="16" fill="hold" grpId="0" nodeType="afterEffect">
                                  <p:stCondLst>
                                    <p:cond delay="0"/>
                                  </p:stCondLst>
                                  <p:childTnLst>
                                    <p:set>
                                      <p:cBhvr>
                                        <p:cTn id="24" dur="1" fill="hold">
                                          <p:stCondLst>
                                            <p:cond delay="0"/>
                                          </p:stCondLst>
                                        </p:cTn>
                                        <p:tgtEl>
                                          <p:spTgt spid="19"/>
                                        </p:tgtEl>
                                        <p:attrNameLst>
                                          <p:attrName>style.visibility</p:attrName>
                                        </p:attrNameLst>
                                      </p:cBhvr>
                                      <p:to>
                                        <p:strVal val="visible"/>
                                      </p:to>
                                    </p:set>
                                    <p:anim calcmode="lin" valueType="num">
                                      <p:cBhvr>
                                        <p:cTn id="25" dur="500" fill="hold"/>
                                        <p:tgtEl>
                                          <p:spTgt spid="19"/>
                                        </p:tgtEl>
                                        <p:attrNameLst>
                                          <p:attrName>ppt_w</p:attrName>
                                        </p:attrNameLst>
                                      </p:cBhvr>
                                      <p:tavLst>
                                        <p:tav tm="0">
                                          <p:val>
                                            <p:fltVal val="0"/>
                                          </p:val>
                                        </p:tav>
                                        <p:tav tm="100000">
                                          <p:val>
                                            <p:strVal val="#ppt_w"/>
                                          </p:val>
                                        </p:tav>
                                      </p:tavLst>
                                    </p:anim>
                                    <p:anim calcmode="lin" valueType="num">
                                      <p:cBhvr>
                                        <p:cTn id="26" dur="500" fill="hold"/>
                                        <p:tgtEl>
                                          <p:spTgt spid="19"/>
                                        </p:tgtEl>
                                        <p:attrNameLst>
                                          <p:attrName>ppt_h</p:attrName>
                                        </p:attrNameLst>
                                      </p:cBhvr>
                                      <p:tavLst>
                                        <p:tav tm="0">
                                          <p:val>
                                            <p:fltVal val="0"/>
                                          </p:val>
                                        </p:tav>
                                        <p:tav tm="100000">
                                          <p:val>
                                            <p:strVal val="#ppt_h"/>
                                          </p:val>
                                        </p:tav>
                                      </p:tavLst>
                                    </p:anim>
                                    <p:animEffect transition="in" filter="fade">
                                      <p:cBhvr>
                                        <p:cTn id="27" dur="500"/>
                                        <p:tgtEl>
                                          <p:spTgt spid="19"/>
                                        </p:tgtEl>
                                      </p:cBhvr>
                                    </p:animEffect>
                                  </p:childTnLst>
                                </p:cTn>
                              </p:par>
                            </p:childTnLst>
                          </p:cTn>
                        </p:par>
                        <p:par>
                          <p:cTn id="28" fill="hold">
                            <p:stCondLst>
                              <p:cond delay="5500"/>
                            </p:stCondLst>
                            <p:childTnLst>
                              <p:par>
                                <p:cTn id="29" presetID="10" presetClass="entr" presetSubtype="0" fill="hold" grpId="0" nodeType="afterEffect">
                                  <p:stCondLst>
                                    <p:cond delay="0"/>
                                  </p:stCondLst>
                                  <p:childTnLst>
                                    <p:set>
                                      <p:cBhvr>
                                        <p:cTn id="30" dur="1" fill="hold">
                                          <p:stCondLst>
                                            <p:cond delay="0"/>
                                          </p:stCondLst>
                                        </p:cTn>
                                        <p:tgtEl>
                                          <p:spTgt spid="20"/>
                                        </p:tgtEl>
                                        <p:attrNameLst>
                                          <p:attrName>style.visibility</p:attrName>
                                        </p:attrNameLst>
                                      </p:cBhvr>
                                      <p:to>
                                        <p:strVal val="visible"/>
                                      </p:to>
                                    </p:set>
                                    <p:animEffect transition="in" filter="fade">
                                      <p:cBhvr>
                                        <p:cTn id="31" dur="500"/>
                                        <p:tgtEl>
                                          <p:spTgt spid="20"/>
                                        </p:tgtEl>
                                      </p:cBhvr>
                                    </p:animEffect>
                                  </p:childTnLst>
                                </p:cTn>
                              </p:par>
                            </p:childTnLst>
                          </p:cTn>
                        </p:par>
                        <p:par>
                          <p:cTn id="32" fill="hold">
                            <p:stCondLst>
                              <p:cond delay="6000"/>
                            </p:stCondLst>
                            <p:childTnLst>
                              <p:par>
                                <p:cTn id="33" presetID="21" presetClass="entr" presetSubtype="1" fill="hold" grpId="0" nodeType="afterEffect">
                                  <p:stCondLst>
                                    <p:cond delay="0"/>
                                  </p:stCondLst>
                                  <p:childTnLst>
                                    <p:set>
                                      <p:cBhvr>
                                        <p:cTn id="34" dur="1" fill="hold">
                                          <p:stCondLst>
                                            <p:cond delay="0"/>
                                          </p:stCondLst>
                                        </p:cTn>
                                        <p:tgtEl>
                                          <p:spTgt spid="21"/>
                                        </p:tgtEl>
                                        <p:attrNameLst>
                                          <p:attrName>style.visibility</p:attrName>
                                        </p:attrNameLst>
                                      </p:cBhvr>
                                      <p:to>
                                        <p:strVal val="visible"/>
                                      </p:to>
                                    </p:set>
                                    <p:animEffect transition="in" filter="wheel(1)">
                                      <p:cBhvr>
                                        <p:cTn id="35" dur="2000"/>
                                        <p:tgtEl>
                                          <p:spTgt spid="21"/>
                                        </p:tgtEl>
                                      </p:cBhvr>
                                    </p:animEffect>
                                  </p:childTnLst>
                                </p:cTn>
                              </p:par>
                            </p:childTnLst>
                          </p:cTn>
                        </p:par>
                        <p:par>
                          <p:cTn id="36" fill="hold">
                            <p:stCondLst>
                              <p:cond delay="8000"/>
                            </p:stCondLst>
                            <p:childTnLst>
                              <p:par>
                                <p:cTn id="37" presetID="53" presetClass="entr" presetSubtype="16" fill="hold" grpId="0" nodeType="afterEffect">
                                  <p:stCondLst>
                                    <p:cond delay="0"/>
                                  </p:stCondLst>
                                  <p:childTnLst>
                                    <p:set>
                                      <p:cBhvr>
                                        <p:cTn id="38" dur="1" fill="hold">
                                          <p:stCondLst>
                                            <p:cond delay="0"/>
                                          </p:stCondLst>
                                        </p:cTn>
                                        <p:tgtEl>
                                          <p:spTgt spid="22"/>
                                        </p:tgtEl>
                                        <p:attrNameLst>
                                          <p:attrName>style.visibility</p:attrName>
                                        </p:attrNameLst>
                                      </p:cBhvr>
                                      <p:to>
                                        <p:strVal val="visible"/>
                                      </p:to>
                                    </p:set>
                                    <p:anim calcmode="lin" valueType="num">
                                      <p:cBhvr>
                                        <p:cTn id="39" dur="500" fill="hold"/>
                                        <p:tgtEl>
                                          <p:spTgt spid="22"/>
                                        </p:tgtEl>
                                        <p:attrNameLst>
                                          <p:attrName>ppt_w</p:attrName>
                                        </p:attrNameLst>
                                      </p:cBhvr>
                                      <p:tavLst>
                                        <p:tav tm="0">
                                          <p:val>
                                            <p:fltVal val="0"/>
                                          </p:val>
                                        </p:tav>
                                        <p:tav tm="100000">
                                          <p:val>
                                            <p:strVal val="#ppt_w"/>
                                          </p:val>
                                        </p:tav>
                                      </p:tavLst>
                                    </p:anim>
                                    <p:anim calcmode="lin" valueType="num">
                                      <p:cBhvr>
                                        <p:cTn id="40" dur="500" fill="hold"/>
                                        <p:tgtEl>
                                          <p:spTgt spid="22"/>
                                        </p:tgtEl>
                                        <p:attrNameLst>
                                          <p:attrName>ppt_h</p:attrName>
                                        </p:attrNameLst>
                                      </p:cBhvr>
                                      <p:tavLst>
                                        <p:tav tm="0">
                                          <p:val>
                                            <p:fltVal val="0"/>
                                          </p:val>
                                        </p:tav>
                                        <p:tav tm="100000">
                                          <p:val>
                                            <p:strVal val="#ppt_h"/>
                                          </p:val>
                                        </p:tav>
                                      </p:tavLst>
                                    </p:anim>
                                    <p:animEffect transition="in" filter="fade">
                                      <p:cBhvr>
                                        <p:cTn id="41" dur="500"/>
                                        <p:tgtEl>
                                          <p:spTgt spid="22"/>
                                        </p:tgtEl>
                                      </p:cBhvr>
                                    </p:animEffect>
                                  </p:childTnLst>
                                </p:cTn>
                              </p:par>
                            </p:childTnLst>
                          </p:cTn>
                        </p:par>
                        <p:par>
                          <p:cTn id="42" fill="hold">
                            <p:stCondLst>
                              <p:cond delay="8500"/>
                            </p:stCondLst>
                            <p:childTnLst>
                              <p:par>
                                <p:cTn id="43" presetID="10" presetClass="entr" presetSubtype="0" fill="hold" grpId="0" nodeType="afterEffect">
                                  <p:stCondLst>
                                    <p:cond delay="0"/>
                                  </p:stCondLst>
                                  <p:childTnLst>
                                    <p:set>
                                      <p:cBhvr>
                                        <p:cTn id="44" dur="1" fill="hold">
                                          <p:stCondLst>
                                            <p:cond delay="0"/>
                                          </p:stCondLst>
                                        </p:cTn>
                                        <p:tgtEl>
                                          <p:spTgt spid="23"/>
                                        </p:tgtEl>
                                        <p:attrNameLst>
                                          <p:attrName>style.visibility</p:attrName>
                                        </p:attrNameLst>
                                      </p:cBhvr>
                                      <p:to>
                                        <p:strVal val="visible"/>
                                      </p:to>
                                    </p:set>
                                    <p:animEffect transition="in" filter="fade">
                                      <p:cBhvr>
                                        <p:cTn id="45" dur="500"/>
                                        <p:tgtEl>
                                          <p:spTgt spid="23"/>
                                        </p:tgtEl>
                                      </p:cBhvr>
                                    </p:animEffect>
                                  </p:childTnLst>
                                </p:cTn>
                              </p:par>
                            </p:childTnLst>
                          </p:cTn>
                        </p:par>
                        <p:par>
                          <p:cTn id="46" fill="hold">
                            <p:stCondLst>
                              <p:cond delay="9000"/>
                            </p:stCondLst>
                            <p:childTnLst>
                              <p:par>
                                <p:cTn id="47" presetID="21" presetClass="entr" presetSubtype="1" fill="hold" grpId="0" nodeType="afterEffect">
                                  <p:stCondLst>
                                    <p:cond delay="0"/>
                                  </p:stCondLst>
                                  <p:childTnLst>
                                    <p:set>
                                      <p:cBhvr>
                                        <p:cTn id="48" dur="1" fill="hold">
                                          <p:stCondLst>
                                            <p:cond delay="0"/>
                                          </p:stCondLst>
                                        </p:cTn>
                                        <p:tgtEl>
                                          <p:spTgt spid="25"/>
                                        </p:tgtEl>
                                        <p:attrNameLst>
                                          <p:attrName>style.visibility</p:attrName>
                                        </p:attrNameLst>
                                      </p:cBhvr>
                                      <p:to>
                                        <p:strVal val="visible"/>
                                      </p:to>
                                    </p:set>
                                    <p:animEffect transition="in" filter="wheel(1)">
                                      <p:cBhvr>
                                        <p:cTn id="49" dur="2000"/>
                                        <p:tgtEl>
                                          <p:spTgt spid="25"/>
                                        </p:tgtEl>
                                      </p:cBhvr>
                                    </p:animEffect>
                                  </p:childTnLst>
                                </p:cTn>
                              </p:par>
                            </p:childTnLst>
                          </p:cTn>
                        </p:par>
                        <p:par>
                          <p:cTn id="50" fill="hold">
                            <p:stCondLst>
                              <p:cond delay="11000"/>
                            </p:stCondLst>
                            <p:childTnLst>
                              <p:par>
                                <p:cTn id="51" presetID="53" presetClass="entr" presetSubtype="16" fill="hold" grpId="0" nodeType="afterEffect">
                                  <p:stCondLst>
                                    <p:cond delay="0"/>
                                  </p:stCondLst>
                                  <p:childTnLst>
                                    <p:set>
                                      <p:cBhvr>
                                        <p:cTn id="52" dur="1" fill="hold">
                                          <p:stCondLst>
                                            <p:cond delay="0"/>
                                          </p:stCondLst>
                                        </p:cTn>
                                        <p:tgtEl>
                                          <p:spTgt spid="26"/>
                                        </p:tgtEl>
                                        <p:attrNameLst>
                                          <p:attrName>style.visibility</p:attrName>
                                        </p:attrNameLst>
                                      </p:cBhvr>
                                      <p:to>
                                        <p:strVal val="visible"/>
                                      </p:to>
                                    </p:set>
                                    <p:anim calcmode="lin" valueType="num">
                                      <p:cBhvr>
                                        <p:cTn id="53" dur="500" fill="hold"/>
                                        <p:tgtEl>
                                          <p:spTgt spid="26"/>
                                        </p:tgtEl>
                                        <p:attrNameLst>
                                          <p:attrName>ppt_w</p:attrName>
                                        </p:attrNameLst>
                                      </p:cBhvr>
                                      <p:tavLst>
                                        <p:tav tm="0">
                                          <p:val>
                                            <p:fltVal val="0"/>
                                          </p:val>
                                        </p:tav>
                                        <p:tav tm="100000">
                                          <p:val>
                                            <p:strVal val="#ppt_w"/>
                                          </p:val>
                                        </p:tav>
                                      </p:tavLst>
                                    </p:anim>
                                    <p:anim calcmode="lin" valueType="num">
                                      <p:cBhvr>
                                        <p:cTn id="54" dur="500" fill="hold"/>
                                        <p:tgtEl>
                                          <p:spTgt spid="26"/>
                                        </p:tgtEl>
                                        <p:attrNameLst>
                                          <p:attrName>ppt_h</p:attrName>
                                        </p:attrNameLst>
                                      </p:cBhvr>
                                      <p:tavLst>
                                        <p:tav tm="0">
                                          <p:val>
                                            <p:fltVal val="0"/>
                                          </p:val>
                                        </p:tav>
                                        <p:tav tm="100000">
                                          <p:val>
                                            <p:strVal val="#ppt_h"/>
                                          </p:val>
                                        </p:tav>
                                      </p:tavLst>
                                    </p:anim>
                                    <p:animEffect transition="in" filter="fade">
                                      <p:cBhvr>
                                        <p:cTn id="55" dur="500"/>
                                        <p:tgtEl>
                                          <p:spTgt spid="26"/>
                                        </p:tgtEl>
                                      </p:cBhvr>
                                    </p:animEffect>
                                  </p:childTnLst>
                                </p:cTn>
                              </p:par>
                            </p:childTnLst>
                          </p:cTn>
                        </p:par>
                        <p:par>
                          <p:cTn id="56" fill="hold">
                            <p:stCondLst>
                              <p:cond delay="11500"/>
                            </p:stCondLst>
                            <p:childTnLst>
                              <p:par>
                                <p:cTn id="57" presetID="10" presetClass="entr" presetSubtype="0" fill="hold" grpId="0" nodeType="afterEffect">
                                  <p:stCondLst>
                                    <p:cond delay="0"/>
                                  </p:stCondLst>
                                  <p:childTnLst>
                                    <p:set>
                                      <p:cBhvr>
                                        <p:cTn id="58" dur="1" fill="hold">
                                          <p:stCondLst>
                                            <p:cond delay="0"/>
                                          </p:stCondLst>
                                        </p:cTn>
                                        <p:tgtEl>
                                          <p:spTgt spid="27"/>
                                        </p:tgtEl>
                                        <p:attrNameLst>
                                          <p:attrName>style.visibility</p:attrName>
                                        </p:attrNameLst>
                                      </p:cBhvr>
                                      <p:to>
                                        <p:strVal val="visible"/>
                                      </p:to>
                                    </p:set>
                                    <p:animEffect transition="in" filter="fade">
                                      <p:cBhvr>
                                        <p:cTn id="59" dur="500"/>
                                        <p:tgtEl>
                                          <p:spTgt spid="27"/>
                                        </p:tgtEl>
                                      </p:cBhvr>
                                    </p:animEffect>
                                  </p:childTnLst>
                                </p:cTn>
                              </p:par>
                            </p:childTnLst>
                          </p:cTn>
                        </p:par>
                        <p:par>
                          <p:cTn id="60" fill="hold">
                            <p:stCondLst>
                              <p:cond delay="12000"/>
                            </p:stCondLst>
                            <p:childTnLst>
                              <p:par>
                                <p:cTn id="61" presetID="21" presetClass="entr" presetSubtype="1" fill="hold" grpId="0" nodeType="afterEffect">
                                  <p:stCondLst>
                                    <p:cond delay="0"/>
                                  </p:stCondLst>
                                  <p:childTnLst>
                                    <p:set>
                                      <p:cBhvr>
                                        <p:cTn id="62" dur="1" fill="hold">
                                          <p:stCondLst>
                                            <p:cond delay="0"/>
                                          </p:stCondLst>
                                        </p:cTn>
                                        <p:tgtEl>
                                          <p:spTgt spid="28"/>
                                        </p:tgtEl>
                                        <p:attrNameLst>
                                          <p:attrName>style.visibility</p:attrName>
                                        </p:attrNameLst>
                                      </p:cBhvr>
                                      <p:to>
                                        <p:strVal val="visible"/>
                                      </p:to>
                                    </p:set>
                                    <p:animEffect transition="in" filter="wheel(1)">
                                      <p:cBhvr>
                                        <p:cTn id="63" dur="2000"/>
                                        <p:tgtEl>
                                          <p:spTgt spid="28"/>
                                        </p:tgtEl>
                                      </p:cBhvr>
                                    </p:animEffect>
                                  </p:childTnLst>
                                </p:cTn>
                              </p:par>
                            </p:childTnLst>
                          </p:cTn>
                        </p:par>
                        <p:par>
                          <p:cTn id="64" fill="hold">
                            <p:stCondLst>
                              <p:cond delay="14000"/>
                            </p:stCondLst>
                            <p:childTnLst>
                              <p:par>
                                <p:cTn id="65" presetID="53" presetClass="entr" presetSubtype="16" fill="hold" grpId="0" nodeType="afterEffect">
                                  <p:stCondLst>
                                    <p:cond delay="0"/>
                                  </p:stCondLst>
                                  <p:childTnLst>
                                    <p:set>
                                      <p:cBhvr>
                                        <p:cTn id="66" dur="1" fill="hold">
                                          <p:stCondLst>
                                            <p:cond delay="0"/>
                                          </p:stCondLst>
                                        </p:cTn>
                                        <p:tgtEl>
                                          <p:spTgt spid="29"/>
                                        </p:tgtEl>
                                        <p:attrNameLst>
                                          <p:attrName>style.visibility</p:attrName>
                                        </p:attrNameLst>
                                      </p:cBhvr>
                                      <p:to>
                                        <p:strVal val="visible"/>
                                      </p:to>
                                    </p:set>
                                    <p:anim calcmode="lin" valueType="num">
                                      <p:cBhvr>
                                        <p:cTn id="67" dur="500" fill="hold"/>
                                        <p:tgtEl>
                                          <p:spTgt spid="29"/>
                                        </p:tgtEl>
                                        <p:attrNameLst>
                                          <p:attrName>ppt_w</p:attrName>
                                        </p:attrNameLst>
                                      </p:cBhvr>
                                      <p:tavLst>
                                        <p:tav tm="0">
                                          <p:val>
                                            <p:fltVal val="0"/>
                                          </p:val>
                                        </p:tav>
                                        <p:tav tm="100000">
                                          <p:val>
                                            <p:strVal val="#ppt_w"/>
                                          </p:val>
                                        </p:tav>
                                      </p:tavLst>
                                    </p:anim>
                                    <p:anim calcmode="lin" valueType="num">
                                      <p:cBhvr>
                                        <p:cTn id="68" dur="500" fill="hold"/>
                                        <p:tgtEl>
                                          <p:spTgt spid="29"/>
                                        </p:tgtEl>
                                        <p:attrNameLst>
                                          <p:attrName>ppt_h</p:attrName>
                                        </p:attrNameLst>
                                      </p:cBhvr>
                                      <p:tavLst>
                                        <p:tav tm="0">
                                          <p:val>
                                            <p:fltVal val="0"/>
                                          </p:val>
                                        </p:tav>
                                        <p:tav tm="100000">
                                          <p:val>
                                            <p:strVal val="#ppt_h"/>
                                          </p:val>
                                        </p:tav>
                                      </p:tavLst>
                                    </p:anim>
                                    <p:animEffect transition="in" filter="fade">
                                      <p:cBhvr>
                                        <p:cTn id="69" dur="500"/>
                                        <p:tgtEl>
                                          <p:spTgt spid="29"/>
                                        </p:tgtEl>
                                      </p:cBhvr>
                                    </p:animEffect>
                                  </p:childTnLst>
                                </p:cTn>
                              </p:par>
                            </p:childTnLst>
                          </p:cTn>
                        </p:par>
                        <p:par>
                          <p:cTn id="70" fill="hold">
                            <p:stCondLst>
                              <p:cond delay="14500"/>
                            </p:stCondLst>
                            <p:childTnLst>
                              <p:par>
                                <p:cTn id="71" presetID="10" presetClass="entr" presetSubtype="0" fill="hold" grpId="0" nodeType="afterEffect">
                                  <p:stCondLst>
                                    <p:cond delay="0"/>
                                  </p:stCondLst>
                                  <p:childTnLst>
                                    <p:set>
                                      <p:cBhvr>
                                        <p:cTn id="72" dur="1" fill="hold">
                                          <p:stCondLst>
                                            <p:cond delay="0"/>
                                          </p:stCondLst>
                                        </p:cTn>
                                        <p:tgtEl>
                                          <p:spTgt spid="30"/>
                                        </p:tgtEl>
                                        <p:attrNameLst>
                                          <p:attrName>style.visibility</p:attrName>
                                        </p:attrNameLst>
                                      </p:cBhvr>
                                      <p:to>
                                        <p:strVal val="visible"/>
                                      </p:to>
                                    </p:set>
                                    <p:animEffect transition="in" filter="fade">
                                      <p:cBhvr>
                                        <p:cTn id="73"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9" grpId="0" animBg="1"/>
      <p:bldP spid="17" grpId="0" animBg="1"/>
      <p:bldP spid="18" grpId="0" animBg="1"/>
      <p:bldP spid="19" grpId="0" animBg="1"/>
      <p:bldP spid="20" grpId="0" animBg="1"/>
      <p:bldP spid="21" grpId="0" animBg="1"/>
      <p:bldP spid="22" grpId="0" animBg="1"/>
      <p:bldP spid="23" grpId="0" animBg="1"/>
      <p:bldP spid="25" grpId="0" animBg="1"/>
      <p:bldP spid="26" grpId="0" animBg="1"/>
      <p:bldP spid="27" grpId="0" animBg="1"/>
      <p:bldP spid="28" grpId="0" animBg="1"/>
      <p:bldP spid="29" grpId="0" animBg="1"/>
      <p:bldP spid="30"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Imagen 31">
            <a:extLst>
              <a:ext uri="{FF2B5EF4-FFF2-40B4-BE49-F238E27FC236}">
                <a16:creationId xmlns:a16="http://schemas.microsoft.com/office/drawing/2014/main" id="{E7C44E06-EFBC-F96B-F32A-E6D497F3CAF1}"/>
              </a:ext>
            </a:extLst>
          </p:cNvPr>
          <p:cNvPicPr>
            <a:picLocks noChangeAspect="1"/>
          </p:cNvPicPr>
          <p:nvPr/>
        </p:nvPicPr>
        <p:blipFill>
          <a:blip r:embed="rId2"/>
          <a:stretch>
            <a:fillRect/>
          </a:stretch>
        </p:blipFill>
        <p:spPr>
          <a:xfrm>
            <a:off x="360325" y="993057"/>
            <a:ext cx="11558086" cy="4908723"/>
          </a:xfrm>
          <a:prstGeom prst="rect">
            <a:avLst/>
          </a:prstGeom>
        </p:spPr>
      </p:pic>
      <p:pic>
        <p:nvPicPr>
          <p:cNvPr id="3" name="Imagen 2">
            <a:extLst>
              <a:ext uri="{FF2B5EF4-FFF2-40B4-BE49-F238E27FC236}">
                <a16:creationId xmlns:a16="http://schemas.microsoft.com/office/drawing/2014/main" id="{7CAB2B86-4E3B-C98C-411E-958BEFE187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2528" y="6154887"/>
            <a:ext cx="2234242" cy="525923"/>
          </a:xfrm>
          <a:prstGeom prst="rect">
            <a:avLst/>
          </a:prstGeom>
        </p:spPr>
      </p:pic>
      <p:pic>
        <p:nvPicPr>
          <p:cNvPr id="4" name="Picture 4" descr="Ellucian Student Reseñas 2026: Detalles, Precios y Características | G2">
            <a:extLst>
              <a:ext uri="{FF2B5EF4-FFF2-40B4-BE49-F238E27FC236}">
                <a16:creationId xmlns:a16="http://schemas.microsoft.com/office/drawing/2014/main" id="{7352B780-8C7C-7B91-F3EE-5E6EF2C2E46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98101" y="5901780"/>
            <a:ext cx="1821371" cy="956220"/>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0AEBA78F-8C98-5D4D-384F-95B753FFADE4}"/>
              </a:ext>
            </a:extLst>
          </p:cNvPr>
          <p:cNvSpPr txBox="1"/>
          <p:nvPr/>
        </p:nvSpPr>
        <p:spPr>
          <a:xfrm>
            <a:off x="431320" y="241540"/>
            <a:ext cx="6785832" cy="523220"/>
          </a:xfrm>
          <a:prstGeom prst="rect">
            <a:avLst/>
          </a:prstGeom>
          <a:noFill/>
        </p:spPr>
        <p:txBody>
          <a:bodyPr wrap="none" rtlCol="0">
            <a:spAutoFit/>
          </a:bodyPr>
          <a:lstStyle/>
          <a:p>
            <a:r>
              <a:rPr lang="es-ES" sz="2800" b="1" dirty="0">
                <a:latin typeface="Montserrat" pitchFamily="2" charset="0"/>
              </a:rPr>
              <a:t>CONTROL DE PERIODO - SOATERM</a:t>
            </a:r>
            <a:endParaRPr lang="es-PE" sz="2800" b="1" dirty="0">
              <a:latin typeface="Montserrat" pitchFamily="2" charset="0"/>
            </a:endParaRPr>
          </a:p>
        </p:txBody>
      </p:sp>
      <p:sp>
        <p:nvSpPr>
          <p:cNvPr id="8" name="Rectángulo 7">
            <a:extLst>
              <a:ext uri="{FF2B5EF4-FFF2-40B4-BE49-F238E27FC236}">
                <a16:creationId xmlns:a16="http://schemas.microsoft.com/office/drawing/2014/main" id="{A16BCE08-E23C-F264-A6E3-E4019979D2E2}"/>
              </a:ext>
            </a:extLst>
          </p:cNvPr>
          <p:cNvSpPr/>
          <p:nvPr/>
        </p:nvSpPr>
        <p:spPr>
          <a:xfrm>
            <a:off x="7217152" y="241540"/>
            <a:ext cx="4974847" cy="445583"/>
          </a:xfrm>
          <a:prstGeom prst="rect">
            <a:avLst/>
          </a:prstGeom>
          <a:gradFill flip="none" rotWithShape="1">
            <a:gsLst>
              <a:gs pos="0">
                <a:schemeClr val="accent6">
                  <a:lumMod val="0"/>
                  <a:lumOff val="100000"/>
                </a:schemeClr>
              </a:gs>
              <a:gs pos="66000">
                <a:schemeClr val="accent6">
                  <a:lumMod val="100000"/>
                </a:schemeClr>
              </a:gs>
            </a:gsLst>
            <a:lin ang="0" scaled="1"/>
            <a:tileRect/>
          </a:gra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s-PE"/>
          </a:p>
        </p:txBody>
      </p:sp>
      <p:sp>
        <p:nvSpPr>
          <p:cNvPr id="6" name="CuadroTexto 5">
            <a:extLst>
              <a:ext uri="{FF2B5EF4-FFF2-40B4-BE49-F238E27FC236}">
                <a16:creationId xmlns:a16="http://schemas.microsoft.com/office/drawing/2014/main" id="{AC33DC36-253A-547B-7A30-A152C2F6B4CE}"/>
              </a:ext>
            </a:extLst>
          </p:cNvPr>
          <p:cNvSpPr txBox="1"/>
          <p:nvPr/>
        </p:nvSpPr>
        <p:spPr>
          <a:xfrm>
            <a:off x="4528936" y="6386396"/>
            <a:ext cx="3134128" cy="276999"/>
          </a:xfrm>
          <a:prstGeom prst="rect">
            <a:avLst/>
          </a:prstGeom>
          <a:noFill/>
        </p:spPr>
        <p:txBody>
          <a:bodyPr wrap="none" rtlCol="0">
            <a:spAutoFit/>
          </a:bodyPr>
          <a:lstStyle/>
          <a:p>
            <a:pPr algn="ctr"/>
            <a:r>
              <a:rPr lang="es-ES" sz="1200" i="1" dirty="0"/>
              <a:t>Elaborado por: Ing. Liliana Ocampo Moreno</a:t>
            </a:r>
            <a:endParaRPr lang="es-PE" sz="1200" i="1" dirty="0"/>
          </a:p>
        </p:txBody>
      </p:sp>
      <p:sp>
        <p:nvSpPr>
          <p:cNvPr id="12" name="Rectángulo 11">
            <a:extLst>
              <a:ext uri="{FF2B5EF4-FFF2-40B4-BE49-F238E27FC236}">
                <a16:creationId xmlns:a16="http://schemas.microsoft.com/office/drawing/2014/main" id="{3DC194E8-EC7B-C353-6B41-EFCFAF755C1F}"/>
              </a:ext>
            </a:extLst>
          </p:cNvPr>
          <p:cNvSpPr/>
          <p:nvPr/>
        </p:nvSpPr>
        <p:spPr>
          <a:xfrm>
            <a:off x="7380228" y="2164952"/>
            <a:ext cx="875071" cy="224286"/>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13" name="Rectángulo: esquinas redondeadas 12">
            <a:extLst>
              <a:ext uri="{FF2B5EF4-FFF2-40B4-BE49-F238E27FC236}">
                <a16:creationId xmlns:a16="http://schemas.microsoft.com/office/drawing/2014/main" id="{75C1013A-02C7-1A7A-AF22-5391E052E02D}"/>
              </a:ext>
            </a:extLst>
          </p:cNvPr>
          <p:cNvSpPr/>
          <p:nvPr/>
        </p:nvSpPr>
        <p:spPr>
          <a:xfrm>
            <a:off x="7081460" y="2164952"/>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t>8</a:t>
            </a:r>
            <a:endParaRPr lang="es-PE" sz="1100" b="1" dirty="0"/>
          </a:p>
        </p:txBody>
      </p:sp>
      <p:sp>
        <p:nvSpPr>
          <p:cNvPr id="14" name="CuadroTexto 13">
            <a:hlinkClick r:id="rId5" action="ppaction://hlinksldjump"/>
            <a:extLst>
              <a:ext uri="{FF2B5EF4-FFF2-40B4-BE49-F238E27FC236}">
                <a16:creationId xmlns:a16="http://schemas.microsoft.com/office/drawing/2014/main" id="{BFE85435-3D4E-E62C-9306-1C7883317536}"/>
              </a:ext>
            </a:extLst>
          </p:cNvPr>
          <p:cNvSpPr txBox="1"/>
          <p:nvPr/>
        </p:nvSpPr>
        <p:spPr>
          <a:xfrm>
            <a:off x="3838185" y="1989634"/>
            <a:ext cx="3160167" cy="1326684"/>
          </a:xfrm>
          <a:prstGeom prst="roundRect">
            <a:avLst>
              <a:gd name="adj" fmla="val 7573"/>
            </a:avLst>
          </a:prstGeom>
          <a:solidFill>
            <a:srgbClr val="7030A0"/>
          </a:solidFill>
        </p:spPr>
        <p:txBody>
          <a:bodyPr wrap="square">
            <a:spAutoFit/>
          </a:bodyPr>
          <a:lstStyle/>
          <a:p>
            <a:pPr algn="ctr"/>
            <a:r>
              <a:rPr lang="es-ES_tradnl" sz="1100" dirty="0">
                <a:solidFill>
                  <a:srgbClr val="FFFFFF"/>
                </a:solidFill>
              </a:rPr>
              <a:t>En el caso en que se requiera que la programación académica pueda programar las asignaturas fuera del rango de tiempo definido en los campos </a:t>
            </a:r>
            <a:r>
              <a:rPr lang="es-ES_tradnl" sz="1100" b="1" dirty="0">
                <a:solidFill>
                  <a:srgbClr val="FFFFFF"/>
                </a:solidFill>
              </a:rPr>
              <a:t>“Fecha de inicio”</a:t>
            </a:r>
            <a:r>
              <a:rPr lang="es-ES_tradnl" sz="1100" dirty="0">
                <a:solidFill>
                  <a:srgbClr val="FFFFFF"/>
                </a:solidFill>
              </a:rPr>
              <a:t> y </a:t>
            </a:r>
            <a:r>
              <a:rPr lang="es-ES_tradnl" sz="1100" b="1" dirty="0">
                <a:solidFill>
                  <a:srgbClr val="FFFFFF"/>
                </a:solidFill>
              </a:rPr>
              <a:t>“Fecha de fin”</a:t>
            </a:r>
            <a:r>
              <a:rPr lang="es-ES_tradnl" sz="1100" dirty="0">
                <a:solidFill>
                  <a:srgbClr val="FFFFFF"/>
                </a:solidFill>
              </a:rPr>
              <a:t>, la casilla </a:t>
            </a:r>
            <a:r>
              <a:rPr lang="es-ES_tradnl" sz="1100" b="1" dirty="0">
                <a:solidFill>
                  <a:srgbClr val="92D050"/>
                </a:solidFill>
              </a:rPr>
              <a:t>Sobrepaso de sección</a:t>
            </a:r>
            <a:r>
              <a:rPr lang="es-ES_tradnl" sz="1100" dirty="0">
                <a:solidFill>
                  <a:srgbClr val="FFFFFF"/>
                </a:solidFill>
              </a:rPr>
              <a:t> debiera estar activa.</a:t>
            </a:r>
          </a:p>
          <a:p>
            <a:pPr algn="ctr"/>
            <a:r>
              <a:rPr lang="es-ES_tradnl" sz="1100" dirty="0">
                <a:solidFill>
                  <a:srgbClr val="FFFFFF"/>
                </a:solidFill>
              </a:rPr>
              <a:t>(Opcional)</a:t>
            </a:r>
            <a:endParaRPr lang="es-ES" sz="1100" dirty="0">
              <a:solidFill>
                <a:srgbClr val="FFFFFF"/>
              </a:solidFill>
            </a:endParaRPr>
          </a:p>
        </p:txBody>
      </p:sp>
      <p:sp>
        <p:nvSpPr>
          <p:cNvPr id="15" name="Rectángulo 14">
            <a:extLst>
              <a:ext uri="{FF2B5EF4-FFF2-40B4-BE49-F238E27FC236}">
                <a16:creationId xmlns:a16="http://schemas.microsoft.com/office/drawing/2014/main" id="{7EA20227-0A34-408B-E60A-5B3844A0FD1D}"/>
              </a:ext>
            </a:extLst>
          </p:cNvPr>
          <p:cNvSpPr/>
          <p:nvPr/>
        </p:nvSpPr>
        <p:spPr>
          <a:xfrm>
            <a:off x="8373392" y="2164952"/>
            <a:ext cx="3448448" cy="224286"/>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16" name="Rectángulo: esquinas redondeadas 15">
            <a:extLst>
              <a:ext uri="{FF2B5EF4-FFF2-40B4-BE49-F238E27FC236}">
                <a16:creationId xmlns:a16="http://schemas.microsoft.com/office/drawing/2014/main" id="{907F13B7-958E-3E26-33D3-0D0A3927AAEC}"/>
              </a:ext>
            </a:extLst>
          </p:cNvPr>
          <p:cNvSpPr/>
          <p:nvPr/>
        </p:nvSpPr>
        <p:spPr>
          <a:xfrm>
            <a:off x="9903424" y="2493296"/>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t>9</a:t>
            </a:r>
            <a:endParaRPr lang="es-PE" sz="1100" b="1" dirty="0"/>
          </a:p>
        </p:txBody>
      </p:sp>
      <p:sp>
        <p:nvSpPr>
          <p:cNvPr id="24" name="CuadroTexto 23">
            <a:hlinkClick r:id="rId5" action="ppaction://hlinksldjump"/>
            <a:extLst>
              <a:ext uri="{FF2B5EF4-FFF2-40B4-BE49-F238E27FC236}">
                <a16:creationId xmlns:a16="http://schemas.microsoft.com/office/drawing/2014/main" id="{F5EC702D-B19D-0541-11B6-A958143B4A58}"/>
              </a:ext>
            </a:extLst>
          </p:cNvPr>
          <p:cNvSpPr txBox="1"/>
          <p:nvPr/>
        </p:nvSpPr>
        <p:spPr>
          <a:xfrm>
            <a:off x="8545922" y="2805713"/>
            <a:ext cx="3160167" cy="1502509"/>
          </a:xfrm>
          <a:prstGeom prst="roundRect">
            <a:avLst>
              <a:gd name="adj" fmla="val 7573"/>
            </a:avLst>
          </a:prstGeom>
          <a:solidFill>
            <a:srgbClr val="7030A0"/>
          </a:solidFill>
        </p:spPr>
        <p:txBody>
          <a:bodyPr wrap="square">
            <a:spAutoFit/>
          </a:bodyPr>
          <a:lstStyle/>
          <a:p>
            <a:pPr algn="ctr"/>
            <a:r>
              <a:rPr lang="es-ES" sz="1100" b="1" dirty="0">
                <a:solidFill>
                  <a:srgbClr val="92D050"/>
                </a:solidFill>
              </a:rPr>
              <a:t>Web del docente</a:t>
            </a:r>
          </a:p>
          <a:p>
            <a:pPr marL="171450" indent="-171450">
              <a:buFont typeface="Arial" panose="020B0604020202020204" pitchFamily="34" charset="0"/>
              <a:buChar char="•"/>
            </a:pPr>
            <a:r>
              <a:rPr lang="es-ES" sz="1100" b="1" dirty="0">
                <a:solidFill>
                  <a:srgbClr val="FFFFFF"/>
                </a:solidFill>
              </a:rPr>
              <a:t>Calificaciones parciales y calificaciones finales: </a:t>
            </a:r>
            <a:r>
              <a:rPr lang="es-ES" sz="1100" dirty="0">
                <a:solidFill>
                  <a:srgbClr val="FFFFFF"/>
                </a:solidFill>
              </a:rPr>
              <a:t>deben estar marcadas para que permita el cargue de calificaciones. (Opcional)</a:t>
            </a:r>
          </a:p>
          <a:p>
            <a:pPr marL="171450" indent="-171450">
              <a:buFont typeface="Arial" panose="020B0604020202020204" pitchFamily="34" charset="0"/>
              <a:buChar char="•"/>
            </a:pPr>
            <a:r>
              <a:rPr lang="es-ES" sz="1100" b="1" dirty="0">
                <a:solidFill>
                  <a:srgbClr val="FFFFFF"/>
                </a:solidFill>
              </a:rPr>
              <a:t>Lista de espera:</a:t>
            </a:r>
            <a:r>
              <a:rPr lang="es-ES" sz="1100" dirty="0">
                <a:solidFill>
                  <a:srgbClr val="FFFFFF"/>
                </a:solidFill>
              </a:rPr>
              <a:t> Debe estar marcado para que muestre la información en web. </a:t>
            </a:r>
            <a:r>
              <a:rPr lang="es-ES_tradnl" sz="1100" dirty="0">
                <a:solidFill>
                  <a:srgbClr val="FFFFFF"/>
                </a:solidFill>
              </a:rPr>
              <a:t>(Opcional)</a:t>
            </a:r>
            <a:endParaRPr lang="es-ES" sz="1100" dirty="0">
              <a:solidFill>
                <a:srgbClr val="FFFFFF"/>
              </a:solidFill>
            </a:endParaRPr>
          </a:p>
        </p:txBody>
      </p:sp>
      <p:sp>
        <p:nvSpPr>
          <p:cNvPr id="33" name="Rectángulo 32">
            <a:extLst>
              <a:ext uri="{FF2B5EF4-FFF2-40B4-BE49-F238E27FC236}">
                <a16:creationId xmlns:a16="http://schemas.microsoft.com/office/drawing/2014/main" id="{5405A012-BA56-08B7-4D95-9C7300899589}"/>
              </a:ext>
            </a:extLst>
          </p:cNvPr>
          <p:cNvSpPr/>
          <p:nvPr/>
        </p:nvSpPr>
        <p:spPr>
          <a:xfrm>
            <a:off x="11293040" y="5486741"/>
            <a:ext cx="684363" cy="347998"/>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34" name="Rectángulo: esquinas redondeadas 33">
            <a:extLst>
              <a:ext uri="{FF2B5EF4-FFF2-40B4-BE49-F238E27FC236}">
                <a16:creationId xmlns:a16="http://schemas.microsoft.com/office/drawing/2014/main" id="{1BFB650D-6A91-419F-4657-0C235C11EF1C}"/>
              </a:ext>
            </a:extLst>
          </p:cNvPr>
          <p:cNvSpPr/>
          <p:nvPr/>
        </p:nvSpPr>
        <p:spPr>
          <a:xfrm>
            <a:off x="10976737" y="5548597"/>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s-ES" sz="1100" b="1" dirty="0"/>
              <a:t>10</a:t>
            </a:r>
            <a:endParaRPr lang="es-PE" sz="1100" b="1" dirty="0"/>
          </a:p>
        </p:txBody>
      </p:sp>
      <p:sp>
        <p:nvSpPr>
          <p:cNvPr id="35" name="CuadroTexto 34">
            <a:extLst>
              <a:ext uri="{FF2B5EF4-FFF2-40B4-BE49-F238E27FC236}">
                <a16:creationId xmlns:a16="http://schemas.microsoft.com/office/drawing/2014/main" id="{FF705C2B-A6E5-7328-EAE6-3798CBC772F4}"/>
              </a:ext>
            </a:extLst>
          </p:cNvPr>
          <p:cNvSpPr txBox="1"/>
          <p:nvPr/>
        </p:nvSpPr>
        <p:spPr>
          <a:xfrm>
            <a:off x="9272638" y="4978776"/>
            <a:ext cx="1588524" cy="975033"/>
          </a:xfrm>
          <a:prstGeom prst="roundRect">
            <a:avLst>
              <a:gd name="adj" fmla="val 7573"/>
            </a:avLst>
          </a:prstGeom>
          <a:solidFill>
            <a:srgbClr val="7030A0"/>
          </a:solidFill>
        </p:spPr>
        <p:txBody>
          <a:bodyPr wrap="square">
            <a:spAutoFit/>
          </a:bodyPr>
          <a:lstStyle/>
          <a:p>
            <a:pPr algn="ctr"/>
            <a:r>
              <a:rPr lang="es-ES" sz="1100" dirty="0">
                <a:solidFill>
                  <a:srgbClr val="FFFFFF"/>
                </a:solidFill>
              </a:rPr>
              <a:t>Se debe presionar </a:t>
            </a:r>
            <a:r>
              <a:rPr lang="es-ES" sz="1100" b="1" dirty="0">
                <a:solidFill>
                  <a:srgbClr val="92D050"/>
                </a:solidFill>
              </a:rPr>
              <a:t>Guardar</a:t>
            </a:r>
            <a:r>
              <a:rPr lang="es-ES" sz="1100" dirty="0">
                <a:solidFill>
                  <a:srgbClr val="FFFFFF"/>
                </a:solidFill>
              </a:rPr>
              <a:t> para que la información quede registrada en el sistema</a:t>
            </a:r>
          </a:p>
        </p:txBody>
      </p:sp>
      <p:sp>
        <p:nvSpPr>
          <p:cNvPr id="36" name="Rectángulo 35">
            <a:extLst>
              <a:ext uri="{FF2B5EF4-FFF2-40B4-BE49-F238E27FC236}">
                <a16:creationId xmlns:a16="http://schemas.microsoft.com/office/drawing/2014/main" id="{3EDE9393-AFA5-372D-75F8-858E835BF2A5}"/>
              </a:ext>
            </a:extLst>
          </p:cNvPr>
          <p:cNvSpPr/>
          <p:nvPr/>
        </p:nvSpPr>
        <p:spPr>
          <a:xfrm>
            <a:off x="701015" y="5466137"/>
            <a:ext cx="358463" cy="347998"/>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37" name="Rectángulo: esquinas redondeadas 36">
            <a:extLst>
              <a:ext uri="{FF2B5EF4-FFF2-40B4-BE49-F238E27FC236}">
                <a16:creationId xmlns:a16="http://schemas.microsoft.com/office/drawing/2014/main" id="{768A8C66-1B15-1AE5-FDC1-AA8044BEB407}"/>
              </a:ext>
            </a:extLst>
          </p:cNvPr>
          <p:cNvSpPr/>
          <p:nvPr/>
        </p:nvSpPr>
        <p:spPr>
          <a:xfrm>
            <a:off x="375476" y="5491049"/>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s-ES" sz="1100" b="1" dirty="0"/>
              <a:t>11</a:t>
            </a:r>
            <a:endParaRPr lang="es-PE" sz="1100" b="1" dirty="0"/>
          </a:p>
        </p:txBody>
      </p:sp>
      <p:sp>
        <p:nvSpPr>
          <p:cNvPr id="38" name="CuadroTexto 37">
            <a:extLst>
              <a:ext uri="{FF2B5EF4-FFF2-40B4-BE49-F238E27FC236}">
                <a16:creationId xmlns:a16="http://schemas.microsoft.com/office/drawing/2014/main" id="{23AFFD23-73A2-769D-9564-3BF16EA28F49}"/>
              </a:ext>
            </a:extLst>
          </p:cNvPr>
          <p:cNvSpPr txBox="1"/>
          <p:nvPr/>
        </p:nvSpPr>
        <p:spPr>
          <a:xfrm>
            <a:off x="224421" y="4914454"/>
            <a:ext cx="868225" cy="447556"/>
          </a:xfrm>
          <a:prstGeom prst="roundRect">
            <a:avLst>
              <a:gd name="adj" fmla="val 7573"/>
            </a:avLst>
          </a:prstGeom>
          <a:solidFill>
            <a:srgbClr val="7030A0"/>
          </a:solidFill>
        </p:spPr>
        <p:txBody>
          <a:bodyPr wrap="square">
            <a:spAutoFit/>
          </a:bodyPr>
          <a:lstStyle/>
          <a:p>
            <a:pPr algn="ctr"/>
            <a:r>
              <a:rPr lang="es-ES" sz="1100" dirty="0">
                <a:solidFill>
                  <a:srgbClr val="FFFFFF"/>
                </a:solidFill>
              </a:rPr>
              <a:t>Presionar siguiente</a:t>
            </a:r>
          </a:p>
        </p:txBody>
      </p:sp>
    </p:spTree>
    <p:extLst>
      <p:ext uri="{BB962C8B-B14F-4D97-AF65-F5344CB8AC3E}">
        <p14:creationId xmlns:p14="http://schemas.microsoft.com/office/powerpoint/2010/main" val="33070557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heel(1)">
                                      <p:cBhvr>
                                        <p:cTn id="7" dur="2000"/>
                                        <p:tgtEl>
                                          <p:spTgt spid="12"/>
                                        </p:tgtEl>
                                      </p:cBhvr>
                                    </p:animEffect>
                                  </p:childTnLst>
                                </p:cTn>
                              </p:par>
                            </p:childTnLst>
                          </p:cTn>
                        </p:par>
                        <p:par>
                          <p:cTn id="8" fill="hold">
                            <p:stCondLst>
                              <p:cond delay="2000"/>
                            </p:stCondLst>
                            <p:childTnLst>
                              <p:par>
                                <p:cTn id="9" presetID="53" presetClass="entr" presetSubtype="16" fill="hold" grpId="0" nodeType="afterEffect">
                                  <p:stCondLst>
                                    <p:cond delay="0"/>
                                  </p:stCondLst>
                                  <p:childTnLst>
                                    <p:set>
                                      <p:cBhvr>
                                        <p:cTn id="10" dur="1" fill="hold">
                                          <p:stCondLst>
                                            <p:cond delay="0"/>
                                          </p:stCondLst>
                                        </p:cTn>
                                        <p:tgtEl>
                                          <p:spTgt spid="13"/>
                                        </p:tgtEl>
                                        <p:attrNameLst>
                                          <p:attrName>style.visibility</p:attrName>
                                        </p:attrNameLst>
                                      </p:cBhvr>
                                      <p:to>
                                        <p:strVal val="visible"/>
                                      </p:to>
                                    </p:set>
                                    <p:anim calcmode="lin" valueType="num">
                                      <p:cBhvr>
                                        <p:cTn id="11" dur="500" fill="hold"/>
                                        <p:tgtEl>
                                          <p:spTgt spid="13"/>
                                        </p:tgtEl>
                                        <p:attrNameLst>
                                          <p:attrName>ppt_w</p:attrName>
                                        </p:attrNameLst>
                                      </p:cBhvr>
                                      <p:tavLst>
                                        <p:tav tm="0">
                                          <p:val>
                                            <p:fltVal val="0"/>
                                          </p:val>
                                        </p:tav>
                                        <p:tav tm="100000">
                                          <p:val>
                                            <p:strVal val="#ppt_w"/>
                                          </p:val>
                                        </p:tav>
                                      </p:tavLst>
                                    </p:anim>
                                    <p:anim calcmode="lin" valueType="num">
                                      <p:cBhvr>
                                        <p:cTn id="12" dur="500" fill="hold"/>
                                        <p:tgtEl>
                                          <p:spTgt spid="13"/>
                                        </p:tgtEl>
                                        <p:attrNameLst>
                                          <p:attrName>ppt_h</p:attrName>
                                        </p:attrNameLst>
                                      </p:cBhvr>
                                      <p:tavLst>
                                        <p:tav tm="0">
                                          <p:val>
                                            <p:fltVal val="0"/>
                                          </p:val>
                                        </p:tav>
                                        <p:tav tm="100000">
                                          <p:val>
                                            <p:strVal val="#ppt_h"/>
                                          </p:val>
                                        </p:tav>
                                      </p:tavLst>
                                    </p:anim>
                                    <p:animEffect transition="in" filter="fade">
                                      <p:cBhvr>
                                        <p:cTn id="13" dur="500"/>
                                        <p:tgtEl>
                                          <p:spTgt spid="13"/>
                                        </p:tgtEl>
                                      </p:cBhvr>
                                    </p:animEffect>
                                  </p:childTnLst>
                                </p:cTn>
                              </p:par>
                            </p:childTnLst>
                          </p:cTn>
                        </p:par>
                        <p:par>
                          <p:cTn id="14" fill="hold">
                            <p:stCondLst>
                              <p:cond delay="2500"/>
                            </p:stCondLst>
                            <p:childTnLst>
                              <p:par>
                                <p:cTn id="15" presetID="10" presetClass="entr" presetSubtype="0" fill="hold" grpId="0" nodeType="after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500"/>
                                        <p:tgtEl>
                                          <p:spTgt spid="14"/>
                                        </p:tgtEl>
                                      </p:cBhvr>
                                    </p:animEffect>
                                  </p:childTnLst>
                                </p:cTn>
                              </p:par>
                            </p:childTnLst>
                          </p:cTn>
                        </p:par>
                        <p:par>
                          <p:cTn id="18" fill="hold">
                            <p:stCondLst>
                              <p:cond delay="3000"/>
                            </p:stCondLst>
                            <p:childTnLst>
                              <p:par>
                                <p:cTn id="19" presetID="21" presetClass="entr" presetSubtype="1" fill="hold" grpId="0" nodeType="after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wheel(1)">
                                      <p:cBhvr>
                                        <p:cTn id="21" dur="2000"/>
                                        <p:tgtEl>
                                          <p:spTgt spid="15"/>
                                        </p:tgtEl>
                                      </p:cBhvr>
                                    </p:animEffect>
                                  </p:childTnLst>
                                </p:cTn>
                              </p:par>
                            </p:childTnLst>
                          </p:cTn>
                        </p:par>
                        <p:par>
                          <p:cTn id="22" fill="hold">
                            <p:stCondLst>
                              <p:cond delay="5000"/>
                            </p:stCondLst>
                            <p:childTnLst>
                              <p:par>
                                <p:cTn id="23" presetID="53" presetClass="entr" presetSubtype="16" fill="hold" grpId="0" nodeType="afterEffect">
                                  <p:stCondLst>
                                    <p:cond delay="0"/>
                                  </p:stCondLst>
                                  <p:childTnLst>
                                    <p:set>
                                      <p:cBhvr>
                                        <p:cTn id="24" dur="1" fill="hold">
                                          <p:stCondLst>
                                            <p:cond delay="0"/>
                                          </p:stCondLst>
                                        </p:cTn>
                                        <p:tgtEl>
                                          <p:spTgt spid="16"/>
                                        </p:tgtEl>
                                        <p:attrNameLst>
                                          <p:attrName>style.visibility</p:attrName>
                                        </p:attrNameLst>
                                      </p:cBhvr>
                                      <p:to>
                                        <p:strVal val="visible"/>
                                      </p:to>
                                    </p:set>
                                    <p:anim calcmode="lin" valueType="num">
                                      <p:cBhvr>
                                        <p:cTn id="25" dur="500" fill="hold"/>
                                        <p:tgtEl>
                                          <p:spTgt spid="16"/>
                                        </p:tgtEl>
                                        <p:attrNameLst>
                                          <p:attrName>ppt_w</p:attrName>
                                        </p:attrNameLst>
                                      </p:cBhvr>
                                      <p:tavLst>
                                        <p:tav tm="0">
                                          <p:val>
                                            <p:fltVal val="0"/>
                                          </p:val>
                                        </p:tav>
                                        <p:tav tm="100000">
                                          <p:val>
                                            <p:strVal val="#ppt_w"/>
                                          </p:val>
                                        </p:tav>
                                      </p:tavLst>
                                    </p:anim>
                                    <p:anim calcmode="lin" valueType="num">
                                      <p:cBhvr>
                                        <p:cTn id="26" dur="500" fill="hold"/>
                                        <p:tgtEl>
                                          <p:spTgt spid="16"/>
                                        </p:tgtEl>
                                        <p:attrNameLst>
                                          <p:attrName>ppt_h</p:attrName>
                                        </p:attrNameLst>
                                      </p:cBhvr>
                                      <p:tavLst>
                                        <p:tav tm="0">
                                          <p:val>
                                            <p:fltVal val="0"/>
                                          </p:val>
                                        </p:tav>
                                        <p:tav tm="100000">
                                          <p:val>
                                            <p:strVal val="#ppt_h"/>
                                          </p:val>
                                        </p:tav>
                                      </p:tavLst>
                                    </p:anim>
                                    <p:animEffect transition="in" filter="fade">
                                      <p:cBhvr>
                                        <p:cTn id="27" dur="500"/>
                                        <p:tgtEl>
                                          <p:spTgt spid="16"/>
                                        </p:tgtEl>
                                      </p:cBhvr>
                                    </p:animEffect>
                                  </p:childTnLst>
                                </p:cTn>
                              </p:par>
                            </p:childTnLst>
                          </p:cTn>
                        </p:par>
                        <p:par>
                          <p:cTn id="28" fill="hold">
                            <p:stCondLst>
                              <p:cond delay="5500"/>
                            </p:stCondLst>
                            <p:childTnLst>
                              <p:par>
                                <p:cTn id="29" presetID="10" presetClass="entr" presetSubtype="0" fill="hold" grpId="0" nodeType="afterEffect">
                                  <p:stCondLst>
                                    <p:cond delay="0"/>
                                  </p:stCondLst>
                                  <p:childTnLst>
                                    <p:set>
                                      <p:cBhvr>
                                        <p:cTn id="30" dur="1" fill="hold">
                                          <p:stCondLst>
                                            <p:cond delay="0"/>
                                          </p:stCondLst>
                                        </p:cTn>
                                        <p:tgtEl>
                                          <p:spTgt spid="24"/>
                                        </p:tgtEl>
                                        <p:attrNameLst>
                                          <p:attrName>style.visibility</p:attrName>
                                        </p:attrNameLst>
                                      </p:cBhvr>
                                      <p:to>
                                        <p:strVal val="visible"/>
                                      </p:to>
                                    </p:set>
                                    <p:animEffect transition="in" filter="fade">
                                      <p:cBhvr>
                                        <p:cTn id="31" dur="500"/>
                                        <p:tgtEl>
                                          <p:spTgt spid="24"/>
                                        </p:tgtEl>
                                      </p:cBhvr>
                                    </p:animEffect>
                                  </p:childTnLst>
                                </p:cTn>
                              </p:par>
                            </p:childTnLst>
                          </p:cTn>
                        </p:par>
                        <p:par>
                          <p:cTn id="32" fill="hold">
                            <p:stCondLst>
                              <p:cond delay="6000"/>
                            </p:stCondLst>
                            <p:childTnLst>
                              <p:par>
                                <p:cTn id="33" presetID="21" presetClass="entr" presetSubtype="1" fill="hold" grpId="0" nodeType="afterEffect">
                                  <p:stCondLst>
                                    <p:cond delay="0"/>
                                  </p:stCondLst>
                                  <p:childTnLst>
                                    <p:set>
                                      <p:cBhvr>
                                        <p:cTn id="34" dur="1" fill="hold">
                                          <p:stCondLst>
                                            <p:cond delay="0"/>
                                          </p:stCondLst>
                                        </p:cTn>
                                        <p:tgtEl>
                                          <p:spTgt spid="33"/>
                                        </p:tgtEl>
                                        <p:attrNameLst>
                                          <p:attrName>style.visibility</p:attrName>
                                        </p:attrNameLst>
                                      </p:cBhvr>
                                      <p:to>
                                        <p:strVal val="visible"/>
                                      </p:to>
                                    </p:set>
                                    <p:animEffect transition="in" filter="wheel(1)">
                                      <p:cBhvr>
                                        <p:cTn id="35" dur="2000"/>
                                        <p:tgtEl>
                                          <p:spTgt spid="33"/>
                                        </p:tgtEl>
                                      </p:cBhvr>
                                    </p:animEffect>
                                  </p:childTnLst>
                                </p:cTn>
                              </p:par>
                            </p:childTnLst>
                          </p:cTn>
                        </p:par>
                        <p:par>
                          <p:cTn id="36" fill="hold">
                            <p:stCondLst>
                              <p:cond delay="8000"/>
                            </p:stCondLst>
                            <p:childTnLst>
                              <p:par>
                                <p:cTn id="37" presetID="53" presetClass="entr" presetSubtype="16" fill="hold" grpId="0" nodeType="afterEffect">
                                  <p:stCondLst>
                                    <p:cond delay="0"/>
                                  </p:stCondLst>
                                  <p:childTnLst>
                                    <p:set>
                                      <p:cBhvr>
                                        <p:cTn id="38" dur="1" fill="hold">
                                          <p:stCondLst>
                                            <p:cond delay="0"/>
                                          </p:stCondLst>
                                        </p:cTn>
                                        <p:tgtEl>
                                          <p:spTgt spid="34"/>
                                        </p:tgtEl>
                                        <p:attrNameLst>
                                          <p:attrName>style.visibility</p:attrName>
                                        </p:attrNameLst>
                                      </p:cBhvr>
                                      <p:to>
                                        <p:strVal val="visible"/>
                                      </p:to>
                                    </p:set>
                                    <p:anim calcmode="lin" valueType="num">
                                      <p:cBhvr>
                                        <p:cTn id="39" dur="500" fill="hold"/>
                                        <p:tgtEl>
                                          <p:spTgt spid="34"/>
                                        </p:tgtEl>
                                        <p:attrNameLst>
                                          <p:attrName>ppt_w</p:attrName>
                                        </p:attrNameLst>
                                      </p:cBhvr>
                                      <p:tavLst>
                                        <p:tav tm="0">
                                          <p:val>
                                            <p:fltVal val="0"/>
                                          </p:val>
                                        </p:tav>
                                        <p:tav tm="100000">
                                          <p:val>
                                            <p:strVal val="#ppt_w"/>
                                          </p:val>
                                        </p:tav>
                                      </p:tavLst>
                                    </p:anim>
                                    <p:anim calcmode="lin" valueType="num">
                                      <p:cBhvr>
                                        <p:cTn id="40" dur="500" fill="hold"/>
                                        <p:tgtEl>
                                          <p:spTgt spid="34"/>
                                        </p:tgtEl>
                                        <p:attrNameLst>
                                          <p:attrName>ppt_h</p:attrName>
                                        </p:attrNameLst>
                                      </p:cBhvr>
                                      <p:tavLst>
                                        <p:tav tm="0">
                                          <p:val>
                                            <p:fltVal val="0"/>
                                          </p:val>
                                        </p:tav>
                                        <p:tav tm="100000">
                                          <p:val>
                                            <p:strVal val="#ppt_h"/>
                                          </p:val>
                                        </p:tav>
                                      </p:tavLst>
                                    </p:anim>
                                    <p:animEffect transition="in" filter="fade">
                                      <p:cBhvr>
                                        <p:cTn id="41" dur="500"/>
                                        <p:tgtEl>
                                          <p:spTgt spid="34"/>
                                        </p:tgtEl>
                                      </p:cBhvr>
                                    </p:animEffect>
                                  </p:childTnLst>
                                </p:cTn>
                              </p:par>
                            </p:childTnLst>
                          </p:cTn>
                        </p:par>
                        <p:par>
                          <p:cTn id="42" fill="hold">
                            <p:stCondLst>
                              <p:cond delay="8500"/>
                            </p:stCondLst>
                            <p:childTnLst>
                              <p:par>
                                <p:cTn id="43" presetID="10" presetClass="entr" presetSubtype="0" fill="hold" grpId="0" nodeType="afterEffect">
                                  <p:stCondLst>
                                    <p:cond delay="0"/>
                                  </p:stCondLst>
                                  <p:childTnLst>
                                    <p:set>
                                      <p:cBhvr>
                                        <p:cTn id="44" dur="1" fill="hold">
                                          <p:stCondLst>
                                            <p:cond delay="0"/>
                                          </p:stCondLst>
                                        </p:cTn>
                                        <p:tgtEl>
                                          <p:spTgt spid="35"/>
                                        </p:tgtEl>
                                        <p:attrNameLst>
                                          <p:attrName>style.visibility</p:attrName>
                                        </p:attrNameLst>
                                      </p:cBhvr>
                                      <p:to>
                                        <p:strVal val="visible"/>
                                      </p:to>
                                    </p:set>
                                    <p:animEffect transition="in" filter="fade">
                                      <p:cBhvr>
                                        <p:cTn id="45" dur="500"/>
                                        <p:tgtEl>
                                          <p:spTgt spid="35"/>
                                        </p:tgtEl>
                                      </p:cBhvr>
                                    </p:animEffect>
                                  </p:childTnLst>
                                </p:cTn>
                              </p:par>
                            </p:childTnLst>
                          </p:cTn>
                        </p:par>
                        <p:par>
                          <p:cTn id="46" fill="hold">
                            <p:stCondLst>
                              <p:cond delay="9000"/>
                            </p:stCondLst>
                            <p:childTnLst>
                              <p:par>
                                <p:cTn id="47" presetID="21" presetClass="entr" presetSubtype="1" fill="hold" grpId="0" nodeType="afterEffect">
                                  <p:stCondLst>
                                    <p:cond delay="0"/>
                                  </p:stCondLst>
                                  <p:childTnLst>
                                    <p:set>
                                      <p:cBhvr>
                                        <p:cTn id="48" dur="1" fill="hold">
                                          <p:stCondLst>
                                            <p:cond delay="0"/>
                                          </p:stCondLst>
                                        </p:cTn>
                                        <p:tgtEl>
                                          <p:spTgt spid="36"/>
                                        </p:tgtEl>
                                        <p:attrNameLst>
                                          <p:attrName>style.visibility</p:attrName>
                                        </p:attrNameLst>
                                      </p:cBhvr>
                                      <p:to>
                                        <p:strVal val="visible"/>
                                      </p:to>
                                    </p:set>
                                    <p:animEffect transition="in" filter="wheel(1)">
                                      <p:cBhvr>
                                        <p:cTn id="49" dur="2000"/>
                                        <p:tgtEl>
                                          <p:spTgt spid="36"/>
                                        </p:tgtEl>
                                      </p:cBhvr>
                                    </p:animEffect>
                                  </p:childTnLst>
                                </p:cTn>
                              </p:par>
                            </p:childTnLst>
                          </p:cTn>
                        </p:par>
                        <p:par>
                          <p:cTn id="50" fill="hold">
                            <p:stCondLst>
                              <p:cond delay="11000"/>
                            </p:stCondLst>
                            <p:childTnLst>
                              <p:par>
                                <p:cTn id="51" presetID="53" presetClass="entr" presetSubtype="16" fill="hold" grpId="0" nodeType="afterEffect">
                                  <p:stCondLst>
                                    <p:cond delay="0"/>
                                  </p:stCondLst>
                                  <p:childTnLst>
                                    <p:set>
                                      <p:cBhvr>
                                        <p:cTn id="52" dur="1" fill="hold">
                                          <p:stCondLst>
                                            <p:cond delay="0"/>
                                          </p:stCondLst>
                                        </p:cTn>
                                        <p:tgtEl>
                                          <p:spTgt spid="37"/>
                                        </p:tgtEl>
                                        <p:attrNameLst>
                                          <p:attrName>style.visibility</p:attrName>
                                        </p:attrNameLst>
                                      </p:cBhvr>
                                      <p:to>
                                        <p:strVal val="visible"/>
                                      </p:to>
                                    </p:set>
                                    <p:anim calcmode="lin" valueType="num">
                                      <p:cBhvr>
                                        <p:cTn id="53" dur="500" fill="hold"/>
                                        <p:tgtEl>
                                          <p:spTgt spid="37"/>
                                        </p:tgtEl>
                                        <p:attrNameLst>
                                          <p:attrName>ppt_w</p:attrName>
                                        </p:attrNameLst>
                                      </p:cBhvr>
                                      <p:tavLst>
                                        <p:tav tm="0">
                                          <p:val>
                                            <p:fltVal val="0"/>
                                          </p:val>
                                        </p:tav>
                                        <p:tav tm="100000">
                                          <p:val>
                                            <p:strVal val="#ppt_w"/>
                                          </p:val>
                                        </p:tav>
                                      </p:tavLst>
                                    </p:anim>
                                    <p:anim calcmode="lin" valueType="num">
                                      <p:cBhvr>
                                        <p:cTn id="54" dur="500" fill="hold"/>
                                        <p:tgtEl>
                                          <p:spTgt spid="37"/>
                                        </p:tgtEl>
                                        <p:attrNameLst>
                                          <p:attrName>ppt_h</p:attrName>
                                        </p:attrNameLst>
                                      </p:cBhvr>
                                      <p:tavLst>
                                        <p:tav tm="0">
                                          <p:val>
                                            <p:fltVal val="0"/>
                                          </p:val>
                                        </p:tav>
                                        <p:tav tm="100000">
                                          <p:val>
                                            <p:strVal val="#ppt_h"/>
                                          </p:val>
                                        </p:tav>
                                      </p:tavLst>
                                    </p:anim>
                                    <p:animEffect transition="in" filter="fade">
                                      <p:cBhvr>
                                        <p:cTn id="55" dur="500"/>
                                        <p:tgtEl>
                                          <p:spTgt spid="37"/>
                                        </p:tgtEl>
                                      </p:cBhvr>
                                    </p:animEffect>
                                  </p:childTnLst>
                                </p:cTn>
                              </p:par>
                            </p:childTnLst>
                          </p:cTn>
                        </p:par>
                        <p:par>
                          <p:cTn id="56" fill="hold">
                            <p:stCondLst>
                              <p:cond delay="11500"/>
                            </p:stCondLst>
                            <p:childTnLst>
                              <p:par>
                                <p:cTn id="57" presetID="10" presetClass="entr" presetSubtype="0" fill="hold" grpId="0" nodeType="afterEffect">
                                  <p:stCondLst>
                                    <p:cond delay="0"/>
                                  </p:stCondLst>
                                  <p:childTnLst>
                                    <p:set>
                                      <p:cBhvr>
                                        <p:cTn id="58" dur="1" fill="hold">
                                          <p:stCondLst>
                                            <p:cond delay="0"/>
                                          </p:stCondLst>
                                        </p:cTn>
                                        <p:tgtEl>
                                          <p:spTgt spid="38"/>
                                        </p:tgtEl>
                                        <p:attrNameLst>
                                          <p:attrName>style.visibility</p:attrName>
                                        </p:attrNameLst>
                                      </p:cBhvr>
                                      <p:to>
                                        <p:strVal val="visible"/>
                                      </p:to>
                                    </p:set>
                                    <p:animEffect transition="in" filter="fade">
                                      <p:cBhvr>
                                        <p:cTn id="59"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5" grpId="0" animBg="1"/>
      <p:bldP spid="16" grpId="0" animBg="1"/>
      <p:bldP spid="24" grpId="0" animBg="1"/>
      <p:bldP spid="33" grpId="0" animBg="1"/>
      <p:bldP spid="34" grpId="0" animBg="1"/>
      <p:bldP spid="35" grpId="0" animBg="1"/>
      <p:bldP spid="36" grpId="0" animBg="1"/>
      <p:bldP spid="37" grpId="0" animBg="1"/>
      <p:bldP spid="38"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7CAB2B86-4E3B-C98C-411E-958BEFE187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2528" y="6154887"/>
            <a:ext cx="2234242" cy="525923"/>
          </a:xfrm>
          <a:prstGeom prst="rect">
            <a:avLst/>
          </a:prstGeom>
        </p:spPr>
      </p:pic>
      <p:pic>
        <p:nvPicPr>
          <p:cNvPr id="4" name="Picture 4" descr="Ellucian Student Reseñas 2026: Detalles, Precios y Características | G2">
            <a:extLst>
              <a:ext uri="{FF2B5EF4-FFF2-40B4-BE49-F238E27FC236}">
                <a16:creationId xmlns:a16="http://schemas.microsoft.com/office/drawing/2014/main" id="{7352B780-8C7C-7B91-F3EE-5E6EF2C2E4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98101" y="5901780"/>
            <a:ext cx="1821371" cy="956220"/>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0AEBA78F-8C98-5D4D-384F-95B753FFADE4}"/>
              </a:ext>
            </a:extLst>
          </p:cNvPr>
          <p:cNvSpPr txBox="1"/>
          <p:nvPr/>
        </p:nvSpPr>
        <p:spPr>
          <a:xfrm>
            <a:off x="431320" y="241540"/>
            <a:ext cx="6785832" cy="523220"/>
          </a:xfrm>
          <a:prstGeom prst="rect">
            <a:avLst/>
          </a:prstGeom>
          <a:noFill/>
        </p:spPr>
        <p:txBody>
          <a:bodyPr wrap="none" rtlCol="0">
            <a:spAutoFit/>
          </a:bodyPr>
          <a:lstStyle/>
          <a:p>
            <a:r>
              <a:rPr lang="es-ES" sz="2800" b="1" dirty="0">
                <a:latin typeface="Montserrat" pitchFamily="2" charset="0"/>
              </a:rPr>
              <a:t>CONTROL DE PERIODO - SOATERM</a:t>
            </a:r>
            <a:endParaRPr lang="es-PE" sz="2800" b="1" dirty="0">
              <a:latin typeface="Montserrat" pitchFamily="2" charset="0"/>
            </a:endParaRPr>
          </a:p>
        </p:txBody>
      </p:sp>
      <p:sp>
        <p:nvSpPr>
          <p:cNvPr id="8" name="Rectángulo 7">
            <a:extLst>
              <a:ext uri="{FF2B5EF4-FFF2-40B4-BE49-F238E27FC236}">
                <a16:creationId xmlns:a16="http://schemas.microsoft.com/office/drawing/2014/main" id="{A16BCE08-E23C-F264-A6E3-E4019979D2E2}"/>
              </a:ext>
            </a:extLst>
          </p:cNvPr>
          <p:cNvSpPr/>
          <p:nvPr/>
        </p:nvSpPr>
        <p:spPr>
          <a:xfrm>
            <a:off x="7217152" y="241540"/>
            <a:ext cx="4974847" cy="445583"/>
          </a:xfrm>
          <a:prstGeom prst="rect">
            <a:avLst/>
          </a:prstGeom>
          <a:gradFill flip="none" rotWithShape="1">
            <a:gsLst>
              <a:gs pos="0">
                <a:schemeClr val="accent6">
                  <a:lumMod val="0"/>
                  <a:lumOff val="100000"/>
                </a:schemeClr>
              </a:gs>
              <a:gs pos="66000">
                <a:schemeClr val="accent6">
                  <a:lumMod val="100000"/>
                </a:schemeClr>
              </a:gs>
            </a:gsLst>
            <a:lin ang="0" scaled="1"/>
            <a:tileRect/>
          </a:gra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s-PE"/>
          </a:p>
        </p:txBody>
      </p:sp>
      <p:sp>
        <p:nvSpPr>
          <p:cNvPr id="6" name="CuadroTexto 5">
            <a:extLst>
              <a:ext uri="{FF2B5EF4-FFF2-40B4-BE49-F238E27FC236}">
                <a16:creationId xmlns:a16="http://schemas.microsoft.com/office/drawing/2014/main" id="{AC33DC36-253A-547B-7A30-A152C2F6B4CE}"/>
              </a:ext>
            </a:extLst>
          </p:cNvPr>
          <p:cNvSpPr txBox="1"/>
          <p:nvPr/>
        </p:nvSpPr>
        <p:spPr>
          <a:xfrm>
            <a:off x="4528936" y="6386396"/>
            <a:ext cx="3134128" cy="276999"/>
          </a:xfrm>
          <a:prstGeom prst="rect">
            <a:avLst/>
          </a:prstGeom>
          <a:noFill/>
        </p:spPr>
        <p:txBody>
          <a:bodyPr wrap="none" rtlCol="0">
            <a:spAutoFit/>
          </a:bodyPr>
          <a:lstStyle/>
          <a:p>
            <a:pPr algn="ctr"/>
            <a:r>
              <a:rPr lang="es-ES" sz="1200" i="1" dirty="0"/>
              <a:t>Elaborado por: Ing. Liliana Ocampo Moreno</a:t>
            </a:r>
            <a:endParaRPr lang="es-PE" sz="1200" i="1" dirty="0"/>
          </a:p>
        </p:txBody>
      </p:sp>
      <p:pic>
        <p:nvPicPr>
          <p:cNvPr id="5" name="Imagen 4">
            <a:extLst>
              <a:ext uri="{FF2B5EF4-FFF2-40B4-BE49-F238E27FC236}">
                <a16:creationId xmlns:a16="http://schemas.microsoft.com/office/drawing/2014/main" id="{FC169C7F-4ABC-D76F-08D7-DBDA2980CEB5}"/>
              </a:ext>
            </a:extLst>
          </p:cNvPr>
          <p:cNvPicPr>
            <a:picLocks noChangeAspect="1"/>
          </p:cNvPicPr>
          <p:nvPr/>
        </p:nvPicPr>
        <p:blipFill>
          <a:blip r:embed="rId4"/>
          <a:stretch>
            <a:fillRect/>
          </a:stretch>
        </p:blipFill>
        <p:spPr>
          <a:xfrm>
            <a:off x="337178" y="983227"/>
            <a:ext cx="11581233" cy="4918554"/>
          </a:xfrm>
          <a:prstGeom prst="rect">
            <a:avLst/>
          </a:prstGeom>
        </p:spPr>
      </p:pic>
      <p:sp>
        <p:nvSpPr>
          <p:cNvPr id="10" name="Rectángulo 9">
            <a:extLst>
              <a:ext uri="{FF2B5EF4-FFF2-40B4-BE49-F238E27FC236}">
                <a16:creationId xmlns:a16="http://schemas.microsoft.com/office/drawing/2014/main" id="{67AC4C9B-5B49-4686-7F38-16591C17ABEF}"/>
              </a:ext>
            </a:extLst>
          </p:cNvPr>
          <p:cNvSpPr/>
          <p:nvPr/>
        </p:nvSpPr>
        <p:spPr>
          <a:xfrm>
            <a:off x="273590" y="3801463"/>
            <a:ext cx="11644822" cy="708900"/>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12" name="Rectángulo 11">
            <a:extLst>
              <a:ext uri="{FF2B5EF4-FFF2-40B4-BE49-F238E27FC236}">
                <a16:creationId xmlns:a16="http://schemas.microsoft.com/office/drawing/2014/main" id="{6907C953-ADFA-E4FA-E5A4-9175DF0AB1FF}"/>
              </a:ext>
            </a:extLst>
          </p:cNvPr>
          <p:cNvSpPr/>
          <p:nvPr/>
        </p:nvSpPr>
        <p:spPr>
          <a:xfrm>
            <a:off x="11026402" y="3801461"/>
            <a:ext cx="215660" cy="224286"/>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13" name="Rectángulo: esquinas redondeadas 12">
            <a:extLst>
              <a:ext uri="{FF2B5EF4-FFF2-40B4-BE49-F238E27FC236}">
                <a16:creationId xmlns:a16="http://schemas.microsoft.com/office/drawing/2014/main" id="{604E195C-EAA0-AEA4-23CC-F0AC3E88EA49}"/>
              </a:ext>
            </a:extLst>
          </p:cNvPr>
          <p:cNvSpPr/>
          <p:nvPr/>
        </p:nvSpPr>
        <p:spPr>
          <a:xfrm>
            <a:off x="11016570" y="3522471"/>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s-ES" sz="1100" b="1" dirty="0"/>
              <a:t>12</a:t>
            </a:r>
            <a:endParaRPr lang="es-PE" sz="1100" b="1" dirty="0"/>
          </a:p>
        </p:txBody>
      </p:sp>
      <p:sp>
        <p:nvSpPr>
          <p:cNvPr id="14" name="CuadroTexto 13">
            <a:extLst>
              <a:ext uri="{FF2B5EF4-FFF2-40B4-BE49-F238E27FC236}">
                <a16:creationId xmlns:a16="http://schemas.microsoft.com/office/drawing/2014/main" id="{F2BB565D-8312-5F9E-670D-F6F67AA27F06}"/>
              </a:ext>
            </a:extLst>
          </p:cNvPr>
          <p:cNvSpPr txBox="1"/>
          <p:nvPr/>
        </p:nvSpPr>
        <p:spPr>
          <a:xfrm>
            <a:off x="10163888" y="2819123"/>
            <a:ext cx="1744692" cy="623381"/>
          </a:xfrm>
          <a:prstGeom prst="roundRect">
            <a:avLst>
              <a:gd name="adj" fmla="val 7573"/>
            </a:avLst>
          </a:prstGeom>
          <a:solidFill>
            <a:srgbClr val="7030A0"/>
          </a:solidFill>
        </p:spPr>
        <p:txBody>
          <a:bodyPr wrap="square">
            <a:spAutoFit/>
          </a:bodyPr>
          <a:lstStyle/>
          <a:p>
            <a:pPr algn="ctr" rtl="0">
              <a:spcBef>
                <a:spcPts val="0"/>
              </a:spcBef>
              <a:spcAft>
                <a:spcPts val="0"/>
              </a:spcAft>
            </a:pPr>
            <a:r>
              <a:rPr lang="es-ES" sz="1100" b="0" i="0" u="none" strike="noStrike" dirty="0">
                <a:solidFill>
                  <a:srgbClr val="FFFFFF"/>
                </a:solidFill>
                <a:effectLst/>
              </a:rPr>
              <a:t>Para ingresar un nuevo código, debe hacer clic en la opción </a:t>
            </a:r>
            <a:r>
              <a:rPr lang="es-ES" sz="1100" b="1" i="0" u="none" strike="noStrike" dirty="0">
                <a:solidFill>
                  <a:srgbClr val="92D050"/>
                </a:solidFill>
                <a:effectLst/>
              </a:rPr>
              <a:t>+</a:t>
            </a:r>
            <a:endParaRPr lang="es-ES" b="1" dirty="0">
              <a:solidFill>
                <a:srgbClr val="92D050"/>
              </a:solidFill>
              <a:effectLst/>
            </a:endParaRPr>
          </a:p>
        </p:txBody>
      </p:sp>
      <p:sp>
        <p:nvSpPr>
          <p:cNvPr id="15" name="Rectángulo 14">
            <a:extLst>
              <a:ext uri="{FF2B5EF4-FFF2-40B4-BE49-F238E27FC236}">
                <a16:creationId xmlns:a16="http://schemas.microsoft.com/office/drawing/2014/main" id="{0E63510C-A682-DB6C-7E02-9358112F57E9}"/>
              </a:ext>
            </a:extLst>
          </p:cNvPr>
          <p:cNvSpPr/>
          <p:nvPr/>
        </p:nvSpPr>
        <p:spPr>
          <a:xfrm>
            <a:off x="337176" y="4168510"/>
            <a:ext cx="10556965" cy="240213"/>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16" name="Rectángulo: esquinas redondeadas 15">
            <a:extLst>
              <a:ext uri="{FF2B5EF4-FFF2-40B4-BE49-F238E27FC236}">
                <a16:creationId xmlns:a16="http://schemas.microsoft.com/office/drawing/2014/main" id="{7DD8AE6E-5D2A-EA57-AB47-96B11F0211F4}"/>
              </a:ext>
            </a:extLst>
          </p:cNvPr>
          <p:cNvSpPr/>
          <p:nvPr/>
        </p:nvSpPr>
        <p:spPr>
          <a:xfrm>
            <a:off x="5082357" y="4585424"/>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s-ES" sz="1100" b="1" dirty="0"/>
              <a:t>13</a:t>
            </a:r>
            <a:endParaRPr lang="es-PE" sz="1100" b="1" dirty="0"/>
          </a:p>
        </p:txBody>
      </p:sp>
      <p:sp>
        <p:nvSpPr>
          <p:cNvPr id="24" name="CuadroTexto 23">
            <a:hlinkClick r:id="rId5" action="ppaction://hlinksldjump"/>
            <a:extLst>
              <a:ext uri="{FF2B5EF4-FFF2-40B4-BE49-F238E27FC236}">
                <a16:creationId xmlns:a16="http://schemas.microsoft.com/office/drawing/2014/main" id="{D130FD5E-1109-7E02-491C-79233BA60883}"/>
              </a:ext>
            </a:extLst>
          </p:cNvPr>
          <p:cNvSpPr txBox="1"/>
          <p:nvPr/>
        </p:nvSpPr>
        <p:spPr>
          <a:xfrm>
            <a:off x="2548444" y="4877410"/>
            <a:ext cx="5283486" cy="1150858"/>
          </a:xfrm>
          <a:prstGeom prst="roundRect">
            <a:avLst>
              <a:gd name="adj" fmla="val 7573"/>
            </a:avLst>
          </a:prstGeom>
          <a:solidFill>
            <a:srgbClr val="7030A0"/>
          </a:solidFill>
        </p:spPr>
        <p:txBody>
          <a:bodyPr wrap="square">
            <a:spAutoFit/>
          </a:bodyPr>
          <a:lstStyle/>
          <a:p>
            <a:pPr lvl="0">
              <a:defRPr/>
            </a:pPr>
            <a:r>
              <a:rPr lang="es-ES_tradnl" sz="1100" dirty="0">
                <a:solidFill>
                  <a:srgbClr val="FFFFFF"/>
                </a:solidFill>
              </a:rPr>
              <a:t>En la sección </a:t>
            </a:r>
            <a:r>
              <a:rPr lang="es-ES_tradnl" sz="1100" b="1" dirty="0">
                <a:solidFill>
                  <a:srgbClr val="92D050"/>
                </a:solidFill>
              </a:rPr>
              <a:t>Fechas de Inscripción Web</a:t>
            </a:r>
            <a:r>
              <a:rPr lang="es-ES_tradnl" sz="1100" dirty="0">
                <a:solidFill>
                  <a:srgbClr val="FFFFFF"/>
                </a:solidFill>
              </a:rPr>
              <a:t>, se registran las fechas de inicio (mínimo) y término (máximo) en que se va a permitir la inscripción web por autoservicio en dicho periodo. De no agregarse estas fechas, no estará disponible para la visualización de inscripción por autoservicio. </a:t>
            </a:r>
            <a:r>
              <a:rPr lang="es-ES_tradnl" sz="1100" b="1" dirty="0">
                <a:solidFill>
                  <a:srgbClr val="FFFFFF"/>
                </a:solidFill>
              </a:rPr>
              <a:t>Se pueden ingresar varios rangos</a:t>
            </a:r>
            <a:r>
              <a:rPr lang="es-ES_tradnl" sz="1100" dirty="0">
                <a:solidFill>
                  <a:srgbClr val="FFFFFF"/>
                </a:solidFill>
              </a:rPr>
              <a:t>, pero en nuestro caso se agrega la fecha de inicio y término que englobe a todos las partes de periodo en un solo registro</a:t>
            </a:r>
            <a:r>
              <a:rPr lang="es-ES_tradnl" sz="1100" b="1" dirty="0">
                <a:solidFill>
                  <a:srgbClr val="FFFFFF"/>
                </a:solidFill>
              </a:rPr>
              <a:t>.</a:t>
            </a:r>
            <a:r>
              <a:rPr lang="es-ES" sz="1100" dirty="0">
                <a:solidFill>
                  <a:srgbClr val="FFFFFF"/>
                </a:solidFill>
              </a:rPr>
              <a:t> </a:t>
            </a:r>
            <a:r>
              <a:rPr lang="es-ES_tradnl" sz="1100" dirty="0">
                <a:solidFill>
                  <a:srgbClr val="FFFFFF"/>
                </a:solidFill>
              </a:rPr>
              <a:t>(Requerido)</a:t>
            </a:r>
            <a:endParaRPr lang="es-ES" sz="1100" dirty="0">
              <a:solidFill>
                <a:srgbClr val="FFFFFF"/>
              </a:solidFill>
            </a:endParaRPr>
          </a:p>
        </p:txBody>
      </p:sp>
      <p:sp>
        <p:nvSpPr>
          <p:cNvPr id="31" name="Rectángulo 30">
            <a:extLst>
              <a:ext uri="{FF2B5EF4-FFF2-40B4-BE49-F238E27FC236}">
                <a16:creationId xmlns:a16="http://schemas.microsoft.com/office/drawing/2014/main" id="{5FEA3054-61AB-6136-F093-78D8C0A2379E}"/>
              </a:ext>
            </a:extLst>
          </p:cNvPr>
          <p:cNvSpPr/>
          <p:nvPr/>
        </p:nvSpPr>
        <p:spPr>
          <a:xfrm>
            <a:off x="11293040" y="5486741"/>
            <a:ext cx="684363" cy="347998"/>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32" name="Rectángulo: esquinas redondeadas 31">
            <a:extLst>
              <a:ext uri="{FF2B5EF4-FFF2-40B4-BE49-F238E27FC236}">
                <a16:creationId xmlns:a16="http://schemas.microsoft.com/office/drawing/2014/main" id="{DE1EFE75-466E-E9B0-4D17-A625EA1A5E75}"/>
              </a:ext>
            </a:extLst>
          </p:cNvPr>
          <p:cNvSpPr/>
          <p:nvPr/>
        </p:nvSpPr>
        <p:spPr>
          <a:xfrm>
            <a:off x="10976737" y="5548597"/>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s-ES" sz="1100" b="1" dirty="0"/>
              <a:t>14</a:t>
            </a:r>
            <a:endParaRPr lang="es-PE" sz="1100" b="1" dirty="0"/>
          </a:p>
        </p:txBody>
      </p:sp>
      <p:sp>
        <p:nvSpPr>
          <p:cNvPr id="33" name="CuadroTexto 32">
            <a:extLst>
              <a:ext uri="{FF2B5EF4-FFF2-40B4-BE49-F238E27FC236}">
                <a16:creationId xmlns:a16="http://schemas.microsoft.com/office/drawing/2014/main" id="{8E827925-6DA9-B6F9-C8CB-77FE3CC92FA3}"/>
              </a:ext>
            </a:extLst>
          </p:cNvPr>
          <p:cNvSpPr txBox="1"/>
          <p:nvPr/>
        </p:nvSpPr>
        <p:spPr>
          <a:xfrm>
            <a:off x="9272638" y="4978776"/>
            <a:ext cx="1588524" cy="975033"/>
          </a:xfrm>
          <a:prstGeom prst="roundRect">
            <a:avLst>
              <a:gd name="adj" fmla="val 7573"/>
            </a:avLst>
          </a:prstGeom>
          <a:solidFill>
            <a:srgbClr val="7030A0"/>
          </a:solidFill>
        </p:spPr>
        <p:txBody>
          <a:bodyPr wrap="square">
            <a:spAutoFit/>
          </a:bodyPr>
          <a:lstStyle/>
          <a:p>
            <a:pPr algn="ctr"/>
            <a:r>
              <a:rPr lang="es-ES" sz="1100" dirty="0">
                <a:solidFill>
                  <a:srgbClr val="FFFFFF"/>
                </a:solidFill>
              </a:rPr>
              <a:t>Se debe presionar </a:t>
            </a:r>
            <a:r>
              <a:rPr lang="es-ES" sz="1100" b="1" dirty="0">
                <a:solidFill>
                  <a:srgbClr val="92D050"/>
                </a:solidFill>
              </a:rPr>
              <a:t>Guardar</a:t>
            </a:r>
            <a:r>
              <a:rPr lang="es-ES" sz="1100" dirty="0">
                <a:solidFill>
                  <a:srgbClr val="FFFFFF"/>
                </a:solidFill>
              </a:rPr>
              <a:t> para que la información quede registrada en el sistema</a:t>
            </a:r>
          </a:p>
        </p:txBody>
      </p:sp>
      <p:sp>
        <p:nvSpPr>
          <p:cNvPr id="34" name="Rectángulo 33">
            <a:extLst>
              <a:ext uri="{FF2B5EF4-FFF2-40B4-BE49-F238E27FC236}">
                <a16:creationId xmlns:a16="http://schemas.microsoft.com/office/drawing/2014/main" id="{06535FCA-3482-ADD7-412C-9200D460959D}"/>
              </a:ext>
            </a:extLst>
          </p:cNvPr>
          <p:cNvSpPr/>
          <p:nvPr/>
        </p:nvSpPr>
        <p:spPr>
          <a:xfrm>
            <a:off x="701015" y="5466137"/>
            <a:ext cx="358463" cy="347998"/>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35" name="Rectángulo: esquinas redondeadas 34">
            <a:extLst>
              <a:ext uri="{FF2B5EF4-FFF2-40B4-BE49-F238E27FC236}">
                <a16:creationId xmlns:a16="http://schemas.microsoft.com/office/drawing/2014/main" id="{39D6BC0E-B919-6E97-5D5C-D3189CDDEDDB}"/>
              </a:ext>
            </a:extLst>
          </p:cNvPr>
          <p:cNvSpPr/>
          <p:nvPr/>
        </p:nvSpPr>
        <p:spPr>
          <a:xfrm>
            <a:off x="375476" y="5491049"/>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s-ES" sz="1100" b="1" dirty="0"/>
              <a:t>15</a:t>
            </a:r>
            <a:endParaRPr lang="es-PE" sz="1100" b="1" dirty="0"/>
          </a:p>
        </p:txBody>
      </p:sp>
      <p:sp>
        <p:nvSpPr>
          <p:cNvPr id="36" name="CuadroTexto 35">
            <a:extLst>
              <a:ext uri="{FF2B5EF4-FFF2-40B4-BE49-F238E27FC236}">
                <a16:creationId xmlns:a16="http://schemas.microsoft.com/office/drawing/2014/main" id="{0754B14E-DF51-371D-FF52-4342CD93DCCB}"/>
              </a:ext>
            </a:extLst>
          </p:cNvPr>
          <p:cNvSpPr txBox="1"/>
          <p:nvPr/>
        </p:nvSpPr>
        <p:spPr>
          <a:xfrm>
            <a:off x="224421" y="4914454"/>
            <a:ext cx="868225" cy="447556"/>
          </a:xfrm>
          <a:prstGeom prst="roundRect">
            <a:avLst>
              <a:gd name="adj" fmla="val 7573"/>
            </a:avLst>
          </a:prstGeom>
          <a:solidFill>
            <a:srgbClr val="7030A0"/>
          </a:solidFill>
        </p:spPr>
        <p:txBody>
          <a:bodyPr wrap="square">
            <a:spAutoFit/>
          </a:bodyPr>
          <a:lstStyle/>
          <a:p>
            <a:pPr algn="ctr"/>
            <a:r>
              <a:rPr lang="es-ES" sz="1100" dirty="0">
                <a:solidFill>
                  <a:srgbClr val="FFFFFF"/>
                </a:solidFill>
              </a:rPr>
              <a:t>Presionar siguiente</a:t>
            </a:r>
          </a:p>
        </p:txBody>
      </p:sp>
    </p:spTree>
    <p:extLst>
      <p:ext uri="{BB962C8B-B14F-4D97-AF65-F5344CB8AC3E}">
        <p14:creationId xmlns:p14="http://schemas.microsoft.com/office/powerpoint/2010/main" val="21971444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heel(1)">
                                      <p:cBhvr>
                                        <p:cTn id="7" dur="2000"/>
                                        <p:tgtEl>
                                          <p:spTgt spid="12"/>
                                        </p:tgtEl>
                                      </p:cBhvr>
                                    </p:animEffect>
                                  </p:childTnLst>
                                </p:cTn>
                              </p:par>
                            </p:childTnLst>
                          </p:cTn>
                        </p:par>
                        <p:par>
                          <p:cTn id="8" fill="hold">
                            <p:stCondLst>
                              <p:cond delay="2000"/>
                            </p:stCondLst>
                            <p:childTnLst>
                              <p:par>
                                <p:cTn id="9" presetID="53" presetClass="entr" presetSubtype="16" fill="hold" grpId="0" nodeType="afterEffect">
                                  <p:stCondLst>
                                    <p:cond delay="0"/>
                                  </p:stCondLst>
                                  <p:childTnLst>
                                    <p:set>
                                      <p:cBhvr>
                                        <p:cTn id="10" dur="1" fill="hold">
                                          <p:stCondLst>
                                            <p:cond delay="0"/>
                                          </p:stCondLst>
                                        </p:cTn>
                                        <p:tgtEl>
                                          <p:spTgt spid="13"/>
                                        </p:tgtEl>
                                        <p:attrNameLst>
                                          <p:attrName>style.visibility</p:attrName>
                                        </p:attrNameLst>
                                      </p:cBhvr>
                                      <p:to>
                                        <p:strVal val="visible"/>
                                      </p:to>
                                    </p:set>
                                    <p:anim calcmode="lin" valueType="num">
                                      <p:cBhvr>
                                        <p:cTn id="11" dur="500" fill="hold"/>
                                        <p:tgtEl>
                                          <p:spTgt spid="13"/>
                                        </p:tgtEl>
                                        <p:attrNameLst>
                                          <p:attrName>ppt_w</p:attrName>
                                        </p:attrNameLst>
                                      </p:cBhvr>
                                      <p:tavLst>
                                        <p:tav tm="0">
                                          <p:val>
                                            <p:fltVal val="0"/>
                                          </p:val>
                                        </p:tav>
                                        <p:tav tm="100000">
                                          <p:val>
                                            <p:strVal val="#ppt_w"/>
                                          </p:val>
                                        </p:tav>
                                      </p:tavLst>
                                    </p:anim>
                                    <p:anim calcmode="lin" valueType="num">
                                      <p:cBhvr>
                                        <p:cTn id="12" dur="500" fill="hold"/>
                                        <p:tgtEl>
                                          <p:spTgt spid="13"/>
                                        </p:tgtEl>
                                        <p:attrNameLst>
                                          <p:attrName>ppt_h</p:attrName>
                                        </p:attrNameLst>
                                      </p:cBhvr>
                                      <p:tavLst>
                                        <p:tav tm="0">
                                          <p:val>
                                            <p:fltVal val="0"/>
                                          </p:val>
                                        </p:tav>
                                        <p:tav tm="100000">
                                          <p:val>
                                            <p:strVal val="#ppt_h"/>
                                          </p:val>
                                        </p:tav>
                                      </p:tavLst>
                                    </p:anim>
                                    <p:animEffect transition="in" filter="fade">
                                      <p:cBhvr>
                                        <p:cTn id="13" dur="500"/>
                                        <p:tgtEl>
                                          <p:spTgt spid="13"/>
                                        </p:tgtEl>
                                      </p:cBhvr>
                                    </p:animEffect>
                                  </p:childTnLst>
                                </p:cTn>
                              </p:par>
                            </p:childTnLst>
                          </p:cTn>
                        </p:par>
                        <p:par>
                          <p:cTn id="14" fill="hold">
                            <p:stCondLst>
                              <p:cond delay="2500"/>
                            </p:stCondLst>
                            <p:childTnLst>
                              <p:par>
                                <p:cTn id="15" presetID="10" presetClass="entr" presetSubtype="0" fill="hold" grpId="0" nodeType="after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500"/>
                                        <p:tgtEl>
                                          <p:spTgt spid="14"/>
                                        </p:tgtEl>
                                      </p:cBhvr>
                                    </p:animEffect>
                                  </p:childTnLst>
                                </p:cTn>
                              </p:par>
                            </p:childTnLst>
                          </p:cTn>
                        </p:par>
                        <p:par>
                          <p:cTn id="18" fill="hold">
                            <p:stCondLst>
                              <p:cond delay="3000"/>
                            </p:stCondLst>
                            <p:childTnLst>
                              <p:par>
                                <p:cTn id="19" presetID="21" presetClass="entr" presetSubtype="1" fill="hold" grpId="0" nodeType="after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wheel(1)">
                                      <p:cBhvr>
                                        <p:cTn id="21" dur="2000"/>
                                        <p:tgtEl>
                                          <p:spTgt spid="10"/>
                                        </p:tgtEl>
                                      </p:cBhvr>
                                    </p:animEffect>
                                  </p:childTnLst>
                                </p:cTn>
                              </p:par>
                            </p:childTnLst>
                          </p:cTn>
                        </p:par>
                        <p:par>
                          <p:cTn id="22" fill="hold">
                            <p:stCondLst>
                              <p:cond delay="5000"/>
                            </p:stCondLst>
                            <p:childTnLst>
                              <p:par>
                                <p:cTn id="23" presetID="21" presetClass="entr" presetSubtype="1" fill="hold" grpId="0" nodeType="after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wheel(1)">
                                      <p:cBhvr>
                                        <p:cTn id="25" dur="2000"/>
                                        <p:tgtEl>
                                          <p:spTgt spid="15"/>
                                        </p:tgtEl>
                                      </p:cBhvr>
                                    </p:animEffect>
                                  </p:childTnLst>
                                </p:cTn>
                              </p:par>
                            </p:childTnLst>
                          </p:cTn>
                        </p:par>
                        <p:par>
                          <p:cTn id="26" fill="hold">
                            <p:stCondLst>
                              <p:cond delay="7000"/>
                            </p:stCondLst>
                            <p:childTnLst>
                              <p:par>
                                <p:cTn id="27" presetID="53" presetClass="entr" presetSubtype="16" fill="hold" grpId="0" nodeType="afterEffect">
                                  <p:stCondLst>
                                    <p:cond delay="0"/>
                                  </p:stCondLst>
                                  <p:childTnLst>
                                    <p:set>
                                      <p:cBhvr>
                                        <p:cTn id="28" dur="1" fill="hold">
                                          <p:stCondLst>
                                            <p:cond delay="0"/>
                                          </p:stCondLst>
                                        </p:cTn>
                                        <p:tgtEl>
                                          <p:spTgt spid="16"/>
                                        </p:tgtEl>
                                        <p:attrNameLst>
                                          <p:attrName>style.visibility</p:attrName>
                                        </p:attrNameLst>
                                      </p:cBhvr>
                                      <p:to>
                                        <p:strVal val="visible"/>
                                      </p:to>
                                    </p:set>
                                    <p:anim calcmode="lin" valueType="num">
                                      <p:cBhvr>
                                        <p:cTn id="29" dur="500" fill="hold"/>
                                        <p:tgtEl>
                                          <p:spTgt spid="16"/>
                                        </p:tgtEl>
                                        <p:attrNameLst>
                                          <p:attrName>ppt_w</p:attrName>
                                        </p:attrNameLst>
                                      </p:cBhvr>
                                      <p:tavLst>
                                        <p:tav tm="0">
                                          <p:val>
                                            <p:fltVal val="0"/>
                                          </p:val>
                                        </p:tav>
                                        <p:tav tm="100000">
                                          <p:val>
                                            <p:strVal val="#ppt_w"/>
                                          </p:val>
                                        </p:tav>
                                      </p:tavLst>
                                    </p:anim>
                                    <p:anim calcmode="lin" valueType="num">
                                      <p:cBhvr>
                                        <p:cTn id="30" dur="500" fill="hold"/>
                                        <p:tgtEl>
                                          <p:spTgt spid="16"/>
                                        </p:tgtEl>
                                        <p:attrNameLst>
                                          <p:attrName>ppt_h</p:attrName>
                                        </p:attrNameLst>
                                      </p:cBhvr>
                                      <p:tavLst>
                                        <p:tav tm="0">
                                          <p:val>
                                            <p:fltVal val="0"/>
                                          </p:val>
                                        </p:tav>
                                        <p:tav tm="100000">
                                          <p:val>
                                            <p:strVal val="#ppt_h"/>
                                          </p:val>
                                        </p:tav>
                                      </p:tavLst>
                                    </p:anim>
                                    <p:animEffect transition="in" filter="fade">
                                      <p:cBhvr>
                                        <p:cTn id="31" dur="500"/>
                                        <p:tgtEl>
                                          <p:spTgt spid="16"/>
                                        </p:tgtEl>
                                      </p:cBhvr>
                                    </p:animEffect>
                                  </p:childTnLst>
                                </p:cTn>
                              </p:par>
                            </p:childTnLst>
                          </p:cTn>
                        </p:par>
                        <p:par>
                          <p:cTn id="32" fill="hold">
                            <p:stCondLst>
                              <p:cond delay="7500"/>
                            </p:stCondLst>
                            <p:childTnLst>
                              <p:par>
                                <p:cTn id="33" presetID="10" presetClass="entr" presetSubtype="0" fill="hold" grpId="0" nodeType="afterEffect">
                                  <p:stCondLst>
                                    <p:cond delay="0"/>
                                  </p:stCondLst>
                                  <p:childTnLst>
                                    <p:set>
                                      <p:cBhvr>
                                        <p:cTn id="34" dur="1" fill="hold">
                                          <p:stCondLst>
                                            <p:cond delay="0"/>
                                          </p:stCondLst>
                                        </p:cTn>
                                        <p:tgtEl>
                                          <p:spTgt spid="24"/>
                                        </p:tgtEl>
                                        <p:attrNameLst>
                                          <p:attrName>style.visibility</p:attrName>
                                        </p:attrNameLst>
                                      </p:cBhvr>
                                      <p:to>
                                        <p:strVal val="visible"/>
                                      </p:to>
                                    </p:set>
                                    <p:animEffect transition="in" filter="fade">
                                      <p:cBhvr>
                                        <p:cTn id="35" dur="500"/>
                                        <p:tgtEl>
                                          <p:spTgt spid="24"/>
                                        </p:tgtEl>
                                      </p:cBhvr>
                                    </p:animEffect>
                                  </p:childTnLst>
                                </p:cTn>
                              </p:par>
                            </p:childTnLst>
                          </p:cTn>
                        </p:par>
                        <p:par>
                          <p:cTn id="36" fill="hold">
                            <p:stCondLst>
                              <p:cond delay="8000"/>
                            </p:stCondLst>
                            <p:childTnLst>
                              <p:par>
                                <p:cTn id="37" presetID="21" presetClass="entr" presetSubtype="1" fill="hold" grpId="0" nodeType="afterEffect">
                                  <p:stCondLst>
                                    <p:cond delay="0"/>
                                  </p:stCondLst>
                                  <p:childTnLst>
                                    <p:set>
                                      <p:cBhvr>
                                        <p:cTn id="38" dur="1" fill="hold">
                                          <p:stCondLst>
                                            <p:cond delay="0"/>
                                          </p:stCondLst>
                                        </p:cTn>
                                        <p:tgtEl>
                                          <p:spTgt spid="31"/>
                                        </p:tgtEl>
                                        <p:attrNameLst>
                                          <p:attrName>style.visibility</p:attrName>
                                        </p:attrNameLst>
                                      </p:cBhvr>
                                      <p:to>
                                        <p:strVal val="visible"/>
                                      </p:to>
                                    </p:set>
                                    <p:animEffect transition="in" filter="wheel(1)">
                                      <p:cBhvr>
                                        <p:cTn id="39" dur="2000"/>
                                        <p:tgtEl>
                                          <p:spTgt spid="31"/>
                                        </p:tgtEl>
                                      </p:cBhvr>
                                    </p:animEffect>
                                  </p:childTnLst>
                                </p:cTn>
                              </p:par>
                            </p:childTnLst>
                          </p:cTn>
                        </p:par>
                        <p:par>
                          <p:cTn id="40" fill="hold">
                            <p:stCondLst>
                              <p:cond delay="10000"/>
                            </p:stCondLst>
                            <p:childTnLst>
                              <p:par>
                                <p:cTn id="41" presetID="53" presetClass="entr" presetSubtype="16" fill="hold" grpId="0" nodeType="afterEffect">
                                  <p:stCondLst>
                                    <p:cond delay="0"/>
                                  </p:stCondLst>
                                  <p:childTnLst>
                                    <p:set>
                                      <p:cBhvr>
                                        <p:cTn id="42" dur="1" fill="hold">
                                          <p:stCondLst>
                                            <p:cond delay="0"/>
                                          </p:stCondLst>
                                        </p:cTn>
                                        <p:tgtEl>
                                          <p:spTgt spid="32"/>
                                        </p:tgtEl>
                                        <p:attrNameLst>
                                          <p:attrName>style.visibility</p:attrName>
                                        </p:attrNameLst>
                                      </p:cBhvr>
                                      <p:to>
                                        <p:strVal val="visible"/>
                                      </p:to>
                                    </p:set>
                                    <p:anim calcmode="lin" valueType="num">
                                      <p:cBhvr>
                                        <p:cTn id="43" dur="500" fill="hold"/>
                                        <p:tgtEl>
                                          <p:spTgt spid="32"/>
                                        </p:tgtEl>
                                        <p:attrNameLst>
                                          <p:attrName>ppt_w</p:attrName>
                                        </p:attrNameLst>
                                      </p:cBhvr>
                                      <p:tavLst>
                                        <p:tav tm="0">
                                          <p:val>
                                            <p:fltVal val="0"/>
                                          </p:val>
                                        </p:tav>
                                        <p:tav tm="100000">
                                          <p:val>
                                            <p:strVal val="#ppt_w"/>
                                          </p:val>
                                        </p:tav>
                                      </p:tavLst>
                                    </p:anim>
                                    <p:anim calcmode="lin" valueType="num">
                                      <p:cBhvr>
                                        <p:cTn id="44" dur="500" fill="hold"/>
                                        <p:tgtEl>
                                          <p:spTgt spid="32"/>
                                        </p:tgtEl>
                                        <p:attrNameLst>
                                          <p:attrName>ppt_h</p:attrName>
                                        </p:attrNameLst>
                                      </p:cBhvr>
                                      <p:tavLst>
                                        <p:tav tm="0">
                                          <p:val>
                                            <p:fltVal val="0"/>
                                          </p:val>
                                        </p:tav>
                                        <p:tav tm="100000">
                                          <p:val>
                                            <p:strVal val="#ppt_h"/>
                                          </p:val>
                                        </p:tav>
                                      </p:tavLst>
                                    </p:anim>
                                    <p:animEffect transition="in" filter="fade">
                                      <p:cBhvr>
                                        <p:cTn id="45" dur="500"/>
                                        <p:tgtEl>
                                          <p:spTgt spid="32"/>
                                        </p:tgtEl>
                                      </p:cBhvr>
                                    </p:animEffect>
                                  </p:childTnLst>
                                </p:cTn>
                              </p:par>
                            </p:childTnLst>
                          </p:cTn>
                        </p:par>
                        <p:par>
                          <p:cTn id="46" fill="hold">
                            <p:stCondLst>
                              <p:cond delay="10500"/>
                            </p:stCondLst>
                            <p:childTnLst>
                              <p:par>
                                <p:cTn id="47" presetID="10" presetClass="entr" presetSubtype="0" fill="hold" grpId="0" nodeType="afterEffect">
                                  <p:stCondLst>
                                    <p:cond delay="0"/>
                                  </p:stCondLst>
                                  <p:childTnLst>
                                    <p:set>
                                      <p:cBhvr>
                                        <p:cTn id="48" dur="1" fill="hold">
                                          <p:stCondLst>
                                            <p:cond delay="0"/>
                                          </p:stCondLst>
                                        </p:cTn>
                                        <p:tgtEl>
                                          <p:spTgt spid="33"/>
                                        </p:tgtEl>
                                        <p:attrNameLst>
                                          <p:attrName>style.visibility</p:attrName>
                                        </p:attrNameLst>
                                      </p:cBhvr>
                                      <p:to>
                                        <p:strVal val="visible"/>
                                      </p:to>
                                    </p:set>
                                    <p:animEffect transition="in" filter="fade">
                                      <p:cBhvr>
                                        <p:cTn id="49" dur="500"/>
                                        <p:tgtEl>
                                          <p:spTgt spid="33"/>
                                        </p:tgtEl>
                                      </p:cBhvr>
                                    </p:animEffect>
                                  </p:childTnLst>
                                </p:cTn>
                              </p:par>
                            </p:childTnLst>
                          </p:cTn>
                        </p:par>
                        <p:par>
                          <p:cTn id="50" fill="hold">
                            <p:stCondLst>
                              <p:cond delay="11000"/>
                            </p:stCondLst>
                            <p:childTnLst>
                              <p:par>
                                <p:cTn id="51" presetID="21" presetClass="entr" presetSubtype="1" fill="hold" grpId="0" nodeType="afterEffect">
                                  <p:stCondLst>
                                    <p:cond delay="0"/>
                                  </p:stCondLst>
                                  <p:childTnLst>
                                    <p:set>
                                      <p:cBhvr>
                                        <p:cTn id="52" dur="1" fill="hold">
                                          <p:stCondLst>
                                            <p:cond delay="0"/>
                                          </p:stCondLst>
                                        </p:cTn>
                                        <p:tgtEl>
                                          <p:spTgt spid="34"/>
                                        </p:tgtEl>
                                        <p:attrNameLst>
                                          <p:attrName>style.visibility</p:attrName>
                                        </p:attrNameLst>
                                      </p:cBhvr>
                                      <p:to>
                                        <p:strVal val="visible"/>
                                      </p:to>
                                    </p:set>
                                    <p:animEffect transition="in" filter="wheel(1)">
                                      <p:cBhvr>
                                        <p:cTn id="53" dur="2000"/>
                                        <p:tgtEl>
                                          <p:spTgt spid="34"/>
                                        </p:tgtEl>
                                      </p:cBhvr>
                                    </p:animEffect>
                                  </p:childTnLst>
                                </p:cTn>
                              </p:par>
                            </p:childTnLst>
                          </p:cTn>
                        </p:par>
                        <p:par>
                          <p:cTn id="54" fill="hold">
                            <p:stCondLst>
                              <p:cond delay="13000"/>
                            </p:stCondLst>
                            <p:childTnLst>
                              <p:par>
                                <p:cTn id="55" presetID="53" presetClass="entr" presetSubtype="16" fill="hold" grpId="0" nodeType="afterEffect">
                                  <p:stCondLst>
                                    <p:cond delay="0"/>
                                  </p:stCondLst>
                                  <p:childTnLst>
                                    <p:set>
                                      <p:cBhvr>
                                        <p:cTn id="56" dur="1" fill="hold">
                                          <p:stCondLst>
                                            <p:cond delay="0"/>
                                          </p:stCondLst>
                                        </p:cTn>
                                        <p:tgtEl>
                                          <p:spTgt spid="35"/>
                                        </p:tgtEl>
                                        <p:attrNameLst>
                                          <p:attrName>style.visibility</p:attrName>
                                        </p:attrNameLst>
                                      </p:cBhvr>
                                      <p:to>
                                        <p:strVal val="visible"/>
                                      </p:to>
                                    </p:set>
                                    <p:anim calcmode="lin" valueType="num">
                                      <p:cBhvr>
                                        <p:cTn id="57" dur="500" fill="hold"/>
                                        <p:tgtEl>
                                          <p:spTgt spid="35"/>
                                        </p:tgtEl>
                                        <p:attrNameLst>
                                          <p:attrName>ppt_w</p:attrName>
                                        </p:attrNameLst>
                                      </p:cBhvr>
                                      <p:tavLst>
                                        <p:tav tm="0">
                                          <p:val>
                                            <p:fltVal val="0"/>
                                          </p:val>
                                        </p:tav>
                                        <p:tav tm="100000">
                                          <p:val>
                                            <p:strVal val="#ppt_w"/>
                                          </p:val>
                                        </p:tav>
                                      </p:tavLst>
                                    </p:anim>
                                    <p:anim calcmode="lin" valueType="num">
                                      <p:cBhvr>
                                        <p:cTn id="58" dur="500" fill="hold"/>
                                        <p:tgtEl>
                                          <p:spTgt spid="35"/>
                                        </p:tgtEl>
                                        <p:attrNameLst>
                                          <p:attrName>ppt_h</p:attrName>
                                        </p:attrNameLst>
                                      </p:cBhvr>
                                      <p:tavLst>
                                        <p:tav tm="0">
                                          <p:val>
                                            <p:fltVal val="0"/>
                                          </p:val>
                                        </p:tav>
                                        <p:tav tm="100000">
                                          <p:val>
                                            <p:strVal val="#ppt_h"/>
                                          </p:val>
                                        </p:tav>
                                      </p:tavLst>
                                    </p:anim>
                                    <p:animEffect transition="in" filter="fade">
                                      <p:cBhvr>
                                        <p:cTn id="59" dur="500"/>
                                        <p:tgtEl>
                                          <p:spTgt spid="35"/>
                                        </p:tgtEl>
                                      </p:cBhvr>
                                    </p:animEffect>
                                  </p:childTnLst>
                                </p:cTn>
                              </p:par>
                            </p:childTnLst>
                          </p:cTn>
                        </p:par>
                        <p:par>
                          <p:cTn id="60" fill="hold">
                            <p:stCondLst>
                              <p:cond delay="13500"/>
                            </p:stCondLst>
                            <p:childTnLst>
                              <p:par>
                                <p:cTn id="61" presetID="10" presetClass="entr" presetSubtype="0" fill="hold" grpId="0" nodeType="afterEffect">
                                  <p:stCondLst>
                                    <p:cond delay="0"/>
                                  </p:stCondLst>
                                  <p:childTnLst>
                                    <p:set>
                                      <p:cBhvr>
                                        <p:cTn id="62" dur="1" fill="hold">
                                          <p:stCondLst>
                                            <p:cond delay="0"/>
                                          </p:stCondLst>
                                        </p:cTn>
                                        <p:tgtEl>
                                          <p:spTgt spid="36"/>
                                        </p:tgtEl>
                                        <p:attrNameLst>
                                          <p:attrName>style.visibility</p:attrName>
                                        </p:attrNameLst>
                                      </p:cBhvr>
                                      <p:to>
                                        <p:strVal val="visible"/>
                                      </p:to>
                                    </p:set>
                                    <p:animEffect transition="in" filter="fade">
                                      <p:cBhvr>
                                        <p:cTn id="63"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P spid="13" grpId="0" animBg="1"/>
      <p:bldP spid="14" grpId="0" animBg="1"/>
      <p:bldP spid="15" grpId="0" animBg="1"/>
      <p:bldP spid="16" grpId="0" animBg="1"/>
      <p:bldP spid="24" grpId="0" animBg="1"/>
      <p:bldP spid="31" grpId="0" animBg="1"/>
      <p:bldP spid="32" grpId="0" animBg="1"/>
      <p:bldP spid="33" grpId="0" animBg="1"/>
      <p:bldP spid="34" grpId="0" animBg="1"/>
      <p:bldP spid="35" grpId="0" animBg="1"/>
      <p:bldP spid="36"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7CAB2B86-4E3B-C98C-411E-958BEFE187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2528" y="6154887"/>
            <a:ext cx="2234242" cy="525923"/>
          </a:xfrm>
          <a:prstGeom prst="rect">
            <a:avLst/>
          </a:prstGeom>
        </p:spPr>
      </p:pic>
      <p:pic>
        <p:nvPicPr>
          <p:cNvPr id="4" name="Picture 4" descr="Ellucian Student Reseñas 2026: Detalles, Precios y Características | G2">
            <a:extLst>
              <a:ext uri="{FF2B5EF4-FFF2-40B4-BE49-F238E27FC236}">
                <a16:creationId xmlns:a16="http://schemas.microsoft.com/office/drawing/2014/main" id="{7352B780-8C7C-7B91-F3EE-5E6EF2C2E4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98101" y="5901780"/>
            <a:ext cx="1821371" cy="956220"/>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0AEBA78F-8C98-5D4D-384F-95B753FFADE4}"/>
              </a:ext>
            </a:extLst>
          </p:cNvPr>
          <p:cNvSpPr txBox="1"/>
          <p:nvPr/>
        </p:nvSpPr>
        <p:spPr>
          <a:xfrm>
            <a:off x="431320" y="241540"/>
            <a:ext cx="6785832" cy="523220"/>
          </a:xfrm>
          <a:prstGeom prst="rect">
            <a:avLst/>
          </a:prstGeom>
          <a:noFill/>
        </p:spPr>
        <p:txBody>
          <a:bodyPr wrap="none" rtlCol="0">
            <a:spAutoFit/>
          </a:bodyPr>
          <a:lstStyle/>
          <a:p>
            <a:r>
              <a:rPr lang="es-ES" sz="2800" b="1" dirty="0">
                <a:latin typeface="Montserrat" pitchFamily="2" charset="0"/>
              </a:rPr>
              <a:t>CONTROL DE PERIODO - SOATERM</a:t>
            </a:r>
            <a:endParaRPr lang="es-PE" sz="2800" b="1" dirty="0">
              <a:latin typeface="Montserrat" pitchFamily="2" charset="0"/>
            </a:endParaRPr>
          </a:p>
        </p:txBody>
      </p:sp>
      <p:sp>
        <p:nvSpPr>
          <p:cNvPr id="8" name="Rectángulo 7">
            <a:extLst>
              <a:ext uri="{FF2B5EF4-FFF2-40B4-BE49-F238E27FC236}">
                <a16:creationId xmlns:a16="http://schemas.microsoft.com/office/drawing/2014/main" id="{A16BCE08-E23C-F264-A6E3-E4019979D2E2}"/>
              </a:ext>
            </a:extLst>
          </p:cNvPr>
          <p:cNvSpPr/>
          <p:nvPr/>
        </p:nvSpPr>
        <p:spPr>
          <a:xfrm>
            <a:off x="7217152" y="241540"/>
            <a:ext cx="4974847" cy="445583"/>
          </a:xfrm>
          <a:prstGeom prst="rect">
            <a:avLst/>
          </a:prstGeom>
          <a:gradFill flip="none" rotWithShape="1">
            <a:gsLst>
              <a:gs pos="0">
                <a:schemeClr val="accent6">
                  <a:lumMod val="0"/>
                  <a:lumOff val="100000"/>
                </a:schemeClr>
              </a:gs>
              <a:gs pos="66000">
                <a:schemeClr val="accent6">
                  <a:lumMod val="100000"/>
                </a:schemeClr>
              </a:gs>
            </a:gsLst>
            <a:lin ang="0" scaled="1"/>
            <a:tileRect/>
          </a:gra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s-PE"/>
          </a:p>
        </p:txBody>
      </p:sp>
      <p:sp>
        <p:nvSpPr>
          <p:cNvPr id="6" name="CuadroTexto 5">
            <a:extLst>
              <a:ext uri="{FF2B5EF4-FFF2-40B4-BE49-F238E27FC236}">
                <a16:creationId xmlns:a16="http://schemas.microsoft.com/office/drawing/2014/main" id="{AC33DC36-253A-547B-7A30-A152C2F6B4CE}"/>
              </a:ext>
            </a:extLst>
          </p:cNvPr>
          <p:cNvSpPr txBox="1"/>
          <p:nvPr/>
        </p:nvSpPr>
        <p:spPr>
          <a:xfrm>
            <a:off x="4528936" y="6386396"/>
            <a:ext cx="3134128" cy="276999"/>
          </a:xfrm>
          <a:prstGeom prst="rect">
            <a:avLst/>
          </a:prstGeom>
          <a:noFill/>
        </p:spPr>
        <p:txBody>
          <a:bodyPr wrap="none" rtlCol="0">
            <a:spAutoFit/>
          </a:bodyPr>
          <a:lstStyle/>
          <a:p>
            <a:pPr algn="ctr"/>
            <a:r>
              <a:rPr lang="es-ES" sz="1200" i="1" dirty="0"/>
              <a:t>Elaborado por: Ing. Liliana Ocampo Moreno</a:t>
            </a:r>
            <a:endParaRPr lang="es-PE" sz="1200" i="1" dirty="0"/>
          </a:p>
        </p:txBody>
      </p:sp>
      <p:pic>
        <p:nvPicPr>
          <p:cNvPr id="5" name="Imagen 4">
            <a:extLst>
              <a:ext uri="{FF2B5EF4-FFF2-40B4-BE49-F238E27FC236}">
                <a16:creationId xmlns:a16="http://schemas.microsoft.com/office/drawing/2014/main" id="{FC169C7F-4ABC-D76F-08D7-DBDA2980CEB5}"/>
              </a:ext>
            </a:extLst>
          </p:cNvPr>
          <p:cNvPicPr>
            <a:picLocks noChangeAspect="1"/>
          </p:cNvPicPr>
          <p:nvPr/>
        </p:nvPicPr>
        <p:blipFill>
          <a:blip r:embed="rId4"/>
          <a:stretch>
            <a:fillRect/>
          </a:stretch>
        </p:blipFill>
        <p:spPr>
          <a:xfrm>
            <a:off x="337178" y="983227"/>
            <a:ext cx="11581233" cy="4918554"/>
          </a:xfrm>
          <a:prstGeom prst="rect">
            <a:avLst/>
          </a:prstGeom>
        </p:spPr>
      </p:pic>
      <p:sp>
        <p:nvSpPr>
          <p:cNvPr id="10" name="Rectángulo 9">
            <a:extLst>
              <a:ext uri="{FF2B5EF4-FFF2-40B4-BE49-F238E27FC236}">
                <a16:creationId xmlns:a16="http://schemas.microsoft.com/office/drawing/2014/main" id="{67AC4C9B-5B49-4686-7F38-16591C17ABEF}"/>
              </a:ext>
            </a:extLst>
          </p:cNvPr>
          <p:cNvSpPr/>
          <p:nvPr/>
        </p:nvSpPr>
        <p:spPr>
          <a:xfrm>
            <a:off x="273589" y="4525749"/>
            <a:ext cx="11644822" cy="708900"/>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12" name="Rectángulo 11">
            <a:extLst>
              <a:ext uri="{FF2B5EF4-FFF2-40B4-BE49-F238E27FC236}">
                <a16:creationId xmlns:a16="http://schemas.microsoft.com/office/drawing/2014/main" id="{6907C953-ADFA-E4FA-E5A4-9175DF0AB1FF}"/>
              </a:ext>
            </a:extLst>
          </p:cNvPr>
          <p:cNvSpPr/>
          <p:nvPr/>
        </p:nvSpPr>
        <p:spPr>
          <a:xfrm>
            <a:off x="11026401" y="4525747"/>
            <a:ext cx="215660" cy="224286"/>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13" name="Rectángulo: esquinas redondeadas 12">
            <a:extLst>
              <a:ext uri="{FF2B5EF4-FFF2-40B4-BE49-F238E27FC236}">
                <a16:creationId xmlns:a16="http://schemas.microsoft.com/office/drawing/2014/main" id="{604E195C-EAA0-AEA4-23CC-F0AC3E88EA49}"/>
              </a:ext>
            </a:extLst>
          </p:cNvPr>
          <p:cNvSpPr/>
          <p:nvPr/>
        </p:nvSpPr>
        <p:spPr>
          <a:xfrm>
            <a:off x="11016569" y="4246757"/>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s-ES" sz="1100" b="1" dirty="0"/>
              <a:t>16</a:t>
            </a:r>
            <a:endParaRPr lang="es-PE" sz="1100" b="1" dirty="0"/>
          </a:p>
        </p:txBody>
      </p:sp>
      <p:sp>
        <p:nvSpPr>
          <p:cNvPr id="14" name="CuadroTexto 13">
            <a:extLst>
              <a:ext uri="{FF2B5EF4-FFF2-40B4-BE49-F238E27FC236}">
                <a16:creationId xmlns:a16="http://schemas.microsoft.com/office/drawing/2014/main" id="{F2BB565D-8312-5F9E-670D-F6F67AA27F06}"/>
              </a:ext>
            </a:extLst>
          </p:cNvPr>
          <p:cNvSpPr txBox="1"/>
          <p:nvPr/>
        </p:nvSpPr>
        <p:spPr>
          <a:xfrm>
            <a:off x="10163887" y="3543409"/>
            <a:ext cx="1744692" cy="623381"/>
          </a:xfrm>
          <a:prstGeom prst="roundRect">
            <a:avLst>
              <a:gd name="adj" fmla="val 7573"/>
            </a:avLst>
          </a:prstGeom>
          <a:solidFill>
            <a:srgbClr val="7030A0"/>
          </a:solidFill>
        </p:spPr>
        <p:txBody>
          <a:bodyPr wrap="square">
            <a:spAutoFit/>
          </a:bodyPr>
          <a:lstStyle/>
          <a:p>
            <a:pPr algn="ctr" rtl="0">
              <a:spcBef>
                <a:spcPts val="0"/>
              </a:spcBef>
              <a:spcAft>
                <a:spcPts val="0"/>
              </a:spcAft>
            </a:pPr>
            <a:r>
              <a:rPr lang="es-ES" sz="1100" b="0" i="0" u="none" strike="noStrike" dirty="0">
                <a:solidFill>
                  <a:srgbClr val="FFFFFF"/>
                </a:solidFill>
                <a:effectLst/>
              </a:rPr>
              <a:t>Para ingresar un nuevo código, debe hacer clic en la opción </a:t>
            </a:r>
            <a:r>
              <a:rPr lang="es-ES" sz="1100" b="1" i="0" u="none" strike="noStrike" dirty="0">
                <a:solidFill>
                  <a:srgbClr val="92D050"/>
                </a:solidFill>
                <a:effectLst/>
              </a:rPr>
              <a:t>+</a:t>
            </a:r>
            <a:endParaRPr lang="es-ES" b="1" dirty="0">
              <a:solidFill>
                <a:srgbClr val="92D050"/>
              </a:solidFill>
              <a:effectLst/>
            </a:endParaRPr>
          </a:p>
        </p:txBody>
      </p:sp>
      <p:sp>
        <p:nvSpPr>
          <p:cNvPr id="15" name="Rectángulo 14">
            <a:extLst>
              <a:ext uri="{FF2B5EF4-FFF2-40B4-BE49-F238E27FC236}">
                <a16:creationId xmlns:a16="http://schemas.microsoft.com/office/drawing/2014/main" id="{0E63510C-A682-DB6C-7E02-9358112F57E9}"/>
              </a:ext>
            </a:extLst>
          </p:cNvPr>
          <p:cNvSpPr/>
          <p:nvPr/>
        </p:nvSpPr>
        <p:spPr>
          <a:xfrm>
            <a:off x="337176" y="4908724"/>
            <a:ext cx="4578954" cy="224285"/>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16" name="Rectángulo: esquinas redondeadas 15">
            <a:extLst>
              <a:ext uri="{FF2B5EF4-FFF2-40B4-BE49-F238E27FC236}">
                <a16:creationId xmlns:a16="http://schemas.microsoft.com/office/drawing/2014/main" id="{7DD8AE6E-5D2A-EA57-AB47-96B11F0211F4}"/>
              </a:ext>
            </a:extLst>
          </p:cNvPr>
          <p:cNvSpPr/>
          <p:nvPr/>
        </p:nvSpPr>
        <p:spPr>
          <a:xfrm>
            <a:off x="2191110" y="4617102"/>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s-ES" sz="1100" b="1" dirty="0"/>
              <a:t>17</a:t>
            </a:r>
            <a:endParaRPr lang="es-PE" sz="1100" b="1" dirty="0"/>
          </a:p>
        </p:txBody>
      </p:sp>
      <p:sp>
        <p:nvSpPr>
          <p:cNvPr id="24" name="CuadroTexto 23">
            <a:hlinkClick r:id="rId5" action="ppaction://hlinksldjump"/>
            <a:extLst>
              <a:ext uri="{FF2B5EF4-FFF2-40B4-BE49-F238E27FC236}">
                <a16:creationId xmlns:a16="http://schemas.microsoft.com/office/drawing/2014/main" id="{D130FD5E-1109-7E02-491C-79233BA60883}"/>
              </a:ext>
            </a:extLst>
          </p:cNvPr>
          <p:cNvSpPr txBox="1"/>
          <p:nvPr/>
        </p:nvSpPr>
        <p:spPr>
          <a:xfrm>
            <a:off x="283421" y="3283188"/>
            <a:ext cx="4578954" cy="1150858"/>
          </a:xfrm>
          <a:prstGeom prst="roundRect">
            <a:avLst>
              <a:gd name="adj" fmla="val 7573"/>
            </a:avLst>
          </a:prstGeom>
          <a:solidFill>
            <a:srgbClr val="7030A0"/>
          </a:solidFill>
        </p:spPr>
        <p:txBody>
          <a:bodyPr wrap="square">
            <a:spAutoFit/>
          </a:bodyPr>
          <a:lstStyle/>
          <a:p>
            <a:pPr lvl="0">
              <a:defRPr/>
            </a:pPr>
            <a:r>
              <a:rPr lang="es-ES_tradnl" sz="1100" dirty="0">
                <a:solidFill>
                  <a:srgbClr val="FFFFFF"/>
                </a:solidFill>
              </a:rPr>
              <a:t>En la sección </a:t>
            </a:r>
            <a:r>
              <a:rPr lang="es-ES_tradnl" sz="1100" b="1" dirty="0">
                <a:solidFill>
                  <a:srgbClr val="92D050"/>
                </a:solidFill>
              </a:rPr>
              <a:t>Fechas de Acceso de Docente y Asesor</a:t>
            </a:r>
            <a:r>
              <a:rPr lang="es-ES_tradnl" sz="1100" dirty="0">
                <a:solidFill>
                  <a:srgbClr val="FFFFFF"/>
                </a:solidFill>
              </a:rPr>
              <a:t>, </a:t>
            </a:r>
            <a:r>
              <a:rPr lang="es-ES" sz="1100" dirty="0">
                <a:solidFill>
                  <a:srgbClr val="FFFFFF"/>
                </a:solidFill>
              </a:rPr>
              <a:t>definir el rango de fechas en que docentes y asesores pueden ingresar a determinadas funciones de </a:t>
            </a:r>
            <a:r>
              <a:rPr lang="es-ES" sz="1100" dirty="0" err="1">
                <a:solidFill>
                  <a:srgbClr val="FFFFFF"/>
                </a:solidFill>
              </a:rPr>
              <a:t>Faculty</a:t>
            </a:r>
            <a:r>
              <a:rPr lang="es-ES" sz="1100" dirty="0">
                <a:solidFill>
                  <a:srgbClr val="FFFFFF"/>
                </a:solidFill>
              </a:rPr>
              <a:t>/</a:t>
            </a:r>
            <a:r>
              <a:rPr lang="es-ES" sz="1100" dirty="0" err="1">
                <a:solidFill>
                  <a:srgbClr val="FFFFFF"/>
                </a:solidFill>
              </a:rPr>
              <a:t>Advisor</a:t>
            </a:r>
            <a:r>
              <a:rPr lang="es-ES" sz="1100" dirty="0">
                <a:solidFill>
                  <a:srgbClr val="FFFFFF"/>
                </a:solidFill>
              </a:rPr>
              <a:t> Self-Service para un periodo académico.</a:t>
            </a:r>
            <a:r>
              <a:rPr lang="es-ES_tradnl" sz="1100" dirty="0">
                <a:solidFill>
                  <a:srgbClr val="FFFFFF"/>
                </a:solidFill>
              </a:rPr>
              <a:t> </a:t>
            </a:r>
            <a:r>
              <a:rPr lang="es-ES_tradnl" sz="1100" b="1" dirty="0">
                <a:solidFill>
                  <a:srgbClr val="FFFFFF"/>
                </a:solidFill>
              </a:rPr>
              <a:t>Se pueden ingresar varios rangos</a:t>
            </a:r>
            <a:r>
              <a:rPr lang="es-ES_tradnl" sz="1100" dirty="0">
                <a:solidFill>
                  <a:srgbClr val="FFFFFF"/>
                </a:solidFill>
              </a:rPr>
              <a:t> , pero en nuestro caso se agrega la fecha de inicio y término que englobe a todos las partes de periodo en un solo registro</a:t>
            </a:r>
            <a:r>
              <a:rPr lang="es-ES_tradnl" sz="1100" b="1" dirty="0">
                <a:solidFill>
                  <a:srgbClr val="FFFFFF"/>
                </a:solidFill>
              </a:rPr>
              <a:t>.</a:t>
            </a:r>
            <a:r>
              <a:rPr lang="es-ES" sz="1100" dirty="0">
                <a:solidFill>
                  <a:srgbClr val="FFFFFF"/>
                </a:solidFill>
              </a:rPr>
              <a:t> </a:t>
            </a:r>
            <a:r>
              <a:rPr lang="es-ES_tradnl" sz="1100" dirty="0">
                <a:solidFill>
                  <a:srgbClr val="FFFFFF"/>
                </a:solidFill>
              </a:rPr>
              <a:t>(Requerido)</a:t>
            </a:r>
            <a:endParaRPr lang="es-ES" sz="1100" dirty="0">
              <a:solidFill>
                <a:srgbClr val="FFFFFF"/>
              </a:solidFill>
            </a:endParaRPr>
          </a:p>
        </p:txBody>
      </p:sp>
      <p:sp>
        <p:nvSpPr>
          <p:cNvPr id="31" name="Rectángulo 30">
            <a:extLst>
              <a:ext uri="{FF2B5EF4-FFF2-40B4-BE49-F238E27FC236}">
                <a16:creationId xmlns:a16="http://schemas.microsoft.com/office/drawing/2014/main" id="{5FEA3054-61AB-6136-F093-78D8C0A2379E}"/>
              </a:ext>
            </a:extLst>
          </p:cNvPr>
          <p:cNvSpPr/>
          <p:nvPr/>
        </p:nvSpPr>
        <p:spPr>
          <a:xfrm>
            <a:off x="11293040" y="5486741"/>
            <a:ext cx="684363" cy="347998"/>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32" name="Rectángulo: esquinas redondeadas 31">
            <a:extLst>
              <a:ext uri="{FF2B5EF4-FFF2-40B4-BE49-F238E27FC236}">
                <a16:creationId xmlns:a16="http://schemas.microsoft.com/office/drawing/2014/main" id="{DE1EFE75-466E-E9B0-4D17-A625EA1A5E75}"/>
              </a:ext>
            </a:extLst>
          </p:cNvPr>
          <p:cNvSpPr/>
          <p:nvPr/>
        </p:nvSpPr>
        <p:spPr>
          <a:xfrm>
            <a:off x="10976737" y="5548597"/>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s-ES" sz="1100" b="1" dirty="0"/>
              <a:t>20</a:t>
            </a:r>
            <a:endParaRPr lang="es-PE" sz="1100" b="1" dirty="0"/>
          </a:p>
        </p:txBody>
      </p:sp>
      <p:sp>
        <p:nvSpPr>
          <p:cNvPr id="33" name="CuadroTexto 32">
            <a:extLst>
              <a:ext uri="{FF2B5EF4-FFF2-40B4-BE49-F238E27FC236}">
                <a16:creationId xmlns:a16="http://schemas.microsoft.com/office/drawing/2014/main" id="{8E827925-6DA9-B6F9-C8CB-77FE3CC92FA3}"/>
              </a:ext>
            </a:extLst>
          </p:cNvPr>
          <p:cNvSpPr txBox="1"/>
          <p:nvPr/>
        </p:nvSpPr>
        <p:spPr>
          <a:xfrm>
            <a:off x="9114836" y="5315731"/>
            <a:ext cx="1821371" cy="799207"/>
          </a:xfrm>
          <a:prstGeom prst="roundRect">
            <a:avLst>
              <a:gd name="adj" fmla="val 7573"/>
            </a:avLst>
          </a:prstGeom>
          <a:solidFill>
            <a:srgbClr val="7030A0"/>
          </a:solidFill>
        </p:spPr>
        <p:txBody>
          <a:bodyPr wrap="square">
            <a:spAutoFit/>
          </a:bodyPr>
          <a:lstStyle/>
          <a:p>
            <a:pPr algn="ctr"/>
            <a:r>
              <a:rPr lang="es-ES" sz="1100" dirty="0">
                <a:solidFill>
                  <a:srgbClr val="FFFFFF"/>
                </a:solidFill>
              </a:rPr>
              <a:t>Se debe presionar </a:t>
            </a:r>
            <a:r>
              <a:rPr lang="es-ES" sz="1100" b="1" dirty="0">
                <a:solidFill>
                  <a:srgbClr val="92D050"/>
                </a:solidFill>
              </a:rPr>
              <a:t>Guardar</a:t>
            </a:r>
            <a:r>
              <a:rPr lang="es-ES" sz="1100" dirty="0">
                <a:solidFill>
                  <a:srgbClr val="FFFFFF"/>
                </a:solidFill>
              </a:rPr>
              <a:t> para que la información quede registrada en el sistema</a:t>
            </a:r>
          </a:p>
        </p:txBody>
      </p:sp>
      <p:sp>
        <p:nvSpPr>
          <p:cNvPr id="34" name="Rectángulo 33">
            <a:extLst>
              <a:ext uri="{FF2B5EF4-FFF2-40B4-BE49-F238E27FC236}">
                <a16:creationId xmlns:a16="http://schemas.microsoft.com/office/drawing/2014/main" id="{06535FCA-3482-ADD7-412C-9200D460959D}"/>
              </a:ext>
            </a:extLst>
          </p:cNvPr>
          <p:cNvSpPr/>
          <p:nvPr/>
        </p:nvSpPr>
        <p:spPr>
          <a:xfrm>
            <a:off x="701015" y="5466137"/>
            <a:ext cx="358463" cy="347998"/>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35" name="Rectángulo: esquinas redondeadas 34">
            <a:extLst>
              <a:ext uri="{FF2B5EF4-FFF2-40B4-BE49-F238E27FC236}">
                <a16:creationId xmlns:a16="http://schemas.microsoft.com/office/drawing/2014/main" id="{39D6BC0E-B919-6E97-5D5C-D3189CDDEDDB}"/>
              </a:ext>
            </a:extLst>
          </p:cNvPr>
          <p:cNvSpPr/>
          <p:nvPr/>
        </p:nvSpPr>
        <p:spPr>
          <a:xfrm>
            <a:off x="375476" y="5491049"/>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s-ES" sz="1100" b="1" dirty="0"/>
              <a:t>21</a:t>
            </a:r>
            <a:endParaRPr lang="es-PE" sz="1100" b="1" dirty="0"/>
          </a:p>
        </p:txBody>
      </p:sp>
      <p:sp>
        <p:nvSpPr>
          <p:cNvPr id="36" name="CuadroTexto 35">
            <a:extLst>
              <a:ext uri="{FF2B5EF4-FFF2-40B4-BE49-F238E27FC236}">
                <a16:creationId xmlns:a16="http://schemas.microsoft.com/office/drawing/2014/main" id="{0754B14E-DF51-371D-FF52-4342CD93DCCB}"/>
              </a:ext>
            </a:extLst>
          </p:cNvPr>
          <p:cNvSpPr txBox="1"/>
          <p:nvPr/>
        </p:nvSpPr>
        <p:spPr>
          <a:xfrm>
            <a:off x="1166998" y="5416358"/>
            <a:ext cx="868225" cy="447556"/>
          </a:xfrm>
          <a:prstGeom prst="roundRect">
            <a:avLst>
              <a:gd name="adj" fmla="val 7573"/>
            </a:avLst>
          </a:prstGeom>
          <a:solidFill>
            <a:srgbClr val="7030A0"/>
          </a:solidFill>
        </p:spPr>
        <p:txBody>
          <a:bodyPr wrap="square">
            <a:spAutoFit/>
          </a:bodyPr>
          <a:lstStyle/>
          <a:p>
            <a:pPr algn="ctr"/>
            <a:r>
              <a:rPr lang="es-ES" sz="1100" dirty="0">
                <a:solidFill>
                  <a:srgbClr val="FFFFFF"/>
                </a:solidFill>
              </a:rPr>
              <a:t>Presionar siguiente</a:t>
            </a:r>
          </a:p>
        </p:txBody>
      </p:sp>
      <p:sp>
        <p:nvSpPr>
          <p:cNvPr id="40" name="Rectángulo 39">
            <a:extLst>
              <a:ext uri="{FF2B5EF4-FFF2-40B4-BE49-F238E27FC236}">
                <a16:creationId xmlns:a16="http://schemas.microsoft.com/office/drawing/2014/main" id="{182B8DE5-3D6C-152D-B9BF-A1579947B193}"/>
              </a:ext>
            </a:extLst>
          </p:cNvPr>
          <p:cNvSpPr/>
          <p:nvPr/>
        </p:nvSpPr>
        <p:spPr>
          <a:xfrm>
            <a:off x="5948516" y="4917454"/>
            <a:ext cx="1828800" cy="204401"/>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41" name="Rectángulo: esquinas redondeadas 40">
            <a:extLst>
              <a:ext uri="{FF2B5EF4-FFF2-40B4-BE49-F238E27FC236}">
                <a16:creationId xmlns:a16="http://schemas.microsoft.com/office/drawing/2014/main" id="{776CFC18-2125-E71F-7A2C-3B0C544B6849}"/>
              </a:ext>
            </a:extLst>
          </p:cNvPr>
          <p:cNvSpPr/>
          <p:nvPr/>
        </p:nvSpPr>
        <p:spPr>
          <a:xfrm>
            <a:off x="6799664" y="4601465"/>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s-ES" sz="1100" b="1" dirty="0"/>
              <a:t>18</a:t>
            </a:r>
            <a:endParaRPr lang="es-PE" sz="1100" b="1" dirty="0"/>
          </a:p>
        </p:txBody>
      </p:sp>
      <p:sp>
        <p:nvSpPr>
          <p:cNvPr id="42" name="CuadroTexto 41">
            <a:hlinkClick r:id="rId5" action="ppaction://hlinksldjump"/>
            <a:extLst>
              <a:ext uri="{FF2B5EF4-FFF2-40B4-BE49-F238E27FC236}">
                <a16:creationId xmlns:a16="http://schemas.microsoft.com/office/drawing/2014/main" id="{36AC455C-ECF4-A228-0DD4-36137FED95D6}"/>
              </a:ext>
            </a:extLst>
          </p:cNvPr>
          <p:cNvSpPr txBox="1"/>
          <p:nvPr/>
        </p:nvSpPr>
        <p:spPr>
          <a:xfrm>
            <a:off x="5358932" y="3641530"/>
            <a:ext cx="2418384" cy="799207"/>
          </a:xfrm>
          <a:prstGeom prst="roundRect">
            <a:avLst>
              <a:gd name="adj" fmla="val 7573"/>
            </a:avLst>
          </a:prstGeom>
          <a:solidFill>
            <a:srgbClr val="7030A0"/>
          </a:solidFill>
        </p:spPr>
        <p:txBody>
          <a:bodyPr wrap="square">
            <a:spAutoFit/>
          </a:bodyPr>
          <a:lstStyle/>
          <a:p>
            <a:pPr lvl="0">
              <a:defRPr/>
            </a:pPr>
            <a:r>
              <a:rPr lang="es-ES" sz="1100" b="1" dirty="0">
                <a:solidFill>
                  <a:srgbClr val="92D050"/>
                </a:solidFill>
              </a:rPr>
              <a:t>Menú: </a:t>
            </a:r>
            <a:r>
              <a:rPr lang="es-ES" sz="1100" dirty="0">
                <a:solidFill>
                  <a:srgbClr val="FFFFFF"/>
                </a:solidFill>
              </a:rPr>
              <a:t>determina si el docente/asesor puede acceder al menú de </a:t>
            </a:r>
            <a:r>
              <a:rPr lang="es-ES" sz="1100" dirty="0" err="1">
                <a:solidFill>
                  <a:srgbClr val="FFFFFF"/>
                </a:solidFill>
              </a:rPr>
              <a:t>Faculty</a:t>
            </a:r>
            <a:r>
              <a:rPr lang="es-ES" sz="1100" dirty="0">
                <a:solidFill>
                  <a:srgbClr val="FFFFFF"/>
                </a:solidFill>
              </a:rPr>
              <a:t>/</a:t>
            </a:r>
            <a:r>
              <a:rPr lang="es-ES" sz="1100" dirty="0" err="1">
                <a:solidFill>
                  <a:srgbClr val="FFFFFF"/>
                </a:solidFill>
              </a:rPr>
              <a:t>Advisor</a:t>
            </a:r>
            <a:r>
              <a:rPr lang="es-ES" sz="1100" dirty="0">
                <a:solidFill>
                  <a:srgbClr val="FFFFFF"/>
                </a:solidFill>
              </a:rPr>
              <a:t> durante ese rango de fechas. </a:t>
            </a:r>
            <a:r>
              <a:rPr lang="es-ES_tradnl" sz="1100" b="1" dirty="0">
                <a:solidFill>
                  <a:srgbClr val="FFFFFF"/>
                </a:solidFill>
              </a:rPr>
              <a:t>Marcar.</a:t>
            </a:r>
            <a:endParaRPr lang="es-ES" sz="1100" b="1" dirty="0">
              <a:solidFill>
                <a:srgbClr val="FFFFFF"/>
              </a:solidFill>
            </a:endParaRPr>
          </a:p>
        </p:txBody>
      </p:sp>
      <p:sp>
        <p:nvSpPr>
          <p:cNvPr id="43" name="Rectángulo 42">
            <a:extLst>
              <a:ext uri="{FF2B5EF4-FFF2-40B4-BE49-F238E27FC236}">
                <a16:creationId xmlns:a16="http://schemas.microsoft.com/office/drawing/2014/main" id="{8345FEDC-4609-8735-6CAF-B6CFEFB9F6EB}"/>
              </a:ext>
            </a:extLst>
          </p:cNvPr>
          <p:cNvSpPr/>
          <p:nvPr/>
        </p:nvSpPr>
        <p:spPr>
          <a:xfrm>
            <a:off x="9237198" y="4910763"/>
            <a:ext cx="1828800" cy="204401"/>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44" name="Rectángulo: esquinas redondeadas 43">
            <a:extLst>
              <a:ext uri="{FF2B5EF4-FFF2-40B4-BE49-F238E27FC236}">
                <a16:creationId xmlns:a16="http://schemas.microsoft.com/office/drawing/2014/main" id="{AA52165E-B04D-C89F-090F-240970220385}"/>
              </a:ext>
            </a:extLst>
          </p:cNvPr>
          <p:cNvSpPr/>
          <p:nvPr/>
        </p:nvSpPr>
        <p:spPr>
          <a:xfrm>
            <a:off x="10049018" y="4634102"/>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s-ES" sz="1100" b="1" dirty="0"/>
              <a:t>19</a:t>
            </a:r>
            <a:endParaRPr lang="es-PE" sz="1100" b="1" dirty="0"/>
          </a:p>
        </p:txBody>
      </p:sp>
      <p:sp>
        <p:nvSpPr>
          <p:cNvPr id="45" name="CuadroTexto 44">
            <a:hlinkClick r:id="rId5" action="ppaction://hlinksldjump"/>
            <a:extLst>
              <a:ext uri="{FF2B5EF4-FFF2-40B4-BE49-F238E27FC236}">
                <a16:creationId xmlns:a16="http://schemas.microsoft.com/office/drawing/2014/main" id="{6671C59F-1A6B-1DCE-65F0-98CF8F58A2DE}"/>
              </a:ext>
            </a:extLst>
          </p:cNvPr>
          <p:cNvSpPr txBox="1"/>
          <p:nvPr/>
        </p:nvSpPr>
        <p:spPr>
          <a:xfrm>
            <a:off x="7840905" y="3642150"/>
            <a:ext cx="2263990" cy="975033"/>
          </a:xfrm>
          <a:prstGeom prst="roundRect">
            <a:avLst>
              <a:gd name="adj" fmla="val 7573"/>
            </a:avLst>
          </a:prstGeom>
          <a:solidFill>
            <a:srgbClr val="7030A0"/>
          </a:solidFill>
        </p:spPr>
        <p:txBody>
          <a:bodyPr wrap="square">
            <a:spAutoFit/>
          </a:bodyPr>
          <a:lstStyle/>
          <a:p>
            <a:pPr lvl="0">
              <a:defRPr/>
            </a:pPr>
            <a:r>
              <a:rPr lang="es-ES" sz="1100" b="1" dirty="0">
                <a:solidFill>
                  <a:srgbClr val="92D050"/>
                </a:solidFill>
              </a:rPr>
              <a:t>Selección de periodo: </a:t>
            </a:r>
            <a:r>
              <a:rPr lang="es-ES" sz="1100" dirty="0">
                <a:solidFill>
                  <a:schemeClr val="bg1"/>
                </a:solidFill>
              </a:rPr>
              <a:t>determina si ese periodo aparece disponible para que el docente/asesor lo seleccione en Autoservicio</a:t>
            </a:r>
            <a:r>
              <a:rPr lang="es-ES" sz="1100" dirty="0">
                <a:solidFill>
                  <a:srgbClr val="FFFFFF"/>
                </a:solidFill>
              </a:rPr>
              <a:t>. </a:t>
            </a:r>
            <a:r>
              <a:rPr lang="es-ES_tradnl" sz="1100" b="1" dirty="0">
                <a:solidFill>
                  <a:srgbClr val="FFFFFF"/>
                </a:solidFill>
              </a:rPr>
              <a:t>Marcar.</a:t>
            </a:r>
            <a:endParaRPr lang="es-ES" sz="1100" b="1" dirty="0">
              <a:solidFill>
                <a:srgbClr val="FFFFFF"/>
              </a:solidFill>
            </a:endParaRPr>
          </a:p>
        </p:txBody>
      </p:sp>
    </p:spTree>
    <p:extLst>
      <p:ext uri="{BB962C8B-B14F-4D97-AF65-F5344CB8AC3E}">
        <p14:creationId xmlns:p14="http://schemas.microsoft.com/office/powerpoint/2010/main" val="2874587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heel(1)">
                                      <p:cBhvr>
                                        <p:cTn id="7" dur="2000"/>
                                        <p:tgtEl>
                                          <p:spTgt spid="12"/>
                                        </p:tgtEl>
                                      </p:cBhvr>
                                    </p:animEffect>
                                  </p:childTnLst>
                                </p:cTn>
                              </p:par>
                            </p:childTnLst>
                          </p:cTn>
                        </p:par>
                        <p:par>
                          <p:cTn id="8" fill="hold">
                            <p:stCondLst>
                              <p:cond delay="2000"/>
                            </p:stCondLst>
                            <p:childTnLst>
                              <p:par>
                                <p:cTn id="9" presetID="53" presetClass="entr" presetSubtype="16" fill="hold" grpId="0" nodeType="afterEffect">
                                  <p:stCondLst>
                                    <p:cond delay="0"/>
                                  </p:stCondLst>
                                  <p:childTnLst>
                                    <p:set>
                                      <p:cBhvr>
                                        <p:cTn id="10" dur="1" fill="hold">
                                          <p:stCondLst>
                                            <p:cond delay="0"/>
                                          </p:stCondLst>
                                        </p:cTn>
                                        <p:tgtEl>
                                          <p:spTgt spid="13"/>
                                        </p:tgtEl>
                                        <p:attrNameLst>
                                          <p:attrName>style.visibility</p:attrName>
                                        </p:attrNameLst>
                                      </p:cBhvr>
                                      <p:to>
                                        <p:strVal val="visible"/>
                                      </p:to>
                                    </p:set>
                                    <p:anim calcmode="lin" valueType="num">
                                      <p:cBhvr>
                                        <p:cTn id="11" dur="500" fill="hold"/>
                                        <p:tgtEl>
                                          <p:spTgt spid="13"/>
                                        </p:tgtEl>
                                        <p:attrNameLst>
                                          <p:attrName>ppt_w</p:attrName>
                                        </p:attrNameLst>
                                      </p:cBhvr>
                                      <p:tavLst>
                                        <p:tav tm="0">
                                          <p:val>
                                            <p:fltVal val="0"/>
                                          </p:val>
                                        </p:tav>
                                        <p:tav tm="100000">
                                          <p:val>
                                            <p:strVal val="#ppt_w"/>
                                          </p:val>
                                        </p:tav>
                                      </p:tavLst>
                                    </p:anim>
                                    <p:anim calcmode="lin" valueType="num">
                                      <p:cBhvr>
                                        <p:cTn id="12" dur="500" fill="hold"/>
                                        <p:tgtEl>
                                          <p:spTgt spid="13"/>
                                        </p:tgtEl>
                                        <p:attrNameLst>
                                          <p:attrName>ppt_h</p:attrName>
                                        </p:attrNameLst>
                                      </p:cBhvr>
                                      <p:tavLst>
                                        <p:tav tm="0">
                                          <p:val>
                                            <p:fltVal val="0"/>
                                          </p:val>
                                        </p:tav>
                                        <p:tav tm="100000">
                                          <p:val>
                                            <p:strVal val="#ppt_h"/>
                                          </p:val>
                                        </p:tav>
                                      </p:tavLst>
                                    </p:anim>
                                    <p:animEffect transition="in" filter="fade">
                                      <p:cBhvr>
                                        <p:cTn id="13" dur="500"/>
                                        <p:tgtEl>
                                          <p:spTgt spid="13"/>
                                        </p:tgtEl>
                                      </p:cBhvr>
                                    </p:animEffect>
                                  </p:childTnLst>
                                </p:cTn>
                              </p:par>
                            </p:childTnLst>
                          </p:cTn>
                        </p:par>
                        <p:par>
                          <p:cTn id="14" fill="hold">
                            <p:stCondLst>
                              <p:cond delay="2500"/>
                            </p:stCondLst>
                            <p:childTnLst>
                              <p:par>
                                <p:cTn id="15" presetID="10" presetClass="entr" presetSubtype="0" fill="hold" grpId="0" nodeType="after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500"/>
                                        <p:tgtEl>
                                          <p:spTgt spid="14"/>
                                        </p:tgtEl>
                                      </p:cBhvr>
                                    </p:animEffect>
                                  </p:childTnLst>
                                </p:cTn>
                              </p:par>
                            </p:childTnLst>
                          </p:cTn>
                        </p:par>
                        <p:par>
                          <p:cTn id="18" fill="hold">
                            <p:stCondLst>
                              <p:cond delay="3000"/>
                            </p:stCondLst>
                            <p:childTnLst>
                              <p:par>
                                <p:cTn id="19" presetID="21" presetClass="entr" presetSubtype="1" fill="hold" grpId="0" nodeType="after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wheel(1)">
                                      <p:cBhvr>
                                        <p:cTn id="21" dur="2000"/>
                                        <p:tgtEl>
                                          <p:spTgt spid="10"/>
                                        </p:tgtEl>
                                      </p:cBhvr>
                                    </p:animEffect>
                                  </p:childTnLst>
                                </p:cTn>
                              </p:par>
                            </p:childTnLst>
                          </p:cTn>
                        </p:par>
                        <p:par>
                          <p:cTn id="22" fill="hold">
                            <p:stCondLst>
                              <p:cond delay="5000"/>
                            </p:stCondLst>
                            <p:childTnLst>
                              <p:par>
                                <p:cTn id="23" presetID="21" presetClass="entr" presetSubtype="1" fill="hold" grpId="0" nodeType="after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wheel(1)">
                                      <p:cBhvr>
                                        <p:cTn id="25" dur="2000"/>
                                        <p:tgtEl>
                                          <p:spTgt spid="15"/>
                                        </p:tgtEl>
                                      </p:cBhvr>
                                    </p:animEffect>
                                  </p:childTnLst>
                                </p:cTn>
                              </p:par>
                            </p:childTnLst>
                          </p:cTn>
                        </p:par>
                        <p:par>
                          <p:cTn id="26" fill="hold">
                            <p:stCondLst>
                              <p:cond delay="7000"/>
                            </p:stCondLst>
                            <p:childTnLst>
                              <p:par>
                                <p:cTn id="27" presetID="53" presetClass="entr" presetSubtype="16" fill="hold" grpId="0" nodeType="afterEffect">
                                  <p:stCondLst>
                                    <p:cond delay="0"/>
                                  </p:stCondLst>
                                  <p:childTnLst>
                                    <p:set>
                                      <p:cBhvr>
                                        <p:cTn id="28" dur="1" fill="hold">
                                          <p:stCondLst>
                                            <p:cond delay="0"/>
                                          </p:stCondLst>
                                        </p:cTn>
                                        <p:tgtEl>
                                          <p:spTgt spid="16"/>
                                        </p:tgtEl>
                                        <p:attrNameLst>
                                          <p:attrName>style.visibility</p:attrName>
                                        </p:attrNameLst>
                                      </p:cBhvr>
                                      <p:to>
                                        <p:strVal val="visible"/>
                                      </p:to>
                                    </p:set>
                                    <p:anim calcmode="lin" valueType="num">
                                      <p:cBhvr>
                                        <p:cTn id="29" dur="500" fill="hold"/>
                                        <p:tgtEl>
                                          <p:spTgt spid="16"/>
                                        </p:tgtEl>
                                        <p:attrNameLst>
                                          <p:attrName>ppt_w</p:attrName>
                                        </p:attrNameLst>
                                      </p:cBhvr>
                                      <p:tavLst>
                                        <p:tav tm="0">
                                          <p:val>
                                            <p:fltVal val="0"/>
                                          </p:val>
                                        </p:tav>
                                        <p:tav tm="100000">
                                          <p:val>
                                            <p:strVal val="#ppt_w"/>
                                          </p:val>
                                        </p:tav>
                                      </p:tavLst>
                                    </p:anim>
                                    <p:anim calcmode="lin" valueType="num">
                                      <p:cBhvr>
                                        <p:cTn id="30" dur="500" fill="hold"/>
                                        <p:tgtEl>
                                          <p:spTgt spid="16"/>
                                        </p:tgtEl>
                                        <p:attrNameLst>
                                          <p:attrName>ppt_h</p:attrName>
                                        </p:attrNameLst>
                                      </p:cBhvr>
                                      <p:tavLst>
                                        <p:tav tm="0">
                                          <p:val>
                                            <p:fltVal val="0"/>
                                          </p:val>
                                        </p:tav>
                                        <p:tav tm="100000">
                                          <p:val>
                                            <p:strVal val="#ppt_h"/>
                                          </p:val>
                                        </p:tav>
                                      </p:tavLst>
                                    </p:anim>
                                    <p:animEffect transition="in" filter="fade">
                                      <p:cBhvr>
                                        <p:cTn id="31" dur="500"/>
                                        <p:tgtEl>
                                          <p:spTgt spid="16"/>
                                        </p:tgtEl>
                                      </p:cBhvr>
                                    </p:animEffect>
                                  </p:childTnLst>
                                </p:cTn>
                              </p:par>
                            </p:childTnLst>
                          </p:cTn>
                        </p:par>
                        <p:par>
                          <p:cTn id="32" fill="hold">
                            <p:stCondLst>
                              <p:cond delay="7500"/>
                            </p:stCondLst>
                            <p:childTnLst>
                              <p:par>
                                <p:cTn id="33" presetID="10" presetClass="entr" presetSubtype="0" fill="hold" grpId="0" nodeType="afterEffect">
                                  <p:stCondLst>
                                    <p:cond delay="0"/>
                                  </p:stCondLst>
                                  <p:childTnLst>
                                    <p:set>
                                      <p:cBhvr>
                                        <p:cTn id="34" dur="1" fill="hold">
                                          <p:stCondLst>
                                            <p:cond delay="0"/>
                                          </p:stCondLst>
                                        </p:cTn>
                                        <p:tgtEl>
                                          <p:spTgt spid="24"/>
                                        </p:tgtEl>
                                        <p:attrNameLst>
                                          <p:attrName>style.visibility</p:attrName>
                                        </p:attrNameLst>
                                      </p:cBhvr>
                                      <p:to>
                                        <p:strVal val="visible"/>
                                      </p:to>
                                    </p:set>
                                    <p:animEffect transition="in" filter="fade">
                                      <p:cBhvr>
                                        <p:cTn id="35" dur="500"/>
                                        <p:tgtEl>
                                          <p:spTgt spid="24"/>
                                        </p:tgtEl>
                                      </p:cBhvr>
                                    </p:animEffect>
                                  </p:childTnLst>
                                </p:cTn>
                              </p:par>
                            </p:childTnLst>
                          </p:cTn>
                        </p:par>
                        <p:par>
                          <p:cTn id="36" fill="hold">
                            <p:stCondLst>
                              <p:cond delay="8000"/>
                            </p:stCondLst>
                            <p:childTnLst>
                              <p:par>
                                <p:cTn id="37" presetID="21" presetClass="entr" presetSubtype="1" fill="hold" grpId="0" nodeType="afterEffect">
                                  <p:stCondLst>
                                    <p:cond delay="0"/>
                                  </p:stCondLst>
                                  <p:childTnLst>
                                    <p:set>
                                      <p:cBhvr>
                                        <p:cTn id="38" dur="1" fill="hold">
                                          <p:stCondLst>
                                            <p:cond delay="0"/>
                                          </p:stCondLst>
                                        </p:cTn>
                                        <p:tgtEl>
                                          <p:spTgt spid="40"/>
                                        </p:tgtEl>
                                        <p:attrNameLst>
                                          <p:attrName>style.visibility</p:attrName>
                                        </p:attrNameLst>
                                      </p:cBhvr>
                                      <p:to>
                                        <p:strVal val="visible"/>
                                      </p:to>
                                    </p:set>
                                    <p:animEffect transition="in" filter="wheel(1)">
                                      <p:cBhvr>
                                        <p:cTn id="39" dur="2000"/>
                                        <p:tgtEl>
                                          <p:spTgt spid="40"/>
                                        </p:tgtEl>
                                      </p:cBhvr>
                                    </p:animEffect>
                                  </p:childTnLst>
                                </p:cTn>
                              </p:par>
                            </p:childTnLst>
                          </p:cTn>
                        </p:par>
                        <p:par>
                          <p:cTn id="40" fill="hold">
                            <p:stCondLst>
                              <p:cond delay="10000"/>
                            </p:stCondLst>
                            <p:childTnLst>
                              <p:par>
                                <p:cTn id="41" presetID="53" presetClass="entr" presetSubtype="16" fill="hold" grpId="0" nodeType="afterEffect">
                                  <p:stCondLst>
                                    <p:cond delay="0"/>
                                  </p:stCondLst>
                                  <p:childTnLst>
                                    <p:set>
                                      <p:cBhvr>
                                        <p:cTn id="42" dur="1" fill="hold">
                                          <p:stCondLst>
                                            <p:cond delay="0"/>
                                          </p:stCondLst>
                                        </p:cTn>
                                        <p:tgtEl>
                                          <p:spTgt spid="41"/>
                                        </p:tgtEl>
                                        <p:attrNameLst>
                                          <p:attrName>style.visibility</p:attrName>
                                        </p:attrNameLst>
                                      </p:cBhvr>
                                      <p:to>
                                        <p:strVal val="visible"/>
                                      </p:to>
                                    </p:set>
                                    <p:anim calcmode="lin" valueType="num">
                                      <p:cBhvr>
                                        <p:cTn id="43" dur="500" fill="hold"/>
                                        <p:tgtEl>
                                          <p:spTgt spid="41"/>
                                        </p:tgtEl>
                                        <p:attrNameLst>
                                          <p:attrName>ppt_w</p:attrName>
                                        </p:attrNameLst>
                                      </p:cBhvr>
                                      <p:tavLst>
                                        <p:tav tm="0">
                                          <p:val>
                                            <p:fltVal val="0"/>
                                          </p:val>
                                        </p:tav>
                                        <p:tav tm="100000">
                                          <p:val>
                                            <p:strVal val="#ppt_w"/>
                                          </p:val>
                                        </p:tav>
                                      </p:tavLst>
                                    </p:anim>
                                    <p:anim calcmode="lin" valueType="num">
                                      <p:cBhvr>
                                        <p:cTn id="44" dur="500" fill="hold"/>
                                        <p:tgtEl>
                                          <p:spTgt spid="41"/>
                                        </p:tgtEl>
                                        <p:attrNameLst>
                                          <p:attrName>ppt_h</p:attrName>
                                        </p:attrNameLst>
                                      </p:cBhvr>
                                      <p:tavLst>
                                        <p:tav tm="0">
                                          <p:val>
                                            <p:fltVal val="0"/>
                                          </p:val>
                                        </p:tav>
                                        <p:tav tm="100000">
                                          <p:val>
                                            <p:strVal val="#ppt_h"/>
                                          </p:val>
                                        </p:tav>
                                      </p:tavLst>
                                    </p:anim>
                                    <p:animEffect transition="in" filter="fade">
                                      <p:cBhvr>
                                        <p:cTn id="45" dur="500"/>
                                        <p:tgtEl>
                                          <p:spTgt spid="41"/>
                                        </p:tgtEl>
                                      </p:cBhvr>
                                    </p:animEffect>
                                  </p:childTnLst>
                                </p:cTn>
                              </p:par>
                            </p:childTnLst>
                          </p:cTn>
                        </p:par>
                        <p:par>
                          <p:cTn id="46" fill="hold">
                            <p:stCondLst>
                              <p:cond delay="10500"/>
                            </p:stCondLst>
                            <p:childTnLst>
                              <p:par>
                                <p:cTn id="47" presetID="10" presetClass="entr" presetSubtype="0" fill="hold" grpId="0" nodeType="afterEffect">
                                  <p:stCondLst>
                                    <p:cond delay="0"/>
                                  </p:stCondLst>
                                  <p:childTnLst>
                                    <p:set>
                                      <p:cBhvr>
                                        <p:cTn id="48" dur="1" fill="hold">
                                          <p:stCondLst>
                                            <p:cond delay="0"/>
                                          </p:stCondLst>
                                        </p:cTn>
                                        <p:tgtEl>
                                          <p:spTgt spid="42"/>
                                        </p:tgtEl>
                                        <p:attrNameLst>
                                          <p:attrName>style.visibility</p:attrName>
                                        </p:attrNameLst>
                                      </p:cBhvr>
                                      <p:to>
                                        <p:strVal val="visible"/>
                                      </p:to>
                                    </p:set>
                                    <p:animEffect transition="in" filter="fade">
                                      <p:cBhvr>
                                        <p:cTn id="49" dur="500"/>
                                        <p:tgtEl>
                                          <p:spTgt spid="42"/>
                                        </p:tgtEl>
                                      </p:cBhvr>
                                    </p:animEffect>
                                  </p:childTnLst>
                                </p:cTn>
                              </p:par>
                            </p:childTnLst>
                          </p:cTn>
                        </p:par>
                        <p:par>
                          <p:cTn id="50" fill="hold">
                            <p:stCondLst>
                              <p:cond delay="11000"/>
                            </p:stCondLst>
                            <p:childTnLst>
                              <p:par>
                                <p:cTn id="51" presetID="21" presetClass="entr" presetSubtype="1" fill="hold" grpId="0" nodeType="afterEffect">
                                  <p:stCondLst>
                                    <p:cond delay="0"/>
                                  </p:stCondLst>
                                  <p:childTnLst>
                                    <p:set>
                                      <p:cBhvr>
                                        <p:cTn id="52" dur="1" fill="hold">
                                          <p:stCondLst>
                                            <p:cond delay="0"/>
                                          </p:stCondLst>
                                        </p:cTn>
                                        <p:tgtEl>
                                          <p:spTgt spid="31"/>
                                        </p:tgtEl>
                                        <p:attrNameLst>
                                          <p:attrName>style.visibility</p:attrName>
                                        </p:attrNameLst>
                                      </p:cBhvr>
                                      <p:to>
                                        <p:strVal val="visible"/>
                                      </p:to>
                                    </p:set>
                                    <p:animEffect transition="in" filter="wheel(1)">
                                      <p:cBhvr>
                                        <p:cTn id="53" dur="2000"/>
                                        <p:tgtEl>
                                          <p:spTgt spid="31"/>
                                        </p:tgtEl>
                                      </p:cBhvr>
                                    </p:animEffect>
                                  </p:childTnLst>
                                </p:cTn>
                              </p:par>
                            </p:childTnLst>
                          </p:cTn>
                        </p:par>
                        <p:par>
                          <p:cTn id="54" fill="hold">
                            <p:stCondLst>
                              <p:cond delay="13000"/>
                            </p:stCondLst>
                            <p:childTnLst>
                              <p:par>
                                <p:cTn id="55" presetID="53" presetClass="entr" presetSubtype="16" fill="hold" grpId="0" nodeType="afterEffect">
                                  <p:stCondLst>
                                    <p:cond delay="0"/>
                                  </p:stCondLst>
                                  <p:childTnLst>
                                    <p:set>
                                      <p:cBhvr>
                                        <p:cTn id="56" dur="1" fill="hold">
                                          <p:stCondLst>
                                            <p:cond delay="0"/>
                                          </p:stCondLst>
                                        </p:cTn>
                                        <p:tgtEl>
                                          <p:spTgt spid="32"/>
                                        </p:tgtEl>
                                        <p:attrNameLst>
                                          <p:attrName>style.visibility</p:attrName>
                                        </p:attrNameLst>
                                      </p:cBhvr>
                                      <p:to>
                                        <p:strVal val="visible"/>
                                      </p:to>
                                    </p:set>
                                    <p:anim calcmode="lin" valueType="num">
                                      <p:cBhvr>
                                        <p:cTn id="57" dur="500" fill="hold"/>
                                        <p:tgtEl>
                                          <p:spTgt spid="32"/>
                                        </p:tgtEl>
                                        <p:attrNameLst>
                                          <p:attrName>ppt_w</p:attrName>
                                        </p:attrNameLst>
                                      </p:cBhvr>
                                      <p:tavLst>
                                        <p:tav tm="0">
                                          <p:val>
                                            <p:fltVal val="0"/>
                                          </p:val>
                                        </p:tav>
                                        <p:tav tm="100000">
                                          <p:val>
                                            <p:strVal val="#ppt_w"/>
                                          </p:val>
                                        </p:tav>
                                      </p:tavLst>
                                    </p:anim>
                                    <p:anim calcmode="lin" valueType="num">
                                      <p:cBhvr>
                                        <p:cTn id="58" dur="500" fill="hold"/>
                                        <p:tgtEl>
                                          <p:spTgt spid="32"/>
                                        </p:tgtEl>
                                        <p:attrNameLst>
                                          <p:attrName>ppt_h</p:attrName>
                                        </p:attrNameLst>
                                      </p:cBhvr>
                                      <p:tavLst>
                                        <p:tav tm="0">
                                          <p:val>
                                            <p:fltVal val="0"/>
                                          </p:val>
                                        </p:tav>
                                        <p:tav tm="100000">
                                          <p:val>
                                            <p:strVal val="#ppt_h"/>
                                          </p:val>
                                        </p:tav>
                                      </p:tavLst>
                                    </p:anim>
                                    <p:animEffect transition="in" filter="fade">
                                      <p:cBhvr>
                                        <p:cTn id="59" dur="500"/>
                                        <p:tgtEl>
                                          <p:spTgt spid="32"/>
                                        </p:tgtEl>
                                      </p:cBhvr>
                                    </p:animEffect>
                                  </p:childTnLst>
                                </p:cTn>
                              </p:par>
                            </p:childTnLst>
                          </p:cTn>
                        </p:par>
                        <p:par>
                          <p:cTn id="60" fill="hold">
                            <p:stCondLst>
                              <p:cond delay="13500"/>
                            </p:stCondLst>
                            <p:childTnLst>
                              <p:par>
                                <p:cTn id="61" presetID="10" presetClass="entr" presetSubtype="0" fill="hold" grpId="0" nodeType="afterEffect">
                                  <p:stCondLst>
                                    <p:cond delay="0"/>
                                  </p:stCondLst>
                                  <p:childTnLst>
                                    <p:set>
                                      <p:cBhvr>
                                        <p:cTn id="62" dur="1" fill="hold">
                                          <p:stCondLst>
                                            <p:cond delay="0"/>
                                          </p:stCondLst>
                                        </p:cTn>
                                        <p:tgtEl>
                                          <p:spTgt spid="33"/>
                                        </p:tgtEl>
                                        <p:attrNameLst>
                                          <p:attrName>style.visibility</p:attrName>
                                        </p:attrNameLst>
                                      </p:cBhvr>
                                      <p:to>
                                        <p:strVal val="visible"/>
                                      </p:to>
                                    </p:set>
                                    <p:animEffect transition="in" filter="fade">
                                      <p:cBhvr>
                                        <p:cTn id="63" dur="500"/>
                                        <p:tgtEl>
                                          <p:spTgt spid="33"/>
                                        </p:tgtEl>
                                      </p:cBhvr>
                                    </p:animEffect>
                                  </p:childTnLst>
                                </p:cTn>
                              </p:par>
                            </p:childTnLst>
                          </p:cTn>
                        </p:par>
                        <p:par>
                          <p:cTn id="64" fill="hold">
                            <p:stCondLst>
                              <p:cond delay="14000"/>
                            </p:stCondLst>
                            <p:childTnLst>
                              <p:par>
                                <p:cTn id="65" presetID="21" presetClass="entr" presetSubtype="1" fill="hold" grpId="0" nodeType="afterEffect">
                                  <p:stCondLst>
                                    <p:cond delay="0"/>
                                  </p:stCondLst>
                                  <p:childTnLst>
                                    <p:set>
                                      <p:cBhvr>
                                        <p:cTn id="66" dur="1" fill="hold">
                                          <p:stCondLst>
                                            <p:cond delay="0"/>
                                          </p:stCondLst>
                                        </p:cTn>
                                        <p:tgtEl>
                                          <p:spTgt spid="34"/>
                                        </p:tgtEl>
                                        <p:attrNameLst>
                                          <p:attrName>style.visibility</p:attrName>
                                        </p:attrNameLst>
                                      </p:cBhvr>
                                      <p:to>
                                        <p:strVal val="visible"/>
                                      </p:to>
                                    </p:set>
                                    <p:animEffect transition="in" filter="wheel(1)">
                                      <p:cBhvr>
                                        <p:cTn id="67" dur="2000"/>
                                        <p:tgtEl>
                                          <p:spTgt spid="34"/>
                                        </p:tgtEl>
                                      </p:cBhvr>
                                    </p:animEffect>
                                  </p:childTnLst>
                                </p:cTn>
                              </p:par>
                            </p:childTnLst>
                          </p:cTn>
                        </p:par>
                        <p:par>
                          <p:cTn id="68" fill="hold">
                            <p:stCondLst>
                              <p:cond delay="16000"/>
                            </p:stCondLst>
                            <p:childTnLst>
                              <p:par>
                                <p:cTn id="69" presetID="53" presetClass="entr" presetSubtype="16" fill="hold" grpId="0" nodeType="afterEffect">
                                  <p:stCondLst>
                                    <p:cond delay="0"/>
                                  </p:stCondLst>
                                  <p:childTnLst>
                                    <p:set>
                                      <p:cBhvr>
                                        <p:cTn id="70" dur="1" fill="hold">
                                          <p:stCondLst>
                                            <p:cond delay="0"/>
                                          </p:stCondLst>
                                        </p:cTn>
                                        <p:tgtEl>
                                          <p:spTgt spid="35"/>
                                        </p:tgtEl>
                                        <p:attrNameLst>
                                          <p:attrName>style.visibility</p:attrName>
                                        </p:attrNameLst>
                                      </p:cBhvr>
                                      <p:to>
                                        <p:strVal val="visible"/>
                                      </p:to>
                                    </p:set>
                                    <p:anim calcmode="lin" valueType="num">
                                      <p:cBhvr>
                                        <p:cTn id="71" dur="500" fill="hold"/>
                                        <p:tgtEl>
                                          <p:spTgt spid="35"/>
                                        </p:tgtEl>
                                        <p:attrNameLst>
                                          <p:attrName>ppt_w</p:attrName>
                                        </p:attrNameLst>
                                      </p:cBhvr>
                                      <p:tavLst>
                                        <p:tav tm="0">
                                          <p:val>
                                            <p:fltVal val="0"/>
                                          </p:val>
                                        </p:tav>
                                        <p:tav tm="100000">
                                          <p:val>
                                            <p:strVal val="#ppt_w"/>
                                          </p:val>
                                        </p:tav>
                                      </p:tavLst>
                                    </p:anim>
                                    <p:anim calcmode="lin" valueType="num">
                                      <p:cBhvr>
                                        <p:cTn id="72" dur="500" fill="hold"/>
                                        <p:tgtEl>
                                          <p:spTgt spid="35"/>
                                        </p:tgtEl>
                                        <p:attrNameLst>
                                          <p:attrName>ppt_h</p:attrName>
                                        </p:attrNameLst>
                                      </p:cBhvr>
                                      <p:tavLst>
                                        <p:tav tm="0">
                                          <p:val>
                                            <p:fltVal val="0"/>
                                          </p:val>
                                        </p:tav>
                                        <p:tav tm="100000">
                                          <p:val>
                                            <p:strVal val="#ppt_h"/>
                                          </p:val>
                                        </p:tav>
                                      </p:tavLst>
                                    </p:anim>
                                    <p:animEffect transition="in" filter="fade">
                                      <p:cBhvr>
                                        <p:cTn id="73" dur="500"/>
                                        <p:tgtEl>
                                          <p:spTgt spid="35"/>
                                        </p:tgtEl>
                                      </p:cBhvr>
                                    </p:animEffect>
                                  </p:childTnLst>
                                </p:cTn>
                              </p:par>
                            </p:childTnLst>
                          </p:cTn>
                        </p:par>
                        <p:par>
                          <p:cTn id="74" fill="hold">
                            <p:stCondLst>
                              <p:cond delay="16500"/>
                            </p:stCondLst>
                            <p:childTnLst>
                              <p:par>
                                <p:cTn id="75" presetID="10" presetClass="entr" presetSubtype="0" fill="hold" grpId="0" nodeType="afterEffect">
                                  <p:stCondLst>
                                    <p:cond delay="0"/>
                                  </p:stCondLst>
                                  <p:childTnLst>
                                    <p:set>
                                      <p:cBhvr>
                                        <p:cTn id="76" dur="1" fill="hold">
                                          <p:stCondLst>
                                            <p:cond delay="0"/>
                                          </p:stCondLst>
                                        </p:cTn>
                                        <p:tgtEl>
                                          <p:spTgt spid="36"/>
                                        </p:tgtEl>
                                        <p:attrNameLst>
                                          <p:attrName>style.visibility</p:attrName>
                                        </p:attrNameLst>
                                      </p:cBhvr>
                                      <p:to>
                                        <p:strVal val="visible"/>
                                      </p:to>
                                    </p:set>
                                    <p:animEffect transition="in" filter="fade">
                                      <p:cBhvr>
                                        <p:cTn id="77" dur="500"/>
                                        <p:tgtEl>
                                          <p:spTgt spid="36"/>
                                        </p:tgtEl>
                                      </p:cBhvr>
                                    </p:animEffect>
                                  </p:childTnLst>
                                </p:cTn>
                              </p:par>
                            </p:childTnLst>
                          </p:cTn>
                        </p:par>
                        <p:par>
                          <p:cTn id="78" fill="hold">
                            <p:stCondLst>
                              <p:cond delay="17000"/>
                            </p:stCondLst>
                            <p:childTnLst>
                              <p:par>
                                <p:cTn id="79" presetID="21" presetClass="entr" presetSubtype="1" fill="hold" grpId="0" nodeType="afterEffect">
                                  <p:stCondLst>
                                    <p:cond delay="0"/>
                                  </p:stCondLst>
                                  <p:childTnLst>
                                    <p:set>
                                      <p:cBhvr>
                                        <p:cTn id="80" dur="1" fill="hold">
                                          <p:stCondLst>
                                            <p:cond delay="0"/>
                                          </p:stCondLst>
                                        </p:cTn>
                                        <p:tgtEl>
                                          <p:spTgt spid="43"/>
                                        </p:tgtEl>
                                        <p:attrNameLst>
                                          <p:attrName>style.visibility</p:attrName>
                                        </p:attrNameLst>
                                      </p:cBhvr>
                                      <p:to>
                                        <p:strVal val="visible"/>
                                      </p:to>
                                    </p:set>
                                    <p:animEffect transition="in" filter="wheel(1)">
                                      <p:cBhvr>
                                        <p:cTn id="81" dur="2000"/>
                                        <p:tgtEl>
                                          <p:spTgt spid="43"/>
                                        </p:tgtEl>
                                      </p:cBhvr>
                                    </p:animEffect>
                                  </p:childTnLst>
                                </p:cTn>
                              </p:par>
                            </p:childTnLst>
                          </p:cTn>
                        </p:par>
                        <p:par>
                          <p:cTn id="82" fill="hold">
                            <p:stCondLst>
                              <p:cond delay="19000"/>
                            </p:stCondLst>
                            <p:childTnLst>
                              <p:par>
                                <p:cTn id="83" presetID="53" presetClass="entr" presetSubtype="16" fill="hold" grpId="0" nodeType="afterEffect">
                                  <p:stCondLst>
                                    <p:cond delay="0"/>
                                  </p:stCondLst>
                                  <p:childTnLst>
                                    <p:set>
                                      <p:cBhvr>
                                        <p:cTn id="84" dur="1" fill="hold">
                                          <p:stCondLst>
                                            <p:cond delay="0"/>
                                          </p:stCondLst>
                                        </p:cTn>
                                        <p:tgtEl>
                                          <p:spTgt spid="44"/>
                                        </p:tgtEl>
                                        <p:attrNameLst>
                                          <p:attrName>style.visibility</p:attrName>
                                        </p:attrNameLst>
                                      </p:cBhvr>
                                      <p:to>
                                        <p:strVal val="visible"/>
                                      </p:to>
                                    </p:set>
                                    <p:anim calcmode="lin" valueType="num">
                                      <p:cBhvr>
                                        <p:cTn id="85" dur="500" fill="hold"/>
                                        <p:tgtEl>
                                          <p:spTgt spid="44"/>
                                        </p:tgtEl>
                                        <p:attrNameLst>
                                          <p:attrName>ppt_w</p:attrName>
                                        </p:attrNameLst>
                                      </p:cBhvr>
                                      <p:tavLst>
                                        <p:tav tm="0">
                                          <p:val>
                                            <p:fltVal val="0"/>
                                          </p:val>
                                        </p:tav>
                                        <p:tav tm="100000">
                                          <p:val>
                                            <p:strVal val="#ppt_w"/>
                                          </p:val>
                                        </p:tav>
                                      </p:tavLst>
                                    </p:anim>
                                    <p:anim calcmode="lin" valueType="num">
                                      <p:cBhvr>
                                        <p:cTn id="86" dur="500" fill="hold"/>
                                        <p:tgtEl>
                                          <p:spTgt spid="44"/>
                                        </p:tgtEl>
                                        <p:attrNameLst>
                                          <p:attrName>ppt_h</p:attrName>
                                        </p:attrNameLst>
                                      </p:cBhvr>
                                      <p:tavLst>
                                        <p:tav tm="0">
                                          <p:val>
                                            <p:fltVal val="0"/>
                                          </p:val>
                                        </p:tav>
                                        <p:tav tm="100000">
                                          <p:val>
                                            <p:strVal val="#ppt_h"/>
                                          </p:val>
                                        </p:tav>
                                      </p:tavLst>
                                    </p:anim>
                                    <p:animEffect transition="in" filter="fade">
                                      <p:cBhvr>
                                        <p:cTn id="87" dur="500"/>
                                        <p:tgtEl>
                                          <p:spTgt spid="44"/>
                                        </p:tgtEl>
                                      </p:cBhvr>
                                    </p:animEffect>
                                  </p:childTnLst>
                                </p:cTn>
                              </p:par>
                            </p:childTnLst>
                          </p:cTn>
                        </p:par>
                        <p:par>
                          <p:cTn id="88" fill="hold">
                            <p:stCondLst>
                              <p:cond delay="19500"/>
                            </p:stCondLst>
                            <p:childTnLst>
                              <p:par>
                                <p:cTn id="89" presetID="10" presetClass="entr" presetSubtype="0" fill="hold" grpId="0" nodeType="afterEffect">
                                  <p:stCondLst>
                                    <p:cond delay="0"/>
                                  </p:stCondLst>
                                  <p:childTnLst>
                                    <p:set>
                                      <p:cBhvr>
                                        <p:cTn id="90" dur="1" fill="hold">
                                          <p:stCondLst>
                                            <p:cond delay="0"/>
                                          </p:stCondLst>
                                        </p:cTn>
                                        <p:tgtEl>
                                          <p:spTgt spid="45"/>
                                        </p:tgtEl>
                                        <p:attrNameLst>
                                          <p:attrName>style.visibility</p:attrName>
                                        </p:attrNameLst>
                                      </p:cBhvr>
                                      <p:to>
                                        <p:strVal val="visible"/>
                                      </p:to>
                                    </p:set>
                                    <p:animEffect transition="in" filter="fade">
                                      <p:cBhvr>
                                        <p:cTn id="91"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P spid="13" grpId="0" animBg="1"/>
      <p:bldP spid="14" grpId="0" animBg="1"/>
      <p:bldP spid="15" grpId="0" animBg="1"/>
      <p:bldP spid="16" grpId="0" animBg="1"/>
      <p:bldP spid="24" grpId="0" animBg="1"/>
      <p:bldP spid="31" grpId="0" animBg="1"/>
      <p:bldP spid="32" grpId="0" animBg="1"/>
      <p:bldP spid="33" grpId="0" animBg="1"/>
      <p:bldP spid="34" grpId="0" animBg="1"/>
      <p:bldP spid="35" grpId="0" animBg="1"/>
      <p:bldP spid="36" grpId="0" animBg="1"/>
      <p:bldP spid="40" grpId="0" animBg="1"/>
      <p:bldP spid="41" grpId="0" animBg="1"/>
      <p:bldP spid="42" grpId="0" animBg="1"/>
      <p:bldP spid="43" grpId="0" animBg="1"/>
      <p:bldP spid="44" grpId="0" animBg="1"/>
      <p:bldP spid="45"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7CAB2B86-4E3B-C98C-411E-958BEFE187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2528" y="6154887"/>
            <a:ext cx="2234242" cy="525923"/>
          </a:xfrm>
          <a:prstGeom prst="rect">
            <a:avLst/>
          </a:prstGeom>
        </p:spPr>
      </p:pic>
      <p:pic>
        <p:nvPicPr>
          <p:cNvPr id="4" name="Picture 4" descr="Ellucian Student Reseñas 2026: Detalles, Precios y Características | G2">
            <a:extLst>
              <a:ext uri="{FF2B5EF4-FFF2-40B4-BE49-F238E27FC236}">
                <a16:creationId xmlns:a16="http://schemas.microsoft.com/office/drawing/2014/main" id="{7352B780-8C7C-7B91-F3EE-5E6EF2C2E4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98101" y="5901780"/>
            <a:ext cx="1821371" cy="956220"/>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0AEBA78F-8C98-5D4D-384F-95B753FFADE4}"/>
              </a:ext>
            </a:extLst>
          </p:cNvPr>
          <p:cNvSpPr txBox="1"/>
          <p:nvPr/>
        </p:nvSpPr>
        <p:spPr>
          <a:xfrm>
            <a:off x="431320" y="241540"/>
            <a:ext cx="6785832" cy="523220"/>
          </a:xfrm>
          <a:prstGeom prst="rect">
            <a:avLst/>
          </a:prstGeom>
          <a:noFill/>
        </p:spPr>
        <p:txBody>
          <a:bodyPr wrap="none" rtlCol="0">
            <a:spAutoFit/>
          </a:bodyPr>
          <a:lstStyle/>
          <a:p>
            <a:r>
              <a:rPr lang="es-ES" sz="2800" b="1" dirty="0">
                <a:latin typeface="Montserrat" pitchFamily="2" charset="0"/>
              </a:rPr>
              <a:t>CONTROL DE PERIODO - SOATERM</a:t>
            </a:r>
            <a:endParaRPr lang="es-PE" sz="2800" b="1" dirty="0">
              <a:latin typeface="Montserrat" pitchFamily="2" charset="0"/>
            </a:endParaRPr>
          </a:p>
        </p:txBody>
      </p:sp>
      <p:sp>
        <p:nvSpPr>
          <p:cNvPr id="8" name="Rectángulo 7">
            <a:extLst>
              <a:ext uri="{FF2B5EF4-FFF2-40B4-BE49-F238E27FC236}">
                <a16:creationId xmlns:a16="http://schemas.microsoft.com/office/drawing/2014/main" id="{A16BCE08-E23C-F264-A6E3-E4019979D2E2}"/>
              </a:ext>
            </a:extLst>
          </p:cNvPr>
          <p:cNvSpPr/>
          <p:nvPr/>
        </p:nvSpPr>
        <p:spPr>
          <a:xfrm>
            <a:off x="7217152" y="241540"/>
            <a:ext cx="4974847" cy="445583"/>
          </a:xfrm>
          <a:prstGeom prst="rect">
            <a:avLst/>
          </a:prstGeom>
          <a:gradFill flip="none" rotWithShape="1">
            <a:gsLst>
              <a:gs pos="0">
                <a:schemeClr val="accent6">
                  <a:lumMod val="0"/>
                  <a:lumOff val="100000"/>
                </a:schemeClr>
              </a:gs>
              <a:gs pos="66000">
                <a:schemeClr val="accent6">
                  <a:lumMod val="100000"/>
                </a:schemeClr>
              </a:gs>
            </a:gsLst>
            <a:lin ang="0" scaled="1"/>
            <a:tileRect/>
          </a:gra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s-PE"/>
          </a:p>
        </p:txBody>
      </p:sp>
      <p:sp>
        <p:nvSpPr>
          <p:cNvPr id="6" name="CuadroTexto 5">
            <a:extLst>
              <a:ext uri="{FF2B5EF4-FFF2-40B4-BE49-F238E27FC236}">
                <a16:creationId xmlns:a16="http://schemas.microsoft.com/office/drawing/2014/main" id="{AC33DC36-253A-547B-7A30-A152C2F6B4CE}"/>
              </a:ext>
            </a:extLst>
          </p:cNvPr>
          <p:cNvSpPr txBox="1"/>
          <p:nvPr/>
        </p:nvSpPr>
        <p:spPr>
          <a:xfrm>
            <a:off x="4528936" y="6386396"/>
            <a:ext cx="3134128" cy="276999"/>
          </a:xfrm>
          <a:prstGeom prst="rect">
            <a:avLst/>
          </a:prstGeom>
          <a:noFill/>
        </p:spPr>
        <p:txBody>
          <a:bodyPr wrap="none" rtlCol="0">
            <a:spAutoFit/>
          </a:bodyPr>
          <a:lstStyle/>
          <a:p>
            <a:pPr algn="ctr"/>
            <a:r>
              <a:rPr lang="es-ES" sz="1200" i="1" dirty="0"/>
              <a:t>Elaborado por: Ing. Liliana Ocampo Moreno</a:t>
            </a:r>
            <a:endParaRPr lang="es-PE" sz="1200" i="1" dirty="0"/>
          </a:p>
        </p:txBody>
      </p:sp>
      <p:pic>
        <p:nvPicPr>
          <p:cNvPr id="9" name="Imagen 8">
            <a:extLst>
              <a:ext uri="{FF2B5EF4-FFF2-40B4-BE49-F238E27FC236}">
                <a16:creationId xmlns:a16="http://schemas.microsoft.com/office/drawing/2014/main" id="{F4809B56-3724-DA3F-8172-E1BF2FFCEACD}"/>
              </a:ext>
            </a:extLst>
          </p:cNvPr>
          <p:cNvPicPr>
            <a:picLocks noChangeAspect="1"/>
          </p:cNvPicPr>
          <p:nvPr/>
        </p:nvPicPr>
        <p:blipFill>
          <a:blip r:embed="rId4"/>
          <a:stretch>
            <a:fillRect/>
          </a:stretch>
        </p:blipFill>
        <p:spPr>
          <a:xfrm>
            <a:off x="436258" y="1042219"/>
            <a:ext cx="11583214" cy="4884779"/>
          </a:xfrm>
          <a:prstGeom prst="rect">
            <a:avLst/>
          </a:prstGeom>
        </p:spPr>
      </p:pic>
      <p:sp>
        <p:nvSpPr>
          <p:cNvPr id="11" name="Rectángulo 10">
            <a:extLst>
              <a:ext uri="{FF2B5EF4-FFF2-40B4-BE49-F238E27FC236}">
                <a16:creationId xmlns:a16="http://schemas.microsoft.com/office/drawing/2014/main" id="{374EA7FC-F041-9BEE-3248-629346CE9AA2}"/>
              </a:ext>
            </a:extLst>
          </p:cNvPr>
          <p:cNvSpPr/>
          <p:nvPr/>
        </p:nvSpPr>
        <p:spPr>
          <a:xfrm>
            <a:off x="7905136" y="1651819"/>
            <a:ext cx="1288026" cy="234423"/>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17" name="CuadroTexto 16">
            <a:extLst>
              <a:ext uri="{FF2B5EF4-FFF2-40B4-BE49-F238E27FC236}">
                <a16:creationId xmlns:a16="http://schemas.microsoft.com/office/drawing/2014/main" id="{AC0801FF-68FC-6615-FC6D-CE6036DE4897}"/>
              </a:ext>
            </a:extLst>
          </p:cNvPr>
          <p:cNvSpPr txBox="1"/>
          <p:nvPr/>
        </p:nvSpPr>
        <p:spPr>
          <a:xfrm>
            <a:off x="4080387" y="1281136"/>
            <a:ext cx="3755410" cy="623381"/>
          </a:xfrm>
          <a:prstGeom prst="roundRect">
            <a:avLst>
              <a:gd name="adj" fmla="val 7573"/>
            </a:avLst>
          </a:prstGeom>
          <a:solidFill>
            <a:srgbClr val="7030A0"/>
          </a:solidFill>
        </p:spPr>
        <p:txBody>
          <a:bodyPr wrap="square">
            <a:spAutoFit/>
          </a:bodyPr>
          <a:lstStyle/>
          <a:p>
            <a:pPr algn="ctr"/>
            <a:r>
              <a:rPr lang="es-ES" sz="1100" dirty="0">
                <a:solidFill>
                  <a:srgbClr val="FFFFFF"/>
                </a:solidFill>
              </a:rPr>
              <a:t>En la pestaña </a:t>
            </a:r>
            <a:r>
              <a:rPr lang="es-ES" sz="1100" b="1" dirty="0">
                <a:solidFill>
                  <a:srgbClr val="92D050"/>
                </a:solidFill>
              </a:rPr>
              <a:t>Inscripción proyectada</a:t>
            </a:r>
            <a:r>
              <a:rPr lang="es-ES" sz="1100" dirty="0">
                <a:solidFill>
                  <a:srgbClr val="FFFFFF"/>
                </a:solidFill>
              </a:rPr>
              <a:t> se deben configurar para habilitar las proyecciones en el autoservicio del estudiante, para que puedan realizar su matrícula.</a:t>
            </a:r>
            <a:endParaRPr lang="es-ES" b="1" dirty="0">
              <a:solidFill>
                <a:srgbClr val="92D050"/>
              </a:solidFill>
              <a:effectLst/>
            </a:endParaRPr>
          </a:p>
        </p:txBody>
      </p:sp>
      <p:sp>
        <p:nvSpPr>
          <p:cNvPr id="18" name="Rectángulo 17">
            <a:extLst>
              <a:ext uri="{FF2B5EF4-FFF2-40B4-BE49-F238E27FC236}">
                <a16:creationId xmlns:a16="http://schemas.microsoft.com/office/drawing/2014/main" id="{D1A03CD7-279B-8E96-7DEE-0D6F956EC8F7}"/>
              </a:ext>
            </a:extLst>
          </p:cNvPr>
          <p:cNvSpPr/>
          <p:nvPr/>
        </p:nvSpPr>
        <p:spPr>
          <a:xfrm>
            <a:off x="431320" y="2089355"/>
            <a:ext cx="11324422" cy="406487"/>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19" name="CuadroTexto 18">
            <a:extLst>
              <a:ext uri="{FF2B5EF4-FFF2-40B4-BE49-F238E27FC236}">
                <a16:creationId xmlns:a16="http://schemas.microsoft.com/office/drawing/2014/main" id="{9F51C8EC-E05E-CC8D-39EF-6C1D007FDF98}"/>
              </a:ext>
            </a:extLst>
          </p:cNvPr>
          <p:cNvSpPr txBox="1"/>
          <p:nvPr/>
        </p:nvSpPr>
        <p:spPr>
          <a:xfrm>
            <a:off x="1556486" y="2596857"/>
            <a:ext cx="9342757" cy="775231"/>
          </a:xfrm>
          <a:prstGeom prst="roundRect">
            <a:avLst>
              <a:gd name="adj" fmla="val 7573"/>
            </a:avLst>
          </a:prstGeom>
          <a:solidFill>
            <a:srgbClr val="7030A0"/>
          </a:solidFill>
        </p:spPr>
        <p:txBody>
          <a:bodyPr wrap="square">
            <a:spAutoFit/>
          </a:bodyPr>
          <a:lstStyle/>
          <a:p>
            <a:pPr lvl="0">
              <a:defRPr/>
            </a:pPr>
            <a:r>
              <a:rPr lang="es-ES_tradnl" sz="1050" b="1" dirty="0">
                <a:solidFill>
                  <a:srgbClr val="92D050"/>
                </a:solidFill>
              </a:rPr>
              <a:t>Restricciones:</a:t>
            </a:r>
          </a:p>
          <a:p>
            <a:pPr marL="171450" indent="-171450">
              <a:buFont typeface="Arial" panose="020B0604020202020204" pitchFamily="34" charset="0"/>
              <a:buChar char="•"/>
              <a:defRPr/>
            </a:pPr>
            <a:r>
              <a:rPr lang="es-ES_tradnl" sz="1050" b="1" dirty="0">
                <a:solidFill>
                  <a:srgbClr val="92D050"/>
                </a:solidFill>
              </a:rPr>
              <a:t>Período abierto para proyecciones en autoservicio:</a:t>
            </a:r>
            <a:r>
              <a:rPr lang="es-ES_tradnl" sz="1050" dirty="0">
                <a:solidFill>
                  <a:srgbClr val="FFFFFF"/>
                </a:solidFill>
              </a:rPr>
              <a:t> Se debe activar para que las proyecciones se desplieguen en las inscripciones en línea. </a:t>
            </a:r>
            <a:r>
              <a:rPr lang="es-ES_tradnl" sz="1050" b="1" dirty="0">
                <a:solidFill>
                  <a:srgbClr val="FFFFFF"/>
                </a:solidFill>
              </a:rPr>
              <a:t>Marcar.</a:t>
            </a:r>
          </a:p>
          <a:p>
            <a:pPr marL="171450" indent="-171450">
              <a:buFont typeface="Arial" panose="020B0604020202020204" pitchFamily="34" charset="0"/>
              <a:buChar char="•"/>
              <a:defRPr/>
            </a:pPr>
            <a:r>
              <a:rPr lang="es-ES_tradnl" sz="1050" b="1" dirty="0">
                <a:solidFill>
                  <a:srgbClr val="92D050"/>
                </a:solidFill>
              </a:rPr>
              <a:t>Restringir a cursos proyectados:</a:t>
            </a:r>
            <a:r>
              <a:rPr lang="es-ES_tradnl" sz="1050" dirty="0">
                <a:solidFill>
                  <a:srgbClr val="FFFFFF"/>
                </a:solidFill>
              </a:rPr>
              <a:t> si se va a permitir al estudiante inscribir asignaturas adicionales a las proyectadas, no lo active. </a:t>
            </a:r>
            <a:r>
              <a:rPr lang="es-ES_tradnl" sz="1050" b="1" dirty="0">
                <a:solidFill>
                  <a:srgbClr val="FFFFFF"/>
                </a:solidFill>
              </a:rPr>
              <a:t>Marcar.</a:t>
            </a:r>
            <a:endParaRPr lang="es-ES_tradnl" sz="1050" dirty="0">
              <a:solidFill>
                <a:srgbClr val="FFFFFF"/>
              </a:solidFill>
            </a:endParaRPr>
          </a:p>
          <a:p>
            <a:pPr marL="171450" indent="-171450">
              <a:buFont typeface="Arial" panose="020B0604020202020204" pitchFamily="34" charset="0"/>
              <a:buChar char="•"/>
              <a:defRPr/>
            </a:pPr>
            <a:r>
              <a:rPr lang="es-ES_tradnl" sz="1050" b="1" dirty="0">
                <a:solidFill>
                  <a:srgbClr val="92D050"/>
                </a:solidFill>
              </a:rPr>
              <a:t>Restringir a proyecciones nulas:</a:t>
            </a:r>
            <a:r>
              <a:rPr lang="es-ES_tradnl" sz="1050" dirty="0">
                <a:solidFill>
                  <a:srgbClr val="FFFFFF"/>
                </a:solidFill>
              </a:rPr>
              <a:t> si está activo, no se permite la inscripción si la proyección del estudiante no da resultados. </a:t>
            </a:r>
            <a:r>
              <a:rPr lang="es-ES_tradnl" sz="1050" b="1" dirty="0">
                <a:solidFill>
                  <a:srgbClr val="FFFFFF"/>
                </a:solidFill>
              </a:rPr>
              <a:t>Marcar.</a:t>
            </a:r>
            <a:endParaRPr lang="es-ES" b="1" dirty="0">
              <a:solidFill>
                <a:srgbClr val="92D050"/>
              </a:solidFill>
              <a:effectLst/>
            </a:endParaRPr>
          </a:p>
        </p:txBody>
      </p:sp>
      <p:sp>
        <p:nvSpPr>
          <p:cNvPr id="20" name="Rectángulo: esquinas redondeadas 19">
            <a:extLst>
              <a:ext uri="{FF2B5EF4-FFF2-40B4-BE49-F238E27FC236}">
                <a16:creationId xmlns:a16="http://schemas.microsoft.com/office/drawing/2014/main" id="{48A874DD-2DEE-CB1B-AAD9-7791AD846C4E}"/>
              </a:ext>
            </a:extLst>
          </p:cNvPr>
          <p:cNvSpPr/>
          <p:nvPr/>
        </p:nvSpPr>
        <p:spPr>
          <a:xfrm>
            <a:off x="1230527" y="2615989"/>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s-ES" sz="1100" b="1" dirty="0"/>
              <a:t>1</a:t>
            </a:r>
            <a:endParaRPr lang="es-PE" sz="1100" b="1" dirty="0"/>
          </a:p>
        </p:txBody>
      </p:sp>
    </p:spTree>
    <p:extLst>
      <p:ext uri="{BB962C8B-B14F-4D97-AF65-F5344CB8AC3E}">
        <p14:creationId xmlns:p14="http://schemas.microsoft.com/office/powerpoint/2010/main" val="4019699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left)">
                                      <p:cBhvr>
                                        <p:cTn id="10" dur="500"/>
                                        <p:tgtEl>
                                          <p:spTgt spid="8"/>
                                        </p:tgtEl>
                                      </p:cBhvr>
                                    </p:animEffect>
                                  </p:childTnLst>
                                </p:cTn>
                              </p:par>
                            </p:childTnLst>
                          </p:cTn>
                        </p:par>
                        <p:par>
                          <p:cTn id="11" fill="hold">
                            <p:stCondLst>
                              <p:cond delay="500"/>
                            </p:stCondLst>
                            <p:childTnLst>
                              <p:par>
                                <p:cTn id="12" presetID="9" presetClass="entr" presetSubtype="0" fill="hold" nodeType="after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dissolve">
                                      <p:cBhvr>
                                        <p:cTn id="14" dur="500"/>
                                        <p:tgtEl>
                                          <p:spTgt spid="9"/>
                                        </p:tgtEl>
                                      </p:cBhvr>
                                    </p:animEffect>
                                  </p:childTnLst>
                                </p:cTn>
                              </p:par>
                            </p:childTnLst>
                          </p:cTn>
                        </p:par>
                        <p:par>
                          <p:cTn id="15" fill="hold">
                            <p:stCondLst>
                              <p:cond delay="1000"/>
                            </p:stCondLst>
                            <p:childTnLst>
                              <p:par>
                                <p:cTn id="16" presetID="21" presetClass="entr" presetSubtype="1" fill="hold" grpId="0" nodeType="after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wheel(1)">
                                      <p:cBhvr>
                                        <p:cTn id="18" dur="2000"/>
                                        <p:tgtEl>
                                          <p:spTgt spid="11"/>
                                        </p:tgtEl>
                                      </p:cBhvr>
                                    </p:animEffect>
                                  </p:childTnLst>
                                </p:cTn>
                              </p:par>
                            </p:childTnLst>
                          </p:cTn>
                        </p:par>
                        <p:par>
                          <p:cTn id="19" fill="hold">
                            <p:stCondLst>
                              <p:cond delay="3000"/>
                            </p:stCondLst>
                            <p:childTnLst>
                              <p:par>
                                <p:cTn id="20" presetID="10" presetClass="entr" presetSubtype="0" fill="hold" grpId="0" nodeType="after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500"/>
                                        <p:tgtEl>
                                          <p:spTgt spid="17"/>
                                        </p:tgtEl>
                                      </p:cBhvr>
                                    </p:animEffect>
                                  </p:childTnLst>
                                </p:cTn>
                              </p:par>
                            </p:childTnLst>
                          </p:cTn>
                        </p:par>
                        <p:par>
                          <p:cTn id="23" fill="hold">
                            <p:stCondLst>
                              <p:cond delay="3500"/>
                            </p:stCondLst>
                            <p:childTnLst>
                              <p:par>
                                <p:cTn id="24" presetID="21" presetClass="entr" presetSubtype="1" fill="hold" grpId="0" nodeType="after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wheel(1)">
                                      <p:cBhvr>
                                        <p:cTn id="26" dur="2000"/>
                                        <p:tgtEl>
                                          <p:spTgt spid="18"/>
                                        </p:tgtEl>
                                      </p:cBhvr>
                                    </p:animEffect>
                                  </p:childTnLst>
                                </p:cTn>
                              </p:par>
                            </p:childTnLst>
                          </p:cTn>
                        </p:par>
                        <p:par>
                          <p:cTn id="27" fill="hold">
                            <p:stCondLst>
                              <p:cond delay="5500"/>
                            </p:stCondLst>
                            <p:childTnLst>
                              <p:par>
                                <p:cTn id="28" presetID="10" presetClass="entr" presetSubtype="0" fill="hold" grpId="0" nodeType="after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500"/>
                                        <p:tgtEl>
                                          <p:spTgt spid="19"/>
                                        </p:tgtEl>
                                      </p:cBhvr>
                                    </p:animEffect>
                                  </p:childTnLst>
                                </p:cTn>
                              </p:par>
                            </p:childTnLst>
                          </p:cTn>
                        </p:par>
                        <p:par>
                          <p:cTn id="31" fill="hold">
                            <p:stCondLst>
                              <p:cond delay="6000"/>
                            </p:stCondLst>
                            <p:childTnLst>
                              <p:par>
                                <p:cTn id="32" presetID="53" presetClass="entr" presetSubtype="16" fill="hold" grpId="0" nodeType="afterEffect">
                                  <p:stCondLst>
                                    <p:cond delay="0"/>
                                  </p:stCondLst>
                                  <p:childTnLst>
                                    <p:set>
                                      <p:cBhvr>
                                        <p:cTn id="33" dur="1" fill="hold">
                                          <p:stCondLst>
                                            <p:cond delay="0"/>
                                          </p:stCondLst>
                                        </p:cTn>
                                        <p:tgtEl>
                                          <p:spTgt spid="20"/>
                                        </p:tgtEl>
                                        <p:attrNameLst>
                                          <p:attrName>style.visibility</p:attrName>
                                        </p:attrNameLst>
                                      </p:cBhvr>
                                      <p:to>
                                        <p:strVal val="visible"/>
                                      </p:to>
                                    </p:set>
                                    <p:anim calcmode="lin" valueType="num">
                                      <p:cBhvr>
                                        <p:cTn id="34" dur="500" fill="hold"/>
                                        <p:tgtEl>
                                          <p:spTgt spid="20"/>
                                        </p:tgtEl>
                                        <p:attrNameLst>
                                          <p:attrName>ppt_w</p:attrName>
                                        </p:attrNameLst>
                                      </p:cBhvr>
                                      <p:tavLst>
                                        <p:tav tm="0">
                                          <p:val>
                                            <p:fltVal val="0"/>
                                          </p:val>
                                        </p:tav>
                                        <p:tav tm="100000">
                                          <p:val>
                                            <p:strVal val="#ppt_w"/>
                                          </p:val>
                                        </p:tav>
                                      </p:tavLst>
                                    </p:anim>
                                    <p:anim calcmode="lin" valueType="num">
                                      <p:cBhvr>
                                        <p:cTn id="35" dur="500" fill="hold"/>
                                        <p:tgtEl>
                                          <p:spTgt spid="20"/>
                                        </p:tgtEl>
                                        <p:attrNameLst>
                                          <p:attrName>ppt_h</p:attrName>
                                        </p:attrNameLst>
                                      </p:cBhvr>
                                      <p:tavLst>
                                        <p:tav tm="0">
                                          <p:val>
                                            <p:fltVal val="0"/>
                                          </p:val>
                                        </p:tav>
                                        <p:tav tm="100000">
                                          <p:val>
                                            <p:strVal val="#ppt_h"/>
                                          </p:val>
                                        </p:tav>
                                      </p:tavLst>
                                    </p:anim>
                                    <p:animEffect transition="in" filter="fade">
                                      <p:cBhvr>
                                        <p:cTn id="36"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11" grpId="0" animBg="1"/>
      <p:bldP spid="17" grpId="0" animBg="1"/>
      <p:bldP spid="18" grpId="0" animBg="1"/>
      <p:bldP spid="19" grpId="0" animBg="1"/>
      <p:bldP spid="20"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7CAB2B86-4E3B-C98C-411E-958BEFE187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2528" y="6154887"/>
            <a:ext cx="2234242" cy="525923"/>
          </a:xfrm>
          <a:prstGeom prst="rect">
            <a:avLst/>
          </a:prstGeom>
        </p:spPr>
      </p:pic>
      <p:pic>
        <p:nvPicPr>
          <p:cNvPr id="4" name="Picture 4" descr="Ellucian Student Reseñas 2026: Detalles, Precios y Características | G2">
            <a:extLst>
              <a:ext uri="{FF2B5EF4-FFF2-40B4-BE49-F238E27FC236}">
                <a16:creationId xmlns:a16="http://schemas.microsoft.com/office/drawing/2014/main" id="{7352B780-8C7C-7B91-F3EE-5E6EF2C2E4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98101" y="5901780"/>
            <a:ext cx="1821371" cy="956220"/>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0AEBA78F-8C98-5D4D-384F-95B753FFADE4}"/>
              </a:ext>
            </a:extLst>
          </p:cNvPr>
          <p:cNvSpPr txBox="1"/>
          <p:nvPr/>
        </p:nvSpPr>
        <p:spPr>
          <a:xfrm>
            <a:off x="431320" y="241540"/>
            <a:ext cx="6785832" cy="523220"/>
          </a:xfrm>
          <a:prstGeom prst="rect">
            <a:avLst/>
          </a:prstGeom>
          <a:noFill/>
        </p:spPr>
        <p:txBody>
          <a:bodyPr wrap="none" rtlCol="0">
            <a:spAutoFit/>
          </a:bodyPr>
          <a:lstStyle/>
          <a:p>
            <a:r>
              <a:rPr lang="es-ES" sz="2800" b="1" dirty="0">
                <a:latin typeface="Montserrat" pitchFamily="2" charset="0"/>
              </a:rPr>
              <a:t>CONTROL DE PERIODO - SOATERM</a:t>
            </a:r>
            <a:endParaRPr lang="es-PE" sz="2800" b="1" dirty="0">
              <a:latin typeface="Montserrat" pitchFamily="2" charset="0"/>
            </a:endParaRPr>
          </a:p>
        </p:txBody>
      </p:sp>
      <p:sp>
        <p:nvSpPr>
          <p:cNvPr id="8" name="Rectángulo 7">
            <a:extLst>
              <a:ext uri="{FF2B5EF4-FFF2-40B4-BE49-F238E27FC236}">
                <a16:creationId xmlns:a16="http://schemas.microsoft.com/office/drawing/2014/main" id="{A16BCE08-E23C-F264-A6E3-E4019979D2E2}"/>
              </a:ext>
            </a:extLst>
          </p:cNvPr>
          <p:cNvSpPr/>
          <p:nvPr/>
        </p:nvSpPr>
        <p:spPr>
          <a:xfrm>
            <a:off x="7217152" y="241540"/>
            <a:ext cx="4974847" cy="445583"/>
          </a:xfrm>
          <a:prstGeom prst="rect">
            <a:avLst/>
          </a:prstGeom>
          <a:gradFill flip="none" rotWithShape="1">
            <a:gsLst>
              <a:gs pos="0">
                <a:schemeClr val="accent6">
                  <a:lumMod val="0"/>
                  <a:lumOff val="100000"/>
                </a:schemeClr>
              </a:gs>
              <a:gs pos="66000">
                <a:schemeClr val="accent6">
                  <a:lumMod val="100000"/>
                </a:schemeClr>
              </a:gs>
            </a:gsLst>
            <a:lin ang="0" scaled="1"/>
            <a:tileRect/>
          </a:gra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s-PE"/>
          </a:p>
        </p:txBody>
      </p:sp>
      <p:sp>
        <p:nvSpPr>
          <p:cNvPr id="6" name="CuadroTexto 5">
            <a:extLst>
              <a:ext uri="{FF2B5EF4-FFF2-40B4-BE49-F238E27FC236}">
                <a16:creationId xmlns:a16="http://schemas.microsoft.com/office/drawing/2014/main" id="{AC33DC36-253A-547B-7A30-A152C2F6B4CE}"/>
              </a:ext>
            </a:extLst>
          </p:cNvPr>
          <p:cNvSpPr txBox="1"/>
          <p:nvPr/>
        </p:nvSpPr>
        <p:spPr>
          <a:xfrm>
            <a:off x="4528936" y="6386396"/>
            <a:ext cx="3134128" cy="276999"/>
          </a:xfrm>
          <a:prstGeom prst="rect">
            <a:avLst/>
          </a:prstGeom>
          <a:noFill/>
        </p:spPr>
        <p:txBody>
          <a:bodyPr wrap="none" rtlCol="0">
            <a:spAutoFit/>
          </a:bodyPr>
          <a:lstStyle/>
          <a:p>
            <a:pPr algn="ctr"/>
            <a:r>
              <a:rPr lang="es-ES" sz="1200" i="1" dirty="0"/>
              <a:t>Elaborado por: Ing. Liliana Ocampo Moreno</a:t>
            </a:r>
            <a:endParaRPr lang="es-PE" sz="1200" i="1" dirty="0"/>
          </a:p>
        </p:txBody>
      </p:sp>
      <p:pic>
        <p:nvPicPr>
          <p:cNvPr id="9" name="Imagen 8">
            <a:extLst>
              <a:ext uri="{FF2B5EF4-FFF2-40B4-BE49-F238E27FC236}">
                <a16:creationId xmlns:a16="http://schemas.microsoft.com/office/drawing/2014/main" id="{F4809B56-3724-DA3F-8172-E1BF2FFCEACD}"/>
              </a:ext>
            </a:extLst>
          </p:cNvPr>
          <p:cNvPicPr>
            <a:picLocks noChangeAspect="1"/>
          </p:cNvPicPr>
          <p:nvPr/>
        </p:nvPicPr>
        <p:blipFill>
          <a:blip r:embed="rId4"/>
          <a:stretch>
            <a:fillRect/>
          </a:stretch>
        </p:blipFill>
        <p:spPr>
          <a:xfrm>
            <a:off x="436258" y="1042219"/>
            <a:ext cx="11583214" cy="4884779"/>
          </a:xfrm>
          <a:prstGeom prst="rect">
            <a:avLst/>
          </a:prstGeom>
        </p:spPr>
      </p:pic>
      <p:sp>
        <p:nvSpPr>
          <p:cNvPr id="18" name="Rectángulo 17">
            <a:extLst>
              <a:ext uri="{FF2B5EF4-FFF2-40B4-BE49-F238E27FC236}">
                <a16:creationId xmlns:a16="http://schemas.microsoft.com/office/drawing/2014/main" id="{D1A03CD7-279B-8E96-7DEE-0D6F956EC8F7}"/>
              </a:ext>
            </a:extLst>
          </p:cNvPr>
          <p:cNvSpPr/>
          <p:nvPr/>
        </p:nvSpPr>
        <p:spPr>
          <a:xfrm>
            <a:off x="433789" y="2408904"/>
            <a:ext cx="11324422" cy="2074606"/>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19" name="CuadroTexto 18">
            <a:extLst>
              <a:ext uri="{FF2B5EF4-FFF2-40B4-BE49-F238E27FC236}">
                <a16:creationId xmlns:a16="http://schemas.microsoft.com/office/drawing/2014/main" id="{9F51C8EC-E05E-CC8D-39EF-6C1D007FDF98}"/>
              </a:ext>
            </a:extLst>
          </p:cNvPr>
          <p:cNvSpPr txBox="1"/>
          <p:nvPr/>
        </p:nvSpPr>
        <p:spPr>
          <a:xfrm>
            <a:off x="1588452" y="4569510"/>
            <a:ext cx="9342757" cy="935072"/>
          </a:xfrm>
          <a:prstGeom prst="roundRect">
            <a:avLst>
              <a:gd name="adj" fmla="val 7573"/>
            </a:avLst>
          </a:prstGeom>
          <a:solidFill>
            <a:srgbClr val="7030A0"/>
          </a:solidFill>
        </p:spPr>
        <p:txBody>
          <a:bodyPr wrap="square">
            <a:spAutoFit/>
          </a:bodyPr>
          <a:lstStyle/>
          <a:p>
            <a:pPr lvl="0">
              <a:defRPr/>
            </a:pPr>
            <a:r>
              <a:rPr lang="es-ES_tradnl" sz="1050" b="1" dirty="0">
                <a:solidFill>
                  <a:srgbClr val="92D050"/>
                </a:solidFill>
              </a:rPr>
              <a:t>Proyección de alumno:</a:t>
            </a:r>
          </a:p>
          <a:p>
            <a:pPr marL="171450" indent="-171450">
              <a:buFont typeface="Arial" panose="020B0604020202020204" pitchFamily="34" charset="0"/>
              <a:buChar char="•"/>
              <a:defRPr/>
            </a:pPr>
            <a:r>
              <a:rPr lang="es-ES" sz="1050" b="1" dirty="0">
                <a:solidFill>
                  <a:srgbClr val="92D050"/>
                </a:solidFill>
              </a:rPr>
              <a:t>Incluir cursos proyectados en proyecciones de alumno: </a:t>
            </a:r>
            <a:r>
              <a:rPr lang="es-ES" sz="1050" b="1" dirty="0">
                <a:solidFill>
                  <a:schemeClr val="bg1"/>
                </a:solidFill>
              </a:rPr>
              <a:t>debe estar activo.</a:t>
            </a:r>
          </a:p>
          <a:p>
            <a:pPr marL="171450" indent="-171450">
              <a:buFont typeface="Arial" panose="020B0604020202020204" pitchFamily="34" charset="0"/>
              <a:buChar char="•"/>
              <a:defRPr/>
            </a:pPr>
            <a:r>
              <a:rPr lang="es-ES" sz="1050" b="1" dirty="0">
                <a:solidFill>
                  <a:srgbClr val="92D050"/>
                </a:solidFill>
              </a:rPr>
              <a:t>Marcar cursos reprobados como más probables: </a:t>
            </a:r>
            <a:r>
              <a:rPr lang="es-ES" sz="1050" b="1" dirty="0">
                <a:solidFill>
                  <a:schemeClr val="bg1"/>
                </a:solidFill>
              </a:rPr>
              <a:t>debe estar activo.</a:t>
            </a:r>
          </a:p>
          <a:p>
            <a:pPr marL="171450" indent="-171450">
              <a:buFont typeface="Arial" panose="020B0604020202020204" pitchFamily="34" charset="0"/>
              <a:buChar char="•"/>
              <a:defRPr/>
            </a:pPr>
            <a:r>
              <a:rPr lang="es-ES" sz="1050" b="1" dirty="0">
                <a:solidFill>
                  <a:srgbClr val="92D050"/>
                </a:solidFill>
              </a:rPr>
              <a:t>Obligatorio activo: </a:t>
            </a:r>
            <a:r>
              <a:rPr lang="es-ES" sz="1050" b="1" dirty="0">
                <a:solidFill>
                  <a:schemeClr val="bg1"/>
                </a:solidFill>
              </a:rPr>
              <a:t>debe estar marcado.</a:t>
            </a:r>
          </a:p>
          <a:p>
            <a:pPr marL="171450" indent="-171450">
              <a:buFont typeface="Arial" panose="020B0604020202020204" pitchFamily="34" charset="0"/>
              <a:buChar char="•"/>
              <a:defRPr/>
            </a:pPr>
            <a:r>
              <a:rPr lang="es-ES" sz="1050" b="1" dirty="0">
                <a:solidFill>
                  <a:srgbClr val="92D050"/>
                </a:solidFill>
              </a:rPr>
              <a:t>Electivo activo: </a:t>
            </a:r>
            <a:r>
              <a:rPr lang="es-ES" sz="1050" b="1" dirty="0">
                <a:solidFill>
                  <a:schemeClr val="bg1"/>
                </a:solidFill>
              </a:rPr>
              <a:t>debe estar marcado.</a:t>
            </a:r>
            <a:endParaRPr lang="es-ES" b="1" dirty="0">
              <a:solidFill>
                <a:schemeClr val="bg1"/>
              </a:solidFill>
              <a:effectLst/>
            </a:endParaRPr>
          </a:p>
        </p:txBody>
      </p:sp>
      <p:sp>
        <p:nvSpPr>
          <p:cNvPr id="20" name="Rectángulo: esquinas redondeadas 19">
            <a:extLst>
              <a:ext uri="{FF2B5EF4-FFF2-40B4-BE49-F238E27FC236}">
                <a16:creationId xmlns:a16="http://schemas.microsoft.com/office/drawing/2014/main" id="{48A874DD-2DEE-CB1B-AAD9-7791AD846C4E}"/>
              </a:ext>
            </a:extLst>
          </p:cNvPr>
          <p:cNvSpPr/>
          <p:nvPr/>
        </p:nvSpPr>
        <p:spPr>
          <a:xfrm>
            <a:off x="1262493" y="4588642"/>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s-ES" sz="1100" b="1" dirty="0"/>
              <a:t>2</a:t>
            </a:r>
            <a:endParaRPr lang="es-PE" sz="1100" b="1" dirty="0"/>
          </a:p>
        </p:txBody>
      </p:sp>
      <p:sp>
        <p:nvSpPr>
          <p:cNvPr id="2" name="Rectángulo 1">
            <a:extLst>
              <a:ext uri="{FF2B5EF4-FFF2-40B4-BE49-F238E27FC236}">
                <a16:creationId xmlns:a16="http://schemas.microsoft.com/office/drawing/2014/main" id="{58D82D23-2D90-EF6B-7D68-704302F00581}"/>
              </a:ext>
            </a:extLst>
          </p:cNvPr>
          <p:cNvSpPr/>
          <p:nvPr/>
        </p:nvSpPr>
        <p:spPr>
          <a:xfrm>
            <a:off x="11369544" y="5502197"/>
            <a:ext cx="684363" cy="347998"/>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5" name="Rectángulo: esquinas redondeadas 4">
            <a:extLst>
              <a:ext uri="{FF2B5EF4-FFF2-40B4-BE49-F238E27FC236}">
                <a16:creationId xmlns:a16="http://schemas.microsoft.com/office/drawing/2014/main" id="{35DA480B-EB40-5983-F7B1-DCA77C0228C7}"/>
              </a:ext>
            </a:extLst>
          </p:cNvPr>
          <p:cNvSpPr/>
          <p:nvPr/>
        </p:nvSpPr>
        <p:spPr>
          <a:xfrm>
            <a:off x="11053241" y="5564053"/>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s-ES" sz="1100" b="1" dirty="0"/>
              <a:t>3</a:t>
            </a:r>
            <a:endParaRPr lang="es-PE" sz="1100" b="1" dirty="0"/>
          </a:p>
        </p:txBody>
      </p:sp>
      <p:sp>
        <p:nvSpPr>
          <p:cNvPr id="10" name="CuadroTexto 9">
            <a:extLst>
              <a:ext uri="{FF2B5EF4-FFF2-40B4-BE49-F238E27FC236}">
                <a16:creationId xmlns:a16="http://schemas.microsoft.com/office/drawing/2014/main" id="{6848A42C-DA2C-0718-E47B-5E4B06C3F63E}"/>
              </a:ext>
            </a:extLst>
          </p:cNvPr>
          <p:cNvSpPr txBox="1"/>
          <p:nvPr/>
        </p:nvSpPr>
        <p:spPr>
          <a:xfrm>
            <a:off x="8160774" y="5556167"/>
            <a:ext cx="2834474" cy="447556"/>
          </a:xfrm>
          <a:prstGeom prst="roundRect">
            <a:avLst>
              <a:gd name="adj" fmla="val 7573"/>
            </a:avLst>
          </a:prstGeom>
          <a:solidFill>
            <a:srgbClr val="7030A0"/>
          </a:solidFill>
        </p:spPr>
        <p:txBody>
          <a:bodyPr wrap="square">
            <a:spAutoFit/>
          </a:bodyPr>
          <a:lstStyle/>
          <a:p>
            <a:pPr algn="ctr"/>
            <a:r>
              <a:rPr lang="es-ES" sz="1100" dirty="0">
                <a:solidFill>
                  <a:srgbClr val="FFFFFF"/>
                </a:solidFill>
              </a:rPr>
              <a:t>Se debe presionar </a:t>
            </a:r>
            <a:r>
              <a:rPr lang="es-ES" sz="1100" b="1" dirty="0">
                <a:solidFill>
                  <a:srgbClr val="92D050"/>
                </a:solidFill>
              </a:rPr>
              <a:t>Guardar</a:t>
            </a:r>
            <a:r>
              <a:rPr lang="es-ES" sz="1100" dirty="0">
                <a:solidFill>
                  <a:srgbClr val="FFFFFF"/>
                </a:solidFill>
              </a:rPr>
              <a:t> para que la información quede registrada en el sistema</a:t>
            </a:r>
          </a:p>
        </p:txBody>
      </p:sp>
    </p:spTree>
    <p:extLst>
      <p:ext uri="{BB962C8B-B14F-4D97-AF65-F5344CB8AC3E}">
        <p14:creationId xmlns:p14="http://schemas.microsoft.com/office/powerpoint/2010/main" val="42729412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heel(1)">
                                      <p:cBhvr>
                                        <p:cTn id="7" dur="2000"/>
                                        <p:tgtEl>
                                          <p:spTgt spid="18"/>
                                        </p:tgtEl>
                                      </p:cBhvr>
                                    </p:animEffect>
                                  </p:childTnLst>
                                </p:cTn>
                              </p:par>
                            </p:childTnLst>
                          </p:cTn>
                        </p:par>
                        <p:par>
                          <p:cTn id="8" fill="hold">
                            <p:stCondLst>
                              <p:cond delay="2000"/>
                            </p:stCondLst>
                            <p:childTnLst>
                              <p:par>
                                <p:cTn id="9" presetID="10" presetClass="entr" presetSubtype="0" fill="hold" grpId="0"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fade">
                                      <p:cBhvr>
                                        <p:cTn id="11" dur="500"/>
                                        <p:tgtEl>
                                          <p:spTgt spid="19"/>
                                        </p:tgtEl>
                                      </p:cBhvr>
                                    </p:animEffect>
                                  </p:childTnLst>
                                </p:cTn>
                              </p:par>
                            </p:childTnLst>
                          </p:cTn>
                        </p:par>
                        <p:par>
                          <p:cTn id="12" fill="hold">
                            <p:stCondLst>
                              <p:cond delay="2500"/>
                            </p:stCondLst>
                            <p:childTnLst>
                              <p:par>
                                <p:cTn id="13" presetID="53" presetClass="entr" presetSubtype="16" fill="hold" grpId="0" nodeType="afterEffect">
                                  <p:stCondLst>
                                    <p:cond delay="0"/>
                                  </p:stCondLst>
                                  <p:childTnLst>
                                    <p:set>
                                      <p:cBhvr>
                                        <p:cTn id="14" dur="1" fill="hold">
                                          <p:stCondLst>
                                            <p:cond delay="0"/>
                                          </p:stCondLst>
                                        </p:cTn>
                                        <p:tgtEl>
                                          <p:spTgt spid="20"/>
                                        </p:tgtEl>
                                        <p:attrNameLst>
                                          <p:attrName>style.visibility</p:attrName>
                                        </p:attrNameLst>
                                      </p:cBhvr>
                                      <p:to>
                                        <p:strVal val="visible"/>
                                      </p:to>
                                    </p:set>
                                    <p:anim calcmode="lin" valueType="num">
                                      <p:cBhvr>
                                        <p:cTn id="15" dur="500" fill="hold"/>
                                        <p:tgtEl>
                                          <p:spTgt spid="20"/>
                                        </p:tgtEl>
                                        <p:attrNameLst>
                                          <p:attrName>ppt_w</p:attrName>
                                        </p:attrNameLst>
                                      </p:cBhvr>
                                      <p:tavLst>
                                        <p:tav tm="0">
                                          <p:val>
                                            <p:fltVal val="0"/>
                                          </p:val>
                                        </p:tav>
                                        <p:tav tm="100000">
                                          <p:val>
                                            <p:strVal val="#ppt_w"/>
                                          </p:val>
                                        </p:tav>
                                      </p:tavLst>
                                    </p:anim>
                                    <p:anim calcmode="lin" valueType="num">
                                      <p:cBhvr>
                                        <p:cTn id="16" dur="500" fill="hold"/>
                                        <p:tgtEl>
                                          <p:spTgt spid="20"/>
                                        </p:tgtEl>
                                        <p:attrNameLst>
                                          <p:attrName>ppt_h</p:attrName>
                                        </p:attrNameLst>
                                      </p:cBhvr>
                                      <p:tavLst>
                                        <p:tav tm="0">
                                          <p:val>
                                            <p:fltVal val="0"/>
                                          </p:val>
                                        </p:tav>
                                        <p:tav tm="100000">
                                          <p:val>
                                            <p:strVal val="#ppt_h"/>
                                          </p:val>
                                        </p:tav>
                                      </p:tavLst>
                                    </p:anim>
                                    <p:animEffect transition="in" filter="fade">
                                      <p:cBhvr>
                                        <p:cTn id="17" dur="500"/>
                                        <p:tgtEl>
                                          <p:spTgt spid="20"/>
                                        </p:tgtEl>
                                      </p:cBhvr>
                                    </p:animEffect>
                                  </p:childTnLst>
                                </p:cTn>
                              </p:par>
                            </p:childTnLst>
                          </p:cTn>
                        </p:par>
                        <p:par>
                          <p:cTn id="18" fill="hold">
                            <p:stCondLst>
                              <p:cond delay="3000"/>
                            </p:stCondLst>
                            <p:childTnLst>
                              <p:par>
                                <p:cTn id="19" presetID="21" presetClass="entr" presetSubtype="1" fill="hold" grpId="0" nodeType="after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wheel(1)">
                                      <p:cBhvr>
                                        <p:cTn id="21" dur="2000"/>
                                        <p:tgtEl>
                                          <p:spTgt spid="2"/>
                                        </p:tgtEl>
                                      </p:cBhvr>
                                    </p:animEffect>
                                  </p:childTnLst>
                                </p:cTn>
                              </p:par>
                            </p:childTnLst>
                          </p:cTn>
                        </p:par>
                        <p:par>
                          <p:cTn id="22" fill="hold">
                            <p:stCondLst>
                              <p:cond delay="5000"/>
                            </p:stCondLst>
                            <p:childTnLst>
                              <p:par>
                                <p:cTn id="23" presetID="53" presetClass="entr" presetSubtype="16" fill="hold" grpId="0" nodeType="after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p:cTn id="25" dur="500" fill="hold"/>
                                        <p:tgtEl>
                                          <p:spTgt spid="5"/>
                                        </p:tgtEl>
                                        <p:attrNameLst>
                                          <p:attrName>ppt_w</p:attrName>
                                        </p:attrNameLst>
                                      </p:cBhvr>
                                      <p:tavLst>
                                        <p:tav tm="0">
                                          <p:val>
                                            <p:fltVal val="0"/>
                                          </p:val>
                                        </p:tav>
                                        <p:tav tm="100000">
                                          <p:val>
                                            <p:strVal val="#ppt_w"/>
                                          </p:val>
                                        </p:tav>
                                      </p:tavLst>
                                    </p:anim>
                                    <p:anim calcmode="lin" valueType="num">
                                      <p:cBhvr>
                                        <p:cTn id="26" dur="500" fill="hold"/>
                                        <p:tgtEl>
                                          <p:spTgt spid="5"/>
                                        </p:tgtEl>
                                        <p:attrNameLst>
                                          <p:attrName>ppt_h</p:attrName>
                                        </p:attrNameLst>
                                      </p:cBhvr>
                                      <p:tavLst>
                                        <p:tav tm="0">
                                          <p:val>
                                            <p:fltVal val="0"/>
                                          </p:val>
                                        </p:tav>
                                        <p:tav tm="100000">
                                          <p:val>
                                            <p:strVal val="#ppt_h"/>
                                          </p:val>
                                        </p:tav>
                                      </p:tavLst>
                                    </p:anim>
                                    <p:animEffect transition="in" filter="fade">
                                      <p:cBhvr>
                                        <p:cTn id="27" dur="500"/>
                                        <p:tgtEl>
                                          <p:spTgt spid="5"/>
                                        </p:tgtEl>
                                      </p:cBhvr>
                                    </p:animEffect>
                                  </p:childTnLst>
                                </p:cTn>
                              </p:par>
                            </p:childTnLst>
                          </p:cTn>
                        </p:par>
                        <p:par>
                          <p:cTn id="28" fill="hold">
                            <p:stCondLst>
                              <p:cond delay="5500"/>
                            </p:stCondLst>
                            <p:childTnLst>
                              <p:par>
                                <p:cTn id="29" presetID="10" presetClass="entr" presetSubtype="0" fill="hold" grpId="0" nodeType="after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0" grpId="0" animBg="1"/>
      <p:bldP spid="2" grpId="0" animBg="1"/>
      <p:bldP spid="5" grpId="0" animBg="1"/>
      <p:bldP spid="10"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5C2193"/>
        </a:solidFill>
        <a:effectLst/>
      </p:bgPr>
    </p:bg>
    <p:spTree>
      <p:nvGrpSpPr>
        <p:cNvPr id="1" name=""/>
        <p:cNvGrpSpPr/>
        <p:nvPr/>
      </p:nvGrpSpPr>
      <p:grpSpPr>
        <a:xfrm>
          <a:off x="0" y="0"/>
          <a:ext cx="0" cy="0"/>
          <a:chOff x="0" y="0"/>
          <a:chExt cx="0" cy="0"/>
        </a:xfrm>
      </p:grpSpPr>
      <p:pic>
        <p:nvPicPr>
          <p:cNvPr id="1028" name="Picture 4" descr="Ellucian Student Reseñas 2026: Detalles, Precios y Características | G2">
            <a:extLst>
              <a:ext uri="{FF2B5EF4-FFF2-40B4-BE49-F238E27FC236}">
                <a16:creationId xmlns:a16="http://schemas.microsoft.com/office/drawing/2014/main" id="{3EBF1EA5-190E-0F8F-B4F4-56B5380AED44}"/>
              </a:ext>
            </a:extLst>
          </p:cNvPr>
          <p:cNvPicPr>
            <a:picLocks noChangeAspect="1" noChangeArrowheads="1"/>
          </p:cNvPicPr>
          <p:nvPr/>
        </p:nvPicPr>
        <p:blipFill>
          <a:blip r:embed="rId2">
            <a:biLevel thresh="25000"/>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8405244" y="5091953"/>
            <a:ext cx="3363899" cy="1766047"/>
          </a:xfrm>
          <a:prstGeom prst="rect">
            <a:avLst/>
          </a:prstGeom>
          <a:noFill/>
          <a:extLst>
            <a:ext uri="{909E8E84-426E-40DD-AFC4-6F175D3DCCD1}">
              <a14:hiddenFill xmlns:a14="http://schemas.microsoft.com/office/drawing/2010/main">
                <a:solidFill>
                  <a:srgbClr val="FFFFFF"/>
                </a:solidFill>
              </a14:hiddenFill>
            </a:ext>
          </a:extLst>
        </p:spPr>
      </p:pic>
      <p:pic>
        <p:nvPicPr>
          <p:cNvPr id="8" name="Imagen 7">
            <a:extLst>
              <a:ext uri="{FF2B5EF4-FFF2-40B4-BE49-F238E27FC236}">
                <a16:creationId xmlns:a16="http://schemas.microsoft.com/office/drawing/2014/main" id="{F3B12AA1-09DB-029E-CEFB-090B28455E75}"/>
              </a:ext>
            </a:extLst>
          </p:cNvPr>
          <p:cNvPicPr>
            <a:picLocks noChangeAspect="1"/>
          </p:cNvPicPr>
          <p:nvPr/>
        </p:nvPicPr>
        <p:blipFill>
          <a:blip r:embed="rId4">
            <a:lum bright="70000" contrast="-70000"/>
            <a:extLst>
              <a:ext uri="{28A0092B-C50C-407E-A947-70E740481C1C}">
                <a14:useLocalDpi xmlns:a14="http://schemas.microsoft.com/office/drawing/2010/main" val="0"/>
              </a:ext>
            </a:extLst>
          </a:blip>
          <a:stretch>
            <a:fillRect/>
          </a:stretch>
        </p:blipFill>
        <p:spPr>
          <a:xfrm>
            <a:off x="596901" y="418320"/>
            <a:ext cx="3688228" cy="868180"/>
          </a:xfrm>
          <a:prstGeom prst="rect">
            <a:avLst/>
          </a:prstGeom>
        </p:spPr>
      </p:pic>
      <p:sp>
        <p:nvSpPr>
          <p:cNvPr id="17" name="CuadroTexto 16">
            <a:extLst>
              <a:ext uri="{FF2B5EF4-FFF2-40B4-BE49-F238E27FC236}">
                <a16:creationId xmlns:a16="http://schemas.microsoft.com/office/drawing/2014/main" id="{D0BC250B-0A63-B351-C809-BDD7940DFA1A}"/>
              </a:ext>
            </a:extLst>
          </p:cNvPr>
          <p:cNvSpPr txBox="1"/>
          <p:nvPr/>
        </p:nvSpPr>
        <p:spPr>
          <a:xfrm>
            <a:off x="997788" y="2951536"/>
            <a:ext cx="10196423" cy="92333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5400" b="1" i="0" u="none" strike="noStrike" kern="1200" cap="none" spc="0" normalizeH="0" baseline="0" noProof="0" dirty="0">
                <a:ln>
                  <a:noFill/>
                </a:ln>
                <a:solidFill>
                  <a:srgbClr val="196B24">
                    <a:lumMod val="60000"/>
                    <a:lumOff val="40000"/>
                  </a:srgbClr>
                </a:solidFill>
                <a:effectLst/>
                <a:uLnTx/>
                <a:uFillTx/>
                <a:latin typeface="Montserrat" pitchFamily="2" charset="0"/>
                <a:ea typeface="+mn-ea"/>
                <a:cs typeface="+mn-cs"/>
              </a:rPr>
              <a:t>DEFINICIÓN DE FERIADOS</a:t>
            </a:r>
            <a:endParaRPr kumimoji="0" lang="es-PE" sz="5400" b="1" i="0" u="none" strike="noStrike" kern="1200" cap="none" spc="0" normalizeH="0" baseline="0" noProof="0" dirty="0">
              <a:ln>
                <a:noFill/>
              </a:ln>
              <a:solidFill>
                <a:srgbClr val="196B24">
                  <a:lumMod val="60000"/>
                  <a:lumOff val="40000"/>
                </a:srgbClr>
              </a:solidFill>
              <a:effectLst/>
              <a:uLnTx/>
              <a:uFillTx/>
              <a:latin typeface="Montserrat" pitchFamily="2" charset="0"/>
              <a:ea typeface="+mn-ea"/>
              <a:cs typeface="+mn-cs"/>
            </a:endParaRPr>
          </a:p>
        </p:txBody>
      </p:sp>
      <p:sp>
        <p:nvSpPr>
          <p:cNvPr id="3" name="CuadroTexto 2">
            <a:extLst>
              <a:ext uri="{FF2B5EF4-FFF2-40B4-BE49-F238E27FC236}">
                <a16:creationId xmlns:a16="http://schemas.microsoft.com/office/drawing/2014/main" id="{3EEB4538-9A01-61FC-2736-55C412E04D72}"/>
              </a:ext>
            </a:extLst>
          </p:cNvPr>
          <p:cNvSpPr txBox="1"/>
          <p:nvPr/>
        </p:nvSpPr>
        <p:spPr>
          <a:xfrm>
            <a:off x="596901" y="6322596"/>
            <a:ext cx="3134128"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200" b="0" i="1" u="none" strike="noStrike" kern="1200" cap="none" spc="0" normalizeH="0" baseline="0" noProof="0" dirty="0">
                <a:ln>
                  <a:noFill/>
                </a:ln>
                <a:solidFill>
                  <a:prstClr val="white"/>
                </a:solidFill>
                <a:effectLst/>
                <a:uLnTx/>
                <a:uFillTx/>
                <a:latin typeface="Aptos" panose="02110004020202020204"/>
                <a:ea typeface="+mn-ea"/>
                <a:cs typeface="+mn-cs"/>
              </a:rPr>
              <a:t>Elaborado por: Ing. Liliana Ocampo Moreno</a:t>
            </a:r>
            <a:endParaRPr kumimoji="0" lang="es-PE" sz="1200" b="0" i="1"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4" name="CuadroTexto 3">
            <a:extLst>
              <a:ext uri="{FF2B5EF4-FFF2-40B4-BE49-F238E27FC236}">
                <a16:creationId xmlns:a16="http://schemas.microsoft.com/office/drawing/2014/main" id="{E1A462EC-C6BC-083C-4144-168320176BC0}"/>
              </a:ext>
            </a:extLst>
          </p:cNvPr>
          <p:cNvSpPr txBox="1"/>
          <p:nvPr/>
        </p:nvSpPr>
        <p:spPr>
          <a:xfrm>
            <a:off x="1198406" y="4319006"/>
            <a:ext cx="10196423"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600" b="0" i="0" u="none" strike="noStrike" kern="1200" cap="none" spc="0" normalizeH="0" baseline="0" noProof="0" dirty="0">
                <a:ln>
                  <a:noFill/>
                </a:ln>
                <a:solidFill>
                  <a:prstClr val="white"/>
                </a:solidFill>
                <a:effectLst/>
                <a:uLnTx/>
                <a:uFillTx/>
                <a:latin typeface="Aptos" panose="02110004020202020204"/>
                <a:ea typeface="+mn-ea"/>
                <a:cs typeface="+mn-cs"/>
              </a:rPr>
              <a:t>Se configuran los días feriados. En dichas fechas no se podrá realizar actividades académicas.</a:t>
            </a:r>
            <a:endParaRPr kumimoji="0" lang="es-PE" sz="16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248315439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70431FD1-0E2F-F710-074A-94287E4D30AB}"/>
              </a:ext>
            </a:extLst>
          </p:cNvPr>
          <p:cNvPicPr>
            <a:picLocks noChangeAspect="1"/>
          </p:cNvPicPr>
          <p:nvPr/>
        </p:nvPicPr>
        <p:blipFill>
          <a:blip r:embed="rId2"/>
          <a:stretch>
            <a:fillRect/>
          </a:stretch>
        </p:blipFill>
        <p:spPr>
          <a:xfrm>
            <a:off x="431320" y="1043871"/>
            <a:ext cx="11433923" cy="4814284"/>
          </a:xfrm>
          <a:prstGeom prst="rect">
            <a:avLst/>
          </a:prstGeom>
        </p:spPr>
      </p:pic>
      <p:pic>
        <p:nvPicPr>
          <p:cNvPr id="3" name="Imagen 2">
            <a:extLst>
              <a:ext uri="{FF2B5EF4-FFF2-40B4-BE49-F238E27FC236}">
                <a16:creationId xmlns:a16="http://schemas.microsoft.com/office/drawing/2014/main" id="{7CAB2B86-4E3B-C98C-411E-958BEFE187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2528" y="6154887"/>
            <a:ext cx="2234242" cy="525923"/>
          </a:xfrm>
          <a:prstGeom prst="rect">
            <a:avLst/>
          </a:prstGeom>
        </p:spPr>
      </p:pic>
      <p:pic>
        <p:nvPicPr>
          <p:cNvPr id="4" name="Picture 4" descr="Ellucian Student Reseñas 2026: Detalles, Precios y Características | G2">
            <a:extLst>
              <a:ext uri="{FF2B5EF4-FFF2-40B4-BE49-F238E27FC236}">
                <a16:creationId xmlns:a16="http://schemas.microsoft.com/office/drawing/2014/main" id="{7352B780-8C7C-7B91-F3EE-5E6EF2C2E46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98101" y="5901780"/>
            <a:ext cx="1821371" cy="956220"/>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0AEBA78F-8C98-5D4D-384F-95B753FFADE4}"/>
              </a:ext>
            </a:extLst>
          </p:cNvPr>
          <p:cNvSpPr txBox="1"/>
          <p:nvPr/>
        </p:nvSpPr>
        <p:spPr>
          <a:xfrm>
            <a:off x="431320" y="241540"/>
            <a:ext cx="9233618" cy="523220"/>
          </a:xfrm>
          <a:prstGeom prst="rect">
            <a:avLst/>
          </a:prstGeom>
          <a:noFill/>
        </p:spPr>
        <p:txBody>
          <a:bodyPr wrap="none" rtlCol="0">
            <a:spAutoFit/>
          </a:bodyPr>
          <a:lstStyle/>
          <a:p>
            <a:r>
              <a:rPr lang="es-ES" sz="2800" b="1" dirty="0">
                <a:latin typeface="Montserrat" pitchFamily="2" charset="0"/>
              </a:rPr>
              <a:t>REGLAS DE EXCLUSIÓN DE HORARIO - SSAEXCL</a:t>
            </a:r>
            <a:endParaRPr lang="es-PE" sz="2800" b="1" dirty="0">
              <a:latin typeface="Montserrat" pitchFamily="2" charset="0"/>
            </a:endParaRPr>
          </a:p>
        </p:txBody>
      </p:sp>
      <p:sp>
        <p:nvSpPr>
          <p:cNvPr id="8" name="Rectángulo 7">
            <a:extLst>
              <a:ext uri="{FF2B5EF4-FFF2-40B4-BE49-F238E27FC236}">
                <a16:creationId xmlns:a16="http://schemas.microsoft.com/office/drawing/2014/main" id="{A16BCE08-E23C-F264-A6E3-E4019979D2E2}"/>
              </a:ext>
            </a:extLst>
          </p:cNvPr>
          <p:cNvSpPr/>
          <p:nvPr/>
        </p:nvSpPr>
        <p:spPr>
          <a:xfrm>
            <a:off x="9664938" y="241540"/>
            <a:ext cx="2527061" cy="445583"/>
          </a:xfrm>
          <a:prstGeom prst="rect">
            <a:avLst/>
          </a:prstGeom>
          <a:gradFill flip="none" rotWithShape="1">
            <a:gsLst>
              <a:gs pos="0">
                <a:schemeClr val="accent6">
                  <a:lumMod val="0"/>
                  <a:lumOff val="100000"/>
                </a:schemeClr>
              </a:gs>
              <a:gs pos="66000">
                <a:schemeClr val="accent6">
                  <a:lumMod val="100000"/>
                </a:schemeClr>
              </a:gs>
            </a:gsLst>
            <a:lin ang="0" scaled="1"/>
            <a:tileRect/>
          </a:gra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s-PE"/>
          </a:p>
        </p:txBody>
      </p:sp>
      <p:sp>
        <p:nvSpPr>
          <p:cNvPr id="6" name="CuadroTexto 5">
            <a:extLst>
              <a:ext uri="{FF2B5EF4-FFF2-40B4-BE49-F238E27FC236}">
                <a16:creationId xmlns:a16="http://schemas.microsoft.com/office/drawing/2014/main" id="{AC33DC36-253A-547B-7A30-A152C2F6B4CE}"/>
              </a:ext>
            </a:extLst>
          </p:cNvPr>
          <p:cNvSpPr txBox="1"/>
          <p:nvPr/>
        </p:nvSpPr>
        <p:spPr>
          <a:xfrm>
            <a:off x="4528936" y="6386396"/>
            <a:ext cx="3134128" cy="276999"/>
          </a:xfrm>
          <a:prstGeom prst="rect">
            <a:avLst/>
          </a:prstGeom>
          <a:noFill/>
        </p:spPr>
        <p:txBody>
          <a:bodyPr wrap="none" rtlCol="0">
            <a:spAutoFit/>
          </a:bodyPr>
          <a:lstStyle/>
          <a:p>
            <a:pPr algn="ctr"/>
            <a:r>
              <a:rPr lang="es-ES" sz="1200" i="1" dirty="0"/>
              <a:t>Elaborado por: Ing. Liliana Ocampo Moreno</a:t>
            </a:r>
            <a:endParaRPr lang="es-PE" sz="1200" i="1" dirty="0"/>
          </a:p>
        </p:txBody>
      </p:sp>
      <p:sp>
        <p:nvSpPr>
          <p:cNvPr id="11" name="Rectángulo 10">
            <a:extLst>
              <a:ext uri="{FF2B5EF4-FFF2-40B4-BE49-F238E27FC236}">
                <a16:creationId xmlns:a16="http://schemas.microsoft.com/office/drawing/2014/main" id="{AB441543-5632-E8E7-6BE7-D18D5128D78E}"/>
              </a:ext>
            </a:extLst>
          </p:cNvPr>
          <p:cNvSpPr/>
          <p:nvPr/>
        </p:nvSpPr>
        <p:spPr>
          <a:xfrm>
            <a:off x="1117380" y="1430633"/>
            <a:ext cx="1822465" cy="246351"/>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12" name="Rectángulo: esquinas redondeadas 11">
            <a:extLst>
              <a:ext uri="{FF2B5EF4-FFF2-40B4-BE49-F238E27FC236}">
                <a16:creationId xmlns:a16="http://schemas.microsoft.com/office/drawing/2014/main" id="{6B1D00CF-6A12-26CE-376B-2E4F609CB879}"/>
              </a:ext>
            </a:extLst>
          </p:cNvPr>
          <p:cNvSpPr/>
          <p:nvPr/>
        </p:nvSpPr>
        <p:spPr>
          <a:xfrm>
            <a:off x="1927072" y="1748782"/>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t>1</a:t>
            </a:r>
            <a:endParaRPr lang="es-PE" sz="1100" b="1" dirty="0"/>
          </a:p>
        </p:txBody>
      </p:sp>
      <p:sp>
        <p:nvSpPr>
          <p:cNvPr id="13" name="CuadroTexto 12">
            <a:hlinkClick r:id="rId5" action="ppaction://hlinksldjump"/>
            <a:extLst>
              <a:ext uri="{FF2B5EF4-FFF2-40B4-BE49-F238E27FC236}">
                <a16:creationId xmlns:a16="http://schemas.microsoft.com/office/drawing/2014/main" id="{470E4C4D-14E5-E663-DB92-FE2D30739275}"/>
              </a:ext>
            </a:extLst>
          </p:cNvPr>
          <p:cNvSpPr txBox="1"/>
          <p:nvPr/>
        </p:nvSpPr>
        <p:spPr>
          <a:xfrm>
            <a:off x="1199535" y="2064574"/>
            <a:ext cx="1740310" cy="623381"/>
          </a:xfrm>
          <a:prstGeom prst="roundRect">
            <a:avLst>
              <a:gd name="adj" fmla="val 7573"/>
            </a:avLst>
          </a:prstGeom>
          <a:solidFill>
            <a:srgbClr val="7030A0"/>
          </a:solidFill>
        </p:spPr>
        <p:txBody>
          <a:bodyPr wrap="square">
            <a:spAutoFit/>
          </a:bodyPr>
          <a:lstStyle/>
          <a:p>
            <a:pPr algn="ctr"/>
            <a:r>
              <a:rPr lang="es-ES" sz="1100" dirty="0">
                <a:solidFill>
                  <a:srgbClr val="FFFFFF"/>
                </a:solidFill>
              </a:rPr>
              <a:t>Ingrese el </a:t>
            </a:r>
            <a:r>
              <a:rPr lang="es-ES" sz="1100" b="1" dirty="0">
                <a:solidFill>
                  <a:srgbClr val="92D050"/>
                </a:solidFill>
              </a:rPr>
              <a:t>Año</a:t>
            </a:r>
            <a:r>
              <a:rPr lang="es-ES" sz="1100" dirty="0">
                <a:solidFill>
                  <a:srgbClr val="FFFFFF"/>
                </a:solidFill>
              </a:rPr>
              <a:t> que desea configurar los feriados.</a:t>
            </a:r>
          </a:p>
          <a:p>
            <a:pPr algn="ctr"/>
            <a:r>
              <a:rPr lang="es-ES" sz="1100" dirty="0">
                <a:solidFill>
                  <a:srgbClr val="FFFFFF"/>
                </a:solidFill>
              </a:rPr>
              <a:t>(Requerido).</a:t>
            </a:r>
            <a:endParaRPr lang="es-ES" b="0" dirty="0">
              <a:effectLst/>
            </a:endParaRPr>
          </a:p>
        </p:txBody>
      </p:sp>
      <p:sp>
        <p:nvSpPr>
          <p:cNvPr id="14" name="Rectángulo 13">
            <a:extLst>
              <a:ext uri="{FF2B5EF4-FFF2-40B4-BE49-F238E27FC236}">
                <a16:creationId xmlns:a16="http://schemas.microsoft.com/office/drawing/2014/main" id="{A9F8D0B8-8F9C-80B0-6C2B-5456DE6487DB}"/>
              </a:ext>
            </a:extLst>
          </p:cNvPr>
          <p:cNvSpPr/>
          <p:nvPr/>
        </p:nvSpPr>
        <p:spPr>
          <a:xfrm>
            <a:off x="5605805" y="1430633"/>
            <a:ext cx="3508698" cy="246351"/>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15" name="Rectángulo: esquinas redondeadas 14">
            <a:extLst>
              <a:ext uri="{FF2B5EF4-FFF2-40B4-BE49-F238E27FC236}">
                <a16:creationId xmlns:a16="http://schemas.microsoft.com/office/drawing/2014/main" id="{C4A7A415-C711-D460-EA4F-7D357CC72301}"/>
              </a:ext>
            </a:extLst>
          </p:cNvPr>
          <p:cNvSpPr/>
          <p:nvPr/>
        </p:nvSpPr>
        <p:spPr>
          <a:xfrm>
            <a:off x="7285652" y="1748782"/>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t>2</a:t>
            </a:r>
            <a:endParaRPr lang="es-PE" sz="1100" b="1" dirty="0"/>
          </a:p>
        </p:txBody>
      </p:sp>
      <p:sp>
        <p:nvSpPr>
          <p:cNvPr id="16" name="CuadroTexto 15">
            <a:hlinkClick r:id="rId5" action="ppaction://hlinksldjump"/>
            <a:extLst>
              <a:ext uri="{FF2B5EF4-FFF2-40B4-BE49-F238E27FC236}">
                <a16:creationId xmlns:a16="http://schemas.microsoft.com/office/drawing/2014/main" id="{775B454A-53EE-8056-62EB-30B96D688409}"/>
              </a:ext>
            </a:extLst>
          </p:cNvPr>
          <p:cNvSpPr txBox="1"/>
          <p:nvPr/>
        </p:nvSpPr>
        <p:spPr>
          <a:xfrm>
            <a:off x="6558115" y="2064574"/>
            <a:ext cx="1740310" cy="799207"/>
          </a:xfrm>
          <a:prstGeom prst="roundRect">
            <a:avLst>
              <a:gd name="adj" fmla="val 7573"/>
            </a:avLst>
          </a:prstGeom>
          <a:solidFill>
            <a:srgbClr val="7030A0"/>
          </a:solidFill>
        </p:spPr>
        <p:txBody>
          <a:bodyPr wrap="square">
            <a:spAutoFit/>
          </a:bodyPr>
          <a:lstStyle/>
          <a:p>
            <a:pPr algn="ctr"/>
            <a:r>
              <a:rPr lang="es-ES" sz="1100" dirty="0">
                <a:solidFill>
                  <a:srgbClr val="FFFFFF"/>
                </a:solidFill>
              </a:rPr>
              <a:t>Ingrese la </a:t>
            </a:r>
            <a:r>
              <a:rPr lang="es-ES" sz="1100" b="1" dirty="0">
                <a:solidFill>
                  <a:srgbClr val="92D050"/>
                </a:solidFill>
              </a:rPr>
              <a:t>Parte de periodo</a:t>
            </a:r>
            <a:r>
              <a:rPr lang="es-ES" sz="1100" dirty="0">
                <a:solidFill>
                  <a:srgbClr val="FFFFFF"/>
                </a:solidFill>
              </a:rPr>
              <a:t> que desea configurar los feriados.</a:t>
            </a:r>
          </a:p>
          <a:p>
            <a:pPr algn="ctr"/>
            <a:r>
              <a:rPr lang="es-ES" sz="1100" dirty="0">
                <a:solidFill>
                  <a:srgbClr val="FFFFFF"/>
                </a:solidFill>
              </a:rPr>
              <a:t>(Requerido).</a:t>
            </a:r>
            <a:endParaRPr lang="es-ES" b="0" dirty="0">
              <a:effectLst/>
            </a:endParaRPr>
          </a:p>
        </p:txBody>
      </p:sp>
      <p:sp>
        <p:nvSpPr>
          <p:cNvPr id="17" name="Rectángulo 16">
            <a:extLst>
              <a:ext uri="{FF2B5EF4-FFF2-40B4-BE49-F238E27FC236}">
                <a16:creationId xmlns:a16="http://schemas.microsoft.com/office/drawing/2014/main" id="{33E37749-1DB9-3DA1-BC2F-4FE22627BED2}"/>
              </a:ext>
            </a:extLst>
          </p:cNvPr>
          <p:cNvSpPr/>
          <p:nvPr/>
        </p:nvSpPr>
        <p:spPr>
          <a:xfrm>
            <a:off x="11422746" y="1430633"/>
            <a:ext cx="442497" cy="273103"/>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18" name="Rectángulo: esquinas redondeadas 17">
            <a:extLst>
              <a:ext uri="{FF2B5EF4-FFF2-40B4-BE49-F238E27FC236}">
                <a16:creationId xmlns:a16="http://schemas.microsoft.com/office/drawing/2014/main" id="{F944CC66-7F78-CE64-E6C6-B1770BB10161}"/>
              </a:ext>
            </a:extLst>
          </p:cNvPr>
          <p:cNvSpPr/>
          <p:nvPr/>
        </p:nvSpPr>
        <p:spPr>
          <a:xfrm>
            <a:off x="11511067" y="1861834"/>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t>3</a:t>
            </a:r>
            <a:endParaRPr lang="es-PE" sz="1100" b="1" dirty="0"/>
          </a:p>
        </p:txBody>
      </p:sp>
      <p:sp>
        <p:nvSpPr>
          <p:cNvPr id="19" name="CuadroTexto 18">
            <a:extLst>
              <a:ext uri="{FF2B5EF4-FFF2-40B4-BE49-F238E27FC236}">
                <a16:creationId xmlns:a16="http://schemas.microsoft.com/office/drawing/2014/main" id="{35DEEA56-E256-59C0-11B7-EA474F73F0AD}"/>
              </a:ext>
            </a:extLst>
          </p:cNvPr>
          <p:cNvSpPr txBox="1"/>
          <p:nvPr/>
        </p:nvSpPr>
        <p:spPr>
          <a:xfrm>
            <a:off x="10697497" y="2192446"/>
            <a:ext cx="1167746" cy="273103"/>
          </a:xfrm>
          <a:prstGeom prst="roundRect">
            <a:avLst>
              <a:gd name="adj" fmla="val 7573"/>
            </a:avLst>
          </a:prstGeom>
          <a:solidFill>
            <a:srgbClr val="7030A0"/>
          </a:solidFill>
        </p:spPr>
        <p:txBody>
          <a:bodyPr wrap="square">
            <a:spAutoFit/>
          </a:bodyPr>
          <a:lstStyle/>
          <a:p>
            <a:pPr algn="ctr" rtl="0">
              <a:spcBef>
                <a:spcPts val="0"/>
              </a:spcBef>
              <a:spcAft>
                <a:spcPts val="0"/>
              </a:spcAft>
            </a:pPr>
            <a:r>
              <a:rPr lang="es-ES" sz="1100" dirty="0">
                <a:solidFill>
                  <a:srgbClr val="FFFFFF"/>
                </a:solidFill>
              </a:rPr>
              <a:t>Seleccionar</a:t>
            </a:r>
            <a:r>
              <a:rPr lang="es-ES" sz="1100" b="0" i="0" u="none" strike="noStrike" dirty="0">
                <a:solidFill>
                  <a:srgbClr val="FFFFFF"/>
                </a:solidFill>
                <a:effectLst/>
              </a:rPr>
              <a:t> </a:t>
            </a:r>
            <a:r>
              <a:rPr lang="es-ES" sz="1100" b="1" dirty="0">
                <a:solidFill>
                  <a:srgbClr val="92D050"/>
                </a:solidFill>
              </a:rPr>
              <a:t>I</a:t>
            </a:r>
            <a:r>
              <a:rPr lang="es-ES" sz="1100" b="1" i="0" u="none" strike="noStrike" dirty="0">
                <a:solidFill>
                  <a:srgbClr val="92D050"/>
                </a:solidFill>
                <a:effectLst/>
              </a:rPr>
              <a:t>r</a:t>
            </a:r>
            <a:endParaRPr lang="es-ES" b="1" dirty="0">
              <a:solidFill>
                <a:srgbClr val="92D050"/>
              </a:solidFill>
              <a:effectLst/>
            </a:endParaRPr>
          </a:p>
        </p:txBody>
      </p:sp>
    </p:spTree>
    <p:extLst>
      <p:ext uri="{BB962C8B-B14F-4D97-AF65-F5344CB8AC3E}">
        <p14:creationId xmlns:p14="http://schemas.microsoft.com/office/powerpoint/2010/main" val="37369704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left)">
                                      <p:cBhvr>
                                        <p:cTn id="10" dur="500"/>
                                        <p:tgtEl>
                                          <p:spTgt spid="8"/>
                                        </p:tgtEl>
                                      </p:cBhvr>
                                    </p:animEffect>
                                  </p:childTnLst>
                                </p:cTn>
                              </p:par>
                            </p:childTnLst>
                          </p:cTn>
                        </p:par>
                        <p:par>
                          <p:cTn id="11" fill="hold">
                            <p:stCondLst>
                              <p:cond delay="500"/>
                            </p:stCondLst>
                            <p:childTnLst>
                              <p:par>
                                <p:cTn id="12" presetID="9" presetClass="entr" presetSubtype="0" fill="hold"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dissolve">
                                      <p:cBhvr>
                                        <p:cTn id="14" dur="500"/>
                                        <p:tgtEl>
                                          <p:spTgt spid="5"/>
                                        </p:tgtEl>
                                      </p:cBhvr>
                                    </p:animEffect>
                                  </p:childTnLst>
                                </p:cTn>
                              </p:par>
                            </p:childTnLst>
                          </p:cTn>
                        </p:par>
                        <p:par>
                          <p:cTn id="15" fill="hold">
                            <p:stCondLst>
                              <p:cond delay="1000"/>
                            </p:stCondLst>
                            <p:childTnLst>
                              <p:par>
                                <p:cTn id="16" presetID="21" presetClass="entr" presetSubtype="1" fill="hold" grpId="0" nodeType="after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wheel(1)">
                                      <p:cBhvr>
                                        <p:cTn id="18" dur="2000"/>
                                        <p:tgtEl>
                                          <p:spTgt spid="11"/>
                                        </p:tgtEl>
                                      </p:cBhvr>
                                    </p:animEffect>
                                  </p:childTnLst>
                                </p:cTn>
                              </p:par>
                            </p:childTnLst>
                          </p:cTn>
                        </p:par>
                        <p:par>
                          <p:cTn id="19" fill="hold">
                            <p:stCondLst>
                              <p:cond delay="3000"/>
                            </p:stCondLst>
                            <p:childTnLst>
                              <p:par>
                                <p:cTn id="20" presetID="53" presetClass="entr" presetSubtype="16"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 calcmode="lin" valueType="num">
                                      <p:cBhvr>
                                        <p:cTn id="22" dur="500" fill="hold"/>
                                        <p:tgtEl>
                                          <p:spTgt spid="12"/>
                                        </p:tgtEl>
                                        <p:attrNameLst>
                                          <p:attrName>ppt_w</p:attrName>
                                        </p:attrNameLst>
                                      </p:cBhvr>
                                      <p:tavLst>
                                        <p:tav tm="0">
                                          <p:val>
                                            <p:fltVal val="0"/>
                                          </p:val>
                                        </p:tav>
                                        <p:tav tm="100000">
                                          <p:val>
                                            <p:strVal val="#ppt_w"/>
                                          </p:val>
                                        </p:tav>
                                      </p:tavLst>
                                    </p:anim>
                                    <p:anim calcmode="lin" valueType="num">
                                      <p:cBhvr>
                                        <p:cTn id="23" dur="500" fill="hold"/>
                                        <p:tgtEl>
                                          <p:spTgt spid="12"/>
                                        </p:tgtEl>
                                        <p:attrNameLst>
                                          <p:attrName>ppt_h</p:attrName>
                                        </p:attrNameLst>
                                      </p:cBhvr>
                                      <p:tavLst>
                                        <p:tav tm="0">
                                          <p:val>
                                            <p:fltVal val="0"/>
                                          </p:val>
                                        </p:tav>
                                        <p:tav tm="100000">
                                          <p:val>
                                            <p:strVal val="#ppt_h"/>
                                          </p:val>
                                        </p:tav>
                                      </p:tavLst>
                                    </p:anim>
                                    <p:animEffect transition="in" filter="fade">
                                      <p:cBhvr>
                                        <p:cTn id="24" dur="500"/>
                                        <p:tgtEl>
                                          <p:spTgt spid="12"/>
                                        </p:tgtEl>
                                      </p:cBhvr>
                                    </p:animEffect>
                                  </p:childTnLst>
                                </p:cTn>
                              </p:par>
                            </p:childTnLst>
                          </p:cTn>
                        </p:par>
                        <p:par>
                          <p:cTn id="25" fill="hold">
                            <p:stCondLst>
                              <p:cond delay="3500"/>
                            </p:stCondLst>
                            <p:childTnLst>
                              <p:par>
                                <p:cTn id="26" presetID="10"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00"/>
                                        <p:tgtEl>
                                          <p:spTgt spid="13"/>
                                        </p:tgtEl>
                                      </p:cBhvr>
                                    </p:animEffect>
                                  </p:childTnLst>
                                </p:cTn>
                              </p:par>
                            </p:childTnLst>
                          </p:cTn>
                        </p:par>
                        <p:par>
                          <p:cTn id="29" fill="hold">
                            <p:stCondLst>
                              <p:cond delay="4000"/>
                            </p:stCondLst>
                            <p:childTnLst>
                              <p:par>
                                <p:cTn id="30" presetID="21" presetClass="entr" presetSubtype="1" fill="hold" grpId="0" nodeType="after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wheel(1)">
                                      <p:cBhvr>
                                        <p:cTn id="32" dur="2000"/>
                                        <p:tgtEl>
                                          <p:spTgt spid="14"/>
                                        </p:tgtEl>
                                      </p:cBhvr>
                                    </p:animEffect>
                                  </p:childTnLst>
                                </p:cTn>
                              </p:par>
                            </p:childTnLst>
                          </p:cTn>
                        </p:par>
                        <p:par>
                          <p:cTn id="33" fill="hold">
                            <p:stCondLst>
                              <p:cond delay="6000"/>
                            </p:stCondLst>
                            <p:childTnLst>
                              <p:par>
                                <p:cTn id="34" presetID="53" presetClass="entr" presetSubtype="16" fill="hold" grpId="0" nodeType="afterEffect">
                                  <p:stCondLst>
                                    <p:cond delay="0"/>
                                  </p:stCondLst>
                                  <p:childTnLst>
                                    <p:set>
                                      <p:cBhvr>
                                        <p:cTn id="35" dur="1" fill="hold">
                                          <p:stCondLst>
                                            <p:cond delay="0"/>
                                          </p:stCondLst>
                                        </p:cTn>
                                        <p:tgtEl>
                                          <p:spTgt spid="15"/>
                                        </p:tgtEl>
                                        <p:attrNameLst>
                                          <p:attrName>style.visibility</p:attrName>
                                        </p:attrNameLst>
                                      </p:cBhvr>
                                      <p:to>
                                        <p:strVal val="visible"/>
                                      </p:to>
                                    </p:set>
                                    <p:anim calcmode="lin" valueType="num">
                                      <p:cBhvr>
                                        <p:cTn id="36" dur="500" fill="hold"/>
                                        <p:tgtEl>
                                          <p:spTgt spid="15"/>
                                        </p:tgtEl>
                                        <p:attrNameLst>
                                          <p:attrName>ppt_w</p:attrName>
                                        </p:attrNameLst>
                                      </p:cBhvr>
                                      <p:tavLst>
                                        <p:tav tm="0">
                                          <p:val>
                                            <p:fltVal val="0"/>
                                          </p:val>
                                        </p:tav>
                                        <p:tav tm="100000">
                                          <p:val>
                                            <p:strVal val="#ppt_w"/>
                                          </p:val>
                                        </p:tav>
                                      </p:tavLst>
                                    </p:anim>
                                    <p:anim calcmode="lin" valueType="num">
                                      <p:cBhvr>
                                        <p:cTn id="37" dur="500" fill="hold"/>
                                        <p:tgtEl>
                                          <p:spTgt spid="15"/>
                                        </p:tgtEl>
                                        <p:attrNameLst>
                                          <p:attrName>ppt_h</p:attrName>
                                        </p:attrNameLst>
                                      </p:cBhvr>
                                      <p:tavLst>
                                        <p:tav tm="0">
                                          <p:val>
                                            <p:fltVal val="0"/>
                                          </p:val>
                                        </p:tav>
                                        <p:tav tm="100000">
                                          <p:val>
                                            <p:strVal val="#ppt_h"/>
                                          </p:val>
                                        </p:tav>
                                      </p:tavLst>
                                    </p:anim>
                                    <p:animEffect transition="in" filter="fade">
                                      <p:cBhvr>
                                        <p:cTn id="38" dur="500"/>
                                        <p:tgtEl>
                                          <p:spTgt spid="15"/>
                                        </p:tgtEl>
                                      </p:cBhvr>
                                    </p:animEffect>
                                  </p:childTnLst>
                                </p:cTn>
                              </p:par>
                            </p:childTnLst>
                          </p:cTn>
                        </p:par>
                        <p:par>
                          <p:cTn id="39" fill="hold">
                            <p:stCondLst>
                              <p:cond delay="6500"/>
                            </p:stCondLst>
                            <p:childTnLst>
                              <p:par>
                                <p:cTn id="40" presetID="10" presetClass="entr" presetSubtype="0" fill="hold" grpId="0" nodeType="after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500"/>
                                        <p:tgtEl>
                                          <p:spTgt spid="16"/>
                                        </p:tgtEl>
                                      </p:cBhvr>
                                    </p:animEffect>
                                  </p:childTnLst>
                                </p:cTn>
                              </p:par>
                            </p:childTnLst>
                          </p:cTn>
                        </p:par>
                        <p:par>
                          <p:cTn id="43" fill="hold">
                            <p:stCondLst>
                              <p:cond delay="7000"/>
                            </p:stCondLst>
                            <p:childTnLst>
                              <p:par>
                                <p:cTn id="44" presetID="21" presetClass="entr" presetSubtype="1" fill="hold" grpId="0" nodeType="after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wheel(1)">
                                      <p:cBhvr>
                                        <p:cTn id="46" dur="2000"/>
                                        <p:tgtEl>
                                          <p:spTgt spid="17"/>
                                        </p:tgtEl>
                                      </p:cBhvr>
                                    </p:animEffect>
                                  </p:childTnLst>
                                </p:cTn>
                              </p:par>
                            </p:childTnLst>
                          </p:cTn>
                        </p:par>
                        <p:par>
                          <p:cTn id="47" fill="hold">
                            <p:stCondLst>
                              <p:cond delay="9000"/>
                            </p:stCondLst>
                            <p:childTnLst>
                              <p:par>
                                <p:cTn id="48" presetID="53" presetClass="entr" presetSubtype="16" fill="hold" grpId="0" nodeType="afterEffect">
                                  <p:stCondLst>
                                    <p:cond delay="0"/>
                                  </p:stCondLst>
                                  <p:childTnLst>
                                    <p:set>
                                      <p:cBhvr>
                                        <p:cTn id="49" dur="1" fill="hold">
                                          <p:stCondLst>
                                            <p:cond delay="0"/>
                                          </p:stCondLst>
                                        </p:cTn>
                                        <p:tgtEl>
                                          <p:spTgt spid="18"/>
                                        </p:tgtEl>
                                        <p:attrNameLst>
                                          <p:attrName>style.visibility</p:attrName>
                                        </p:attrNameLst>
                                      </p:cBhvr>
                                      <p:to>
                                        <p:strVal val="visible"/>
                                      </p:to>
                                    </p:set>
                                    <p:anim calcmode="lin" valueType="num">
                                      <p:cBhvr>
                                        <p:cTn id="50" dur="500" fill="hold"/>
                                        <p:tgtEl>
                                          <p:spTgt spid="18"/>
                                        </p:tgtEl>
                                        <p:attrNameLst>
                                          <p:attrName>ppt_w</p:attrName>
                                        </p:attrNameLst>
                                      </p:cBhvr>
                                      <p:tavLst>
                                        <p:tav tm="0">
                                          <p:val>
                                            <p:fltVal val="0"/>
                                          </p:val>
                                        </p:tav>
                                        <p:tav tm="100000">
                                          <p:val>
                                            <p:strVal val="#ppt_w"/>
                                          </p:val>
                                        </p:tav>
                                      </p:tavLst>
                                    </p:anim>
                                    <p:anim calcmode="lin" valueType="num">
                                      <p:cBhvr>
                                        <p:cTn id="51" dur="500" fill="hold"/>
                                        <p:tgtEl>
                                          <p:spTgt spid="18"/>
                                        </p:tgtEl>
                                        <p:attrNameLst>
                                          <p:attrName>ppt_h</p:attrName>
                                        </p:attrNameLst>
                                      </p:cBhvr>
                                      <p:tavLst>
                                        <p:tav tm="0">
                                          <p:val>
                                            <p:fltVal val="0"/>
                                          </p:val>
                                        </p:tav>
                                        <p:tav tm="100000">
                                          <p:val>
                                            <p:strVal val="#ppt_h"/>
                                          </p:val>
                                        </p:tav>
                                      </p:tavLst>
                                    </p:anim>
                                    <p:animEffect transition="in" filter="fade">
                                      <p:cBhvr>
                                        <p:cTn id="52" dur="500"/>
                                        <p:tgtEl>
                                          <p:spTgt spid="18"/>
                                        </p:tgtEl>
                                      </p:cBhvr>
                                    </p:animEffect>
                                  </p:childTnLst>
                                </p:cTn>
                              </p:par>
                            </p:childTnLst>
                          </p:cTn>
                        </p:par>
                        <p:par>
                          <p:cTn id="53" fill="hold">
                            <p:stCondLst>
                              <p:cond delay="9500"/>
                            </p:stCondLst>
                            <p:childTnLst>
                              <p:par>
                                <p:cTn id="54" presetID="10" presetClass="entr" presetSubtype="0" fill="hold" grpId="0" nodeType="afterEffect">
                                  <p:stCondLst>
                                    <p:cond delay="0"/>
                                  </p:stCondLst>
                                  <p:childTnLst>
                                    <p:set>
                                      <p:cBhvr>
                                        <p:cTn id="55" dur="1" fill="hold">
                                          <p:stCondLst>
                                            <p:cond delay="0"/>
                                          </p:stCondLst>
                                        </p:cTn>
                                        <p:tgtEl>
                                          <p:spTgt spid="19"/>
                                        </p:tgtEl>
                                        <p:attrNameLst>
                                          <p:attrName>style.visibility</p:attrName>
                                        </p:attrNameLst>
                                      </p:cBhvr>
                                      <p:to>
                                        <p:strVal val="visible"/>
                                      </p:to>
                                    </p:set>
                                    <p:animEffect transition="in" filter="fade">
                                      <p:cBhvr>
                                        <p:cTn id="56"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7CAB2B86-4E3B-C98C-411E-958BEFE187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2528" y="6154887"/>
            <a:ext cx="2234242" cy="525923"/>
          </a:xfrm>
          <a:prstGeom prst="rect">
            <a:avLst/>
          </a:prstGeom>
        </p:spPr>
      </p:pic>
      <p:pic>
        <p:nvPicPr>
          <p:cNvPr id="4" name="Picture 4" descr="Ellucian Student Reseñas 2026: Detalles, Precios y Características | G2">
            <a:extLst>
              <a:ext uri="{FF2B5EF4-FFF2-40B4-BE49-F238E27FC236}">
                <a16:creationId xmlns:a16="http://schemas.microsoft.com/office/drawing/2014/main" id="{7352B780-8C7C-7B91-F3EE-5E6EF2C2E4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98101" y="5901780"/>
            <a:ext cx="1821371" cy="956220"/>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0AEBA78F-8C98-5D4D-384F-95B753FFADE4}"/>
              </a:ext>
            </a:extLst>
          </p:cNvPr>
          <p:cNvSpPr txBox="1"/>
          <p:nvPr/>
        </p:nvSpPr>
        <p:spPr>
          <a:xfrm>
            <a:off x="431320" y="241540"/>
            <a:ext cx="9233618" cy="523220"/>
          </a:xfrm>
          <a:prstGeom prst="rect">
            <a:avLst/>
          </a:prstGeom>
          <a:noFill/>
        </p:spPr>
        <p:txBody>
          <a:bodyPr wrap="none" rtlCol="0">
            <a:spAutoFit/>
          </a:bodyPr>
          <a:lstStyle/>
          <a:p>
            <a:r>
              <a:rPr lang="es-ES" sz="2800" b="1" dirty="0">
                <a:latin typeface="Montserrat" pitchFamily="2" charset="0"/>
              </a:rPr>
              <a:t>REGLAS DE EXCLUSIÓN DE HORARIO - SSAEXCL</a:t>
            </a:r>
            <a:endParaRPr lang="es-PE" sz="2800" b="1" dirty="0">
              <a:latin typeface="Montserrat" pitchFamily="2" charset="0"/>
            </a:endParaRPr>
          </a:p>
        </p:txBody>
      </p:sp>
      <p:sp>
        <p:nvSpPr>
          <p:cNvPr id="8" name="Rectángulo 7">
            <a:extLst>
              <a:ext uri="{FF2B5EF4-FFF2-40B4-BE49-F238E27FC236}">
                <a16:creationId xmlns:a16="http://schemas.microsoft.com/office/drawing/2014/main" id="{A16BCE08-E23C-F264-A6E3-E4019979D2E2}"/>
              </a:ext>
            </a:extLst>
          </p:cNvPr>
          <p:cNvSpPr/>
          <p:nvPr/>
        </p:nvSpPr>
        <p:spPr>
          <a:xfrm>
            <a:off x="9664938" y="241540"/>
            <a:ext cx="2527061" cy="445583"/>
          </a:xfrm>
          <a:prstGeom prst="rect">
            <a:avLst/>
          </a:prstGeom>
          <a:gradFill flip="none" rotWithShape="1">
            <a:gsLst>
              <a:gs pos="0">
                <a:schemeClr val="accent6">
                  <a:lumMod val="0"/>
                  <a:lumOff val="100000"/>
                </a:schemeClr>
              </a:gs>
              <a:gs pos="66000">
                <a:schemeClr val="accent6">
                  <a:lumMod val="100000"/>
                </a:schemeClr>
              </a:gs>
            </a:gsLst>
            <a:lin ang="0" scaled="1"/>
            <a:tileRect/>
          </a:gra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s-PE"/>
          </a:p>
        </p:txBody>
      </p:sp>
      <p:sp>
        <p:nvSpPr>
          <p:cNvPr id="6" name="CuadroTexto 5">
            <a:extLst>
              <a:ext uri="{FF2B5EF4-FFF2-40B4-BE49-F238E27FC236}">
                <a16:creationId xmlns:a16="http://schemas.microsoft.com/office/drawing/2014/main" id="{AC33DC36-253A-547B-7A30-A152C2F6B4CE}"/>
              </a:ext>
            </a:extLst>
          </p:cNvPr>
          <p:cNvSpPr txBox="1"/>
          <p:nvPr/>
        </p:nvSpPr>
        <p:spPr>
          <a:xfrm>
            <a:off x="4528936" y="6386396"/>
            <a:ext cx="3134128" cy="276999"/>
          </a:xfrm>
          <a:prstGeom prst="rect">
            <a:avLst/>
          </a:prstGeom>
          <a:noFill/>
        </p:spPr>
        <p:txBody>
          <a:bodyPr wrap="none" rtlCol="0">
            <a:spAutoFit/>
          </a:bodyPr>
          <a:lstStyle/>
          <a:p>
            <a:pPr algn="ctr"/>
            <a:r>
              <a:rPr lang="es-ES" sz="1200" i="1" dirty="0"/>
              <a:t>Elaborado por: Ing. Liliana Ocampo Moreno</a:t>
            </a:r>
            <a:endParaRPr lang="es-PE" sz="1200" i="1" dirty="0"/>
          </a:p>
        </p:txBody>
      </p:sp>
      <p:pic>
        <p:nvPicPr>
          <p:cNvPr id="5" name="Imagen 4">
            <a:extLst>
              <a:ext uri="{FF2B5EF4-FFF2-40B4-BE49-F238E27FC236}">
                <a16:creationId xmlns:a16="http://schemas.microsoft.com/office/drawing/2014/main" id="{1ED85D07-067C-7903-43A3-3EC2448DAE1C}"/>
              </a:ext>
            </a:extLst>
          </p:cNvPr>
          <p:cNvPicPr>
            <a:picLocks noChangeAspect="1"/>
          </p:cNvPicPr>
          <p:nvPr/>
        </p:nvPicPr>
        <p:blipFill>
          <a:blip r:embed="rId4"/>
          <a:stretch>
            <a:fillRect/>
          </a:stretch>
        </p:blipFill>
        <p:spPr>
          <a:xfrm>
            <a:off x="367424" y="1012723"/>
            <a:ext cx="11591113" cy="4889057"/>
          </a:xfrm>
          <a:prstGeom prst="rect">
            <a:avLst/>
          </a:prstGeom>
        </p:spPr>
      </p:pic>
      <p:sp>
        <p:nvSpPr>
          <p:cNvPr id="9" name="Rectángulo 8">
            <a:extLst>
              <a:ext uri="{FF2B5EF4-FFF2-40B4-BE49-F238E27FC236}">
                <a16:creationId xmlns:a16="http://schemas.microsoft.com/office/drawing/2014/main" id="{8FE1C486-C943-D4CB-8BC8-7C51898C8DC1}"/>
              </a:ext>
            </a:extLst>
          </p:cNvPr>
          <p:cNvSpPr/>
          <p:nvPr/>
        </p:nvSpPr>
        <p:spPr>
          <a:xfrm>
            <a:off x="10987898" y="1647080"/>
            <a:ext cx="215660" cy="224286"/>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10" name="Rectángulo: esquinas redondeadas 9">
            <a:extLst>
              <a:ext uri="{FF2B5EF4-FFF2-40B4-BE49-F238E27FC236}">
                <a16:creationId xmlns:a16="http://schemas.microsoft.com/office/drawing/2014/main" id="{22D43FDE-DF5A-8EA6-C88B-908C97758A8A}"/>
              </a:ext>
            </a:extLst>
          </p:cNvPr>
          <p:cNvSpPr/>
          <p:nvPr/>
        </p:nvSpPr>
        <p:spPr>
          <a:xfrm>
            <a:off x="10987898" y="1977690"/>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t>1</a:t>
            </a:r>
            <a:endParaRPr lang="es-PE" sz="1100" b="1" dirty="0"/>
          </a:p>
        </p:txBody>
      </p:sp>
      <p:sp>
        <p:nvSpPr>
          <p:cNvPr id="11" name="CuadroTexto 10">
            <a:extLst>
              <a:ext uri="{FF2B5EF4-FFF2-40B4-BE49-F238E27FC236}">
                <a16:creationId xmlns:a16="http://schemas.microsoft.com/office/drawing/2014/main" id="{BEEE2ACB-4BFC-E2BD-5406-DE758CC6DF72}"/>
              </a:ext>
            </a:extLst>
          </p:cNvPr>
          <p:cNvSpPr txBox="1"/>
          <p:nvPr/>
        </p:nvSpPr>
        <p:spPr>
          <a:xfrm>
            <a:off x="9947858" y="2272688"/>
            <a:ext cx="1744692" cy="623381"/>
          </a:xfrm>
          <a:prstGeom prst="roundRect">
            <a:avLst>
              <a:gd name="adj" fmla="val 7573"/>
            </a:avLst>
          </a:prstGeom>
          <a:solidFill>
            <a:srgbClr val="7030A0"/>
          </a:solidFill>
        </p:spPr>
        <p:txBody>
          <a:bodyPr wrap="square">
            <a:spAutoFit/>
          </a:bodyPr>
          <a:lstStyle/>
          <a:p>
            <a:pPr algn="ctr" rtl="0">
              <a:spcBef>
                <a:spcPts val="0"/>
              </a:spcBef>
              <a:spcAft>
                <a:spcPts val="0"/>
              </a:spcAft>
            </a:pPr>
            <a:r>
              <a:rPr lang="es-ES" sz="1100" b="0" i="0" u="none" strike="noStrike" dirty="0">
                <a:solidFill>
                  <a:srgbClr val="FFFFFF"/>
                </a:solidFill>
                <a:effectLst/>
              </a:rPr>
              <a:t>Para ingresar un nuevo registro, debe hacer clic en la opción </a:t>
            </a:r>
            <a:r>
              <a:rPr lang="es-ES" sz="1100" b="1" i="0" u="none" strike="noStrike" dirty="0">
                <a:solidFill>
                  <a:srgbClr val="92D050"/>
                </a:solidFill>
                <a:effectLst/>
              </a:rPr>
              <a:t>+</a:t>
            </a:r>
            <a:endParaRPr lang="es-ES" b="1" dirty="0">
              <a:solidFill>
                <a:srgbClr val="92D050"/>
              </a:solidFill>
              <a:effectLst/>
            </a:endParaRPr>
          </a:p>
        </p:txBody>
      </p:sp>
      <p:sp>
        <p:nvSpPr>
          <p:cNvPr id="12" name="Rectángulo 11">
            <a:extLst>
              <a:ext uri="{FF2B5EF4-FFF2-40B4-BE49-F238E27FC236}">
                <a16:creationId xmlns:a16="http://schemas.microsoft.com/office/drawing/2014/main" id="{6BECC3D7-FFCE-E192-58E0-33D7CBAC6E57}"/>
              </a:ext>
            </a:extLst>
          </p:cNvPr>
          <p:cNvSpPr/>
          <p:nvPr/>
        </p:nvSpPr>
        <p:spPr>
          <a:xfrm>
            <a:off x="367425" y="2077898"/>
            <a:ext cx="809692" cy="224286"/>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13" name="Rectángulo: esquinas redondeadas 12">
            <a:extLst>
              <a:ext uri="{FF2B5EF4-FFF2-40B4-BE49-F238E27FC236}">
                <a16:creationId xmlns:a16="http://schemas.microsoft.com/office/drawing/2014/main" id="{B4B0A610-505E-6B81-EBEC-37510438D7B2}"/>
              </a:ext>
            </a:extLst>
          </p:cNvPr>
          <p:cNvSpPr/>
          <p:nvPr/>
        </p:nvSpPr>
        <p:spPr>
          <a:xfrm>
            <a:off x="675671" y="2373982"/>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t>2</a:t>
            </a:r>
            <a:endParaRPr lang="es-PE" sz="1100" b="1" dirty="0"/>
          </a:p>
        </p:txBody>
      </p:sp>
      <p:sp>
        <p:nvSpPr>
          <p:cNvPr id="14" name="CuadroTexto 13">
            <a:hlinkClick r:id="rId5" action="ppaction://hlinksldjump"/>
            <a:extLst>
              <a:ext uri="{FF2B5EF4-FFF2-40B4-BE49-F238E27FC236}">
                <a16:creationId xmlns:a16="http://schemas.microsoft.com/office/drawing/2014/main" id="{47DA367B-D81D-AA70-0BF9-686ACE5EC4EB}"/>
              </a:ext>
            </a:extLst>
          </p:cNvPr>
          <p:cNvSpPr txBox="1"/>
          <p:nvPr/>
        </p:nvSpPr>
        <p:spPr>
          <a:xfrm>
            <a:off x="172528" y="2676774"/>
            <a:ext cx="1302311" cy="975033"/>
          </a:xfrm>
          <a:prstGeom prst="roundRect">
            <a:avLst>
              <a:gd name="adj" fmla="val 7573"/>
            </a:avLst>
          </a:prstGeom>
          <a:solidFill>
            <a:srgbClr val="7030A0"/>
          </a:solidFill>
        </p:spPr>
        <p:txBody>
          <a:bodyPr wrap="square">
            <a:spAutoFit/>
          </a:bodyPr>
          <a:lstStyle/>
          <a:p>
            <a:pPr algn="ctr"/>
            <a:r>
              <a:rPr lang="es-ES" sz="1100" dirty="0">
                <a:solidFill>
                  <a:srgbClr val="FFFFFF"/>
                </a:solidFill>
              </a:rPr>
              <a:t>Ingrese la </a:t>
            </a:r>
            <a:r>
              <a:rPr lang="es-ES" sz="1100" b="1" dirty="0">
                <a:solidFill>
                  <a:srgbClr val="92D050"/>
                </a:solidFill>
              </a:rPr>
              <a:t>Fecha</a:t>
            </a:r>
            <a:r>
              <a:rPr lang="es-ES" sz="1100" dirty="0">
                <a:solidFill>
                  <a:srgbClr val="FFFFFF"/>
                </a:solidFill>
              </a:rPr>
              <a:t> que desea configurar el feriado.</a:t>
            </a:r>
          </a:p>
          <a:p>
            <a:pPr algn="ctr"/>
            <a:r>
              <a:rPr lang="es-ES" sz="1100" dirty="0">
                <a:solidFill>
                  <a:srgbClr val="FFFFFF"/>
                </a:solidFill>
              </a:rPr>
              <a:t>(Requerido).</a:t>
            </a:r>
            <a:endParaRPr lang="es-ES" b="0" dirty="0">
              <a:effectLst/>
            </a:endParaRPr>
          </a:p>
        </p:txBody>
      </p:sp>
      <p:sp>
        <p:nvSpPr>
          <p:cNvPr id="15" name="Rectángulo 14">
            <a:extLst>
              <a:ext uri="{FF2B5EF4-FFF2-40B4-BE49-F238E27FC236}">
                <a16:creationId xmlns:a16="http://schemas.microsoft.com/office/drawing/2014/main" id="{2457358A-F794-63D3-FF40-29A8B717DABD}"/>
              </a:ext>
            </a:extLst>
          </p:cNvPr>
          <p:cNvSpPr/>
          <p:nvPr/>
        </p:nvSpPr>
        <p:spPr>
          <a:xfrm>
            <a:off x="1955565" y="2048402"/>
            <a:ext cx="1525054" cy="253782"/>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16" name="Rectángulo: esquinas redondeadas 15">
            <a:extLst>
              <a:ext uri="{FF2B5EF4-FFF2-40B4-BE49-F238E27FC236}">
                <a16:creationId xmlns:a16="http://schemas.microsoft.com/office/drawing/2014/main" id="{C2D210F3-0AB1-5EA2-2C03-29051FAF00AE}"/>
              </a:ext>
            </a:extLst>
          </p:cNvPr>
          <p:cNvSpPr/>
          <p:nvPr/>
        </p:nvSpPr>
        <p:spPr>
          <a:xfrm>
            <a:off x="3567685" y="2048402"/>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t>3</a:t>
            </a:r>
            <a:endParaRPr lang="es-PE" sz="1100" b="1" dirty="0"/>
          </a:p>
        </p:txBody>
      </p:sp>
      <p:sp>
        <p:nvSpPr>
          <p:cNvPr id="17" name="CuadroTexto 16">
            <a:hlinkClick r:id="rId5" action="ppaction://hlinksldjump"/>
            <a:extLst>
              <a:ext uri="{FF2B5EF4-FFF2-40B4-BE49-F238E27FC236}">
                <a16:creationId xmlns:a16="http://schemas.microsoft.com/office/drawing/2014/main" id="{BE232D42-DC37-AD19-E7D8-0B4B6165AA68}"/>
              </a:ext>
            </a:extLst>
          </p:cNvPr>
          <p:cNvSpPr txBox="1"/>
          <p:nvPr/>
        </p:nvSpPr>
        <p:spPr>
          <a:xfrm>
            <a:off x="3933793" y="2031137"/>
            <a:ext cx="2250697" cy="623381"/>
          </a:xfrm>
          <a:prstGeom prst="roundRect">
            <a:avLst>
              <a:gd name="adj" fmla="val 7573"/>
            </a:avLst>
          </a:prstGeom>
          <a:solidFill>
            <a:srgbClr val="7030A0"/>
          </a:solidFill>
        </p:spPr>
        <p:txBody>
          <a:bodyPr wrap="square">
            <a:spAutoFit/>
          </a:bodyPr>
          <a:lstStyle/>
          <a:p>
            <a:pPr algn="ctr"/>
            <a:r>
              <a:rPr lang="es-ES" sz="1100" dirty="0">
                <a:solidFill>
                  <a:srgbClr val="FFFFFF"/>
                </a:solidFill>
              </a:rPr>
              <a:t>Ingrese la </a:t>
            </a:r>
            <a:r>
              <a:rPr lang="es-ES" sz="1100" b="1" dirty="0">
                <a:solidFill>
                  <a:srgbClr val="92D050"/>
                </a:solidFill>
              </a:rPr>
              <a:t>Descripción</a:t>
            </a:r>
            <a:r>
              <a:rPr lang="es-ES" sz="1100" dirty="0">
                <a:solidFill>
                  <a:srgbClr val="FFFFFF"/>
                </a:solidFill>
              </a:rPr>
              <a:t> del feriado. Máximo: 30 caracteres</a:t>
            </a:r>
          </a:p>
          <a:p>
            <a:pPr algn="ctr"/>
            <a:r>
              <a:rPr lang="es-ES" sz="1100" dirty="0">
                <a:solidFill>
                  <a:srgbClr val="FFFFFF"/>
                </a:solidFill>
              </a:rPr>
              <a:t>(Requerido).</a:t>
            </a:r>
            <a:endParaRPr lang="es-ES" b="0" dirty="0">
              <a:effectLst/>
            </a:endParaRPr>
          </a:p>
        </p:txBody>
      </p:sp>
      <p:sp>
        <p:nvSpPr>
          <p:cNvPr id="18" name="CuadroTexto 17">
            <a:hlinkClick r:id="rId5" action="ppaction://hlinksldjump"/>
            <a:extLst>
              <a:ext uri="{FF2B5EF4-FFF2-40B4-BE49-F238E27FC236}">
                <a16:creationId xmlns:a16="http://schemas.microsoft.com/office/drawing/2014/main" id="{D74E93BB-F710-22FC-726F-3BE5C3968D17}"/>
              </a:ext>
            </a:extLst>
          </p:cNvPr>
          <p:cNvSpPr txBox="1"/>
          <p:nvPr/>
        </p:nvSpPr>
        <p:spPr>
          <a:xfrm>
            <a:off x="3845303" y="3891792"/>
            <a:ext cx="2250697" cy="447556"/>
          </a:xfrm>
          <a:prstGeom prst="roundRect">
            <a:avLst>
              <a:gd name="adj" fmla="val 7573"/>
            </a:avLst>
          </a:prstGeom>
          <a:solidFill>
            <a:srgbClr val="7030A0"/>
          </a:solidFill>
        </p:spPr>
        <p:txBody>
          <a:bodyPr wrap="square">
            <a:spAutoFit/>
          </a:bodyPr>
          <a:lstStyle/>
          <a:p>
            <a:pPr algn="ctr"/>
            <a:r>
              <a:rPr lang="es-ES" sz="1100" dirty="0">
                <a:solidFill>
                  <a:srgbClr val="FFFFFF"/>
                </a:solidFill>
              </a:rPr>
              <a:t>El campo </a:t>
            </a:r>
            <a:r>
              <a:rPr lang="es-ES" sz="1100" b="1" dirty="0">
                <a:solidFill>
                  <a:srgbClr val="92D050"/>
                </a:solidFill>
              </a:rPr>
              <a:t>Día</a:t>
            </a:r>
            <a:r>
              <a:rPr lang="es-ES" sz="1100" dirty="0">
                <a:solidFill>
                  <a:srgbClr val="FFFFFF"/>
                </a:solidFill>
              </a:rPr>
              <a:t> lo calcula automáticamente el sistema.</a:t>
            </a:r>
            <a:endParaRPr lang="es-ES" b="0" dirty="0">
              <a:effectLst/>
            </a:endParaRPr>
          </a:p>
        </p:txBody>
      </p:sp>
      <p:sp>
        <p:nvSpPr>
          <p:cNvPr id="19" name="Rectángulo 18">
            <a:extLst>
              <a:ext uri="{FF2B5EF4-FFF2-40B4-BE49-F238E27FC236}">
                <a16:creationId xmlns:a16="http://schemas.microsoft.com/office/drawing/2014/main" id="{1B528D72-CD7A-4236-DA4D-2163D6FE06D4}"/>
              </a:ext>
            </a:extLst>
          </p:cNvPr>
          <p:cNvSpPr/>
          <p:nvPr/>
        </p:nvSpPr>
        <p:spPr>
          <a:xfrm>
            <a:off x="11290888" y="5492365"/>
            <a:ext cx="684363" cy="347998"/>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20" name="Rectángulo: esquinas redondeadas 19">
            <a:extLst>
              <a:ext uri="{FF2B5EF4-FFF2-40B4-BE49-F238E27FC236}">
                <a16:creationId xmlns:a16="http://schemas.microsoft.com/office/drawing/2014/main" id="{62B5018D-4F2D-BBE5-1652-2C0C5C1B0CD6}"/>
              </a:ext>
            </a:extLst>
          </p:cNvPr>
          <p:cNvSpPr/>
          <p:nvPr/>
        </p:nvSpPr>
        <p:spPr>
          <a:xfrm>
            <a:off x="10974585" y="5554221"/>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s-ES" sz="1100" b="1" dirty="0"/>
              <a:t>4</a:t>
            </a:r>
            <a:endParaRPr lang="es-PE" sz="1100" b="1" dirty="0"/>
          </a:p>
        </p:txBody>
      </p:sp>
      <p:sp>
        <p:nvSpPr>
          <p:cNvPr id="21" name="CuadroTexto 20">
            <a:extLst>
              <a:ext uri="{FF2B5EF4-FFF2-40B4-BE49-F238E27FC236}">
                <a16:creationId xmlns:a16="http://schemas.microsoft.com/office/drawing/2014/main" id="{7F9E4326-2743-D920-2026-D25A1583AD5D}"/>
              </a:ext>
            </a:extLst>
          </p:cNvPr>
          <p:cNvSpPr txBox="1"/>
          <p:nvPr/>
        </p:nvSpPr>
        <p:spPr>
          <a:xfrm>
            <a:off x="8082118" y="5457847"/>
            <a:ext cx="2834474" cy="447556"/>
          </a:xfrm>
          <a:prstGeom prst="roundRect">
            <a:avLst>
              <a:gd name="adj" fmla="val 7573"/>
            </a:avLst>
          </a:prstGeom>
          <a:solidFill>
            <a:srgbClr val="7030A0"/>
          </a:solidFill>
        </p:spPr>
        <p:txBody>
          <a:bodyPr wrap="square">
            <a:spAutoFit/>
          </a:bodyPr>
          <a:lstStyle/>
          <a:p>
            <a:pPr algn="ctr"/>
            <a:r>
              <a:rPr lang="es-ES" sz="1100" dirty="0">
                <a:solidFill>
                  <a:srgbClr val="FFFFFF"/>
                </a:solidFill>
              </a:rPr>
              <a:t>Se debe presionar </a:t>
            </a:r>
            <a:r>
              <a:rPr lang="es-ES" sz="1100" b="1" dirty="0">
                <a:solidFill>
                  <a:srgbClr val="92D050"/>
                </a:solidFill>
              </a:rPr>
              <a:t>Guardar</a:t>
            </a:r>
            <a:r>
              <a:rPr lang="es-ES" sz="1100" dirty="0">
                <a:solidFill>
                  <a:srgbClr val="FFFFFF"/>
                </a:solidFill>
              </a:rPr>
              <a:t> para que la información quede registrada en el sistema</a:t>
            </a:r>
          </a:p>
        </p:txBody>
      </p:sp>
    </p:spTree>
    <p:extLst>
      <p:ext uri="{BB962C8B-B14F-4D97-AF65-F5344CB8AC3E}">
        <p14:creationId xmlns:p14="http://schemas.microsoft.com/office/powerpoint/2010/main" val="13339750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left)">
                                      <p:cBhvr>
                                        <p:cTn id="10" dur="500"/>
                                        <p:tgtEl>
                                          <p:spTgt spid="8"/>
                                        </p:tgtEl>
                                      </p:cBhvr>
                                    </p:animEffect>
                                  </p:childTnLst>
                                </p:cTn>
                              </p:par>
                            </p:childTnLst>
                          </p:cTn>
                        </p:par>
                        <p:par>
                          <p:cTn id="11" fill="hold">
                            <p:stCondLst>
                              <p:cond delay="500"/>
                            </p:stCondLst>
                            <p:childTnLst>
                              <p:par>
                                <p:cTn id="12" presetID="9" presetClass="entr" presetSubtype="0" fill="hold"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dissolve">
                                      <p:cBhvr>
                                        <p:cTn id="14" dur="500"/>
                                        <p:tgtEl>
                                          <p:spTgt spid="5"/>
                                        </p:tgtEl>
                                      </p:cBhvr>
                                    </p:animEffect>
                                  </p:childTnLst>
                                </p:cTn>
                              </p:par>
                            </p:childTnLst>
                          </p:cTn>
                        </p:par>
                        <p:par>
                          <p:cTn id="15" fill="hold">
                            <p:stCondLst>
                              <p:cond delay="1000"/>
                            </p:stCondLst>
                            <p:childTnLst>
                              <p:par>
                                <p:cTn id="16" presetID="21" presetClass="entr" presetSubtype="1" fill="hold" grpId="0" nodeType="after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wheel(1)">
                                      <p:cBhvr>
                                        <p:cTn id="18" dur="2000"/>
                                        <p:tgtEl>
                                          <p:spTgt spid="9"/>
                                        </p:tgtEl>
                                      </p:cBhvr>
                                    </p:animEffect>
                                  </p:childTnLst>
                                </p:cTn>
                              </p:par>
                            </p:childTnLst>
                          </p:cTn>
                        </p:par>
                        <p:par>
                          <p:cTn id="19" fill="hold">
                            <p:stCondLst>
                              <p:cond delay="3000"/>
                            </p:stCondLst>
                            <p:childTnLst>
                              <p:par>
                                <p:cTn id="20" presetID="53" presetClass="entr" presetSubtype="16" fill="hold" grpId="0" nodeType="afterEffect">
                                  <p:stCondLst>
                                    <p:cond delay="0"/>
                                  </p:stCondLst>
                                  <p:childTnLst>
                                    <p:set>
                                      <p:cBhvr>
                                        <p:cTn id="21" dur="1" fill="hold">
                                          <p:stCondLst>
                                            <p:cond delay="0"/>
                                          </p:stCondLst>
                                        </p:cTn>
                                        <p:tgtEl>
                                          <p:spTgt spid="10"/>
                                        </p:tgtEl>
                                        <p:attrNameLst>
                                          <p:attrName>style.visibility</p:attrName>
                                        </p:attrNameLst>
                                      </p:cBhvr>
                                      <p:to>
                                        <p:strVal val="visible"/>
                                      </p:to>
                                    </p:set>
                                    <p:anim calcmode="lin" valueType="num">
                                      <p:cBhvr>
                                        <p:cTn id="22" dur="500" fill="hold"/>
                                        <p:tgtEl>
                                          <p:spTgt spid="10"/>
                                        </p:tgtEl>
                                        <p:attrNameLst>
                                          <p:attrName>ppt_w</p:attrName>
                                        </p:attrNameLst>
                                      </p:cBhvr>
                                      <p:tavLst>
                                        <p:tav tm="0">
                                          <p:val>
                                            <p:fltVal val="0"/>
                                          </p:val>
                                        </p:tav>
                                        <p:tav tm="100000">
                                          <p:val>
                                            <p:strVal val="#ppt_w"/>
                                          </p:val>
                                        </p:tav>
                                      </p:tavLst>
                                    </p:anim>
                                    <p:anim calcmode="lin" valueType="num">
                                      <p:cBhvr>
                                        <p:cTn id="23" dur="500" fill="hold"/>
                                        <p:tgtEl>
                                          <p:spTgt spid="10"/>
                                        </p:tgtEl>
                                        <p:attrNameLst>
                                          <p:attrName>ppt_h</p:attrName>
                                        </p:attrNameLst>
                                      </p:cBhvr>
                                      <p:tavLst>
                                        <p:tav tm="0">
                                          <p:val>
                                            <p:fltVal val="0"/>
                                          </p:val>
                                        </p:tav>
                                        <p:tav tm="100000">
                                          <p:val>
                                            <p:strVal val="#ppt_h"/>
                                          </p:val>
                                        </p:tav>
                                      </p:tavLst>
                                    </p:anim>
                                    <p:animEffect transition="in" filter="fade">
                                      <p:cBhvr>
                                        <p:cTn id="24" dur="500"/>
                                        <p:tgtEl>
                                          <p:spTgt spid="10"/>
                                        </p:tgtEl>
                                      </p:cBhvr>
                                    </p:animEffect>
                                  </p:childTnLst>
                                </p:cTn>
                              </p:par>
                            </p:childTnLst>
                          </p:cTn>
                        </p:par>
                        <p:par>
                          <p:cTn id="25" fill="hold">
                            <p:stCondLst>
                              <p:cond delay="3500"/>
                            </p:stCondLst>
                            <p:childTnLst>
                              <p:par>
                                <p:cTn id="26" presetID="10" presetClass="entr" presetSubtype="0" fill="hold" grpId="0" nodeType="after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00"/>
                                        <p:tgtEl>
                                          <p:spTgt spid="11"/>
                                        </p:tgtEl>
                                      </p:cBhvr>
                                    </p:animEffect>
                                  </p:childTnLst>
                                </p:cTn>
                              </p:par>
                            </p:childTnLst>
                          </p:cTn>
                        </p:par>
                        <p:par>
                          <p:cTn id="29" fill="hold">
                            <p:stCondLst>
                              <p:cond delay="4000"/>
                            </p:stCondLst>
                            <p:childTnLst>
                              <p:par>
                                <p:cTn id="30" presetID="21" presetClass="entr" presetSubtype="1" fill="hold" grpId="0" nodeType="after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wheel(1)">
                                      <p:cBhvr>
                                        <p:cTn id="32" dur="2000"/>
                                        <p:tgtEl>
                                          <p:spTgt spid="12"/>
                                        </p:tgtEl>
                                      </p:cBhvr>
                                    </p:animEffect>
                                  </p:childTnLst>
                                </p:cTn>
                              </p:par>
                            </p:childTnLst>
                          </p:cTn>
                        </p:par>
                        <p:par>
                          <p:cTn id="33" fill="hold">
                            <p:stCondLst>
                              <p:cond delay="6000"/>
                            </p:stCondLst>
                            <p:childTnLst>
                              <p:par>
                                <p:cTn id="34" presetID="53" presetClass="entr" presetSubtype="16" fill="hold" grpId="0" nodeType="afterEffect">
                                  <p:stCondLst>
                                    <p:cond delay="0"/>
                                  </p:stCondLst>
                                  <p:childTnLst>
                                    <p:set>
                                      <p:cBhvr>
                                        <p:cTn id="35" dur="1" fill="hold">
                                          <p:stCondLst>
                                            <p:cond delay="0"/>
                                          </p:stCondLst>
                                        </p:cTn>
                                        <p:tgtEl>
                                          <p:spTgt spid="13"/>
                                        </p:tgtEl>
                                        <p:attrNameLst>
                                          <p:attrName>style.visibility</p:attrName>
                                        </p:attrNameLst>
                                      </p:cBhvr>
                                      <p:to>
                                        <p:strVal val="visible"/>
                                      </p:to>
                                    </p:set>
                                    <p:anim calcmode="lin" valueType="num">
                                      <p:cBhvr>
                                        <p:cTn id="36" dur="500" fill="hold"/>
                                        <p:tgtEl>
                                          <p:spTgt spid="13"/>
                                        </p:tgtEl>
                                        <p:attrNameLst>
                                          <p:attrName>ppt_w</p:attrName>
                                        </p:attrNameLst>
                                      </p:cBhvr>
                                      <p:tavLst>
                                        <p:tav tm="0">
                                          <p:val>
                                            <p:fltVal val="0"/>
                                          </p:val>
                                        </p:tav>
                                        <p:tav tm="100000">
                                          <p:val>
                                            <p:strVal val="#ppt_w"/>
                                          </p:val>
                                        </p:tav>
                                      </p:tavLst>
                                    </p:anim>
                                    <p:anim calcmode="lin" valueType="num">
                                      <p:cBhvr>
                                        <p:cTn id="37" dur="500" fill="hold"/>
                                        <p:tgtEl>
                                          <p:spTgt spid="13"/>
                                        </p:tgtEl>
                                        <p:attrNameLst>
                                          <p:attrName>ppt_h</p:attrName>
                                        </p:attrNameLst>
                                      </p:cBhvr>
                                      <p:tavLst>
                                        <p:tav tm="0">
                                          <p:val>
                                            <p:fltVal val="0"/>
                                          </p:val>
                                        </p:tav>
                                        <p:tav tm="100000">
                                          <p:val>
                                            <p:strVal val="#ppt_h"/>
                                          </p:val>
                                        </p:tav>
                                      </p:tavLst>
                                    </p:anim>
                                    <p:animEffect transition="in" filter="fade">
                                      <p:cBhvr>
                                        <p:cTn id="38" dur="500"/>
                                        <p:tgtEl>
                                          <p:spTgt spid="13"/>
                                        </p:tgtEl>
                                      </p:cBhvr>
                                    </p:animEffect>
                                  </p:childTnLst>
                                </p:cTn>
                              </p:par>
                            </p:childTnLst>
                          </p:cTn>
                        </p:par>
                        <p:par>
                          <p:cTn id="39" fill="hold">
                            <p:stCondLst>
                              <p:cond delay="6500"/>
                            </p:stCondLst>
                            <p:childTnLst>
                              <p:par>
                                <p:cTn id="40" presetID="10" presetClass="entr" presetSubtype="0" fill="hold" grpId="0" nodeType="after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500"/>
                                        <p:tgtEl>
                                          <p:spTgt spid="14"/>
                                        </p:tgtEl>
                                      </p:cBhvr>
                                    </p:animEffect>
                                  </p:childTnLst>
                                </p:cTn>
                              </p:par>
                            </p:childTnLst>
                          </p:cTn>
                        </p:par>
                        <p:par>
                          <p:cTn id="43" fill="hold">
                            <p:stCondLst>
                              <p:cond delay="7000"/>
                            </p:stCondLst>
                            <p:childTnLst>
                              <p:par>
                                <p:cTn id="44" presetID="21" presetClass="entr" presetSubtype="1" fill="hold" grpId="0" nodeType="after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wheel(1)">
                                      <p:cBhvr>
                                        <p:cTn id="46" dur="2000"/>
                                        <p:tgtEl>
                                          <p:spTgt spid="15"/>
                                        </p:tgtEl>
                                      </p:cBhvr>
                                    </p:animEffect>
                                  </p:childTnLst>
                                </p:cTn>
                              </p:par>
                            </p:childTnLst>
                          </p:cTn>
                        </p:par>
                        <p:par>
                          <p:cTn id="47" fill="hold">
                            <p:stCondLst>
                              <p:cond delay="9000"/>
                            </p:stCondLst>
                            <p:childTnLst>
                              <p:par>
                                <p:cTn id="48" presetID="53" presetClass="entr" presetSubtype="16" fill="hold" grpId="0" nodeType="afterEffect">
                                  <p:stCondLst>
                                    <p:cond delay="0"/>
                                  </p:stCondLst>
                                  <p:childTnLst>
                                    <p:set>
                                      <p:cBhvr>
                                        <p:cTn id="49" dur="1" fill="hold">
                                          <p:stCondLst>
                                            <p:cond delay="0"/>
                                          </p:stCondLst>
                                        </p:cTn>
                                        <p:tgtEl>
                                          <p:spTgt spid="16"/>
                                        </p:tgtEl>
                                        <p:attrNameLst>
                                          <p:attrName>style.visibility</p:attrName>
                                        </p:attrNameLst>
                                      </p:cBhvr>
                                      <p:to>
                                        <p:strVal val="visible"/>
                                      </p:to>
                                    </p:set>
                                    <p:anim calcmode="lin" valueType="num">
                                      <p:cBhvr>
                                        <p:cTn id="50" dur="500" fill="hold"/>
                                        <p:tgtEl>
                                          <p:spTgt spid="16"/>
                                        </p:tgtEl>
                                        <p:attrNameLst>
                                          <p:attrName>ppt_w</p:attrName>
                                        </p:attrNameLst>
                                      </p:cBhvr>
                                      <p:tavLst>
                                        <p:tav tm="0">
                                          <p:val>
                                            <p:fltVal val="0"/>
                                          </p:val>
                                        </p:tav>
                                        <p:tav tm="100000">
                                          <p:val>
                                            <p:strVal val="#ppt_w"/>
                                          </p:val>
                                        </p:tav>
                                      </p:tavLst>
                                    </p:anim>
                                    <p:anim calcmode="lin" valueType="num">
                                      <p:cBhvr>
                                        <p:cTn id="51" dur="500" fill="hold"/>
                                        <p:tgtEl>
                                          <p:spTgt spid="16"/>
                                        </p:tgtEl>
                                        <p:attrNameLst>
                                          <p:attrName>ppt_h</p:attrName>
                                        </p:attrNameLst>
                                      </p:cBhvr>
                                      <p:tavLst>
                                        <p:tav tm="0">
                                          <p:val>
                                            <p:fltVal val="0"/>
                                          </p:val>
                                        </p:tav>
                                        <p:tav tm="100000">
                                          <p:val>
                                            <p:strVal val="#ppt_h"/>
                                          </p:val>
                                        </p:tav>
                                      </p:tavLst>
                                    </p:anim>
                                    <p:animEffect transition="in" filter="fade">
                                      <p:cBhvr>
                                        <p:cTn id="52" dur="500"/>
                                        <p:tgtEl>
                                          <p:spTgt spid="16"/>
                                        </p:tgtEl>
                                      </p:cBhvr>
                                    </p:animEffect>
                                  </p:childTnLst>
                                </p:cTn>
                              </p:par>
                            </p:childTnLst>
                          </p:cTn>
                        </p:par>
                        <p:par>
                          <p:cTn id="53" fill="hold">
                            <p:stCondLst>
                              <p:cond delay="9500"/>
                            </p:stCondLst>
                            <p:childTnLst>
                              <p:par>
                                <p:cTn id="54" presetID="10" presetClass="entr" presetSubtype="0" fill="hold" grpId="0" nodeType="afterEffect">
                                  <p:stCondLst>
                                    <p:cond delay="0"/>
                                  </p:stCondLst>
                                  <p:childTnLst>
                                    <p:set>
                                      <p:cBhvr>
                                        <p:cTn id="55" dur="1" fill="hold">
                                          <p:stCondLst>
                                            <p:cond delay="0"/>
                                          </p:stCondLst>
                                        </p:cTn>
                                        <p:tgtEl>
                                          <p:spTgt spid="17"/>
                                        </p:tgtEl>
                                        <p:attrNameLst>
                                          <p:attrName>style.visibility</p:attrName>
                                        </p:attrNameLst>
                                      </p:cBhvr>
                                      <p:to>
                                        <p:strVal val="visible"/>
                                      </p:to>
                                    </p:set>
                                    <p:animEffect transition="in" filter="fade">
                                      <p:cBhvr>
                                        <p:cTn id="56" dur="500"/>
                                        <p:tgtEl>
                                          <p:spTgt spid="17"/>
                                        </p:tgtEl>
                                      </p:cBhvr>
                                    </p:animEffect>
                                  </p:childTnLst>
                                </p:cTn>
                              </p:par>
                            </p:childTnLst>
                          </p:cTn>
                        </p:par>
                        <p:par>
                          <p:cTn id="57" fill="hold">
                            <p:stCondLst>
                              <p:cond delay="10000"/>
                            </p:stCondLst>
                            <p:childTnLst>
                              <p:par>
                                <p:cTn id="58" presetID="10" presetClass="entr" presetSubtype="0" fill="hold" grpId="0" nodeType="afterEffect">
                                  <p:stCondLst>
                                    <p:cond delay="0"/>
                                  </p:stCondLst>
                                  <p:childTnLst>
                                    <p:set>
                                      <p:cBhvr>
                                        <p:cTn id="59" dur="1" fill="hold">
                                          <p:stCondLst>
                                            <p:cond delay="0"/>
                                          </p:stCondLst>
                                        </p:cTn>
                                        <p:tgtEl>
                                          <p:spTgt spid="18"/>
                                        </p:tgtEl>
                                        <p:attrNameLst>
                                          <p:attrName>style.visibility</p:attrName>
                                        </p:attrNameLst>
                                      </p:cBhvr>
                                      <p:to>
                                        <p:strVal val="visible"/>
                                      </p:to>
                                    </p:set>
                                    <p:animEffect transition="in" filter="fade">
                                      <p:cBhvr>
                                        <p:cTn id="60" dur="500"/>
                                        <p:tgtEl>
                                          <p:spTgt spid="18"/>
                                        </p:tgtEl>
                                      </p:cBhvr>
                                    </p:animEffect>
                                  </p:childTnLst>
                                </p:cTn>
                              </p:par>
                            </p:childTnLst>
                          </p:cTn>
                        </p:par>
                        <p:par>
                          <p:cTn id="61" fill="hold">
                            <p:stCondLst>
                              <p:cond delay="10500"/>
                            </p:stCondLst>
                            <p:childTnLst>
                              <p:par>
                                <p:cTn id="62" presetID="21" presetClass="entr" presetSubtype="1" fill="hold" grpId="0" nodeType="afterEffect">
                                  <p:stCondLst>
                                    <p:cond delay="0"/>
                                  </p:stCondLst>
                                  <p:childTnLst>
                                    <p:set>
                                      <p:cBhvr>
                                        <p:cTn id="63" dur="1" fill="hold">
                                          <p:stCondLst>
                                            <p:cond delay="0"/>
                                          </p:stCondLst>
                                        </p:cTn>
                                        <p:tgtEl>
                                          <p:spTgt spid="19"/>
                                        </p:tgtEl>
                                        <p:attrNameLst>
                                          <p:attrName>style.visibility</p:attrName>
                                        </p:attrNameLst>
                                      </p:cBhvr>
                                      <p:to>
                                        <p:strVal val="visible"/>
                                      </p:to>
                                    </p:set>
                                    <p:animEffect transition="in" filter="wheel(1)">
                                      <p:cBhvr>
                                        <p:cTn id="64" dur="2000"/>
                                        <p:tgtEl>
                                          <p:spTgt spid="19"/>
                                        </p:tgtEl>
                                      </p:cBhvr>
                                    </p:animEffect>
                                  </p:childTnLst>
                                </p:cTn>
                              </p:par>
                            </p:childTnLst>
                          </p:cTn>
                        </p:par>
                        <p:par>
                          <p:cTn id="65" fill="hold">
                            <p:stCondLst>
                              <p:cond delay="12500"/>
                            </p:stCondLst>
                            <p:childTnLst>
                              <p:par>
                                <p:cTn id="66" presetID="53" presetClass="entr" presetSubtype="16" fill="hold" grpId="0" nodeType="afterEffect">
                                  <p:stCondLst>
                                    <p:cond delay="0"/>
                                  </p:stCondLst>
                                  <p:childTnLst>
                                    <p:set>
                                      <p:cBhvr>
                                        <p:cTn id="67" dur="1" fill="hold">
                                          <p:stCondLst>
                                            <p:cond delay="0"/>
                                          </p:stCondLst>
                                        </p:cTn>
                                        <p:tgtEl>
                                          <p:spTgt spid="20"/>
                                        </p:tgtEl>
                                        <p:attrNameLst>
                                          <p:attrName>style.visibility</p:attrName>
                                        </p:attrNameLst>
                                      </p:cBhvr>
                                      <p:to>
                                        <p:strVal val="visible"/>
                                      </p:to>
                                    </p:set>
                                    <p:anim calcmode="lin" valueType="num">
                                      <p:cBhvr>
                                        <p:cTn id="68" dur="500" fill="hold"/>
                                        <p:tgtEl>
                                          <p:spTgt spid="20"/>
                                        </p:tgtEl>
                                        <p:attrNameLst>
                                          <p:attrName>ppt_w</p:attrName>
                                        </p:attrNameLst>
                                      </p:cBhvr>
                                      <p:tavLst>
                                        <p:tav tm="0">
                                          <p:val>
                                            <p:fltVal val="0"/>
                                          </p:val>
                                        </p:tav>
                                        <p:tav tm="100000">
                                          <p:val>
                                            <p:strVal val="#ppt_w"/>
                                          </p:val>
                                        </p:tav>
                                      </p:tavLst>
                                    </p:anim>
                                    <p:anim calcmode="lin" valueType="num">
                                      <p:cBhvr>
                                        <p:cTn id="69" dur="500" fill="hold"/>
                                        <p:tgtEl>
                                          <p:spTgt spid="20"/>
                                        </p:tgtEl>
                                        <p:attrNameLst>
                                          <p:attrName>ppt_h</p:attrName>
                                        </p:attrNameLst>
                                      </p:cBhvr>
                                      <p:tavLst>
                                        <p:tav tm="0">
                                          <p:val>
                                            <p:fltVal val="0"/>
                                          </p:val>
                                        </p:tav>
                                        <p:tav tm="100000">
                                          <p:val>
                                            <p:strVal val="#ppt_h"/>
                                          </p:val>
                                        </p:tav>
                                      </p:tavLst>
                                    </p:anim>
                                    <p:animEffect transition="in" filter="fade">
                                      <p:cBhvr>
                                        <p:cTn id="70" dur="500"/>
                                        <p:tgtEl>
                                          <p:spTgt spid="20"/>
                                        </p:tgtEl>
                                      </p:cBhvr>
                                    </p:animEffect>
                                  </p:childTnLst>
                                </p:cTn>
                              </p:par>
                            </p:childTnLst>
                          </p:cTn>
                        </p:par>
                        <p:par>
                          <p:cTn id="71" fill="hold">
                            <p:stCondLst>
                              <p:cond delay="13000"/>
                            </p:stCondLst>
                            <p:childTnLst>
                              <p:par>
                                <p:cTn id="72" presetID="10" presetClass="entr" presetSubtype="0" fill="hold" grpId="0" nodeType="afterEffect">
                                  <p:stCondLst>
                                    <p:cond delay="0"/>
                                  </p:stCondLst>
                                  <p:childTnLst>
                                    <p:set>
                                      <p:cBhvr>
                                        <p:cTn id="73" dur="1" fill="hold">
                                          <p:stCondLst>
                                            <p:cond delay="0"/>
                                          </p:stCondLst>
                                        </p:cTn>
                                        <p:tgtEl>
                                          <p:spTgt spid="21"/>
                                        </p:tgtEl>
                                        <p:attrNameLst>
                                          <p:attrName>style.visibility</p:attrName>
                                        </p:attrNameLst>
                                      </p:cBhvr>
                                      <p:to>
                                        <p:strVal val="visible"/>
                                      </p:to>
                                    </p:set>
                                    <p:animEffect transition="in" filter="fade">
                                      <p:cBhvr>
                                        <p:cTn id="74"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Imagen 31">
            <a:extLst>
              <a:ext uri="{FF2B5EF4-FFF2-40B4-BE49-F238E27FC236}">
                <a16:creationId xmlns:a16="http://schemas.microsoft.com/office/drawing/2014/main" id="{A44839AF-C127-EF5E-BA13-ED0E10E0C26A}"/>
              </a:ext>
            </a:extLst>
          </p:cNvPr>
          <p:cNvPicPr>
            <a:picLocks noChangeAspect="1"/>
          </p:cNvPicPr>
          <p:nvPr/>
        </p:nvPicPr>
        <p:blipFill>
          <a:blip r:embed="rId2"/>
          <a:stretch>
            <a:fillRect/>
          </a:stretch>
        </p:blipFill>
        <p:spPr>
          <a:xfrm>
            <a:off x="411656" y="968797"/>
            <a:ext cx="11505042" cy="4936797"/>
          </a:xfrm>
          <a:prstGeom prst="rect">
            <a:avLst/>
          </a:prstGeom>
        </p:spPr>
      </p:pic>
      <p:pic>
        <p:nvPicPr>
          <p:cNvPr id="3" name="Imagen 2">
            <a:extLst>
              <a:ext uri="{FF2B5EF4-FFF2-40B4-BE49-F238E27FC236}">
                <a16:creationId xmlns:a16="http://schemas.microsoft.com/office/drawing/2014/main" id="{7CAB2B86-4E3B-C98C-411E-958BEFE187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2528" y="6154887"/>
            <a:ext cx="2234242" cy="525923"/>
          </a:xfrm>
          <a:prstGeom prst="rect">
            <a:avLst/>
          </a:prstGeom>
        </p:spPr>
      </p:pic>
      <p:pic>
        <p:nvPicPr>
          <p:cNvPr id="4" name="Picture 4" descr="Ellucian Student Reseñas 2026: Detalles, Precios y Características | G2">
            <a:extLst>
              <a:ext uri="{FF2B5EF4-FFF2-40B4-BE49-F238E27FC236}">
                <a16:creationId xmlns:a16="http://schemas.microsoft.com/office/drawing/2014/main" id="{7352B780-8C7C-7B91-F3EE-5E6EF2C2E46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98101" y="5901780"/>
            <a:ext cx="1821371" cy="956220"/>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0AEBA78F-8C98-5D4D-384F-95B753FFADE4}"/>
              </a:ext>
            </a:extLst>
          </p:cNvPr>
          <p:cNvSpPr txBox="1"/>
          <p:nvPr/>
        </p:nvSpPr>
        <p:spPr>
          <a:xfrm>
            <a:off x="431320" y="241540"/>
            <a:ext cx="9233618" cy="523220"/>
          </a:xfrm>
          <a:prstGeom prst="rect">
            <a:avLst/>
          </a:prstGeom>
          <a:noFill/>
        </p:spPr>
        <p:txBody>
          <a:bodyPr wrap="none" rtlCol="0">
            <a:spAutoFit/>
          </a:bodyPr>
          <a:lstStyle/>
          <a:p>
            <a:r>
              <a:rPr lang="es-ES" sz="2800" b="1" dirty="0">
                <a:latin typeface="Montserrat" pitchFamily="2" charset="0"/>
              </a:rPr>
              <a:t>REGLAS DE EXCLUSIÓN DE HORARIO - SSAEXCL</a:t>
            </a:r>
            <a:endParaRPr lang="es-PE" sz="2800" b="1" dirty="0">
              <a:latin typeface="Montserrat" pitchFamily="2" charset="0"/>
            </a:endParaRPr>
          </a:p>
        </p:txBody>
      </p:sp>
      <p:sp>
        <p:nvSpPr>
          <p:cNvPr id="8" name="Rectángulo 7">
            <a:extLst>
              <a:ext uri="{FF2B5EF4-FFF2-40B4-BE49-F238E27FC236}">
                <a16:creationId xmlns:a16="http://schemas.microsoft.com/office/drawing/2014/main" id="{A16BCE08-E23C-F264-A6E3-E4019979D2E2}"/>
              </a:ext>
            </a:extLst>
          </p:cNvPr>
          <p:cNvSpPr/>
          <p:nvPr/>
        </p:nvSpPr>
        <p:spPr>
          <a:xfrm>
            <a:off x="9664938" y="241540"/>
            <a:ext cx="2527061" cy="445583"/>
          </a:xfrm>
          <a:prstGeom prst="rect">
            <a:avLst/>
          </a:prstGeom>
          <a:gradFill flip="none" rotWithShape="1">
            <a:gsLst>
              <a:gs pos="0">
                <a:schemeClr val="accent6">
                  <a:lumMod val="0"/>
                  <a:lumOff val="100000"/>
                </a:schemeClr>
              </a:gs>
              <a:gs pos="66000">
                <a:schemeClr val="accent6">
                  <a:lumMod val="100000"/>
                </a:schemeClr>
              </a:gs>
            </a:gsLst>
            <a:lin ang="0" scaled="1"/>
            <a:tileRect/>
          </a:gra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s-PE"/>
          </a:p>
        </p:txBody>
      </p:sp>
      <p:sp>
        <p:nvSpPr>
          <p:cNvPr id="6" name="CuadroTexto 5">
            <a:extLst>
              <a:ext uri="{FF2B5EF4-FFF2-40B4-BE49-F238E27FC236}">
                <a16:creationId xmlns:a16="http://schemas.microsoft.com/office/drawing/2014/main" id="{AC33DC36-253A-547B-7A30-A152C2F6B4CE}"/>
              </a:ext>
            </a:extLst>
          </p:cNvPr>
          <p:cNvSpPr txBox="1"/>
          <p:nvPr/>
        </p:nvSpPr>
        <p:spPr>
          <a:xfrm>
            <a:off x="4528936" y="6386396"/>
            <a:ext cx="3134128" cy="276999"/>
          </a:xfrm>
          <a:prstGeom prst="rect">
            <a:avLst/>
          </a:prstGeom>
          <a:noFill/>
        </p:spPr>
        <p:txBody>
          <a:bodyPr wrap="none" rtlCol="0">
            <a:spAutoFit/>
          </a:bodyPr>
          <a:lstStyle/>
          <a:p>
            <a:pPr algn="ctr"/>
            <a:r>
              <a:rPr lang="es-ES" sz="1200" i="1" dirty="0"/>
              <a:t>Elaborado por: Ing. Liliana Ocampo Moreno</a:t>
            </a:r>
            <a:endParaRPr lang="es-PE" sz="1200" i="1" dirty="0"/>
          </a:p>
        </p:txBody>
      </p:sp>
      <p:sp>
        <p:nvSpPr>
          <p:cNvPr id="33" name="Rectángulo 32">
            <a:extLst>
              <a:ext uri="{FF2B5EF4-FFF2-40B4-BE49-F238E27FC236}">
                <a16:creationId xmlns:a16="http://schemas.microsoft.com/office/drawing/2014/main" id="{B9583DC9-7B7F-CF13-CC98-58E3ABCEE07A}"/>
              </a:ext>
            </a:extLst>
          </p:cNvPr>
          <p:cNvSpPr/>
          <p:nvPr/>
        </p:nvSpPr>
        <p:spPr>
          <a:xfrm>
            <a:off x="950236" y="1312649"/>
            <a:ext cx="1822465" cy="246351"/>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34" name="Rectángulo: esquinas redondeadas 33">
            <a:extLst>
              <a:ext uri="{FF2B5EF4-FFF2-40B4-BE49-F238E27FC236}">
                <a16:creationId xmlns:a16="http://schemas.microsoft.com/office/drawing/2014/main" id="{E0B4BE9E-C906-6BB0-451B-366F5FCD581D}"/>
              </a:ext>
            </a:extLst>
          </p:cNvPr>
          <p:cNvSpPr/>
          <p:nvPr/>
        </p:nvSpPr>
        <p:spPr>
          <a:xfrm>
            <a:off x="1759928" y="1630798"/>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t>1</a:t>
            </a:r>
            <a:endParaRPr lang="es-PE" sz="1100" b="1" dirty="0"/>
          </a:p>
        </p:txBody>
      </p:sp>
      <p:sp>
        <p:nvSpPr>
          <p:cNvPr id="35" name="CuadroTexto 34">
            <a:hlinkClick r:id="rId5" action="ppaction://hlinksldjump"/>
            <a:extLst>
              <a:ext uri="{FF2B5EF4-FFF2-40B4-BE49-F238E27FC236}">
                <a16:creationId xmlns:a16="http://schemas.microsoft.com/office/drawing/2014/main" id="{D86D72BD-3984-ED71-00F7-769F80E28683}"/>
              </a:ext>
            </a:extLst>
          </p:cNvPr>
          <p:cNvSpPr txBox="1"/>
          <p:nvPr/>
        </p:nvSpPr>
        <p:spPr>
          <a:xfrm>
            <a:off x="1032391" y="1946590"/>
            <a:ext cx="1740310" cy="623381"/>
          </a:xfrm>
          <a:prstGeom prst="roundRect">
            <a:avLst>
              <a:gd name="adj" fmla="val 7573"/>
            </a:avLst>
          </a:prstGeom>
          <a:solidFill>
            <a:srgbClr val="7030A0"/>
          </a:solidFill>
        </p:spPr>
        <p:txBody>
          <a:bodyPr wrap="square">
            <a:spAutoFit/>
          </a:bodyPr>
          <a:lstStyle/>
          <a:p>
            <a:pPr algn="ctr"/>
            <a:r>
              <a:rPr lang="es-ES" sz="1100" dirty="0">
                <a:solidFill>
                  <a:srgbClr val="FFFFFF"/>
                </a:solidFill>
              </a:rPr>
              <a:t>Ingrese el </a:t>
            </a:r>
            <a:r>
              <a:rPr lang="es-ES" sz="1100" b="1" dirty="0">
                <a:solidFill>
                  <a:srgbClr val="92D050"/>
                </a:solidFill>
              </a:rPr>
              <a:t>Año</a:t>
            </a:r>
            <a:r>
              <a:rPr lang="es-ES" sz="1100" dirty="0">
                <a:solidFill>
                  <a:srgbClr val="FFFFFF"/>
                </a:solidFill>
              </a:rPr>
              <a:t> que desea configurar los feriados.</a:t>
            </a:r>
          </a:p>
          <a:p>
            <a:pPr algn="ctr"/>
            <a:r>
              <a:rPr lang="es-ES" sz="1100" dirty="0">
                <a:solidFill>
                  <a:srgbClr val="FFFFFF"/>
                </a:solidFill>
              </a:rPr>
              <a:t>(Requerido).</a:t>
            </a:r>
            <a:endParaRPr lang="es-ES" b="0" dirty="0">
              <a:effectLst/>
            </a:endParaRPr>
          </a:p>
        </p:txBody>
      </p:sp>
      <p:sp>
        <p:nvSpPr>
          <p:cNvPr id="36" name="Rectángulo 35">
            <a:extLst>
              <a:ext uri="{FF2B5EF4-FFF2-40B4-BE49-F238E27FC236}">
                <a16:creationId xmlns:a16="http://schemas.microsoft.com/office/drawing/2014/main" id="{659982FD-864B-8972-63A9-422FFD77C073}"/>
              </a:ext>
            </a:extLst>
          </p:cNvPr>
          <p:cNvSpPr/>
          <p:nvPr/>
        </p:nvSpPr>
        <p:spPr>
          <a:xfrm>
            <a:off x="5438661" y="1312649"/>
            <a:ext cx="3508698" cy="246351"/>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37" name="Rectángulo: esquinas redondeadas 36">
            <a:extLst>
              <a:ext uri="{FF2B5EF4-FFF2-40B4-BE49-F238E27FC236}">
                <a16:creationId xmlns:a16="http://schemas.microsoft.com/office/drawing/2014/main" id="{563A68D2-51A8-C48C-C89B-EBE1882EDA8C}"/>
              </a:ext>
            </a:extLst>
          </p:cNvPr>
          <p:cNvSpPr/>
          <p:nvPr/>
        </p:nvSpPr>
        <p:spPr>
          <a:xfrm>
            <a:off x="7118508" y="1630798"/>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t>2</a:t>
            </a:r>
            <a:endParaRPr lang="es-PE" sz="1100" b="1" dirty="0"/>
          </a:p>
        </p:txBody>
      </p:sp>
      <p:sp>
        <p:nvSpPr>
          <p:cNvPr id="38" name="CuadroTexto 37">
            <a:hlinkClick r:id="rId5" action="ppaction://hlinksldjump"/>
            <a:extLst>
              <a:ext uri="{FF2B5EF4-FFF2-40B4-BE49-F238E27FC236}">
                <a16:creationId xmlns:a16="http://schemas.microsoft.com/office/drawing/2014/main" id="{BE79B545-3440-A1FE-E8BB-CEB7E3E845C6}"/>
              </a:ext>
            </a:extLst>
          </p:cNvPr>
          <p:cNvSpPr txBox="1"/>
          <p:nvPr/>
        </p:nvSpPr>
        <p:spPr>
          <a:xfrm>
            <a:off x="5438660" y="1946590"/>
            <a:ext cx="3646345" cy="975033"/>
          </a:xfrm>
          <a:prstGeom prst="roundRect">
            <a:avLst>
              <a:gd name="adj" fmla="val 7573"/>
            </a:avLst>
          </a:prstGeom>
          <a:solidFill>
            <a:srgbClr val="7030A0"/>
          </a:solidFill>
        </p:spPr>
        <p:txBody>
          <a:bodyPr wrap="square">
            <a:spAutoFit/>
          </a:bodyPr>
          <a:lstStyle/>
          <a:p>
            <a:pPr algn="ctr"/>
            <a:r>
              <a:rPr lang="es-ES" sz="1100" dirty="0">
                <a:solidFill>
                  <a:srgbClr val="FFFFFF"/>
                </a:solidFill>
              </a:rPr>
              <a:t>Ingrese la </a:t>
            </a:r>
            <a:r>
              <a:rPr lang="es-ES" sz="1100" b="1" dirty="0">
                <a:solidFill>
                  <a:srgbClr val="92D050"/>
                </a:solidFill>
              </a:rPr>
              <a:t>Parte de periodo</a:t>
            </a:r>
            <a:r>
              <a:rPr lang="es-ES" sz="1100" dirty="0">
                <a:solidFill>
                  <a:srgbClr val="FFFFFF"/>
                </a:solidFill>
              </a:rPr>
              <a:t> donde desea copiar los feriados feriados.</a:t>
            </a:r>
          </a:p>
          <a:p>
            <a:pPr algn="ctr"/>
            <a:r>
              <a:rPr lang="es-ES" sz="1100" dirty="0">
                <a:solidFill>
                  <a:srgbClr val="FFFFFF"/>
                </a:solidFill>
              </a:rPr>
              <a:t>(Requerido).</a:t>
            </a:r>
            <a:endParaRPr lang="es-ES" dirty="0"/>
          </a:p>
          <a:p>
            <a:pPr algn="ctr"/>
            <a:r>
              <a:rPr lang="es-ES" sz="1100" b="1" dirty="0">
                <a:solidFill>
                  <a:srgbClr val="FFFFFF"/>
                </a:solidFill>
              </a:rPr>
              <a:t>Para copiar una calendarización de feriados, la parte de periodo no debe tener registros.</a:t>
            </a:r>
          </a:p>
        </p:txBody>
      </p:sp>
      <p:sp>
        <p:nvSpPr>
          <p:cNvPr id="39" name="Rectángulo 38">
            <a:extLst>
              <a:ext uri="{FF2B5EF4-FFF2-40B4-BE49-F238E27FC236}">
                <a16:creationId xmlns:a16="http://schemas.microsoft.com/office/drawing/2014/main" id="{52DF9299-5E42-A6A3-0F3F-4CD388301F85}"/>
              </a:ext>
            </a:extLst>
          </p:cNvPr>
          <p:cNvSpPr/>
          <p:nvPr/>
        </p:nvSpPr>
        <p:spPr>
          <a:xfrm>
            <a:off x="11612098" y="973394"/>
            <a:ext cx="215660" cy="259898"/>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40" name="Rectángulo: esquinas redondeadas 39">
            <a:extLst>
              <a:ext uri="{FF2B5EF4-FFF2-40B4-BE49-F238E27FC236}">
                <a16:creationId xmlns:a16="http://schemas.microsoft.com/office/drawing/2014/main" id="{52FBB242-AAC5-8233-EA77-805DA2147C14}"/>
              </a:ext>
            </a:extLst>
          </p:cNvPr>
          <p:cNvSpPr/>
          <p:nvPr/>
        </p:nvSpPr>
        <p:spPr>
          <a:xfrm>
            <a:off x="11612098" y="1304004"/>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t>3</a:t>
            </a:r>
            <a:endParaRPr lang="es-PE" sz="1100" b="1" dirty="0"/>
          </a:p>
        </p:txBody>
      </p:sp>
      <p:sp>
        <p:nvSpPr>
          <p:cNvPr id="41" name="CuadroTexto 40">
            <a:extLst>
              <a:ext uri="{FF2B5EF4-FFF2-40B4-BE49-F238E27FC236}">
                <a16:creationId xmlns:a16="http://schemas.microsoft.com/office/drawing/2014/main" id="{F1598A6D-A7A9-85EC-F083-632419B5CAFC}"/>
              </a:ext>
            </a:extLst>
          </p:cNvPr>
          <p:cNvSpPr txBox="1"/>
          <p:nvPr/>
        </p:nvSpPr>
        <p:spPr>
          <a:xfrm>
            <a:off x="10114992" y="1599002"/>
            <a:ext cx="1821370" cy="799207"/>
          </a:xfrm>
          <a:prstGeom prst="roundRect">
            <a:avLst>
              <a:gd name="adj" fmla="val 7573"/>
            </a:avLst>
          </a:prstGeom>
          <a:solidFill>
            <a:srgbClr val="7030A0"/>
          </a:solidFill>
        </p:spPr>
        <p:txBody>
          <a:bodyPr wrap="square">
            <a:spAutoFit/>
          </a:bodyPr>
          <a:lstStyle/>
          <a:p>
            <a:pPr algn="ctr" rtl="0">
              <a:spcBef>
                <a:spcPts val="0"/>
              </a:spcBef>
              <a:spcAft>
                <a:spcPts val="0"/>
              </a:spcAft>
            </a:pPr>
            <a:r>
              <a:rPr lang="es-ES" sz="1100" b="0" i="0" u="none" strike="noStrike" dirty="0">
                <a:solidFill>
                  <a:srgbClr val="FFFFFF"/>
                </a:solidFill>
                <a:effectLst/>
              </a:rPr>
              <a:t>Para copiar los feriados de una parte de periodo a otra, debe hacer clic en la opción </a:t>
            </a:r>
            <a:r>
              <a:rPr lang="es-ES" sz="1100" b="1" dirty="0">
                <a:solidFill>
                  <a:srgbClr val="92D050"/>
                </a:solidFill>
              </a:rPr>
              <a:t>Herramientas</a:t>
            </a:r>
            <a:endParaRPr lang="es-ES" b="1" dirty="0">
              <a:solidFill>
                <a:srgbClr val="92D050"/>
              </a:solidFill>
              <a:effectLst/>
            </a:endParaRPr>
          </a:p>
        </p:txBody>
      </p:sp>
      <p:sp>
        <p:nvSpPr>
          <p:cNvPr id="42" name="Rectángulo 41">
            <a:extLst>
              <a:ext uri="{FF2B5EF4-FFF2-40B4-BE49-F238E27FC236}">
                <a16:creationId xmlns:a16="http://schemas.microsoft.com/office/drawing/2014/main" id="{4C108776-E7A8-5BBB-9B39-0F7622E459BB}"/>
              </a:ext>
            </a:extLst>
          </p:cNvPr>
          <p:cNvSpPr/>
          <p:nvPr/>
        </p:nvSpPr>
        <p:spPr>
          <a:xfrm>
            <a:off x="9793255" y="5260433"/>
            <a:ext cx="1680990" cy="265295"/>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43" name="Rectángulo: esquinas redondeadas 42">
            <a:extLst>
              <a:ext uri="{FF2B5EF4-FFF2-40B4-BE49-F238E27FC236}">
                <a16:creationId xmlns:a16="http://schemas.microsoft.com/office/drawing/2014/main" id="{2DC534A7-C1F2-FEC8-5A69-6DCE288E170F}"/>
              </a:ext>
            </a:extLst>
          </p:cNvPr>
          <p:cNvSpPr/>
          <p:nvPr/>
        </p:nvSpPr>
        <p:spPr>
          <a:xfrm>
            <a:off x="9481738" y="5301442"/>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t>4</a:t>
            </a:r>
            <a:endParaRPr lang="es-PE" sz="1100" b="1" dirty="0"/>
          </a:p>
        </p:txBody>
      </p:sp>
      <p:sp>
        <p:nvSpPr>
          <p:cNvPr id="44" name="CuadroTexto 43">
            <a:hlinkClick r:id="rId5" action="ppaction://hlinksldjump"/>
            <a:extLst>
              <a:ext uri="{FF2B5EF4-FFF2-40B4-BE49-F238E27FC236}">
                <a16:creationId xmlns:a16="http://schemas.microsoft.com/office/drawing/2014/main" id="{D2FA61A9-A457-633E-8CCC-EECA768CA7BC}"/>
              </a:ext>
            </a:extLst>
          </p:cNvPr>
          <p:cNvSpPr txBox="1"/>
          <p:nvPr/>
        </p:nvSpPr>
        <p:spPr>
          <a:xfrm>
            <a:off x="6031953" y="5189807"/>
            <a:ext cx="3302627" cy="447556"/>
          </a:xfrm>
          <a:prstGeom prst="roundRect">
            <a:avLst>
              <a:gd name="adj" fmla="val 7573"/>
            </a:avLst>
          </a:prstGeom>
          <a:solidFill>
            <a:srgbClr val="7030A0"/>
          </a:solidFill>
        </p:spPr>
        <p:txBody>
          <a:bodyPr wrap="square">
            <a:spAutoFit/>
          </a:bodyPr>
          <a:lstStyle/>
          <a:p>
            <a:pPr lvl="0">
              <a:defRPr/>
            </a:pPr>
            <a:r>
              <a:rPr lang="es-ES" sz="1100" b="1" dirty="0">
                <a:solidFill>
                  <a:srgbClr val="92D050"/>
                </a:solidFill>
              </a:rPr>
              <a:t>Predefinir exclusiones de horario:</a:t>
            </a:r>
            <a:r>
              <a:rPr lang="es-ES" sz="1100" dirty="0">
                <a:solidFill>
                  <a:srgbClr val="FFFFFF"/>
                </a:solidFill>
              </a:rPr>
              <a:t> </a:t>
            </a:r>
            <a:r>
              <a:rPr lang="es-CL" sz="1100" dirty="0">
                <a:solidFill>
                  <a:srgbClr val="FFFFFF"/>
                </a:solidFill>
              </a:rPr>
              <a:t>Permite copiar los registros de una parte de período a otra.</a:t>
            </a:r>
          </a:p>
        </p:txBody>
      </p:sp>
    </p:spTree>
    <p:extLst>
      <p:ext uri="{BB962C8B-B14F-4D97-AF65-F5344CB8AC3E}">
        <p14:creationId xmlns:p14="http://schemas.microsoft.com/office/powerpoint/2010/main" val="8487224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left)">
                                      <p:cBhvr>
                                        <p:cTn id="10" dur="500"/>
                                        <p:tgtEl>
                                          <p:spTgt spid="8"/>
                                        </p:tgtEl>
                                      </p:cBhvr>
                                    </p:animEffect>
                                  </p:childTnLst>
                                </p:cTn>
                              </p:par>
                            </p:childTnLst>
                          </p:cTn>
                        </p:par>
                        <p:par>
                          <p:cTn id="11" fill="hold">
                            <p:stCondLst>
                              <p:cond delay="500"/>
                            </p:stCondLst>
                            <p:childTnLst>
                              <p:par>
                                <p:cTn id="12" presetID="9" presetClass="entr" presetSubtype="0" fill="hold" nodeType="afterEffect">
                                  <p:stCondLst>
                                    <p:cond delay="0"/>
                                  </p:stCondLst>
                                  <p:childTnLst>
                                    <p:set>
                                      <p:cBhvr>
                                        <p:cTn id="13" dur="1" fill="hold">
                                          <p:stCondLst>
                                            <p:cond delay="0"/>
                                          </p:stCondLst>
                                        </p:cTn>
                                        <p:tgtEl>
                                          <p:spTgt spid="32"/>
                                        </p:tgtEl>
                                        <p:attrNameLst>
                                          <p:attrName>style.visibility</p:attrName>
                                        </p:attrNameLst>
                                      </p:cBhvr>
                                      <p:to>
                                        <p:strVal val="visible"/>
                                      </p:to>
                                    </p:set>
                                    <p:animEffect transition="in" filter="dissolve">
                                      <p:cBhvr>
                                        <p:cTn id="14" dur="500"/>
                                        <p:tgtEl>
                                          <p:spTgt spid="32"/>
                                        </p:tgtEl>
                                      </p:cBhvr>
                                    </p:animEffect>
                                  </p:childTnLst>
                                </p:cTn>
                              </p:par>
                            </p:childTnLst>
                          </p:cTn>
                        </p:par>
                        <p:par>
                          <p:cTn id="15" fill="hold">
                            <p:stCondLst>
                              <p:cond delay="1000"/>
                            </p:stCondLst>
                            <p:childTnLst>
                              <p:par>
                                <p:cTn id="16" presetID="21" presetClass="entr" presetSubtype="1" fill="hold" grpId="0" nodeType="afterEffect">
                                  <p:stCondLst>
                                    <p:cond delay="0"/>
                                  </p:stCondLst>
                                  <p:childTnLst>
                                    <p:set>
                                      <p:cBhvr>
                                        <p:cTn id="17" dur="1" fill="hold">
                                          <p:stCondLst>
                                            <p:cond delay="0"/>
                                          </p:stCondLst>
                                        </p:cTn>
                                        <p:tgtEl>
                                          <p:spTgt spid="33"/>
                                        </p:tgtEl>
                                        <p:attrNameLst>
                                          <p:attrName>style.visibility</p:attrName>
                                        </p:attrNameLst>
                                      </p:cBhvr>
                                      <p:to>
                                        <p:strVal val="visible"/>
                                      </p:to>
                                    </p:set>
                                    <p:animEffect transition="in" filter="wheel(1)">
                                      <p:cBhvr>
                                        <p:cTn id="18" dur="2000"/>
                                        <p:tgtEl>
                                          <p:spTgt spid="33"/>
                                        </p:tgtEl>
                                      </p:cBhvr>
                                    </p:animEffect>
                                  </p:childTnLst>
                                </p:cTn>
                              </p:par>
                            </p:childTnLst>
                          </p:cTn>
                        </p:par>
                        <p:par>
                          <p:cTn id="19" fill="hold">
                            <p:stCondLst>
                              <p:cond delay="3000"/>
                            </p:stCondLst>
                            <p:childTnLst>
                              <p:par>
                                <p:cTn id="20" presetID="53" presetClass="entr" presetSubtype="16" fill="hold" grpId="0" nodeType="afterEffect">
                                  <p:stCondLst>
                                    <p:cond delay="0"/>
                                  </p:stCondLst>
                                  <p:childTnLst>
                                    <p:set>
                                      <p:cBhvr>
                                        <p:cTn id="21" dur="1" fill="hold">
                                          <p:stCondLst>
                                            <p:cond delay="0"/>
                                          </p:stCondLst>
                                        </p:cTn>
                                        <p:tgtEl>
                                          <p:spTgt spid="34"/>
                                        </p:tgtEl>
                                        <p:attrNameLst>
                                          <p:attrName>style.visibility</p:attrName>
                                        </p:attrNameLst>
                                      </p:cBhvr>
                                      <p:to>
                                        <p:strVal val="visible"/>
                                      </p:to>
                                    </p:set>
                                    <p:anim calcmode="lin" valueType="num">
                                      <p:cBhvr>
                                        <p:cTn id="22" dur="500" fill="hold"/>
                                        <p:tgtEl>
                                          <p:spTgt spid="34"/>
                                        </p:tgtEl>
                                        <p:attrNameLst>
                                          <p:attrName>ppt_w</p:attrName>
                                        </p:attrNameLst>
                                      </p:cBhvr>
                                      <p:tavLst>
                                        <p:tav tm="0">
                                          <p:val>
                                            <p:fltVal val="0"/>
                                          </p:val>
                                        </p:tav>
                                        <p:tav tm="100000">
                                          <p:val>
                                            <p:strVal val="#ppt_w"/>
                                          </p:val>
                                        </p:tav>
                                      </p:tavLst>
                                    </p:anim>
                                    <p:anim calcmode="lin" valueType="num">
                                      <p:cBhvr>
                                        <p:cTn id="23" dur="500" fill="hold"/>
                                        <p:tgtEl>
                                          <p:spTgt spid="34"/>
                                        </p:tgtEl>
                                        <p:attrNameLst>
                                          <p:attrName>ppt_h</p:attrName>
                                        </p:attrNameLst>
                                      </p:cBhvr>
                                      <p:tavLst>
                                        <p:tav tm="0">
                                          <p:val>
                                            <p:fltVal val="0"/>
                                          </p:val>
                                        </p:tav>
                                        <p:tav tm="100000">
                                          <p:val>
                                            <p:strVal val="#ppt_h"/>
                                          </p:val>
                                        </p:tav>
                                      </p:tavLst>
                                    </p:anim>
                                    <p:animEffect transition="in" filter="fade">
                                      <p:cBhvr>
                                        <p:cTn id="24" dur="500"/>
                                        <p:tgtEl>
                                          <p:spTgt spid="34"/>
                                        </p:tgtEl>
                                      </p:cBhvr>
                                    </p:animEffect>
                                  </p:childTnLst>
                                </p:cTn>
                              </p:par>
                            </p:childTnLst>
                          </p:cTn>
                        </p:par>
                        <p:par>
                          <p:cTn id="25" fill="hold">
                            <p:stCondLst>
                              <p:cond delay="3500"/>
                            </p:stCondLst>
                            <p:childTnLst>
                              <p:par>
                                <p:cTn id="26" presetID="10" presetClass="entr" presetSubtype="0" fill="hold" grpId="0" nodeType="afterEffect">
                                  <p:stCondLst>
                                    <p:cond delay="0"/>
                                  </p:stCondLst>
                                  <p:childTnLst>
                                    <p:set>
                                      <p:cBhvr>
                                        <p:cTn id="27" dur="1" fill="hold">
                                          <p:stCondLst>
                                            <p:cond delay="0"/>
                                          </p:stCondLst>
                                        </p:cTn>
                                        <p:tgtEl>
                                          <p:spTgt spid="35"/>
                                        </p:tgtEl>
                                        <p:attrNameLst>
                                          <p:attrName>style.visibility</p:attrName>
                                        </p:attrNameLst>
                                      </p:cBhvr>
                                      <p:to>
                                        <p:strVal val="visible"/>
                                      </p:to>
                                    </p:set>
                                    <p:animEffect transition="in" filter="fade">
                                      <p:cBhvr>
                                        <p:cTn id="28" dur="500"/>
                                        <p:tgtEl>
                                          <p:spTgt spid="35"/>
                                        </p:tgtEl>
                                      </p:cBhvr>
                                    </p:animEffect>
                                  </p:childTnLst>
                                </p:cTn>
                              </p:par>
                            </p:childTnLst>
                          </p:cTn>
                        </p:par>
                        <p:par>
                          <p:cTn id="29" fill="hold">
                            <p:stCondLst>
                              <p:cond delay="4000"/>
                            </p:stCondLst>
                            <p:childTnLst>
                              <p:par>
                                <p:cTn id="30" presetID="21" presetClass="entr" presetSubtype="1" fill="hold" grpId="0" nodeType="afterEffect">
                                  <p:stCondLst>
                                    <p:cond delay="0"/>
                                  </p:stCondLst>
                                  <p:childTnLst>
                                    <p:set>
                                      <p:cBhvr>
                                        <p:cTn id="31" dur="1" fill="hold">
                                          <p:stCondLst>
                                            <p:cond delay="0"/>
                                          </p:stCondLst>
                                        </p:cTn>
                                        <p:tgtEl>
                                          <p:spTgt spid="36"/>
                                        </p:tgtEl>
                                        <p:attrNameLst>
                                          <p:attrName>style.visibility</p:attrName>
                                        </p:attrNameLst>
                                      </p:cBhvr>
                                      <p:to>
                                        <p:strVal val="visible"/>
                                      </p:to>
                                    </p:set>
                                    <p:animEffect transition="in" filter="wheel(1)">
                                      <p:cBhvr>
                                        <p:cTn id="32" dur="2000"/>
                                        <p:tgtEl>
                                          <p:spTgt spid="36"/>
                                        </p:tgtEl>
                                      </p:cBhvr>
                                    </p:animEffect>
                                  </p:childTnLst>
                                </p:cTn>
                              </p:par>
                            </p:childTnLst>
                          </p:cTn>
                        </p:par>
                        <p:par>
                          <p:cTn id="33" fill="hold">
                            <p:stCondLst>
                              <p:cond delay="6000"/>
                            </p:stCondLst>
                            <p:childTnLst>
                              <p:par>
                                <p:cTn id="34" presetID="53" presetClass="entr" presetSubtype="16" fill="hold" grpId="0" nodeType="afterEffect">
                                  <p:stCondLst>
                                    <p:cond delay="0"/>
                                  </p:stCondLst>
                                  <p:childTnLst>
                                    <p:set>
                                      <p:cBhvr>
                                        <p:cTn id="35" dur="1" fill="hold">
                                          <p:stCondLst>
                                            <p:cond delay="0"/>
                                          </p:stCondLst>
                                        </p:cTn>
                                        <p:tgtEl>
                                          <p:spTgt spid="37"/>
                                        </p:tgtEl>
                                        <p:attrNameLst>
                                          <p:attrName>style.visibility</p:attrName>
                                        </p:attrNameLst>
                                      </p:cBhvr>
                                      <p:to>
                                        <p:strVal val="visible"/>
                                      </p:to>
                                    </p:set>
                                    <p:anim calcmode="lin" valueType="num">
                                      <p:cBhvr>
                                        <p:cTn id="36" dur="500" fill="hold"/>
                                        <p:tgtEl>
                                          <p:spTgt spid="37"/>
                                        </p:tgtEl>
                                        <p:attrNameLst>
                                          <p:attrName>ppt_w</p:attrName>
                                        </p:attrNameLst>
                                      </p:cBhvr>
                                      <p:tavLst>
                                        <p:tav tm="0">
                                          <p:val>
                                            <p:fltVal val="0"/>
                                          </p:val>
                                        </p:tav>
                                        <p:tav tm="100000">
                                          <p:val>
                                            <p:strVal val="#ppt_w"/>
                                          </p:val>
                                        </p:tav>
                                      </p:tavLst>
                                    </p:anim>
                                    <p:anim calcmode="lin" valueType="num">
                                      <p:cBhvr>
                                        <p:cTn id="37" dur="500" fill="hold"/>
                                        <p:tgtEl>
                                          <p:spTgt spid="37"/>
                                        </p:tgtEl>
                                        <p:attrNameLst>
                                          <p:attrName>ppt_h</p:attrName>
                                        </p:attrNameLst>
                                      </p:cBhvr>
                                      <p:tavLst>
                                        <p:tav tm="0">
                                          <p:val>
                                            <p:fltVal val="0"/>
                                          </p:val>
                                        </p:tav>
                                        <p:tav tm="100000">
                                          <p:val>
                                            <p:strVal val="#ppt_h"/>
                                          </p:val>
                                        </p:tav>
                                      </p:tavLst>
                                    </p:anim>
                                    <p:animEffect transition="in" filter="fade">
                                      <p:cBhvr>
                                        <p:cTn id="38" dur="500"/>
                                        <p:tgtEl>
                                          <p:spTgt spid="37"/>
                                        </p:tgtEl>
                                      </p:cBhvr>
                                    </p:animEffect>
                                  </p:childTnLst>
                                </p:cTn>
                              </p:par>
                            </p:childTnLst>
                          </p:cTn>
                        </p:par>
                        <p:par>
                          <p:cTn id="39" fill="hold">
                            <p:stCondLst>
                              <p:cond delay="6500"/>
                            </p:stCondLst>
                            <p:childTnLst>
                              <p:par>
                                <p:cTn id="40" presetID="10" presetClass="entr" presetSubtype="0" fill="hold" grpId="0" nodeType="afterEffect">
                                  <p:stCondLst>
                                    <p:cond delay="0"/>
                                  </p:stCondLst>
                                  <p:childTnLst>
                                    <p:set>
                                      <p:cBhvr>
                                        <p:cTn id="41" dur="1" fill="hold">
                                          <p:stCondLst>
                                            <p:cond delay="0"/>
                                          </p:stCondLst>
                                        </p:cTn>
                                        <p:tgtEl>
                                          <p:spTgt spid="38"/>
                                        </p:tgtEl>
                                        <p:attrNameLst>
                                          <p:attrName>style.visibility</p:attrName>
                                        </p:attrNameLst>
                                      </p:cBhvr>
                                      <p:to>
                                        <p:strVal val="visible"/>
                                      </p:to>
                                    </p:set>
                                    <p:animEffect transition="in" filter="fade">
                                      <p:cBhvr>
                                        <p:cTn id="42" dur="500"/>
                                        <p:tgtEl>
                                          <p:spTgt spid="38"/>
                                        </p:tgtEl>
                                      </p:cBhvr>
                                    </p:animEffect>
                                  </p:childTnLst>
                                </p:cTn>
                              </p:par>
                            </p:childTnLst>
                          </p:cTn>
                        </p:par>
                        <p:par>
                          <p:cTn id="43" fill="hold">
                            <p:stCondLst>
                              <p:cond delay="7000"/>
                            </p:stCondLst>
                            <p:childTnLst>
                              <p:par>
                                <p:cTn id="44" presetID="21" presetClass="entr" presetSubtype="1" fill="hold" grpId="0" nodeType="afterEffect">
                                  <p:stCondLst>
                                    <p:cond delay="0"/>
                                  </p:stCondLst>
                                  <p:childTnLst>
                                    <p:set>
                                      <p:cBhvr>
                                        <p:cTn id="45" dur="1" fill="hold">
                                          <p:stCondLst>
                                            <p:cond delay="0"/>
                                          </p:stCondLst>
                                        </p:cTn>
                                        <p:tgtEl>
                                          <p:spTgt spid="39"/>
                                        </p:tgtEl>
                                        <p:attrNameLst>
                                          <p:attrName>style.visibility</p:attrName>
                                        </p:attrNameLst>
                                      </p:cBhvr>
                                      <p:to>
                                        <p:strVal val="visible"/>
                                      </p:to>
                                    </p:set>
                                    <p:animEffect transition="in" filter="wheel(1)">
                                      <p:cBhvr>
                                        <p:cTn id="46" dur="2000"/>
                                        <p:tgtEl>
                                          <p:spTgt spid="39"/>
                                        </p:tgtEl>
                                      </p:cBhvr>
                                    </p:animEffect>
                                  </p:childTnLst>
                                </p:cTn>
                              </p:par>
                            </p:childTnLst>
                          </p:cTn>
                        </p:par>
                        <p:par>
                          <p:cTn id="47" fill="hold">
                            <p:stCondLst>
                              <p:cond delay="9000"/>
                            </p:stCondLst>
                            <p:childTnLst>
                              <p:par>
                                <p:cTn id="48" presetID="53" presetClass="entr" presetSubtype="16" fill="hold" grpId="0" nodeType="afterEffect">
                                  <p:stCondLst>
                                    <p:cond delay="0"/>
                                  </p:stCondLst>
                                  <p:childTnLst>
                                    <p:set>
                                      <p:cBhvr>
                                        <p:cTn id="49" dur="1" fill="hold">
                                          <p:stCondLst>
                                            <p:cond delay="0"/>
                                          </p:stCondLst>
                                        </p:cTn>
                                        <p:tgtEl>
                                          <p:spTgt spid="40"/>
                                        </p:tgtEl>
                                        <p:attrNameLst>
                                          <p:attrName>style.visibility</p:attrName>
                                        </p:attrNameLst>
                                      </p:cBhvr>
                                      <p:to>
                                        <p:strVal val="visible"/>
                                      </p:to>
                                    </p:set>
                                    <p:anim calcmode="lin" valueType="num">
                                      <p:cBhvr>
                                        <p:cTn id="50" dur="500" fill="hold"/>
                                        <p:tgtEl>
                                          <p:spTgt spid="40"/>
                                        </p:tgtEl>
                                        <p:attrNameLst>
                                          <p:attrName>ppt_w</p:attrName>
                                        </p:attrNameLst>
                                      </p:cBhvr>
                                      <p:tavLst>
                                        <p:tav tm="0">
                                          <p:val>
                                            <p:fltVal val="0"/>
                                          </p:val>
                                        </p:tav>
                                        <p:tav tm="100000">
                                          <p:val>
                                            <p:strVal val="#ppt_w"/>
                                          </p:val>
                                        </p:tav>
                                      </p:tavLst>
                                    </p:anim>
                                    <p:anim calcmode="lin" valueType="num">
                                      <p:cBhvr>
                                        <p:cTn id="51" dur="500" fill="hold"/>
                                        <p:tgtEl>
                                          <p:spTgt spid="40"/>
                                        </p:tgtEl>
                                        <p:attrNameLst>
                                          <p:attrName>ppt_h</p:attrName>
                                        </p:attrNameLst>
                                      </p:cBhvr>
                                      <p:tavLst>
                                        <p:tav tm="0">
                                          <p:val>
                                            <p:fltVal val="0"/>
                                          </p:val>
                                        </p:tav>
                                        <p:tav tm="100000">
                                          <p:val>
                                            <p:strVal val="#ppt_h"/>
                                          </p:val>
                                        </p:tav>
                                      </p:tavLst>
                                    </p:anim>
                                    <p:animEffect transition="in" filter="fade">
                                      <p:cBhvr>
                                        <p:cTn id="52" dur="500"/>
                                        <p:tgtEl>
                                          <p:spTgt spid="40"/>
                                        </p:tgtEl>
                                      </p:cBhvr>
                                    </p:animEffect>
                                  </p:childTnLst>
                                </p:cTn>
                              </p:par>
                            </p:childTnLst>
                          </p:cTn>
                        </p:par>
                        <p:par>
                          <p:cTn id="53" fill="hold">
                            <p:stCondLst>
                              <p:cond delay="9500"/>
                            </p:stCondLst>
                            <p:childTnLst>
                              <p:par>
                                <p:cTn id="54" presetID="10" presetClass="entr" presetSubtype="0" fill="hold" grpId="0" nodeType="afterEffect">
                                  <p:stCondLst>
                                    <p:cond delay="0"/>
                                  </p:stCondLst>
                                  <p:childTnLst>
                                    <p:set>
                                      <p:cBhvr>
                                        <p:cTn id="55" dur="1" fill="hold">
                                          <p:stCondLst>
                                            <p:cond delay="0"/>
                                          </p:stCondLst>
                                        </p:cTn>
                                        <p:tgtEl>
                                          <p:spTgt spid="41"/>
                                        </p:tgtEl>
                                        <p:attrNameLst>
                                          <p:attrName>style.visibility</p:attrName>
                                        </p:attrNameLst>
                                      </p:cBhvr>
                                      <p:to>
                                        <p:strVal val="visible"/>
                                      </p:to>
                                    </p:set>
                                    <p:animEffect transition="in" filter="fade">
                                      <p:cBhvr>
                                        <p:cTn id="56" dur="500"/>
                                        <p:tgtEl>
                                          <p:spTgt spid="41"/>
                                        </p:tgtEl>
                                      </p:cBhvr>
                                    </p:animEffect>
                                  </p:childTnLst>
                                </p:cTn>
                              </p:par>
                            </p:childTnLst>
                          </p:cTn>
                        </p:par>
                        <p:par>
                          <p:cTn id="57" fill="hold">
                            <p:stCondLst>
                              <p:cond delay="10000"/>
                            </p:stCondLst>
                            <p:childTnLst>
                              <p:par>
                                <p:cTn id="58" presetID="21" presetClass="entr" presetSubtype="1" fill="hold" grpId="0" nodeType="afterEffect">
                                  <p:stCondLst>
                                    <p:cond delay="0"/>
                                  </p:stCondLst>
                                  <p:childTnLst>
                                    <p:set>
                                      <p:cBhvr>
                                        <p:cTn id="59" dur="1" fill="hold">
                                          <p:stCondLst>
                                            <p:cond delay="0"/>
                                          </p:stCondLst>
                                        </p:cTn>
                                        <p:tgtEl>
                                          <p:spTgt spid="42"/>
                                        </p:tgtEl>
                                        <p:attrNameLst>
                                          <p:attrName>style.visibility</p:attrName>
                                        </p:attrNameLst>
                                      </p:cBhvr>
                                      <p:to>
                                        <p:strVal val="visible"/>
                                      </p:to>
                                    </p:set>
                                    <p:animEffect transition="in" filter="wheel(1)">
                                      <p:cBhvr>
                                        <p:cTn id="60" dur="2000"/>
                                        <p:tgtEl>
                                          <p:spTgt spid="42"/>
                                        </p:tgtEl>
                                      </p:cBhvr>
                                    </p:animEffect>
                                  </p:childTnLst>
                                </p:cTn>
                              </p:par>
                            </p:childTnLst>
                          </p:cTn>
                        </p:par>
                        <p:par>
                          <p:cTn id="61" fill="hold">
                            <p:stCondLst>
                              <p:cond delay="12000"/>
                            </p:stCondLst>
                            <p:childTnLst>
                              <p:par>
                                <p:cTn id="62" presetID="53" presetClass="entr" presetSubtype="16" fill="hold" grpId="0" nodeType="afterEffect">
                                  <p:stCondLst>
                                    <p:cond delay="0"/>
                                  </p:stCondLst>
                                  <p:childTnLst>
                                    <p:set>
                                      <p:cBhvr>
                                        <p:cTn id="63" dur="1" fill="hold">
                                          <p:stCondLst>
                                            <p:cond delay="0"/>
                                          </p:stCondLst>
                                        </p:cTn>
                                        <p:tgtEl>
                                          <p:spTgt spid="43"/>
                                        </p:tgtEl>
                                        <p:attrNameLst>
                                          <p:attrName>style.visibility</p:attrName>
                                        </p:attrNameLst>
                                      </p:cBhvr>
                                      <p:to>
                                        <p:strVal val="visible"/>
                                      </p:to>
                                    </p:set>
                                    <p:anim calcmode="lin" valueType="num">
                                      <p:cBhvr>
                                        <p:cTn id="64" dur="500" fill="hold"/>
                                        <p:tgtEl>
                                          <p:spTgt spid="43"/>
                                        </p:tgtEl>
                                        <p:attrNameLst>
                                          <p:attrName>ppt_w</p:attrName>
                                        </p:attrNameLst>
                                      </p:cBhvr>
                                      <p:tavLst>
                                        <p:tav tm="0">
                                          <p:val>
                                            <p:fltVal val="0"/>
                                          </p:val>
                                        </p:tav>
                                        <p:tav tm="100000">
                                          <p:val>
                                            <p:strVal val="#ppt_w"/>
                                          </p:val>
                                        </p:tav>
                                      </p:tavLst>
                                    </p:anim>
                                    <p:anim calcmode="lin" valueType="num">
                                      <p:cBhvr>
                                        <p:cTn id="65" dur="500" fill="hold"/>
                                        <p:tgtEl>
                                          <p:spTgt spid="43"/>
                                        </p:tgtEl>
                                        <p:attrNameLst>
                                          <p:attrName>ppt_h</p:attrName>
                                        </p:attrNameLst>
                                      </p:cBhvr>
                                      <p:tavLst>
                                        <p:tav tm="0">
                                          <p:val>
                                            <p:fltVal val="0"/>
                                          </p:val>
                                        </p:tav>
                                        <p:tav tm="100000">
                                          <p:val>
                                            <p:strVal val="#ppt_h"/>
                                          </p:val>
                                        </p:tav>
                                      </p:tavLst>
                                    </p:anim>
                                    <p:animEffect transition="in" filter="fade">
                                      <p:cBhvr>
                                        <p:cTn id="66" dur="500"/>
                                        <p:tgtEl>
                                          <p:spTgt spid="43"/>
                                        </p:tgtEl>
                                      </p:cBhvr>
                                    </p:animEffect>
                                  </p:childTnLst>
                                </p:cTn>
                              </p:par>
                            </p:childTnLst>
                          </p:cTn>
                        </p:par>
                        <p:par>
                          <p:cTn id="67" fill="hold">
                            <p:stCondLst>
                              <p:cond delay="12500"/>
                            </p:stCondLst>
                            <p:childTnLst>
                              <p:par>
                                <p:cTn id="68" presetID="10" presetClass="entr" presetSubtype="0" fill="hold" grpId="0" nodeType="afterEffect">
                                  <p:stCondLst>
                                    <p:cond delay="0"/>
                                  </p:stCondLst>
                                  <p:childTnLst>
                                    <p:set>
                                      <p:cBhvr>
                                        <p:cTn id="69" dur="1" fill="hold">
                                          <p:stCondLst>
                                            <p:cond delay="0"/>
                                          </p:stCondLst>
                                        </p:cTn>
                                        <p:tgtEl>
                                          <p:spTgt spid="44"/>
                                        </p:tgtEl>
                                        <p:attrNameLst>
                                          <p:attrName>style.visibility</p:attrName>
                                        </p:attrNameLst>
                                      </p:cBhvr>
                                      <p:to>
                                        <p:strVal val="visible"/>
                                      </p:to>
                                    </p:set>
                                    <p:animEffect transition="in" filter="fade">
                                      <p:cBhvr>
                                        <p:cTn id="70"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7CAB2B86-4E3B-C98C-411E-958BEFE187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2528" y="6154887"/>
            <a:ext cx="2234242" cy="525923"/>
          </a:xfrm>
          <a:prstGeom prst="rect">
            <a:avLst/>
          </a:prstGeom>
        </p:spPr>
      </p:pic>
      <p:pic>
        <p:nvPicPr>
          <p:cNvPr id="4" name="Picture 4" descr="Ellucian Student Reseñas 2026: Detalles, Precios y Características | G2">
            <a:extLst>
              <a:ext uri="{FF2B5EF4-FFF2-40B4-BE49-F238E27FC236}">
                <a16:creationId xmlns:a16="http://schemas.microsoft.com/office/drawing/2014/main" id="{7352B780-8C7C-7B91-F3EE-5E6EF2C2E4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98101" y="5901780"/>
            <a:ext cx="1821371" cy="956220"/>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0AEBA78F-8C98-5D4D-384F-95B753FFADE4}"/>
              </a:ext>
            </a:extLst>
          </p:cNvPr>
          <p:cNvSpPr txBox="1"/>
          <p:nvPr/>
        </p:nvSpPr>
        <p:spPr>
          <a:xfrm>
            <a:off x="431320" y="241540"/>
            <a:ext cx="9233618" cy="523220"/>
          </a:xfrm>
          <a:prstGeom prst="rect">
            <a:avLst/>
          </a:prstGeom>
          <a:noFill/>
        </p:spPr>
        <p:txBody>
          <a:bodyPr wrap="none" rtlCol="0">
            <a:spAutoFit/>
          </a:bodyPr>
          <a:lstStyle/>
          <a:p>
            <a:r>
              <a:rPr lang="es-ES" sz="2800" b="1" dirty="0">
                <a:latin typeface="Montserrat" pitchFamily="2" charset="0"/>
              </a:rPr>
              <a:t>REGLAS DE EXCLUSIÓN DE HORARIO - SSAEXCL</a:t>
            </a:r>
            <a:endParaRPr lang="es-PE" sz="2800" b="1" dirty="0">
              <a:latin typeface="Montserrat" pitchFamily="2" charset="0"/>
            </a:endParaRPr>
          </a:p>
        </p:txBody>
      </p:sp>
      <p:sp>
        <p:nvSpPr>
          <p:cNvPr id="8" name="Rectángulo 7">
            <a:extLst>
              <a:ext uri="{FF2B5EF4-FFF2-40B4-BE49-F238E27FC236}">
                <a16:creationId xmlns:a16="http://schemas.microsoft.com/office/drawing/2014/main" id="{A16BCE08-E23C-F264-A6E3-E4019979D2E2}"/>
              </a:ext>
            </a:extLst>
          </p:cNvPr>
          <p:cNvSpPr/>
          <p:nvPr/>
        </p:nvSpPr>
        <p:spPr>
          <a:xfrm>
            <a:off x="9664938" y="241540"/>
            <a:ext cx="2527061" cy="445583"/>
          </a:xfrm>
          <a:prstGeom prst="rect">
            <a:avLst/>
          </a:prstGeom>
          <a:gradFill flip="none" rotWithShape="1">
            <a:gsLst>
              <a:gs pos="0">
                <a:schemeClr val="accent6">
                  <a:lumMod val="0"/>
                  <a:lumOff val="100000"/>
                </a:schemeClr>
              </a:gs>
              <a:gs pos="66000">
                <a:schemeClr val="accent6">
                  <a:lumMod val="100000"/>
                </a:schemeClr>
              </a:gs>
            </a:gsLst>
            <a:lin ang="0" scaled="1"/>
            <a:tileRect/>
          </a:gra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s-PE"/>
          </a:p>
        </p:txBody>
      </p:sp>
      <p:sp>
        <p:nvSpPr>
          <p:cNvPr id="6" name="CuadroTexto 5">
            <a:extLst>
              <a:ext uri="{FF2B5EF4-FFF2-40B4-BE49-F238E27FC236}">
                <a16:creationId xmlns:a16="http://schemas.microsoft.com/office/drawing/2014/main" id="{AC33DC36-253A-547B-7A30-A152C2F6B4CE}"/>
              </a:ext>
            </a:extLst>
          </p:cNvPr>
          <p:cNvSpPr txBox="1"/>
          <p:nvPr/>
        </p:nvSpPr>
        <p:spPr>
          <a:xfrm>
            <a:off x="4528936" y="6386396"/>
            <a:ext cx="3134128" cy="276999"/>
          </a:xfrm>
          <a:prstGeom prst="rect">
            <a:avLst/>
          </a:prstGeom>
          <a:noFill/>
        </p:spPr>
        <p:txBody>
          <a:bodyPr wrap="none" rtlCol="0">
            <a:spAutoFit/>
          </a:bodyPr>
          <a:lstStyle/>
          <a:p>
            <a:pPr algn="ctr"/>
            <a:r>
              <a:rPr lang="es-ES" sz="1200" i="1" dirty="0"/>
              <a:t>Elaborado por: Ing. Liliana Ocampo Moreno</a:t>
            </a:r>
            <a:endParaRPr lang="es-PE" sz="1200" i="1" dirty="0"/>
          </a:p>
        </p:txBody>
      </p:sp>
      <p:pic>
        <p:nvPicPr>
          <p:cNvPr id="5" name="Imagen 4">
            <a:extLst>
              <a:ext uri="{FF2B5EF4-FFF2-40B4-BE49-F238E27FC236}">
                <a16:creationId xmlns:a16="http://schemas.microsoft.com/office/drawing/2014/main" id="{8568537E-B36B-A6AA-E9F3-EA46CA909D87}"/>
              </a:ext>
            </a:extLst>
          </p:cNvPr>
          <p:cNvPicPr>
            <a:picLocks noChangeAspect="1"/>
          </p:cNvPicPr>
          <p:nvPr/>
        </p:nvPicPr>
        <p:blipFill>
          <a:blip r:embed="rId4"/>
          <a:stretch>
            <a:fillRect/>
          </a:stretch>
        </p:blipFill>
        <p:spPr>
          <a:xfrm>
            <a:off x="431320" y="1026609"/>
            <a:ext cx="11495331" cy="4875172"/>
          </a:xfrm>
          <a:prstGeom prst="rect">
            <a:avLst/>
          </a:prstGeom>
        </p:spPr>
      </p:pic>
      <p:sp>
        <p:nvSpPr>
          <p:cNvPr id="9" name="Rectángulo 8">
            <a:extLst>
              <a:ext uri="{FF2B5EF4-FFF2-40B4-BE49-F238E27FC236}">
                <a16:creationId xmlns:a16="http://schemas.microsoft.com/office/drawing/2014/main" id="{6464F1AE-8037-74A5-1541-812988A7A656}"/>
              </a:ext>
            </a:extLst>
          </p:cNvPr>
          <p:cNvSpPr/>
          <p:nvPr/>
        </p:nvSpPr>
        <p:spPr>
          <a:xfrm>
            <a:off x="5742039" y="3111952"/>
            <a:ext cx="1445342" cy="240848"/>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10" name="Rectángulo: esquinas redondeadas 9">
            <a:extLst>
              <a:ext uri="{FF2B5EF4-FFF2-40B4-BE49-F238E27FC236}">
                <a16:creationId xmlns:a16="http://schemas.microsoft.com/office/drawing/2014/main" id="{02BBB8F3-2590-5BEA-59D6-F74DBC92F954}"/>
              </a:ext>
            </a:extLst>
          </p:cNvPr>
          <p:cNvSpPr/>
          <p:nvPr/>
        </p:nvSpPr>
        <p:spPr>
          <a:xfrm>
            <a:off x="6249050" y="2793445"/>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t>1</a:t>
            </a:r>
            <a:endParaRPr lang="es-PE" sz="1100" b="1" dirty="0"/>
          </a:p>
        </p:txBody>
      </p:sp>
      <p:sp>
        <p:nvSpPr>
          <p:cNvPr id="11" name="CuadroTexto 10">
            <a:hlinkClick r:id="rId5" action="ppaction://hlinksldjump"/>
            <a:extLst>
              <a:ext uri="{FF2B5EF4-FFF2-40B4-BE49-F238E27FC236}">
                <a16:creationId xmlns:a16="http://schemas.microsoft.com/office/drawing/2014/main" id="{88AE6E5F-24BA-9328-089F-8663D9958A0D}"/>
              </a:ext>
            </a:extLst>
          </p:cNvPr>
          <p:cNvSpPr txBox="1"/>
          <p:nvPr/>
        </p:nvSpPr>
        <p:spPr>
          <a:xfrm>
            <a:off x="4277033" y="2251668"/>
            <a:ext cx="4149212" cy="447556"/>
          </a:xfrm>
          <a:prstGeom prst="roundRect">
            <a:avLst>
              <a:gd name="adj" fmla="val 7573"/>
            </a:avLst>
          </a:prstGeom>
          <a:solidFill>
            <a:srgbClr val="7030A0"/>
          </a:solidFill>
        </p:spPr>
        <p:txBody>
          <a:bodyPr wrap="square">
            <a:spAutoFit/>
          </a:bodyPr>
          <a:lstStyle/>
          <a:p>
            <a:pPr algn="ctr"/>
            <a:r>
              <a:rPr lang="es-ES" sz="1100" dirty="0">
                <a:solidFill>
                  <a:srgbClr val="FFFFFF"/>
                </a:solidFill>
              </a:rPr>
              <a:t>Ingrese la </a:t>
            </a:r>
            <a:r>
              <a:rPr lang="es-ES" sz="1100" b="1" dirty="0">
                <a:solidFill>
                  <a:srgbClr val="92D050"/>
                </a:solidFill>
              </a:rPr>
              <a:t>Parte de periodo</a:t>
            </a:r>
            <a:r>
              <a:rPr lang="es-ES" sz="1100" dirty="0">
                <a:solidFill>
                  <a:srgbClr val="FFFFFF"/>
                </a:solidFill>
              </a:rPr>
              <a:t> desde la que desea copiar los datos.</a:t>
            </a:r>
            <a:br>
              <a:rPr lang="es-ES" sz="1100" dirty="0">
                <a:solidFill>
                  <a:srgbClr val="FFFFFF"/>
                </a:solidFill>
              </a:rPr>
            </a:br>
            <a:r>
              <a:rPr lang="es-ES" sz="1100" dirty="0">
                <a:solidFill>
                  <a:srgbClr val="FFFFFF"/>
                </a:solidFill>
              </a:rPr>
              <a:t>Debe dar </a:t>
            </a:r>
            <a:r>
              <a:rPr lang="es-ES" sz="1100" dirty="0" err="1">
                <a:solidFill>
                  <a:srgbClr val="FFFFFF"/>
                </a:solidFill>
              </a:rPr>
              <a:t>Tab</a:t>
            </a:r>
            <a:r>
              <a:rPr lang="es-ES" sz="1100" dirty="0">
                <a:solidFill>
                  <a:srgbClr val="FFFFFF"/>
                </a:solidFill>
              </a:rPr>
              <a:t> o </a:t>
            </a:r>
            <a:r>
              <a:rPr lang="es-ES" sz="1100" dirty="0" err="1">
                <a:solidFill>
                  <a:srgbClr val="FFFFFF"/>
                </a:solidFill>
              </a:rPr>
              <a:t>Enter</a:t>
            </a:r>
            <a:r>
              <a:rPr lang="es-ES" sz="1100" dirty="0">
                <a:solidFill>
                  <a:srgbClr val="FFFFFF"/>
                </a:solidFill>
              </a:rPr>
              <a:t>.</a:t>
            </a:r>
          </a:p>
        </p:txBody>
      </p:sp>
      <p:sp>
        <p:nvSpPr>
          <p:cNvPr id="12" name="Rectángulo 11">
            <a:extLst>
              <a:ext uri="{FF2B5EF4-FFF2-40B4-BE49-F238E27FC236}">
                <a16:creationId xmlns:a16="http://schemas.microsoft.com/office/drawing/2014/main" id="{83B4D7FB-3D7C-E578-04DE-A8A27263F242}"/>
              </a:ext>
            </a:extLst>
          </p:cNvPr>
          <p:cNvSpPr/>
          <p:nvPr/>
        </p:nvSpPr>
        <p:spPr>
          <a:xfrm>
            <a:off x="5908715" y="3460753"/>
            <a:ext cx="1357324" cy="231534"/>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13" name="Rectángulo: esquinas redondeadas 12">
            <a:extLst>
              <a:ext uri="{FF2B5EF4-FFF2-40B4-BE49-F238E27FC236}">
                <a16:creationId xmlns:a16="http://schemas.microsoft.com/office/drawing/2014/main" id="{0C286610-6545-C402-23A0-DB8553C71F0B}"/>
              </a:ext>
            </a:extLst>
          </p:cNvPr>
          <p:cNvSpPr/>
          <p:nvPr/>
        </p:nvSpPr>
        <p:spPr>
          <a:xfrm>
            <a:off x="6861025" y="3821888"/>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t>2</a:t>
            </a:r>
            <a:endParaRPr lang="es-PE" sz="1100" b="1" dirty="0"/>
          </a:p>
        </p:txBody>
      </p:sp>
      <p:sp>
        <p:nvSpPr>
          <p:cNvPr id="14" name="CuadroTexto 13">
            <a:hlinkClick r:id="rId5" action="ppaction://hlinksldjump"/>
            <a:extLst>
              <a:ext uri="{FF2B5EF4-FFF2-40B4-BE49-F238E27FC236}">
                <a16:creationId xmlns:a16="http://schemas.microsoft.com/office/drawing/2014/main" id="{22D7D8C5-D00D-3D26-F7A4-6F16121568DC}"/>
              </a:ext>
            </a:extLst>
          </p:cNvPr>
          <p:cNvSpPr txBox="1"/>
          <p:nvPr/>
        </p:nvSpPr>
        <p:spPr>
          <a:xfrm>
            <a:off x="7187381" y="3821888"/>
            <a:ext cx="2727802" cy="623381"/>
          </a:xfrm>
          <a:prstGeom prst="roundRect">
            <a:avLst>
              <a:gd name="adj" fmla="val 7573"/>
            </a:avLst>
          </a:prstGeom>
          <a:solidFill>
            <a:srgbClr val="7030A0"/>
          </a:solidFill>
        </p:spPr>
        <p:txBody>
          <a:bodyPr wrap="square">
            <a:spAutoFit/>
          </a:bodyPr>
          <a:lstStyle/>
          <a:p>
            <a:pPr algn="ctr"/>
            <a:r>
              <a:rPr lang="es-ES" sz="1100" dirty="0">
                <a:solidFill>
                  <a:srgbClr val="FFFFFF"/>
                </a:solidFill>
              </a:rPr>
              <a:t>En la sección </a:t>
            </a:r>
            <a:r>
              <a:rPr lang="es-ES" sz="1100" b="1" dirty="0">
                <a:solidFill>
                  <a:srgbClr val="92D050"/>
                </a:solidFill>
              </a:rPr>
              <a:t>Procesar predefinido</a:t>
            </a:r>
            <a:r>
              <a:rPr lang="es-ES" sz="1100" dirty="0">
                <a:solidFill>
                  <a:srgbClr val="FFFFFF"/>
                </a:solidFill>
              </a:rPr>
              <a:t>, se da </a:t>
            </a:r>
            <a:r>
              <a:rPr lang="es-ES" sz="1100" dirty="0" err="1">
                <a:solidFill>
                  <a:srgbClr val="FFFFFF"/>
                </a:solidFill>
              </a:rPr>
              <a:t>click</a:t>
            </a:r>
            <a:r>
              <a:rPr lang="es-ES" sz="1100" dirty="0">
                <a:solidFill>
                  <a:srgbClr val="FFFFFF"/>
                </a:solidFill>
              </a:rPr>
              <a:t> en los puntos y el proceso ejecutará la copia.</a:t>
            </a:r>
          </a:p>
        </p:txBody>
      </p:sp>
    </p:spTree>
    <p:extLst>
      <p:ext uri="{BB962C8B-B14F-4D97-AF65-F5344CB8AC3E}">
        <p14:creationId xmlns:p14="http://schemas.microsoft.com/office/powerpoint/2010/main" val="29556111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left)">
                                      <p:cBhvr>
                                        <p:cTn id="10" dur="500"/>
                                        <p:tgtEl>
                                          <p:spTgt spid="8"/>
                                        </p:tgtEl>
                                      </p:cBhvr>
                                    </p:animEffect>
                                  </p:childTnLst>
                                </p:cTn>
                              </p:par>
                            </p:childTnLst>
                          </p:cTn>
                        </p:par>
                        <p:par>
                          <p:cTn id="11" fill="hold">
                            <p:stCondLst>
                              <p:cond delay="500"/>
                            </p:stCondLst>
                            <p:childTnLst>
                              <p:par>
                                <p:cTn id="12" presetID="9" presetClass="entr" presetSubtype="0" fill="hold"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dissolve">
                                      <p:cBhvr>
                                        <p:cTn id="14" dur="500"/>
                                        <p:tgtEl>
                                          <p:spTgt spid="5"/>
                                        </p:tgtEl>
                                      </p:cBhvr>
                                    </p:animEffect>
                                  </p:childTnLst>
                                </p:cTn>
                              </p:par>
                            </p:childTnLst>
                          </p:cTn>
                        </p:par>
                        <p:par>
                          <p:cTn id="15" fill="hold">
                            <p:stCondLst>
                              <p:cond delay="1000"/>
                            </p:stCondLst>
                            <p:childTnLst>
                              <p:par>
                                <p:cTn id="16" presetID="21" presetClass="entr" presetSubtype="1" fill="hold" grpId="0" nodeType="after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wheel(1)">
                                      <p:cBhvr>
                                        <p:cTn id="18" dur="2000"/>
                                        <p:tgtEl>
                                          <p:spTgt spid="9"/>
                                        </p:tgtEl>
                                      </p:cBhvr>
                                    </p:animEffect>
                                  </p:childTnLst>
                                </p:cTn>
                              </p:par>
                            </p:childTnLst>
                          </p:cTn>
                        </p:par>
                        <p:par>
                          <p:cTn id="19" fill="hold">
                            <p:stCondLst>
                              <p:cond delay="3000"/>
                            </p:stCondLst>
                            <p:childTnLst>
                              <p:par>
                                <p:cTn id="20" presetID="53" presetClass="entr" presetSubtype="16" fill="hold" grpId="0" nodeType="afterEffect">
                                  <p:stCondLst>
                                    <p:cond delay="0"/>
                                  </p:stCondLst>
                                  <p:childTnLst>
                                    <p:set>
                                      <p:cBhvr>
                                        <p:cTn id="21" dur="1" fill="hold">
                                          <p:stCondLst>
                                            <p:cond delay="0"/>
                                          </p:stCondLst>
                                        </p:cTn>
                                        <p:tgtEl>
                                          <p:spTgt spid="10"/>
                                        </p:tgtEl>
                                        <p:attrNameLst>
                                          <p:attrName>style.visibility</p:attrName>
                                        </p:attrNameLst>
                                      </p:cBhvr>
                                      <p:to>
                                        <p:strVal val="visible"/>
                                      </p:to>
                                    </p:set>
                                    <p:anim calcmode="lin" valueType="num">
                                      <p:cBhvr>
                                        <p:cTn id="22" dur="500" fill="hold"/>
                                        <p:tgtEl>
                                          <p:spTgt spid="10"/>
                                        </p:tgtEl>
                                        <p:attrNameLst>
                                          <p:attrName>ppt_w</p:attrName>
                                        </p:attrNameLst>
                                      </p:cBhvr>
                                      <p:tavLst>
                                        <p:tav tm="0">
                                          <p:val>
                                            <p:fltVal val="0"/>
                                          </p:val>
                                        </p:tav>
                                        <p:tav tm="100000">
                                          <p:val>
                                            <p:strVal val="#ppt_w"/>
                                          </p:val>
                                        </p:tav>
                                      </p:tavLst>
                                    </p:anim>
                                    <p:anim calcmode="lin" valueType="num">
                                      <p:cBhvr>
                                        <p:cTn id="23" dur="500" fill="hold"/>
                                        <p:tgtEl>
                                          <p:spTgt spid="10"/>
                                        </p:tgtEl>
                                        <p:attrNameLst>
                                          <p:attrName>ppt_h</p:attrName>
                                        </p:attrNameLst>
                                      </p:cBhvr>
                                      <p:tavLst>
                                        <p:tav tm="0">
                                          <p:val>
                                            <p:fltVal val="0"/>
                                          </p:val>
                                        </p:tav>
                                        <p:tav tm="100000">
                                          <p:val>
                                            <p:strVal val="#ppt_h"/>
                                          </p:val>
                                        </p:tav>
                                      </p:tavLst>
                                    </p:anim>
                                    <p:animEffect transition="in" filter="fade">
                                      <p:cBhvr>
                                        <p:cTn id="24" dur="500"/>
                                        <p:tgtEl>
                                          <p:spTgt spid="10"/>
                                        </p:tgtEl>
                                      </p:cBhvr>
                                    </p:animEffect>
                                  </p:childTnLst>
                                </p:cTn>
                              </p:par>
                            </p:childTnLst>
                          </p:cTn>
                        </p:par>
                        <p:par>
                          <p:cTn id="25" fill="hold">
                            <p:stCondLst>
                              <p:cond delay="3500"/>
                            </p:stCondLst>
                            <p:childTnLst>
                              <p:par>
                                <p:cTn id="26" presetID="10" presetClass="entr" presetSubtype="0" fill="hold" grpId="0" nodeType="after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00"/>
                                        <p:tgtEl>
                                          <p:spTgt spid="11"/>
                                        </p:tgtEl>
                                      </p:cBhvr>
                                    </p:animEffect>
                                  </p:childTnLst>
                                </p:cTn>
                              </p:par>
                            </p:childTnLst>
                          </p:cTn>
                        </p:par>
                        <p:par>
                          <p:cTn id="29" fill="hold">
                            <p:stCondLst>
                              <p:cond delay="4000"/>
                            </p:stCondLst>
                            <p:childTnLst>
                              <p:par>
                                <p:cTn id="30" presetID="21" presetClass="entr" presetSubtype="1" fill="hold" grpId="0" nodeType="after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wheel(1)">
                                      <p:cBhvr>
                                        <p:cTn id="32" dur="2000"/>
                                        <p:tgtEl>
                                          <p:spTgt spid="12"/>
                                        </p:tgtEl>
                                      </p:cBhvr>
                                    </p:animEffect>
                                  </p:childTnLst>
                                </p:cTn>
                              </p:par>
                            </p:childTnLst>
                          </p:cTn>
                        </p:par>
                        <p:par>
                          <p:cTn id="33" fill="hold">
                            <p:stCondLst>
                              <p:cond delay="6000"/>
                            </p:stCondLst>
                            <p:childTnLst>
                              <p:par>
                                <p:cTn id="34" presetID="53" presetClass="entr" presetSubtype="16" fill="hold" grpId="0" nodeType="afterEffect">
                                  <p:stCondLst>
                                    <p:cond delay="0"/>
                                  </p:stCondLst>
                                  <p:childTnLst>
                                    <p:set>
                                      <p:cBhvr>
                                        <p:cTn id="35" dur="1" fill="hold">
                                          <p:stCondLst>
                                            <p:cond delay="0"/>
                                          </p:stCondLst>
                                        </p:cTn>
                                        <p:tgtEl>
                                          <p:spTgt spid="13"/>
                                        </p:tgtEl>
                                        <p:attrNameLst>
                                          <p:attrName>style.visibility</p:attrName>
                                        </p:attrNameLst>
                                      </p:cBhvr>
                                      <p:to>
                                        <p:strVal val="visible"/>
                                      </p:to>
                                    </p:set>
                                    <p:anim calcmode="lin" valueType="num">
                                      <p:cBhvr>
                                        <p:cTn id="36" dur="500" fill="hold"/>
                                        <p:tgtEl>
                                          <p:spTgt spid="13"/>
                                        </p:tgtEl>
                                        <p:attrNameLst>
                                          <p:attrName>ppt_w</p:attrName>
                                        </p:attrNameLst>
                                      </p:cBhvr>
                                      <p:tavLst>
                                        <p:tav tm="0">
                                          <p:val>
                                            <p:fltVal val="0"/>
                                          </p:val>
                                        </p:tav>
                                        <p:tav tm="100000">
                                          <p:val>
                                            <p:strVal val="#ppt_w"/>
                                          </p:val>
                                        </p:tav>
                                      </p:tavLst>
                                    </p:anim>
                                    <p:anim calcmode="lin" valueType="num">
                                      <p:cBhvr>
                                        <p:cTn id="37" dur="500" fill="hold"/>
                                        <p:tgtEl>
                                          <p:spTgt spid="13"/>
                                        </p:tgtEl>
                                        <p:attrNameLst>
                                          <p:attrName>ppt_h</p:attrName>
                                        </p:attrNameLst>
                                      </p:cBhvr>
                                      <p:tavLst>
                                        <p:tav tm="0">
                                          <p:val>
                                            <p:fltVal val="0"/>
                                          </p:val>
                                        </p:tav>
                                        <p:tav tm="100000">
                                          <p:val>
                                            <p:strVal val="#ppt_h"/>
                                          </p:val>
                                        </p:tav>
                                      </p:tavLst>
                                    </p:anim>
                                    <p:animEffect transition="in" filter="fade">
                                      <p:cBhvr>
                                        <p:cTn id="38" dur="500"/>
                                        <p:tgtEl>
                                          <p:spTgt spid="13"/>
                                        </p:tgtEl>
                                      </p:cBhvr>
                                    </p:animEffect>
                                  </p:childTnLst>
                                </p:cTn>
                              </p:par>
                            </p:childTnLst>
                          </p:cTn>
                        </p:par>
                        <p:par>
                          <p:cTn id="39" fill="hold">
                            <p:stCondLst>
                              <p:cond delay="6500"/>
                            </p:stCondLst>
                            <p:childTnLst>
                              <p:par>
                                <p:cTn id="40" presetID="10" presetClass="entr" presetSubtype="0" fill="hold" grpId="0" nodeType="after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9" grpId="0" animBg="1"/>
      <p:bldP spid="10" grpId="0" animBg="1"/>
      <p:bldP spid="11" grpId="0" animBg="1"/>
      <p:bldP spid="12" grpId="0" animBg="1"/>
      <p:bldP spid="13" grpId="0" animBg="1"/>
      <p:bldP spid="14"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5C2193"/>
        </a:solidFill>
        <a:effectLst/>
      </p:bgPr>
    </p:bg>
    <p:spTree>
      <p:nvGrpSpPr>
        <p:cNvPr id="1" name=""/>
        <p:cNvGrpSpPr/>
        <p:nvPr/>
      </p:nvGrpSpPr>
      <p:grpSpPr>
        <a:xfrm>
          <a:off x="0" y="0"/>
          <a:ext cx="0" cy="0"/>
          <a:chOff x="0" y="0"/>
          <a:chExt cx="0" cy="0"/>
        </a:xfrm>
      </p:grpSpPr>
      <p:pic>
        <p:nvPicPr>
          <p:cNvPr id="1028" name="Picture 4" descr="Ellucian Student Reseñas 2026: Detalles, Precios y Características | G2">
            <a:extLst>
              <a:ext uri="{FF2B5EF4-FFF2-40B4-BE49-F238E27FC236}">
                <a16:creationId xmlns:a16="http://schemas.microsoft.com/office/drawing/2014/main" id="{3EBF1EA5-190E-0F8F-B4F4-56B5380AED44}"/>
              </a:ext>
            </a:extLst>
          </p:cNvPr>
          <p:cNvPicPr>
            <a:picLocks noChangeAspect="1" noChangeArrowheads="1"/>
          </p:cNvPicPr>
          <p:nvPr/>
        </p:nvPicPr>
        <p:blipFill>
          <a:blip r:embed="rId2">
            <a:biLevel thresh="25000"/>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8405244" y="5091953"/>
            <a:ext cx="3363899" cy="1766047"/>
          </a:xfrm>
          <a:prstGeom prst="rect">
            <a:avLst/>
          </a:prstGeom>
          <a:noFill/>
          <a:extLst>
            <a:ext uri="{909E8E84-426E-40DD-AFC4-6F175D3DCCD1}">
              <a14:hiddenFill xmlns:a14="http://schemas.microsoft.com/office/drawing/2010/main">
                <a:solidFill>
                  <a:srgbClr val="FFFFFF"/>
                </a:solidFill>
              </a14:hiddenFill>
            </a:ext>
          </a:extLst>
        </p:spPr>
      </p:pic>
      <p:pic>
        <p:nvPicPr>
          <p:cNvPr id="8" name="Imagen 7">
            <a:extLst>
              <a:ext uri="{FF2B5EF4-FFF2-40B4-BE49-F238E27FC236}">
                <a16:creationId xmlns:a16="http://schemas.microsoft.com/office/drawing/2014/main" id="{F3B12AA1-09DB-029E-CEFB-090B28455E75}"/>
              </a:ext>
            </a:extLst>
          </p:cNvPr>
          <p:cNvPicPr>
            <a:picLocks noChangeAspect="1"/>
          </p:cNvPicPr>
          <p:nvPr/>
        </p:nvPicPr>
        <p:blipFill>
          <a:blip r:embed="rId4">
            <a:lum bright="70000" contrast="-70000"/>
            <a:extLst>
              <a:ext uri="{28A0092B-C50C-407E-A947-70E740481C1C}">
                <a14:useLocalDpi xmlns:a14="http://schemas.microsoft.com/office/drawing/2010/main" val="0"/>
              </a:ext>
            </a:extLst>
          </a:blip>
          <a:stretch>
            <a:fillRect/>
          </a:stretch>
        </p:blipFill>
        <p:spPr>
          <a:xfrm>
            <a:off x="596901" y="418320"/>
            <a:ext cx="3688228" cy="868180"/>
          </a:xfrm>
          <a:prstGeom prst="rect">
            <a:avLst/>
          </a:prstGeom>
        </p:spPr>
      </p:pic>
      <p:sp>
        <p:nvSpPr>
          <p:cNvPr id="17" name="CuadroTexto 16">
            <a:extLst>
              <a:ext uri="{FF2B5EF4-FFF2-40B4-BE49-F238E27FC236}">
                <a16:creationId xmlns:a16="http://schemas.microsoft.com/office/drawing/2014/main" id="{D0BC250B-0A63-B351-C809-BDD7940DFA1A}"/>
              </a:ext>
            </a:extLst>
          </p:cNvPr>
          <p:cNvSpPr txBox="1"/>
          <p:nvPr/>
        </p:nvSpPr>
        <p:spPr>
          <a:xfrm>
            <a:off x="1000664" y="1907042"/>
            <a:ext cx="10196423" cy="175432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5400" b="1" i="0" u="none" strike="noStrike" kern="1200" cap="none" spc="0" normalizeH="0" baseline="0" noProof="0" dirty="0">
                <a:ln>
                  <a:noFill/>
                </a:ln>
                <a:solidFill>
                  <a:srgbClr val="196B24">
                    <a:lumMod val="60000"/>
                    <a:lumOff val="40000"/>
                  </a:srgbClr>
                </a:solidFill>
                <a:effectLst/>
                <a:uLnTx/>
                <a:uFillTx/>
                <a:latin typeface="Montserrat" pitchFamily="2" charset="0"/>
                <a:ea typeface="+mn-ea"/>
                <a:cs typeface="+mn-cs"/>
              </a:rPr>
              <a:t>COPIAR</a:t>
            </a:r>
            <a:br>
              <a:rPr kumimoji="0" lang="es-ES" sz="5400" b="1" i="0" u="none" strike="noStrike" kern="1200" cap="none" spc="0" normalizeH="0" baseline="0" noProof="0" dirty="0">
                <a:ln>
                  <a:noFill/>
                </a:ln>
                <a:solidFill>
                  <a:srgbClr val="196B24">
                    <a:lumMod val="60000"/>
                    <a:lumOff val="40000"/>
                  </a:srgbClr>
                </a:solidFill>
                <a:effectLst/>
                <a:uLnTx/>
                <a:uFillTx/>
                <a:latin typeface="Montserrat" pitchFamily="2" charset="0"/>
                <a:ea typeface="+mn-ea"/>
                <a:cs typeface="+mn-cs"/>
              </a:rPr>
            </a:br>
            <a:r>
              <a:rPr kumimoji="0" lang="es-ES" sz="5400" b="1" i="0" u="none" strike="noStrike" kern="1200" cap="none" spc="0" normalizeH="0" baseline="0" noProof="0" dirty="0">
                <a:ln>
                  <a:noFill/>
                </a:ln>
                <a:solidFill>
                  <a:srgbClr val="196B24">
                    <a:lumMod val="60000"/>
                    <a:lumOff val="40000"/>
                  </a:srgbClr>
                </a:solidFill>
                <a:effectLst/>
                <a:uLnTx/>
                <a:uFillTx/>
                <a:latin typeface="Montserrat" pitchFamily="2" charset="0"/>
                <a:ea typeface="+mn-ea"/>
                <a:cs typeface="+mn-cs"/>
              </a:rPr>
              <a:t>CALENDARIO ACADÉMICO</a:t>
            </a:r>
            <a:endParaRPr kumimoji="0" lang="es-PE" sz="5400" b="1" i="0" u="none" strike="noStrike" kern="1200" cap="none" spc="0" normalizeH="0" baseline="0" noProof="0" dirty="0">
              <a:ln>
                <a:noFill/>
              </a:ln>
              <a:solidFill>
                <a:srgbClr val="196B24">
                  <a:lumMod val="60000"/>
                  <a:lumOff val="40000"/>
                </a:srgbClr>
              </a:solidFill>
              <a:effectLst/>
              <a:uLnTx/>
              <a:uFillTx/>
              <a:latin typeface="Montserrat" pitchFamily="2" charset="0"/>
              <a:ea typeface="+mn-ea"/>
              <a:cs typeface="+mn-cs"/>
            </a:endParaRPr>
          </a:p>
        </p:txBody>
      </p:sp>
      <p:sp>
        <p:nvSpPr>
          <p:cNvPr id="3" name="CuadroTexto 2">
            <a:extLst>
              <a:ext uri="{FF2B5EF4-FFF2-40B4-BE49-F238E27FC236}">
                <a16:creationId xmlns:a16="http://schemas.microsoft.com/office/drawing/2014/main" id="{3EEB4538-9A01-61FC-2736-55C412E04D72}"/>
              </a:ext>
            </a:extLst>
          </p:cNvPr>
          <p:cNvSpPr txBox="1"/>
          <p:nvPr/>
        </p:nvSpPr>
        <p:spPr>
          <a:xfrm>
            <a:off x="596901" y="6322596"/>
            <a:ext cx="3134128"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200" b="0" i="1" u="none" strike="noStrike" kern="1200" cap="none" spc="0" normalizeH="0" baseline="0" noProof="0" dirty="0">
                <a:ln>
                  <a:noFill/>
                </a:ln>
                <a:solidFill>
                  <a:prstClr val="white"/>
                </a:solidFill>
                <a:effectLst/>
                <a:uLnTx/>
                <a:uFillTx/>
                <a:latin typeface="Aptos" panose="02110004020202020204"/>
                <a:ea typeface="+mn-ea"/>
                <a:cs typeface="+mn-cs"/>
              </a:rPr>
              <a:t>Elaborado por: Ing. Liliana Ocampo Moreno</a:t>
            </a:r>
            <a:endParaRPr kumimoji="0" lang="es-PE" sz="1200" b="0" i="1"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4" name="CuadroTexto 3">
            <a:extLst>
              <a:ext uri="{FF2B5EF4-FFF2-40B4-BE49-F238E27FC236}">
                <a16:creationId xmlns:a16="http://schemas.microsoft.com/office/drawing/2014/main" id="{E1A462EC-C6BC-083C-4144-168320176BC0}"/>
              </a:ext>
            </a:extLst>
          </p:cNvPr>
          <p:cNvSpPr txBox="1"/>
          <p:nvPr/>
        </p:nvSpPr>
        <p:spPr>
          <a:xfrm>
            <a:off x="1198406" y="4319006"/>
            <a:ext cx="10196423"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600" dirty="0">
                <a:solidFill>
                  <a:prstClr val="white"/>
                </a:solidFill>
                <a:latin typeface="Aptos" panose="02110004020202020204"/>
              </a:rPr>
              <a:t>Copiar la configuración de un periodo existente.</a:t>
            </a:r>
            <a:endParaRPr kumimoji="0" lang="es-PE" sz="16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172054325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7CAB2B86-4E3B-C98C-411E-958BEFE187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2528" y="6154887"/>
            <a:ext cx="2234242" cy="525923"/>
          </a:xfrm>
          <a:prstGeom prst="rect">
            <a:avLst/>
          </a:prstGeom>
        </p:spPr>
      </p:pic>
      <p:pic>
        <p:nvPicPr>
          <p:cNvPr id="4" name="Picture 4" descr="Ellucian Student Reseñas 2026: Detalles, Precios y Características | G2">
            <a:extLst>
              <a:ext uri="{FF2B5EF4-FFF2-40B4-BE49-F238E27FC236}">
                <a16:creationId xmlns:a16="http://schemas.microsoft.com/office/drawing/2014/main" id="{7352B780-8C7C-7B91-F3EE-5E6EF2C2E4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98101" y="5901780"/>
            <a:ext cx="1821371" cy="956220"/>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0AEBA78F-8C98-5D4D-384F-95B753FFADE4}"/>
              </a:ext>
            </a:extLst>
          </p:cNvPr>
          <p:cNvSpPr txBox="1"/>
          <p:nvPr/>
        </p:nvSpPr>
        <p:spPr>
          <a:xfrm>
            <a:off x="431320" y="241540"/>
            <a:ext cx="9009198" cy="523220"/>
          </a:xfrm>
          <a:prstGeom prst="rect">
            <a:avLst/>
          </a:prstGeom>
          <a:noFill/>
        </p:spPr>
        <p:txBody>
          <a:bodyPr wrap="none" rtlCol="0">
            <a:spAutoFit/>
          </a:bodyPr>
          <a:lstStyle/>
          <a:p>
            <a:r>
              <a:rPr lang="es-ES" sz="2800" b="1" dirty="0">
                <a:latin typeface="Montserrat" pitchFamily="2" charset="0"/>
              </a:rPr>
              <a:t>COPIAR CALENDARIO ACADÉMICO - SOATERM</a:t>
            </a:r>
            <a:endParaRPr lang="es-PE" sz="2800" b="1" dirty="0">
              <a:latin typeface="Montserrat" pitchFamily="2" charset="0"/>
            </a:endParaRPr>
          </a:p>
        </p:txBody>
      </p:sp>
      <p:sp>
        <p:nvSpPr>
          <p:cNvPr id="8" name="Rectángulo 7">
            <a:extLst>
              <a:ext uri="{FF2B5EF4-FFF2-40B4-BE49-F238E27FC236}">
                <a16:creationId xmlns:a16="http://schemas.microsoft.com/office/drawing/2014/main" id="{A16BCE08-E23C-F264-A6E3-E4019979D2E2}"/>
              </a:ext>
            </a:extLst>
          </p:cNvPr>
          <p:cNvSpPr/>
          <p:nvPr/>
        </p:nvSpPr>
        <p:spPr>
          <a:xfrm>
            <a:off x="9370142" y="241540"/>
            <a:ext cx="2821857" cy="445583"/>
          </a:xfrm>
          <a:prstGeom prst="rect">
            <a:avLst/>
          </a:prstGeom>
          <a:gradFill flip="none" rotWithShape="1">
            <a:gsLst>
              <a:gs pos="0">
                <a:schemeClr val="accent6">
                  <a:lumMod val="0"/>
                  <a:lumOff val="100000"/>
                </a:schemeClr>
              </a:gs>
              <a:gs pos="66000">
                <a:schemeClr val="accent6">
                  <a:lumMod val="100000"/>
                </a:schemeClr>
              </a:gs>
            </a:gsLst>
            <a:lin ang="0" scaled="1"/>
            <a:tileRect/>
          </a:gra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s-PE"/>
          </a:p>
        </p:txBody>
      </p:sp>
      <p:sp>
        <p:nvSpPr>
          <p:cNvPr id="6" name="CuadroTexto 5">
            <a:extLst>
              <a:ext uri="{FF2B5EF4-FFF2-40B4-BE49-F238E27FC236}">
                <a16:creationId xmlns:a16="http://schemas.microsoft.com/office/drawing/2014/main" id="{AC33DC36-253A-547B-7A30-A152C2F6B4CE}"/>
              </a:ext>
            </a:extLst>
          </p:cNvPr>
          <p:cNvSpPr txBox="1"/>
          <p:nvPr/>
        </p:nvSpPr>
        <p:spPr>
          <a:xfrm>
            <a:off x="4528936" y="6386396"/>
            <a:ext cx="3134128" cy="276999"/>
          </a:xfrm>
          <a:prstGeom prst="rect">
            <a:avLst/>
          </a:prstGeom>
          <a:noFill/>
        </p:spPr>
        <p:txBody>
          <a:bodyPr wrap="none" rtlCol="0">
            <a:spAutoFit/>
          </a:bodyPr>
          <a:lstStyle/>
          <a:p>
            <a:pPr algn="ctr"/>
            <a:r>
              <a:rPr lang="es-ES" sz="1200" i="1" dirty="0"/>
              <a:t>Elaborado por: Ing. Liliana Ocampo Moreno</a:t>
            </a:r>
            <a:endParaRPr lang="es-PE" sz="1200" i="1" dirty="0"/>
          </a:p>
        </p:txBody>
      </p:sp>
      <p:pic>
        <p:nvPicPr>
          <p:cNvPr id="5" name="Imagen 4">
            <a:extLst>
              <a:ext uri="{FF2B5EF4-FFF2-40B4-BE49-F238E27FC236}">
                <a16:creationId xmlns:a16="http://schemas.microsoft.com/office/drawing/2014/main" id="{CEDBB2A5-B64D-B3F4-4E61-18A05D0F1F04}"/>
              </a:ext>
            </a:extLst>
          </p:cNvPr>
          <p:cNvPicPr>
            <a:picLocks noChangeAspect="1"/>
          </p:cNvPicPr>
          <p:nvPr/>
        </p:nvPicPr>
        <p:blipFill>
          <a:blip r:embed="rId4"/>
          <a:stretch>
            <a:fillRect/>
          </a:stretch>
        </p:blipFill>
        <p:spPr>
          <a:xfrm>
            <a:off x="431320" y="1021953"/>
            <a:ext cx="11436215" cy="4859498"/>
          </a:xfrm>
          <a:prstGeom prst="rect">
            <a:avLst/>
          </a:prstGeom>
        </p:spPr>
      </p:pic>
      <p:sp>
        <p:nvSpPr>
          <p:cNvPr id="9" name="Rectángulo 8">
            <a:extLst>
              <a:ext uri="{FF2B5EF4-FFF2-40B4-BE49-F238E27FC236}">
                <a16:creationId xmlns:a16="http://schemas.microsoft.com/office/drawing/2014/main" id="{1B2C756A-8981-12AF-2F9E-A979A28DE375}"/>
              </a:ext>
            </a:extLst>
          </p:cNvPr>
          <p:cNvSpPr/>
          <p:nvPr/>
        </p:nvSpPr>
        <p:spPr>
          <a:xfrm>
            <a:off x="784131" y="1358986"/>
            <a:ext cx="2037727" cy="200643"/>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10" name="Rectángulo: esquinas redondeadas 9">
            <a:extLst>
              <a:ext uri="{FF2B5EF4-FFF2-40B4-BE49-F238E27FC236}">
                <a16:creationId xmlns:a16="http://schemas.microsoft.com/office/drawing/2014/main" id="{6471E648-C1DF-1BE4-E34F-DEA06BB8B577}"/>
              </a:ext>
            </a:extLst>
          </p:cNvPr>
          <p:cNvSpPr/>
          <p:nvPr/>
        </p:nvSpPr>
        <p:spPr>
          <a:xfrm>
            <a:off x="2932510" y="1335343"/>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t>1</a:t>
            </a:r>
            <a:endParaRPr lang="es-PE" sz="1100" b="1" dirty="0"/>
          </a:p>
        </p:txBody>
      </p:sp>
      <p:sp>
        <p:nvSpPr>
          <p:cNvPr id="11" name="CuadroTexto 10">
            <a:hlinkClick r:id="rId5" action="ppaction://hlinksldjump"/>
            <a:extLst>
              <a:ext uri="{FF2B5EF4-FFF2-40B4-BE49-F238E27FC236}">
                <a16:creationId xmlns:a16="http://schemas.microsoft.com/office/drawing/2014/main" id="{117ECA4D-446D-992F-7E2A-8F6CC11D8F6E}"/>
              </a:ext>
            </a:extLst>
          </p:cNvPr>
          <p:cNvSpPr txBox="1"/>
          <p:nvPr/>
        </p:nvSpPr>
        <p:spPr>
          <a:xfrm>
            <a:off x="2919429" y="1661377"/>
            <a:ext cx="1740310" cy="623381"/>
          </a:xfrm>
          <a:prstGeom prst="roundRect">
            <a:avLst>
              <a:gd name="adj" fmla="val 7573"/>
            </a:avLst>
          </a:prstGeom>
          <a:solidFill>
            <a:srgbClr val="7030A0"/>
          </a:solidFill>
        </p:spPr>
        <p:txBody>
          <a:bodyPr wrap="square">
            <a:spAutoFit/>
          </a:bodyPr>
          <a:lstStyle/>
          <a:p>
            <a:pPr algn="ctr"/>
            <a:r>
              <a:rPr lang="es-ES" sz="1100" dirty="0">
                <a:solidFill>
                  <a:srgbClr val="FFFFFF"/>
                </a:solidFill>
              </a:rPr>
              <a:t>Ingrese el </a:t>
            </a:r>
            <a:r>
              <a:rPr lang="es-ES" sz="1100" b="1" dirty="0">
                <a:solidFill>
                  <a:srgbClr val="92D050"/>
                </a:solidFill>
              </a:rPr>
              <a:t>Periodo</a:t>
            </a:r>
            <a:r>
              <a:rPr lang="es-ES" sz="1100" dirty="0">
                <a:solidFill>
                  <a:srgbClr val="FFFFFF"/>
                </a:solidFill>
              </a:rPr>
              <a:t> que desea configurar.</a:t>
            </a:r>
          </a:p>
          <a:p>
            <a:pPr algn="ctr"/>
            <a:r>
              <a:rPr lang="es-ES" sz="1100" dirty="0">
                <a:solidFill>
                  <a:srgbClr val="FFFFFF"/>
                </a:solidFill>
              </a:rPr>
              <a:t>(Requerido).</a:t>
            </a:r>
            <a:endParaRPr lang="es-ES" b="0" dirty="0">
              <a:effectLst/>
            </a:endParaRPr>
          </a:p>
        </p:txBody>
      </p:sp>
      <p:sp>
        <p:nvSpPr>
          <p:cNvPr id="12" name="Rectángulo 11">
            <a:extLst>
              <a:ext uri="{FF2B5EF4-FFF2-40B4-BE49-F238E27FC236}">
                <a16:creationId xmlns:a16="http://schemas.microsoft.com/office/drawing/2014/main" id="{2013EF78-5BCA-39F7-C7EF-74F6E82C63B4}"/>
              </a:ext>
            </a:extLst>
          </p:cNvPr>
          <p:cNvSpPr/>
          <p:nvPr/>
        </p:nvSpPr>
        <p:spPr>
          <a:xfrm>
            <a:off x="5591766" y="1352171"/>
            <a:ext cx="2352699" cy="224286"/>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13" name="Rectángulo: esquinas redondeadas 12">
            <a:extLst>
              <a:ext uri="{FF2B5EF4-FFF2-40B4-BE49-F238E27FC236}">
                <a16:creationId xmlns:a16="http://schemas.microsoft.com/office/drawing/2014/main" id="{C426C3D9-6538-CFC0-82E7-124BC574B741}"/>
              </a:ext>
            </a:extLst>
          </p:cNvPr>
          <p:cNvSpPr/>
          <p:nvPr/>
        </p:nvSpPr>
        <p:spPr>
          <a:xfrm>
            <a:off x="8028688" y="1365601"/>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t>2</a:t>
            </a:r>
            <a:endParaRPr lang="es-PE" sz="1100" b="1" dirty="0"/>
          </a:p>
        </p:txBody>
      </p:sp>
      <p:sp>
        <p:nvSpPr>
          <p:cNvPr id="14" name="CuadroTexto 13">
            <a:hlinkClick r:id="rId5" action="ppaction://hlinksldjump"/>
            <a:extLst>
              <a:ext uri="{FF2B5EF4-FFF2-40B4-BE49-F238E27FC236}">
                <a16:creationId xmlns:a16="http://schemas.microsoft.com/office/drawing/2014/main" id="{A8E10352-911A-E21B-995B-AE8A21D3B4E4}"/>
              </a:ext>
            </a:extLst>
          </p:cNvPr>
          <p:cNvSpPr txBox="1"/>
          <p:nvPr/>
        </p:nvSpPr>
        <p:spPr>
          <a:xfrm>
            <a:off x="8291051" y="1335343"/>
            <a:ext cx="1740310" cy="447556"/>
          </a:xfrm>
          <a:prstGeom prst="roundRect">
            <a:avLst>
              <a:gd name="adj" fmla="val 7573"/>
            </a:avLst>
          </a:prstGeom>
          <a:solidFill>
            <a:srgbClr val="7030A0"/>
          </a:solidFill>
        </p:spPr>
        <p:txBody>
          <a:bodyPr wrap="square">
            <a:spAutoFit/>
          </a:bodyPr>
          <a:lstStyle/>
          <a:p>
            <a:pPr algn="ctr"/>
            <a:r>
              <a:rPr lang="es-ES" sz="1100" dirty="0">
                <a:solidFill>
                  <a:srgbClr val="FFFFFF"/>
                </a:solidFill>
              </a:rPr>
              <a:t>Ingrese el </a:t>
            </a:r>
            <a:r>
              <a:rPr lang="es-ES" sz="1100" b="1" dirty="0">
                <a:solidFill>
                  <a:srgbClr val="92D050"/>
                </a:solidFill>
              </a:rPr>
              <a:t>Periodo</a:t>
            </a:r>
            <a:r>
              <a:rPr lang="es-ES" sz="1100" dirty="0">
                <a:solidFill>
                  <a:srgbClr val="FFFFFF"/>
                </a:solidFill>
              </a:rPr>
              <a:t> del que se desea copiar.</a:t>
            </a:r>
            <a:endParaRPr lang="es-ES" b="0" dirty="0">
              <a:effectLst/>
            </a:endParaRPr>
          </a:p>
        </p:txBody>
      </p:sp>
      <p:sp>
        <p:nvSpPr>
          <p:cNvPr id="15" name="Rectángulo 14">
            <a:extLst>
              <a:ext uri="{FF2B5EF4-FFF2-40B4-BE49-F238E27FC236}">
                <a16:creationId xmlns:a16="http://schemas.microsoft.com/office/drawing/2014/main" id="{7BFBC5DF-CE91-8930-E372-A6B744F0E97B}"/>
              </a:ext>
            </a:extLst>
          </p:cNvPr>
          <p:cNvSpPr/>
          <p:nvPr/>
        </p:nvSpPr>
        <p:spPr>
          <a:xfrm>
            <a:off x="1360762" y="1559630"/>
            <a:ext cx="605690" cy="224286"/>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16" name="Rectángulo: esquinas redondeadas 15">
            <a:extLst>
              <a:ext uri="{FF2B5EF4-FFF2-40B4-BE49-F238E27FC236}">
                <a16:creationId xmlns:a16="http://schemas.microsoft.com/office/drawing/2014/main" id="{C21A6666-24CB-175B-EA7A-E1F184088850}"/>
              </a:ext>
            </a:extLst>
          </p:cNvPr>
          <p:cNvSpPr/>
          <p:nvPr/>
        </p:nvSpPr>
        <p:spPr>
          <a:xfrm>
            <a:off x="1447947" y="1860925"/>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t>3</a:t>
            </a:r>
            <a:endParaRPr lang="es-PE" sz="1100" b="1" dirty="0"/>
          </a:p>
        </p:txBody>
      </p:sp>
      <p:sp>
        <p:nvSpPr>
          <p:cNvPr id="17" name="CuadroTexto 16">
            <a:extLst>
              <a:ext uri="{FF2B5EF4-FFF2-40B4-BE49-F238E27FC236}">
                <a16:creationId xmlns:a16="http://schemas.microsoft.com/office/drawing/2014/main" id="{AF046C5F-CF13-D1FF-9586-7BE391A3899F}"/>
              </a:ext>
            </a:extLst>
          </p:cNvPr>
          <p:cNvSpPr txBox="1"/>
          <p:nvPr/>
        </p:nvSpPr>
        <p:spPr>
          <a:xfrm>
            <a:off x="776889" y="2164188"/>
            <a:ext cx="1167746" cy="447556"/>
          </a:xfrm>
          <a:prstGeom prst="roundRect">
            <a:avLst>
              <a:gd name="adj" fmla="val 7573"/>
            </a:avLst>
          </a:prstGeom>
          <a:solidFill>
            <a:srgbClr val="7030A0"/>
          </a:solidFill>
        </p:spPr>
        <p:txBody>
          <a:bodyPr wrap="square">
            <a:spAutoFit/>
          </a:bodyPr>
          <a:lstStyle/>
          <a:p>
            <a:pPr algn="ctr" rtl="0">
              <a:spcBef>
                <a:spcPts val="0"/>
              </a:spcBef>
              <a:spcAft>
                <a:spcPts val="0"/>
              </a:spcAft>
            </a:pPr>
            <a:r>
              <a:rPr lang="es-ES" sz="1100" dirty="0">
                <a:solidFill>
                  <a:srgbClr val="FFFFFF"/>
                </a:solidFill>
              </a:rPr>
              <a:t>Seleccionar</a:t>
            </a:r>
            <a:r>
              <a:rPr lang="es-ES" sz="1100" b="0" i="0" u="none" strike="noStrike" dirty="0">
                <a:solidFill>
                  <a:srgbClr val="FFFFFF"/>
                </a:solidFill>
                <a:effectLst/>
              </a:rPr>
              <a:t> </a:t>
            </a:r>
            <a:r>
              <a:rPr lang="es-ES" sz="1100" b="1" dirty="0">
                <a:solidFill>
                  <a:srgbClr val="92D050"/>
                </a:solidFill>
              </a:rPr>
              <a:t>Copiar</a:t>
            </a:r>
            <a:endParaRPr lang="es-ES" b="1" dirty="0">
              <a:solidFill>
                <a:srgbClr val="92D050"/>
              </a:solidFill>
              <a:effectLst/>
            </a:endParaRPr>
          </a:p>
        </p:txBody>
      </p:sp>
    </p:spTree>
    <p:extLst>
      <p:ext uri="{BB962C8B-B14F-4D97-AF65-F5344CB8AC3E}">
        <p14:creationId xmlns:p14="http://schemas.microsoft.com/office/powerpoint/2010/main" val="32389213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left)">
                                      <p:cBhvr>
                                        <p:cTn id="10" dur="500"/>
                                        <p:tgtEl>
                                          <p:spTgt spid="8"/>
                                        </p:tgtEl>
                                      </p:cBhvr>
                                    </p:animEffect>
                                  </p:childTnLst>
                                </p:cTn>
                              </p:par>
                            </p:childTnLst>
                          </p:cTn>
                        </p:par>
                        <p:par>
                          <p:cTn id="11" fill="hold">
                            <p:stCondLst>
                              <p:cond delay="500"/>
                            </p:stCondLst>
                            <p:childTnLst>
                              <p:par>
                                <p:cTn id="12" presetID="9" presetClass="entr" presetSubtype="0" fill="hold"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dissolve">
                                      <p:cBhvr>
                                        <p:cTn id="14" dur="500"/>
                                        <p:tgtEl>
                                          <p:spTgt spid="5"/>
                                        </p:tgtEl>
                                      </p:cBhvr>
                                    </p:animEffect>
                                  </p:childTnLst>
                                </p:cTn>
                              </p:par>
                            </p:childTnLst>
                          </p:cTn>
                        </p:par>
                        <p:par>
                          <p:cTn id="15" fill="hold">
                            <p:stCondLst>
                              <p:cond delay="1000"/>
                            </p:stCondLst>
                            <p:childTnLst>
                              <p:par>
                                <p:cTn id="16" presetID="21" presetClass="entr" presetSubtype="1" fill="hold" grpId="0" nodeType="after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wheel(1)">
                                      <p:cBhvr>
                                        <p:cTn id="18" dur="2000"/>
                                        <p:tgtEl>
                                          <p:spTgt spid="9"/>
                                        </p:tgtEl>
                                      </p:cBhvr>
                                    </p:animEffect>
                                  </p:childTnLst>
                                </p:cTn>
                              </p:par>
                            </p:childTnLst>
                          </p:cTn>
                        </p:par>
                        <p:par>
                          <p:cTn id="19" fill="hold">
                            <p:stCondLst>
                              <p:cond delay="3000"/>
                            </p:stCondLst>
                            <p:childTnLst>
                              <p:par>
                                <p:cTn id="20" presetID="53" presetClass="entr" presetSubtype="16" fill="hold" grpId="0" nodeType="afterEffect">
                                  <p:stCondLst>
                                    <p:cond delay="0"/>
                                  </p:stCondLst>
                                  <p:childTnLst>
                                    <p:set>
                                      <p:cBhvr>
                                        <p:cTn id="21" dur="1" fill="hold">
                                          <p:stCondLst>
                                            <p:cond delay="0"/>
                                          </p:stCondLst>
                                        </p:cTn>
                                        <p:tgtEl>
                                          <p:spTgt spid="10"/>
                                        </p:tgtEl>
                                        <p:attrNameLst>
                                          <p:attrName>style.visibility</p:attrName>
                                        </p:attrNameLst>
                                      </p:cBhvr>
                                      <p:to>
                                        <p:strVal val="visible"/>
                                      </p:to>
                                    </p:set>
                                    <p:anim calcmode="lin" valueType="num">
                                      <p:cBhvr>
                                        <p:cTn id="22" dur="500" fill="hold"/>
                                        <p:tgtEl>
                                          <p:spTgt spid="10"/>
                                        </p:tgtEl>
                                        <p:attrNameLst>
                                          <p:attrName>ppt_w</p:attrName>
                                        </p:attrNameLst>
                                      </p:cBhvr>
                                      <p:tavLst>
                                        <p:tav tm="0">
                                          <p:val>
                                            <p:fltVal val="0"/>
                                          </p:val>
                                        </p:tav>
                                        <p:tav tm="100000">
                                          <p:val>
                                            <p:strVal val="#ppt_w"/>
                                          </p:val>
                                        </p:tav>
                                      </p:tavLst>
                                    </p:anim>
                                    <p:anim calcmode="lin" valueType="num">
                                      <p:cBhvr>
                                        <p:cTn id="23" dur="500" fill="hold"/>
                                        <p:tgtEl>
                                          <p:spTgt spid="10"/>
                                        </p:tgtEl>
                                        <p:attrNameLst>
                                          <p:attrName>ppt_h</p:attrName>
                                        </p:attrNameLst>
                                      </p:cBhvr>
                                      <p:tavLst>
                                        <p:tav tm="0">
                                          <p:val>
                                            <p:fltVal val="0"/>
                                          </p:val>
                                        </p:tav>
                                        <p:tav tm="100000">
                                          <p:val>
                                            <p:strVal val="#ppt_h"/>
                                          </p:val>
                                        </p:tav>
                                      </p:tavLst>
                                    </p:anim>
                                    <p:animEffect transition="in" filter="fade">
                                      <p:cBhvr>
                                        <p:cTn id="24" dur="500"/>
                                        <p:tgtEl>
                                          <p:spTgt spid="10"/>
                                        </p:tgtEl>
                                      </p:cBhvr>
                                    </p:animEffect>
                                  </p:childTnLst>
                                </p:cTn>
                              </p:par>
                            </p:childTnLst>
                          </p:cTn>
                        </p:par>
                        <p:par>
                          <p:cTn id="25" fill="hold">
                            <p:stCondLst>
                              <p:cond delay="3500"/>
                            </p:stCondLst>
                            <p:childTnLst>
                              <p:par>
                                <p:cTn id="26" presetID="10" presetClass="entr" presetSubtype="0" fill="hold" grpId="0" nodeType="after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00"/>
                                        <p:tgtEl>
                                          <p:spTgt spid="11"/>
                                        </p:tgtEl>
                                      </p:cBhvr>
                                    </p:animEffect>
                                  </p:childTnLst>
                                </p:cTn>
                              </p:par>
                            </p:childTnLst>
                          </p:cTn>
                        </p:par>
                        <p:par>
                          <p:cTn id="29" fill="hold">
                            <p:stCondLst>
                              <p:cond delay="4000"/>
                            </p:stCondLst>
                            <p:childTnLst>
                              <p:par>
                                <p:cTn id="30" presetID="21" presetClass="entr" presetSubtype="1" fill="hold" grpId="0" nodeType="after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wheel(1)">
                                      <p:cBhvr>
                                        <p:cTn id="32" dur="2000"/>
                                        <p:tgtEl>
                                          <p:spTgt spid="12"/>
                                        </p:tgtEl>
                                      </p:cBhvr>
                                    </p:animEffect>
                                  </p:childTnLst>
                                </p:cTn>
                              </p:par>
                            </p:childTnLst>
                          </p:cTn>
                        </p:par>
                        <p:par>
                          <p:cTn id="33" fill="hold">
                            <p:stCondLst>
                              <p:cond delay="6000"/>
                            </p:stCondLst>
                            <p:childTnLst>
                              <p:par>
                                <p:cTn id="34" presetID="53" presetClass="entr" presetSubtype="16" fill="hold" grpId="0" nodeType="afterEffect">
                                  <p:stCondLst>
                                    <p:cond delay="0"/>
                                  </p:stCondLst>
                                  <p:childTnLst>
                                    <p:set>
                                      <p:cBhvr>
                                        <p:cTn id="35" dur="1" fill="hold">
                                          <p:stCondLst>
                                            <p:cond delay="0"/>
                                          </p:stCondLst>
                                        </p:cTn>
                                        <p:tgtEl>
                                          <p:spTgt spid="13"/>
                                        </p:tgtEl>
                                        <p:attrNameLst>
                                          <p:attrName>style.visibility</p:attrName>
                                        </p:attrNameLst>
                                      </p:cBhvr>
                                      <p:to>
                                        <p:strVal val="visible"/>
                                      </p:to>
                                    </p:set>
                                    <p:anim calcmode="lin" valueType="num">
                                      <p:cBhvr>
                                        <p:cTn id="36" dur="500" fill="hold"/>
                                        <p:tgtEl>
                                          <p:spTgt spid="13"/>
                                        </p:tgtEl>
                                        <p:attrNameLst>
                                          <p:attrName>ppt_w</p:attrName>
                                        </p:attrNameLst>
                                      </p:cBhvr>
                                      <p:tavLst>
                                        <p:tav tm="0">
                                          <p:val>
                                            <p:fltVal val="0"/>
                                          </p:val>
                                        </p:tav>
                                        <p:tav tm="100000">
                                          <p:val>
                                            <p:strVal val="#ppt_w"/>
                                          </p:val>
                                        </p:tav>
                                      </p:tavLst>
                                    </p:anim>
                                    <p:anim calcmode="lin" valueType="num">
                                      <p:cBhvr>
                                        <p:cTn id="37" dur="500" fill="hold"/>
                                        <p:tgtEl>
                                          <p:spTgt spid="13"/>
                                        </p:tgtEl>
                                        <p:attrNameLst>
                                          <p:attrName>ppt_h</p:attrName>
                                        </p:attrNameLst>
                                      </p:cBhvr>
                                      <p:tavLst>
                                        <p:tav tm="0">
                                          <p:val>
                                            <p:fltVal val="0"/>
                                          </p:val>
                                        </p:tav>
                                        <p:tav tm="100000">
                                          <p:val>
                                            <p:strVal val="#ppt_h"/>
                                          </p:val>
                                        </p:tav>
                                      </p:tavLst>
                                    </p:anim>
                                    <p:animEffect transition="in" filter="fade">
                                      <p:cBhvr>
                                        <p:cTn id="38" dur="500"/>
                                        <p:tgtEl>
                                          <p:spTgt spid="13"/>
                                        </p:tgtEl>
                                      </p:cBhvr>
                                    </p:animEffect>
                                  </p:childTnLst>
                                </p:cTn>
                              </p:par>
                            </p:childTnLst>
                          </p:cTn>
                        </p:par>
                        <p:par>
                          <p:cTn id="39" fill="hold">
                            <p:stCondLst>
                              <p:cond delay="6500"/>
                            </p:stCondLst>
                            <p:childTnLst>
                              <p:par>
                                <p:cTn id="40" presetID="10" presetClass="entr" presetSubtype="0" fill="hold" grpId="0" nodeType="after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500"/>
                                        <p:tgtEl>
                                          <p:spTgt spid="14"/>
                                        </p:tgtEl>
                                      </p:cBhvr>
                                    </p:animEffect>
                                  </p:childTnLst>
                                </p:cTn>
                              </p:par>
                            </p:childTnLst>
                          </p:cTn>
                        </p:par>
                        <p:par>
                          <p:cTn id="43" fill="hold">
                            <p:stCondLst>
                              <p:cond delay="7000"/>
                            </p:stCondLst>
                            <p:childTnLst>
                              <p:par>
                                <p:cTn id="44" presetID="21" presetClass="entr" presetSubtype="1" fill="hold" grpId="0" nodeType="after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wheel(1)">
                                      <p:cBhvr>
                                        <p:cTn id="46" dur="2000"/>
                                        <p:tgtEl>
                                          <p:spTgt spid="15"/>
                                        </p:tgtEl>
                                      </p:cBhvr>
                                    </p:animEffect>
                                  </p:childTnLst>
                                </p:cTn>
                              </p:par>
                            </p:childTnLst>
                          </p:cTn>
                        </p:par>
                        <p:par>
                          <p:cTn id="47" fill="hold">
                            <p:stCondLst>
                              <p:cond delay="9000"/>
                            </p:stCondLst>
                            <p:childTnLst>
                              <p:par>
                                <p:cTn id="48" presetID="53" presetClass="entr" presetSubtype="16" fill="hold" grpId="0" nodeType="afterEffect">
                                  <p:stCondLst>
                                    <p:cond delay="0"/>
                                  </p:stCondLst>
                                  <p:childTnLst>
                                    <p:set>
                                      <p:cBhvr>
                                        <p:cTn id="49" dur="1" fill="hold">
                                          <p:stCondLst>
                                            <p:cond delay="0"/>
                                          </p:stCondLst>
                                        </p:cTn>
                                        <p:tgtEl>
                                          <p:spTgt spid="16"/>
                                        </p:tgtEl>
                                        <p:attrNameLst>
                                          <p:attrName>style.visibility</p:attrName>
                                        </p:attrNameLst>
                                      </p:cBhvr>
                                      <p:to>
                                        <p:strVal val="visible"/>
                                      </p:to>
                                    </p:set>
                                    <p:anim calcmode="lin" valueType="num">
                                      <p:cBhvr>
                                        <p:cTn id="50" dur="500" fill="hold"/>
                                        <p:tgtEl>
                                          <p:spTgt spid="16"/>
                                        </p:tgtEl>
                                        <p:attrNameLst>
                                          <p:attrName>ppt_w</p:attrName>
                                        </p:attrNameLst>
                                      </p:cBhvr>
                                      <p:tavLst>
                                        <p:tav tm="0">
                                          <p:val>
                                            <p:fltVal val="0"/>
                                          </p:val>
                                        </p:tav>
                                        <p:tav tm="100000">
                                          <p:val>
                                            <p:strVal val="#ppt_w"/>
                                          </p:val>
                                        </p:tav>
                                      </p:tavLst>
                                    </p:anim>
                                    <p:anim calcmode="lin" valueType="num">
                                      <p:cBhvr>
                                        <p:cTn id="51" dur="500" fill="hold"/>
                                        <p:tgtEl>
                                          <p:spTgt spid="16"/>
                                        </p:tgtEl>
                                        <p:attrNameLst>
                                          <p:attrName>ppt_h</p:attrName>
                                        </p:attrNameLst>
                                      </p:cBhvr>
                                      <p:tavLst>
                                        <p:tav tm="0">
                                          <p:val>
                                            <p:fltVal val="0"/>
                                          </p:val>
                                        </p:tav>
                                        <p:tav tm="100000">
                                          <p:val>
                                            <p:strVal val="#ppt_h"/>
                                          </p:val>
                                        </p:tav>
                                      </p:tavLst>
                                    </p:anim>
                                    <p:animEffect transition="in" filter="fade">
                                      <p:cBhvr>
                                        <p:cTn id="52" dur="500"/>
                                        <p:tgtEl>
                                          <p:spTgt spid="16"/>
                                        </p:tgtEl>
                                      </p:cBhvr>
                                    </p:animEffect>
                                  </p:childTnLst>
                                </p:cTn>
                              </p:par>
                            </p:childTnLst>
                          </p:cTn>
                        </p:par>
                        <p:par>
                          <p:cTn id="53" fill="hold">
                            <p:stCondLst>
                              <p:cond delay="9500"/>
                            </p:stCondLst>
                            <p:childTnLst>
                              <p:par>
                                <p:cTn id="54" presetID="10" presetClass="entr" presetSubtype="0" fill="hold" grpId="0" nodeType="afterEffect">
                                  <p:stCondLst>
                                    <p:cond delay="0"/>
                                  </p:stCondLst>
                                  <p:childTnLst>
                                    <p:set>
                                      <p:cBhvr>
                                        <p:cTn id="55" dur="1" fill="hold">
                                          <p:stCondLst>
                                            <p:cond delay="0"/>
                                          </p:stCondLst>
                                        </p:cTn>
                                        <p:tgtEl>
                                          <p:spTgt spid="17"/>
                                        </p:tgtEl>
                                        <p:attrNameLst>
                                          <p:attrName>style.visibility</p:attrName>
                                        </p:attrNameLst>
                                      </p:cBhvr>
                                      <p:to>
                                        <p:strVal val="visible"/>
                                      </p:to>
                                    </p:set>
                                    <p:animEffect transition="in" filter="fade">
                                      <p:cBhvr>
                                        <p:cTn id="56"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descr="Forma, Cuadrado&#10;&#10;El contenido generado por IA puede ser incorrecto.">
            <a:extLst>
              <a:ext uri="{FF2B5EF4-FFF2-40B4-BE49-F238E27FC236}">
                <a16:creationId xmlns:a16="http://schemas.microsoft.com/office/drawing/2014/main" id="{D4E63572-DF68-DC51-6555-40AD82ECEB1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66" y="0"/>
            <a:ext cx="12189533" cy="6859388"/>
          </a:xfrm>
          <a:prstGeom prst="rect">
            <a:avLst/>
          </a:prstGeom>
        </p:spPr>
      </p:pic>
    </p:spTree>
    <p:extLst>
      <p:ext uri="{BB962C8B-B14F-4D97-AF65-F5344CB8AC3E}">
        <p14:creationId xmlns:p14="http://schemas.microsoft.com/office/powerpoint/2010/main" val="2243314582"/>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Ellucian Main Layouts">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Ellucian_April 2025">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Ellucian_April 2025" id="{26EA1B6D-013D-4CE8-B6BA-844450BD34AD}" vid="{76DDA76C-B383-44A4-B33A-CC50C6670FCD}"/>
    </a:ext>
  </a:extLst>
</a:theme>
</file>

<file path=ppt/theme/theme4.xml><?xml version="1.0" encoding="utf-8"?>
<a:theme xmlns:a="http://schemas.openxmlformats.org/drawingml/2006/main" name="1_Ellucian_April 2025">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Ellucian_April 2025" id="{26EA1B6D-013D-4CE8-B6BA-844450BD34AD}" vid="{76DDA76C-B383-44A4-B33A-CC50C6670FCD}"/>
    </a:ext>
  </a:extLst>
</a:theme>
</file>

<file path=ppt/theme/theme5.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8223</TotalTime>
  <Words>6197</Words>
  <Application>Microsoft Office PowerPoint</Application>
  <PresentationFormat>Panorámica</PresentationFormat>
  <Paragraphs>1011</Paragraphs>
  <Slides>59</Slides>
  <Notes>0</Notes>
  <HiddenSlides>0</HiddenSlides>
  <MMClips>0</MMClips>
  <ScaleCrop>false</ScaleCrop>
  <HeadingPairs>
    <vt:vector size="6" baseType="variant">
      <vt:variant>
        <vt:lpstr>Fuentes usadas</vt:lpstr>
      </vt:variant>
      <vt:variant>
        <vt:i4>8</vt:i4>
      </vt:variant>
      <vt:variant>
        <vt:lpstr>Tema</vt:lpstr>
      </vt:variant>
      <vt:variant>
        <vt:i4>4</vt:i4>
      </vt:variant>
      <vt:variant>
        <vt:lpstr>Títulos de diapositiva</vt:lpstr>
      </vt:variant>
      <vt:variant>
        <vt:i4>59</vt:i4>
      </vt:variant>
    </vt:vector>
  </HeadingPairs>
  <TitlesOfParts>
    <vt:vector size="71" baseType="lpstr">
      <vt:lpstr>Aptos</vt:lpstr>
      <vt:lpstr>Aptos Display</vt:lpstr>
      <vt:lpstr>Arial</vt:lpstr>
      <vt:lpstr>Calibri</vt:lpstr>
      <vt:lpstr>Courier New</vt:lpstr>
      <vt:lpstr>Helvetica Neue</vt:lpstr>
      <vt:lpstr>Montserrat</vt:lpstr>
      <vt:lpstr>Wingdings</vt:lpstr>
      <vt:lpstr>Tema de Office</vt:lpstr>
      <vt:lpstr>1_Ellucian Main Layouts</vt:lpstr>
      <vt:lpstr>Ellucian_April 2025</vt:lpstr>
      <vt:lpstr>1_Ellucian_April 2025</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ADMINIST</dc:creator>
  <cp:lastModifiedBy>SIPAN</cp:lastModifiedBy>
  <cp:revision>35</cp:revision>
  <dcterms:created xsi:type="dcterms:W3CDTF">2026-08-24T19:57:14Z</dcterms:created>
  <dcterms:modified xsi:type="dcterms:W3CDTF">2026-09-22T16:30:10Z</dcterms:modified>
</cp:coreProperties>
</file>