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5" r:id="rId3"/>
    <p:sldMasterId id="2147483735" r:id="rId4"/>
  </p:sldMasterIdLst>
  <p:notesMasterIdLst>
    <p:notesMasterId r:id="rId28"/>
  </p:notesMasterIdLst>
  <p:sldIdLst>
    <p:sldId id="565" r:id="rId33"/>
    <p:sldId id="566" r:id="rId34"/>
    <p:sldId id="567" r:id="rId35"/>
    <p:sldId id="568" r:id="rId36"/>
    <p:sldId id="569" r:id="rId37"/>
    <p:sldId id="570" r:id="rId38"/>
    <p:sldId id="571" r:id="rId39"/>
    <p:sldId id="572" r:id="rId40"/>
    <p:sldId id="573" r:id="rId41"/>
    <p:sldId id="574" r:id="rId42"/>
    <p:sldId id="575" r:id="rId43"/>
    <p:sldId id="576" r:id="rId44"/>
    <p:sldId id="577" r:id="rId45"/>
    <p:sldId id="578" r:id="rId46"/>
    <p:sldId id="579" r:id="rId47"/>
    <p:sldId id="580" r:id="rId48"/>
    <p:sldId id="581" r:id="rId49"/>
    <p:sldId id="582" r:id="rId50"/>
    <p:sldId id="583" r:id="rId51"/>
    <p:sldId id="584" r:id="rId52"/>
    <p:sldId id="585" r:id="rId5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193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6247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Master" Target="slideMasters/slideMaster3.xml"/><Relationship Id="rId2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32" Type="http://schemas.openxmlformats.org/officeDocument/2006/relationships/tableStyles" Target="tableStyles.xml"/><Relationship Id="rId28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30" Type="http://schemas.openxmlformats.org/officeDocument/2006/relationships/viewProps" Target="viewProps.xml"/>  <Relationship Id="rId33" Type="http://schemas.openxmlformats.org/officeDocument/2006/relationships/slide" Target="slides/slide24.xml"/>
  <Relationship Id="rId34" Type="http://schemas.openxmlformats.org/officeDocument/2006/relationships/slide" Target="slides/slide25.xml"/>
  <Relationship Id="rId35" Type="http://schemas.openxmlformats.org/officeDocument/2006/relationships/slide" Target="slides/slide26.xml"/>
  <Relationship Id="rId36" Type="http://schemas.openxmlformats.org/officeDocument/2006/relationships/slide" Target="slides/slide27.xml"/>
  <Relationship Id="rId37" Type="http://schemas.openxmlformats.org/officeDocument/2006/relationships/slide" Target="slides/slide28.xml"/>
  <Relationship Id="rId38" Type="http://schemas.openxmlformats.org/officeDocument/2006/relationships/slide" Target="slides/slide29.xml"/>
  <Relationship Id="rId39" Type="http://schemas.openxmlformats.org/officeDocument/2006/relationships/slide" Target="slides/slide30.xml"/>
  <Relationship Id="rId40" Type="http://schemas.openxmlformats.org/officeDocument/2006/relationships/slide" Target="slides/slide31.xml"/>
  <Relationship Id="rId41" Type="http://schemas.openxmlformats.org/officeDocument/2006/relationships/slide" Target="slides/slide32.xml"/>
  <Relationship Id="rId42" Type="http://schemas.openxmlformats.org/officeDocument/2006/relationships/slide" Target="slides/slide33.xml"/>
  <Relationship Id="rId43" Type="http://schemas.openxmlformats.org/officeDocument/2006/relationships/slide" Target="slides/slide34.xml"/>
  <Relationship Id="rId44" Type="http://schemas.openxmlformats.org/officeDocument/2006/relationships/slide" Target="slides/slide35.xml"/>
  <Relationship Id="rId45" Type="http://schemas.openxmlformats.org/officeDocument/2006/relationships/slide" Target="slides/slide36.xml"/>
  <Relationship Id="rId46" Type="http://schemas.openxmlformats.org/officeDocument/2006/relationships/slide" Target="slides/slide37.xml"/>
  <Relationship Id="rId47" Type="http://schemas.openxmlformats.org/officeDocument/2006/relationships/slide" Target="slides/slide38.xml"/>
  <Relationship Id="rId48" Type="http://schemas.openxmlformats.org/officeDocument/2006/relationships/slide" Target="slides/slide39.xml"/>
  <Relationship Id="rId49" Type="http://schemas.openxmlformats.org/officeDocument/2006/relationships/slide" Target="slides/slide40.xml"/>
  <Relationship Id="rId50" Type="http://schemas.openxmlformats.org/officeDocument/2006/relationships/slide" Target="slides/slide41.xml"/>
  <Relationship Id="rId51" Type="http://schemas.openxmlformats.org/officeDocument/2006/relationships/slide" Target="slides/slide42.xml"/>
  <Relationship Id="rId52" Type="http://schemas.openxmlformats.org/officeDocument/2006/relationships/slide" Target="slides/slide43.xml"/>
  <Relationship Id="rId53" Type="http://schemas.openxmlformats.org/officeDocument/2006/relationships/slide" Target="slides/slide44.xml"/>
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C4D4F-02F1-4128-82AF-F7679EB9D8E5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98818-1391-4805-9C29-F0662F4A7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1017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2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6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75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7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99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1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1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A9044-76B1-D660-8DBF-F2F16B011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94A282-AB81-AF53-998D-8FAB02409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54205B-C876-F8C4-D883-9E68781E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E94D33-FDE8-6449-705F-E556EF1E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30CF9-CD55-3BD0-79C3-E70AAAEA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477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59199-D081-4689-6C0F-26C08148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B26484-A586-DE59-81DA-9AE097189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B8B84-50E3-3680-51B0-E997DAC4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5AA40F-A1AE-4DAB-8F62-65858B29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D72374-BF0D-9199-0AE2-B02EF381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523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49AF9-55EC-C5C1-42C9-7D227AAF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A2B32A-2C66-856E-7956-ED257F397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2117E-953F-4F70-D94A-C0F2B9F3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5B6E9-B354-9D39-F8CC-2B3721A2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A96CAC-C276-2C6D-50E0-118D678F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578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B5609-CFF7-FE91-93A8-017ADAC9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964A9-F609-80F6-2CBA-3D02F425D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2AF759-B10E-0B24-F52D-720377E5A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A4FDCD-1E3B-1A51-8F25-3FF6CE7F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B8827-6190-F9CB-340C-17290B49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B46404-8C78-05E7-B250-ECAE3709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013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49292-F847-1D24-4FD9-AD41568A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F671E2-D3A4-0F45-2A09-B8DADE12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FFBD18-2BF9-678E-0AC8-52B223120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527B7E-E0F5-0A56-6D7C-76242207D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8E62F8-AF94-079C-EF69-A765CB014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648DA9-9673-35CC-FD69-59F6BD79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DE94D9-8533-ED00-B05C-81DE14EF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212A43-66F9-51AD-4D2C-731C9E48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640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CED7A-3158-77DF-D71C-35AEE7E2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78F852-120E-6806-DC0E-4922223E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D40898-4A83-C494-208C-3BB983CA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B7A564-709D-A9B1-4784-A78D03A3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470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1ACFAF-7441-8EC2-04CF-09CD9E83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FA7E49-6B88-6BC2-8C6D-9A071DBA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044BFD-EAF6-FB9F-F2A0-61F098F3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61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A3095-751F-EE63-B505-F34F4EEB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059669-42C4-B318-496D-C5C68D2B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890E18-79BE-170F-7FA5-0734B2427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67D11A-ADB7-ACDC-6832-61703869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77EE52-07B8-7502-695C-6DF8A78D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3460CC-A376-5637-5998-D11D83D1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123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F389F-3435-A3CA-D8B5-31A600F7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33BEFD-867B-5487-68C5-3F9B60292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4278E2-9BED-AFAC-E024-EA1282F7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DF14C5-21E9-B1BB-FAEB-95E5A017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448983-4ED4-A1F6-ABA9-CD9634DF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065E54-4AF9-87DF-9439-3998BE78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22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92D63-E499-03F7-FB4D-93474D0C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4D4A8B-B230-AB87-D28F-47E1EF75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04D0E4-B7E8-F53F-6E2B-AC40634D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0558D2-1230-7AE6-C0AB-8C24ADE1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8A289-C61E-F62D-8E83-FAFD4422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97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D465E1-F8B5-FF8A-28AB-8CEAEC420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BD6A3E-9027-3D05-9863-50913A2D8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397731-A82C-21F2-2C4D-A190BB9F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838474-DFAA-E728-D9B9-DEFD3997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089AF1-2426-4CC7-C36C-58F4C5A1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843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420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80142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4508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8918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3422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77268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553316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42739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201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338797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43002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031513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99025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8827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80667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4492267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907843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921880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63208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374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215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29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28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476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225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26432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8718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42968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783121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2638104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64826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060798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86742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017176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425993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3993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32979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543314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41595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5156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4741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42842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168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8809703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0794212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3605218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721823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1211374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95199235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530648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6440042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84409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769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913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94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577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048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52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55933982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9884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2469461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30636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421736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709755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691547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6739749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4967650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720940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22-09-2026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89258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1152941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309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528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4505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501003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8643638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2979129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8000957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1478736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0110297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07523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58591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13034148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2543165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7497897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631561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91782741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70003420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70694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8331499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8843373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8726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275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9859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7690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0693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7008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5757675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46216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25402841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0596028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6900505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13723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0861969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818211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9181314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69362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22-09-2026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193289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206194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0162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72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557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/Relationships>
</file>

<file path=ppt/slideMasters/_rels/slideMaster3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theme" Target="../theme/theme3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5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/Relationships>
</file>

<file path=ppt/slideMasters/_rels/slideMaster4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slideLayout" Target="../slideLayouts/slideLayout110.xml"/><Relationship Id="rId39" Type="http://schemas.openxmlformats.org/officeDocument/2006/relationships/theme" Target="../theme/theme4.xml"/><Relationship Id="rId21" Type="http://schemas.openxmlformats.org/officeDocument/2006/relationships/slideLayout" Target="../slideLayouts/slideLayout105.xml"/><Relationship Id="rId34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13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32" Type="http://schemas.openxmlformats.org/officeDocument/2006/relationships/slideLayout" Target="../slideLayouts/slideLayout116.xml"/><Relationship Id="rId37" Type="http://schemas.openxmlformats.org/officeDocument/2006/relationships/slideLayout" Target="../slideLayouts/slideLayout121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slideLayout" Target="../slideLayouts/slideLayout112.xml"/><Relationship Id="rId36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31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14.xml"/><Relationship Id="rId35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33" Type="http://schemas.openxmlformats.org/officeDocument/2006/relationships/slideLayout" Target="../slideLayouts/slideLayout117.xml"/><Relationship Id="rId38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123625-4177-94C5-071F-B877E48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CC5A60-722C-D5E0-88E8-5BB4ECA7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07A37D-85C7-5674-D2C3-ADB9632C5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165AA-F759-5A1E-FB29-109C5E328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B6A20-3F4D-79CB-E2F3-BEEDBBCD8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06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062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6314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3" r:id="rId37"/>
    <p:sldLayoutId id="214748373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00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  <p:sldLayoutId id="2147483766" r:id="rId31"/>
    <p:sldLayoutId id="2147483767" r:id="rId32"/>
    <p:sldLayoutId id="2147483768" r:id="rId33"/>
    <p:sldLayoutId id="2147483769" r:id="rId34"/>
    <p:sldLayoutId id="2147483770" r:id="rId35"/>
    <p:sldLayoutId id="2147483771" r:id="rId36"/>
    <p:sldLayoutId id="2147483772" r:id="rId37"/>
    <p:sldLayoutId id="214748377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 standalone="yes"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34.png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35.png"/></Relationships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36.png"/></Relationships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37.png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33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40.png"/></Relationships>
</file>

<file path=ppt/slides/_rels/slide34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41.png"/></Relationships>
</file>

<file path=ppt/slides/_rels/slide3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42.png"/></Relationships>
</file>

<file path=ppt/slides/_rels/slide36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37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45.png"/></Relationships>
</file>

<file path=ppt/slides/_rels/slide38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46.png"/></Relationships>
</file>

<file path=ppt/slides/_rels/slide39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47.png"/></Relationships>
</file>

<file path=ppt/slides/_rels/slide40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48.png"/></Relationships>
</file>

<file path=ppt/slides/_rels/slide41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49.png"/></Relationships>
</file>

<file path=ppt/slides/_rels/slide42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sa_50.png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909" y="0"/>
            <a:ext cx="3744190" cy="19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4053898" cy="95425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7F56B21-165B-13C1-F495-3576889CB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2" r="6842"/>
          <a:stretch/>
        </p:blipFill>
        <p:spPr>
          <a:xfrm>
            <a:off x="6096000" y="1870726"/>
            <a:ext cx="6096000" cy="4719037"/>
          </a:xfrm>
          <a:custGeom>
            <a:avLst/>
            <a:gdLst>
              <a:gd name="connsiteX0" fmla="*/ 1 w 6548583"/>
              <a:gd name="connsiteY0" fmla="*/ 0 h 5069391"/>
              <a:gd name="connsiteX1" fmla="*/ 6548583 w 6548583"/>
              <a:gd name="connsiteY1" fmla="*/ 0 h 5069391"/>
              <a:gd name="connsiteX2" fmla="*/ 6548583 w 6548583"/>
              <a:gd name="connsiteY2" fmla="*/ 1424774 h 5069391"/>
              <a:gd name="connsiteX3" fmla="*/ 1440000 w 6548583"/>
              <a:gd name="connsiteY3" fmla="*/ 1424774 h 5069391"/>
              <a:gd name="connsiteX4" fmla="*/ 1440000 w 6548583"/>
              <a:gd name="connsiteY4" fmla="*/ 1807083 h 5069391"/>
              <a:gd name="connsiteX5" fmla="*/ 6548583 w 6548583"/>
              <a:gd name="connsiteY5" fmla="*/ 1807083 h 5069391"/>
              <a:gd name="connsiteX6" fmla="*/ 6548583 w 6548583"/>
              <a:gd name="connsiteY6" fmla="*/ 3247083 h 5069391"/>
              <a:gd name="connsiteX7" fmla="*/ 1440000 w 6548583"/>
              <a:gd name="connsiteY7" fmla="*/ 3247082 h 5069391"/>
              <a:gd name="connsiteX8" fmla="*/ 1440000 w 6548583"/>
              <a:gd name="connsiteY8" fmla="*/ 3629391 h 5069391"/>
              <a:gd name="connsiteX9" fmla="*/ 6548582 w 6548583"/>
              <a:gd name="connsiteY9" fmla="*/ 3629392 h 5069391"/>
              <a:gd name="connsiteX10" fmla="*/ 6548582 w 6548583"/>
              <a:gd name="connsiteY10" fmla="*/ 5069391 h 5069391"/>
              <a:gd name="connsiteX11" fmla="*/ 1440000 w 6548583"/>
              <a:gd name="connsiteY11" fmla="*/ 5069391 h 5069391"/>
              <a:gd name="connsiteX12" fmla="*/ 0 w 6548583"/>
              <a:gd name="connsiteY12" fmla="*/ 5069391 h 5069391"/>
              <a:gd name="connsiteX13" fmla="*/ 0 w 6548583"/>
              <a:gd name="connsiteY13" fmla="*/ 1 h 5069391"/>
              <a:gd name="connsiteX14" fmla="*/ 1 w 6548583"/>
              <a:gd name="connsiteY14" fmla="*/ 1 h 506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548583" h="5069391">
                <a:moveTo>
                  <a:pt x="1" y="0"/>
                </a:moveTo>
                <a:lnTo>
                  <a:pt x="6548583" y="0"/>
                </a:lnTo>
                <a:lnTo>
                  <a:pt x="6548583" y="1424774"/>
                </a:lnTo>
                <a:lnTo>
                  <a:pt x="1440000" y="1424774"/>
                </a:lnTo>
                <a:lnTo>
                  <a:pt x="1440000" y="1807083"/>
                </a:lnTo>
                <a:lnTo>
                  <a:pt x="6548583" y="1807083"/>
                </a:lnTo>
                <a:lnTo>
                  <a:pt x="6548583" y="3247083"/>
                </a:lnTo>
                <a:lnTo>
                  <a:pt x="1440000" y="3247082"/>
                </a:lnTo>
                <a:lnTo>
                  <a:pt x="1440000" y="3629391"/>
                </a:lnTo>
                <a:lnTo>
                  <a:pt x="6548582" y="3629392"/>
                </a:lnTo>
                <a:lnTo>
                  <a:pt x="6548582" y="5069391"/>
                </a:lnTo>
                <a:lnTo>
                  <a:pt x="1440000" y="5069391"/>
                </a:lnTo>
                <a:lnTo>
                  <a:pt x="0" y="506939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481781" y="2847728"/>
            <a:ext cx="55257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0"/>
              </a:rPr>
              <a:t>PROGRAMACIÓN DE ASIGNATURAS</a:t>
            </a:r>
            <a:endParaRPr lang="es-PE" sz="4600" b="1" dirty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F3A99F-357C-A6F7-37E7-45E55D8F10F5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 dirty="0">
                <a:solidFill>
                  <a:schemeClr val="bg1"/>
                </a:solidFill>
              </a:rPr>
              <a:t>Elaborado por: Dagner Anibal Chuman Lluen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1029" name="Texto 1029"/>
          <p:cNvSpPr txBox="1"/>
          <p:nvPr/>
        </p:nvSpPr>
        <p:spPr>
          <a:xfrm>
            <a:off x="481781" y="5130000"/>
            <a:ext cx="5525729" cy="76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s-ES" sz="2000" b="1" dirty="0">
                <a:solidFill>
                  <a:srgbClr val="FFFFFF"/>
                </a:solidFill>
                <a:latin typeface="Montserrat" pitchFamily="2" charset="0"/>
              </a:rPr>
              <a:t>PARTE 2</a:t>
            </a:r>
          </a:p>
          <a:p>
            <a:r>
              <a:rPr lang="es-ES" sz="1600" dirty="0">
                <a:solidFill>
                  <a:srgbClr val="FFFFFF"/>
                </a:solidFill>
                <a:latin typeface="Montserrat" pitchFamily="2" charset="0"/>
              </a:rPr>
              <a:t>Correquisitos, prerrequisitos y restricciones del NRC</a:t>
            </a:r>
          </a:p>
        </p:txBody>
      </p:sp>
    </p:spTree>
    <p:extLst>
      <p:ext uri="{BB962C8B-B14F-4D97-AF65-F5344CB8AC3E}">
        <p14:creationId xmlns:p14="http://schemas.microsoft.com/office/powerpoint/2010/main" val="3325259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9026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REGISTRAR OFERTA HORARIA DE LOS CURSOS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9458150" y="241540"/>
            <a:ext cx="2733848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0F07226-D7DA-DE59-8B77-881CE02CBB4E}"/>
              </a:ext>
            </a:extLst>
          </p:cNvPr>
          <p:cNvSpPr/>
          <p:nvPr/>
        </p:nvSpPr>
        <p:spPr>
          <a:xfrm>
            <a:off x="549304" y="1339819"/>
            <a:ext cx="492912" cy="52322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E7421CC-95D2-797D-DE18-77D80C0AB019}"/>
              </a:ext>
            </a:extLst>
          </p:cNvPr>
          <p:cNvSpPr txBox="1"/>
          <p:nvPr/>
        </p:nvSpPr>
        <p:spPr>
          <a:xfrm>
            <a:off x="431718" y="19284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Inicio</a:t>
            </a:r>
            <a:endParaRPr lang="es-PE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070D876-635D-7E58-4247-B66AC8D39DC3}"/>
              </a:ext>
            </a:extLst>
          </p:cNvPr>
          <p:cNvSpPr/>
          <p:nvPr/>
        </p:nvSpPr>
        <p:spPr>
          <a:xfrm>
            <a:off x="1995948" y="1130710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1D865E5-4ACE-7456-61C5-D83C7A22FD10}"/>
              </a:ext>
            </a:extLst>
          </p:cNvPr>
          <p:cNvCxnSpPr>
            <a:stCxn id="5" idx="6"/>
            <a:endCxn id="11" idx="1"/>
          </p:cNvCxnSpPr>
          <p:nvPr/>
        </p:nvCxnSpPr>
        <p:spPr>
          <a:xfrm flipV="1">
            <a:off x="1042216" y="1597742"/>
            <a:ext cx="953732" cy="3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2880EFF-3015-A5E7-8897-958E4498813F}"/>
              </a:ext>
            </a:extLst>
          </p:cNvPr>
          <p:cNvSpPr txBox="1"/>
          <p:nvPr/>
        </p:nvSpPr>
        <p:spPr>
          <a:xfrm>
            <a:off x="2035276" y="1228410"/>
            <a:ext cx="2123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Habilitación del periodo de programación académica (</a:t>
            </a:r>
            <a:r>
              <a:rPr lang="es-ES" sz="1400" b="1" dirty="0">
                <a:solidFill>
                  <a:schemeClr val="accent5"/>
                </a:solidFill>
              </a:rPr>
              <a:t>SOATERM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F539C1C-ACA0-CE88-7625-AE9C4029813A}"/>
              </a:ext>
            </a:extLst>
          </p:cNvPr>
          <p:cNvSpPr/>
          <p:nvPr/>
        </p:nvSpPr>
        <p:spPr>
          <a:xfrm>
            <a:off x="4986657" y="1130710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B254C23-7F14-1827-1968-CC4B891577B0}"/>
              </a:ext>
            </a:extLst>
          </p:cNvPr>
          <p:cNvSpPr/>
          <p:nvPr/>
        </p:nvSpPr>
        <p:spPr>
          <a:xfrm>
            <a:off x="7983799" y="1114119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D1A0331-4215-D51E-BA51-7206DD1FD1D8}"/>
              </a:ext>
            </a:extLst>
          </p:cNvPr>
          <p:cNvSpPr txBox="1"/>
          <p:nvPr/>
        </p:nvSpPr>
        <p:spPr>
          <a:xfrm>
            <a:off x="7983796" y="1321260"/>
            <a:ext cx="2212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Definir cupos disponibles (</a:t>
            </a:r>
            <a:r>
              <a:rPr lang="es-ES" sz="1400" b="1" dirty="0">
                <a:solidFill>
                  <a:schemeClr val="accent5"/>
                </a:solidFill>
              </a:rPr>
              <a:t>SSASECT</a:t>
            </a:r>
            <a:r>
              <a:rPr lang="es-ES" sz="1400" dirty="0"/>
              <a:t>)</a:t>
            </a:r>
            <a:endParaRPr lang="es-PE" sz="1400" dirty="0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BB0030A-6090-4766-78A7-B941D0D3B664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4208206" y="1597742"/>
            <a:ext cx="778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FE3D0FD-BAD0-0753-641C-C9301D64BA01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7198915" y="1582870"/>
            <a:ext cx="784881" cy="14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528394E-34DF-ED2C-8365-CF16A198EF88}"/>
              </a:ext>
            </a:extLst>
          </p:cNvPr>
          <p:cNvSpPr txBox="1"/>
          <p:nvPr/>
        </p:nvSpPr>
        <p:spPr>
          <a:xfrm>
            <a:off x="4905899" y="1229649"/>
            <a:ext cx="23601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Creación de NRC definiendo características básicas (</a:t>
            </a:r>
            <a:r>
              <a:rPr lang="es-ES" sz="1400" b="1" dirty="0">
                <a:solidFill>
                  <a:schemeClr val="accent5"/>
                </a:solidFill>
              </a:rPr>
              <a:t>SSASECT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0EF220E9-53C1-9E23-0932-95E73BE286DD}"/>
              </a:ext>
            </a:extLst>
          </p:cNvPr>
          <p:cNvSpPr/>
          <p:nvPr/>
        </p:nvSpPr>
        <p:spPr>
          <a:xfrm>
            <a:off x="9458153" y="2864658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E1A9658-8C29-4B14-4205-EC14FCA169C1}"/>
              </a:ext>
            </a:extLst>
          </p:cNvPr>
          <p:cNvSpPr txBox="1"/>
          <p:nvPr/>
        </p:nvSpPr>
        <p:spPr>
          <a:xfrm>
            <a:off x="9458150" y="2963647"/>
            <a:ext cx="2212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Definir horario de impartición y docente (</a:t>
            </a:r>
            <a:r>
              <a:rPr lang="es-ES" sz="1400" b="1" dirty="0">
                <a:solidFill>
                  <a:schemeClr val="accent5"/>
                </a:solidFill>
              </a:rPr>
              <a:t>SSASECT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A3621E49-7181-6D44-7CB7-B088D989E5DB}"/>
              </a:ext>
            </a:extLst>
          </p:cNvPr>
          <p:cNvSpPr/>
          <p:nvPr/>
        </p:nvSpPr>
        <p:spPr>
          <a:xfrm>
            <a:off x="7983796" y="4708694"/>
            <a:ext cx="2212258" cy="934064"/>
          </a:xfrm>
          <a:prstGeom prst="roundRect">
            <a:avLst/>
          </a:prstGeom>
          <a:solidFill>
            <a:srgbClr val="F1E7FA"/>
          </a:solidFill>
          <a:ln w="3810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3D22F79-0793-A7B5-3818-A6641C1852D7}"/>
              </a:ext>
            </a:extLst>
          </p:cNvPr>
          <p:cNvSpPr txBox="1"/>
          <p:nvPr/>
        </p:nvSpPr>
        <p:spPr>
          <a:xfrm>
            <a:off x="8042787" y="4807683"/>
            <a:ext cx="2123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Definir correquisitos a nivel de sección (</a:t>
            </a:r>
            <a:r>
              <a:rPr lang="es-ES" sz="1400" b="1" dirty="0">
                <a:solidFill>
                  <a:schemeClr val="accent5"/>
                </a:solidFill>
              </a:rPr>
              <a:t>SSADETL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E6601043-44F7-376A-C35E-83DA6992BD33}"/>
              </a:ext>
            </a:extLst>
          </p:cNvPr>
          <p:cNvSpPr/>
          <p:nvPr/>
        </p:nvSpPr>
        <p:spPr>
          <a:xfrm>
            <a:off x="4989871" y="4718163"/>
            <a:ext cx="2212258" cy="934064"/>
          </a:xfrm>
          <a:prstGeom prst="roundRect">
            <a:avLst/>
          </a:prstGeom>
          <a:solidFill>
            <a:srgbClr val="F1E7FA"/>
          </a:solidFill>
          <a:ln w="3810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2C55F58-4315-C978-046D-CC24EDF08C24}"/>
              </a:ext>
            </a:extLst>
          </p:cNvPr>
          <p:cNvSpPr txBox="1"/>
          <p:nvPr/>
        </p:nvSpPr>
        <p:spPr>
          <a:xfrm>
            <a:off x="5078366" y="4817152"/>
            <a:ext cx="20451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Definir prerrequisitos a nivel de sección (</a:t>
            </a:r>
            <a:r>
              <a:rPr lang="es-ES" sz="1400" b="1" dirty="0">
                <a:solidFill>
                  <a:schemeClr val="accent5"/>
                </a:solidFill>
              </a:rPr>
              <a:t>SSAPREQ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14C6C3FB-550C-EE74-60BA-A72EE470EC93}"/>
              </a:ext>
            </a:extLst>
          </p:cNvPr>
          <p:cNvSpPr/>
          <p:nvPr/>
        </p:nvSpPr>
        <p:spPr>
          <a:xfrm>
            <a:off x="1995943" y="4728953"/>
            <a:ext cx="2212258" cy="934064"/>
          </a:xfrm>
          <a:prstGeom prst="roundRect">
            <a:avLst/>
          </a:prstGeom>
          <a:solidFill>
            <a:srgbClr val="F1E7FA"/>
          </a:solidFill>
          <a:ln w="38100">
            <a:solidFill>
              <a:srgbClr val="7030A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DB53553-FC90-4F11-B65A-0B59D6816223}"/>
              </a:ext>
            </a:extLst>
          </p:cNvPr>
          <p:cNvSpPr txBox="1"/>
          <p:nvPr/>
        </p:nvSpPr>
        <p:spPr>
          <a:xfrm>
            <a:off x="2035274" y="4827942"/>
            <a:ext cx="2123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Definir restricciones de inscripción a nivel de sección (</a:t>
            </a:r>
            <a:r>
              <a:rPr lang="es-ES" sz="1400" b="1" dirty="0">
                <a:solidFill>
                  <a:schemeClr val="accent5"/>
                </a:solidFill>
              </a:rPr>
              <a:t>SSARRES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3A987457-B0D7-77C9-3C21-D40B9CC6FB57}"/>
              </a:ext>
            </a:extLst>
          </p:cNvPr>
          <p:cNvSpPr/>
          <p:nvPr/>
        </p:nvSpPr>
        <p:spPr>
          <a:xfrm>
            <a:off x="552716" y="4927692"/>
            <a:ext cx="492912" cy="52322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4B6E7DB-762E-113C-3073-B187DE1E0EFD}"/>
              </a:ext>
            </a:extLst>
          </p:cNvPr>
          <p:cNvSpPr txBox="1"/>
          <p:nvPr/>
        </p:nvSpPr>
        <p:spPr>
          <a:xfrm>
            <a:off x="562946" y="5575349"/>
            <a:ext cx="48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Fin</a:t>
            </a:r>
            <a:endParaRPr lang="es-PE" dirty="0"/>
          </a:p>
        </p:txBody>
      </p: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25688D56-FCB5-97B4-B66A-E54E8570FA1D}"/>
              </a:ext>
            </a:extLst>
          </p:cNvPr>
          <p:cNvCxnSpPr>
            <a:stCxn id="18" idx="3"/>
            <a:endCxn id="40" idx="0"/>
          </p:cNvCxnSpPr>
          <p:nvPr/>
        </p:nvCxnSpPr>
        <p:spPr>
          <a:xfrm>
            <a:off x="10196057" y="1581151"/>
            <a:ext cx="368225" cy="12835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2499214E-0E69-562C-6C15-81762BAC0EF1}"/>
              </a:ext>
            </a:extLst>
          </p:cNvPr>
          <p:cNvCxnSpPr>
            <a:cxnSpLocks/>
            <a:stCxn id="40" idx="2"/>
            <a:endCxn id="42" idx="3"/>
          </p:cNvCxnSpPr>
          <p:nvPr/>
        </p:nvCxnSpPr>
        <p:spPr>
          <a:xfrm rot="5400000">
            <a:off x="9691666" y="4303110"/>
            <a:ext cx="1377004" cy="36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AC3BDC73-6872-2E01-0A42-CC3D2781F64B}"/>
              </a:ext>
            </a:extLst>
          </p:cNvPr>
          <p:cNvCxnSpPr>
            <a:cxnSpLocks/>
            <a:stCxn id="42" idx="1"/>
            <a:endCxn id="44" idx="3"/>
          </p:cNvCxnSpPr>
          <p:nvPr/>
        </p:nvCxnSpPr>
        <p:spPr>
          <a:xfrm flipH="1">
            <a:off x="7202129" y="5175726"/>
            <a:ext cx="781667" cy="9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405AB92E-A5EF-1150-EEC1-63A63DBB2E95}"/>
              </a:ext>
            </a:extLst>
          </p:cNvPr>
          <p:cNvCxnSpPr>
            <a:cxnSpLocks/>
            <a:stCxn id="44" idx="1"/>
            <a:endCxn id="46" idx="3"/>
          </p:cNvCxnSpPr>
          <p:nvPr/>
        </p:nvCxnSpPr>
        <p:spPr>
          <a:xfrm flipH="1">
            <a:off x="4208201" y="5185195"/>
            <a:ext cx="781670" cy="10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FCFEF2D9-76D0-DC01-5C00-280704290EF4}"/>
              </a:ext>
            </a:extLst>
          </p:cNvPr>
          <p:cNvCxnSpPr>
            <a:stCxn id="46" idx="1"/>
            <a:endCxn id="48" idx="6"/>
          </p:cNvCxnSpPr>
          <p:nvPr/>
        </p:nvCxnSpPr>
        <p:spPr>
          <a:xfrm flipH="1" flipV="1">
            <a:off x="1045628" y="5189302"/>
            <a:ext cx="950315" cy="6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1" name="Globo 71"/>
          <p:cNvSpPr txBox="1"/>
          <p:nvPr/>
        </p:nvSpPr>
        <p:spPr>
          <a:xfrm>
            <a:off x="2500000" y="3000000"/>
            <a:ext cx="6300000" cy="8000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esta presentación: pasos </a:t>
            </a:r>
            <a:r>
              <a:rPr lang="es-ES" sz="1100" b="1" dirty="0">
                <a:solidFill>
                  <a:srgbClr val="92D050"/>
                </a:solidFill>
              </a:rPr>
              <a:t>resaltados</a:t>
            </a:r>
            <a:r>
              <a:rPr lang="es-ES" sz="1100" dirty="0">
                <a:solidFill>
                  <a:srgbClr val="FFFFFF"/>
                </a:solidFill>
              </a:rPr>
              <a:t> (SSADETL, SSAPREQ y SSARRES).</a:t>
            </a:r>
          </a:p>
          <a:p>
            <a:pPr algn="ctr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Los pasos anteriores están en </a:t>
            </a:r>
            <a:r>
              <a:rPr lang="es-ES" sz="1100" b="1" dirty="0">
                <a:solidFill>
                  <a:srgbClr val="FFFFFF"/>
                </a:solidFill>
              </a:rPr>
              <a:t>«2. Programación de asignaturas»</a:t>
            </a:r>
            <a:r>
              <a:rPr lang="es-ES" sz="1100" dirty="0">
                <a:solidFill>
                  <a:srgbClr val="FFFFFF"/>
                </a:solidFill>
              </a:rPr>
              <a:t>. La asignación del docente se ve en </a:t>
            </a:r>
            <a:r>
              <a:rPr lang="es-ES" sz="1100" b="1" dirty="0">
                <a:solidFill>
                  <a:srgbClr val="FFFFFF"/>
                </a:solidFill>
              </a:rPr>
              <a:t>«3. Docentes»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461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500"/>
                            </p:stCondLst>
                            <p:childTnLst>
                              <p:par>
                                <p:cTn id="8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000"/>
                            </p:stCondLst>
                            <p:childTnLst>
                              <p:par>
                                <p:cTn id="9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5" grpId="0" animBg="1"/>
      <p:bldP spid="10" grpId="0"/>
      <p:bldP spid="11" grpId="0" animBg="1"/>
      <p:bldP spid="14" grpId="0"/>
      <p:bldP spid="15" grpId="0"/>
      <p:bldP spid="16" grpId="0" animBg="1"/>
      <p:bldP spid="18" grpId="0" animBg="1"/>
      <p:bldP spid="19" grpId="0"/>
      <p:bldP spid="17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 animBg="1"/>
      <p:bldP spid="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296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HERENCIA DESDE EL CATÁLOGO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727804" y="241540"/>
            <a:ext cx="5464195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Texto 9"/>
          <p:cNvSpPr txBox="1"/>
          <p:nvPr/>
        </p:nvSpPr>
        <p:spPr>
          <a:xfrm>
            <a:off x="431320" y="930000"/>
            <a:ext cx="11329360" cy="7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Al crear un NRC en </a:t>
            </a:r>
            <a:r>
              <a:rPr lang="es-ES" sz="1600" b="1" dirty="0">
                <a:solidFill>
                  <a:srgbClr val="000000"/>
                </a:solidFill>
              </a:rPr>
              <a:t>SSASECT</a:t>
            </a:r>
            <a:r>
              <a:rPr lang="es-ES" sz="1600" dirty="0">
                <a:solidFill>
                  <a:srgbClr val="000000"/>
                </a:solidFill>
              </a:rPr>
              <a:t>, Banner copia la configuración vigente del </a:t>
            </a:r>
            <a:r>
              <a:rPr lang="es-ES" sz="1600" b="1" dirty="0">
                <a:solidFill>
                  <a:srgbClr val="000000"/>
                </a:solidFill>
              </a:rPr>
              <a:t>catálogo de cursos</a:t>
            </a:r>
            <a:r>
              <a:rPr lang="es-ES" sz="1600" dirty="0">
                <a:solidFill>
                  <a:srgbClr val="000000"/>
                </a:solidFill>
              </a:rPr>
              <a:t>. Después, cada NRC se puede ajustar en tres páginas, sin modificar el catálogo: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431320" y="1750000"/>
            <a:ext cx="3576453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SSADETL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Detalle de sección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431320" y="2610000"/>
            <a:ext cx="3576453" cy="22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285750" indent="-285750" algn="l">
              <a:spcAft>
                <a:spcPts val="6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000000"/>
                </a:solidFill>
              </a:rPr>
              <a:t>Correquisitos: </a:t>
            </a:r>
            <a:r>
              <a:rPr lang="es-ES" sz="1600" dirty="0">
                <a:solidFill>
                  <a:srgbClr val="000000"/>
                </a:solidFill>
              </a:rPr>
              <a:t>NRC que se deben inscribir juntos.</a:t>
            </a:r>
          </a:p>
          <a:p>
            <a:pPr marL="285750" indent="-285750" algn="l">
              <a:spcAft>
                <a:spcPts val="6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000000"/>
                </a:solidFill>
              </a:rPr>
              <a:t>Ligas </a:t>
            </a:r>
            <a:r>
              <a:rPr lang="es-ES" sz="1600" dirty="0">
                <a:solidFill>
                  <a:srgbClr val="000000"/>
                </a:solidFill>
              </a:rPr>
              <a:t>de sección.</a:t>
            </a:r>
          </a:p>
          <a:p>
            <a:pPr marL="285750" indent="-285750" algn="l">
              <a:spcAft>
                <a:spcPts val="6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000000"/>
                </a:solidFill>
              </a:rPr>
              <a:t>Atributos </a:t>
            </a:r>
            <a:r>
              <a:rPr lang="es-ES" sz="1600" dirty="0">
                <a:solidFill>
                  <a:srgbClr val="000000"/>
                </a:solidFill>
              </a:rPr>
              <a:t>del curso.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Se hereda de: </a:t>
            </a:r>
            <a:r>
              <a:rPr lang="es-ES" sz="1600" b="1" dirty="0">
                <a:solidFill>
                  <a:srgbClr val="4EA72E"/>
                </a:solidFill>
              </a:rPr>
              <a:t>SCADETL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4307773" y="1750000"/>
            <a:ext cx="3576453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SSAPREQ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Prerrequisitos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307773" y="2610000"/>
            <a:ext cx="3576453" cy="22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285750" indent="-285750" algn="l">
              <a:spcAft>
                <a:spcPts val="6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dirty="0">
                <a:solidFill>
                  <a:srgbClr val="000000"/>
                </a:solidFill>
              </a:rPr>
              <a:t>Cursos o puntajes de examen que el alumno debe tener </a:t>
            </a:r>
            <a:r>
              <a:rPr lang="es-ES" sz="1600" b="1" dirty="0">
                <a:solidFill>
                  <a:srgbClr val="000000"/>
                </a:solidFill>
              </a:rPr>
              <a:t>aprobados</a:t>
            </a:r>
            <a:r>
              <a:rPr lang="es-ES" sz="1600" dirty="0">
                <a:solidFill>
                  <a:srgbClr val="000000"/>
                </a:solidFill>
              </a:rPr>
              <a:t>.</a:t>
            </a:r>
          </a:p>
          <a:p>
            <a:pPr marL="285750" indent="-285750" algn="l">
              <a:spcAft>
                <a:spcPts val="6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b="1" dirty="0">
                <a:solidFill>
                  <a:srgbClr val="4EA72E"/>
                </a:solidFill>
              </a:rPr>
              <a:t>Ejemplo Idiomas: </a:t>
            </a:r>
            <a:r>
              <a:rPr lang="es-ES" sz="1600" dirty="0">
                <a:solidFill>
                  <a:srgbClr val="000000"/>
                </a:solidFill>
              </a:rPr>
              <a:t>BASIC II requiere BASIC I.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Se hereda de: </a:t>
            </a:r>
            <a:r>
              <a:rPr lang="es-ES" sz="1600" b="1" dirty="0">
                <a:solidFill>
                  <a:srgbClr val="4EA72E"/>
                </a:solidFill>
              </a:rPr>
              <a:t>SCAPREQ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8184226" y="1750000"/>
            <a:ext cx="3576453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SSARRES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Restricciones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8184226" y="2610000"/>
            <a:ext cx="3576453" cy="22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285750" indent="-285750" algn="l">
              <a:spcAft>
                <a:spcPts val="6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dirty="0">
                <a:solidFill>
                  <a:srgbClr val="000000"/>
                </a:solidFill>
              </a:rPr>
              <a:t>Quién puede inscribirse en el NRC: </a:t>
            </a:r>
            <a:r>
              <a:rPr lang="es-ES" sz="1600" b="1" dirty="0">
                <a:solidFill>
                  <a:srgbClr val="000000"/>
                </a:solidFill>
              </a:rPr>
              <a:t>nivel, programa, campus, atributo o cohorte</a:t>
            </a:r>
            <a:r>
              <a:rPr lang="es-ES" sz="1600" dirty="0">
                <a:solidFill>
                  <a:srgbClr val="000000"/>
                </a:solidFill>
              </a:rPr>
              <a:t>.</a:t>
            </a:r>
          </a:p>
          <a:p>
            <a:pPr marL="285750" indent="-285750" algn="l">
              <a:spcAft>
                <a:spcPts val="6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600" dirty="0">
                <a:solidFill>
                  <a:srgbClr val="000000"/>
                </a:solidFill>
              </a:rPr>
              <a:t>Con </a:t>
            </a:r>
            <a:r>
              <a:rPr lang="es-ES" sz="1600" b="1" dirty="0">
                <a:solidFill>
                  <a:srgbClr val="000000"/>
                </a:solidFill>
              </a:rPr>
              <a:t>Incluir</a:t>
            </a:r>
            <a:r>
              <a:rPr lang="es-ES" sz="1600" dirty="0">
                <a:solidFill>
                  <a:srgbClr val="000000"/>
                </a:solidFill>
              </a:rPr>
              <a:t> o </a:t>
            </a:r>
            <a:r>
              <a:rPr lang="es-ES" sz="1600" b="1" dirty="0">
                <a:solidFill>
                  <a:srgbClr val="000000"/>
                </a:solidFill>
              </a:rPr>
              <a:t>Excluir</a:t>
            </a:r>
            <a:r>
              <a:rPr lang="es-ES" sz="1600" dirty="0">
                <a:solidFill>
                  <a:srgbClr val="000000"/>
                </a:solidFill>
              </a:rPr>
              <a:t>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Se hereda de: </a:t>
            </a:r>
            <a:r>
              <a:rPr lang="es-ES" sz="1600" b="1" dirty="0">
                <a:solidFill>
                  <a:srgbClr val="4EA72E"/>
                </a:solidFill>
              </a:rPr>
              <a:t>SCARRES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431320" y="5000000"/>
            <a:ext cx="11329360" cy="62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4EA72E"/>
            </a:solidFill>
          </a:ln>
        </p:spPr>
        <p:txBody>
          <a:bodyPr wrap="square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ES" sz="1400" b="1" dirty="0">
                <a:solidFill>
                  <a:srgbClr val="4EA72E"/>
                </a:solidFill>
              </a:rPr>
              <a:t>Importante: </a:t>
            </a:r>
            <a:r>
              <a:rPr lang="es-ES" sz="1400" dirty="0">
                <a:solidFill>
                  <a:srgbClr val="000000"/>
                </a:solidFill>
              </a:rPr>
              <a:t>el NRC toma la configuración del catálogo al momento de crearse. Si después cambia el catálogo, el NRC no se actualiza solo: el ajuste se hace en estas páginas.</a:t>
            </a:r>
          </a:p>
        </p:txBody>
      </p:sp>
    </p:spTree>
    <p:extLst>
      <p:ext uri="{BB962C8B-B14F-4D97-AF65-F5344CB8AC3E}">
        <p14:creationId xmlns:p14="http://schemas.microsoft.com/office/powerpoint/2010/main" val="138746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DETALLE DE SECCIÓN (SSADETL)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Complementa el NRC con correquisitos, ligas de sección y atributos heredados del catálogo.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820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331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DETALLE DE SECCIÓN - SSADETL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763009" y="241540"/>
            <a:ext cx="542899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25" y="1012723"/>
            <a:ext cx="11106666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10234183" y="1012722"/>
            <a:ext cx="523873" cy="251402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Globo 10"/>
          <p:cNvSpPr txBox="1"/>
          <p:nvPr/>
        </p:nvSpPr>
        <p:spPr>
          <a:xfrm>
            <a:off x="1265856" y="3352557"/>
            <a:ext cx="6241135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Una vez creado el NRC, su información se complementa en </a:t>
            </a:r>
            <a:r>
              <a:rPr lang="es-ES" sz="1100" b="1" dirty="0">
                <a:solidFill>
                  <a:srgbClr val="92D050"/>
                </a:solidFill>
              </a:rPr>
              <a:t>SSADETL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ctr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Se ingresa desde la página principal de Experience o desde el </a:t>
            </a:r>
            <a:r>
              <a:rPr lang="es-ES" sz="1100" b="1" dirty="0">
                <a:solidFill>
                  <a:srgbClr val="92D050"/>
                </a:solidFill>
              </a:rPr>
              <a:t>Menú relacionado</a:t>
            </a:r>
            <a:r>
              <a:rPr lang="es-ES" sz="1100" dirty="0">
                <a:solidFill>
                  <a:srgbClr val="FFFFFF"/>
                </a:solidFill>
              </a:rPr>
              <a:t> de SSASECT (ícono resaltado) › </a:t>
            </a:r>
            <a:r>
              <a:rPr lang="es-ES" sz="1100" b="1" dirty="0">
                <a:solidFill>
                  <a:srgbClr val="FFFFFF"/>
                </a:solidFill>
              </a:rPr>
              <a:t>Detalle de sección de curso [SSADETL]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883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331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DETALLE DE SECCIÓN - SSADETL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763009" y="241540"/>
            <a:ext cx="542899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59" y="1012723"/>
            <a:ext cx="11483599" cy="1663765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7714826" y="1321589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Numero 10"/>
          <p:cNvSpPr/>
          <p:nvPr/>
        </p:nvSpPr>
        <p:spPr>
          <a:xfrm>
            <a:off x="2531121" y="133956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Marco 11"/>
          <p:cNvSpPr/>
          <p:nvPr/>
        </p:nvSpPr>
        <p:spPr>
          <a:xfrm>
            <a:off x="634098" y="1428538"/>
            <a:ext cx="1816195" cy="19150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Marco 12"/>
          <p:cNvSpPr/>
          <p:nvPr/>
        </p:nvSpPr>
        <p:spPr>
          <a:xfrm>
            <a:off x="6064554" y="1428538"/>
            <a:ext cx="1598777" cy="17539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Numero 13"/>
          <p:cNvSpPr/>
          <p:nvPr/>
        </p:nvSpPr>
        <p:spPr>
          <a:xfrm>
            <a:off x="11171129" y="1616625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Marco 14"/>
          <p:cNvSpPr/>
          <p:nvPr/>
        </p:nvSpPr>
        <p:spPr>
          <a:xfrm>
            <a:off x="11452623" y="1452425"/>
            <a:ext cx="451535" cy="19150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Globo 15"/>
          <p:cNvSpPr txBox="1"/>
          <p:nvPr/>
        </p:nvSpPr>
        <p:spPr>
          <a:xfrm>
            <a:off x="1831156" y="3010864"/>
            <a:ext cx="7271247" cy="9729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NRC</a:t>
            </a:r>
            <a:r>
              <a:rPr lang="es-ES" sz="1100" dirty="0">
                <a:solidFill>
                  <a:srgbClr val="FFFFFF"/>
                </a:solidFill>
              </a:rPr>
              <a:t> que desea configurar.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Seleccione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Si ingresa desde el Menú relacionado, el sistema trae por defecto el último NRC trabajado.</a:t>
            </a:r>
          </a:p>
        </p:txBody>
      </p:sp>
    </p:spTree>
    <p:extLst>
      <p:ext uri="{BB962C8B-B14F-4D97-AF65-F5344CB8AC3E}">
        <p14:creationId xmlns:p14="http://schemas.microsoft.com/office/powerpoint/2010/main" val="231343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331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DETALLE DE SECCIÓN - SSADETL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763009" y="241540"/>
            <a:ext cx="542899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67" y="1012723"/>
            <a:ext cx="11097982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588619" y="1633050"/>
            <a:ext cx="10868151" cy="1564871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Numero 10"/>
          <p:cNvSpPr/>
          <p:nvPr/>
        </p:nvSpPr>
        <p:spPr>
          <a:xfrm>
            <a:off x="342145" y="288012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Globo 11"/>
          <p:cNvSpPr txBox="1"/>
          <p:nvPr/>
        </p:nvSpPr>
        <p:spPr>
          <a:xfrm>
            <a:off x="1170320" y="3312440"/>
            <a:ext cx="9015137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dirty="0">
                <a:solidFill>
                  <a:srgbClr val="FFFFFF"/>
                </a:solidFill>
              </a:rPr>
              <a:t>Pestaña </a:t>
            </a:r>
            <a:r>
              <a:rPr lang="es-ES" sz="1100" b="1" dirty="0">
                <a:solidFill>
                  <a:srgbClr val="92D050"/>
                </a:solidFill>
              </a:rPr>
              <a:t>Correquisitos y ligas de sección</a:t>
            </a:r>
            <a:r>
              <a:rPr lang="es-ES" sz="1100" dirty="0">
                <a:solidFill>
                  <a:srgbClr val="FFFFFF"/>
                </a:solidFill>
              </a:rPr>
              <a:t>: registre los </a:t>
            </a:r>
            <a:r>
              <a:rPr lang="es-ES" sz="1100" b="1" dirty="0">
                <a:solidFill>
                  <a:srgbClr val="FFFFFF"/>
                </a:solidFill>
              </a:rPr>
              <a:t>NRC correquisito</a:t>
            </a:r>
            <a:r>
              <a:rPr lang="es-ES" sz="1100" dirty="0">
                <a:solidFill>
                  <a:srgbClr val="FFFFFF"/>
                </a:solidFill>
              </a:rPr>
              <a:t> (se deben inscribir juntos) y el </a:t>
            </a:r>
            <a:r>
              <a:rPr lang="es-ES" sz="1100" b="1" dirty="0">
                <a:solidFill>
                  <a:srgbClr val="FFFFFF"/>
                </a:solidFill>
              </a:rPr>
              <a:t>conector de liga</a:t>
            </a:r>
            <a:r>
              <a:rPr lang="es-ES" sz="1100" dirty="0">
                <a:solidFill>
                  <a:srgbClr val="FFFFFF"/>
                </a:solidFill>
              </a:rPr>
              <a:t> cuando el curso trabaje con ligas.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Si el catálogo ya los define, aparecen heredados. Guarde si realiza cambios.</a:t>
            </a:r>
          </a:p>
        </p:txBody>
      </p:sp>
    </p:spTree>
    <p:extLst>
      <p:ext uri="{BB962C8B-B14F-4D97-AF65-F5344CB8AC3E}">
        <p14:creationId xmlns:p14="http://schemas.microsoft.com/office/powerpoint/2010/main" val="227301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331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DETALLE DE SECCIÓN - SSADETL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763009" y="241540"/>
            <a:ext cx="542899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59" y="1012723"/>
            <a:ext cx="11108998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1067340" y="2517811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Marco 10"/>
          <p:cNvSpPr/>
          <p:nvPr/>
        </p:nvSpPr>
        <p:spPr>
          <a:xfrm>
            <a:off x="607859" y="1989248"/>
            <a:ext cx="10169072" cy="42850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Marco 11"/>
          <p:cNvSpPr/>
          <p:nvPr/>
        </p:nvSpPr>
        <p:spPr>
          <a:xfrm>
            <a:off x="3063267" y="1609770"/>
            <a:ext cx="1463618" cy="19769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Globo 12"/>
          <p:cNvSpPr txBox="1"/>
          <p:nvPr/>
        </p:nvSpPr>
        <p:spPr>
          <a:xfrm>
            <a:off x="2255352" y="3164916"/>
            <a:ext cx="7693536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5. </a:t>
            </a:r>
            <a:r>
              <a:rPr lang="es-ES" sz="1100" dirty="0">
                <a:solidFill>
                  <a:srgbClr val="FFFFFF"/>
                </a:solidFill>
              </a:rPr>
              <a:t>Pestaña </a:t>
            </a:r>
            <a:r>
              <a:rPr lang="es-ES" sz="1100" b="1" dirty="0">
                <a:solidFill>
                  <a:srgbClr val="92D050"/>
                </a:solidFill>
              </a:rPr>
              <a:t>Atributos de programa de grado</a:t>
            </a:r>
            <a:r>
              <a:rPr lang="es-ES" sz="1100" dirty="0">
                <a:solidFill>
                  <a:srgbClr val="FFFFFF"/>
                </a:solidFill>
              </a:rPr>
              <a:t>: muestra los atributos que el curso tiene definidos en el catálogo.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Se pueden ajustar solo para este NRC. Guarde si realiza cambios.</a:t>
            </a:r>
          </a:p>
        </p:txBody>
      </p:sp>
    </p:spTree>
    <p:extLst>
      <p:ext uri="{BB962C8B-B14F-4D97-AF65-F5344CB8AC3E}">
        <p14:creationId xmlns:p14="http://schemas.microsoft.com/office/powerpoint/2010/main" val="385049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PRERREQUISITOS DE SECCIÓN (SSAPREQ)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Define qué cursos o puntajes de examen debe tener aprobados el alumno para inscribirse en el NRC.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6077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8043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PRERREQUISITOS DE SECCIÓN - SSAPREQ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474512" y="241540"/>
            <a:ext cx="3717488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59" y="1012723"/>
            <a:ext cx="11483600" cy="1115378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7787953" y="134905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Numero 10"/>
          <p:cNvSpPr/>
          <p:nvPr/>
        </p:nvSpPr>
        <p:spPr>
          <a:xfrm>
            <a:off x="2647791" y="136677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Marco 11"/>
          <p:cNvSpPr/>
          <p:nvPr/>
        </p:nvSpPr>
        <p:spPr>
          <a:xfrm>
            <a:off x="778895" y="1456116"/>
            <a:ext cx="1790806" cy="18882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Marco 12"/>
          <p:cNvSpPr/>
          <p:nvPr/>
        </p:nvSpPr>
        <p:spPr>
          <a:xfrm>
            <a:off x="6162359" y="1456116"/>
            <a:ext cx="1576427" cy="172947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Numero 13"/>
          <p:cNvSpPr/>
          <p:nvPr/>
        </p:nvSpPr>
        <p:spPr>
          <a:xfrm>
            <a:off x="11195939" y="163996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Marco 14"/>
          <p:cNvSpPr/>
          <p:nvPr/>
        </p:nvSpPr>
        <p:spPr>
          <a:xfrm>
            <a:off x="11494387" y="1479669"/>
            <a:ext cx="445223" cy="18882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Globo 15"/>
          <p:cNvSpPr txBox="1"/>
          <p:nvPr/>
        </p:nvSpPr>
        <p:spPr>
          <a:xfrm>
            <a:off x="1988141" y="2958476"/>
            <a:ext cx="7169600" cy="11406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Se ingresa igual que SSADETL: </a:t>
            </a:r>
            <a:r>
              <a:rPr lang="es-ES" sz="1100" b="1" dirty="0">
                <a:solidFill>
                  <a:srgbClr val="92D050"/>
                </a:solidFill>
              </a:rPr>
              <a:t>Menú relacionado</a:t>
            </a:r>
            <a:r>
              <a:rPr lang="es-ES" sz="1100" dirty="0">
                <a:solidFill>
                  <a:srgbClr val="FFFFFF"/>
                </a:solidFill>
              </a:rPr>
              <a:t> de SSASECT › </a:t>
            </a:r>
            <a:r>
              <a:rPr lang="es-ES" sz="1100" b="1" dirty="0">
                <a:solidFill>
                  <a:srgbClr val="FFFFFF"/>
                </a:solidFill>
              </a:rPr>
              <a:t>Prerrequisitos de horario [SSAPREQ]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NRC</a:t>
            </a:r>
            <a:r>
              <a:rPr lang="es-ES" sz="1100" dirty="0">
                <a:solidFill>
                  <a:srgbClr val="FFFFFF"/>
                </a:solidFill>
              </a:rPr>
              <a:t> que desea configurar.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Seleccione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314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8043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PRERREQUISITOS DE SECCIÓN - SSAPREQ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474512" y="241540"/>
            <a:ext cx="3717488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21" y="1012723"/>
            <a:ext cx="10599474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1716885" y="1463060"/>
            <a:ext cx="2269296" cy="15958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Marco 10"/>
          <p:cNvSpPr/>
          <p:nvPr/>
        </p:nvSpPr>
        <p:spPr>
          <a:xfrm>
            <a:off x="10519089" y="1622645"/>
            <a:ext cx="597466" cy="15958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Globo 11"/>
          <p:cNvSpPr txBox="1"/>
          <p:nvPr/>
        </p:nvSpPr>
        <p:spPr>
          <a:xfrm>
            <a:off x="2612892" y="3237282"/>
            <a:ext cx="6390245" cy="8967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la pestaña </a:t>
            </a:r>
            <a:r>
              <a:rPr lang="es-ES" sz="1100" b="1" dirty="0">
                <a:solidFill>
                  <a:srgbClr val="92D050"/>
                </a:solidFill>
              </a:rPr>
              <a:t>Restricciones de puntaje de examen y de prerrequisitos de sección</a:t>
            </a:r>
            <a:r>
              <a:rPr lang="es-ES" sz="1100" dirty="0">
                <a:solidFill>
                  <a:srgbClr val="FFFFFF"/>
                </a:solidFill>
              </a:rPr>
              <a:t> se muestran los prerrequisitos </a:t>
            </a:r>
            <a:r>
              <a:rPr lang="es-ES" sz="1100" b="1" dirty="0">
                <a:solidFill>
                  <a:srgbClr val="FFFFFF"/>
                </a:solidFill>
              </a:rPr>
              <a:t>heredados del catálogo (SCAPREQ)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ctr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Con las opciones </a:t>
            </a:r>
            <a:r>
              <a:rPr lang="es-ES" sz="1100" b="1" dirty="0">
                <a:solidFill>
                  <a:srgbClr val="92D050"/>
                </a:solidFill>
              </a:rPr>
              <a:t>Insertar, Eliminar o Copiar</a:t>
            </a:r>
            <a:r>
              <a:rPr lang="es-ES" sz="1100" dirty="0">
                <a:solidFill>
                  <a:srgbClr val="FFFFFF"/>
                </a:solidFill>
              </a:rPr>
              <a:t> (resaltadas) se ajustan solo para este NRC.</a:t>
            </a:r>
          </a:p>
        </p:txBody>
      </p:sp>
    </p:spTree>
    <p:extLst>
      <p:ext uri="{BB962C8B-B14F-4D97-AF65-F5344CB8AC3E}">
        <p14:creationId xmlns:p14="http://schemas.microsoft.com/office/powerpoint/2010/main" val="370413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8043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PRERREQUISITOS DE SECCIÓN - SSAPREQ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474512" y="241540"/>
            <a:ext cx="3717488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79" y="1012723"/>
            <a:ext cx="10653758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663420" y="236176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Marco 10"/>
          <p:cNvSpPr/>
          <p:nvPr/>
        </p:nvSpPr>
        <p:spPr>
          <a:xfrm>
            <a:off x="835479" y="1634981"/>
            <a:ext cx="10653758" cy="71059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Numero 11"/>
          <p:cNvSpPr/>
          <p:nvPr/>
        </p:nvSpPr>
        <p:spPr>
          <a:xfrm>
            <a:off x="10641434" y="5757693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Marco 12"/>
          <p:cNvSpPr/>
          <p:nvPr/>
        </p:nvSpPr>
        <p:spPr>
          <a:xfrm>
            <a:off x="10999660" y="5535514"/>
            <a:ext cx="506528" cy="24913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Globo 13"/>
          <p:cNvSpPr txBox="1"/>
          <p:nvPr/>
        </p:nvSpPr>
        <p:spPr>
          <a:xfrm>
            <a:off x="2174580" y="3710011"/>
            <a:ext cx="6628002" cy="11406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dirty="0">
                <a:solidFill>
                  <a:srgbClr val="FFFFFF"/>
                </a:solidFill>
              </a:rPr>
              <a:t>Inserte el prerrequisito indicando </a:t>
            </a:r>
            <a:r>
              <a:rPr lang="es-ES" sz="1100" b="1" dirty="0">
                <a:solidFill>
                  <a:srgbClr val="FFFFFF"/>
                </a:solidFill>
              </a:rPr>
              <a:t>Materia</a:t>
            </a:r>
            <a:r>
              <a:rPr lang="es-ES" sz="1100" dirty="0">
                <a:solidFill>
                  <a:srgbClr val="FFFFFF"/>
                </a:solidFill>
              </a:rPr>
              <a:t>, </a:t>
            </a:r>
            <a:r>
              <a:rPr lang="es-ES" sz="1100" b="1" dirty="0">
                <a:solidFill>
                  <a:srgbClr val="FFFFFF"/>
                </a:solidFill>
              </a:rPr>
              <a:t>Número de curso</a:t>
            </a:r>
            <a:r>
              <a:rPr lang="es-ES" sz="1100" dirty="0">
                <a:solidFill>
                  <a:srgbClr val="FFFFFF"/>
                </a:solidFill>
              </a:rPr>
              <a:t>, </a:t>
            </a:r>
            <a:r>
              <a:rPr lang="es-ES" sz="1100" b="1" dirty="0">
                <a:solidFill>
                  <a:srgbClr val="FFFFFF"/>
                </a:solidFill>
              </a:rPr>
              <a:t>Nivel</a:t>
            </a:r>
            <a:r>
              <a:rPr lang="es-ES" sz="1100" dirty="0">
                <a:solidFill>
                  <a:srgbClr val="FFFFFF"/>
                </a:solidFill>
              </a:rPr>
              <a:t> y </a:t>
            </a:r>
            <a:r>
              <a:rPr lang="es-ES" sz="1100" b="1" dirty="0">
                <a:solidFill>
                  <a:srgbClr val="FFFFFF"/>
                </a:solidFill>
              </a:rPr>
              <a:t>Calificación</a:t>
            </a:r>
            <a:r>
              <a:rPr lang="es-ES" sz="1100" dirty="0">
                <a:solidFill>
                  <a:srgbClr val="FFFFFF"/>
                </a:solidFill>
              </a:rPr>
              <a:t> mínima. Para combinar varios use </a:t>
            </a:r>
            <a:r>
              <a:rPr lang="es-ES" sz="1100" b="1" dirty="0">
                <a:solidFill>
                  <a:srgbClr val="92D050"/>
                </a:solidFill>
              </a:rPr>
              <a:t>Y / O</a:t>
            </a:r>
            <a:r>
              <a:rPr lang="es-ES" sz="1100" dirty="0">
                <a:solidFill>
                  <a:srgbClr val="FFFFFF"/>
                </a:solidFill>
              </a:rPr>
              <a:t> y paréntesis.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la imagen (referencial) se exige ACCT 0110 </a:t>
            </a:r>
            <a:r>
              <a:rPr lang="es-ES" sz="1100" b="1" dirty="0">
                <a:solidFill>
                  <a:srgbClr val="FFFFFF"/>
                </a:solidFill>
              </a:rPr>
              <a:t>o</a:t>
            </a:r>
            <a:r>
              <a:rPr lang="es-ES" sz="1100" dirty="0">
                <a:solidFill>
                  <a:srgbClr val="FFFFFF"/>
                </a:solidFill>
              </a:rPr>
              <a:t> ACC0 0400.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Ejemplo Idiomas: </a:t>
            </a:r>
            <a:r>
              <a:rPr lang="es-ES" sz="1100" dirty="0">
                <a:solidFill>
                  <a:srgbClr val="FFFFFF"/>
                </a:solidFill>
              </a:rPr>
              <a:t>en un NRC de </a:t>
            </a:r>
            <a:r>
              <a:rPr lang="es-ES" sz="1100" b="1" dirty="0">
                <a:solidFill>
                  <a:srgbClr val="FFFFFF"/>
                </a:solidFill>
              </a:rPr>
              <a:t>BASIC II</a:t>
            </a:r>
            <a:r>
              <a:rPr lang="es-ES" sz="1100" dirty="0">
                <a:solidFill>
                  <a:srgbClr val="FFFFFF"/>
                </a:solidFill>
              </a:rPr>
              <a:t> se registra </a:t>
            </a:r>
            <a:r>
              <a:rPr lang="es-ES" sz="1100" b="1" dirty="0">
                <a:solidFill>
                  <a:srgbClr val="FFFFFF"/>
                </a:solidFill>
              </a:rPr>
              <a:t>BASIC I</a:t>
            </a:r>
            <a:r>
              <a:rPr lang="es-ES" sz="1100" dirty="0">
                <a:solidFill>
                  <a:srgbClr val="FFFFFF"/>
                </a:solidFill>
              </a:rPr>
              <a:t> aprobado.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5.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63714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RESTRICCIONES DE SECCIÓN (SSARRES)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Define quién puede inscribirse en el NRC: nivel, programa, campus, atributo o cohorte.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191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667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RESTRICCIONES DE SECCIÓN - SSARRES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098642" y="241540"/>
            <a:ext cx="409335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59" y="1012723"/>
            <a:ext cx="11483600" cy="1293251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7788716" y="1204265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Numero 10"/>
          <p:cNvSpPr/>
          <p:nvPr/>
        </p:nvSpPr>
        <p:spPr>
          <a:xfrm>
            <a:off x="2694670" y="122183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Marco 11"/>
          <p:cNvSpPr/>
          <p:nvPr/>
        </p:nvSpPr>
        <p:spPr>
          <a:xfrm>
            <a:off x="843573" y="1311398"/>
            <a:ext cx="1774740" cy="18712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Marco 12"/>
          <p:cNvSpPr/>
          <p:nvPr/>
        </p:nvSpPr>
        <p:spPr>
          <a:xfrm>
            <a:off x="6178738" y="1311398"/>
            <a:ext cx="1562284" cy="17139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Numero 13"/>
          <p:cNvSpPr/>
          <p:nvPr/>
        </p:nvSpPr>
        <p:spPr>
          <a:xfrm>
            <a:off x="11166127" y="1492567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Marco 14"/>
          <p:cNvSpPr/>
          <p:nvPr/>
        </p:nvSpPr>
        <p:spPr>
          <a:xfrm>
            <a:off x="11462930" y="1334740"/>
            <a:ext cx="441228" cy="18712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Globo 15"/>
          <p:cNvSpPr txBox="1"/>
          <p:nvPr/>
        </p:nvSpPr>
        <p:spPr>
          <a:xfrm>
            <a:off x="2041971" y="2800280"/>
            <a:ext cx="7105276" cy="9729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Desde el </a:t>
            </a:r>
            <a:r>
              <a:rPr lang="es-ES" sz="1100" b="1" dirty="0">
                <a:solidFill>
                  <a:srgbClr val="92D050"/>
                </a:solidFill>
              </a:rPr>
              <a:t>Menú relacionado</a:t>
            </a:r>
            <a:r>
              <a:rPr lang="es-ES" sz="1100" dirty="0">
                <a:solidFill>
                  <a:srgbClr val="FFFFFF"/>
                </a:solidFill>
              </a:rPr>
              <a:t> de SSASECT › </a:t>
            </a:r>
            <a:r>
              <a:rPr lang="es-ES" sz="1100" b="1" dirty="0">
                <a:solidFill>
                  <a:srgbClr val="FFFFFF"/>
                </a:solidFill>
              </a:rPr>
              <a:t>Restricciones de horario [SSARRES]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NRC</a:t>
            </a:r>
            <a:r>
              <a:rPr lang="es-ES" sz="1100" dirty="0">
                <a:solidFill>
                  <a:srgbClr val="FFFFFF"/>
                </a:solidFill>
              </a:rPr>
              <a:t> que desea configurar.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Seleccione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880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667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RESTRICCIONES DE SECCIÓN - SSARRES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098642" y="241540"/>
            <a:ext cx="409335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552" y="1012723"/>
            <a:ext cx="10611613" cy="4830000"/>
          </a:xfrm>
          <a:prstGeom prst="rect">
            <a:avLst/>
          </a:prstGeom>
        </p:spPr>
      </p:pic>
      <p:sp>
        <p:nvSpPr>
          <p:cNvPr id="9" name="Globo 9"/>
          <p:cNvSpPr txBox="1"/>
          <p:nvPr/>
        </p:nvSpPr>
        <p:spPr>
          <a:xfrm>
            <a:off x="1222947" y="3598543"/>
            <a:ext cx="9291462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Las restricciones del NRC se </a:t>
            </a:r>
            <a:r>
              <a:rPr lang="es-ES" sz="1100" b="1" dirty="0">
                <a:solidFill>
                  <a:srgbClr val="FFFFFF"/>
                </a:solidFill>
              </a:rPr>
              <a:t>heredan del catálogo (SCARRES)</a:t>
            </a:r>
            <a:r>
              <a:rPr lang="es-ES" sz="1100" dirty="0">
                <a:solidFill>
                  <a:srgbClr val="FFFFFF"/>
                </a:solidFill>
              </a:rPr>
              <a:t> y se pueden modificar aquí.</a:t>
            </a:r>
          </a:p>
          <a:p>
            <a:pPr algn="ctr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cada pestaña se elige </a:t>
            </a:r>
            <a:r>
              <a:rPr lang="es-ES" sz="1100" b="1" dirty="0">
                <a:solidFill>
                  <a:srgbClr val="92D050"/>
                </a:solidFill>
              </a:rPr>
              <a:t>Incluir</a:t>
            </a:r>
            <a:r>
              <a:rPr lang="es-ES" sz="1100" dirty="0">
                <a:solidFill>
                  <a:srgbClr val="FFFFFF"/>
                </a:solidFill>
              </a:rPr>
              <a:t> (solo pueden inscribirse los indicados) o </a:t>
            </a:r>
            <a:r>
              <a:rPr lang="es-ES" sz="1100" b="1" dirty="0">
                <a:solidFill>
                  <a:srgbClr val="92D050"/>
                </a:solidFill>
              </a:rPr>
              <a:t>Excluir</a:t>
            </a:r>
            <a:r>
              <a:rPr lang="es-ES" sz="1100" dirty="0">
                <a:solidFill>
                  <a:srgbClr val="FFFFFF"/>
                </a:solidFill>
              </a:rPr>
              <a:t> (pueden inscribirse todos, menos los indicados).</a:t>
            </a:r>
          </a:p>
        </p:txBody>
      </p:sp>
    </p:spTree>
    <p:extLst>
      <p:ext uri="{BB962C8B-B14F-4D97-AF65-F5344CB8AC3E}">
        <p14:creationId xmlns:p14="http://schemas.microsoft.com/office/powerpoint/2010/main" val="396914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667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RESTRICCIONES DE SECCIÓN - SSARRES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098642" y="241540"/>
            <a:ext cx="409335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17" y="1012723"/>
            <a:ext cx="10606083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2634247" y="2335899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Marco 10"/>
          <p:cNvSpPr/>
          <p:nvPr/>
        </p:nvSpPr>
        <p:spPr>
          <a:xfrm>
            <a:off x="914096" y="2531443"/>
            <a:ext cx="1667990" cy="17587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Marco 11"/>
          <p:cNvSpPr/>
          <p:nvPr/>
        </p:nvSpPr>
        <p:spPr>
          <a:xfrm>
            <a:off x="2069000" y="1481978"/>
            <a:ext cx="513087" cy="16108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Numero 12"/>
          <p:cNvSpPr/>
          <p:nvPr/>
        </p:nvSpPr>
        <p:spPr>
          <a:xfrm>
            <a:off x="4693479" y="295184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Marco 13"/>
          <p:cNvSpPr/>
          <p:nvPr/>
        </p:nvSpPr>
        <p:spPr>
          <a:xfrm>
            <a:off x="855914" y="2814476"/>
            <a:ext cx="3825628" cy="16108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Numero 14"/>
          <p:cNvSpPr/>
          <p:nvPr/>
        </p:nvSpPr>
        <p:spPr>
          <a:xfrm>
            <a:off x="10647676" y="5738457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Marco 15"/>
          <p:cNvSpPr/>
          <p:nvPr/>
        </p:nvSpPr>
        <p:spPr>
          <a:xfrm>
            <a:off x="10999384" y="5525313"/>
            <a:ext cx="492954" cy="24245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Globo 16"/>
          <p:cNvSpPr txBox="1"/>
          <p:nvPr/>
        </p:nvSpPr>
        <p:spPr>
          <a:xfrm>
            <a:off x="2129884" y="3455554"/>
            <a:ext cx="7434172" cy="7672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dirty="0">
                <a:solidFill>
                  <a:srgbClr val="FFFFFF"/>
                </a:solidFill>
              </a:rPr>
              <a:t>Pestaña </a:t>
            </a:r>
            <a:r>
              <a:rPr lang="es-ES" sz="1100" b="1" dirty="0">
                <a:solidFill>
                  <a:srgbClr val="92D050"/>
                </a:solidFill>
              </a:rPr>
              <a:t>Clase y nivel</a:t>
            </a:r>
            <a:r>
              <a:rPr lang="es-ES" sz="1100" dirty="0">
                <a:solidFill>
                  <a:srgbClr val="FFFFFF"/>
                </a:solidFill>
              </a:rPr>
              <a:t> › Restricciones de nivel: elija </a:t>
            </a:r>
            <a:r>
              <a:rPr lang="es-ES" sz="1100" b="1" dirty="0">
                <a:solidFill>
                  <a:srgbClr val="FFFFFF"/>
                </a:solidFill>
              </a:rPr>
              <a:t>Incluir</a:t>
            </a:r>
            <a:r>
              <a:rPr lang="es-ES" sz="1100" dirty="0">
                <a:solidFill>
                  <a:srgbClr val="FFFFFF"/>
                </a:solidFill>
              </a:rPr>
              <a:t> o </a:t>
            </a:r>
            <a:r>
              <a:rPr lang="es-ES" sz="1100" b="1" dirty="0">
                <a:solidFill>
                  <a:srgbClr val="FFFFFF"/>
                </a:solidFill>
              </a:rPr>
              <a:t>Excluir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5. </a:t>
            </a:r>
            <a:r>
              <a:rPr lang="es-ES" sz="1100" dirty="0">
                <a:solidFill>
                  <a:srgbClr val="FFFFFF"/>
                </a:solidFill>
              </a:rPr>
              <a:t>Ingrese el código de </a:t>
            </a:r>
            <a:r>
              <a:rPr lang="es-ES" sz="1100" b="1" dirty="0">
                <a:solidFill>
                  <a:srgbClr val="92D050"/>
                </a:solidFill>
              </a:rPr>
              <a:t>Nivel</a:t>
            </a:r>
            <a:r>
              <a:rPr lang="es-ES" sz="1100" dirty="0">
                <a:solidFill>
                  <a:srgbClr val="FFFFFF"/>
                </a:solidFill>
              </a:rPr>
              <a:t>. Use + y – para agregar o quitar registros.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6.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54597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667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RESTRICCIONES DE SECCIÓN - SSARRES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098642" y="241540"/>
            <a:ext cx="409335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552" y="1012723"/>
            <a:ext cx="10611613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2638214" y="234738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" name="Marco 10"/>
          <p:cNvSpPr/>
          <p:nvPr/>
        </p:nvSpPr>
        <p:spPr>
          <a:xfrm>
            <a:off x="917106" y="2542974"/>
            <a:ext cx="1668860" cy="17596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Marco 11"/>
          <p:cNvSpPr/>
          <p:nvPr/>
        </p:nvSpPr>
        <p:spPr>
          <a:xfrm>
            <a:off x="2585967" y="1475087"/>
            <a:ext cx="797768" cy="16117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Numero 12"/>
          <p:cNvSpPr/>
          <p:nvPr/>
        </p:nvSpPr>
        <p:spPr>
          <a:xfrm>
            <a:off x="4698520" y="2963651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3" name="Marco 13"/>
          <p:cNvSpPr/>
          <p:nvPr/>
        </p:nvSpPr>
        <p:spPr>
          <a:xfrm>
            <a:off x="858894" y="2826155"/>
            <a:ext cx="3827622" cy="16117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Numero 14"/>
          <p:cNvSpPr/>
          <p:nvPr/>
        </p:nvSpPr>
        <p:spPr>
          <a:xfrm>
            <a:off x="10655821" y="575172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5" name="Marco 15"/>
          <p:cNvSpPr/>
          <p:nvPr/>
        </p:nvSpPr>
        <p:spPr>
          <a:xfrm>
            <a:off x="11007654" y="5538406"/>
            <a:ext cx="493211" cy="24258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Globo 16"/>
          <p:cNvSpPr txBox="1"/>
          <p:nvPr/>
        </p:nvSpPr>
        <p:spPr>
          <a:xfrm>
            <a:off x="2133528" y="3467566"/>
            <a:ext cx="7438048" cy="7672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7. </a:t>
            </a:r>
            <a:r>
              <a:rPr lang="es-ES" sz="1100" dirty="0">
                <a:solidFill>
                  <a:srgbClr val="FFFFFF"/>
                </a:solidFill>
              </a:rPr>
              <a:t>Pestaña </a:t>
            </a:r>
            <a:r>
              <a:rPr lang="es-ES" sz="1100" b="1" dirty="0">
                <a:solidFill>
                  <a:srgbClr val="92D050"/>
                </a:solidFill>
              </a:rPr>
              <a:t>Grado y programa</a:t>
            </a:r>
            <a:r>
              <a:rPr lang="es-ES" sz="1100" dirty="0">
                <a:solidFill>
                  <a:srgbClr val="FFFFFF"/>
                </a:solidFill>
              </a:rPr>
              <a:t> › Restricciones de programa: elija </a:t>
            </a:r>
            <a:r>
              <a:rPr lang="es-ES" sz="1100" b="1" dirty="0">
                <a:solidFill>
                  <a:srgbClr val="FFFFFF"/>
                </a:solidFill>
              </a:rPr>
              <a:t>Incluir</a:t>
            </a:r>
            <a:r>
              <a:rPr lang="es-ES" sz="1100" dirty="0">
                <a:solidFill>
                  <a:srgbClr val="FFFFFF"/>
                </a:solidFill>
              </a:rPr>
              <a:t> o </a:t>
            </a:r>
            <a:r>
              <a:rPr lang="es-ES" sz="1100" b="1" dirty="0">
                <a:solidFill>
                  <a:srgbClr val="FFFFFF"/>
                </a:solidFill>
              </a:rPr>
              <a:t>Excluir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8. </a:t>
            </a:r>
            <a:r>
              <a:rPr lang="es-ES" sz="1100" dirty="0">
                <a:solidFill>
                  <a:srgbClr val="FFFFFF"/>
                </a:solidFill>
              </a:rPr>
              <a:t>Ingrese el código del </a:t>
            </a:r>
            <a:r>
              <a:rPr lang="es-ES" sz="1100" b="1" dirty="0">
                <a:solidFill>
                  <a:srgbClr val="92D050"/>
                </a:solidFill>
              </a:rPr>
              <a:t>Programa</a:t>
            </a:r>
            <a:r>
              <a:rPr lang="es-ES" sz="1100" dirty="0">
                <a:solidFill>
                  <a:srgbClr val="FFFFFF"/>
                </a:solidFill>
              </a:rPr>
              <a:t> autorizado para el NRC.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9.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19324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667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RESTRICCIONES DE SECCIÓN - SSARRES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098642" y="241540"/>
            <a:ext cx="409335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97" y="1012723"/>
            <a:ext cx="10629323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890919" y="1782997"/>
            <a:ext cx="1668860" cy="17596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Marco 10"/>
          <p:cNvSpPr/>
          <p:nvPr/>
        </p:nvSpPr>
        <p:spPr>
          <a:xfrm>
            <a:off x="3313858" y="1462914"/>
            <a:ext cx="797768" cy="16117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Marco 11"/>
          <p:cNvSpPr/>
          <p:nvPr/>
        </p:nvSpPr>
        <p:spPr>
          <a:xfrm>
            <a:off x="832705" y="2066178"/>
            <a:ext cx="4617639" cy="17191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Numero 12"/>
          <p:cNvSpPr/>
          <p:nvPr/>
        </p:nvSpPr>
        <p:spPr>
          <a:xfrm>
            <a:off x="10611966" y="5766900"/>
            <a:ext cx="30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3" name="Marco 13"/>
          <p:cNvSpPr/>
          <p:nvPr/>
        </p:nvSpPr>
        <p:spPr>
          <a:xfrm>
            <a:off x="10998799" y="5553585"/>
            <a:ext cx="493211" cy="24258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Numero 14"/>
          <p:cNvSpPr/>
          <p:nvPr/>
        </p:nvSpPr>
        <p:spPr>
          <a:xfrm>
            <a:off x="2628328" y="1726113"/>
            <a:ext cx="30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5" name="Numero 15"/>
          <p:cNvSpPr/>
          <p:nvPr/>
        </p:nvSpPr>
        <p:spPr>
          <a:xfrm>
            <a:off x="5489952" y="2230304"/>
            <a:ext cx="30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6" name="Globo 16"/>
          <p:cNvSpPr txBox="1"/>
          <p:nvPr/>
        </p:nvSpPr>
        <p:spPr>
          <a:xfrm>
            <a:off x="2124673" y="3482746"/>
            <a:ext cx="7438048" cy="7672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10. </a:t>
            </a:r>
            <a:r>
              <a:rPr lang="es-ES" sz="1100" dirty="0">
                <a:solidFill>
                  <a:srgbClr val="FFFFFF"/>
                </a:solidFill>
              </a:rPr>
              <a:t>Pestaña </a:t>
            </a:r>
            <a:r>
              <a:rPr lang="es-ES" sz="1100" b="1" dirty="0">
                <a:solidFill>
                  <a:srgbClr val="92D050"/>
                </a:solidFill>
              </a:rPr>
              <a:t>Campus y escuela</a:t>
            </a:r>
            <a:r>
              <a:rPr lang="es-ES" sz="1100" dirty="0">
                <a:solidFill>
                  <a:srgbClr val="FFFFFF"/>
                </a:solidFill>
              </a:rPr>
              <a:t> › Restricciones de campus: elija </a:t>
            </a:r>
            <a:r>
              <a:rPr lang="es-ES" sz="1100" b="1" dirty="0">
                <a:solidFill>
                  <a:srgbClr val="FFFFFF"/>
                </a:solidFill>
              </a:rPr>
              <a:t>Incluir</a:t>
            </a:r>
            <a:r>
              <a:rPr lang="es-ES" sz="1100" dirty="0">
                <a:solidFill>
                  <a:srgbClr val="FFFFFF"/>
                </a:solidFill>
              </a:rPr>
              <a:t> o </a:t>
            </a:r>
            <a:r>
              <a:rPr lang="es-ES" sz="1100" b="1" dirty="0">
                <a:solidFill>
                  <a:srgbClr val="FFFFFF"/>
                </a:solidFill>
              </a:rPr>
              <a:t>Excluir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11. </a:t>
            </a:r>
            <a:r>
              <a:rPr lang="es-ES" sz="1100" dirty="0">
                <a:solidFill>
                  <a:srgbClr val="FFFFFF"/>
                </a:solidFill>
              </a:rPr>
              <a:t>Ingrese el código de </a:t>
            </a:r>
            <a:r>
              <a:rPr lang="es-ES" sz="1100" b="1" dirty="0">
                <a:solidFill>
                  <a:srgbClr val="92D050"/>
                </a:solidFill>
              </a:rPr>
              <a:t>Campus</a:t>
            </a:r>
            <a:r>
              <a:rPr lang="es-ES" sz="1100" dirty="0">
                <a:solidFill>
                  <a:srgbClr val="FFFFFF"/>
                </a:solidFill>
              </a:rPr>
              <a:t> (sede) del NRC.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12.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38825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667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RESTRICCIONES DE SECCIÓN - SSARRES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098642" y="241540"/>
            <a:ext cx="409335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95" y="1012723"/>
            <a:ext cx="10641527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884806" y="1784017"/>
            <a:ext cx="1668441" cy="17592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Marco 10"/>
          <p:cNvSpPr/>
          <p:nvPr/>
        </p:nvSpPr>
        <p:spPr>
          <a:xfrm>
            <a:off x="4061660" y="1453278"/>
            <a:ext cx="1102971" cy="16839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Marco 11"/>
          <p:cNvSpPr/>
          <p:nvPr/>
        </p:nvSpPr>
        <p:spPr>
          <a:xfrm>
            <a:off x="826607" y="2067126"/>
            <a:ext cx="4742234" cy="19334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Numero 12"/>
          <p:cNvSpPr/>
          <p:nvPr/>
        </p:nvSpPr>
        <p:spPr>
          <a:xfrm>
            <a:off x="10603373" y="5766890"/>
            <a:ext cx="30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3" name="Marco 13"/>
          <p:cNvSpPr/>
          <p:nvPr/>
        </p:nvSpPr>
        <p:spPr>
          <a:xfrm>
            <a:off x="10990146" y="5553658"/>
            <a:ext cx="493088" cy="24252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Numero 14"/>
          <p:cNvSpPr/>
          <p:nvPr/>
        </p:nvSpPr>
        <p:spPr>
          <a:xfrm>
            <a:off x="2621741" y="1727119"/>
            <a:ext cx="30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5" name="Numero 15"/>
          <p:cNvSpPr/>
          <p:nvPr/>
        </p:nvSpPr>
        <p:spPr>
          <a:xfrm>
            <a:off x="5482646" y="2231183"/>
            <a:ext cx="30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6" name="Globo 16"/>
          <p:cNvSpPr txBox="1"/>
          <p:nvPr/>
        </p:nvSpPr>
        <p:spPr>
          <a:xfrm>
            <a:off x="2118250" y="3435917"/>
            <a:ext cx="7456759" cy="9729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13. </a:t>
            </a:r>
            <a:r>
              <a:rPr lang="es-ES" sz="1100" dirty="0">
                <a:solidFill>
                  <a:srgbClr val="FFFFFF"/>
                </a:solidFill>
              </a:rPr>
              <a:t>Pestaña </a:t>
            </a:r>
            <a:r>
              <a:rPr lang="es-ES" sz="1100" b="1" dirty="0">
                <a:solidFill>
                  <a:srgbClr val="92D050"/>
                </a:solidFill>
              </a:rPr>
              <a:t>Atributo y cohorte</a:t>
            </a:r>
            <a:r>
              <a:rPr lang="es-ES" sz="1100" dirty="0">
                <a:solidFill>
                  <a:srgbClr val="FFFFFF"/>
                </a:solidFill>
              </a:rPr>
              <a:t> › Restricciones de atributo de alumno: elija </a:t>
            </a:r>
            <a:r>
              <a:rPr lang="es-ES" sz="1100" b="1" dirty="0">
                <a:solidFill>
                  <a:srgbClr val="FFFFFF"/>
                </a:solidFill>
              </a:rPr>
              <a:t>Incluir</a:t>
            </a:r>
            <a:r>
              <a:rPr lang="es-ES" sz="1100" dirty="0">
                <a:solidFill>
                  <a:srgbClr val="FFFFFF"/>
                </a:solidFill>
              </a:rPr>
              <a:t> o </a:t>
            </a:r>
            <a:r>
              <a:rPr lang="es-ES" sz="1100" b="1" dirty="0">
                <a:solidFill>
                  <a:srgbClr val="FFFFFF"/>
                </a:solidFill>
              </a:rPr>
              <a:t>Excluir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14. </a:t>
            </a:r>
            <a:r>
              <a:rPr lang="es-ES" sz="1100" dirty="0">
                <a:solidFill>
                  <a:srgbClr val="FFFFFF"/>
                </a:solidFill>
              </a:rPr>
              <a:t>Ingrese el código de </a:t>
            </a:r>
            <a:r>
              <a:rPr lang="es-ES" sz="1100" b="1" dirty="0">
                <a:solidFill>
                  <a:srgbClr val="92D050"/>
                </a:solidFill>
              </a:rPr>
              <a:t>Atributo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15.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Las restricciones de </a:t>
            </a:r>
            <a:r>
              <a:rPr lang="es-ES" sz="1100" b="1" dirty="0">
                <a:solidFill>
                  <a:srgbClr val="FFFFFF"/>
                </a:solidFill>
              </a:rPr>
              <a:t>Cohorte</a:t>
            </a:r>
            <a:r>
              <a:rPr lang="es-ES" sz="1100" dirty="0">
                <a:solidFill>
                  <a:srgbClr val="FFFFFF"/>
                </a:solidFill>
              </a:rPr>
              <a:t>, en la misma pestaña, se registran de la misma forma.</a:t>
            </a:r>
          </a:p>
        </p:txBody>
      </p:sp>
    </p:spTree>
    <p:extLst>
      <p:ext uri="{BB962C8B-B14F-4D97-AF65-F5344CB8AC3E}">
        <p14:creationId xmlns:p14="http://schemas.microsoft.com/office/powerpoint/2010/main" val="125981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2085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RESUMEN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2516789" y="241540"/>
            <a:ext cx="967521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835BB7-D525-B78D-B54A-137EF0D9EC72}"/>
              </a:ext>
            </a:extLst>
          </p:cNvPr>
          <p:cNvSpPr txBox="1"/>
          <p:nvPr/>
        </p:nvSpPr>
        <p:spPr>
          <a:xfrm>
            <a:off x="431320" y="967304"/>
            <a:ext cx="1129856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800" b="1" dirty="0">
                <a:solidFill>
                  <a:srgbClr val="000000"/>
                </a:solidFill>
              </a:rPr>
              <a:t>SSADETL</a:t>
            </a:r>
            <a:r>
              <a:rPr lang="es-ES" sz="1800" dirty="0">
                <a:solidFill>
                  <a:srgbClr val="000000"/>
                </a:solidFill>
              </a:rPr>
              <a:t>: complementa el NRC con correquisitos, ligas de sección y atributos heredados del catálogo.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800" b="1" dirty="0">
                <a:solidFill>
                  <a:srgbClr val="000000"/>
                </a:solidFill>
              </a:rPr>
              <a:t>SSAPREQ</a:t>
            </a:r>
            <a:r>
              <a:rPr lang="es-ES" sz="1800" dirty="0">
                <a:solidFill>
                  <a:srgbClr val="000000"/>
                </a:solidFill>
              </a:rPr>
              <a:t>: muestra los prerrequisitos heredados de SCAPREQ; se pueden insertar, eliminar o copiar solo para ese NRC.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800" b="1" dirty="0">
                <a:solidFill>
                  <a:srgbClr val="000000"/>
                </a:solidFill>
              </a:rPr>
              <a:t>SSARRES</a:t>
            </a:r>
            <a:r>
              <a:rPr lang="es-ES" sz="1800" dirty="0">
                <a:solidFill>
                  <a:srgbClr val="000000"/>
                </a:solidFill>
              </a:rPr>
              <a:t>: define quién puede inscribirse en el NRC (nivel, programa, campus, atributo o cohorte) con Incluir o Excluir.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800" b="1" dirty="0">
                <a:solidFill>
                  <a:srgbClr val="000000"/>
                </a:solidFill>
              </a:rPr>
              <a:t>Acceso</a:t>
            </a:r>
            <a:r>
              <a:rPr lang="es-ES" sz="1800" dirty="0">
                <a:solidFill>
                  <a:srgbClr val="000000"/>
                </a:solidFill>
              </a:rPr>
              <a:t>: desde el Menú relacionado de SSASECT o desde la búsqueda de Experience, indicando Periodo y NRC.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800" b="1" dirty="0">
                <a:solidFill>
                  <a:srgbClr val="000000"/>
                </a:solidFill>
              </a:rPr>
              <a:t>Recuerde</a:t>
            </a:r>
            <a:r>
              <a:rPr lang="es-ES" sz="1800" dirty="0">
                <a:solidFill>
                  <a:srgbClr val="000000"/>
                </a:solidFill>
              </a:rPr>
              <a:t>: los cambios posteriores en el catálogo no se aplican a los NRC ya creados.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800" b="1" dirty="0">
                <a:solidFill>
                  <a:srgbClr val="000000"/>
                </a:solidFill>
              </a:rPr>
              <a:t>Siguiente tema</a:t>
            </a:r>
            <a:r>
              <a:rPr lang="es-ES" sz="1800" dirty="0">
                <a:solidFill>
                  <a:srgbClr val="000000"/>
                </a:solidFill>
              </a:rPr>
              <a:t>: 3. Docentes (registro del docente, asignación al NRC y carga de trabajo).</a:t>
            </a:r>
          </a:p>
        </p:txBody>
      </p:sp>
    </p:spTree>
    <p:extLst>
      <p:ext uri="{BB962C8B-B14F-4D97-AF65-F5344CB8AC3E}">
        <p14:creationId xmlns:p14="http://schemas.microsoft.com/office/powerpoint/2010/main" val="375944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Cuadrado&#10;&#10;El contenido generado por IA puede ser incorrecto.">
            <a:extLst>
              <a:ext uri="{FF2B5EF4-FFF2-40B4-BE49-F238E27FC236}">
                <a16:creationId xmlns:a16="http://schemas.microsoft.com/office/drawing/2014/main" id="{D4E63572-DF68-DC51-6555-40AD82ECE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176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4.xml><?xml version="1.0" encoding="utf-8"?>
<a:theme xmlns:a="http://schemas.openxmlformats.org/drawingml/2006/main" name="1_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21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PROGRAMACIÓN DE ASIGNATURAS - CORREQUISITOS, PRERREQUISITOS Y RESTRICCIONES</dc:title>
  <dc:creator>Dagner Anibal Chuman Lluen</dc:creator>
  <cp:lastModifiedBy>Dagner Anibal Chuman Lluen</cp:lastModifiedBy>
  <cp:revision>38</cp:revision>
  <dcterms:created xsi:type="dcterms:W3CDTF">2026-08-24T19:57:14Z</dcterms:created>
  <dcterms:modified xsi:type="dcterms:W3CDTF">2026-09-22T22:56:54Z</dcterms:modified>
</cp:coreProperties>
</file>