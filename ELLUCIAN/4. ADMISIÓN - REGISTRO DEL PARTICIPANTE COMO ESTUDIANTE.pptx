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5" r:id="rId3"/>
    <p:sldMasterId id="2147483735" r:id="rId4"/>
  </p:sldMasterIdLst>
  <p:notesMasterIdLst>
    <p:notesMasterId r:id="rId28"/>
  </p:notesMasterIdLst>
  <p:sldIdLst>
    <p:sldId id="565" r:id="rId33"/>
    <p:sldId id="566" r:id="rId34"/>
    <p:sldId id="567" r:id="rId35"/>
    <p:sldId id="568" r:id="rId36"/>
    <p:sldId id="569" r:id="rId37"/>
    <p:sldId id="570" r:id="rId38"/>
    <p:sldId id="571" r:id="rId39"/>
    <p:sldId id="572" r:id="rId40"/>
    <p:sldId id="573" r:id="rId41"/>
    <p:sldId id="574" r:id="rId42"/>
    <p:sldId id="575" r:id="rId43"/>
    <p:sldId id="576" r:id="rId44"/>
    <p:sldId id="577" r:id="rId45"/>
    <p:sldId id="578" r:id="rId46"/>
    <p:sldId id="579" r:id="rId47"/>
    <p:sldId id="580" r:id="rId48"/>
    <p:sldId id="581" r:id="rId49"/>
    <p:sldId id="582" r:id="rId50"/>
    <p:sldId id="583" r:id="rId51"/>
    <p:sldId id="584" r:id="rId52"/>
    <p:sldId id="585" r:id="rId53"/>
    <p:sldId id="586" r:id="rId54"/>
    <p:sldId id="587" r:id="rId55"/>
    <p:sldId id="588" r:id="rId5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19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Master" Target="slideMasters/slideMaster3.xml"/><Relationship Id="rId2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tableStyles" Target="tableStyles.xml"/><Relationship Id="rId28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30" Type="http://schemas.openxmlformats.org/officeDocument/2006/relationships/viewProps" Target="viewProps.xml"/>  <Relationship Id="rId33" Type="http://schemas.openxmlformats.org/officeDocument/2006/relationships/slide" Target="slides/slide24.xml"/>
  <Relationship Id="rId34" Type="http://schemas.openxmlformats.org/officeDocument/2006/relationships/slide" Target="slides/slide25.xml"/>
  <Relationship Id="rId35" Type="http://schemas.openxmlformats.org/officeDocument/2006/relationships/slide" Target="slides/slide26.xml"/>
  <Relationship Id="rId36" Type="http://schemas.openxmlformats.org/officeDocument/2006/relationships/slide" Target="slides/slide27.xml"/>
  <Relationship Id="rId37" Type="http://schemas.openxmlformats.org/officeDocument/2006/relationships/slide" Target="slides/slide28.xml"/>
  <Relationship Id="rId38" Type="http://schemas.openxmlformats.org/officeDocument/2006/relationships/slide" Target="slides/slide29.xml"/>
  <Relationship Id="rId39" Type="http://schemas.openxmlformats.org/officeDocument/2006/relationships/slide" Target="slides/slide30.xml"/>
  <Relationship Id="rId40" Type="http://schemas.openxmlformats.org/officeDocument/2006/relationships/slide" Target="slides/slide31.xml"/>
  <Relationship Id="rId41" Type="http://schemas.openxmlformats.org/officeDocument/2006/relationships/slide" Target="slides/slide32.xml"/>
  <Relationship Id="rId42" Type="http://schemas.openxmlformats.org/officeDocument/2006/relationships/slide" Target="slides/slide33.xml"/>
  <Relationship Id="rId43" Type="http://schemas.openxmlformats.org/officeDocument/2006/relationships/slide" Target="slides/slide34.xml"/>
  <Relationship Id="rId44" Type="http://schemas.openxmlformats.org/officeDocument/2006/relationships/slide" Target="slides/slide35.xml"/>
  <Relationship Id="rId45" Type="http://schemas.openxmlformats.org/officeDocument/2006/relationships/slide" Target="slides/slide36.xml"/>
  <Relationship Id="rId46" Type="http://schemas.openxmlformats.org/officeDocument/2006/relationships/slide" Target="slides/slide37.xml"/>
  <Relationship Id="rId47" Type="http://schemas.openxmlformats.org/officeDocument/2006/relationships/slide" Target="slides/slide38.xml"/>
  <Relationship Id="rId48" Type="http://schemas.openxmlformats.org/officeDocument/2006/relationships/slide" Target="slides/slide39.xml"/>
  <Relationship Id="rId49" Type="http://schemas.openxmlformats.org/officeDocument/2006/relationships/slide" Target="slides/slide40.xml"/>
  <Relationship Id="rId50" Type="http://schemas.openxmlformats.org/officeDocument/2006/relationships/slide" Target="slides/slide41.xml"/>
  <Relationship Id="rId51" Type="http://schemas.openxmlformats.org/officeDocument/2006/relationships/slide" Target="slides/slide42.xml"/>
  <Relationship Id="rId52" Type="http://schemas.openxmlformats.org/officeDocument/2006/relationships/slide" Target="slides/slide43.xml"/>
  <Relationship Id="rId53" Type="http://schemas.openxmlformats.org/officeDocument/2006/relationships/slide" Target="slides/slide44.xml"/>
  <Relationship Id="rId54" Type="http://schemas.openxmlformats.org/officeDocument/2006/relationships/slide" Target="slides/slide45.xml"/>
  <Relationship Id="rId55" Type="http://schemas.openxmlformats.org/officeDocument/2006/relationships/slide" Target="slides/slide46.xml"/>
  <Relationship Id="rId56" Type="http://schemas.openxmlformats.org/officeDocument/2006/relationships/slide" Target="slides/slide47.xml"/>
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C4D4F-02F1-4128-82AF-F7679EB9D8E5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98818-1391-4805-9C29-F0662F4A7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10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2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6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75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7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9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1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1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A9044-76B1-D660-8DBF-F2F16B011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94A282-AB81-AF53-998D-8FAB02409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4205B-C876-F8C4-D883-9E68781E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94D33-FDE8-6449-705F-E556EF1E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30CF9-CD55-3BD0-79C3-E70AAAEA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477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59199-D081-4689-6C0F-26C08148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26484-A586-DE59-81DA-9AE09718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B8B84-50E3-3680-51B0-E997DAC4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AA40F-A1AE-4DAB-8F62-65858B29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72374-BF0D-9199-0AE2-B02EF381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523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49AF9-55EC-C5C1-42C9-7D227AA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A2B32A-2C66-856E-7956-ED257F39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2117E-953F-4F70-D94A-C0F2B9F3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5B6E9-B354-9D39-F8CC-2B3721A2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96CAC-C276-2C6D-50E0-118D678F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78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B5609-CFF7-FE91-93A8-017ADAC9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964A9-F609-80F6-2CBA-3D02F425D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2AF759-B10E-0B24-F52D-720377E5A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A4FDCD-1E3B-1A51-8F25-3FF6CE7F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B8827-6190-F9CB-340C-17290B49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B46404-8C78-05E7-B250-ECAE3709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013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49292-F847-1D24-4FD9-AD41568A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F671E2-D3A4-0F45-2A09-B8DADE12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FFBD18-2BF9-678E-0AC8-52B223120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527B7E-E0F5-0A56-6D7C-76242207D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8E62F8-AF94-079C-EF69-A765CB014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648DA9-9673-35CC-FD69-59F6BD79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DE94D9-8533-ED00-B05C-81DE14EF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12A43-66F9-51AD-4D2C-731C9E48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640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CED7A-3158-77DF-D71C-35AEE7E2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78F852-120E-6806-DC0E-4922223E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D40898-4A83-C494-208C-3BB983CA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B7A564-709D-A9B1-4784-A78D03A3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470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1ACFAF-7441-8EC2-04CF-09CD9E83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FA7E49-6B88-6BC2-8C6D-9A071DBA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044BFD-EAF6-FB9F-F2A0-61F098F3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61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A3095-751F-EE63-B505-F34F4EEB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059669-42C4-B318-496D-C5C68D2B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90E18-79BE-170F-7FA5-0734B2427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67D11A-ADB7-ACDC-6832-61703869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77EE52-07B8-7502-695C-6DF8A78D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3460CC-A376-5637-5998-D11D83D1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23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F389F-3435-A3CA-D8B5-31A600F7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33BEFD-867B-5487-68C5-3F9B60292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4278E2-9BED-AFAC-E024-EA1282F7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DF14C5-21E9-B1BB-FAEB-95E5A017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448983-4ED4-A1F6-ABA9-CD9634DF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065E54-4AF9-87DF-9439-3998BE78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22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92D63-E499-03F7-FB4D-93474D0C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4D4A8B-B230-AB87-D28F-47E1EF75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4D0E4-B7E8-F53F-6E2B-AC40634D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558D2-1230-7AE6-C0AB-8C24ADE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8A289-C61E-F62D-8E83-FAFD4422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9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D465E1-F8B5-FF8A-28AB-8CEAEC420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BD6A3E-9027-3D05-9863-50913A2D8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397731-A82C-21F2-2C4D-A190BB9F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38474-DFAA-E728-D9B9-DEFD3997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089AF1-2426-4CC7-C36C-58F4C5A1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843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420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014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4508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8918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3422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7268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55331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2739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201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338797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43002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31513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99025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8827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8066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449226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907843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21880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63208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374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215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29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28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476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25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26432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8718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4296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783121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263810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4826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60798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86742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17176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425993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3993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32979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543314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41595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156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741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2842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68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8809703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0794212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3605218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21823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211374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519923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30648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644004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84409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769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913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94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577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48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52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5593398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884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2469461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3063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421736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709755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91547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73974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4967650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720940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22-09-2026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89258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15294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309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28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4505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01003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864363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979129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000957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478736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11029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07523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8591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13034148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2543165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7497897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631561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91782741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70003420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70694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331499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84337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8726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75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9859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7690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0693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7008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5757675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6216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25402841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596028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900505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13723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86196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818211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181314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69362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22-09-2026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93289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06194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0162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72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557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/Relationships>
</file>

<file path=ppt/slideMasters/_rels/slideMaster3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5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/Relationships>
</file>

<file path=ppt/slideMasters/_rels/slideMaster4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slideLayout" Target="../slideLayouts/slideLayout110.xml"/><Relationship Id="rId39" Type="http://schemas.openxmlformats.org/officeDocument/2006/relationships/theme" Target="../theme/theme4.xml"/><Relationship Id="rId21" Type="http://schemas.openxmlformats.org/officeDocument/2006/relationships/slideLayout" Target="../slideLayouts/slideLayout105.xml"/><Relationship Id="rId34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3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16.xml"/><Relationship Id="rId37" Type="http://schemas.openxmlformats.org/officeDocument/2006/relationships/slideLayout" Target="../slideLayouts/slideLayout121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slideLayout" Target="../slideLayouts/slideLayout112.xml"/><Relationship Id="rId36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4.xml"/><Relationship Id="rId35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33" Type="http://schemas.openxmlformats.org/officeDocument/2006/relationships/slideLayout" Target="../slideLayouts/slideLayout117.xml"/><Relationship Id="rId38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123625-4177-94C5-071F-B877E48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C5A60-722C-D5E0-88E8-5BB4ECA7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07A37D-85C7-5674-D2C3-ADB9632C5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165AA-F759-5A1E-FB29-109C5E328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B6A20-3F4D-79CB-E2F3-BEEDBBCD8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0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062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314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3" r:id="rId37"/>
    <p:sldLayoutId id="214748373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00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c_11_0.png"/><Relationship Id="rId5" Type="http://schemas.openxmlformats.org/officeDocument/2006/relationships/image" Target="../media/admc_11_1.png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c_12_0.png"/><Relationship Id="rId5" Type="http://schemas.openxmlformats.org/officeDocument/2006/relationships/image" Target="../media/admc_12_1.png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c_25_0.png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p_30_0.png"/></Relationships>
</file>

<file path=ppt/slides/_rels/slide3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p_31_0.png"/></Relationships>
</file>

<file path=ppt/slides/_rels/slide34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q_22_0.png"/></Relationships>
</file>

<file path=ppt/slides/_rels/slide3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q_23_0.png"/></Relationships>
</file>

<file path=ppt/slides/_rels/slide37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q_24_0.png"/></Relationships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q_25_0.png"/></Relationships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q_26_0.png"/></Relationships>
</file>

<file path=ppt/slides/_rels/slide4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q_27_0.png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4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p_39_0.png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p_42_0.png"/></Relationships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q_11_0.png"/></Relationships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dms_15_0.png"/></Relationships>
</file>

<file path=ppt/slides/_rels/slide4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909" y="0"/>
            <a:ext cx="3744190" cy="19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4053898" cy="95425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7F56B21-165B-13C1-F495-3576889CB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2" r="6842"/>
          <a:stretch/>
        </p:blipFill>
        <p:spPr>
          <a:xfrm>
            <a:off x="6096000" y="1870726"/>
            <a:ext cx="6096000" cy="4719037"/>
          </a:xfrm>
          <a:custGeom>
            <a:avLst/>
            <a:gdLst>
              <a:gd name="connsiteX0" fmla="*/ 1 w 6548583"/>
              <a:gd name="connsiteY0" fmla="*/ 0 h 5069391"/>
              <a:gd name="connsiteX1" fmla="*/ 6548583 w 6548583"/>
              <a:gd name="connsiteY1" fmla="*/ 0 h 5069391"/>
              <a:gd name="connsiteX2" fmla="*/ 6548583 w 6548583"/>
              <a:gd name="connsiteY2" fmla="*/ 1424774 h 5069391"/>
              <a:gd name="connsiteX3" fmla="*/ 1440000 w 6548583"/>
              <a:gd name="connsiteY3" fmla="*/ 1424774 h 5069391"/>
              <a:gd name="connsiteX4" fmla="*/ 1440000 w 6548583"/>
              <a:gd name="connsiteY4" fmla="*/ 1807083 h 5069391"/>
              <a:gd name="connsiteX5" fmla="*/ 6548583 w 6548583"/>
              <a:gd name="connsiteY5" fmla="*/ 1807083 h 5069391"/>
              <a:gd name="connsiteX6" fmla="*/ 6548583 w 6548583"/>
              <a:gd name="connsiteY6" fmla="*/ 3247083 h 5069391"/>
              <a:gd name="connsiteX7" fmla="*/ 1440000 w 6548583"/>
              <a:gd name="connsiteY7" fmla="*/ 3247082 h 5069391"/>
              <a:gd name="connsiteX8" fmla="*/ 1440000 w 6548583"/>
              <a:gd name="connsiteY8" fmla="*/ 3629391 h 5069391"/>
              <a:gd name="connsiteX9" fmla="*/ 6548582 w 6548583"/>
              <a:gd name="connsiteY9" fmla="*/ 3629392 h 5069391"/>
              <a:gd name="connsiteX10" fmla="*/ 6548582 w 6548583"/>
              <a:gd name="connsiteY10" fmla="*/ 5069391 h 5069391"/>
              <a:gd name="connsiteX11" fmla="*/ 1440000 w 6548583"/>
              <a:gd name="connsiteY11" fmla="*/ 5069391 h 5069391"/>
              <a:gd name="connsiteX12" fmla="*/ 0 w 6548583"/>
              <a:gd name="connsiteY12" fmla="*/ 5069391 h 5069391"/>
              <a:gd name="connsiteX13" fmla="*/ 0 w 6548583"/>
              <a:gd name="connsiteY13" fmla="*/ 1 h 5069391"/>
              <a:gd name="connsiteX14" fmla="*/ 1 w 6548583"/>
              <a:gd name="connsiteY14" fmla="*/ 1 h 506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548583" h="5069391">
                <a:moveTo>
                  <a:pt x="1" y="0"/>
                </a:moveTo>
                <a:lnTo>
                  <a:pt x="6548583" y="0"/>
                </a:lnTo>
                <a:lnTo>
                  <a:pt x="6548583" y="1424774"/>
                </a:lnTo>
                <a:lnTo>
                  <a:pt x="1440000" y="1424774"/>
                </a:lnTo>
                <a:lnTo>
                  <a:pt x="1440000" y="1807083"/>
                </a:lnTo>
                <a:lnTo>
                  <a:pt x="6548583" y="1807083"/>
                </a:lnTo>
                <a:lnTo>
                  <a:pt x="6548583" y="3247083"/>
                </a:lnTo>
                <a:lnTo>
                  <a:pt x="1440000" y="3247082"/>
                </a:lnTo>
                <a:lnTo>
                  <a:pt x="1440000" y="3629391"/>
                </a:lnTo>
                <a:lnTo>
                  <a:pt x="6548582" y="3629392"/>
                </a:lnTo>
                <a:lnTo>
                  <a:pt x="6548582" y="5069391"/>
                </a:lnTo>
                <a:lnTo>
                  <a:pt x="1440000" y="5069391"/>
                </a:lnTo>
                <a:lnTo>
                  <a:pt x="0" y="506939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481781" y="2847728"/>
            <a:ext cx="55257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0"/>
              </a:rPr>
              <a:t>ADMISIÓN</a:t>
            </a:r>
            <a:endParaRPr lang="es-PE" sz="4600" b="1" dirty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F3A99F-357C-A6F7-37E7-45E55D8F10F5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>
                <a:solidFill>
                  <a:schemeClr val="bg1"/>
                </a:solidFill>
              </a:rPr>
              <a:t>Elaborado por: Dagner Anibal Chuman Lluen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029" name="Texto 1029"/>
          <p:cNvSpPr txBox="1"/>
          <p:nvPr/>
        </p:nvSpPr>
        <p:spPr>
          <a:xfrm>
            <a:off x="481781" y="5130000"/>
            <a:ext cx="5525729" cy="76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s-ES" sz="2000" b="1" dirty="0">
                <a:solidFill>
                  <a:srgbClr val="FFFFFF"/>
                </a:solidFill>
                <a:latin typeface="Montserrat" pitchFamily="2" charset="0"/>
              </a:rPr>
              <a:t>CENTROS EMPRESARIALES</a:t>
            </a:r>
          </a:p>
          <a:p>
            <a:r>
              <a:rPr lang="es-ES" sz="1600" dirty="0">
                <a:solidFill>
                  <a:srgbClr val="FFFFFF"/>
                </a:solidFill>
                <a:latin typeface="Montserrat" pitchFamily="2" charset="0"/>
              </a:rPr>
              <a:t>Registro del participante como estudiante</a:t>
            </a:r>
          </a:p>
        </p:txBody>
      </p:sp>
    </p:spTree>
    <p:extLst>
      <p:ext uri="{BB962C8B-B14F-4D97-AF65-F5344CB8AC3E}">
        <p14:creationId xmlns:p14="http://schemas.microsoft.com/office/powerpoint/2010/main" val="3874463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777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REGISTRAR AL PARTICIPANTE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08984" y="241540"/>
            <a:ext cx="5983015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0F07226-D7DA-DE59-8B77-881CE02CBB4E}"/>
              </a:ext>
            </a:extLst>
          </p:cNvPr>
          <p:cNvSpPr/>
          <p:nvPr/>
        </p:nvSpPr>
        <p:spPr>
          <a:xfrm>
            <a:off x="549304" y="1339819"/>
            <a:ext cx="492912" cy="5232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7421CC-95D2-797D-DE18-77D80C0AB019}"/>
              </a:ext>
            </a:extLst>
          </p:cNvPr>
          <p:cNvSpPr txBox="1"/>
          <p:nvPr/>
        </p:nvSpPr>
        <p:spPr>
          <a:xfrm>
            <a:off x="431718" y="19284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Inicio</a:t>
            </a:r>
            <a:endParaRPr lang="es-PE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070D876-635D-7E58-4247-B66AC8D39DC3}"/>
              </a:ext>
            </a:extLst>
          </p:cNvPr>
          <p:cNvSpPr/>
          <p:nvPr/>
        </p:nvSpPr>
        <p:spPr>
          <a:xfrm>
            <a:off x="1995948" y="1130710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1D865E5-4ACE-7456-61C5-D83C7A22FD10}"/>
              </a:ext>
            </a:extLst>
          </p:cNvPr>
          <p:cNvCxnSpPr>
            <a:stCxn id="5" idx="6"/>
            <a:endCxn id="11" idx="1"/>
          </p:cNvCxnSpPr>
          <p:nvPr/>
        </p:nvCxnSpPr>
        <p:spPr>
          <a:xfrm flipV="1">
            <a:off x="1042216" y="1597742"/>
            <a:ext cx="953732" cy="3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2880EFF-3015-A5E7-8897-958E4498813F}"/>
              </a:ext>
            </a:extLst>
          </p:cNvPr>
          <p:cNvSpPr txBox="1"/>
          <p:nvPr/>
        </p:nvSpPr>
        <p:spPr>
          <a:xfrm>
            <a:off x="2035276" y="1228410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dirty="0"/>
              <a:t>Buscar o crear la persona (</a:t>
            </a:r>
            <a:r>
              <a:rPr lang="es-ES" sz="1300" b="1" dirty="0">
                <a:solidFill>
                  <a:schemeClr val="accent5"/>
                </a:solidFill>
              </a:rPr>
              <a:t>GOAMTCH, SPAIDEN</a:t>
            </a:r>
            <a:r>
              <a:rPr lang="es-ES" sz="1300" dirty="0"/>
              <a:t>)</a:t>
            </a:r>
            <a:endParaRPr lang="es-PE" sz="1400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F539C1C-ACA0-CE88-7625-AE9C4029813A}"/>
              </a:ext>
            </a:extLst>
          </p:cNvPr>
          <p:cNvSpPr/>
          <p:nvPr/>
        </p:nvSpPr>
        <p:spPr>
          <a:xfrm>
            <a:off x="4986657" y="1130710"/>
            <a:ext cx="2212258" cy="934064"/>
          </a:xfrm>
          <a:prstGeom prst="roundRect">
            <a:avLst/>
          </a:prstGeom>
          <a:solidFill>
            <a:srgbClr val="F1E7FA"/>
          </a:solidFill>
          <a:ln w="381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B254C23-7F14-1827-1968-CC4B891577B0}"/>
              </a:ext>
            </a:extLst>
          </p:cNvPr>
          <p:cNvSpPr/>
          <p:nvPr/>
        </p:nvSpPr>
        <p:spPr>
          <a:xfrm>
            <a:off x="7983799" y="1114119"/>
            <a:ext cx="2212258" cy="934064"/>
          </a:xfrm>
          <a:prstGeom prst="roundRect">
            <a:avLst/>
          </a:prstGeom>
          <a:solidFill>
            <a:srgbClr val="F1E7FA"/>
          </a:solidFill>
          <a:ln w="381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D1A0331-4215-D51E-BA51-7206DD1FD1D8}"/>
              </a:ext>
            </a:extLst>
          </p:cNvPr>
          <p:cNvSpPr txBox="1"/>
          <p:nvPr/>
        </p:nvSpPr>
        <p:spPr>
          <a:xfrm>
            <a:off x="7983796" y="1321260"/>
            <a:ext cx="2212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Tipo y estatus de alumno (</a:t>
            </a:r>
            <a:r>
              <a:rPr lang="es-ES" sz="1400" b="1" dirty="0">
                <a:solidFill>
                  <a:schemeClr val="accent5"/>
                </a:solidFill>
              </a:rPr>
              <a:t>SAAQUIK</a:t>
            </a:r>
            <a:r>
              <a:rPr lang="es-ES" sz="1400" dirty="0"/>
              <a:t>)</a:t>
            </a:r>
            <a:endParaRPr lang="es-PE" sz="1400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BB0030A-6090-4766-78A7-B941D0D3B664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4208206" y="1597742"/>
            <a:ext cx="778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FE3D0FD-BAD0-0753-641C-C9301D64BA01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7198915" y="1582870"/>
            <a:ext cx="784881" cy="14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528394E-34DF-ED2C-8365-CF16A198EF88}"/>
              </a:ext>
            </a:extLst>
          </p:cNvPr>
          <p:cNvSpPr txBox="1"/>
          <p:nvPr/>
        </p:nvSpPr>
        <p:spPr>
          <a:xfrm>
            <a:off x="4905899" y="1229649"/>
            <a:ext cx="23601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Periodo y nivel de admisión (</a:t>
            </a:r>
            <a:r>
              <a:rPr lang="es-ES" sz="1400" b="1" dirty="0">
                <a:solidFill>
                  <a:schemeClr val="accent5"/>
                </a:solidFill>
              </a:rPr>
              <a:t>SAAQUIK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EF220E9-53C1-9E23-0932-95E73BE286DD}"/>
              </a:ext>
            </a:extLst>
          </p:cNvPr>
          <p:cNvSpPr/>
          <p:nvPr/>
        </p:nvSpPr>
        <p:spPr>
          <a:xfrm>
            <a:off x="9458153" y="2864658"/>
            <a:ext cx="2212258" cy="934064"/>
          </a:xfrm>
          <a:prstGeom prst="roundRect">
            <a:avLst/>
          </a:prstGeom>
          <a:solidFill>
            <a:srgbClr val="F1E7FA"/>
          </a:solidFill>
          <a:ln w="381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E1A9658-8C29-4B14-4205-EC14FCA169C1}"/>
              </a:ext>
            </a:extLst>
          </p:cNvPr>
          <p:cNvSpPr txBox="1"/>
          <p:nvPr/>
        </p:nvSpPr>
        <p:spPr>
          <a:xfrm>
            <a:off x="9458150" y="2963647"/>
            <a:ext cx="2212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Solicitud y decisión (</a:t>
            </a:r>
            <a:r>
              <a:rPr lang="es-ES" sz="1400" b="1" dirty="0">
                <a:solidFill>
                  <a:schemeClr val="accent5"/>
                </a:solidFill>
              </a:rPr>
              <a:t>SAAQUIK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A3621E49-7181-6D44-7CB7-B088D989E5DB}"/>
              </a:ext>
            </a:extLst>
          </p:cNvPr>
          <p:cNvSpPr/>
          <p:nvPr/>
        </p:nvSpPr>
        <p:spPr>
          <a:xfrm>
            <a:off x="7983796" y="4708694"/>
            <a:ext cx="2212258" cy="934064"/>
          </a:xfrm>
          <a:prstGeom prst="roundRect">
            <a:avLst/>
          </a:prstGeom>
          <a:solidFill>
            <a:srgbClr val="F1E7FA"/>
          </a:solidFill>
          <a:ln w="381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3D22F79-0793-A7B5-3818-A6641C1852D7}"/>
              </a:ext>
            </a:extLst>
          </p:cNvPr>
          <p:cNvSpPr txBox="1"/>
          <p:nvPr/>
        </p:nvSpPr>
        <p:spPr>
          <a:xfrm>
            <a:off x="8042787" y="4807683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Programa del participante (</a:t>
            </a:r>
            <a:r>
              <a:rPr lang="es-ES" sz="1400" b="1" dirty="0">
                <a:solidFill>
                  <a:schemeClr val="accent5"/>
                </a:solidFill>
              </a:rPr>
              <a:t>SAAQUIK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E6601043-44F7-376A-C35E-83DA6992BD33}"/>
              </a:ext>
            </a:extLst>
          </p:cNvPr>
          <p:cNvSpPr/>
          <p:nvPr/>
        </p:nvSpPr>
        <p:spPr>
          <a:xfrm>
            <a:off x="4989871" y="4718163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C55F58-4315-C978-046D-CC24EDF08C24}"/>
              </a:ext>
            </a:extLst>
          </p:cNvPr>
          <p:cNvSpPr txBox="1"/>
          <p:nvPr/>
        </p:nvSpPr>
        <p:spPr>
          <a:xfrm>
            <a:off x="5078366" y="4817152"/>
            <a:ext cx="2045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Completar teléfono y correo (</a:t>
            </a:r>
            <a:r>
              <a:rPr lang="es-ES" sz="1400" b="1" dirty="0">
                <a:solidFill>
                  <a:schemeClr val="accent5"/>
                </a:solidFill>
              </a:rPr>
              <a:t>SPAIDEN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14C6C3FB-550C-EE74-60BA-A72EE470EC93}"/>
              </a:ext>
            </a:extLst>
          </p:cNvPr>
          <p:cNvSpPr/>
          <p:nvPr/>
        </p:nvSpPr>
        <p:spPr>
          <a:xfrm>
            <a:off x="1995943" y="4728953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DB53553-FC90-4F11-B65A-0B59D6816223}"/>
              </a:ext>
            </a:extLst>
          </p:cNvPr>
          <p:cNvSpPr txBox="1"/>
          <p:nvPr/>
        </p:nvSpPr>
        <p:spPr>
          <a:xfrm>
            <a:off x="2035274" y="4827942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Verificar solicitud y estudiante (</a:t>
            </a:r>
            <a:r>
              <a:rPr lang="es-ES" sz="1200" b="1" dirty="0">
                <a:solidFill>
                  <a:schemeClr val="accent5"/>
                </a:solidFill>
              </a:rPr>
              <a:t>SAAADMS, SGASTDN</a:t>
            </a:r>
            <a:r>
              <a:rPr lang="es-ES" sz="1200" dirty="0"/>
              <a:t>)</a:t>
            </a:r>
            <a:endParaRPr lang="es-PE" sz="1400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3A987457-B0D7-77C9-3C21-D40B9CC6FB57}"/>
              </a:ext>
            </a:extLst>
          </p:cNvPr>
          <p:cNvSpPr/>
          <p:nvPr/>
        </p:nvSpPr>
        <p:spPr>
          <a:xfrm>
            <a:off x="552716" y="4927692"/>
            <a:ext cx="492912" cy="5232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4B6E7DB-762E-113C-3073-B187DE1E0EFD}"/>
              </a:ext>
            </a:extLst>
          </p:cNvPr>
          <p:cNvSpPr txBox="1"/>
          <p:nvPr/>
        </p:nvSpPr>
        <p:spPr>
          <a:xfrm>
            <a:off x="562946" y="5575349"/>
            <a:ext cx="48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Fin</a:t>
            </a:r>
            <a:endParaRPr lang="es-PE" dirty="0"/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25688D56-FCB5-97B4-B66A-E54E8570FA1D}"/>
              </a:ext>
            </a:extLst>
          </p:cNvPr>
          <p:cNvCxnSpPr>
            <a:stCxn id="18" idx="3"/>
            <a:endCxn id="40" idx="0"/>
          </p:cNvCxnSpPr>
          <p:nvPr/>
        </p:nvCxnSpPr>
        <p:spPr>
          <a:xfrm>
            <a:off x="10196057" y="1581151"/>
            <a:ext cx="368225" cy="12835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2499214E-0E69-562C-6C15-81762BAC0EF1}"/>
              </a:ext>
            </a:extLst>
          </p:cNvPr>
          <p:cNvCxnSpPr>
            <a:cxnSpLocks/>
            <a:stCxn id="40" idx="2"/>
            <a:endCxn id="42" idx="3"/>
          </p:cNvCxnSpPr>
          <p:nvPr/>
        </p:nvCxnSpPr>
        <p:spPr>
          <a:xfrm rot="5400000">
            <a:off x="9691666" y="4303110"/>
            <a:ext cx="1377004" cy="36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C3BDC73-6872-2E01-0A42-CC3D2781F64B}"/>
              </a:ext>
            </a:extLst>
          </p:cNvPr>
          <p:cNvCxnSpPr>
            <a:cxnSpLocks/>
            <a:stCxn id="42" idx="1"/>
            <a:endCxn id="44" idx="3"/>
          </p:cNvCxnSpPr>
          <p:nvPr/>
        </p:nvCxnSpPr>
        <p:spPr>
          <a:xfrm flipH="1">
            <a:off x="7202129" y="5175726"/>
            <a:ext cx="781667" cy="9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05AB92E-A5EF-1150-EEC1-63A63DBB2E95}"/>
              </a:ext>
            </a:extLst>
          </p:cNvPr>
          <p:cNvCxnSpPr>
            <a:cxnSpLocks/>
            <a:stCxn id="44" idx="1"/>
            <a:endCxn id="46" idx="3"/>
          </p:cNvCxnSpPr>
          <p:nvPr/>
        </p:nvCxnSpPr>
        <p:spPr>
          <a:xfrm flipH="1">
            <a:off x="4208201" y="5185195"/>
            <a:ext cx="781670" cy="10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FCFEF2D9-76D0-DC01-5C00-280704290EF4}"/>
              </a:ext>
            </a:extLst>
          </p:cNvPr>
          <p:cNvCxnSpPr>
            <a:stCxn id="46" idx="1"/>
            <a:endCxn id="48" idx="6"/>
          </p:cNvCxnSpPr>
          <p:nvPr/>
        </p:nvCxnSpPr>
        <p:spPr>
          <a:xfrm flipH="1" flipV="1">
            <a:off x="1045628" y="5189302"/>
            <a:ext cx="950315" cy="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Globo 71"/>
          <p:cNvSpPr txBox="1"/>
          <p:nvPr/>
        </p:nvSpPr>
        <p:spPr>
          <a:xfrm>
            <a:off x="2500000" y="3000000"/>
            <a:ext cx="6300000" cy="8000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Configuración</a:t>
            </a:r>
            <a:r>
              <a:rPr lang="es-ES" sz="1100" dirty="0">
                <a:solidFill>
                  <a:srgbClr val="FFFFFF"/>
                </a:solidFill>
              </a:rPr>
              <a:t> (una vez): tipos de admisión y de alumno, y decisiones.</a:t>
            </a:r>
          </a:p>
          <a:p>
            <a:pPr algn="ctr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Por cada participante</a:t>
            </a:r>
            <a:r>
              <a:rPr lang="es-ES" sz="1100" dirty="0">
                <a:solidFill>
                  <a:srgbClr val="FFFFFF"/>
                </a:solidFill>
              </a:rPr>
              <a:t>: buscar la persona, SAAQUIK, contacto en SPAIDEN y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123597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500"/>
                            </p:stCondLst>
                            <p:childTnLst>
                              <p:par>
                                <p:cTn id="8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000"/>
                            </p:stCondLst>
                            <p:childTnLst>
                              <p:par>
                                <p:cTn id="9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5" grpId="0" animBg="1"/>
      <p:bldP spid="10" grpId="0"/>
      <p:bldP spid="11" grpId="0" animBg="1"/>
      <p:bldP spid="14" grpId="0"/>
      <p:bldP spid="15" grpId="0"/>
      <p:bldP spid="16" grpId="0" animBg="1"/>
      <p:bldP spid="18" grpId="0" animBg="1"/>
      <p:bldP spid="19" grpId="0"/>
      <p:bldP spid="17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3864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CONCEPTOS CLAVE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295500" y="241540"/>
            <a:ext cx="789649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Texto 9"/>
          <p:cNvSpPr txBox="1"/>
          <p:nvPr/>
        </p:nvSpPr>
        <p:spPr>
          <a:xfrm>
            <a:off x="431320" y="930000"/>
            <a:ext cx="11329360" cy="52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Para que un participante pueda inscribirse en un NRC, Banner relaciona cuatro registros: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43132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SPAIDEN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Persona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43132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Datos personales: ID, nombres, documento, dirección, teléfono y correo.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Se busca antes de crear (GOAMTCH).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332366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SAAQUIK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Admisión rápida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332366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Una sola página para periodo, programa, tipo de alumno y decisión.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Crea SAAADMS y SGASTDN.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621600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SAAADMS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Solicitud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621600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Solicitud de admisión: tipo, programa, estatus y decisión.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Se revisa o corrige aquí.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910834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SGASTDN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Estudiante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910834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Estatus, tipo de alumno y programa del estudiante por periodo.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Requisito para inscribir (SFAREGS).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431320" y="4850000"/>
            <a:ext cx="11329360" cy="56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4EA72E"/>
            </a:solidFill>
          </a:ln>
        </p:spPr>
        <p:txBody>
          <a:bodyPr wrap="square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ES" sz="1400" b="1" dirty="0">
                <a:solidFill>
                  <a:srgbClr val="4EA72E"/>
                </a:solidFill>
              </a:rPr>
              <a:t>Pregrado: </a:t>
            </a:r>
            <a:r>
              <a:rPr lang="es-ES" sz="1400" dirty="0">
                <a:solidFill>
                  <a:srgbClr val="000000"/>
                </a:solidFill>
              </a:rPr>
              <a:t>las solicitudes de postulantes llegan a Banner por interfaz. </a:t>
            </a:r>
            <a:r>
              <a:rPr lang="es-ES" sz="1400" b="1" dirty="0">
                <a:solidFill>
                  <a:srgbClr val="4EA72E"/>
                </a:solidFill>
              </a:rPr>
              <a:t>Registro manual: </a:t>
            </a:r>
            <a:r>
              <a:rPr lang="es-ES" sz="1400" dirty="0">
                <a:solidFill>
                  <a:srgbClr val="000000"/>
                </a:solidFill>
              </a:rPr>
              <a:t>SAAQUIK lo resuelve en una sola página.</a:t>
            </a:r>
          </a:p>
        </p:txBody>
      </p:sp>
    </p:spTree>
    <p:extLst>
      <p:ext uri="{BB962C8B-B14F-4D97-AF65-F5344CB8AC3E}">
        <p14:creationId xmlns:p14="http://schemas.microsoft.com/office/powerpoint/2010/main" val="261287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CONFIGURACIONES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Códigos que se eligen en SAAQUIK. Se crean una sola vez; verifique que existan los de Centros Empresariales.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172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950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TIPO DE ADMISIÓN - STVADMT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382161" y="241540"/>
            <a:ext cx="5809838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6" y="1012723"/>
            <a:ext cx="10648205" cy="4830000"/>
          </a:xfrm>
          <a:prstGeom prst="rect">
            <a:avLst/>
          </a:prstGeom>
        </p:spPr>
      </p:pic>
      <p:pic>
        <p:nvPicPr>
          <p:cNvPr id="9" name="Imagen extra 1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574" y="2964456"/>
            <a:ext cx="4658253" cy="2681008"/>
          </a:xfrm>
          <a:prstGeom prst="rect">
            <a:avLst/>
          </a:prstGeom>
        </p:spPr>
      </p:pic>
      <p:sp>
        <p:nvSpPr>
          <p:cNvPr id="10" name="Numero 10"/>
          <p:cNvSpPr/>
          <p:nvPr/>
        </p:nvSpPr>
        <p:spPr>
          <a:xfrm>
            <a:off x="1398227" y="155129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Numero 11"/>
          <p:cNvSpPr/>
          <p:nvPr/>
        </p:nvSpPr>
        <p:spPr>
          <a:xfrm>
            <a:off x="4643671" y="152865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Marco 12"/>
          <p:cNvSpPr/>
          <p:nvPr/>
        </p:nvSpPr>
        <p:spPr>
          <a:xfrm>
            <a:off x="838256" y="1716779"/>
            <a:ext cx="465510" cy="16215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Marco 13"/>
          <p:cNvSpPr/>
          <p:nvPr/>
        </p:nvSpPr>
        <p:spPr>
          <a:xfrm>
            <a:off x="2969068" y="1716777"/>
            <a:ext cx="1644658" cy="15420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4525915" y="4379245"/>
            <a:ext cx="1931079" cy="239272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1021937" y="4718971"/>
            <a:ext cx="8744261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Define los </a:t>
            </a:r>
            <a:r>
              <a:rPr lang="es-ES" sz="1100" b="1" dirty="0">
                <a:solidFill>
                  <a:srgbClr val="92D050"/>
                </a:solidFill>
              </a:rPr>
              <a:t>tipos de admisión</a:t>
            </a:r>
            <a:r>
              <a:rPr lang="es-ES" sz="1100" dirty="0">
                <a:solidFill>
                  <a:srgbClr val="FFFFFF"/>
                </a:solidFill>
              </a:rPr>
              <a:t> que se eligen en SAAQUIK y SAAADMS (ej. </a:t>
            </a:r>
            <a:r>
              <a:rPr lang="es-ES" sz="1100" b="1" dirty="0">
                <a:solidFill>
                  <a:srgbClr val="FFFFFF"/>
                </a:solidFill>
              </a:rPr>
              <a:t>DIRECTA</a:t>
            </a:r>
            <a:r>
              <a:rPr lang="es-ES" sz="1100" dirty="0">
                <a:solidFill>
                  <a:srgbClr val="FFFFFF"/>
                </a:solidFill>
              </a:rPr>
              <a:t>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Código</a:t>
            </a:r>
            <a:r>
              <a:rPr lang="es-ES" sz="1100" dirty="0">
                <a:solidFill>
                  <a:srgbClr val="FFFFFF"/>
                </a:solidFill>
              </a:rPr>
              <a:t> del tipo de admisión.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la </a:t>
            </a:r>
            <a:r>
              <a:rPr lang="es-ES" sz="1100" b="1" dirty="0">
                <a:solidFill>
                  <a:srgbClr val="92D050"/>
                </a:solidFill>
              </a:rPr>
              <a:t>Descripción</a:t>
            </a:r>
            <a:r>
              <a:rPr lang="es-ES" sz="1100" dirty="0">
                <a:solidFill>
                  <a:srgbClr val="FFFFFF"/>
                </a:solidFill>
              </a:rPr>
              <a:t> y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790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506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TIPO DE ALUMNO - STVSTYP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5938017" y="241540"/>
            <a:ext cx="625398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68" y="1012723"/>
            <a:ext cx="10635981" cy="4830000"/>
          </a:xfrm>
          <a:prstGeom prst="rect">
            <a:avLst/>
          </a:prstGeom>
        </p:spPr>
      </p:pic>
      <p:pic>
        <p:nvPicPr>
          <p:cNvPr id="9" name="Imagen extra 1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369" y="2689000"/>
            <a:ext cx="4670925" cy="2688302"/>
          </a:xfrm>
          <a:prstGeom prst="rect">
            <a:avLst/>
          </a:prstGeom>
        </p:spPr>
      </p:pic>
      <p:sp>
        <p:nvSpPr>
          <p:cNvPr id="10" name="Numero 10"/>
          <p:cNvSpPr/>
          <p:nvPr/>
        </p:nvSpPr>
        <p:spPr>
          <a:xfrm>
            <a:off x="1656939" y="235127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Numero 11"/>
          <p:cNvSpPr/>
          <p:nvPr/>
        </p:nvSpPr>
        <p:spPr>
          <a:xfrm>
            <a:off x="3063068" y="234218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Numero 12"/>
          <p:cNvSpPr/>
          <p:nvPr/>
        </p:nvSpPr>
        <p:spPr>
          <a:xfrm>
            <a:off x="10653408" y="546303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Marco 13"/>
          <p:cNvSpPr/>
          <p:nvPr/>
        </p:nvSpPr>
        <p:spPr>
          <a:xfrm>
            <a:off x="844368" y="2488790"/>
            <a:ext cx="777448" cy="18953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2225932" y="2481984"/>
            <a:ext cx="777448" cy="18953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o 15"/>
          <p:cNvSpPr/>
          <p:nvPr/>
        </p:nvSpPr>
        <p:spPr>
          <a:xfrm>
            <a:off x="10967293" y="5564412"/>
            <a:ext cx="525785" cy="16553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Marco 16"/>
          <p:cNvSpPr/>
          <p:nvPr/>
        </p:nvSpPr>
        <p:spPr>
          <a:xfrm>
            <a:off x="6889845" y="4438112"/>
            <a:ext cx="1722061" cy="24247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Globo 17"/>
          <p:cNvSpPr txBox="1"/>
          <p:nvPr/>
        </p:nvSpPr>
        <p:spPr>
          <a:xfrm>
            <a:off x="900000" y="4500000"/>
            <a:ext cx="5500000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Define los </a:t>
            </a:r>
            <a:r>
              <a:rPr lang="es-ES" sz="1100" b="1" dirty="0">
                <a:solidFill>
                  <a:srgbClr val="92D050"/>
                </a:solidFill>
              </a:rPr>
              <a:t>tipos de alumno</a:t>
            </a:r>
            <a:r>
              <a:rPr lang="es-ES" sz="1100" dirty="0">
                <a:solidFill>
                  <a:srgbClr val="FFFFFF"/>
                </a:solidFill>
              </a:rPr>
              <a:t> (ej. </a:t>
            </a:r>
            <a:r>
              <a:rPr lang="es-ES" sz="1100" b="1" dirty="0">
                <a:solidFill>
                  <a:srgbClr val="FFFFFF"/>
                </a:solidFill>
              </a:rPr>
              <a:t>N</a:t>
            </a:r>
            <a:r>
              <a:rPr lang="es-ES" sz="1100" dirty="0">
                <a:solidFill>
                  <a:srgbClr val="FFFFFF"/>
                </a:solidFill>
              </a:rPr>
              <a:t> Nuevo). Se eligen en SAAQUIK y quedan en SGASTDN.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Código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la </a:t>
            </a:r>
            <a:r>
              <a:rPr lang="es-ES" sz="1100" b="1" dirty="0">
                <a:solidFill>
                  <a:srgbClr val="92D050"/>
                </a:solidFill>
              </a:rPr>
              <a:t>Descripción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529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846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DECISIÓN DE ADMISIÓN - STVAPDC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277562" y="241540"/>
            <a:ext cx="491443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85" y="1012723"/>
            <a:ext cx="10617147" cy="4830000"/>
          </a:xfrm>
          <a:prstGeom prst="rect">
            <a:avLst/>
          </a:prstGeom>
        </p:spPr>
      </p:pic>
      <p:sp>
        <p:nvSpPr>
          <p:cNvPr id="9" name="Globo 9"/>
          <p:cNvSpPr txBox="1"/>
          <p:nvPr/>
        </p:nvSpPr>
        <p:spPr>
          <a:xfrm>
            <a:off x="1192884" y="3222609"/>
            <a:ext cx="9938948" cy="11787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Define las </a:t>
            </a:r>
            <a:r>
              <a:rPr lang="es-ES" sz="1100" b="1" dirty="0">
                <a:solidFill>
                  <a:srgbClr val="92D050"/>
                </a:solidFill>
              </a:rPr>
              <a:t>decisiones de admisión</a:t>
            </a:r>
            <a:r>
              <a:rPr lang="es-ES" sz="1100" dirty="0">
                <a:solidFill>
                  <a:srgbClr val="FFFFFF"/>
                </a:solidFill>
              </a:rPr>
              <a:t>. Las casillas marcadas indican qué hace cada decisión: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Aceptación de institución</a:t>
            </a:r>
            <a:r>
              <a:rPr lang="es-ES" sz="1100" dirty="0">
                <a:solidFill>
                  <a:srgbClr val="FFFFFF"/>
                </a:solidFill>
              </a:rPr>
              <a:t> o </a:t>
            </a:r>
            <a:r>
              <a:rPr lang="es-ES" sz="1100" b="1" dirty="0">
                <a:solidFill>
                  <a:srgbClr val="92D050"/>
                </a:solidFill>
              </a:rPr>
              <a:t>de solicitante</a:t>
            </a:r>
            <a:r>
              <a:rPr lang="es-ES" sz="1100" dirty="0">
                <a:solidFill>
                  <a:srgbClr val="FFFFFF"/>
                </a:solidFill>
              </a:rPr>
              <a:t>: </a:t>
            </a:r>
            <a:r>
              <a:rPr lang="es-ES" sz="1100" b="1" dirty="0">
                <a:solidFill>
                  <a:srgbClr val="FFFFFF"/>
                </a:solidFill>
              </a:rPr>
              <a:t>crea el registro de estudiante</a:t>
            </a:r>
            <a:r>
              <a:rPr lang="es-ES" sz="1100" dirty="0">
                <a:solidFill>
                  <a:srgbClr val="FFFFFF"/>
                </a:solidFill>
              </a:rPr>
              <a:t> (SGASTDN).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Decisión significativa</a:t>
            </a:r>
            <a:r>
              <a:rPr lang="es-ES" sz="1100" dirty="0">
                <a:solidFill>
                  <a:srgbClr val="FFFFFF"/>
                </a:solidFill>
              </a:rPr>
              <a:t>: pasa la solicitud a estatus </a:t>
            </a:r>
            <a:r>
              <a:rPr lang="es-ES" sz="1100" b="1" dirty="0">
                <a:solidFill>
                  <a:srgbClr val="FFFFFF"/>
                </a:solidFill>
              </a:rPr>
              <a:t>D</a:t>
            </a:r>
            <a:r>
              <a:rPr lang="es-ES" sz="1100" dirty="0">
                <a:solidFill>
                  <a:srgbClr val="FFFFFF"/>
                </a:solidFill>
              </a:rPr>
              <a:t> (decisión tomada); aún no crea estudiante.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Rechazado</a:t>
            </a:r>
            <a:r>
              <a:rPr lang="es-ES" sz="1100" dirty="0">
                <a:solidFill>
                  <a:srgbClr val="FFFFFF"/>
                </a:solidFill>
              </a:rPr>
              <a:t> o </a:t>
            </a:r>
            <a:r>
              <a:rPr lang="es-ES" sz="1100" b="1" dirty="0">
                <a:solidFill>
                  <a:srgbClr val="92D050"/>
                </a:solidFill>
              </a:rPr>
              <a:t>Solicitud inactiva</a:t>
            </a:r>
            <a:r>
              <a:rPr lang="es-ES" sz="1100" dirty="0">
                <a:solidFill>
                  <a:srgbClr val="FFFFFF"/>
                </a:solidFill>
              </a:rPr>
              <a:t>: no deja al participante como estudiante.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SAAQUIK use una decisión con </a:t>
            </a:r>
            <a:r>
              <a:rPr lang="es-ES" sz="1100" b="1" dirty="0">
                <a:solidFill>
                  <a:srgbClr val="FFFFFF"/>
                </a:solidFill>
              </a:rPr>
              <a:t>aceptación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619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BUSCAR O CREAR LA PERSONA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Antes de registrar a un participante, busque si ya existe en Banner (exalumno, docente o postulante) para no duplicarlo.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990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004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BUSCAR PERSONA - GOAMTCH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435857" y="241540"/>
            <a:ext cx="575614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159" y="1012723"/>
            <a:ext cx="10236398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807539" y="170015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umero 10"/>
          <p:cNvSpPr/>
          <p:nvPr/>
        </p:nvSpPr>
        <p:spPr>
          <a:xfrm>
            <a:off x="1338266" y="320430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Marco 11"/>
          <p:cNvSpPr/>
          <p:nvPr/>
        </p:nvSpPr>
        <p:spPr>
          <a:xfrm>
            <a:off x="1044159" y="1504217"/>
            <a:ext cx="10175944" cy="1735988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o 12"/>
          <p:cNvSpPr/>
          <p:nvPr/>
        </p:nvSpPr>
        <p:spPr>
          <a:xfrm>
            <a:off x="1719376" y="3242943"/>
            <a:ext cx="1237218" cy="16322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Globo 13"/>
          <p:cNvSpPr txBox="1"/>
          <p:nvPr/>
        </p:nvSpPr>
        <p:spPr>
          <a:xfrm>
            <a:off x="1044159" y="3768509"/>
            <a:ext cx="9946819" cy="9348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</a:t>
            </a:r>
            <a:r>
              <a:rPr lang="es-ES" sz="1100" b="1" dirty="0">
                <a:solidFill>
                  <a:srgbClr val="92D050"/>
                </a:solidFill>
              </a:rPr>
              <a:t>SPAIDEN</a:t>
            </a:r>
            <a:r>
              <a:rPr lang="es-ES" sz="1100" dirty="0">
                <a:solidFill>
                  <a:srgbClr val="FFFFFF"/>
                </a:solidFill>
              </a:rPr>
              <a:t> presione </a:t>
            </a:r>
            <a:r>
              <a:rPr lang="es-ES" sz="1100" b="1" dirty="0">
                <a:solidFill>
                  <a:srgbClr val="92D050"/>
                </a:solidFill>
              </a:rPr>
              <a:t>Insertar (+)</a:t>
            </a:r>
            <a:r>
              <a:rPr lang="es-ES" sz="1100" dirty="0">
                <a:solidFill>
                  <a:srgbClr val="FFFFFF"/>
                </a:solidFill>
              </a:rPr>
              <a:t>: se abre </a:t>
            </a:r>
            <a:r>
              <a:rPr lang="es-ES" sz="1100" b="1" dirty="0">
                <a:solidFill>
                  <a:srgbClr val="92D050"/>
                </a:solidFill>
              </a:rPr>
              <a:t>GOAMTCH</a:t>
            </a:r>
            <a:r>
              <a:rPr lang="es-ES" sz="1100" dirty="0">
                <a:solidFill>
                  <a:srgbClr val="FFFFFF"/>
                </a:solidFill>
              </a:rPr>
              <a:t> con el origen </a:t>
            </a:r>
            <a:r>
              <a:rPr lang="es-ES" sz="1100" b="1" dirty="0">
                <a:solidFill>
                  <a:srgbClr val="FFFFFF"/>
                </a:solidFill>
              </a:rPr>
              <a:t>PNATURAL</a:t>
            </a:r>
            <a:r>
              <a:rPr lang="es-ES" sz="1100" dirty="0">
                <a:solidFill>
                  <a:srgbClr val="FFFFFF"/>
                </a:solidFill>
              </a:rPr>
              <a:t>; presione </a:t>
            </a:r>
            <a:r>
              <a:rPr lang="es-ES" sz="1100" b="1" dirty="0">
                <a:solidFill>
                  <a:srgbClr val="FFFFFF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</a:t>
            </a:r>
            <a:r>
              <a:rPr lang="es-ES" sz="1100" b="1" dirty="0">
                <a:solidFill>
                  <a:srgbClr val="FFFFFF"/>
                </a:solidFill>
              </a:rPr>
              <a:t>apellidos</a:t>
            </a:r>
            <a:r>
              <a:rPr lang="es-ES" sz="1100" dirty="0">
                <a:solidFill>
                  <a:srgbClr val="FFFFFF"/>
                </a:solidFill>
              </a:rPr>
              <a:t> (separados por /), </a:t>
            </a:r>
            <a:r>
              <a:rPr lang="es-ES" sz="1100" b="1" dirty="0">
                <a:solidFill>
                  <a:srgbClr val="FFFFFF"/>
                </a:solidFill>
              </a:rPr>
              <a:t>nombre</a:t>
            </a:r>
            <a:r>
              <a:rPr lang="es-ES" sz="1100" dirty="0">
                <a:solidFill>
                  <a:srgbClr val="FFFFFF"/>
                </a:solidFill>
              </a:rPr>
              <a:t> y </a:t>
            </a:r>
            <a:r>
              <a:rPr lang="es-ES" sz="1100" b="1" dirty="0">
                <a:solidFill>
                  <a:srgbClr val="FFFFFF"/>
                </a:solidFill>
              </a:rPr>
              <a:t>número de documento</a:t>
            </a:r>
            <a:r>
              <a:rPr lang="es-ES" sz="1100" dirty="0">
                <a:solidFill>
                  <a:srgbClr val="FFFFFF"/>
                </a:solidFill>
              </a:rPr>
              <a:t>. Fecha de nacimiento, sexo, teléfono y correo son opcionales.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Presione </a:t>
            </a:r>
            <a:r>
              <a:rPr lang="es-ES" sz="1100" b="1" dirty="0">
                <a:solidFill>
                  <a:srgbClr val="92D050"/>
                </a:solidFill>
              </a:rPr>
              <a:t>Marcar-Duplicar</a:t>
            </a:r>
            <a:r>
              <a:rPr lang="es-ES" sz="1100" dirty="0">
                <a:solidFill>
                  <a:srgbClr val="FFFFFF"/>
                </a:solidFill>
              </a:rPr>
              <a:t>: Banner busca si la persona ya existe.</a:t>
            </a:r>
          </a:p>
        </p:txBody>
      </p:sp>
    </p:spTree>
    <p:extLst>
      <p:ext uri="{BB962C8B-B14F-4D97-AF65-F5344CB8AC3E}">
        <p14:creationId xmlns:p14="http://schemas.microsoft.com/office/powerpoint/2010/main" val="134467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004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BUSCAR PERSONA - GOAMTCH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435857" y="241540"/>
            <a:ext cx="575614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25" y="1012723"/>
            <a:ext cx="10293266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020096" y="350351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Marco 10"/>
          <p:cNvSpPr/>
          <p:nvPr/>
        </p:nvSpPr>
        <p:spPr>
          <a:xfrm>
            <a:off x="1015725" y="3694910"/>
            <a:ext cx="10355313" cy="183919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8042639" y="320702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Marco 12"/>
          <p:cNvSpPr/>
          <p:nvPr/>
        </p:nvSpPr>
        <p:spPr>
          <a:xfrm>
            <a:off x="1709547" y="3216016"/>
            <a:ext cx="6328720" cy="47889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Globo 13"/>
          <p:cNvSpPr txBox="1"/>
          <p:nvPr/>
        </p:nvSpPr>
        <p:spPr>
          <a:xfrm>
            <a:off x="1179415" y="1410210"/>
            <a:ext cx="9076221" cy="9348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En </a:t>
            </a:r>
            <a:r>
              <a:rPr lang="es-ES" sz="1100" b="1" dirty="0">
                <a:solidFill>
                  <a:srgbClr val="FFFFFF"/>
                </a:solidFill>
              </a:rPr>
              <a:t>Coincidencia</a:t>
            </a:r>
            <a:r>
              <a:rPr lang="es-ES" sz="1100" dirty="0">
                <a:solidFill>
                  <a:srgbClr val="FFFFFF"/>
                </a:solidFill>
              </a:rPr>
              <a:t> se muestran las personas que se parecen a los datos ingresados.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dirty="0">
                <a:solidFill>
                  <a:srgbClr val="FFFFFF"/>
                </a:solidFill>
              </a:rPr>
              <a:t>Elija: </a:t>
            </a:r>
            <a:r>
              <a:rPr lang="es-ES" sz="1100" b="1" dirty="0">
                <a:solidFill>
                  <a:srgbClr val="92D050"/>
                </a:solidFill>
              </a:rPr>
              <a:t>Seleccionar ID</a:t>
            </a:r>
            <a:r>
              <a:rPr lang="es-ES" sz="1100" dirty="0">
                <a:solidFill>
                  <a:srgbClr val="FFFFFF"/>
                </a:solidFill>
              </a:rPr>
              <a:t> (ya existe, se usa ese ID), </a:t>
            </a:r>
            <a:r>
              <a:rPr lang="es-ES" sz="1100" b="1" dirty="0">
                <a:solidFill>
                  <a:srgbClr val="92D050"/>
                </a:solidFill>
              </a:rPr>
              <a:t>Actualizar ID</a:t>
            </a:r>
            <a:r>
              <a:rPr lang="es-ES" sz="1100" dirty="0">
                <a:solidFill>
                  <a:srgbClr val="FFFFFF"/>
                </a:solidFill>
              </a:rPr>
              <a:t> (ya existe y se actualizan sus datos) o </a:t>
            </a:r>
            <a:r>
              <a:rPr lang="es-ES" sz="1100" b="1" dirty="0">
                <a:solidFill>
                  <a:srgbClr val="92D050"/>
                </a:solidFill>
              </a:rPr>
              <a:t>Crear nuevo</a:t>
            </a:r>
            <a:r>
              <a:rPr lang="es-ES" sz="1100" dirty="0">
                <a:solidFill>
                  <a:srgbClr val="FFFFFF"/>
                </a:solidFill>
              </a:rPr>
              <a:t> (no existe: se genera el ID en SPAIDEN).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Con ese </a:t>
            </a:r>
            <a:r>
              <a:rPr lang="es-ES" sz="1100" b="1" dirty="0">
                <a:solidFill>
                  <a:srgbClr val="FFFFFF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 continúe en SAAQUIK.</a:t>
            </a:r>
          </a:p>
        </p:txBody>
      </p:sp>
    </p:spTree>
    <p:extLst>
      <p:ext uri="{BB962C8B-B14F-4D97-AF65-F5344CB8AC3E}">
        <p14:creationId xmlns:p14="http://schemas.microsoft.com/office/powerpoint/2010/main" val="232342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ADMISIÓN RÁPIDA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 una sola página, SAAQUIK, se crea la solicitud de admisión (SAAADMS) y el registro de estudiante (SGASTDN).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367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1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ADMISIÓN RÁPIDA - SAAQUIK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42766" y="241540"/>
            <a:ext cx="594923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11" y="1012723"/>
            <a:ext cx="11221094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5799352" y="178816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1127659" y="179592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Numero 11"/>
          <p:cNvSpPr/>
          <p:nvPr/>
        </p:nvSpPr>
        <p:spPr>
          <a:xfrm>
            <a:off x="3263807" y="200266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Globo 12"/>
          <p:cNvSpPr txBox="1"/>
          <p:nvPr/>
        </p:nvSpPr>
        <p:spPr>
          <a:xfrm>
            <a:off x="900000" y="4877040"/>
            <a:ext cx="10800000" cy="9729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 de la persona (el encontrado o creado en GOAMTCH).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 de admisión (ej. 202654, ver «1. Periodos académicos»).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Nivel</a:t>
            </a:r>
            <a:r>
              <a:rPr lang="es-ES" sz="1100" dirty="0">
                <a:solidFill>
                  <a:srgbClr val="FFFFFF"/>
                </a:solidFill>
              </a:rPr>
              <a:t> y presione </a:t>
            </a:r>
            <a:r>
              <a:rPr lang="es-ES" sz="1100" b="1" dirty="0">
                <a:solidFill>
                  <a:srgbClr val="FFFFFF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Si la persona no existe, también puede crearla aquí con </a:t>
            </a:r>
            <a:r>
              <a:rPr lang="es-ES" sz="1100" b="1" dirty="0">
                <a:solidFill>
                  <a:srgbClr val="FFFFFF"/>
                </a:solidFill>
              </a:rPr>
              <a:t>+</a:t>
            </a:r>
            <a:r>
              <a:rPr lang="es-ES" sz="1100" dirty="0">
                <a:solidFill>
                  <a:srgbClr val="FFFFFF"/>
                </a:solidFill>
              </a:rPr>
              <a:t> junto al ID.</a:t>
            </a:r>
          </a:p>
        </p:txBody>
      </p:sp>
    </p:spTree>
    <p:extLst>
      <p:ext uri="{BB962C8B-B14F-4D97-AF65-F5344CB8AC3E}">
        <p14:creationId xmlns:p14="http://schemas.microsoft.com/office/powerpoint/2010/main" val="200685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1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ADMISIÓN RÁPIDA - SAAQUIK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42766" y="241540"/>
            <a:ext cx="594923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025" y="1012723"/>
            <a:ext cx="10196667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997301" y="274261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1106327" y="247081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Numero 11"/>
          <p:cNvSpPr/>
          <p:nvPr/>
        </p:nvSpPr>
        <p:spPr>
          <a:xfrm>
            <a:off x="1215353" y="293437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Globo 12"/>
          <p:cNvSpPr txBox="1"/>
          <p:nvPr/>
        </p:nvSpPr>
        <p:spPr>
          <a:xfrm>
            <a:off x="1685396" y="5082780"/>
            <a:ext cx="8618018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el bloque </a:t>
            </a:r>
            <a:r>
              <a:rPr lang="es-ES" sz="1100" b="1" dirty="0">
                <a:solidFill>
                  <a:srgbClr val="92D050"/>
                </a:solidFill>
              </a:rPr>
              <a:t>Detalles</a:t>
            </a:r>
            <a:r>
              <a:rPr lang="es-ES" sz="1100" dirty="0">
                <a:solidFill>
                  <a:srgbClr val="FFFFFF"/>
                </a:solidFill>
              </a:rPr>
              <a:t> ingrese los campos obligatorios: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b="1" dirty="0">
                <a:solidFill>
                  <a:srgbClr val="92D050"/>
                </a:solidFill>
              </a:rPr>
              <a:t>Tipo de alumno</a:t>
            </a:r>
            <a:r>
              <a:rPr lang="es-ES" sz="1100" dirty="0">
                <a:solidFill>
                  <a:srgbClr val="FFFFFF"/>
                </a:solidFill>
              </a:rPr>
              <a:t> (STVSTYP).  </a:t>
            </a: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b="1" dirty="0">
                <a:solidFill>
                  <a:srgbClr val="92D050"/>
                </a:solidFill>
              </a:rPr>
              <a:t>Estatus de alumno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b="1" dirty="0">
                <a:solidFill>
                  <a:srgbClr val="92D050"/>
                </a:solidFill>
              </a:rPr>
              <a:t>Residencia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Con estos datos se crea el </a:t>
            </a:r>
            <a:r>
              <a:rPr lang="es-ES" sz="1100" b="1" dirty="0">
                <a:solidFill>
                  <a:srgbClr val="FFFFFF"/>
                </a:solidFill>
              </a:rPr>
              <a:t>registro de estudiante en SGASTDN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112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1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ADMISIÓN RÁPIDA - SAAQUIK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42766" y="241540"/>
            <a:ext cx="594923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82" y="1012723"/>
            <a:ext cx="10191352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043942" y="350756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1642555" y="319653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Numero 11"/>
          <p:cNvSpPr/>
          <p:nvPr/>
        </p:nvSpPr>
        <p:spPr>
          <a:xfrm>
            <a:off x="4701481" y="306788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Numero 12"/>
          <p:cNvSpPr/>
          <p:nvPr/>
        </p:nvSpPr>
        <p:spPr>
          <a:xfrm>
            <a:off x="4224712" y="336256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Globo 13"/>
          <p:cNvSpPr txBox="1"/>
          <p:nvPr/>
        </p:nvSpPr>
        <p:spPr>
          <a:xfrm>
            <a:off x="1726042" y="4737499"/>
            <a:ext cx="8496546" cy="9729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el bloque </a:t>
            </a:r>
            <a:r>
              <a:rPr lang="es-ES" sz="1100" b="1" dirty="0">
                <a:solidFill>
                  <a:srgbClr val="92D050"/>
                </a:solidFill>
              </a:rPr>
              <a:t>Información de solicitud y reclutamiento</a:t>
            </a:r>
            <a:r>
              <a:rPr lang="es-ES" sz="1100" dirty="0">
                <a:solidFill>
                  <a:srgbClr val="FFFFFF"/>
                </a:solidFill>
              </a:rPr>
              <a:t>: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Marque </a:t>
            </a:r>
            <a:r>
              <a:rPr lang="es-ES" sz="1100" b="1" dirty="0">
                <a:solidFill>
                  <a:srgbClr val="92D050"/>
                </a:solidFill>
              </a:rPr>
              <a:t>Crear registro de solicitud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b="1" dirty="0">
                <a:solidFill>
                  <a:srgbClr val="92D050"/>
                </a:solidFill>
              </a:rPr>
              <a:t>Tipo de admisión</a:t>
            </a:r>
            <a:r>
              <a:rPr lang="es-ES" sz="1100" dirty="0">
                <a:solidFill>
                  <a:srgbClr val="FFFFFF"/>
                </a:solidFill>
              </a:rPr>
              <a:t> (STVADMT).  </a:t>
            </a: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b="1" dirty="0">
                <a:solidFill>
                  <a:srgbClr val="92D050"/>
                </a:solidFill>
              </a:rPr>
              <a:t>Estatus de solicitud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b="1" dirty="0">
                <a:solidFill>
                  <a:srgbClr val="92D050"/>
                </a:solidFill>
              </a:rPr>
              <a:t>Decisión de admisión</a:t>
            </a:r>
            <a:r>
              <a:rPr lang="es-ES" sz="1100" dirty="0">
                <a:solidFill>
                  <a:srgbClr val="FFFFFF"/>
                </a:solidFill>
              </a:rPr>
              <a:t> (STVAPDC).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Con estos datos se crea la </a:t>
            </a:r>
            <a:r>
              <a:rPr lang="es-ES" sz="1100" b="1" dirty="0">
                <a:solidFill>
                  <a:srgbClr val="FFFFFF"/>
                </a:solidFill>
              </a:rPr>
              <a:t>solicitud de admisión en SAAADMS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034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1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ADMISIÓN RÁPIDA - SAAQUIK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42766" y="241540"/>
            <a:ext cx="594923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35" y="1012723"/>
            <a:ext cx="10119246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4805522" y="385250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umero 10"/>
          <p:cNvSpPr/>
          <p:nvPr/>
        </p:nvSpPr>
        <p:spPr>
          <a:xfrm>
            <a:off x="10061230" y="544388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Globo 11"/>
          <p:cNvSpPr txBox="1"/>
          <p:nvPr/>
        </p:nvSpPr>
        <p:spPr>
          <a:xfrm>
            <a:off x="1839047" y="5120880"/>
            <a:ext cx="6811568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En el bloque </a:t>
            </a:r>
            <a:r>
              <a:rPr lang="es-ES" sz="1100" b="1" dirty="0">
                <a:solidFill>
                  <a:srgbClr val="92D050"/>
                </a:solidFill>
              </a:rPr>
              <a:t>Currículo</a:t>
            </a:r>
            <a:r>
              <a:rPr lang="es-ES" sz="1100" dirty="0">
                <a:solidFill>
                  <a:srgbClr val="FFFFFF"/>
                </a:solidFill>
              </a:rPr>
              <a:t> elija el </a:t>
            </a:r>
            <a:r>
              <a:rPr lang="es-ES" sz="1100" b="1" dirty="0">
                <a:solidFill>
                  <a:srgbClr val="92D050"/>
                </a:solidFill>
              </a:rPr>
              <a:t>Programa</a:t>
            </a:r>
            <a:r>
              <a:rPr lang="es-ES" sz="1100" dirty="0">
                <a:solidFill>
                  <a:srgbClr val="FFFFFF"/>
                </a:solidFill>
              </a:rPr>
              <a:t>: Banner completa los datos de su regla de currículo (escuela, grado y campo de estudio).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el registro.</a:t>
            </a:r>
          </a:p>
        </p:txBody>
      </p:sp>
    </p:spTree>
    <p:extLst>
      <p:ext uri="{BB962C8B-B14F-4D97-AF65-F5344CB8AC3E}">
        <p14:creationId xmlns:p14="http://schemas.microsoft.com/office/powerpoint/2010/main" val="176468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193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ADMISIÓN RÁPIDA - DIRECCIÓN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624680" y="241540"/>
            <a:ext cx="556731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062" y="1012723"/>
            <a:ext cx="10172592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367931" y="230834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Globo 10"/>
          <p:cNvSpPr txBox="1"/>
          <p:nvPr/>
        </p:nvSpPr>
        <p:spPr>
          <a:xfrm>
            <a:off x="1746078" y="4689730"/>
            <a:ext cx="9303258" cy="56148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la pestaña </a:t>
            </a:r>
            <a:r>
              <a:rPr lang="es-ES" sz="1100" b="1" dirty="0">
                <a:solidFill>
                  <a:srgbClr val="92D050"/>
                </a:solidFill>
              </a:rPr>
              <a:t>Dirección</a:t>
            </a:r>
            <a:r>
              <a:rPr lang="es-ES" sz="1100" dirty="0">
                <a:solidFill>
                  <a:srgbClr val="FFFFFF"/>
                </a:solidFill>
              </a:rPr>
              <a:t> registre una o más direcciones del participante; se muestran en SPAIDEN.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Elija el </a:t>
            </a:r>
            <a:r>
              <a:rPr lang="es-ES" sz="1100" b="1" dirty="0">
                <a:solidFill>
                  <a:srgbClr val="92D050"/>
                </a:solidFill>
              </a:rPr>
              <a:t>Tipo de dirección</a:t>
            </a:r>
            <a:r>
              <a:rPr lang="es-ES" sz="1100" dirty="0">
                <a:solidFill>
                  <a:srgbClr val="FFFFFF"/>
                </a:solidFill>
              </a:rPr>
              <a:t>, complete los datos y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964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440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ADMISIÓN RÁPIDA - BIOGRÁFICA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871822" y="241540"/>
            <a:ext cx="532017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62" y="1012723"/>
            <a:ext cx="10151992" cy="4830000"/>
          </a:xfrm>
          <a:prstGeom prst="rect">
            <a:avLst/>
          </a:prstGeom>
        </p:spPr>
      </p:pic>
      <p:sp>
        <p:nvSpPr>
          <p:cNvPr id="9" name="Globo 9"/>
          <p:cNvSpPr txBox="1"/>
          <p:nvPr/>
        </p:nvSpPr>
        <p:spPr>
          <a:xfrm>
            <a:off x="1575715" y="4663319"/>
            <a:ext cx="9127152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la pestaña </a:t>
            </a:r>
            <a:r>
              <a:rPr lang="es-ES" sz="1100" b="1" dirty="0">
                <a:solidFill>
                  <a:srgbClr val="92D050"/>
                </a:solidFill>
              </a:rPr>
              <a:t>Biográfica</a:t>
            </a:r>
            <a:r>
              <a:rPr lang="es-ES" sz="1100" dirty="0">
                <a:solidFill>
                  <a:srgbClr val="FFFFFF"/>
                </a:solidFill>
              </a:rPr>
              <a:t> registre fecha de nacimiento, sexo legal, estado civil y ciudadanía, entre otros; se muestran en SPAIDEN.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18528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COMPLETAR Y VERIFICAR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Datos de contacto en SPAIDEN y revisión de la solicitud y del estudiante antes de la inscripción.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416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4255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TELÉFONO - SPAIDEN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686660" y="241540"/>
            <a:ext cx="750533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498" y="1012723"/>
            <a:ext cx="10253721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2633943" y="216716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6595648" y="184807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Numero 11"/>
          <p:cNvSpPr/>
          <p:nvPr/>
        </p:nvSpPr>
        <p:spPr>
          <a:xfrm>
            <a:off x="2741325" y="174002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Marco 12"/>
          <p:cNvSpPr/>
          <p:nvPr/>
        </p:nvSpPr>
        <p:spPr>
          <a:xfrm>
            <a:off x="1170819" y="1782671"/>
            <a:ext cx="1550183" cy="144698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Marco 13"/>
          <p:cNvSpPr/>
          <p:nvPr/>
        </p:nvSpPr>
        <p:spPr>
          <a:xfrm>
            <a:off x="1098338" y="2217310"/>
            <a:ext cx="1506336" cy="27661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6851698" y="1751315"/>
            <a:ext cx="528713" cy="46599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1631472" y="3614488"/>
            <a:ext cx="9202150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Complete el contacto en </a:t>
            </a:r>
            <a:r>
              <a:rPr lang="es-ES" sz="1100" b="1" dirty="0">
                <a:solidFill>
                  <a:srgbClr val="92D050"/>
                </a:solidFill>
              </a:rPr>
              <a:t>SPAIDEN</a:t>
            </a:r>
            <a:r>
              <a:rPr lang="es-ES" sz="1100" dirty="0">
                <a:solidFill>
                  <a:srgbClr val="FFFFFF"/>
                </a:solidFill>
              </a:rPr>
              <a:t>, pestaña </a:t>
            </a:r>
            <a:r>
              <a:rPr lang="es-ES" sz="1100" b="1" dirty="0">
                <a:solidFill>
                  <a:srgbClr val="92D050"/>
                </a:solidFill>
              </a:rPr>
              <a:t>Teléfono</a:t>
            </a:r>
            <a:r>
              <a:rPr lang="es-ES" sz="1100" dirty="0">
                <a:solidFill>
                  <a:srgbClr val="FFFFFF"/>
                </a:solidFill>
              </a:rPr>
              <a:t>: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b="1" dirty="0">
                <a:solidFill>
                  <a:srgbClr val="92D050"/>
                </a:solidFill>
              </a:rPr>
              <a:t>Tipo de teléfono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b="1" dirty="0">
                <a:solidFill>
                  <a:srgbClr val="92D050"/>
                </a:solidFill>
              </a:rPr>
              <a:t>Número</a:t>
            </a:r>
            <a:r>
              <a:rPr lang="es-ES" sz="1100" dirty="0">
                <a:solidFill>
                  <a:srgbClr val="FFFFFF"/>
                </a:solidFill>
              </a:rPr>
              <a:t> (y anexo, si aplica).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Indique si es el teléfono </a:t>
            </a:r>
            <a:r>
              <a:rPr lang="es-ES" sz="1100" b="1" dirty="0">
                <a:solidFill>
                  <a:srgbClr val="FFFFFF"/>
                </a:solidFill>
              </a:rPr>
              <a:t>principal</a:t>
            </a:r>
            <a:r>
              <a:rPr lang="es-ES" sz="1100" dirty="0">
                <a:solidFill>
                  <a:srgbClr val="FFFFFF"/>
                </a:solidFill>
              </a:rPr>
              <a:t> y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132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616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CORREO ELECTRÓNICO - SPAIDEN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047844" y="241540"/>
            <a:ext cx="5144155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137" y="1012723"/>
            <a:ext cx="10270442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965212" y="1612215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umero 10"/>
          <p:cNvSpPr/>
          <p:nvPr/>
        </p:nvSpPr>
        <p:spPr>
          <a:xfrm>
            <a:off x="3559670" y="186033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Numero 11"/>
          <p:cNvSpPr/>
          <p:nvPr/>
        </p:nvSpPr>
        <p:spPr>
          <a:xfrm>
            <a:off x="4187220" y="212569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Marco 12"/>
          <p:cNvSpPr/>
          <p:nvPr/>
        </p:nvSpPr>
        <p:spPr>
          <a:xfrm>
            <a:off x="1177769" y="1751990"/>
            <a:ext cx="1858587" cy="14939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Marco 13"/>
          <p:cNvSpPr/>
          <p:nvPr/>
        </p:nvSpPr>
        <p:spPr>
          <a:xfrm>
            <a:off x="1155254" y="1900633"/>
            <a:ext cx="2394596" cy="14939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1738789" y="2165992"/>
            <a:ext cx="2394596" cy="14939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1220820" y="2937943"/>
            <a:ext cx="9883075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la pestaña </a:t>
            </a:r>
            <a:r>
              <a:rPr lang="es-ES" sz="1100" b="1" dirty="0">
                <a:solidFill>
                  <a:srgbClr val="92D050"/>
                </a:solidFill>
              </a:rPr>
              <a:t>Correo electrónico</a:t>
            </a:r>
            <a:r>
              <a:rPr lang="es-ES" sz="1100" dirty="0">
                <a:solidFill>
                  <a:srgbClr val="FFFFFF"/>
                </a:solidFill>
              </a:rPr>
              <a:t>: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b="1" dirty="0">
                <a:solidFill>
                  <a:srgbClr val="92D050"/>
                </a:solidFill>
              </a:rPr>
              <a:t>Tipo de correo</a:t>
            </a:r>
            <a:r>
              <a:rPr lang="es-ES" sz="1100" dirty="0">
                <a:solidFill>
                  <a:srgbClr val="FFFFFF"/>
                </a:solidFill>
              </a:rPr>
              <a:t> (personal o institucional).  </a:t>
            </a: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b="1" dirty="0">
                <a:solidFill>
                  <a:srgbClr val="92D050"/>
                </a:solidFill>
              </a:rPr>
              <a:t>Dirección de correo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Marque como </a:t>
            </a:r>
            <a:r>
              <a:rPr lang="es-ES" sz="1100" b="1" dirty="0">
                <a:solidFill>
                  <a:srgbClr val="FFFFFF"/>
                </a:solidFill>
              </a:rPr>
              <a:t>Preferido</a:t>
            </a:r>
            <a:r>
              <a:rPr lang="es-ES" sz="1100" dirty="0">
                <a:solidFill>
                  <a:srgbClr val="FFFFFF"/>
                </a:solidFill>
              </a:rPr>
              <a:t> el correo </a:t>
            </a:r>
            <a:r>
              <a:rPr lang="es-ES" sz="1100" b="1" dirty="0">
                <a:solidFill>
                  <a:srgbClr val="FFFFFF"/>
                </a:solidFill>
              </a:rPr>
              <a:t>institucional</a:t>
            </a:r>
            <a:r>
              <a:rPr lang="es-ES" sz="1100" dirty="0">
                <a:solidFill>
                  <a:srgbClr val="FFFFFF"/>
                </a:solidFill>
              </a:rPr>
              <a:t> y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653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60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VERIFICAR SOLICITUD - SAAADMS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031842" y="241540"/>
            <a:ext cx="516015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59" y="1012723"/>
            <a:ext cx="11483600" cy="1519975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5791472" y="151001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3703668" y="1562325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Numero 11"/>
          <p:cNvSpPr/>
          <p:nvPr/>
        </p:nvSpPr>
        <p:spPr>
          <a:xfrm>
            <a:off x="11191527" y="147329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Marco 12"/>
          <p:cNvSpPr/>
          <p:nvPr/>
        </p:nvSpPr>
        <p:spPr>
          <a:xfrm>
            <a:off x="1067688" y="1336962"/>
            <a:ext cx="2610661" cy="19901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Marco 13"/>
          <p:cNvSpPr/>
          <p:nvPr/>
        </p:nvSpPr>
        <p:spPr>
          <a:xfrm>
            <a:off x="6097062" y="1336961"/>
            <a:ext cx="2650435" cy="17806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11487206" y="1327035"/>
            <a:ext cx="416952" cy="19901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1128091" y="3271994"/>
            <a:ext cx="10347604" cy="56148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Presione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Revise la solicitud que creó SAAQUIK: tipo de admisión, programa, estatus y decisión. Aquí también se corrige.</a:t>
            </a:r>
          </a:p>
        </p:txBody>
      </p:sp>
    </p:spTree>
    <p:extLst>
      <p:ext uri="{BB962C8B-B14F-4D97-AF65-F5344CB8AC3E}">
        <p14:creationId xmlns:p14="http://schemas.microsoft.com/office/powerpoint/2010/main" val="280240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841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VERIFICAR ESTUDIANTE - SGASTDN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272939" y="241540"/>
            <a:ext cx="491906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160" y="1012723"/>
            <a:ext cx="10236397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022619" y="1641292"/>
            <a:ext cx="592646" cy="19338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Numero 10"/>
          <p:cNvSpPr/>
          <p:nvPr/>
        </p:nvSpPr>
        <p:spPr>
          <a:xfrm>
            <a:off x="911347" y="235984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Globo 11"/>
          <p:cNvSpPr txBox="1"/>
          <p:nvPr/>
        </p:nvSpPr>
        <p:spPr>
          <a:xfrm>
            <a:off x="1615266" y="4619031"/>
            <a:ext cx="9840132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 y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; presione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En la pestaña </a:t>
            </a:r>
            <a:r>
              <a:rPr lang="es-ES" sz="1100" b="1" dirty="0">
                <a:solidFill>
                  <a:srgbClr val="92D050"/>
                </a:solidFill>
              </a:rPr>
              <a:t>Estudiante</a:t>
            </a:r>
            <a:r>
              <a:rPr lang="es-ES" sz="1100" dirty="0">
                <a:solidFill>
                  <a:srgbClr val="FFFFFF"/>
                </a:solidFill>
              </a:rPr>
              <a:t> revise el </a:t>
            </a:r>
            <a:r>
              <a:rPr lang="es-ES" sz="1100" b="1" dirty="0">
                <a:solidFill>
                  <a:srgbClr val="FFFFFF"/>
                </a:solidFill>
              </a:rPr>
              <a:t>estatus</a:t>
            </a:r>
            <a:r>
              <a:rPr lang="es-ES" sz="1100" dirty="0">
                <a:solidFill>
                  <a:srgbClr val="FFFFFF"/>
                </a:solidFill>
              </a:rPr>
              <a:t>, el tipo de alumno y el </a:t>
            </a:r>
            <a:r>
              <a:rPr lang="es-ES" sz="1100" b="1" dirty="0">
                <a:solidFill>
                  <a:srgbClr val="FFFFFF"/>
                </a:solidFill>
              </a:rPr>
              <a:t>programa</a:t>
            </a:r>
            <a:r>
              <a:rPr lang="es-ES" sz="1100" dirty="0">
                <a:solidFill>
                  <a:srgbClr val="FFFFFF"/>
                </a:solidFill>
              </a:rPr>
              <a:t> en el resumen de currículo.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Si todo está correcto, el participante ya puede </a:t>
            </a:r>
            <a:r>
              <a:rPr lang="es-ES" sz="1100" b="1" dirty="0">
                <a:solidFill>
                  <a:srgbClr val="FFFFFF"/>
                </a:solidFill>
              </a:rPr>
              <a:t>inscribirse en los NRC</a:t>
            </a:r>
            <a:r>
              <a:rPr lang="es-ES" sz="1100" dirty="0">
                <a:solidFill>
                  <a:srgbClr val="FFFFFF"/>
                </a:solidFill>
              </a:rPr>
              <a:t> (SFAREGS).</a:t>
            </a:r>
          </a:p>
        </p:txBody>
      </p:sp>
    </p:spTree>
    <p:extLst>
      <p:ext uri="{BB962C8B-B14F-4D97-AF65-F5344CB8AC3E}">
        <p14:creationId xmlns:p14="http://schemas.microsoft.com/office/powerpoint/2010/main" val="100523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2085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RESUMEN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2516789" y="241540"/>
            <a:ext cx="967521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835BB7-D525-B78D-B54A-137EF0D9EC72}"/>
              </a:ext>
            </a:extLst>
          </p:cNvPr>
          <p:cNvSpPr txBox="1"/>
          <p:nvPr/>
        </p:nvSpPr>
        <p:spPr>
          <a:xfrm>
            <a:off x="431320" y="967304"/>
            <a:ext cx="1129856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Configuración</a:t>
            </a:r>
            <a:r>
              <a:rPr lang="es-ES" sz="1600" dirty="0">
                <a:solidFill>
                  <a:srgbClr val="000000"/>
                </a:solidFill>
              </a:rPr>
              <a:t>: STVADMT, STVSTYP y STVAPDC (con STVRESD y STVAPST) se crean una vez. La decisión debe tener «aceptación» para crear al estudiante.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Persona</a:t>
            </a:r>
            <a:r>
              <a:rPr lang="es-ES" sz="1600" dirty="0">
                <a:solidFill>
                  <a:srgbClr val="000000"/>
                </a:solidFill>
              </a:rPr>
              <a:t>: búsquela en GOAMTCH antes de crearla; si ya existe, use su ID.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Admisión</a:t>
            </a:r>
            <a:r>
              <a:rPr lang="es-ES" sz="1600" dirty="0">
                <a:solidFill>
                  <a:srgbClr val="000000"/>
                </a:solidFill>
              </a:rPr>
              <a:t>: SAAQUIK registra la solicitud (SAAADMS) y el estudiante (SGASTDN), con dirección y datos biográficos.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Contacto</a:t>
            </a:r>
            <a:r>
              <a:rPr lang="es-ES" sz="1600" dirty="0">
                <a:solidFill>
                  <a:srgbClr val="000000"/>
                </a:solidFill>
              </a:rPr>
              <a:t>: teléfono y correo preferido (institucional) en SPAIDEN.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Verificación</a:t>
            </a:r>
            <a:r>
              <a:rPr lang="es-ES" sz="1600" dirty="0">
                <a:solidFill>
                  <a:srgbClr val="000000"/>
                </a:solidFill>
              </a:rPr>
              <a:t>: SAAADMS y SGASTDN. Luego el participante puede inscribirse en los NRC (SFAREGS).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Opcional</a:t>
            </a:r>
            <a:r>
              <a:rPr lang="es-ES" sz="1600" dirty="0">
                <a:solidFill>
                  <a:srgbClr val="000000"/>
                </a:solidFill>
              </a:rPr>
              <a:t>: SAADCRV cambia la decisión de una solicitud; SAAMAPP actualiza varias solicitudes a la vez.</a:t>
            </a:r>
          </a:p>
        </p:txBody>
      </p:sp>
    </p:spTree>
    <p:extLst>
      <p:ext uri="{BB962C8B-B14F-4D97-AF65-F5344CB8AC3E}">
        <p14:creationId xmlns:p14="http://schemas.microsoft.com/office/powerpoint/2010/main" val="141929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Cuadrado&#10;&#10;El contenido generado por IA puede ser incorrecto.">
            <a:extLst>
              <a:ext uri="{FF2B5EF4-FFF2-40B4-BE49-F238E27FC236}">
                <a16:creationId xmlns:a16="http://schemas.microsoft.com/office/drawing/2014/main" id="{D4E63572-DF68-DC51-6555-40AD82ECE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609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4.xml><?xml version="1.0" encoding="utf-8"?>
<a:theme xmlns:a="http://schemas.openxmlformats.org/drawingml/2006/main" name="1_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24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ADMISIÓN - REGISTRO DEL PARTICIPANTE COMO ESTUDIANTE</dc:title>
  <dc:creator>Dagner Anibal Chuman Lluen</dc:creator>
  <cp:lastModifiedBy>Dagner Anibal Chuman Lluen</cp:lastModifiedBy>
  <cp:revision>38</cp:revision>
  <dcterms:created xsi:type="dcterms:W3CDTF">2026-08-24T19:57:14Z</dcterms:created>
  <dcterms:modified xsi:type="dcterms:W3CDTF">2026-09-22T22:56:54Z</dcterms:modified>
</cp:coreProperties>
</file>