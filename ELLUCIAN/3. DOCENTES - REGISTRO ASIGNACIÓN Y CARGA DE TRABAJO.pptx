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5" r:id="rId3"/>
    <p:sldMasterId id="2147483735" r:id="rId4"/>
  </p:sldMasterIdLst>
  <p:notesMasterIdLst>
    <p:notesMasterId r:id="rId28"/>
  </p:notesMasterIdLst>
  <p:sldIdLst>
    <p:sldId id="565" r:id="rId33"/>
    <p:sldId id="566" r:id="rId34"/>
    <p:sldId id="567" r:id="rId35"/>
    <p:sldId id="568" r:id="rId36"/>
    <p:sldId id="569" r:id="rId37"/>
    <p:sldId id="570" r:id="rId38"/>
    <p:sldId id="571" r:id="rId39"/>
    <p:sldId id="572" r:id="rId40"/>
    <p:sldId id="573" r:id="rId41"/>
    <p:sldId id="574" r:id="rId42"/>
    <p:sldId id="575" r:id="rId43"/>
    <p:sldId id="576" r:id="rId44"/>
    <p:sldId id="577" r:id="rId45"/>
    <p:sldId id="578" r:id="rId46"/>
    <p:sldId id="579" r:id="rId47"/>
    <p:sldId id="580" r:id="rId48"/>
    <p:sldId id="581" r:id="rId49"/>
    <p:sldId id="582" r:id="rId50"/>
    <p:sldId id="583" r:id="rId51"/>
    <p:sldId id="584" r:id="rId52"/>
    <p:sldId id="585" r:id="rId53"/>
    <p:sldId id="586" r:id="rId54"/>
    <p:sldId id="587" r:id="rId55"/>
    <p:sldId id="588" r:id="rId56"/>
    <p:sldId id="589" r:id="rId57"/>
    <p:sldId id="590" r:id="rId58"/>
    <p:sldId id="591" r:id="rId59"/>
    <p:sldId id="592" r:id="rId6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1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Master" Target="slideMasters/slideMaster3.xml"/><Relationship Id="rId2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tableStyles" Target="tableStyles.xml"/><Relationship Id="rId28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30" Type="http://schemas.openxmlformats.org/officeDocument/2006/relationships/viewProps" Target="viewProps.xml"/>  <Relationship Id="rId33" Type="http://schemas.openxmlformats.org/officeDocument/2006/relationships/slide" Target="slides/slide24.xml"/>
  <Relationship Id="rId34" Type="http://schemas.openxmlformats.org/officeDocument/2006/relationships/slide" Target="slides/slide25.xml"/>
  <Relationship Id="rId35" Type="http://schemas.openxmlformats.org/officeDocument/2006/relationships/slide" Target="slides/slide26.xml"/>
  <Relationship Id="rId36" Type="http://schemas.openxmlformats.org/officeDocument/2006/relationships/slide" Target="slides/slide27.xml"/>
  <Relationship Id="rId37" Type="http://schemas.openxmlformats.org/officeDocument/2006/relationships/slide" Target="slides/slide28.xml"/>
  <Relationship Id="rId38" Type="http://schemas.openxmlformats.org/officeDocument/2006/relationships/slide" Target="slides/slide29.xml"/>
  <Relationship Id="rId39" Type="http://schemas.openxmlformats.org/officeDocument/2006/relationships/slide" Target="slides/slide30.xml"/>
  <Relationship Id="rId40" Type="http://schemas.openxmlformats.org/officeDocument/2006/relationships/slide" Target="slides/slide31.xml"/>
  <Relationship Id="rId41" Type="http://schemas.openxmlformats.org/officeDocument/2006/relationships/slide" Target="slides/slide32.xml"/>
  <Relationship Id="rId42" Type="http://schemas.openxmlformats.org/officeDocument/2006/relationships/slide" Target="slides/slide33.xml"/>
  <Relationship Id="rId43" Type="http://schemas.openxmlformats.org/officeDocument/2006/relationships/slide" Target="slides/slide34.xml"/>
  <Relationship Id="rId44" Type="http://schemas.openxmlformats.org/officeDocument/2006/relationships/slide" Target="slides/slide35.xml"/>
  <Relationship Id="rId45" Type="http://schemas.openxmlformats.org/officeDocument/2006/relationships/slide" Target="slides/slide36.xml"/>
  <Relationship Id="rId46" Type="http://schemas.openxmlformats.org/officeDocument/2006/relationships/slide" Target="slides/slide37.xml"/>
  <Relationship Id="rId47" Type="http://schemas.openxmlformats.org/officeDocument/2006/relationships/slide" Target="slides/slide38.xml"/>
  <Relationship Id="rId48" Type="http://schemas.openxmlformats.org/officeDocument/2006/relationships/slide" Target="slides/slide39.xml"/>
  <Relationship Id="rId49" Type="http://schemas.openxmlformats.org/officeDocument/2006/relationships/slide" Target="slides/slide40.xml"/>
  <Relationship Id="rId50" Type="http://schemas.openxmlformats.org/officeDocument/2006/relationships/slide" Target="slides/slide41.xml"/>
  <Relationship Id="rId51" Type="http://schemas.openxmlformats.org/officeDocument/2006/relationships/slide" Target="slides/slide42.xml"/>
  <Relationship Id="rId52" Type="http://schemas.openxmlformats.org/officeDocument/2006/relationships/slide" Target="slides/slide43.xml"/>
  <Relationship Id="rId53" Type="http://schemas.openxmlformats.org/officeDocument/2006/relationships/slide" Target="slides/slide44.xml"/>
  <Relationship Id="rId54" Type="http://schemas.openxmlformats.org/officeDocument/2006/relationships/slide" Target="slides/slide45.xml"/>
  <Relationship Id="rId55" Type="http://schemas.openxmlformats.org/officeDocument/2006/relationships/slide" Target="slides/slide46.xml"/>
  <Relationship Id="rId56" Type="http://schemas.openxmlformats.org/officeDocument/2006/relationships/slide" Target="slides/slide47.xml"/>
  <Relationship Id="rId57" Type="http://schemas.openxmlformats.org/officeDocument/2006/relationships/slide" Target="slides/slide48.xml"/>
  <Relationship Id="rId58" Type="http://schemas.openxmlformats.org/officeDocument/2006/relationships/slide" Target="slides/slide49.xml"/>
  <Relationship Id="rId59" Type="http://schemas.openxmlformats.org/officeDocument/2006/relationships/slide" Target="slides/slide50.xml"/>
  <Relationship Id="rId60" Type="http://schemas.openxmlformats.org/officeDocument/2006/relationships/slide" Target="slides/slide51.xml"/>
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C4D4F-02F1-4128-82AF-F7679EB9D8E5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98818-1391-4805-9C29-F0662F4A7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10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6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7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7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9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1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1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9044-76B1-D660-8DBF-F2F16B01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4A282-AB81-AF53-998D-8FAB0240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4205B-C876-F8C4-D883-9E68781E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94D33-FDE8-6449-705F-E556EF1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30CF9-CD55-3BD0-79C3-E70AAAEA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77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59199-D081-4689-6C0F-26C0814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26484-A586-DE59-81DA-9AE09718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B8B84-50E3-3680-51B0-E997DAC4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AA40F-A1AE-4DAB-8F62-65858B29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72374-BF0D-9199-0AE2-B02EF381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523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49AF9-55EC-C5C1-42C9-7D227AA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2B32A-2C66-856E-7956-ED257F39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2117E-953F-4F70-D94A-C0F2B9F3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5B6E9-B354-9D39-F8CC-2B3721A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96CAC-C276-2C6D-50E0-118D678F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78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B5609-CFF7-FE91-93A8-017ADAC9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964A9-F609-80F6-2CBA-3D02F425D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2AF759-B10E-0B24-F52D-720377E5A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A4FDCD-1E3B-1A51-8F25-3FF6CE7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B8827-6190-F9CB-340C-17290B49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B46404-8C78-05E7-B250-ECAE3709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01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49292-F847-1D24-4FD9-AD41568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671E2-D3A4-0F45-2A09-B8DADE12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FBD18-2BF9-678E-0AC8-52B223120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527B7E-E0F5-0A56-6D7C-76242207D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8E62F8-AF94-079C-EF69-A765CB014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48DA9-9673-35CC-FD69-59F6BD79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DE94D9-8533-ED00-B05C-81DE14EF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12A43-66F9-51AD-4D2C-731C9E4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640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ED7A-3158-77DF-D71C-35AEE7E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78F852-120E-6806-DC0E-4922223E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D40898-4A83-C494-208C-3BB983CA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7A564-709D-A9B1-4784-A78D03A3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470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ACFAF-7441-8EC2-04CF-09CD9E83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FA7E49-6B88-6BC2-8C6D-9A071DBA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044BFD-EAF6-FB9F-F2A0-61F098F3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61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A3095-751F-EE63-B505-F34F4EEB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059669-42C4-B318-496D-C5C68D2B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90E18-79BE-170F-7FA5-0734B2427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67D11A-ADB7-ACDC-6832-6170386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7EE52-07B8-7502-695C-6DF8A78D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3460CC-A376-5637-5998-D11D83D1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23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F389F-3435-A3CA-D8B5-31A600F7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33BEFD-867B-5487-68C5-3F9B60292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4278E2-9BED-AFAC-E024-EA1282F7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14C5-21E9-B1BB-FAEB-95E5A017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448983-4ED4-A1F6-ABA9-CD9634DF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065E54-4AF9-87DF-9439-3998BE78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2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92D63-E499-03F7-FB4D-93474D0C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D4A8B-B230-AB87-D28F-47E1EF75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4D0E4-B7E8-F53F-6E2B-AC40634D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558D2-1230-7AE6-C0AB-8C24ADE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8A289-C61E-F62D-8E83-FAFD4422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9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D465E1-F8B5-FF8A-28AB-8CEAEC420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BD6A3E-9027-3D05-9863-50913A2D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97731-A82C-21F2-2C4D-A190BB9F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38474-DFAA-E728-D9B9-DEFD3997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089AF1-2426-4CC7-C36C-58F4C5A1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843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420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014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4508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8918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3422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7268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55331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2739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201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338797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3002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31513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99025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277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80667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449226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907843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21880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632089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74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21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9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28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476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25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26432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718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4296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83121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263810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4826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60798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86742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17176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425993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993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32979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43314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41595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156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741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2842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68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8809703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0794212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360521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21823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211374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5199235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30648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44004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4409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76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913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94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77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48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2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593398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884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469461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3063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421736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09755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91547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73974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496765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72094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89258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15294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09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28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4505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01003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643638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979129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00957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478736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11029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07523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8591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13034148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254316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49789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31561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91782741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0003420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70694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331499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84337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8726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75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9859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7690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0693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7008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5757675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6216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25402841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596028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900505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3723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6196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818211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181314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69362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93289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06194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0162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72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57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_rels/slideMaster3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5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/Relationships>
</file>

<file path=ppt/slideMasters/_rels/slideMaster4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slideLayout" Target="../slideLayouts/slideLayout110.xml"/><Relationship Id="rId39" Type="http://schemas.openxmlformats.org/officeDocument/2006/relationships/theme" Target="../theme/theme4.xml"/><Relationship Id="rId21" Type="http://schemas.openxmlformats.org/officeDocument/2006/relationships/slideLayout" Target="../slideLayouts/slideLayout105.xml"/><Relationship Id="rId34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13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16.xml"/><Relationship Id="rId37" Type="http://schemas.openxmlformats.org/officeDocument/2006/relationships/slideLayout" Target="../slideLayouts/slideLayout121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35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92.xml"/><Relationship Id="rId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7.xml"/><Relationship Id="rId38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123625-4177-94C5-071F-B877E48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C5A60-722C-D5E0-88E8-5BB4ECA7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07A37D-85C7-5674-D2C3-ADB9632C5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B04F-4F73-48C2-9E46-704F64527F32}" type="datetimeFigureOut">
              <a:rPr lang="es-PE" smtClean="0"/>
              <a:t>22/09/2026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65AA-F759-5A1E-FB29-109C5E328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B6A20-3F4D-79CB-E2F3-BEEDBBCD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0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0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14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3" r:id="rId37"/>
    <p:sldLayoutId id="214748373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0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0_0.png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1_0.png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2_0.png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6_0.png"/></Relationships>
</file>

<file path=ppt/slides/_rels/slide3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7_0.png"/></Relationships>
</file>

<file path=ppt/slides/_rels/slide3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8_0.png"/></Relationships>
</file>

<file path=ppt/slides/_rels/slide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19_0.png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25_0.png"/></Relationships>
</file>

<file path=ppt/slides/_rels/slide37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cx_14_0.png"/></Relationships>
</file>

<file path=ppt/slides/_rels/slide3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cx_15_0.png"/></Relationships>
</file>

<file path=ppt/slides/_rels/slide4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cx_16_0.png"/><Relationship Id="rId5" Type="http://schemas.openxmlformats.org/officeDocument/2006/relationships/image" Target="../media/cx_16_1.png"/></Relationships>
</file>

<file path=ppt/slides/_rels/slide41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cx_18_0.png"/></Relationships>
</file>

<file path=ppt/slides/_rels/slide4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cx_19_0.png"/></Relationships>
</file>

<file path=ppt/slides/_rels/slide43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bx_12_0.png"/></Relationships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ax_28_0.png"/></Relationships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bx_17_0.png"/></Relationships>
</file>

<file path=ppt/slides/_rels/slide47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bx_18_0.png"/></Relationships>
</file>

<file path=ppt/slides/_rels/slide48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bx_24_0.png"/></Relationships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bx_27_0.png"/></Relationships>
</file>

<file path=ppt/slides/_rels/slide5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909" y="0"/>
            <a:ext cx="3744190" cy="1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4053898" cy="95425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7F56B21-165B-13C1-F495-3576889CB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" r="6842"/>
          <a:stretch/>
        </p:blipFill>
        <p:spPr>
          <a:xfrm>
            <a:off x="6096000" y="1870726"/>
            <a:ext cx="6096000" cy="4719037"/>
          </a:xfrm>
          <a:custGeom>
            <a:avLst/>
            <a:gdLst>
              <a:gd name="connsiteX0" fmla="*/ 1 w 6548583"/>
              <a:gd name="connsiteY0" fmla="*/ 0 h 5069391"/>
              <a:gd name="connsiteX1" fmla="*/ 6548583 w 6548583"/>
              <a:gd name="connsiteY1" fmla="*/ 0 h 5069391"/>
              <a:gd name="connsiteX2" fmla="*/ 6548583 w 6548583"/>
              <a:gd name="connsiteY2" fmla="*/ 1424774 h 5069391"/>
              <a:gd name="connsiteX3" fmla="*/ 1440000 w 6548583"/>
              <a:gd name="connsiteY3" fmla="*/ 1424774 h 5069391"/>
              <a:gd name="connsiteX4" fmla="*/ 1440000 w 6548583"/>
              <a:gd name="connsiteY4" fmla="*/ 1807083 h 5069391"/>
              <a:gd name="connsiteX5" fmla="*/ 6548583 w 6548583"/>
              <a:gd name="connsiteY5" fmla="*/ 1807083 h 5069391"/>
              <a:gd name="connsiteX6" fmla="*/ 6548583 w 6548583"/>
              <a:gd name="connsiteY6" fmla="*/ 3247083 h 5069391"/>
              <a:gd name="connsiteX7" fmla="*/ 1440000 w 6548583"/>
              <a:gd name="connsiteY7" fmla="*/ 3247082 h 5069391"/>
              <a:gd name="connsiteX8" fmla="*/ 1440000 w 6548583"/>
              <a:gd name="connsiteY8" fmla="*/ 3629391 h 5069391"/>
              <a:gd name="connsiteX9" fmla="*/ 6548582 w 6548583"/>
              <a:gd name="connsiteY9" fmla="*/ 3629392 h 5069391"/>
              <a:gd name="connsiteX10" fmla="*/ 6548582 w 6548583"/>
              <a:gd name="connsiteY10" fmla="*/ 5069391 h 5069391"/>
              <a:gd name="connsiteX11" fmla="*/ 1440000 w 6548583"/>
              <a:gd name="connsiteY11" fmla="*/ 5069391 h 5069391"/>
              <a:gd name="connsiteX12" fmla="*/ 0 w 6548583"/>
              <a:gd name="connsiteY12" fmla="*/ 5069391 h 5069391"/>
              <a:gd name="connsiteX13" fmla="*/ 0 w 6548583"/>
              <a:gd name="connsiteY13" fmla="*/ 1 h 5069391"/>
              <a:gd name="connsiteX14" fmla="*/ 1 w 6548583"/>
              <a:gd name="connsiteY14" fmla="*/ 1 h 506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48583" h="5069391">
                <a:moveTo>
                  <a:pt x="1" y="0"/>
                </a:moveTo>
                <a:lnTo>
                  <a:pt x="6548583" y="0"/>
                </a:lnTo>
                <a:lnTo>
                  <a:pt x="6548583" y="1424774"/>
                </a:lnTo>
                <a:lnTo>
                  <a:pt x="1440000" y="1424774"/>
                </a:lnTo>
                <a:lnTo>
                  <a:pt x="1440000" y="1807083"/>
                </a:lnTo>
                <a:lnTo>
                  <a:pt x="6548583" y="1807083"/>
                </a:lnTo>
                <a:lnTo>
                  <a:pt x="6548583" y="3247083"/>
                </a:lnTo>
                <a:lnTo>
                  <a:pt x="1440000" y="3247082"/>
                </a:lnTo>
                <a:lnTo>
                  <a:pt x="1440000" y="3629391"/>
                </a:lnTo>
                <a:lnTo>
                  <a:pt x="6548582" y="3629392"/>
                </a:lnTo>
                <a:lnTo>
                  <a:pt x="6548582" y="5069391"/>
                </a:lnTo>
                <a:lnTo>
                  <a:pt x="1440000" y="5069391"/>
                </a:lnTo>
                <a:lnTo>
                  <a:pt x="0" y="506939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481781" y="2847728"/>
            <a:ext cx="55257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0"/>
              </a:rPr>
              <a:t>DOCENTES</a:t>
            </a:r>
            <a:endParaRPr lang="es-PE" sz="4600" b="1" dirty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F3A99F-357C-A6F7-37E7-45E55D8F10F5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>
                <a:solidFill>
                  <a:schemeClr val="bg1"/>
                </a:solidFill>
              </a:rPr>
              <a:t>Elaborado por: Dagner Anibal Chuman Lluen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029" name="Texto 1029"/>
          <p:cNvSpPr txBox="1"/>
          <p:nvPr/>
        </p:nvSpPr>
        <p:spPr>
          <a:xfrm>
            <a:off x="481781" y="5130000"/>
            <a:ext cx="5525729" cy="76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s-ES" sz="2000" b="1" dirty="0">
                <a:solidFill>
                  <a:srgbClr val="FFFFFF"/>
                </a:solidFill>
                <a:latin typeface="Montserrat" pitchFamily="2" charset="0"/>
              </a:rPr>
              <a:t>CENTROS EMPRESARIALES</a:t>
            </a:r>
          </a:p>
          <a:p>
            <a:r>
              <a:rPr lang="es-ES" sz="1600" dirty="0">
                <a:solidFill>
                  <a:srgbClr val="FFFFFF"/>
                </a:solidFill>
                <a:latin typeface="Montserrat" pitchFamily="2" charset="0"/>
              </a:rPr>
              <a:t>Registro del docente, asignación al NRC y carga de trabajo</a:t>
            </a:r>
          </a:p>
        </p:txBody>
      </p:sp>
    </p:spTree>
    <p:extLst>
      <p:ext uri="{BB962C8B-B14F-4D97-AF65-F5344CB8AC3E}">
        <p14:creationId xmlns:p14="http://schemas.microsoft.com/office/powerpoint/2010/main" val="2759176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657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REGISTRAR Y ASIGNAR DOCENTES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089094" y="241540"/>
            <a:ext cx="5102905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0F07226-D7DA-DE59-8B77-881CE02CBB4E}"/>
              </a:ext>
            </a:extLst>
          </p:cNvPr>
          <p:cNvSpPr/>
          <p:nvPr/>
        </p:nvSpPr>
        <p:spPr>
          <a:xfrm>
            <a:off x="549304" y="1339819"/>
            <a:ext cx="492912" cy="5232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7421CC-95D2-797D-DE18-77D80C0AB019}"/>
              </a:ext>
            </a:extLst>
          </p:cNvPr>
          <p:cNvSpPr txBox="1"/>
          <p:nvPr/>
        </p:nvSpPr>
        <p:spPr>
          <a:xfrm>
            <a:off x="431718" y="19284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Inicio</a:t>
            </a:r>
            <a:endParaRPr lang="es-PE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070D876-635D-7E58-4247-B66AC8D39DC3}"/>
              </a:ext>
            </a:extLst>
          </p:cNvPr>
          <p:cNvSpPr/>
          <p:nvPr/>
        </p:nvSpPr>
        <p:spPr>
          <a:xfrm>
            <a:off x="1995948" y="1130710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1D865E5-4ACE-7456-61C5-D83C7A22FD10}"/>
              </a:ext>
            </a:extLst>
          </p:cNvPr>
          <p:cNvCxnSpPr>
            <a:stCxn id="5" idx="6"/>
            <a:endCxn id="11" idx="1"/>
          </p:cNvCxnSpPr>
          <p:nvPr/>
        </p:nvCxnSpPr>
        <p:spPr>
          <a:xfrm flipV="1">
            <a:off x="1042216" y="1597742"/>
            <a:ext cx="953732" cy="3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2880EFF-3015-A5E7-8897-958E4498813F}"/>
              </a:ext>
            </a:extLst>
          </p:cNvPr>
          <p:cNvSpPr txBox="1"/>
          <p:nvPr/>
        </p:nvSpPr>
        <p:spPr>
          <a:xfrm>
            <a:off x="2035276" y="1228410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Crear la persona (</a:t>
            </a:r>
            <a:r>
              <a:rPr lang="es-ES" sz="1400" b="1" dirty="0">
                <a:solidFill>
                  <a:schemeClr val="accent5"/>
                </a:solidFill>
              </a:rPr>
              <a:t>SPAIDEN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F539C1C-ACA0-CE88-7625-AE9C4029813A}"/>
              </a:ext>
            </a:extLst>
          </p:cNvPr>
          <p:cNvSpPr/>
          <p:nvPr/>
        </p:nvSpPr>
        <p:spPr>
          <a:xfrm>
            <a:off x="4986657" y="1130710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B254C23-7F14-1827-1968-CC4B891577B0}"/>
              </a:ext>
            </a:extLst>
          </p:cNvPr>
          <p:cNvSpPr/>
          <p:nvPr/>
        </p:nvSpPr>
        <p:spPr>
          <a:xfrm>
            <a:off x="7983799" y="1114119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D1A0331-4215-D51E-BA51-7206DD1FD1D8}"/>
              </a:ext>
            </a:extLst>
          </p:cNvPr>
          <p:cNvSpPr txBox="1"/>
          <p:nvPr/>
        </p:nvSpPr>
        <p:spPr>
          <a:xfrm>
            <a:off x="7983796" y="1321260"/>
            <a:ext cx="2212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Registrar al docente en el periodo (</a:t>
            </a:r>
            <a:r>
              <a:rPr lang="es-ES" sz="1400" b="1" dirty="0">
                <a:solidFill>
                  <a:schemeClr val="accent5"/>
                </a:solidFill>
              </a:rPr>
              <a:t>SIAINST</a:t>
            </a:r>
            <a:r>
              <a:rPr lang="es-ES" sz="1400" dirty="0"/>
              <a:t>)</a:t>
            </a:r>
            <a:endParaRPr lang="es-PE" sz="1400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BB0030A-6090-4766-78A7-B941D0D3B664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4208206" y="1597742"/>
            <a:ext cx="778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FE3D0FD-BAD0-0753-641C-C9301D64BA01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7198915" y="1582870"/>
            <a:ext cx="784881" cy="1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528394E-34DF-ED2C-8365-CF16A198EF88}"/>
              </a:ext>
            </a:extLst>
          </p:cNvPr>
          <p:cNvSpPr txBox="1"/>
          <p:nvPr/>
        </p:nvSpPr>
        <p:spPr>
          <a:xfrm>
            <a:off x="4905899" y="1229649"/>
            <a:ext cx="23601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Configurar tablas del docente (</a:t>
            </a:r>
            <a:r>
              <a:rPr lang="es-ES" sz="1200" b="1" dirty="0">
                <a:solidFill>
                  <a:schemeClr val="accent5"/>
                </a:solidFill>
              </a:rPr>
              <a:t>STVFCST, STVFSTP, STVFCNT</a:t>
            </a:r>
            <a:r>
              <a:rPr lang="es-ES" sz="1200" dirty="0"/>
              <a:t>)</a:t>
            </a:r>
            <a:endParaRPr lang="es-PE" sz="1400" dirty="0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EF220E9-53C1-9E23-0932-95E73BE286DD}"/>
              </a:ext>
            </a:extLst>
          </p:cNvPr>
          <p:cNvSpPr/>
          <p:nvPr/>
        </p:nvSpPr>
        <p:spPr>
          <a:xfrm>
            <a:off x="9458153" y="2864658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E1A9658-8C29-4B14-4205-EC14FCA169C1}"/>
              </a:ext>
            </a:extLst>
          </p:cNvPr>
          <p:cNvSpPr txBox="1"/>
          <p:nvPr/>
        </p:nvSpPr>
        <p:spPr>
          <a:xfrm>
            <a:off x="9458150" y="2963647"/>
            <a:ext cx="2212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Asignar el docente al NRC (</a:t>
            </a:r>
            <a:r>
              <a:rPr lang="es-ES" sz="1400" b="1" dirty="0">
                <a:solidFill>
                  <a:schemeClr val="accent5"/>
                </a:solidFill>
              </a:rPr>
              <a:t>SSASECT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A3621E49-7181-6D44-7CB7-B088D989E5DB}"/>
              </a:ext>
            </a:extLst>
          </p:cNvPr>
          <p:cNvSpPr/>
          <p:nvPr/>
        </p:nvSpPr>
        <p:spPr>
          <a:xfrm>
            <a:off x="7983796" y="4708694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3D22F79-0793-A7B5-3818-A6641C1852D7}"/>
              </a:ext>
            </a:extLst>
          </p:cNvPr>
          <p:cNvSpPr txBox="1"/>
          <p:nvPr/>
        </p:nvSpPr>
        <p:spPr>
          <a:xfrm>
            <a:off x="8042787" y="4807683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Configurar la carga del periodo (</a:t>
            </a:r>
            <a:r>
              <a:rPr lang="es-ES" sz="1400" b="1" dirty="0">
                <a:solidFill>
                  <a:schemeClr val="accent5"/>
                </a:solidFill>
              </a:rPr>
              <a:t>SIATERM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6601043-44F7-376A-C35E-83DA6992BD33}"/>
              </a:ext>
            </a:extLst>
          </p:cNvPr>
          <p:cNvSpPr/>
          <p:nvPr/>
        </p:nvSpPr>
        <p:spPr>
          <a:xfrm>
            <a:off x="4989871" y="4718163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C55F58-4315-C978-046D-CC24EDF08C24}"/>
              </a:ext>
            </a:extLst>
          </p:cNvPr>
          <p:cNvSpPr txBox="1"/>
          <p:nvPr/>
        </p:nvSpPr>
        <p:spPr>
          <a:xfrm>
            <a:off x="5078366" y="4817152"/>
            <a:ext cx="2045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dirty="0"/>
              <a:t>Definir la regla de carga (</a:t>
            </a:r>
            <a:r>
              <a:rPr lang="es-ES" sz="1300" b="1" dirty="0">
                <a:solidFill>
                  <a:schemeClr val="accent5"/>
                </a:solidFill>
              </a:rPr>
              <a:t>STVWKLD, SIAFLRT</a:t>
            </a:r>
            <a:r>
              <a:rPr lang="es-ES" sz="1300" dirty="0"/>
              <a:t>)</a:t>
            </a:r>
            <a:endParaRPr lang="es-PE" sz="1400" dirty="0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4C6C3FB-550C-EE74-60BA-A72EE470EC93}"/>
              </a:ext>
            </a:extLst>
          </p:cNvPr>
          <p:cNvSpPr/>
          <p:nvPr/>
        </p:nvSpPr>
        <p:spPr>
          <a:xfrm>
            <a:off x="1995943" y="4728953"/>
            <a:ext cx="2212258" cy="9340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DB53553-FC90-4F11-B65A-0B59D6816223}"/>
              </a:ext>
            </a:extLst>
          </p:cNvPr>
          <p:cNvSpPr txBox="1"/>
          <p:nvPr/>
        </p:nvSpPr>
        <p:spPr>
          <a:xfrm>
            <a:off x="2035274" y="4827942"/>
            <a:ext cx="21237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Revisar la carga del docente (</a:t>
            </a:r>
            <a:r>
              <a:rPr lang="es-ES" sz="1400" b="1" dirty="0">
                <a:solidFill>
                  <a:schemeClr val="accent5"/>
                </a:solidFill>
              </a:rPr>
              <a:t>SIAASGN</a:t>
            </a:r>
            <a:r>
              <a:rPr lang="es-ES" sz="1400" dirty="0"/>
              <a:t>)</a:t>
            </a:r>
            <a:endParaRPr lang="es-PE" sz="1400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3A987457-B0D7-77C9-3C21-D40B9CC6FB57}"/>
              </a:ext>
            </a:extLst>
          </p:cNvPr>
          <p:cNvSpPr/>
          <p:nvPr/>
        </p:nvSpPr>
        <p:spPr>
          <a:xfrm>
            <a:off x="552716" y="4927692"/>
            <a:ext cx="492912" cy="5232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D4B6E7DB-762E-113C-3073-B187DE1E0EFD}"/>
              </a:ext>
            </a:extLst>
          </p:cNvPr>
          <p:cNvSpPr txBox="1"/>
          <p:nvPr/>
        </p:nvSpPr>
        <p:spPr>
          <a:xfrm>
            <a:off x="562946" y="5575349"/>
            <a:ext cx="48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Fin</a:t>
            </a:r>
            <a:endParaRPr lang="es-PE" dirty="0"/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25688D56-FCB5-97B4-B66A-E54E8570FA1D}"/>
              </a:ext>
            </a:extLst>
          </p:cNvPr>
          <p:cNvCxnSpPr>
            <a:stCxn id="18" idx="3"/>
            <a:endCxn id="40" idx="0"/>
          </p:cNvCxnSpPr>
          <p:nvPr/>
        </p:nvCxnSpPr>
        <p:spPr>
          <a:xfrm>
            <a:off x="10196057" y="1581151"/>
            <a:ext cx="368225" cy="1283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2499214E-0E69-562C-6C15-81762BAC0EF1}"/>
              </a:ext>
            </a:extLst>
          </p:cNvPr>
          <p:cNvCxnSpPr>
            <a:cxnSpLocks/>
            <a:stCxn id="40" idx="2"/>
            <a:endCxn id="42" idx="3"/>
          </p:cNvCxnSpPr>
          <p:nvPr/>
        </p:nvCxnSpPr>
        <p:spPr>
          <a:xfrm rot="5400000">
            <a:off x="9691666" y="4303110"/>
            <a:ext cx="1377004" cy="36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C3BDC73-6872-2E01-0A42-CC3D2781F64B}"/>
              </a:ext>
            </a:extLst>
          </p:cNvPr>
          <p:cNvCxnSpPr>
            <a:cxnSpLocks/>
            <a:stCxn id="42" idx="1"/>
            <a:endCxn id="44" idx="3"/>
          </p:cNvCxnSpPr>
          <p:nvPr/>
        </p:nvCxnSpPr>
        <p:spPr>
          <a:xfrm flipH="1">
            <a:off x="7202129" y="5175726"/>
            <a:ext cx="781667" cy="9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05AB92E-A5EF-1150-EEC1-63A63DBB2E95}"/>
              </a:ext>
            </a:extLst>
          </p:cNvPr>
          <p:cNvCxnSpPr>
            <a:cxnSpLocks/>
            <a:stCxn id="44" idx="1"/>
            <a:endCxn id="46" idx="3"/>
          </p:cNvCxnSpPr>
          <p:nvPr/>
        </p:nvCxnSpPr>
        <p:spPr>
          <a:xfrm flipH="1">
            <a:off x="4208201" y="5185195"/>
            <a:ext cx="781670" cy="10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FCFEF2D9-76D0-DC01-5C00-280704290EF4}"/>
              </a:ext>
            </a:extLst>
          </p:cNvPr>
          <p:cNvCxnSpPr>
            <a:stCxn id="46" idx="1"/>
            <a:endCxn id="48" idx="6"/>
          </p:cNvCxnSpPr>
          <p:nvPr/>
        </p:nvCxnSpPr>
        <p:spPr>
          <a:xfrm flipH="1" flipV="1">
            <a:off x="1045628" y="5189302"/>
            <a:ext cx="950315" cy="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1" name="Globo 71"/>
          <p:cNvSpPr txBox="1"/>
          <p:nvPr/>
        </p:nvSpPr>
        <p:spPr>
          <a:xfrm>
            <a:off x="2500000" y="3000000"/>
            <a:ext cx="6300000" cy="8000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Configuración</a:t>
            </a:r>
            <a:r>
              <a:rPr lang="es-ES" sz="1100" dirty="0">
                <a:solidFill>
                  <a:srgbClr val="FFFFFF"/>
                </a:solidFill>
              </a:rPr>
              <a:t> (una vez o por periodo): tablas del docente, SIATERM, STVWKLD y SIAFLRT.</a:t>
            </a:r>
          </a:p>
          <a:p>
            <a:pPr algn="ctr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Por cada docente</a:t>
            </a:r>
            <a:r>
              <a:rPr lang="es-ES" sz="1100" dirty="0">
                <a:solidFill>
                  <a:srgbClr val="FFFFFF"/>
                </a:solidFill>
              </a:rPr>
              <a:t>: SPAIDEN, SIAINST, asignación en SSASECT y revisión en SIAASGN.</a:t>
            </a:r>
          </a:p>
        </p:txBody>
      </p:sp>
    </p:spTree>
    <p:extLst>
      <p:ext uri="{BB962C8B-B14F-4D97-AF65-F5344CB8AC3E}">
        <p14:creationId xmlns:p14="http://schemas.microsoft.com/office/powerpoint/2010/main" val="321447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000"/>
                            </p:stCondLst>
                            <p:childTnLst>
                              <p:par>
                                <p:cTn id="9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5" grpId="0" animBg="1"/>
      <p:bldP spid="10" grpId="0"/>
      <p:bldP spid="11" grpId="0" animBg="1"/>
      <p:bldP spid="14" grpId="0"/>
      <p:bldP spid="15" grpId="0"/>
      <p:bldP spid="16" grpId="0" animBg="1"/>
      <p:bldP spid="18" grpId="0" animBg="1"/>
      <p:bldP spid="19" grpId="0"/>
      <p:bldP spid="17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3864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CONCEPTOS CLAVE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295500" y="241540"/>
            <a:ext cx="789649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Texto 9"/>
          <p:cNvSpPr txBox="1"/>
          <p:nvPr/>
        </p:nvSpPr>
        <p:spPr>
          <a:xfrm>
            <a:off x="431320" y="930000"/>
            <a:ext cx="11329360" cy="52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just">
              <a:spcAft>
                <a:spcPts val="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Para que un docente dicte un NRC y su carga se calcule en el sistema (en lugar de Excel), se relacionan cuatro registros: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43132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SPAIDEN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Persona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43132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Datos personales del docente: ID, nombres, documento y contacto.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Se registra como cualquier persona.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332366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SIAINST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Docente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332366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Lo activa como docente desde un periodo: estatus, tipo de personal, contrato y regla de carga.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Usa las tablas de configuración.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621600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SSASECT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Asignación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621600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El docente se asigna a la sesión del NRC, en la pestaña Instructor.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Continúa «2. Programación de asignaturas».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9108340" y="1600000"/>
            <a:ext cx="2652340" cy="780000"/>
          </a:xfrm>
          <a:prstGeom prst="roundRect">
            <a:avLst>
              <a:gd name="adj" fmla="val 8000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s-ES" sz="2000" b="1" dirty="0">
                <a:solidFill>
                  <a:srgbClr val="92D050"/>
                </a:solidFill>
              </a:rPr>
              <a:t>SIAASGN</a:t>
            </a:r>
          </a:p>
          <a:p>
            <a:pPr algn="ctr"/>
            <a:r>
              <a:rPr lang="es-ES" sz="1600" b="1" dirty="0">
                <a:solidFill>
                  <a:srgbClr val="FFFFFF"/>
                </a:solidFill>
              </a:rPr>
              <a:t>Carga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9108340" y="2460000"/>
            <a:ext cx="2652340" cy="2150000"/>
          </a:xfrm>
          <a:prstGeom prst="roundRect">
            <a:avLst>
              <a:gd name="adj" fmla="val 8000"/>
            </a:avLst>
          </a:prstGeom>
          <a:solidFill>
            <a:srgbClr val="F1E7FA"/>
          </a:solidFill>
        </p:spPr>
        <p:txBody>
          <a:bodyPr wrap="square" rtlCol="0" anchor="t" lIns="137160" tIns="137160" rIns="137160" bIns="91440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s-ES" sz="1600" dirty="0">
                <a:solidFill>
                  <a:srgbClr val="000000"/>
                </a:solidFill>
              </a:rPr>
              <a:t>Suma créditos y horas de los NRC del docente y los compara con su regla de carga.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ES" sz="1500" b="1" dirty="0">
                <a:solidFill>
                  <a:srgbClr val="4EA72E"/>
                </a:solidFill>
              </a:rPr>
              <a:t>Reemplaza el control en Excel.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431320" y="4850000"/>
            <a:ext cx="11329360" cy="56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4EA72E"/>
            </a:solidFill>
          </a:ln>
        </p:spPr>
        <p:txBody>
          <a:bodyPr wrap="square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s-ES" sz="1400" b="1" dirty="0">
                <a:solidFill>
                  <a:srgbClr val="4EA72E"/>
                </a:solidFill>
              </a:rPr>
              <a:t>Periodo: </a:t>
            </a:r>
            <a:r>
              <a:rPr lang="es-ES" sz="1400" dirty="0">
                <a:solidFill>
                  <a:srgbClr val="000000"/>
                </a:solidFill>
              </a:rPr>
              <a:t>en todas estas páginas se usa el mismo código definido en «1. Periodos académicos» (ej. 202654 para 2026-I de Centros Empresariales).</a:t>
            </a:r>
          </a:p>
        </p:txBody>
      </p:sp>
    </p:spTree>
    <p:extLst>
      <p:ext uri="{BB962C8B-B14F-4D97-AF65-F5344CB8AC3E}">
        <p14:creationId xmlns:p14="http://schemas.microsoft.com/office/powerpoint/2010/main" val="303491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CONFIGURACIONES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Tablas de validación del docente. Se crean una sola vez y luego se eligen en SIAINST.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303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608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ESTATUS DEL DOCENTE - STVFCST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040021" y="241540"/>
            <a:ext cx="5151978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93" y="1012723"/>
            <a:ext cx="11445130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646155" y="128752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229995" y="235346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Numero 11"/>
          <p:cNvSpPr/>
          <p:nvPr/>
        </p:nvSpPr>
        <p:spPr>
          <a:xfrm>
            <a:off x="3387560" y="234082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Numero 12"/>
          <p:cNvSpPr/>
          <p:nvPr/>
        </p:nvSpPr>
        <p:spPr>
          <a:xfrm>
            <a:off x="10812111" y="559762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Marco 13"/>
          <p:cNvSpPr/>
          <p:nvPr/>
        </p:nvSpPr>
        <p:spPr>
          <a:xfrm>
            <a:off x="10666480" y="1493013"/>
            <a:ext cx="237766" cy="152902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1271438" y="2408969"/>
            <a:ext cx="1946636" cy="15290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o 15"/>
          <p:cNvSpPr/>
          <p:nvPr/>
        </p:nvSpPr>
        <p:spPr>
          <a:xfrm>
            <a:off x="472180" y="2392014"/>
            <a:ext cx="708843" cy="16128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Marco 16"/>
          <p:cNvSpPr/>
          <p:nvPr/>
        </p:nvSpPr>
        <p:spPr>
          <a:xfrm>
            <a:off x="11166793" y="5582534"/>
            <a:ext cx="718131" cy="26018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Globo 17"/>
          <p:cNvSpPr txBox="1"/>
          <p:nvPr/>
        </p:nvSpPr>
        <p:spPr>
          <a:xfrm>
            <a:off x="900000" y="3958120"/>
            <a:ext cx="10800000" cy="11787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los </a:t>
            </a:r>
            <a:r>
              <a:rPr lang="es-ES" sz="1100" b="1" dirty="0">
                <a:solidFill>
                  <a:srgbClr val="92D050"/>
                </a:solidFill>
              </a:rPr>
              <a:t>estatus del docente</a:t>
            </a:r>
            <a:r>
              <a:rPr lang="es-ES" sz="1100" dirty="0">
                <a:solidFill>
                  <a:srgbClr val="FFFFFF"/>
                </a:solidFill>
              </a:rPr>
              <a:t> que luego se eligen en SIAINST (ej. </a:t>
            </a:r>
            <a:r>
              <a:rPr lang="es-ES" sz="1100" b="1" dirty="0">
                <a:solidFill>
                  <a:srgbClr val="FFFFFF"/>
                </a:solidFill>
              </a:rPr>
              <a:t>AC</a:t>
            </a:r>
            <a:r>
              <a:rPr lang="es-ES" sz="1100" dirty="0">
                <a:solidFill>
                  <a:srgbClr val="FFFFFF"/>
                </a:solidFill>
              </a:rPr>
              <a:t> Activo, </a:t>
            </a:r>
            <a:r>
              <a:rPr lang="es-ES" sz="1100" b="1" dirty="0">
                <a:solidFill>
                  <a:srgbClr val="FFFFFF"/>
                </a:solidFill>
              </a:rPr>
              <a:t>BA</a:t>
            </a:r>
            <a:r>
              <a:rPr lang="es-ES" sz="1100" dirty="0">
                <a:solidFill>
                  <a:srgbClr val="FFFFFF"/>
                </a:solidFill>
              </a:rPr>
              <a:t> Baja).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Insertar (+)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Código</a:t>
            </a:r>
            <a:r>
              <a:rPr lang="es-ES" sz="1100" dirty="0">
                <a:solidFill>
                  <a:srgbClr val="FFFFFF"/>
                </a:solidFill>
              </a:rPr>
              <a:t>: 2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Ingrese la </a:t>
            </a:r>
            <a:r>
              <a:rPr lang="es-ES" sz="1100" b="1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FFFFFF"/>
                </a:solidFill>
              </a:rPr>
              <a:t>: hasta 30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413971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69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TIPO DE PERSONAL - STVFSTP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300373" y="241540"/>
            <a:ext cx="5891626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95" y="1012723"/>
            <a:ext cx="11273926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927600" y="150188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224042" y="235745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Numero 11"/>
          <p:cNvSpPr/>
          <p:nvPr/>
        </p:nvSpPr>
        <p:spPr>
          <a:xfrm>
            <a:off x="6482731" y="235745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Numero 12"/>
          <p:cNvSpPr/>
          <p:nvPr/>
        </p:nvSpPr>
        <p:spPr>
          <a:xfrm>
            <a:off x="10781267" y="557430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Marco 13"/>
          <p:cNvSpPr/>
          <p:nvPr/>
        </p:nvSpPr>
        <p:spPr>
          <a:xfrm>
            <a:off x="10679144" y="1467151"/>
            <a:ext cx="254007" cy="16334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4274629" y="2390783"/>
            <a:ext cx="2079602" cy="16334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o 15"/>
          <p:cNvSpPr/>
          <p:nvPr/>
        </p:nvSpPr>
        <p:spPr>
          <a:xfrm>
            <a:off x="474915" y="2390784"/>
            <a:ext cx="757260" cy="172301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Marco 16"/>
          <p:cNvSpPr/>
          <p:nvPr/>
        </p:nvSpPr>
        <p:spPr>
          <a:xfrm>
            <a:off x="11065944" y="5481090"/>
            <a:ext cx="733378" cy="28988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Globo 17"/>
          <p:cNvSpPr txBox="1"/>
          <p:nvPr/>
        </p:nvSpPr>
        <p:spPr>
          <a:xfrm>
            <a:off x="900000" y="3789363"/>
            <a:ext cx="10800000" cy="11787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los </a:t>
            </a:r>
            <a:r>
              <a:rPr lang="es-ES" sz="1100" b="1" dirty="0">
                <a:solidFill>
                  <a:srgbClr val="92D050"/>
                </a:solidFill>
              </a:rPr>
              <a:t>tipos de personal docente</a:t>
            </a:r>
            <a:r>
              <a:rPr lang="es-ES" sz="1100" dirty="0">
                <a:solidFill>
                  <a:srgbClr val="FFFFFF"/>
                </a:solidFill>
              </a:rPr>
              <a:t> que se eligen en SIAINST (ej. empleado, practicante).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Insertar (+)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Código</a:t>
            </a:r>
            <a:r>
              <a:rPr lang="es-ES" sz="1100" dirty="0">
                <a:solidFill>
                  <a:srgbClr val="FFFFFF"/>
                </a:solidFill>
              </a:rPr>
              <a:t>: 4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Ingrese la </a:t>
            </a:r>
            <a:r>
              <a:rPr lang="es-ES" sz="1100" b="1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FFFFFF"/>
                </a:solidFill>
              </a:rPr>
              <a:t>: hasta 30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27611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960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TIPO DE CONTRATO - STVFCNT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392118" y="241540"/>
            <a:ext cx="579988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36" y="1012723"/>
            <a:ext cx="11101444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440375" y="129694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331126" y="209185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Numero 11"/>
          <p:cNvSpPr/>
          <p:nvPr/>
        </p:nvSpPr>
        <p:spPr>
          <a:xfrm>
            <a:off x="3465161" y="207931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Numero 12"/>
          <p:cNvSpPr/>
          <p:nvPr/>
        </p:nvSpPr>
        <p:spPr>
          <a:xfrm>
            <a:off x="10904120" y="562330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Marco 13"/>
          <p:cNvSpPr/>
          <p:nvPr/>
        </p:nvSpPr>
        <p:spPr>
          <a:xfrm>
            <a:off x="10783125" y="1412057"/>
            <a:ext cx="235994" cy="15176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1365666" y="2147799"/>
            <a:ext cx="1932130" cy="15176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Marco 15"/>
          <p:cNvSpPr/>
          <p:nvPr/>
        </p:nvSpPr>
        <p:spPr>
          <a:xfrm>
            <a:off x="572364" y="2130971"/>
            <a:ext cx="703560" cy="16008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Marco 16"/>
          <p:cNvSpPr/>
          <p:nvPr/>
        </p:nvSpPr>
        <p:spPr>
          <a:xfrm>
            <a:off x="11224128" y="5629722"/>
            <a:ext cx="442056" cy="21300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Globo 17"/>
          <p:cNvSpPr txBox="1"/>
          <p:nvPr/>
        </p:nvSpPr>
        <p:spPr>
          <a:xfrm>
            <a:off x="900000" y="3911224"/>
            <a:ext cx="10800000" cy="11787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los </a:t>
            </a:r>
            <a:r>
              <a:rPr lang="es-ES" sz="1100" b="1" dirty="0">
                <a:solidFill>
                  <a:srgbClr val="92D050"/>
                </a:solidFill>
              </a:rPr>
              <a:t>tipos de contrato del docente</a:t>
            </a:r>
            <a:r>
              <a:rPr lang="es-ES" sz="1100" dirty="0">
                <a:solidFill>
                  <a:srgbClr val="FFFFFF"/>
                </a:solidFill>
              </a:rPr>
              <a:t> que se registran en SIAINST (ej. </a:t>
            </a:r>
            <a:r>
              <a:rPr lang="es-ES" sz="1100" b="1" dirty="0">
                <a:solidFill>
                  <a:srgbClr val="FFFFFF"/>
                </a:solidFill>
              </a:rPr>
              <a:t>FT</a:t>
            </a:r>
            <a:r>
              <a:rPr lang="es-ES" sz="1100" dirty="0">
                <a:solidFill>
                  <a:srgbClr val="FFFFFF"/>
                </a:solidFill>
              </a:rPr>
              <a:t> Full-Time Instructor).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Insertar (+)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Código</a:t>
            </a:r>
            <a:r>
              <a:rPr lang="es-ES" sz="1100" dirty="0">
                <a:solidFill>
                  <a:srgbClr val="FFFFFF"/>
                </a:solidFill>
              </a:rPr>
              <a:t>: 2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Ingrese la </a:t>
            </a:r>
            <a:r>
              <a:rPr lang="es-ES" sz="1100" b="1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FFFFFF"/>
                </a:solidFill>
              </a:rPr>
              <a:t>: hasta 30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39591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REGISTRO DEL DOCENTE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 docente debe existir como persona (SPAIDEN) y estar activo en SIAINST para el periodo del NRC.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943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39434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PREMISA - SPAIDEN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374799" y="241540"/>
            <a:ext cx="781720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65" y="1012723"/>
            <a:ext cx="10717787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803465" y="1652135"/>
            <a:ext cx="2435384" cy="30318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Globo 10"/>
          <p:cNvSpPr txBox="1"/>
          <p:nvPr/>
        </p:nvSpPr>
        <p:spPr>
          <a:xfrm>
            <a:off x="3559797" y="4592983"/>
            <a:ext cx="5587736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Antes de registrarlo como docente, la persona debe existir en Banner (</a:t>
            </a:r>
            <a:r>
              <a:rPr lang="es-ES" sz="1100" b="1" dirty="0">
                <a:solidFill>
                  <a:srgbClr val="92D050"/>
                </a:solidFill>
              </a:rPr>
              <a:t>SPAIDEN</a:t>
            </a:r>
            <a:r>
              <a:rPr lang="es-ES" sz="1100" dirty="0">
                <a:solidFill>
                  <a:srgbClr val="FFFFFF"/>
                </a:solidFill>
              </a:rPr>
              <a:t>).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El </a:t>
            </a:r>
            <a:r>
              <a:rPr lang="es-ES" sz="1100" b="1" dirty="0">
                <a:solidFill>
                  <a:srgbClr val="FFFFFF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resaltado es el que se usa luego en SIAINST, SSASECT y SIAASGN.</a:t>
            </a:r>
          </a:p>
        </p:txBody>
      </p:sp>
    </p:spTree>
    <p:extLst>
      <p:ext uri="{BB962C8B-B14F-4D97-AF65-F5344CB8AC3E}">
        <p14:creationId xmlns:p14="http://schemas.microsoft.com/office/powerpoint/2010/main" val="139256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558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INFORMACIÓN DEL DOCENTE - SIAINST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989829" y="241540"/>
            <a:ext cx="420217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83" y="1012723"/>
            <a:ext cx="10722151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546612" y="1634712"/>
            <a:ext cx="6386306" cy="29378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10696345" y="1683187"/>
            <a:ext cx="1051659" cy="30909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947990" y="166440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Numero 12"/>
          <p:cNvSpPr/>
          <p:nvPr/>
        </p:nvSpPr>
        <p:spPr>
          <a:xfrm>
            <a:off x="10092604" y="171078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Globo 13"/>
          <p:cNvSpPr txBox="1"/>
          <p:nvPr/>
        </p:nvSpPr>
        <p:spPr>
          <a:xfrm>
            <a:off x="1961534" y="2491780"/>
            <a:ext cx="5200000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del docente y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 desde el cual será vigente (ej. 202654, ver «1. Periodos académicos»).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Seleccione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696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558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INFORMACIÓN DEL DOCENTE - SIAINST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989829" y="241540"/>
            <a:ext cx="420217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70" y="1012723"/>
            <a:ext cx="10667176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107070" y="2121923"/>
            <a:ext cx="3160072" cy="125791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6162358" y="2743144"/>
            <a:ext cx="3428303" cy="107517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728034" y="238276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Marco 12"/>
          <p:cNvSpPr/>
          <p:nvPr/>
        </p:nvSpPr>
        <p:spPr>
          <a:xfrm>
            <a:off x="10813719" y="5469397"/>
            <a:ext cx="810061" cy="42026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1062355" y="5417304"/>
            <a:ext cx="630358" cy="42026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5720993" y="282756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Numero 15"/>
          <p:cNvSpPr/>
          <p:nvPr/>
        </p:nvSpPr>
        <p:spPr>
          <a:xfrm>
            <a:off x="11932330" y="548483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Numero 16"/>
          <p:cNvSpPr/>
          <p:nvPr/>
        </p:nvSpPr>
        <p:spPr>
          <a:xfrm>
            <a:off x="1899879" y="544893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7" name="Marco 17"/>
          <p:cNvSpPr/>
          <p:nvPr/>
        </p:nvSpPr>
        <p:spPr>
          <a:xfrm>
            <a:off x="1107071" y="3478511"/>
            <a:ext cx="3160072" cy="19159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Numero 18"/>
          <p:cNvSpPr/>
          <p:nvPr/>
        </p:nvSpPr>
        <p:spPr>
          <a:xfrm>
            <a:off x="728034" y="342407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Globo 19"/>
          <p:cNvSpPr txBox="1"/>
          <p:nvPr/>
        </p:nvSpPr>
        <p:spPr>
          <a:xfrm>
            <a:off x="900000" y="4080065"/>
            <a:ext cx="5636828" cy="130824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Estatus</a:t>
            </a:r>
            <a:r>
              <a:rPr lang="es-ES" sz="1100" dirty="0">
                <a:solidFill>
                  <a:srgbClr val="FFFFFF"/>
                </a:solidFill>
              </a:rPr>
              <a:t> (STVFCST) y marque </a:t>
            </a:r>
            <a:r>
              <a:rPr lang="es-ES" sz="1100" b="1" dirty="0">
                <a:solidFill>
                  <a:srgbClr val="FFFFFF"/>
                </a:solidFill>
              </a:rPr>
              <a:t>Docente</a:t>
            </a:r>
            <a:r>
              <a:rPr lang="es-ES" sz="1100" dirty="0">
                <a:solidFill>
                  <a:srgbClr val="FFFFFF"/>
                </a:solidFill>
              </a:rPr>
              <a:t> y/o </a:t>
            </a:r>
            <a:r>
              <a:rPr lang="es-ES" sz="1100" b="1" dirty="0">
                <a:solidFill>
                  <a:srgbClr val="FFFFFF"/>
                </a:solidFill>
              </a:rPr>
              <a:t>Asesor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FFFFFF"/>
                </a:solidFill>
              </a:rPr>
              <a:t>Sobrepasar seguridad de regla de proceso</a:t>
            </a:r>
            <a:r>
              <a:rPr lang="es-ES" sz="1100" dirty="0">
                <a:solidFill>
                  <a:srgbClr val="FFFFFF"/>
                </a:solidFill>
              </a:rPr>
              <a:t>: opcional; solo si también es asesor.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5. </a:t>
            </a:r>
            <a:r>
              <a:rPr lang="es-ES" sz="1100" dirty="0">
                <a:solidFill>
                  <a:srgbClr val="FFFFFF"/>
                </a:solidFill>
              </a:rPr>
              <a:t>Ingrese </a:t>
            </a:r>
            <a:r>
              <a:rPr lang="es-ES" sz="1100" b="1" dirty="0">
                <a:solidFill>
                  <a:srgbClr val="92D050"/>
                </a:solidFill>
              </a:rPr>
              <a:t>Categoría</a:t>
            </a:r>
            <a:r>
              <a:rPr lang="es-ES" sz="1100" dirty="0">
                <a:solidFill>
                  <a:srgbClr val="FFFFFF"/>
                </a:solidFill>
              </a:rPr>
              <a:t>, </a:t>
            </a:r>
            <a:r>
              <a:rPr lang="es-ES" sz="1100" b="1" dirty="0">
                <a:solidFill>
                  <a:srgbClr val="92D050"/>
                </a:solidFill>
              </a:rPr>
              <a:t>Tipo de personal</a:t>
            </a:r>
            <a:r>
              <a:rPr lang="es-ES" sz="1100" dirty="0">
                <a:solidFill>
                  <a:srgbClr val="FFFFFF"/>
                </a:solidFill>
              </a:rPr>
              <a:t> (STVFSTP) y </a:t>
            </a:r>
            <a:r>
              <a:rPr lang="es-ES" sz="1100" b="1" dirty="0">
                <a:solidFill>
                  <a:srgbClr val="92D050"/>
                </a:solidFill>
              </a:rPr>
              <a:t>Regla de carga de trabajo</a:t>
            </a:r>
            <a:r>
              <a:rPr lang="es-ES" sz="1100" dirty="0">
                <a:solidFill>
                  <a:srgbClr val="FFFFFF"/>
                </a:solidFill>
              </a:rPr>
              <a:t> (STVWKLD, ver carga de trabajo).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6.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  </a:t>
            </a:r>
            <a:r>
              <a:rPr lang="es-ES" sz="1100" b="1" dirty="0">
                <a:solidFill>
                  <a:srgbClr val="92D050"/>
                </a:solidFill>
              </a:rPr>
              <a:t>7. </a:t>
            </a:r>
            <a:r>
              <a:rPr lang="es-ES" sz="1100" dirty="0">
                <a:solidFill>
                  <a:srgbClr val="FFFFFF"/>
                </a:solidFill>
              </a:rPr>
              <a:t>Pase al </a:t>
            </a:r>
            <a:r>
              <a:rPr lang="es-ES" sz="1100" b="1" dirty="0">
                <a:solidFill>
                  <a:srgbClr val="FFFFFF"/>
                </a:solidFill>
              </a:rPr>
              <a:t>bloque siguiente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127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558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INFORMACIÓN DEL DOCENTE - SIAINST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989829" y="241540"/>
            <a:ext cx="420217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46" y="1012723"/>
            <a:ext cx="10709024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739700" y="2347776"/>
            <a:ext cx="9972011" cy="46548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400662" y="253049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1" name="Marco 11"/>
          <p:cNvSpPr/>
          <p:nvPr/>
        </p:nvSpPr>
        <p:spPr>
          <a:xfrm>
            <a:off x="1103863" y="5448595"/>
            <a:ext cx="619468" cy="41300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Numero 12"/>
          <p:cNvSpPr/>
          <p:nvPr/>
        </p:nvSpPr>
        <p:spPr>
          <a:xfrm>
            <a:off x="1810986" y="5544698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" name="Marco 13"/>
          <p:cNvSpPr/>
          <p:nvPr/>
        </p:nvSpPr>
        <p:spPr>
          <a:xfrm>
            <a:off x="807846" y="3319550"/>
            <a:ext cx="10709024" cy="55189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455191" y="343729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5" name="Marco 15"/>
          <p:cNvSpPr/>
          <p:nvPr/>
        </p:nvSpPr>
        <p:spPr>
          <a:xfrm>
            <a:off x="10899685" y="5439156"/>
            <a:ext cx="889801" cy="41300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Numero 16"/>
          <p:cNvSpPr/>
          <p:nvPr/>
        </p:nvSpPr>
        <p:spPr>
          <a:xfrm>
            <a:off x="10477068" y="5540096"/>
            <a:ext cx="30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7" name="Globo 17"/>
          <p:cNvSpPr txBox="1"/>
          <p:nvPr/>
        </p:nvSpPr>
        <p:spPr>
          <a:xfrm>
            <a:off x="1660723" y="4074581"/>
            <a:ext cx="5200000" cy="127014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8. </a:t>
            </a:r>
            <a:r>
              <a:rPr lang="es-ES" sz="1100" dirty="0">
                <a:solidFill>
                  <a:srgbClr val="FFFFFF"/>
                </a:solidFill>
              </a:rPr>
              <a:t>Registre el </a:t>
            </a:r>
            <a:r>
              <a:rPr lang="es-ES" sz="1100" b="1" dirty="0">
                <a:solidFill>
                  <a:srgbClr val="92D050"/>
                </a:solidFill>
              </a:rPr>
              <a:t>Contrato</a:t>
            </a:r>
            <a:r>
              <a:rPr lang="es-ES" sz="1100" dirty="0">
                <a:solidFill>
                  <a:srgbClr val="FFFFFF"/>
                </a:solidFill>
              </a:rPr>
              <a:t> (STVFCNT) y su regla. Deje al menos un registro con </a:t>
            </a:r>
            <a:r>
              <a:rPr lang="es-ES" sz="1100" b="1" dirty="0">
                <a:solidFill>
                  <a:srgbClr val="FFFFFF"/>
                </a:solidFill>
              </a:rPr>
              <a:t>Indicador de predefinido</a:t>
            </a:r>
            <a:r>
              <a:rPr lang="es-ES" sz="1100" dirty="0">
                <a:solidFill>
                  <a:srgbClr val="FFFFFF"/>
                </a:solidFill>
              </a:rPr>
              <a:t> activo.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9. </a:t>
            </a:r>
            <a:r>
              <a:rPr lang="es-ES" sz="1100" dirty="0">
                <a:solidFill>
                  <a:srgbClr val="FFFFFF"/>
                </a:solidFill>
              </a:rPr>
              <a:t>Registre la </a:t>
            </a:r>
            <a:r>
              <a:rPr lang="es-ES" sz="1100" b="1" dirty="0">
                <a:solidFill>
                  <a:srgbClr val="92D050"/>
                </a:solidFill>
              </a:rPr>
              <a:t>Escuela y departamento</a:t>
            </a:r>
            <a:r>
              <a:rPr lang="es-ES" sz="1100" dirty="0">
                <a:solidFill>
                  <a:srgbClr val="FFFFFF"/>
                </a:solidFill>
              </a:rPr>
              <a:t> a los que pertenece el docente.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10 y 11.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y pase al bloque siguiente (atributos y comentarios, opcional).</a:t>
            </a:r>
          </a:p>
        </p:txBody>
      </p:sp>
    </p:spTree>
    <p:extLst>
      <p:ext uri="{BB962C8B-B14F-4D97-AF65-F5344CB8AC3E}">
        <p14:creationId xmlns:p14="http://schemas.microsoft.com/office/powerpoint/2010/main" val="342377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8064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MANTENIMIENTO POR PERIODO - SIAINST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496203" y="241540"/>
            <a:ext cx="3695796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07" y="1012723"/>
            <a:ext cx="10654903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4778774" y="216206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Globo 10"/>
          <p:cNvSpPr txBox="1"/>
          <p:nvPr/>
        </p:nvSpPr>
        <p:spPr>
          <a:xfrm>
            <a:off x="4300000" y="3700000"/>
            <a:ext cx="6900000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Para cambiar datos del docente a partir de un </a:t>
            </a:r>
            <a:r>
              <a:rPr lang="es-ES" sz="1100" b="1" dirty="0">
                <a:solidFill>
                  <a:srgbClr val="92D050"/>
                </a:solidFill>
              </a:rPr>
              <a:t>nuevo periodo</a:t>
            </a:r>
            <a:r>
              <a:rPr lang="es-ES" sz="1100" dirty="0">
                <a:solidFill>
                  <a:srgbClr val="FFFFFF"/>
                </a:solidFill>
              </a:rPr>
              <a:t>: búsquelo con su ID y ese periodo, presione </a:t>
            </a:r>
            <a:r>
              <a:rPr lang="es-ES" sz="1100" b="1" dirty="0">
                <a:solidFill>
                  <a:srgbClr val="92D050"/>
                </a:solidFill>
              </a:rPr>
              <a:t>1. Mantenimiento</a:t>
            </a:r>
            <a:r>
              <a:rPr lang="es-ES" sz="1100" dirty="0">
                <a:solidFill>
                  <a:srgbClr val="FFFFFF"/>
                </a:solidFill>
              </a:rPr>
              <a:t>, actualice la información y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El cambio rige desde ese periodo; los periodos anteriores conservan sus datos.</a:t>
            </a:r>
          </a:p>
        </p:txBody>
      </p:sp>
    </p:spTree>
    <p:extLst>
      <p:ext uri="{BB962C8B-B14F-4D97-AF65-F5344CB8AC3E}">
        <p14:creationId xmlns:p14="http://schemas.microsoft.com/office/powerpoint/2010/main" val="355303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ASIGNACIÓN AL NRC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 hace en SSASECT (pestaña Instructor y horas de reunión) cuando el NRC ya tiene horario y el docente está activo en SIAINST.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996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63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ASIGNAR DOCENTE - SSASECT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94328" y="241540"/>
            <a:ext cx="589767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66" y="1012723"/>
            <a:ext cx="10541184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2863571" y="1420421"/>
            <a:ext cx="1139634" cy="15642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10368556" y="1929730"/>
            <a:ext cx="1064394" cy="38416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Globo 11"/>
          <p:cNvSpPr txBox="1"/>
          <p:nvPr/>
        </p:nvSpPr>
        <p:spPr>
          <a:xfrm>
            <a:off x="1847464" y="3184429"/>
            <a:ext cx="8227821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SSASECT, pestaña </a:t>
            </a:r>
            <a:r>
              <a:rPr lang="es-ES" sz="1100" b="1" dirty="0">
                <a:solidFill>
                  <a:srgbClr val="92D050"/>
                </a:solidFill>
              </a:rPr>
              <a:t>Instructor y horas de reunión</a:t>
            </a:r>
            <a:r>
              <a:rPr lang="es-ES" sz="1100" dirty="0">
                <a:solidFill>
                  <a:srgbClr val="FFFFFF"/>
                </a:solidFill>
              </a:rPr>
              <a:t> (ver «2. Programación de asignaturas»), cada horario tiene un </a:t>
            </a:r>
            <a:r>
              <a:rPr lang="es-ES" sz="1100" b="1" dirty="0">
                <a:solidFill>
                  <a:srgbClr val="92D050"/>
                </a:solidFill>
              </a:rPr>
              <a:t>Indicador de sesión</a:t>
            </a:r>
            <a:r>
              <a:rPr lang="es-ES" sz="1100" dirty="0">
                <a:solidFill>
                  <a:srgbClr val="FFFFFF"/>
                </a:solidFill>
              </a:rPr>
              <a:t> (01 por defecto).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Si el NRC tiene más de un docente, use </a:t>
            </a:r>
            <a:r>
              <a:rPr lang="es-ES" sz="1100" b="1" dirty="0">
                <a:solidFill>
                  <a:srgbClr val="FFFFFF"/>
                </a:solidFill>
              </a:rPr>
              <a:t>02, 03…</a:t>
            </a:r>
            <a:r>
              <a:rPr lang="es-ES" sz="1100" dirty="0">
                <a:solidFill>
                  <a:srgbClr val="FFFFFF"/>
                </a:solidFill>
              </a:rPr>
              <a:t> en la sesión de cada uno.</a:t>
            </a:r>
          </a:p>
        </p:txBody>
      </p:sp>
    </p:spTree>
    <p:extLst>
      <p:ext uri="{BB962C8B-B14F-4D97-AF65-F5344CB8AC3E}">
        <p14:creationId xmlns:p14="http://schemas.microsoft.com/office/powerpoint/2010/main" val="103421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63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ASIGNAR DOCENTE - SSASECT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94328" y="241540"/>
            <a:ext cx="589767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16" y="1012723"/>
            <a:ext cx="10556685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2858720" y="1421020"/>
            <a:ext cx="1141310" cy="15665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2072970" y="2675270"/>
            <a:ext cx="676187" cy="9706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1759624" y="2575438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Globo 12"/>
          <p:cNvSpPr txBox="1"/>
          <p:nvPr/>
        </p:nvSpPr>
        <p:spPr>
          <a:xfrm>
            <a:off x="1841119" y="3187622"/>
            <a:ext cx="8239921" cy="52338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En el bloque </a:t>
            </a:r>
            <a:r>
              <a:rPr lang="es-ES" sz="1100" b="1" dirty="0">
                <a:solidFill>
                  <a:srgbClr val="92D050"/>
                </a:solidFill>
              </a:rPr>
              <a:t>Instructor</a:t>
            </a:r>
            <a:r>
              <a:rPr lang="es-ES" sz="1100" dirty="0">
                <a:solidFill>
                  <a:srgbClr val="FFFFFF"/>
                </a:solidFill>
              </a:rPr>
              <a:t>, en la sesión que corresponda, ingrese el </a:t>
            </a:r>
            <a:r>
              <a:rPr lang="es-ES" sz="1100" b="1" dirty="0">
                <a:solidFill>
                  <a:srgbClr val="FFFFFF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del docente si lo conoce, o búsquelo con </a:t>
            </a:r>
            <a:r>
              <a:rPr lang="es-ES" sz="1100" b="1" dirty="0">
                <a:solidFill>
                  <a:srgbClr val="92D050"/>
                </a:solidFill>
              </a:rPr>
              <a:t>Consultar docentes disponibles (SIAFAVL)</a:t>
            </a:r>
            <a:r>
              <a:rPr lang="es-ES" sz="1100" dirty="0">
                <a:solidFill>
                  <a:srgbClr val="FFFFFF"/>
                </a:solidFill>
              </a:rPr>
              <a:t> desde el Menú relacionado.</a:t>
            </a:r>
          </a:p>
        </p:txBody>
      </p:sp>
    </p:spTree>
    <p:extLst>
      <p:ext uri="{BB962C8B-B14F-4D97-AF65-F5344CB8AC3E}">
        <p14:creationId xmlns:p14="http://schemas.microsoft.com/office/powerpoint/2010/main" val="24230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834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DOCENTES DISPONIBLES - SIAFAVL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266183" y="241540"/>
            <a:ext cx="4925816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61" y="1012723"/>
            <a:ext cx="10545683" cy="4830000"/>
          </a:xfrm>
          <a:prstGeom prst="rect">
            <a:avLst/>
          </a:prstGeom>
        </p:spPr>
      </p:pic>
      <p:pic>
        <p:nvPicPr>
          <p:cNvPr id="9" name="Imagen extra 1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73" y="2918645"/>
            <a:ext cx="9160925" cy="1314165"/>
          </a:xfrm>
          <a:prstGeom prst="rect">
            <a:avLst/>
          </a:prstGeom>
        </p:spPr>
      </p:pic>
      <p:sp>
        <p:nvSpPr>
          <p:cNvPr id="10" name="Marco 10"/>
          <p:cNvSpPr/>
          <p:nvPr/>
        </p:nvSpPr>
        <p:spPr>
          <a:xfrm>
            <a:off x="2862036" y="3906652"/>
            <a:ext cx="1114364" cy="15296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11233484" y="161271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Numero 12"/>
          <p:cNvSpPr/>
          <p:nvPr/>
        </p:nvSpPr>
        <p:spPr>
          <a:xfrm>
            <a:off x="9478685" y="301327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3" name="Marco 13"/>
          <p:cNvSpPr/>
          <p:nvPr/>
        </p:nvSpPr>
        <p:spPr>
          <a:xfrm>
            <a:off x="9751633" y="3128276"/>
            <a:ext cx="233421" cy="159918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Globo 14"/>
          <p:cNvSpPr txBox="1"/>
          <p:nvPr/>
        </p:nvSpPr>
        <p:spPr>
          <a:xfrm>
            <a:off x="1529693" y="1316291"/>
            <a:ext cx="8045378" cy="56148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a. </a:t>
            </a:r>
            <a:r>
              <a:rPr lang="es-ES" sz="1100" dirty="0">
                <a:solidFill>
                  <a:srgbClr val="FFFFFF"/>
                </a:solidFill>
              </a:rPr>
              <a:t>Menú relacionado › </a:t>
            </a:r>
            <a:r>
              <a:rPr lang="es-ES" sz="1100" b="1" dirty="0">
                <a:solidFill>
                  <a:srgbClr val="92D050"/>
                </a:solidFill>
              </a:rPr>
              <a:t>Consultar docentes disponibles (SIAFAVL)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b. </a:t>
            </a:r>
            <a:r>
              <a:rPr lang="es-ES" sz="1100" dirty="0">
                <a:solidFill>
                  <a:srgbClr val="FFFFFF"/>
                </a:solidFill>
              </a:rPr>
              <a:t>Se abre con el </a:t>
            </a:r>
            <a:r>
              <a:rPr lang="es-ES" sz="1100" b="1" dirty="0">
                <a:solidFill>
                  <a:srgbClr val="FFFFFF"/>
                </a:solidFill>
              </a:rPr>
              <a:t>periodo y NRC</a:t>
            </a:r>
            <a:r>
              <a:rPr lang="es-ES" sz="1100" dirty="0">
                <a:solidFill>
                  <a:srgbClr val="FFFFFF"/>
                </a:solidFill>
              </a:rPr>
              <a:t> de SSASECT; presione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 Opcional: filtrar por atributos del docente.</a:t>
            </a:r>
          </a:p>
        </p:txBody>
      </p:sp>
    </p:spTree>
    <p:extLst>
      <p:ext uri="{BB962C8B-B14F-4D97-AF65-F5344CB8AC3E}">
        <p14:creationId xmlns:p14="http://schemas.microsoft.com/office/powerpoint/2010/main" val="304327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834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DOCENTES DISPONIBLES - SIAFAVL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266183" y="241540"/>
            <a:ext cx="4925816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67" y="1012723"/>
            <a:ext cx="10551183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886767" y="1997466"/>
            <a:ext cx="10551182" cy="236202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10500866" y="5585044"/>
            <a:ext cx="539441" cy="18263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783026" y="3234925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" name="Numero 12"/>
          <p:cNvSpPr/>
          <p:nvPr/>
        </p:nvSpPr>
        <p:spPr>
          <a:xfrm>
            <a:off x="10251078" y="5483562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3" name="Globo 13"/>
          <p:cNvSpPr txBox="1"/>
          <p:nvPr/>
        </p:nvSpPr>
        <p:spPr>
          <a:xfrm>
            <a:off x="1859487" y="4359491"/>
            <a:ext cx="7845052" cy="56148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c. </a:t>
            </a:r>
            <a:r>
              <a:rPr lang="es-ES" sz="1100" dirty="0">
                <a:solidFill>
                  <a:srgbClr val="FFFFFF"/>
                </a:solidFill>
              </a:rPr>
              <a:t>Se muestra la lista de docentes disponibles; haga clic en el que desea asignar.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d.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Seleccionar</a:t>
            </a:r>
            <a:r>
              <a:rPr lang="es-ES" sz="1100" dirty="0">
                <a:solidFill>
                  <a:srgbClr val="FFFFFF"/>
                </a:solidFill>
              </a:rPr>
              <a:t>: el docente queda asignado al NRC.</a:t>
            </a:r>
          </a:p>
        </p:txBody>
      </p:sp>
    </p:spTree>
    <p:extLst>
      <p:ext uri="{BB962C8B-B14F-4D97-AF65-F5344CB8AC3E}">
        <p14:creationId xmlns:p14="http://schemas.microsoft.com/office/powerpoint/2010/main" val="245222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863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ASIGNAR DOCENTE - SSASECT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294328" y="241540"/>
            <a:ext cx="589767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78" y="1012723"/>
            <a:ext cx="10569760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5854254" y="2542503"/>
            <a:ext cx="1619259" cy="293848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6333253" y="234210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Marco 11"/>
          <p:cNvSpPr/>
          <p:nvPr/>
        </p:nvSpPr>
        <p:spPr>
          <a:xfrm>
            <a:off x="7473514" y="2544358"/>
            <a:ext cx="1155362" cy="29199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o 12"/>
          <p:cNvSpPr/>
          <p:nvPr/>
        </p:nvSpPr>
        <p:spPr>
          <a:xfrm>
            <a:off x="8641166" y="2542503"/>
            <a:ext cx="1160577" cy="29839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9801744" y="2542502"/>
            <a:ext cx="1619259" cy="29839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Numero 14"/>
          <p:cNvSpPr/>
          <p:nvPr/>
        </p:nvSpPr>
        <p:spPr>
          <a:xfrm>
            <a:off x="7936195" y="234209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Numero 15"/>
          <p:cNvSpPr/>
          <p:nvPr/>
        </p:nvSpPr>
        <p:spPr>
          <a:xfrm>
            <a:off x="9106455" y="234899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Numero 16"/>
          <p:cNvSpPr/>
          <p:nvPr/>
        </p:nvSpPr>
        <p:spPr>
          <a:xfrm>
            <a:off x="10444440" y="234899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Marco 17"/>
          <p:cNvSpPr/>
          <p:nvPr/>
        </p:nvSpPr>
        <p:spPr>
          <a:xfrm>
            <a:off x="11044634" y="5597687"/>
            <a:ext cx="411357" cy="157009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Numero 18"/>
          <p:cNvSpPr/>
          <p:nvPr/>
        </p:nvSpPr>
        <p:spPr>
          <a:xfrm>
            <a:off x="10793619" y="5423875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Globo 19"/>
          <p:cNvSpPr txBox="1"/>
          <p:nvPr/>
        </p:nvSpPr>
        <p:spPr>
          <a:xfrm>
            <a:off x="1972836" y="3202480"/>
            <a:ext cx="7899031" cy="134634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92D050"/>
                </a:solidFill>
              </a:rPr>
              <a:t>% de responsabilidad</a:t>
            </a:r>
            <a:r>
              <a:rPr lang="es-ES" sz="1100" dirty="0">
                <a:solidFill>
                  <a:srgbClr val="FFFFFF"/>
                </a:solidFill>
              </a:rPr>
              <a:t>: si hay más de un docente, reparta la carga del NRC.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b="1" dirty="0">
                <a:solidFill>
                  <a:srgbClr val="92D050"/>
                </a:solidFill>
              </a:rPr>
              <a:t>Indicador de principal</a:t>
            </a:r>
            <a:r>
              <a:rPr lang="es-ES" sz="1100" dirty="0">
                <a:solidFill>
                  <a:srgbClr val="FFFFFF"/>
                </a:solidFill>
              </a:rPr>
              <a:t>: solo para un docente del NRC.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92D050"/>
                </a:solidFill>
              </a:rPr>
              <a:t>Indicador de sobrepaso</a:t>
            </a:r>
            <a:r>
              <a:rPr lang="es-ES" sz="1100" dirty="0">
                <a:solidFill>
                  <a:srgbClr val="FFFFFF"/>
                </a:solidFill>
              </a:rPr>
              <a:t>: márquelo solo si el docente tiene cruce de horario y aun así debe quedar asignado.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5. </a:t>
            </a:r>
            <a:r>
              <a:rPr lang="es-ES" sz="1100" b="1" dirty="0">
                <a:solidFill>
                  <a:srgbClr val="92D050"/>
                </a:solidFill>
              </a:rPr>
              <a:t>% de sesión</a:t>
            </a:r>
            <a:r>
              <a:rPr lang="es-ES" sz="1100" dirty="0">
                <a:solidFill>
                  <a:srgbClr val="FFFFFF"/>
                </a:solidFill>
              </a:rPr>
              <a:t>: tiempo de la sesión que dicta el docente.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6.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50162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CARGA DE TRABAJO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Ellucian calcula la carga del docente con los NRC asignados y la compara con una regla. Reemplaza el control en Excel.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991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262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CARGA DEL PERIODO - SIATERM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694022" y="241540"/>
            <a:ext cx="5497977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03" y="1012723"/>
            <a:ext cx="11254311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1037523" y="5536411"/>
            <a:ext cx="829744" cy="306311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Marco 10"/>
          <p:cNvSpPr/>
          <p:nvPr/>
        </p:nvSpPr>
        <p:spPr>
          <a:xfrm>
            <a:off x="1069888" y="1955539"/>
            <a:ext cx="2257245" cy="29282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Numero 11"/>
          <p:cNvSpPr/>
          <p:nvPr/>
        </p:nvSpPr>
        <p:spPr>
          <a:xfrm>
            <a:off x="625377" y="196383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Marco 12"/>
          <p:cNvSpPr/>
          <p:nvPr/>
        </p:nvSpPr>
        <p:spPr>
          <a:xfrm>
            <a:off x="6281197" y="1888338"/>
            <a:ext cx="2680365" cy="36002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Numero 13"/>
          <p:cNvSpPr/>
          <p:nvPr/>
        </p:nvSpPr>
        <p:spPr>
          <a:xfrm>
            <a:off x="5948180" y="1953351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Numero 14"/>
          <p:cNvSpPr/>
          <p:nvPr/>
        </p:nvSpPr>
        <p:spPr>
          <a:xfrm>
            <a:off x="10529606" y="559771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Globo 15"/>
          <p:cNvSpPr txBox="1"/>
          <p:nvPr/>
        </p:nvSpPr>
        <p:spPr>
          <a:xfrm>
            <a:off x="900000" y="2663915"/>
            <a:ext cx="5200000" cy="130824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 y presione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b="1" dirty="0">
                <a:solidFill>
                  <a:srgbClr val="92D050"/>
                </a:solidFill>
              </a:rPr>
              <a:t>Factor FTE</a:t>
            </a:r>
            <a:r>
              <a:rPr lang="es-ES" sz="1100" dirty="0">
                <a:solidFill>
                  <a:srgbClr val="FFFFFF"/>
                </a:solidFill>
              </a:rPr>
              <a:t>: horas que equivalen a una jornada completa (ej. 50 horas = 1 FTE).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b="1" dirty="0">
                <a:solidFill>
                  <a:srgbClr val="92D050"/>
                </a:solidFill>
              </a:rPr>
              <a:t>Factor de duración</a:t>
            </a:r>
            <a:r>
              <a:rPr lang="es-ES" sz="1100" dirty="0">
                <a:solidFill>
                  <a:srgbClr val="FFFFFF"/>
                </a:solidFill>
              </a:rPr>
              <a:t>: minutos de la hora académica (ej. 50).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. Si se dejan en blanco, SIAASGN no calcula la carga por FTE.</a:t>
            </a:r>
          </a:p>
        </p:txBody>
      </p:sp>
    </p:spTree>
    <p:extLst>
      <p:ext uri="{BB962C8B-B14F-4D97-AF65-F5344CB8AC3E}">
        <p14:creationId xmlns:p14="http://schemas.microsoft.com/office/powerpoint/2010/main" val="312770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8255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CÓDIGOS DE REGLA DE CARGA - STVWKLD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687160" y="241540"/>
            <a:ext cx="350483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47" y="1012723"/>
            <a:ext cx="10772023" cy="4830000"/>
          </a:xfrm>
          <a:prstGeom prst="rect">
            <a:avLst/>
          </a:prstGeom>
        </p:spPr>
      </p:pic>
      <p:sp>
        <p:nvSpPr>
          <p:cNvPr id="9" name="Numero 9"/>
          <p:cNvSpPr/>
          <p:nvPr/>
        </p:nvSpPr>
        <p:spPr>
          <a:xfrm>
            <a:off x="10339847" y="1585603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Numero 10"/>
          <p:cNvSpPr/>
          <p:nvPr/>
        </p:nvSpPr>
        <p:spPr>
          <a:xfrm>
            <a:off x="496592" y="2369846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Numero 11"/>
          <p:cNvSpPr/>
          <p:nvPr/>
        </p:nvSpPr>
        <p:spPr>
          <a:xfrm>
            <a:off x="5585244" y="235675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Marco 12"/>
          <p:cNvSpPr/>
          <p:nvPr/>
        </p:nvSpPr>
        <p:spPr>
          <a:xfrm>
            <a:off x="10692501" y="1700717"/>
            <a:ext cx="246257" cy="158362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Marco 13"/>
          <p:cNvSpPr/>
          <p:nvPr/>
        </p:nvSpPr>
        <p:spPr>
          <a:xfrm>
            <a:off x="3389447" y="2423225"/>
            <a:ext cx="2016153" cy="158363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o 14"/>
          <p:cNvSpPr/>
          <p:nvPr/>
        </p:nvSpPr>
        <p:spPr>
          <a:xfrm>
            <a:off x="743319" y="2405664"/>
            <a:ext cx="734156" cy="167044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Globo 15"/>
          <p:cNvSpPr txBox="1"/>
          <p:nvPr/>
        </p:nvSpPr>
        <p:spPr>
          <a:xfrm>
            <a:off x="900000" y="4308565"/>
            <a:ext cx="10800000" cy="117870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Define los </a:t>
            </a:r>
            <a:r>
              <a:rPr lang="es-ES" sz="1100" b="1" dirty="0">
                <a:solidFill>
                  <a:srgbClr val="92D050"/>
                </a:solidFill>
              </a:rPr>
              <a:t>códigos de regla de carga</a:t>
            </a:r>
            <a:r>
              <a:rPr lang="es-ES" sz="1100" dirty="0">
                <a:solidFill>
                  <a:srgbClr val="FFFFFF"/>
                </a:solidFill>
              </a:rPr>
              <a:t> que se asignan al docente en SIAINST (ej. </a:t>
            </a:r>
            <a:r>
              <a:rPr lang="es-ES" sz="1100" b="1" dirty="0">
                <a:solidFill>
                  <a:srgbClr val="FFFFFF"/>
                </a:solidFill>
              </a:rPr>
              <a:t>AP090</a:t>
            </a:r>
            <a:r>
              <a:rPr lang="es-ES" sz="1100" dirty="0">
                <a:solidFill>
                  <a:srgbClr val="FFFFFF"/>
                </a:solidFill>
              </a:rPr>
              <a:t> = 90 horas académicas).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Presione </a:t>
            </a:r>
            <a:r>
              <a:rPr lang="es-ES" sz="1100" b="1" dirty="0">
                <a:solidFill>
                  <a:srgbClr val="92D050"/>
                </a:solidFill>
              </a:rPr>
              <a:t>Insertar (+)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Código</a:t>
            </a:r>
            <a:r>
              <a:rPr lang="es-ES" sz="1100" dirty="0">
                <a:solidFill>
                  <a:srgbClr val="FFFFFF"/>
                </a:solidFill>
              </a:rPr>
              <a:t>: 6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Ingrese la </a:t>
            </a:r>
            <a:r>
              <a:rPr lang="es-ES" sz="1100" b="1" dirty="0">
                <a:solidFill>
                  <a:srgbClr val="92D050"/>
                </a:solidFill>
              </a:rPr>
              <a:t>Descripción</a:t>
            </a:r>
            <a:r>
              <a:rPr lang="es-ES" sz="1100" dirty="0">
                <a:solidFill>
                  <a:srgbClr val="FFFFFF"/>
                </a:solidFill>
              </a:rPr>
              <a:t>: hasta 30 caracteres. (Requerido)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4.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05598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416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REGLA DE CARGA - SIAFLRT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5847339" y="241540"/>
            <a:ext cx="634466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86" y="1012723"/>
            <a:ext cx="11242544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6143416" y="2040076"/>
            <a:ext cx="2951419" cy="409640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5519639" y="1880127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Marco 11"/>
          <p:cNvSpPr/>
          <p:nvPr/>
        </p:nvSpPr>
        <p:spPr>
          <a:xfrm>
            <a:off x="1678931" y="2040077"/>
            <a:ext cx="707008" cy="286651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Numero 12"/>
          <p:cNvSpPr/>
          <p:nvPr/>
        </p:nvSpPr>
        <p:spPr>
          <a:xfrm>
            <a:off x="1179988" y="206976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Globo 13"/>
          <p:cNvSpPr txBox="1"/>
          <p:nvPr/>
        </p:nvSpPr>
        <p:spPr>
          <a:xfrm>
            <a:off x="6150461" y="4571308"/>
            <a:ext cx="5200000" cy="9348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 y presione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dirty="0">
                <a:solidFill>
                  <a:srgbClr val="FFFFFF"/>
                </a:solidFill>
              </a:rPr>
              <a:t>Verifique que la regla esté </a:t>
            </a:r>
            <a:r>
              <a:rPr lang="es-ES" sz="1100" b="1" dirty="0">
                <a:solidFill>
                  <a:srgbClr val="92D050"/>
                </a:solidFill>
              </a:rPr>
              <a:t>Activa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Elija el </a:t>
            </a:r>
            <a:r>
              <a:rPr lang="es-ES" sz="1100" b="1" dirty="0">
                <a:solidFill>
                  <a:srgbClr val="92D050"/>
                </a:solidFill>
              </a:rPr>
              <a:t>Código de regla de carga de trabajo</a:t>
            </a:r>
            <a:r>
              <a:rPr lang="es-ES" sz="1100" dirty="0">
                <a:solidFill>
                  <a:srgbClr val="FFFFFF"/>
                </a:solidFill>
              </a:rPr>
              <a:t> (STVWKLD) que va a configurar.</a:t>
            </a:r>
          </a:p>
        </p:txBody>
      </p:sp>
    </p:spTree>
    <p:extLst>
      <p:ext uri="{BB962C8B-B14F-4D97-AF65-F5344CB8AC3E}">
        <p14:creationId xmlns:p14="http://schemas.microsoft.com/office/powerpoint/2010/main" val="275573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416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REGLA DE CARGA - SIAFLRT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5847339" y="241540"/>
            <a:ext cx="634466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86" y="1012723"/>
            <a:ext cx="11242544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783725" y="2297149"/>
            <a:ext cx="4135226" cy="218150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1754667" y="1948030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Globo 11"/>
          <p:cNvSpPr txBox="1"/>
          <p:nvPr/>
        </p:nvSpPr>
        <p:spPr>
          <a:xfrm>
            <a:off x="6500000" y="2107994"/>
            <a:ext cx="5200000" cy="127014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3. </a:t>
            </a:r>
            <a:r>
              <a:rPr lang="es-ES" sz="1100" dirty="0">
                <a:solidFill>
                  <a:srgbClr val="FFFFFF"/>
                </a:solidFill>
              </a:rPr>
              <a:t>Registre el rango </a:t>
            </a:r>
            <a:r>
              <a:rPr lang="es-ES" sz="1100" b="1" dirty="0">
                <a:solidFill>
                  <a:srgbClr val="92D050"/>
                </a:solidFill>
              </a:rPr>
              <a:t>Inferior – Superior</a:t>
            </a:r>
            <a:r>
              <a:rPr lang="es-ES" sz="1100" dirty="0">
                <a:solidFill>
                  <a:srgbClr val="FFFFFF"/>
                </a:solidFill>
              </a:rPr>
              <a:t> que debe cumplir el docente en: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FFFFFF"/>
                </a:solidFill>
              </a:rPr>
              <a:t>Horas crédito</a:t>
            </a:r>
            <a:r>
              <a:rPr lang="es-ES" sz="1100" dirty="0">
                <a:solidFill>
                  <a:srgbClr val="FFFFFF"/>
                </a:solidFill>
              </a:rPr>
              <a:t> (totales y generadas) · </a:t>
            </a:r>
            <a:r>
              <a:rPr lang="es-ES" sz="1100" b="1" dirty="0">
                <a:solidFill>
                  <a:srgbClr val="FFFFFF"/>
                </a:solidFill>
              </a:rPr>
              <a:t>Horas de contacto</a:t>
            </a:r>
            <a:r>
              <a:rPr lang="es-ES" sz="1100" dirty="0">
                <a:solidFill>
                  <a:srgbClr val="FFFFFF"/>
                </a:solidFill>
              </a:rPr>
              <a:t> (semanales y totales) · </a:t>
            </a:r>
            <a:r>
              <a:rPr lang="es-ES" sz="1100" b="1" dirty="0">
                <a:solidFill>
                  <a:srgbClr val="FFFFFF"/>
                </a:solidFill>
              </a:rPr>
              <a:t>Carga de trabajo</a:t>
            </a:r>
            <a:r>
              <a:rPr lang="es-ES" sz="1100" dirty="0">
                <a:solidFill>
                  <a:srgbClr val="FFFFFF"/>
                </a:solidFill>
              </a:rPr>
              <a:t> (educativa, no educativa y total) · </a:t>
            </a:r>
            <a:r>
              <a:rPr lang="es-ES" sz="1100" b="1" dirty="0">
                <a:solidFill>
                  <a:srgbClr val="FFFFFF"/>
                </a:solidFill>
              </a:rPr>
              <a:t>Rango FTE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49993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353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CARGA DEL DOCENTE - SIAASGN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84345" y="241540"/>
            <a:ext cx="540765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" y="1012723"/>
            <a:ext cx="11224896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10996270" y="5433225"/>
            <a:ext cx="778536" cy="300306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Numero 10"/>
          <p:cNvSpPr/>
          <p:nvPr/>
        </p:nvSpPr>
        <p:spPr>
          <a:xfrm>
            <a:off x="10606049" y="5507899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Marco 11"/>
          <p:cNvSpPr/>
          <p:nvPr/>
        </p:nvSpPr>
        <p:spPr>
          <a:xfrm>
            <a:off x="549910" y="1958600"/>
            <a:ext cx="10796208" cy="2561452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o 12"/>
          <p:cNvSpPr/>
          <p:nvPr/>
        </p:nvSpPr>
        <p:spPr>
          <a:xfrm>
            <a:off x="1015726" y="5403247"/>
            <a:ext cx="422483" cy="370165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Numero 13"/>
          <p:cNvSpPr/>
          <p:nvPr/>
        </p:nvSpPr>
        <p:spPr>
          <a:xfrm>
            <a:off x="722233" y="5576684"/>
            <a:ext cx="230000" cy="23000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Globo 14"/>
          <p:cNvSpPr txBox="1"/>
          <p:nvPr/>
        </p:nvSpPr>
        <p:spPr>
          <a:xfrm>
            <a:off x="1904026" y="4653340"/>
            <a:ext cx="7339788" cy="93486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Ingrese el </a:t>
            </a:r>
            <a:r>
              <a:rPr lang="es-ES" sz="1100" b="1" dirty="0">
                <a:solidFill>
                  <a:srgbClr val="92D050"/>
                </a:solidFill>
              </a:rPr>
              <a:t>ID</a:t>
            </a:r>
            <a:r>
              <a:rPr lang="es-ES" sz="1100" dirty="0">
                <a:solidFill>
                  <a:srgbClr val="FFFFFF"/>
                </a:solidFill>
              </a:rPr>
              <a:t> del docente y el </a:t>
            </a:r>
            <a:r>
              <a:rPr lang="es-ES" sz="1100" b="1" dirty="0">
                <a:solidFill>
                  <a:srgbClr val="92D050"/>
                </a:solidFill>
              </a:rPr>
              <a:t>Periodo</a:t>
            </a:r>
            <a:r>
              <a:rPr lang="es-ES" sz="1100" dirty="0">
                <a:solidFill>
                  <a:srgbClr val="FFFFFF"/>
                </a:solidFill>
              </a:rPr>
              <a:t>; presione </a:t>
            </a:r>
            <a:r>
              <a:rPr lang="es-ES" sz="1100" b="1" dirty="0">
                <a:solidFill>
                  <a:srgbClr val="92D050"/>
                </a:solidFill>
              </a:rPr>
              <a:t>Ir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Se listan los </a:t>
            </a:r>
            <a:r>
              <a:rPr lang="es-ES" sz="1100" b="1" dirty="0">
                <a:solidFill>
                  <a:srgbClr val="FFFFFF"/>
                </a:solidFill>
              </a:rPr>
              <a:t>NRC asignados</a:t>
            </a:r>
            <a:r>
              <a:rPr lang="es-ES" sz="1100" dirty="0">
                <a:solidFill>
                  <a:srgbClr val="FFFFFF"/>
                </a:solidFill>
              </a:rPr>
              <a:t> con su carga (créditos, horas, % de sesión y de responsabilidad); se pueden ajustar.</a:t>
            </a:r>
          </a:p>
          <a:p>
            <a:pPr algn="l">
              <a:spcAft>
                <a:spcPts val="300"/>
              </a:spcAft>
            </a:pPr>
            <a:r>
              <a:rPr lang="es-ES" sz="1100" b="1" dirty="0">
                <a:solidFill>
                  <a:srgbClr val="92D050"/>
                </a:solidFill>
              </a:rPr>
              <a:t>1. </a:t>
            </a:r>
            <a:r>
              <a:rPr lang="es-ES" sz="1100" b="1" dirty="0">
                <a:solidFill>
                  <a:srgbClr val="FFFFFF"/>
                </a:solidFill>
              </a:rPr>
              <a:t>Guarde</a:t>
            </a:r>
            <a:r>
              <a:rPr lang="es-ES" sz="1100" dirty="0">
                <a:solidFill>
                  <a:srgbClr val="FFFFFF"/>
                </a:solidFill>
              </a:rPr>
              <a:t> si hizo cambios.  </a:t>
            </a:r>
            <a:r>
              <a:rPr lang="es-ES" sz="1100" b="1" dirty="0">
                <a:solidFill>
                  <a:srgbClr val="92D050"/>
                </a:solidFill>
              </a:rPr>
              <a:t>2. </a:t>
            </a:r>
            <a:r>
              <a:rPr lang="es-ES" sz="1100" dirty="0">
                <a:solidFill>
                  <a:srgbClr val="FFFFFF"/>
                </a:solidFill>
              </a:rPr>
              <a:t>Pase al bloque siguiente.</a:t>
            </a:r>
          </a:p>
        </p:txBody>
      </p:sp>
    </p:spTree>
    <p:extLst>
      <p:ext uri="{BB962C8B-B14F-4D97-AF65-F5344CB8AC3E}">
        <p14:creationId xmlns:p14="http://schemas.microsoft.com/office/powerpoint/2010/main" val="159035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353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CARGA DEL DOCENTE - SIAASGN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784345" y="241540"/>
            <a:ext cx="540765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87DF31-065F-D0F5-5915-8145ED56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12" y="1012723"/>
            <a:ext cx="10724292" cy="4830000"/>
          </a:xfrm>
          <a:prstGeom prst="rect">
            <a:avLst/>
          </a:prstGeom>
        </p:spPr>
      </p:pic>
      <p:sp>
        <p:nvSpPr>
          <p:cNvPr id="9" name="Marco 9"/>
          <p:cNvSpPr/>
          <p:nvPr/>
        </p:nvSpPr>
        <p:spPr>
          <a:xfrm>
            <a:off x="879907" y="2714867"/>
            <a:ext cx="10423218" cy="2663437"/>
          </a:xfrm>
          <a:prstGeom prst="rect">
            <a:avLst/>
          </a:prstGeom>
          <a:noFill/>
          <a:ln w="38100" cap="flat" cmpd="sng" algn="ctr">
            <a:solidFill>
              <a:srgbClr val="5C2193"/>
            </a:solidFill>
            <a:prstDash val="solid"/>
            <a:round/>
          </a:ln>
        </p:spPr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Globo 10"/>
          <p:cNvSpPr txBox="1"/>
          <p:nvPr/>
        </p:nvSpPr>
        <p:spPr>
          <a:xfrm>
            <a:off x="1616542" y="1582507"/>
            <a:ext cx="7827743" cy="729120"/>
          </a:xfrm>
          <a:prstGeom prst="roundRect">
            <a:avLst>
              <a:gd name="adj" fmla="val 7573"/>
            </a:avLst>
          </a:prstGeom>
          <a:solidFill>
            <a:srgbClr val="7030A0"/>
          </a:solidFill>
        </p:spPr>
        <p:txBody>
          <a:bodyPr wrap="square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En el análisis, cada criterio se compara con el rango de la regla (SIAFLRT): </a:t>
            </a:r>
            <a:r>
              <a:rPr lang="es-ES" sz="1100" b="1" dirty="0">
                <a:solidFill>
                  <a:srgbClr val="92D050"/>
                </a:solidFill>
              </a:rPr>
              <a:t>O</a:t>
            </a:r>
            <a:r>
              <a:rPr lang="es-ES" sz="1100" dirty="0">
                <a:solidFill>
                  <a:srgbClr val="FFFFFF"/>
                </a:solidFill>
              </a:rPr>
              <a:t> = sobrecarga, </a:t>
            </a:r>
            <a:r>
              <a:rPr lang="es-ES" sz="1100" b="1" dirty="0">
                <a:solidFill>
                  <a:srgbClr val="92D050"/>
                </a:solidFill>
              </a:rPr>
              <a:t>U</a:t>
            </a:r>
            <a:r>
              <a:rPr lang="es-ES" sz="1100" dirty="0">
                <a:solidFill>
                  <a:srgbClr val="FFFFFF"/>
                </a:solidFill>
              </a:rPr>
              <a:t> = subcarga. Sin letra, el docente está dentro del rango.</a:t>
            </a:r>
          </a:p>
          <a:p>
            <a:pPr algn="l">
              <a:spcAft>
                <a:spcPts val="300"/>
              </a:spcAft>
            </a:pPr>
            <a:r>
              <a:rPr lang="es-ES" sz="1100" dirty="0">
                <a:solidFill>
                  <a:srgbClr val="FFFFFF"/>
                </a:solidFill>
              </a:rPr>
              <a:t>Esta revisión reemplaza el control de carga que hoy se lleva en </a:t>
            </a:r>
            <a:r>
              <a:rPr lang="es-ES" sz="1100" b="1" dirty="0">
                <a:solidFill>
                  <a:srgbClr val="FFFFFF"/>
                </a:solidFill>
              </a:rPr>
              <a:t>Excel</a:t>
            </a:r>
            <a:r>
              <a:rPr lang="es-ES" sz="11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493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2085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RESUMEN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2516789" y="241540"/>
            <a:ext cx="967521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835BB7-D525-B78D-B54A-137EF0D9EC72}"/>
              </a:ext>
            </a:extLst>
          </p:cNvPr>
          <p:cNvSpPr txBox="1"/>
          <p:nvPr/>
        </p:nvSpPr>
        <p:spPr>
          <a:xfrm>
            <a:off x="431320" y="967304"/>
            <a:ext cx="1129856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700" b="1" dirty="0">
                <a:solidFill>
                  <a:srgbClr val="000000"/>
                </a:solidFill>
              </a:rPr>
              <a:t>Configuración</a:t>
            </a:r>
            <a:r>
              <a:rPr lang="es-ES" sz="1700" dirty="0">
                <a:solidFill>
                  <a:srgbClr val="000000"/>
                </a:solidFill>
              </a:rPr>
              <a:t>: STVFCST, STVFSTP, STVFCNT y STVWKLD se crean una vez; SIATERM y SIAFLRT se definen por periodo.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700" b="1" dirty="0">
                <a:solidFill>
                  <a:srgbClr val="000000"/>
                </a:solidFill>
              </a:rPr>
              <a:t>Docente</a:t>
            </a:r>
            <a:r>
              <a:rPr lang="es-ES" sz="1700" dirty="0">
                <a:solidFill>
                  <a:srgbClr val="000000"/>
                </a:solidFill>
              </a:rPr>
              <a:t>: primero persona en SPAIDEN; luego activo en SIAINST desde el periodo. Los cambios posteriores se registran con Mantenimiento.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700" b="1" dirty="0">
                <a:solidFill>
                  <a:srgbClr val="000000"/>
                </a:solidFill>
              </a:rPr>
              <a:t>Asignación</a:t>
            </a:r>
            <a:r>
              <a:rPr lang="es-ES" sz="1700" dirty="0">
                <a:solidFill>
                  <a:srgbClr val="000000"/>
                </a:solidFill>
              </a:rPr>
              <a:t>: en SSASECT, pestaña Instructor, con el ID o con SIAFAVL. Un solo docente principal por NRC.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700" b="1" dirty="0">
                <a:solidFill>
                  <a:srgbClr val="000000"/>
                </a:solidFill>
              </a:rPr>
              <a:t>Carga</a:t>
            </a:r>
            <a:r>
              <a:rPr lang="es-ES" sz="1700" dirty="0">
                <a:solidFill>
                  <a:srgbClr val="000000"/>
                </a:solidFill>
              </a:rPr>
              <a:t>: SIAASGN compara créditos y horas con la regla de carga (O = sobrecarga, U = subcarga).</a:t>
            </a:r>
          </a:p>
          <a:p>
            <a:pPr marL="285750" indent="-285750" algn="just">
              <a:spcAft>
                <a:spcPts val="1200"/>
              </a:spcAft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s-ES" sz="1700" b="1" dirty="0">
                <a:solidFill>
                  <a:srgbClr val="000000"/>
                </a:solidFill>
              </a:rPr>
              <a:t>Opcional</a:t>
            </a:r>
            <a:r>
              <a:rPr lang="es-ES" sz="1700" dirty="0">
                <a:solidFill>
                  <a:srgbClr val="000000"/>
                </a:solidFill>
              </a:rPr>
              <a:t>: grados del docente (SIAFDEG), labor no educativa (STVNIST) y reglas por contrato (SIAFLCT, SIACONA).</a:t>
            </a:r>
          </a:p>
        </p:txBody>
      </p:sp>
    </p:spTree>
    <p:extLst>
      <p:ext uri="{BB962C8B-B14F-4D97-AF65-F5344CB8AC3E}">
        <p14:creationId xmlns:p14="http://schemas.microsoft.com/office/powerpoint/2010/main" val="297257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Cuadrado&#10;&#10;El contenido generado por IA puede ser incorrecto.">
            <a:extLst>
              <a:ext uri="{FF2B5EF4-FFF2-40B4-BE49-F238E27FC236}">
                <a16:creationId xmlns:a16="http://schemas.microsoft.com/office/drawing/2014/main" id="{D4E63572-DF68-DC51-6555-40AD82ECE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7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4.xml><?xml version="1.0" encoding="utf-8"?>
<a:theme xmlns:a="http://schemas.openxmlformats.org/drawingml/2006/main" name="1_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28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DOCENTES - REGISTRO, ASIGNACIÓN Y CARGA DE TRABAJO</dc:title>
  <dc:creator>Dagner Anibal Chuman Lluen</dc:creator>
  <cp:lastModifiedBy>Dagner Anibal Chuman Lluen</cp:lastModifiedBy>
  <cp:revision>38</cp:revision>
  <dcterms:created xsi:type="dcterms:W3CDTF">2026-08-24T19:57:14Z</dcterms:created>
  <dcterms:modified xsi:type="dcterms:W3CDTF">2026-09-22T22:56:54Z</dcterms:modified>
</cp:coreProperties>
</file>